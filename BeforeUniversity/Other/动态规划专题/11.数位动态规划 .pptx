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1" r:id="rId2"/>
  </p:sldMasterIdLst>
  <p:notesMasterIdLst>
    <p:notesMasterId r:id="rId23"/>
  </p:notesMasterIdLst>
  <p:handoutMasterIdLst>
    <p:handoutMasterId r:id="rId24"/>
  </p:handoutMasterIdLst>
  <p:sldIdLst>
    <p:sldId id="706" r:id="rId3"/>
    <p:sldId id="612" r:id="rId4"/>
    <p:sldId id="668" r:id="rId5"/>
    <p:sldId id="758" r:id="rId6"/>
    <p:sldId id="710" r:id="rId7"/>
    <p:sldId id="735" r:id="rId8"/>
    <p:sldId id="736" r:id="rId9"/>
    <p:sldId id="751" r:id="rId10"/>
    <p:sldId id="714" r:id="rId11"/>
    <p:sldId id="753" r:id="rId12"/>
    <p:sldId id="754" r:id="rId13"/>
    <p:sldId id="756" r:id="rId14"/>
    <p:sldId id="755" r:id="rId15"/>
    <p:sldId id="757" r:id="rId16"/>
    <p:sldId id="737" r:id="rId17"/>
    <p:sldId id="752" r:id="rId18"/>
    <p:sldId id="746" r:id="rId19"/>
    <p:sldId id="759" r:id="rId20"/>
    <p:sldId id="747" r:id="rId21"/>
    <p:sldId id="707" r:id="rId2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56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2022/4/6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cstate="print"/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cstate="print"/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2022/4/6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2022/4/6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2022/4/6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2022/4/6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2022/4/6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2022/4/6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2022/4/6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4776186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数位动态规划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61950" y="3791448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理解数位</a:t>
            </a:r>
            <a:r>
              <a:rPr lang="en-US" altLang="zh-CN" sz="2000" dirty="0" err="1"/>
              <a:t>dp</a:t>
            </a:r>
            <a:r>
              <a:rPr lang="zh-CN" altLang="en-US" sz="2000" dirty="0"/>
              <a:t>的思想。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掌握数位</a:t>
            </a:r>
            <a:r>
              <a:rPr lang="en-US" altLang="zh-CN" sz="2000" dirty="0" err="1"/>
              <a:t>dp</a:t>
            </a:r>
            <a:r>
              <a:rPr lang="zh-CN" altLang="en-US" sz="2000" dirty="0"/>
              <a:t>的实现方式。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344042"/>
            <a:ext cx="10060582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数位计数用于解决一类跟数位有关的计数问题。在这类题目中，一般给定一些限制条件，求满足限制条件的第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小的数是多少，或者在区间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[L,R]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内有多少个满足限制条件的数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解决方法一般先用动态规划做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，再基于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拼凑思想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试填法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”，求出最终的答案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数位计数常常用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作为基础状态，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 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位，最高位为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），且满足限制条件的方案数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平方和，其中后面省略号的部分根据限制条件进行构造即可，它们一般可以由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进行推算出上一状态，状态转移常常从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推到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344042"/>
            <a:ext cx="10060582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基本框架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5A8BB7-B95C-4850-8F7E-FBA04DA02AF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5545" y="1422771"/>
            <a:ext cx="5548544" cy="525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4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61497" y="1173162"/>
            <a:ext cx="1005093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计数问题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给定区间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之间的所有数字中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0~9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的出现次数，包含多组数据。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0&lt;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&lt;10 ^12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1 10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44 497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346 542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1199 1748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1496 1403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1004 503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1714 190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1317 854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1976 494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1001 1960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57690" y="2451994"/>
            <a:ext cx="6094520" cy="424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1 2 1 1 1 1 1 1 1 1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85 185 185 185 190 96 96 96 95 93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40 40 40 93 136 82 40 40 40 40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115 666 215 215 214 205 205 154 105 106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16 113 19 20 114 20 20 19 19 16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107 105 100 101 101 197 200 200 200 200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413 1133 503 503 503 502 502 417 402 412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196 512 186 104 87 93 97 97 142 196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398 1375 398 398 405 499 499 495 488 471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294 1256 296 296 296 296 287 286 286 247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70797" y="1173162"/>
            <a:ext cx="10248887" cy="27787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1】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暴力求解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a-b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，剥离每位数字，然后统计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O(n)=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10 ^12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显然该解法时间超时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36695" y="1173162"/>
            <a:ext cx="10248887" cy="27787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lang="en-US" altLang="zh-CN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基本思想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某一区间满足某种性质的数的个数转化为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出现的次数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a~b,x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b,x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]-f[a-1,x];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36695" y="1173162"/>
            <a:ext cx="10248887" cy="561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lang="en-US" altLang="zh-CN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数位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基本思想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分析数位情况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：按顺序分类分析每位，并做数学推导（注意考虑特殊情况）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abcdefg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位上出现的次数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后缀可以任意取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000~abc-1 x 000~999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总方案数：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*1000</a:t>
            </a: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特殊的，当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001~abc-1,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x=0,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前面都是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，该位实际不存在，总方案数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(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abc-1)*1000</a:t>
            </a: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d&lt;x 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无解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d==x,000~efg,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总方案数：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efg+1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d&gt;x ,000~999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，总方案数：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414224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510217-35FC-403C-906F-72AAD42FC63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7290" y="1117955"/>
            <a:ext cx="7766396" cy="5740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61497" y="1173162"/>
            <a:ext cx="10050933" cy="3921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2】hdu2089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求给定区间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中不含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的数字有多少个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包含多组数据。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&lt;10 ^10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2 50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28 400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500 20000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24524" y="2907948"/>
            <a:ext cx="609452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BB20AB-556A-4287-9D2D-9333D8E2AC71}"/>
              </a:ext>
            </a:extLst>
          </p:cNvPr>
          <p:cNvSpPr txBox="1"/>
          <p:nvPr/>
        </p:nvSpPr>
        <p:spPr>
          <a:xfrm>
            <a:off x="3595545" y="3364635"/>
            <a:ext cx="6094520" cy="128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35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295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12319</a:t>
            </a:r>
          </a:p>
        </p:txBody>
      </p:sp>
    </p:spTree>
    <p:extLst>
      <p:ext uri="{BB962C8B-B14F-4D97-AF65-F5344CB8AC3E}">
        <p14:creationId xmlns:p14="http://schemas.microsoft.com/office/powerpoint/2010/main" val="426006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970797" y="1173162"/>
                <a:ext cx="10248887" cy="45275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】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预处理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表示第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位，最高位为 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），且满足限制条件的方案数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,4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,6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9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-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9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j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4,6 )</a:t>
                </a:r>
              </a:p>
              <a:p>
                <a:pPr lvl="0">
                  <a:lnSpc>
                    <a:spcPct val="200000"/>
                  </a:lnSpc>
                  <a:defRPr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7" y="1173162"/>
                <a:ext cx="10248887" cy="4527586"/>
              </a:xfrm>
              <a:prstGeom prst="rect">
                <a:avLst/>
              </a:prstGeom>
              <a:blipFill>
                <a:blip r:embed="rId2"/>
                <a:stretch>
                  <a:fillRect l="-476" b="-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89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394203-BA17-4745-B984-1A3F82F316F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7033" y="1918583"/>
            <a:ext cx="65341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7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0797" y="1173162"/>
                <a:ext cx="10248887" cy="25418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】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利用树型结构做数位分析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N(n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−3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7" y="1173162"/>
                <a:ext cx="10248887" cy="2541850"/>
              </a:xfrm>
              <a:prstGeom prst="rect">
                <a:avLst/>
              </a:prstGeom>
              <a:blipFill>
                <a:blip r:embed="rId2" cstate="print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E71A7D1-0819-4C04-83C2-07EBD370178B}"/>
              </a:ext>
            </a:extLst>
          </p:cNvPr>
          <p:cNvCxnSpPr>
            <a:cxnSpLocks/>
          </p:cNvCxnSpPr>
          <p:nvPr/>
        </p:nvCxnSpPr>
        <p:spPr>
          <a:xfrm flipH="1">
            <a:off x="2352583" y="2796466"/>
            <a:ext cx="817505" cy="462567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5B0738C-E8DF-42FF-B325-4EAB4C7A0A46}"/>
              </a:ext>
            </a:extLst>
          </p:cNvPr>
          <p:cNvCxnSpPr>
            <a:cxnSpLocks/>
          </p:cNvCxnSpPr>
          <p:nvPr/>
        </p:nvCxnSpPr>
        <p:spPr>
          <a:xfrm>
            <a:off x="3170088" y="2796466"/>
            <a:ext cx="1118587" cy="514904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501D078-DDC9-44B6-A4F1-BFCE1335C602}"/>
                  </a:ext>
                </a:extLst>
              </p:cNvPr>
              <p:cNvSpPr txBox="1"/>
              <p:nvPr/>
            </p:nvSpPr>
            <p:spPr>
              <a:xfrm>
                <a:off x="1433357" y="3311370"/>
                <a:ext cx="1876575" cy="1474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0" dirty="0">
                    <a:latin typeface="Cambria Math" panose="02040503050406030204" pitchFamily="18" charset="0"/>
                  </a:rPr>
                  <a:t>0 ~</a:t>
                </a:r>
                <a:r>
                  <a:rPr lang="en-US" altLang="zh-CN" sz="18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  <m:r>
                          <a:rPr lang="en-US" altLang="zh-CN" sz="1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b="0" dirty="0">
                    <a:latin typeface="Cambria Math" panose="02040503050406030204" pitchFamily="18" charset="0"/>
                  </a:rPr>
                  <a:t>-1</a:t>
                </a: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 b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501D078-DDC9-44B6-A4F1-BFCE1335C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357" y="3311370"/>
                <a:ext cx="1876575" cy="1474443"/>
              </a:xfrm>
              <a:prstGeom prst="rect">
                <a:avLst/>
              </a:prstGeom>
              <a:blipFill>
                <a:blip r:embed="rId3" cstate="print"/>
                <a:stretch>
                  <a:fillRect l="-2597" t="-2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0C7B375-B075-4949-BFE8-7A127F19BFAE}"/>
                  </a:ext>
                </a:extLst>
              </p:cNvPr>
              <p:cNvSpPr txBox="1"/>
              <p:nvPr/>
            </p:nvSpPr>
            <p:spPr>
              <a:xfrm>
                <a:off x="3935636" y="3259033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0C7B375-B075-4949-BFE8-7A127F19B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636" y="3259033"/>
                <a:ext cx="1180730" cy="369332"/>
              </a:xfrm>
              <a:prstGeom prst="rect">
                <a:avLst/>
              </a:prstGeom>
              <a:blipFill>
                <a:blip r:embed="rId4" cstate="print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7A9D3D-05AC-462B-9C5A-F135205E89B1}"/>
              </a:ext>
            </a:extLst>
          </p:cNvPr>
          <p:cNvCxnSpPr>
            <a:cxnSpLocks/>
          </p:cNvCxnSpPr>
          <p:nvPr/>
        </p:nvCxnSpPr>
        <p:spPr>
          <a:xfrm flipH="1">
            <a:off x="4024563" y="3628365"/>
            <a:ext cx="532660" cy="49714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8333C13-CB7A-4099-A2A8-93D6D94CEF4C}"/>
              </a:ext>
            </a:extLst>
          </p:cNvPr>
          <p:cNvCxnSpPr>
            <a:cxnSpLocks/>
          </p:cNvCxnSpPr>
          <p:nvPr/>
        </p:nvCxnSpPr>
        <p:spPr>
          <a:xfrm>
            <a:off x="4571869" y="3637998"/>
            <a:ext cx="603682" cy="49714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1C3042F-F776-43FE-8BBB-8C339A7BEDDA}"/>
                  </a:ext>
                </a:extLst>
              </p:cNvPr>
              <p:cNvSpPr txBox="1"/>
              <p:nvPr/>
            </p:nvSpPr>
            <p:spPr>
              <a:xfrm>
                <a:off x="3522236" y="4174382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~</m:t>
                    </m:r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1C3042F-F776-43FE-8BBB-8C339A7BE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236" y="4174382"/>
                <a:ext cx="1180730" cy="369332"/>
              </a:xfrm>
              <a:prstGeom prst="rect">
                <a:avLst/>
              </a:prstGeom>
              <a:blipFill>
                <a:blip r:embed="rId5" cstate="print"/>
                <a:stretch>
                  <a:fillRect t="-11667" r="-155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0FBFFBD-678D-4D91-BBDF-E37FE056C202}"/>
                  </a:ext>
                </a:extLst>
              </p:cNvPr>
              <p:cNvSpPr txBox="1"/>
              <p:nvPr/>
            </p:nvSpPr>
            <p:spPr>
              <a:xfrm>
                <a:off x="4915270" y="4126464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0FBFFBD-678D-4D91-BBDF-E37FE056C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270" y="4126464"/>
                <a:ext cx="1180730" cy="369332"/>
              </a:xfrm>
              <a:prstGeom prst="rect">
                <a:avLst/>
              </a:prstGeom>
              <a:blipFill>
                <a:blip r:embed="rId6" cstate="print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843043C-0977-456F-B04E-6A8256527E38}"/>
                  </a:ext>
                </a:extLst>
              </p:cNvPr>
              <p:cNvSpPr txBox="1"/>
              <p:nvPr/>
            </p:nvSpPr>
            <p:spPr>
              <a:xfrm>
                <a:off x="3062665" y="4359048"/>
                <a:ext cx="2112886" cy="1334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843043C-0977-456F-B04E-6A8256527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665" y="4359048"/>
                <a:ext cx="2112886" cy="1334533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2FC6D01-F709-4913-9579-057888AF5D7E}"/>
              </a:ext>
            </a:extLst>
          </p:cNvPr>
          <p:cNvCxnSpPr/>
          <p:nvPr/>
        </p:nvCxnSpPr>
        <p:spPr>
          <a:xfrm>
            <a:off x="5581898" y="4582949"/>
            <a:ext cx="0" cy="779004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5E8E434-F2AE-4A73-B3EB-999707CEE444}"/>
                  </a:ext>
                </a:extLst>
              </p:cNvPr>
              <p:cNvSpPr txBox="1"/>
              <p:nvPr/>
            </p:nvSpPr>
            <p:spPr>
              <a:xfrm>
                <a:off x="5032920" y="5300528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5E8E434-F2AE-4A73-B3EB-999707CEE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920" y="5300528"/>
                <a:ext cx="1180730" cy="369332"/>
              </a:xfrm>
              <a:prstGeom prst="rect">
                <a:avLst/>
              </a:prstGeom>
              <a:blipFill>
                <a:blip r:embed="rId8" cstate="print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10F9716-451C-435F-9F2A-778D8FCC6BA1}"/>
              </a:ext>
            </a:extLst>
          </p:cNvPr>
          <p:cNvCxnSpPr>
            <a:cxnSpLocks/>
          </p:cNvCxnSpPr>
          <p:nvPr/>
        </p:nvCxnSpPr>
        <p:spPr>
          <a:xfrm flipH="1">
            <a:off x="5063273" y="5656766"/>
            <a:ext cx="532660" cy="49714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DB9B216-A4E3-4B1D-A187-A247CEC9F0B5}"/>
              </a:ext>
            </a:extLst>
          </p:cNvPr>
          <p:cNvCxnSpPr>
            <a:cxnSpLocks/>
          </p:cNvCxnSpPr>
          <p:nvPr/>
        </p:nvCxnSpPr>
        <p:spPr>
          <a:xfrm>
            <a:off x="5610579" y="5666399"/>
            <a:ext cx="603682" cy="49714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FB17A94-6EE2-4AE8-BFB7-1B757060215C}"/>
                  </a:ext>
                </a:extLst>
              </p:cNvPr>
              <p:cNvSpPr txBox="1"/>
              <p:nvPr/>
            </p:nvSpPr>
            <p:spPr>
              <a:xfrm>
                <a:off x="4493528" y="6181538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~</m:t>
                    </m:r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FB17A94-6EE2-4AE8-BFB7-1B7570602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528" y="6181538"/>
                <a:ext cx="1180730" cy="369332"/>
              </a:xfrm>
              <a:prstGeom prst="rect">
                <a:avLst/>
              </a:prstGeom>
              <a:blipFill>
                <a:blip r:embed="rId9" cstate="print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DE245C9-ACFF-41CB-8B79-A81E87D548AE}"/>
                  </a:ext>
                </a:extLst>
              </p:cNvPr>
              <p:cNvSpPr txBox="1"/>
              <p:nvPr/>
            </p:nvSpPr>
            <p:spPr>
              <a:xfrm>
                <a:off x="5802264" y="6202420"/>
                <a:ext cx="1558976" cy="370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（</m:t>
                      </m:r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N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本身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DE245C9-ACFF-41CB-8B79-A81E87D5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264" y="6202420"/>
                <a:ext cx="1558976" cy="370038"/>
              </a:xfrm>
              <a:prstGeom prst="rect">
                <a:avLst/>
              </a:prstGeom>
              <a:blipFill>
                <a:blip r:embed="rId10" cstate="print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30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3" grpId="0" animBg="1"/>
      <p:bldP spid="14" grpId="0" animBg="1"/>
      <p:bldP spid="17" grpId="0" animBg="1"/>
      <p:bldP spid="16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8371EF-172A-4C43-A682-79B81ECFC12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24113" y="735154"/>
            <a:ext cx="7191314" cy="6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2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934166" y="1253549"/>
                <a:ext cx="10721922" cy="65387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3】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度的数量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求给定区间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[X,Y]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中满足下列条件的整数个数：这个数恰好等于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个互不相等的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的整数次幂之和。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例如，设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X=15,Y=20,K=2,B=2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则有且仅有下列三个数满足题意：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17=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18=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4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20=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4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输入格式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第一行包含两个整数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，接下来两行包含整数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输出格式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只包含一个整数，表示满足条件的数的个数。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数据范围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1≤X&lt;Y ≤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31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-1, 1≤K &lt;=20,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2≤B≤10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166" y="1253549"/>
                <a:ext cx="10721922" cy="6538713"/>
              </a:xfrm>
              <a:prstGeom prst="rect">
                <a:avLst/>
              </a:prstGeom>
              <a:blipFill>
                <a:blip r:embed="rId2" cstate="print"/>
                <a:stretch>
                  <a:fillRect l="-2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0797" y="1173162"/>
                <a:ext cx="10248887" cy="25418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】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利用树型结构做数位分析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N(B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进制下剥离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−3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7" y="1173162"/>
                <a:ext cx="10248887" cy="2541850"/>
              </a:xfrm>
              <a:prstGeom prst="rect">
                <a:avLst/>
              </a:prstGeom>
              <a:blipFill>
                <a:blip r:embed="rId2" cstate="print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E71A7D1-0819-4C04-83C2-07EBD370178B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2326710" y="2796466"/>
            <a:ext cx="843378" cy="514904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5B0738C-E8DF-42FF-B325-4EAB4C7A0A46}"/>
              </a:ext>
            </a:extLst>
          </p:cNvPr>
          <p:cNvCxnSpPr>
            <a:cxnSpLocks/>
          </p:cNvCxnSpPr>
          <p:nvPr/>
        </p:nvCxnSpPr>
        <p:spPr>
          <a:xfrm>
            <a:off x="3170088" y="2796466"/>
            <a:ext cx="1118587" cy="514904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501D078-DDC9-44B6-A4F1-BFCE1335C602}"/>
                  </a:ext>
                </a:extLst>
              </p:cNvPr>
              <p:cNvSpPr txBox="1"/>
              <p:nvPr/>
            </p:nvSpPr>
            <p:spPr>
              <a:xfrm>
                <a:off x="1736345" y="3311370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~</m:t>
                    </m:r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501D078-DDC9-44B6-A4F1-BFCE1335C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345" y="3311370"/>
                <a:ext cx="1180730" cy="369332"/>
              </a:xfrm>
              <a:prstGeom prst="rect">
                <a:avLst/>
              </a:prstGeom>
              <a:blipFill>
                <a:blip r:embed="rId3" cstate="print"/>
                <a:stretch>
                  <a:fillRect t="-9836" r="-1031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0C7B375-B075-4949-BFE8-7A127F19BFAE}"/>
                  </a:ext>
                </a:extLst>
              </p:cNvPr>
              <p:cNvSpPr txBox="1"/>
              <p:nvPr/>
            </p:nvSpPr>
            <p:spPr>
              <a:xfrm>
                <a:off x="3935636" y="3259033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0C7B375-B075-4949-BFE8-7A127F19B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636" y="3259033"/>
                <a:ext cx="1180730" cy="369332"/>
              </a:xfrm>
              <a:prstGeom prst="rect">
                <a:avLst/>
              </a:prstGeom>
              <a:blipFill>
                <a:blip r:embed="rId4" cstate="print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09083D0-7340-45E9-96A3-7BBB963CB212}"/>
                  </a:ext>
                </a:extLst>
              </p:cNvPr>
              <p:cNvSpPr txBox="1"/>
              <p:nvPr/>
            </p:nvSpPr>
            <p:spPr>
              <a:xfrm>
                <a:off x="1720068" y="3666223"/>
                <a:ext cx="2112886" cy="916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取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取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09083D0-7340-45E9-96A3-7BBB963CB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068" y="3666223"/>
                <a:ext cx="2112886" cy="916726"/>
              </a:xfrm>
              <a:prstGeom prst="rect">
                <a:avLst/>
              </a:prstGeom>
              <a:blipFill>
                <a:blip r:embed="rId5" cstate="print"/>
                <a:stretch>
                  <a:fillRect l="-2305" b="-9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7A9D3D-05AC-462B-9C5A-F135205E89B1}"/>
              </a:ext>
            </a:extLst>
          </p:cNvPr>
          <p:cNvCxnSpPr>
            <a:cxnSpLocks/>
          </p:cNvCxnSpPr>
          <p:nvPr/>
        </p:nvCxnSpPr>
        <p:spPr>
          <a:xfrm flipH="1">
            <a:off x="4024563" y="3628365"/>
            <a:ext cx="532660" cy="49714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8333C13-CB7A-4099-A2A8-93D6D94CEF4C}"/>
              </a:ext>
            </a:extLst>
          </p:cNvPr>
          <p:cNvCxnSpPr>
            <a:cxnSpLocks/>
          </p:cNvCxnSpPr>
          <p:nvPr/>
        </p:nvCxnSpPr>
        <p:spPr>
          <a:xfrm>
            <a:off x="4571869" y="3637998"/>
            <a:ext cx="603682" cy="49714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1C3042F-F776-43FE-8BBB-8C339A7BEDDA}"/>
                  </a:ext>
                </a:extLst>
              </p:cNvPr>
              <p:cNvSpPr txBox="1"/>
              <p:nvPr/>
            </p:nvSpPr>
            <p:spPr>
              <a:xfrm>
                <a:off x="3522236" y="4174382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~</m:t>
                    </m:r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1C3042F-F776-43FE-8BBB-8C339A7BE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236" y="4174382"/>
                <a:ext cx="1180730" cy="369332"/>
              </a:xfrm>
              <a:prstGeom prst="rect">
                <a:avLst/>
              </a:prstGeom>
              <a:blipFill>
                <a:blip r:embed="rId6" cstate="print"/>
                <a:stretch>
                  <a:fillRect t="-11667" r="-155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0FBFFBD-678D-4D91-BBDF-E37FE056C202}"/>
                  </a:ext>
                </a:extLst>
              </p:cNvPr>
              <p:cNvSpPr txBox="1"/>
              <p:nvPr/>
            </p:nvSpPr>
            <p:spPr>
              <a:xfrm>
                <a:off x="4915270" y="4126464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0FBFFBD-678D-4D91-BBDF-E37FE056C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270" y="4126464"/>
                <a:ext cx="1180730" cy="369332"/>
              </a:xfrm>
              <a:prstGeom prst="rect">
                <a:avLst/>
              </a:prstGeom>
              <a:blipFill>
                <a:blip r:embed="rId7" cstate="print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843043C-0977-456F-B04E-6A8256527E38}"/>
                  </a:ext>
                </a:extLst>
              </p:cNvPr>
              <p:cNvSpPr txBox="1"/>
              <p:nvPr/>
            </p:nvSpPr>
            <p:spPr>
              <a:xfrm>
                <a:off x="3510399" y="4482289"/>
                <a:ext cx="2112886" cy="879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取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取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843043C-0977-456F-B04E-6A8256527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399" y="4482289"/>
                <a:ext cx="2112886" cy="879664"/>
              </a:xfrm>
              <a:prstGeom prst="rect">
                <a:avLst/>
              </a:prstGeom>
              <a:blipFill>
                <a:blip r:embed="rId8" cstate="print"/>
                <a:stretch>
                  <a:fillRect l="-2601" b="-9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2FC6D01-F709-4913-9579-057888AF5D7E}"/>
              </a:ext>
            </a:extLst>
          </p:cNvPr>
          <p:cNvCxnSpPr/>
          <p:nvPr/>
        </p:nvCxnSpPr>
        <p:spPr>
          <a:xfrm>
            <a:off x="5581898" y="4582949"/>
            <a:ext cx="0" cy="779004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5E8E434-F2AE-4A73-B3EB-999707CEE444}"/>
                  </a:ext>
                </a:extLst>
              </p:cNvPr>
              <p:cNvSpPr txBox="1"/>
              <p:nvPr/>
            </p:nvSpPr>
            <p:spPr>
              <a:xfrm>
                <a:off x="5032920" y="5300528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5E8E434-F2AE-4A73-B3EB-999707CEE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920" y="5300528"/>
                <a:ext cx="1180730" cy="369332"/>
              </a:xfrm>
              <a:prstGeom prst="rect">
                <a:avLst/>
              </a:prstGeom>
              <a:blipFill>
                <a:blip r:embed="rId9" cstate="print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10F9716-451C-435F-9F2A-778D8FCC6BA1}"/>
              </a:ext>
            </a:extLst>
          </p:cNvPr>
          <p:cNvCxnSpPr>
            <a:cxnSpLocks/>
          </p:cNvCxnSpPr>
          <p:nvPr/>
        </p:nvCxnSpPr>
        <p:spPr>
          <a:xfrm flipH="1">
            <a:off x="5063273" y="5656766"/>
            <a:ext cx="532660" cy="49714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DB9B216-A4E3-4B1D-A187-A247CEC9F0B5}"/>
              </a:ext>
            </a:extLst>
          </p:cNvPr>
          <p:cNvCxnSpPr>
            <a:cxnSpLocks/>
          </p:cNvCxnSpPr>
          <p:nvPr/>
        </p:nvCxnSpPr>
        <p:spPr>
          <a:xfrm>
            <a:off x="5610579" y="5666399"/>
            <a:ext cx="603682" cy="49714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FB17A94-6EE2-4AE8-BFB7-1B757060215C}"/>
                  </a:ext>
                </a:extLst>
              </p:cNvPr>
              <p:cNvSpPr txBox="1"/>
              <p:nvPr/>
            </p:nvSpPr>
            <p:spPr>
              <a:xfrm>
                <a:off x="4498822" y="6125769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~</m:t>
                    </m:r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FB17A94-6EE2-4AE8-BFB7-1B7570602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822" y="6125769"/>
                <a:ext cx="1180730" cy="369332"/>
              </a:xfrm>
              <a:prstGeom prst="rect">
                <a:avLst/>
              </a:prstGeom>
              <a:blipFill>
                <a:blip r:embed="rId10" cstate="print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DE245C9-ACFF-41CB-8B79-A81E87D548AE}"/>
                  </a:ext>
                </a:extLst>
              </p:cNvPr>
              <p:cNvSpPr txBox="1"/>
              <p:nvPr/>
            </p:nvSpPr>
            <p:spPr>
              <a:xfrm>
                <a:off x="5737936" y="6128145"/>
                <a:ext cx="1180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DE245C9-ACFF-41CB-8B79-A81E87D5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936" y="6128145"/>
                <a:ext cx="1180730" cy="369332"/>
              </a:xfrm>
              <a:prstGeom prst="rect">
                <a:avLst/>
              </a:prstGeom>
              <a:blipFill>
                <a:blip r:embed="rId11" cstate="print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2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3" grpId="0" animBg="1"/>
      <p:bldP spid="14" grpId="0" animBg="1"/>
      <p:bldP spid="17" grpId="0" animBg="1"/>
      <p:bldP spid="16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70797" y="1173162"/>
            <a:ext cx="10248887" cy="35559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某一区间满足某种性质的数的个数转化为前缀和维护：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f[n]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中满足题意的数的个数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x~y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]=f[y]-f[x-1];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预处理：组合数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FC1E598-7D6E-4E2A-865A-E1270FD8BB5A}"/>
                  </a:ext>
                </a:extLst>
              </p:cNvPr>
              <p:cNvSpPr txBox="1"/>
              <p:nvPr/>
            </p:nvSpPr>
            <p:spPr>
              <a:xfrm>
                <a:off x="1104900" y="3842059"/>
                <a:ext cx="3085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</m:oMath>
                </a14:m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xmlns="" id="{CFC1E598-7D6E-4E2A-865A-E1270FD8B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3842059"/>
                <a:ext cx="3085360" cy="369332"/>
              </a:xfrm>
              <a:prstGeom prst="rect">
                <a:avLst/>
              </a:prstGeom>
              <a:blipFill>
                <a:blip r:embed="rId2" cstate="print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  <a:endParaRPr lang="zh-CN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FF75399-EB4A-4020-A0F8-67E960D7EB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98716" y="1907374"/>
            <a:ext cx="6829425" cy="42576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EC54A05-E04F-4764-8626-664163D93974}"/>
              </a:ext>
            </a:extLst>
          </p:cNvPr>
          <p:cNvSpPr txBox="1"/>
          <p:nvPr/>
        </p:nvSpPr>
        <p:spPr>
          <a:xfrm>
            <a:off x="872231" y="135560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65672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数位动态规划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4AAE0D-00B1-4F99-82CC-C89F650E9CD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16154" y="648070"/>
            <a:ext cx="6261741" cy="620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7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Office PowerPoint</Application>
  <PresentationFormat>宽屏</PresentationFormat>
  <Paragraphs>147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微软雅黑</vt:lpstr>
      <vt:lpstr>Cambria Math</vt:lpstr>
      <vt:lpstr>Euphemia</vt:lpstr>
      <vt:lpstr>Wingdings</vt:lpstr>
      <vt:lpstr>学术文献 16x9</vt:lpstr>
      <vt:lpstr>1_学术文献 16x9</vt:lpstr>
      <vt:lpstr>数位动态规划</vt:lpstr>
      <vt:lpstr>学习目标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数位动态规划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</cp:revision>
  <dcterms:created xsi:type="dcterms:W3CDTF">2017-11-04T04:56:00Z</dcterms:created>
  <dcterms:modified xsi:type="dcterms:W3CDTF">2022-04-06T01:43:10Z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2052-11.1.0.11365</vt:lpwstr>
  </property>
  <property fmtid="{D5CDD505-2E9C-101B-9397-08002B2CF9AE}" pid="9" name="ICV">
    <vt:lpwstr>7F680DC5225F47E9922AC7827962AE51</vt:lpwstr>
  </property>
</Properties>
</file>