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612" r:id="rId3"/>
    <p:sldId id="668" r:id="rId4"/>
    <p:sldId id="613" r:id="rId5"/>
    <p:sldId id="614" r:id="rId6"/>
    <p:sldId id="642" r:id="rId7"/>
    <p:sldId id="646" r:id="rId8"/>
    <p:sldId id="648" r:id="rId9"/>
    <p:sldId id="643" r:id="rId10"/>
    <p:sldId id="644" r:id="rId11"/>
    <p:sldId id="645" r:id="rId12"/>
    <p:sldId id="649" r:id="rId13"/>
    <p:sldId id="650" r:id="rId14"/>
    <p:sldId id="651" r:id="rId15"/>
    <p:sldId id="652" r:id="rId16"/>
    <p:sldId id="653" r:id="rId17"/>
    <p:sldId id="654" r:id="rId18"/>
    <p:sldId id="655" r:id="rId19"/>
    <p:sldId id="657" r:id="rId20"/>
    <p:sldId id="656" r:id="rId21"/>
    <p:sldId id="658" r:id="rId22"/>
    <p:sldId id="661" r:id="rId23"/>
    <p:sldId id="659" r:id="rId24"/>
    <p:sldId id="660" r:id="rId25"/>
    <p:sldId id="662" r:id="rId26"/>
    <p:sldId id="663" r:id="rId27"/>
    <p:sldId id="664" r:id="rId28"/>
    <p:sldId id="665" r:id="rId29"/>
    <p:sldId id="666" r:id="rId30"/>
    <p:sldId id="667" r:id="rId31"/>
    <p:sldId id="502" r:id="rId32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FFF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957" autoAdjust="0"/>
    <p:restoredTop sz="94660" autoAdjust="0"/>
  </p:normalViewPr>
  <p:slideViewPr>
    <p:cSldViewPr snapToGrid="0" showGuides="1">
      <p:cViewPr varScale="1">
        <p:scale>
          <a:sx n="86" d="100"/>
          <a:sy n="86" d="100"/>
        </p:scale>
        <p:origin x="653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2023/4/7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  <a:t>2023/4/7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altLang="zh-CN" smtClean="0"/>
              <a:t>1</a:t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t>2023/4/7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t>2023/4/7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t>2023/4/7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t>2023/4/7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t>2023/4/7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t>2023/4/7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t>2023/4/7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t>2023/4/7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t>2023/4/7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t>2023/4/7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t>2023/4/7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t>2023/4/7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1535837" y="2147652"/>
            <a:ext cx="3986074" cy="1954514"/>
          </a:xfrm>
        </p:spPr>
        <p:txBody>
          <a:bodyPr rtlCol="0" anchor="ctr"/>
          <a:lstStyle/>
          <a:p>
            <a:pPr rtl="0"/>
            <a:r>
              <a:rPr lang="zh-CN" altLang="en-US" dirty="0"/>
              <a:t>线性动态规划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508075" y="3862469"/>
            <a:ext cx="5734050" cy="955565"/>
          </a:xfrm>
        </p:spPr>
        <p:txBody>
          <a:bodyPr rtlCol="0">
            <a:normAutofit/>
          </a:bodyPr>
          <a:lstStyle/>
          <a:p>
            <a:pPr algn="ctr" rtl="0">
              <a:lnSpc>
                <a:spcPct val="150000"/>
              </a:lnSpc>
            </a:pPr>
            <a:r>
              <a:rPr lang="zh-CN" altLang="en-US" sz="2400" dirty="0"/>
              <a:t>代伟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占位符 3" descr="桌上一本打开的书，书架在背景中模糊显示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学习目标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3124" y="1582702"/>
            <a:ext cx="9999260" cy="1023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1. </a:t>
            </a:r>
            <a:r>
              <a:rPr lang="zh-CN" altLang="en-US" sz="2000" dirty="0"/>
              <a:t>理解线性动态规划的内涵。</a:t>
            </a:r>
          </a:p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2. </a:t>
            </a:r>
            <a:r>
              <a:rPr lang="zh-CN" altLang="en-US" sz="2000" dirty="0"/>
              <a:t>学会运用线性动态规划的思想求解实际问题。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1025000" y="1432347"/>
            <a:ext cx="10060582" cy="3332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具有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线性阶段划分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的动态规划算法叫做线性动态规划（简称线性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）。线性不局限于“线性时间复杂度”，与数学中的“线性空间类似”。若状态包含多个维度，则每个维度都是线性变化的阶段，也属于线性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无论状态表示为一维还是多维，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算法在这些问题上都体现为“作用在线性空间上的递推”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的阶段沿着各个维度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线性增长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，从一个或多个“边界点”开始有方向地向整个状态空间转移、扩展，最后每个状态上都保留了以自身为“目标”的子问题的最优解。</a:t>
            </a:r>
          </a:p>
        </p:txBody>
      </p:sp>
    </p:spTree>
    <p:extLst>
      <p:ext uri="{BB962C8B-B14F-4D97-AF65-F5344CB8AC3E}">
        <p14:creationId xmlns:p14="http://schemas.microsoft.com/office/powerpoint/2010/main" val="1241633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1025000" y="1370203"/>
            <a:ext cx="10060582" cy="46138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求最长不下降序列（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LIS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问题描述：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设有由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个不相同的整数组成的数列，记为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:b(1)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b(2)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b(n)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)!=b(j)  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!=j)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，若存在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i1&lt;i2&lt;i3&lt; … &lt;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且有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b(i1)&lt;b(i2)&lt; … &lt;b(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则称为长度为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的不下降序列。程序要求，当原数列出之后，求出最长的不下降序列。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例如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37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。例中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就是一个长度为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的不下降序列，同时也有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长度为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的不下降序列。（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n&lt;=10000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70625" y="1392406"/>
            <a:ext cx="10052813" cy="3609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确定状态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为结尾的最长不下降子序列的长度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确定状态转移方程和边界条件（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时间复杂度：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n^2</a:t>
            </a:r>
            <a:r>
              <a:rPr lang="zh-CN" altLang="en-US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]=max{F[j]+1,f[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]},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1&lt;=j&lt;=i-1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A[j]&lt;=A[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边界条件：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F[1]=1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程序实现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104900" y="5032954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A[</a:t>
                      </a:r>
                      <a:r>
                        <a:rPr lang="en-US" altLang="zh-CN" dirty="0" err="1"/>
                        <a:t>i</a:t>
                      </a:r>
                      <a:r>
                        <a:rPr lang="en-US" altLang="zh-CN" dirty="0"/>
                        <a:t>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F[</a:t>
                      </a:r>
                      <a:r>
                        <a:rPr lang="en-US" altLang="zh-CN" dirty="0" err="1"/>
                        <a:t>i</a:t>
                      </a:r>
                      <a:r>
                        <a:rPr lang="en-US" altLang="zh-CN" dirty="0"/>
                        <a:t>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980" y="1350715"/>
            <a:ext cx="10131602" cy="52937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#include&lt;bits/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stdc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++.h&gt;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using namespace std;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const int MAXN = 10005;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A[MAXN],F[MAXN],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N,Ans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main()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cin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&gt;&gt;N;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for(int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=1;i&lt;=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N;i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cin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&gt;&gt;A[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F[1]=1;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Ans=1;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for(int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=2;i&lt;=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N;i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{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	F[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]=1;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	for(int j=1;j&lt;=i-1;j++)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		if(A[j]&lt;=A[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]&amp;&amp;F[j]+1&gt;F[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])   F[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]=F[j]+1;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	if(F[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]&gt;Ans)  Ans=F[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}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cout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&lt;&lt;Ans&lt;&lt;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endl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return 0;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} 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33595" y="1111018"/>
            <a:ext cx="10089843" cy="29727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求最长不下降序列（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LIS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n&lt;=100000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贪心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思想构造最长不下降序列：保证不下降序列最大长度不变的情况下，让序列中的元素越小，越可能得到更长的不下降序列。在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数组中查找第一个大于等于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的数时，可利用二分查找或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lower_bound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函数。时间复杂度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nlogn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63828F2E-241C-3330-9D48-CB48005EF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726498"/>
              </p:ext>
            </p:extLst>
          </p:nvPr>
        </p:nvGraphicFramePr>
        <p:xfrm>
          <a:off x="1007245" y="4083755"/>
          <a:ext cx="8128000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0646">
                  <a:extLst>
                    <a:ext uri="{9D8B030D-6E8A-4147-A177-3AD203B41FA5}">
                      <a16:colId xmlns:a16="http://schemas.microsoft.com/office/drawing/2014/main" val="1515314128"/>
                    </a:ext>
                  </a:extLst>
                </a:gridCol>
                <a:gridCol w="1473693">
                  <a:extLst>
                    <a:ext uri="{9D8B030D-6E8A-4147-A177-3AD203B41FA5}">
                      <a16:colId xmlns:a16="http://schemas.microsoft.com/office/drawing/2014/main" val="1124306969"/>
                    </a:ext>
                  </a:extLst>
                </a:gridCol>
                <a:gridCol w="3533312">
                  <a:extLst>
                    <a:ext uri="{9D8B030D-6E8A-4147-A177-3AD203B41FA5}">
                      <a16:colId xmlns:a16="http://schemas.microsoft.com/office/drawing/2014/main" val="3797302783"/>
                    </a:ext>
                  </a:extLst>
                </a:gridCol>
                <a:gridCol w="1580349">
                  <a:extLst>
                    <a:ext uri="{9D8B030D-6E8A-4147-A177-3AD203B41FA5}">
                      <a16:colId xmlns:a16="http://schemas.microsoft.com/office/drawing/2014/main" val="330190298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a[</a:t>
                      </a:r>
                      <a:r>
                        <a:rPr lang="en-US" altLang="zh-C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f[</a:t>
                      </a:r>
                      <a:r>
                        <a:rPr lang="en-US" altLang="zh-C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89422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600" b="1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8264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lang="en-US" altLang="zh-CN" sz="1600" b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sz="1600" b="1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57914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lang="en-US" altLang="zh-CN" sz="1600" b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1600" b="1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69542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1 3 </a:t>
                      </a:r>
                      <a:r>
                        <a:rPr lang="en-US" altLang="zh-CN" sz="1600" b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1600" b="1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58943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1 3 5 </a:t>
                      </a:r>
                      <a:r>
                        <a:rPr lang="en-US" altLang="zh-CN" sz="1600" b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1600" b="1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41094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1 3 </a:t>
                      </a:r>
                      <a:r>
                        <a:rPr lang="en-US" altLang="zh-CN" sz="1600" b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9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41078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1 3 4 </a:t>
                      </a:r>
                      <a:r>
                        <a:rPr lang="en-US" altLang="zh-CN" sz="1600" b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1600" b="1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56826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891836" y="1321921"/>
            <a:ext cx="10131602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61747" y="1520991"/>
            <a:ext cx="4355978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#include&lt;bits/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stdc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++.h&gt;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 int MAXN = 100005;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a[MAXN],f[MAXN],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N,Ans,len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&gt;&gt;N;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for(int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&gt;&gt;a[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f[++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]=a[1];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for(int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=2;i&lt;=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if(a[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]&gt;f[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   f[++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]=a[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849277" y="1840395"/>
            <a:ext cx="634272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else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int l=1,r=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len,mid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while(l&lt;=r)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mid=(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l+r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)/2;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if(f[mid]&lt;a[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二分查找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中大于等于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的最小的数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l=mid+1;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else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r=mid-1;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}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f[l]=a[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0;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}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5584054" y="1624614"/>
            <a:ext cx="0" cy="4802819"/>
          </a:xfrm>
          <a:prstGeom prst="line">
            <a:avLst/>
          </a:prstGeom>
          <a:ln w="19050">
            <a:prstDash val="sys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1008787" y="1552541"/>
            <a:ext cx="5755179" cy="4071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求最长公共子序列（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LCS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题目描述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的两个排列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，求它们的最长公共子序列。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输入格式：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第一行是一个数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接下来两行，每行为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个数，为自然数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的一个排列。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输出格式：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一个数，即最长公共子序列的长度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666689" y="1481146"/>
            <a:ext cx="4860588" cy="4450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3 2 1 4 5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1 2 3 4 5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数据规模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n≤1000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6362267" y="1620834"/>
            <a:ext cx="0" cy="4802819"/>
          </a:xfrm>
          <a:prstGeom prst="line">
            <a:avLst/>
          </a:prstGeom>
          <a:ln w="19050">
            <a:prstDash val="sys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线性动态规划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997259" y="1325816"/>
                <a:ext cx="8253273" cy="45404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CN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【</a:t>
                </a:r>
                <a:r>
                  <a:rPr lang="zh-CN" altLang="en-US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问题分析</a:t>
                </a:r>
                <a:r>
                  <a:rPr lang="en-US" altLang="zh-CN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】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确定状态</a:t>
                </a:r>
              </a:p>
              <a:p>
                <a:pPr>
                  <a:lnSpc>
                    <a:spcPct val="20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定义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F[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j]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A[1~i]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B[1~j]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最长公共子序列的长度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确定状态转移方程和边界条件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F[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i,j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 = max { F[i-1,j] , F[i,j-1] , f[i-1,j-1]+1 ( if a[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]== b[j] ) }</a:t>
                </a:r>
              </a:p>
              <a:p>
                <a:pPr>
                  <a:lnSpc>
                    <a:spcPct val="20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边界条件：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F[i,0]=F[0,j]=0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3.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程序实现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时间复杂度：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259" y="1325816"/>
                <a:ext cx="8253273" cy="4540410"/>
              </a:xfrm>
              <a:prstGeom prst="rect">
                <a:avLst/>
              </a:prstGeom>
              <a:blipFill>
                <a:blip r:embed="rId2"/>
                <a:stretch>
                  <a:fillRect l="-6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1029440" y="1421737"/>
            <a:ext cx="10131602" cy="507831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#include&lt;bits/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stdc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++.h&gt;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using namespace std;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main()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int a[1005],b[1005],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n,f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[1005][1005]={0};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cin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&gt;&gt;n;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for(int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=1;i&lt;=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n;i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cin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&gt;&gt;a[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for(int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=1;i&lt;=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n;i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cin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&gt;&gt;b[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for(int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=1;i&lt;=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n;i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	for(int j=1;j&lt;=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n;j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	{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		if(a[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]==b[j]) f[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][j]=f[i-1][j-1]+1;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		else f[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][j]=max(f[i-1][j],f[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][j-1]);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	}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cout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&lt;&lt;f[n][n]&lt;&lt;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endl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return 0;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} 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00170" y="1173162"/>
            <a:ext cx="10390141" cy="5496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数字三角形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题目描述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写一个程序来查找从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最高点到底部任意处结束的路径，使路径经过数字的和最大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。每一步可以走到左下方的点也可以到达右下方的点。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在上面的样例中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的路径产生了最大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输入格式：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第一个行包含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R(1&lt;= R&lt;=1000) ,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表示行的数目。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后面每行为这个数字金字塔特定行包含的整数。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所有的被供应的整数是非负的且不大于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输出格式：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单独的一行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包含那个可能得到的最大的和。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l="5761" t="8257"/>
          <a:stretch>
            <a:fillRect/>
          </a:stretch>
        </p:blipFill>
        <p:spPr>
          <a:xfrm>
            <a:off x="7466120" y="3429000"/>
            <a:ext cx="2530295" cy="22558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线性动态规划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032769" y="1553093"/>
                <a:ext cx="10052813" cy="4163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【</a:t>
                </a: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问题分析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】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1.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确定状态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定义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F[</a:t>
                </a:r>
                <a:r>
                  <a:rPr kumimoji="0" lang="en-US" altLang="zh-CN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i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，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j]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表示从左上角走到第</a:t>
                </a:r>
                <a:r>
                  <a:rPr kumimoji="0" lang="en-US" altLang="zh-CN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i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行第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j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列，和最大是多少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2.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确定状态转移方程和边界条件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F[</a:t>
                </a:r>
                <a:r>
                  <a:rPr kumimoji="0" lang="en-US" altLang="zh-CN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i,j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] = A[</a:t>
                </a:r>
                <a:r>
                  <a:rPr kumimoji="0" lang="en-US" altLang="zh-CN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i,j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]+max(f[i-1,j],f[i-1,j-1]) 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边界条件：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F[1,1]=A[1,1]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3.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程序实现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14843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>
                    <a:solidFill>
                      <a:srgbClr val="51484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时间复杂度：</a:t>
                </a:r>
                <a:r>
                  <a:rPr lang="en-US" altLang="zh-CN" dirty="0">
                    <a:solidFill>
                      <a:srgbClr val="51484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</a:t>
                </a:r>
                <a:r>
                  <a:rPr lang="zh-CN" altLang="en-US" dirty="0">
                    <a:solidFill>
                      <a:srgbClr val="51484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en-US" altLang="zh-CN" dirty="0">
                    <a:solidFill>
                      <a:srgbClr val="51484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e>
                      <m:sup>
                        <m:r>
                          <a:rPr lang="en-US" altLang="zh-CN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>
                        <a:solidFill>
                          <a:srgbClr val="514843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dirty="0">
                    <a:solidFill>
                      <a:srgbClr val="51484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769" y="1553093"/>
                <a:ext cx="10052813" cy="4163769"/>
              </a:xfrm>
              <a:prstGeom prst="rect">
                <a:avLst/>
              </a:prstGeom>
              <a:blipFill>
                <a:blip r:embed="rId2"/>
                <a:stretch>
                  <a:fillRect l="-485" t="-878" b="-16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1029440" y="1421737"/>
            <a:ext cx="10131602" cy="507831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lvl="0">
              <a:defRPr/>
            </a:pP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#include&lt;bits/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stdc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++.h&gt;</a:t>
            </a:r>
          </a:p>
          <a:p>
            <a:pPr lvl="0">
              <a:defRPr/>
            </a:pP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using namespace std;</a:t>
            </a:r>
          </a:p>
          <a:p>
            <a:pPr lvl="0">
              <a:defRPr/>
            </a:pP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main()</a:t>
            </a:r>
          </a:p>
          <a:p>
            <a:pPr lvl="0">
              <a:defRPr/>
            </a:pP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{</a:t>
            </a:r>
          </a:p>
          <a:p>
            <a:pPr lvl="0">
              <a:defRPr/>
            </a:pP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int f[105][105],a[105][105],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r,ans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=0;</a:t>
            </a:r>
          </a:p>
          <a:p>
            <a:pPr lvl="0">
              <a:defRPr/>
            </a:pP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cin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&gt;&gt;r;</a:t>
            </a:r>
          </a:p>
          <a:p>
            <a:pPr lvl="0">
              <a:defRPr/>
            </a:pP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for(int 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=1;i&lt;=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r;i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</a:t>
            </a:r>
          </a:p>
          <a:p>
            <a:pPr lvl="0">
              <a:defRPr/>
            </a:pP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	for(int j=1;j&lt;=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i;j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</a:t>
            </a:r>
          </a:p>
          <a:p>
            <a:pPr lvl="0">
              <a:defRPr/>
            </a:pP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		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cin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&gt;&gt;a[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][j];</a:t>
            </a:r>
          </a:p>
          <a:p>
            <a:pPr lvl="0">
              <a:defRPr/>
            </a:pP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f[1][1]=a[1][1];</a:t>
            </a:r>
          </a:p>
          <a:p>
            <a:pPr lvl="0">
              <a:defRPr/>
            </a:pP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for(int 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=2;i&lt;=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r;i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</a:t>
            </a:r>
          </a:p>
          <a:p>
            <a:pPr lvl="0">
              <a:defRPr/>
            </a:pP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	for(int j=1;j&lt;=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i;j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</a:t>
            </a:r>
          </a:p>
          <a:p>
            <a:pPr lvl="0">
              <a:defRPr/>
            </a:pP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		f[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][j]=a[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][j]+max(f[i-1][j],f[i-1][j-1]);</a:t>
            </a:r>
          </a:p>
          <a:p>
            <a:pPr lvl="0">
              <a:defRPr/>
            </a:pP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for(int 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=1;i&lt;=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r;i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 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ans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=max(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ans,f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[r][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]);</a:t>
            </a:r>
          </a:p>
          <a:p>
            <a:pPr lvl="0">
              <a:defRPr/>
            </a:pP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cout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&lt;&lt;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ans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&lt;&lt;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endl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;</a:t>
            </a:r>
          </a:p>
          <a:p>
            <a:pPr lvl="0">
              <a:defRPr/>
            </a:pP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return 0;</a:t>
            </a:r>
          </a:p>
          <a:p>
            <a:pPr lvl="0">
              <a:defRPr/>
            </a:pP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}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64399" y="1173162"/>
            <a:ext cx="10816269" cy="5496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求最长公共上升子序列（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LCIS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题目描述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熊大妈的奶牛在小沐沐的熏陶下开始研究信息题目。小沐沐先让奶牛研究了最长上升子序列，再让他们研究了最长公共子序列，现在又让他们要研究最长公共上升子序列了。 小沐沐说，对于两个串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，如果它们都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包含一段位置不一定连续的数字，且数字是严格递增的，那么称这一段数字是两个串的公共上升子串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，而所有的公共上升子串中最长的就是最长公共上升子串了。 奶牛半懂不懂，小沐沐要你来告诉奶牛什么是最长公共上升子串。不过，只要告诉奶牛它的长度就可以了。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 第一行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的长度。 第二行，串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第三行，串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输出格式 输出长度。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1&lt;=N&lt;=3000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输入样例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4 / 2 2 1 3 / 2 1 2 3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输出样例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线性动态规划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032769" y="1464316"/>
                <a:ext cx="10052813" cy="48174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【</a:t>
                </a: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问题分析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7D66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】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1.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确定状态</a:t>
                </a:r>
              </a:p>
              <a:p>
                <a:pPr lvl="0">
                  <a:lnSpc>
                    <a:spcPct val="200000"/>
                  </a:lnSpc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定义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F[</a:t>
                </a:r>
                <a:r>
                  <a:rPr kumimoji="0" lang="en-US" altLang="zh-CN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i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，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j]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表示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51484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51484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𝐴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51484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~</a:t>
                </a:r>
                <a:r>
                  <a:rPr lang="en-US" altLang="zh-CN" dirty="0">
                    <a:solidFill>
                      <a:srgbClr val="514843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solidFill>
                          <a:srgbClr val="514843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~</a:t>
                </a:r>
                <a:r>
                  <a:rPr lang="en-US" altLang="zh-CN" dirty="0">
                    <a:solidFill>
                      <a:srgbClr val="514843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𝐵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</m:sub>
                    </m:sSub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可以构成的</a:t>
                </a: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𝑩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𝒋</m:t>
                        </m:r>
                      </m:sub>
                    </m:sSub>
                  </m:oMath>
                </a14:m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结尾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的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LCIS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的长度；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2.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确定状态转移方程和边界条件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14843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lvl="0">
                  <a:lnSpc>
                    <a:spcPct val="200000"/>
                  </a:lnSpc>
                  <a:defRPr/>
                </a:pPr>
                <a:r>
                  <a:rPr lang="zh-CN" altLang="en-US" dirty="0">
                    <a:solidFill>
                      <a:srgbClr val="51484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51484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!=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51484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f[</a:t>
                </a:r>
                <a:r>
                  <a:rPr lang="en-US" altLang="zh-CN" dirty="0" err="1">
                    <a:solidFill>
                      <a:srgbClr val="51484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i,j</a:t>
                </a:r>
                <a:r>
                  <a:rPr lang="en-US" altLang="zh-CN" dirty="0">
                    <a:solidFill>
                      <a:srgbClr val="51484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]=f[i-1][j]</a:t>
                </a:r>
              </a:p>
              <a:p>
                <a:pPr lvl="0">
                  <a:lnSpc>
                    <a:spcPct val="200000"/>
                  </a:lnSpc>
                  <a:defRPr/>
                </a:pPr>
                <a:r>
                  <a:rPr lang="zh-CN" altLang="en-US" dirty="0">
                    <a:solidFill>
                      <a:srgbClr val="51484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51484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𝐵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51484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f[</a:t>
                </a:r>
                <a:r>
                  <a:rPr lang="en-US" altLang="zh-CN" dirty="0" err="1">
                    <a:solidFill>
                      <a:srgbClr val="51484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i,j</a:t>
                </a:r>
                <a:r>
                  <a:rPr lang="en-US" altLang="zh-CN" dirty="0">
                    <a:solidFill>
                      <a:srgbClr val="51484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]=max{f[i-1,k]} +1(0&lt;=k&lt;j,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𝐵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51484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&lt;</a:t>
                </a:r>
                <a:r>
                  <a:rPr lang="en-US" altLang="zh-CN" dirty="0">
                    <a:solidFill>
                      <a:srgbClr val="514843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51484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)=max{f[i-1,k]} +1(0&lt;=k&lt;j,</a:t>
                </a:r>
                <a:r>
                  <a:rPr lang="en-US" altLang="zh-CN" dirty="0">
                    <a:solidFill>
                      <a:srgbClr val="514843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51484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&lt;</a:t>
                </a:r>
                <a:r>
                  <a:rPr lang="en-US" altLang="zh-CN" dirty="0">
                    <a:solidFill>
                      <a:srgbClr val="514843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51484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)</a:t>
                </a:r>
              </a:p>
              <a:p>
                <a:pPr lvl="0">
                  <a:lnSpc>
                    <a:spcPct val="200000"/>
                  </a:lnSpc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边界条件：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F[0,j]=F[i,0]=0</a:t>
                </a:r>
              </a:p>
              <a:p>
                <a:pPr lvl="0">
                  <a:lnSpc>
                    <a:spcPct val="200000"/>
                  </a:lnSpc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3.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484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程序</a:t>
                </a:r>
                <a:r>
                  <a:rPr lang="zh-CN" altLang="en-US" dirty="0">
                    <a:solidFill>
                      <a:srgbClr val="51484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实现</a:t>
                </a:r>
                <a:endParaRPr lang="en-US" altLang="zh-CN" dirty="0">
                  <a:solidFill>
                    <a:srgbClr val="51484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>
                  <a:lnSpc>
                    <a:spcPct val="200000"/>
                  </a:lnSpc>
                  <a:defRPr/>
                </a:pPr>
                <a:r>
                  <a:rPr lang="zh-CN" altLang="en-US" dirty="0">
                    <a:solidFill>
                      <a:srgbClr val="51484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时间复杂度：</a:t>
                </a:r>
                <a:r>
                  <a:rPr lang="en-US" altLang="zh-CN" dirty="0">
                    <a:solidFill>
                      <a:srgbClr val="51484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</a:t>
                </a:r>
                <a:r>
                  <a:rPr lang="zh-CN" altLang="en-US" dirty="0">
                    <a:solidFill>
                      <a:srgbClr val="51484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rgbClr val="51484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769" y="1464316"/>
                <a:ext cx="10052813" cy="4817409"/>
              </a:xfrm>
              <a:prstGeom prst="rect">
                <a:avLst/>
              </a:prstGeom>
              <a:blipFill>
                <a:blip r:embed="rId2"/>
                <a:stretch>
                  <a:fillRect l="-485" t="-633" b="-20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1104900" y="1490890"/>
            <a:ext cx="5066560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107" y="2106442"/>
            <a:ext cx="8050799" cy="24655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1032769" y="1481223"/>
            <a:ext cx="10052813" cy="194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优化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1.j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决策时每一次都重复的在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0-j-1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之间查找，浪费时间</a:t>
            </a:r>
            <a:endParaRPr lang="en-US" altLang="zh-CN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2.j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增加时，即整数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j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可能会进入新的决策集合，只需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O(1)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地检查条件（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Bj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&lt;Ai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是否满足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），已经在决策集合中的数一定不会被删除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1104900" y="1490890"/>
            <a:ext cx="5066560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606" y="2106443"/>
            <a:ext cx="6643013" cy="25543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E485EFC-FEB5-C8CF-AF85-1D6890091344}"/>
                  </a:ext>
                </a:extLst>
              </p:cNvPr>
              <p:cNvSpPr txBox="1"/>
              <p:nvPr/>
            </p:nvSpPr>
            <p:spPr>
              <a:xfrm>
                <a:off x="1307237" y="4899018"/>
                <a:ext cx="6094520" cy="562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200000"/>
                  </a:lnSpc>
                  <a:defRPr/>
                </a:pPr>
                <a:r>
                  <a:rPr lang="zh-CN" altLang="en-US" dirty="0">
                    <a:solidFill>
                      <a:srgbClr val="51484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时间复杂度：</a:t>
                </a:r>
                <a:r>
                  <a:rPr lang="en-US" altLang="zh-CN" dirty="0">
                    <a:solidFill>
                      <a:srgbClr val="51484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</a:t>
                </a:r>
                <a:r>
                  <a:rPr lang="zh-CN" altLang="en-US" dirty="0">
                    <a:solidFill>
                      <a:srgbClr val="51484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514843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rgbClr val="51484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E485EFC-FEB5-C8CF-AF85-1D68900913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237" y="4899018"/>
                <a:ext cx="6094520" cy="562205"/>
              </a:xfrm>
              <a:prstGeom prst="rect">
                <a:avLst/>
              </a:prstGeom>
              <a:blipFill>
                <a:blip r:embed="rId3"/>
                <a:stretch>
                  <a:fillRect l="-800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937766" y="1279694"/>
            <a:ext cx="10816269" cy="53172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传纸条（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NOIP2008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题目描述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小渊和小轩是好朋友也是同班同学，他们在一起总有谈不完的话题。一次素质拓展活动中，班上同学安排做成一个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列的矩阵，而小渊和小轩被安排在矩阵对角线的两端，因此，他们就无法直接交谈了。幸运的是，他们可以通过传纸条来进行交流。纸条要经由许多同学传到对方手里，小渊坐在矩阵的左上角，坐标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(1,1)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，小轩坐在矩阵的右下角，坐标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m,n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。从小渊传到小轩的纸条只可以向下或者向右传递，从小轩传给小渊的纸条只可以向上或者向左传递。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在活动进行中，小渊希望给小轩传递一张纸条，同时希望小轩给他回复。班里每个同学都可以帮他们传递，但</a:t>
            </a:r>
            <a:r>
              <a:rPr lang="zh-CN" altLang="en-US" sz="1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只会帮他们一次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，也就是说如果此人在小渊递给小轩纸条的时候帮忙，那么在小轩递给小渊的时候就不会再帮忙。反之亦然。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还有一件事情需要注意，全班每个同学愿意帮忙的好感度有高有低（注意：小渊和小轩的好心程度没有定义，输入时用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表示），可以用一个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0-1000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的自然数 来表示，数越大表示越好心。小渊和小轩希望尽可能找好心程度高的同学来帮忙传纸条，即</a:t>
            </a:r>
            <a:r>
              <a:rPr lang="zh-CN" altLang="en-US" sz="1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找到来回两条传递路径，使得这两条路径上同学的好心程度之和最大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。现 在，请你帮助小渊和小轩找到这样的两条路径。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输入第一行有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个用空格隔开的整数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，表示班里有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1&lt;=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m,n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&lt;=50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接下来的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行是一个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m*n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的矩阵，矩阵中第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列的整数表示坐在第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列的学生的好心程度。每行的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个整数之间用空格隔开。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输出共一行，包含一个整数，表示来回两条路上参与传递纸条的学生的好心程度之和的最大值。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1032769" y="1357324"/>
            <a:ext cx="10052813" cy="5056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lvl="0">
              <a:lnSpc>
                <a:spcPct val="200000"/>
              </a:lnSpc>
              <a:defRPr/>
            </a:pP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其实这道题的意思就是从 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(1,1)  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 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m,n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选出两条互不重叠的路径，使得经过的权值和最大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确定状态</a:t>
            </a:r>
          </a:p>
          <a:p>
            <a:pPr lvl="0">
              <a:lnSpc>
                <a:spcPct val="200000"/>
              </a:lnSpc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定义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F[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j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 , l]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表示第一条路走到 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，第二条路走到 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k,l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的最大值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确定状态转移方程和边界条件（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时间复杂度：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n^4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lnSpc>
                <a:spcPct val="200000"/>
              </a:lnSpc>
              <a:defRPr/>
            </a:pP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我们发现 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sz="160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][j][k][l] 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可以从四个方向转移过来，就是以下的四种：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(i−1,j,k−1,l) (i−1,j,k,l−1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(i,j−1,k−1,l) 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(i,j−1,k,l−1) 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在这四种情况中取最大值，然后加上 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a[</a:t>
            </a:r>
            <a:r>
              <a:rPr lang="en-US" altLang="zh-CN" sz="160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][j]+ a[k][l]</a:t>
            </a:r>
          </a:p>
          <a:p>
            <a:pPr lvl="0">
              <a:lnSpc>
                <a:spcPct val="200000"/>
              </a:lnSpc>
              <a:defRPr/>
            </a:pP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约束条件：</a:t>
            </a:r>
            <a:r>
              <a:rPr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!=k  &amp;&amp;  j!=l</a:t>
            </a:r>
          </a:p>
          <a:p>
            <a:pPr lvl="0">
              <a:lnSpc>
                <a:spcPct val="200000"/>
              </a:lnSpc>
              <a:defRPr/>
            </a:pP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答案为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f[m][n][m][n]</a:t>
            </a:r>
          </a:p>
          <a:p>
            <a:pPr lvl="0">
              <a:lnSpc>
                <a:spcPct val="200000"/>
              </a:lnSpc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程序实现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1032769" y="1227643"/>
            <a:ext cx="10052813" cy="5077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优化：降维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lvl="0">
              <a:lnSpc>
                <a:spcPct val="200000"/>
              </a:lnSpc>
              <a:defRPr/>
            </a:pPr>
            <a:r>
              <a:rPr lang="en-US" altLang="zh-CN" sz="160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i,j,x,y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存在数量关系如下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lvl="0">
              <a:lnSpc>
                <a:spcPct val="200000"/>
              </a:lnSpc>
              <a:defRPr/>
            </a:pPr>
            <a:r>
              <a:rPr lang="en-US" altLang="zh-CN" sz="160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i+j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160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x+y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=k+2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为路径长度）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同时从（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1,1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）点出发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确定状态</a:t>
            </a:r>
          </a:p>
          <a:p>
            <a:pPr lvl="0">
              <a:lnSpc>
                <a:spcPct val="200000"/>
              </a:lnSpc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定义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[k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j ]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表示两条路径长度为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，第一条路走到 第</a:t>
            </a:r>
            <a:r>
              <a:rPr lang="en-US" altLang="zh-CN" sz="160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行，第二条路走到 第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行已经取得的数之和的最大值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确定状态转移方程和边界条件（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时间复杂度：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n^3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lnSpc>
                <a:spcPct val="200000"/>
              </a:lnSpc>
              <a:defRPr/>
            </a:pP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我们发现 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f[k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 ]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可以从四个方向转移过来：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(k−1,i,j) (k−1,i,j−1)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(k-1,i−1,j) 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(k-1,i−1,j−1) 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在这四种情况中取最大值，然后加上 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a[</a:t>
            </a:r>
            <a:r>
              <a:rPr lang="en-US" altLang="zh-CN" sz="160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][k+2-i]+ a[j][k+2-j]</a:t>
            </a:r>
          </a:p>
          <a:p>
            <a:pPr lvl="0">
              <a:lnSpc>
                <a:spcPct val="200000"/>
              </a:lnSpc>
              <a:defRPr/>
            </a:pP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约束条件：</a:t>
            </a:r>
            <a:r>
              <a:rPr lang="en-US" altLang="zh-CN" sz="160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!=j  </a:t>
            </a:r>
          </a:p>
          <a:p>
            <a:pPr lvl="0">
              <a:lnSpc>
                <a:spcPct val="200000"/>
              </a:lnSpc>
              <a:defRPr/>
            </a:pP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答案为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f[n+m-2][m][m]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1104900" y="1490890"/>
            <a:ext cx="5066560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t="1424"/>
          <a:stretch>
            <a:fillRect/>
          </a:stretch>
        </p:blipFill>
        <p:spPr>
          <a:xfrm>
            <a:off x="0" y="1961702"/>
            <a:ext cx="12192000" cy="21615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45858" y="1331092"/>
            <a:ext cx="5066560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习题练习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1】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04900" y="1663135"/>
            <a:ext cx="9980681" cy="52121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线段覆盖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题目描述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Description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数轴上有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条线段，线段的两端都是整数坐标，坐标范围在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0~1000000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，每条线段有一个价值，请从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条线段中挑出若干条线段，使得这些线段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两两不覆盖（端点可以重合）且线段价值之和最大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n&lt;=1000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输入描述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Input Description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第一行一个整数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，表示有多少条线段。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接下来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行每行三个整数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ai bi ci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，分别代表第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条线段的左端点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，右端点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（保证左端点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右端点）和价值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输出描述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Output Description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输出能够获得的最大价值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样例输入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Sample Input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1 2 1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2 3 2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1 3 4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588137" y="4269201"/>
            <a:ext cx="6020678" cy="2263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/>
              <a:t>样例输出 </a:t>
            </a:r>
            <a:r>
              <a:rPr lang="en-US" altLang="zh-CN" sz="1600" dirty="0"/>
              <a:t>Sample Output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4</a:t>
            </a:r>
          </a:p>
          <a:p>
            <a:pPr>
              <a:lnSpc>
                <a:spcPct val="150000"/>
              </a:lnSpc>
            </a:pPr>
            <a:r>
              <a:rPr lang="zh-CN" altLang="en-US" sz="1600" dirty="0"/>
              <a:t>数据范围</a:t>
            </a:r>
          </a:p>
          <a:p>
            <a:pPr>
              <a:lnSpc>
                <a:spcPct val="150000"/>
              </a:lnSpc>
            </a:pPr>
            <a:r>
              <a:rPr lang="zh-CN" altLang="en-US" sz="1600" dirty="0"/>
              <a:t>对于</a:t>
            </a:r>
            <a:r>
              <a:rPr lang="en-US" altLang="zh-CN" sz="1600" dirty="0"/>
              <a:t>40%</a:t>
            </a:r>
            <a:r>
              <a:rPr lang="zh-CN" altLang="en-US" sz="1600" dirty="0"/>
              <a:t>的数据，</a:t>
            </a:r>
            <a:r>
              <a:rPr lang="en-US" altLang="zh-CN" sz="1600" dirty="0"/>
              <a:t>n≤10</a:t>
            </a:r>
            <a:r>
              <a:rPr lang="zh-CN" altLang="en-US" sz="1600" dirty="0"/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1600" dirty="0"/>
              <a:t>对于</a:t>
            </a:r>
            <a:r>
              <a:rPr lang="en-US" altLang="zh-CN" sz="1600" dirty="0"/>
              <a:t>100%</a:t>
            </a:r>
            <a:r>
              <a:rPr lang="zh-CN" altLang="en-US" sz="1600" dirty="0"/>
              <a:t>的数据，</a:t>
            </a:r>
            <a:r>
              <a:rPr lang="en-US" altLang="zh-CN" sz="1600" dirty="0"/>
              <a:t>n≤1000</a:t>
            </a:r>
            <a:r>
              <a:rPr lang="zh-CN" altLang="en-US" sz="1600" dirty="0"/>
              <a:t>；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0&lt;=</a:t>
            </a:r>
            <a:r>
              <a:rPr lang="en-US" altLang="zh-CN" sz="1600" dirty="0" err="1"/>
              <a:t>ai,bi</a:t>
            </a:r>
            <a:r>
              <a:rPr lang="en-US" altLang="zh-CN" sz="1600" dirty="0"/>
              <a:t>&lt;=1000000 </a:t>
            </a:r>
            <a:r>
              <a:rPr lang="zh-CN" altLang="en-US" sz="1600" dirty="0"/>
              <a:t>，</a:t>
            </a:r>
            <a:r>
              <a:rPr lang="en-US" altLang="zh-CN" sz="1600" dirty="0"/>
              <a:t>0&lt;=ci&lt;=1000000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1032769" y="1233037"/>
            <a:ext cx="10052813" cy="3886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lvl="0">
              <a:lnSpc>
                <a:spcPct val="200000"/>
              </a:lnSpc>
              <a:defRPr/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线段映射到数轴上（按右端点排序），然后进行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</a:p>
          <a:p>
            <a:pPr lvl="0">
              <a:lnSpc>
                <a:spcPct val="200000"/>
              </a:lnSpc>
              <a:defRPr/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）阶段：线段的条数</a:t>
            </a:r>
          </a:p>
          <a:p>
            <a:pPr lvl="0">
              <a:lnSpc>
                <a:spcPct val="200000"/>
              </a:lnSpc>
              <a:defRPr/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）状态：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表示前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条线段中任意选择线段且必须选择第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条线段的最大价值</a:t>
            </a:r>
          </a:p>
          <a:p>
            <a:pPr lvl="0">
              <a:lnSpc>
                <a:spcPct val="200000"/>
              </a:lnSpc>
              <a:defRPr/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）决策：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)=max{f(j)+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)} 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1=&lt;j&lt;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答案为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max{f[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]}</a:t>
            </a:r>
          </a:p>
          <a:p>
            <a:pPr lvl="0">
              <a:lnSpc>
                <a:spcPct val="200000"/>
              </a:lnSpc>
              <a:defRPr/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时间复杂度（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O(n^2)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1029440" y="1421737"/>
            <a:ext cx="10131602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lvl="0"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085" y="1324189"/>
            <a:ext cx="8098608" cy="5457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45858" y="1410991"/>
            <a:ext cx="5066560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习题练习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2】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04901" y="1831810"/>
            <a:ext cx="9980681" cy="4154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最低通行费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一个商人穿过一个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N*N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的正方形的网格，去参加一个非常重要的商务活动。他要从网格的左上角进，右下角出。每穿越中间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个小方格，都要花费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个单位时间。商人必须在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(2N-1)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个单位时间穿越出去。而在经过中间的每个小方格时，都需要缴纳一定的费用。</a:t>
            </a: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这个商人期望在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规定时间内用最少费用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穿越出去。请问至少需要多少费用？</a:t>
            </a: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注意：不能对角穿越各个小方格（即，只能向上下左右四个方向移动且不能离开网格）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第一行是一个整数，表示正方形的宽度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(1 &lt;= N &lt; 100)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后面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行，每行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个不大于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的整数，为网格上每个小方格的费用。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至少需要的费用。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975725" y="3150235"/>
            <a:ext cx="254000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样例输入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1 4 6 8 10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2 5 7 15 17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6 8 9 18 20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10 11 12 19 21</a:t>
            </a: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20 23 25 29 33</a:t>
            </a:r>
          </a:p>
          <a:p>
            <a:pPr>
              <a:lnSpc>
                <a:spcPct val="150000"/>
              </a:lnSpc>
            </a:pPr>
            <a:r>
              <a:rPr lang="zh-CN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样例输出</a:t>
            </a: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1032769" y="1410591"/>
            <a:ext cx="10052813" cy="4071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lvl="0">
              <a:lnSpc>
                <a:spcPct val="200000"/>
              </a:lnSpc>
              <a:defRPr/>
            </a:pP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这个问题的关键在于发现对移动方向的限制：即由于必须在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(2N-1)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单位时间内完成移动，因此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仅能向下或者向右移动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。当移动方向限定后，不难看出这个问题就是变形的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数塔问题</a:t>
            </a:r>
            <a:endParaRPr lang="en-US" altLang="zh-CN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）阶段：网格的行</a:t>
            </a:r>
          </a:p>
          <a:p>
            <a:pPr lvl="0">
              <a:lnSpc>
                <a:spcPct val="200000"/>
              </a:lnSpc>
              <a:defRPr/>
            </a:pP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）状态：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opt[</a:t>
            </a:r>
            <a:r>
              <a:rPr lang="en-US" altLang="zh-CN" sz="160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][j]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表示从左上角入口移动到第</a:t>
            </a:r>
            <a:r>
              <a:rPr lang="en-US" altLang="zh-CN" sz="160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列的最小代价</a:t>
            </a:r>
          </a:p>
          <a:p>
            <a:pPr lvl="0">
              <a:lnSpc>
                <a:spcPct val="200000"/>
              </a:lnSpc>
              <a:defRPr/>
            </a:pP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）决策：</a:t>
            </a:r>
            <a:r>
              <a:rPr lang="pl-PL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opt[i,j]=min{opt[i-1][j], opt[i][j-1]) + a[i][j];</a:t>
            </a:r>
            <a:endParaRPr lang="en-US" altLang="zh-CN" sz="1600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opt[n][n];</a:t>
            </a:r>
          </a:p>
          <a:p>
            <a:pPr lvl="0">
              <a:lnSpc>
                <a:spcPct val="200000"/>
              </a:lnSpc>
              <a:defRPr/>
            </a:pPr>
            <a:endParaRPr lang="en-US" altLang="zh-CN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1029440" y="1421737"/>
            <a:ext cx="10131602" cy="507831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lvl="0">
              <a:lnSpc>
                <a:spcPct val="200000"/>
              </a:lnSpc>
              <a:defRPr/>
            </a:pP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memset(f,0,sizeof(f));</a:t>
            </a:r>
          </a:p>
          <a:p>
            <a:pPr lvl="0">
              <a:lnSpc>
                <a:spcPct val="200000"/>
              </a:lnSpc>
              <a:defRPr/>
            </a:pP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for (int 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= 1; 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&lt;= n; 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</a:t>
            </a:r>
          </a:p>
          <a:p>
            <a:pPr lvl="0">
              <a:lnSpc>
                <a:spcPct val="200000"/>
              </a:lnSpc>
              <a:defRPr/>
            </a:pP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for (int j = 1; j &lt;= n; 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j++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)</a:t>
            </a:r>
          </a:p>
          <a:p>
            <a:pPr lvl="0">
              <a:lnSpc>
                <a:spcPct val="200000"/>
              </a:lnSpc>
              <a:defRPr/>
            </a:pP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cin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&gt;&gt;a[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][j];</a:t>
            </a:r>
          </a:p>
          <a:p>
            <a:pPr lvl="0">
              <a:lnSpc>
                <a:spcPct val="200000"/>
              </a:lnSpc>
              <a:defRPr/>
            </a:pP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for (int 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= 1; 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&lt;= n; 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</a:t>
            </a:r>
          </a:p>
          <a:p>
            <a:pPr lvl="0">
              <a:lnSpc>
                <a:spcPct val="200000"/>
              </a:lnSpc>
              <a:defRPr/>
            </a:pP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for (int j = 1; j &lt;=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; 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j++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)</a:t>
            </a:r>
          </a:p>
          <a:p>
            <a:pPr lvl="0">
              <a:lnSpc>
                <a:spcPct val="200000"/>
              </a:lnSpc>
              <a:defRPr/>
            </a:pP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f[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][j] = min(f[i-1][j], f[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][j-1]) + a[</a:t>
            </a: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][j];</a:t>
            </a:r>
          </a:p>
          <a:p>
            <a:pPr lvl="0">
              <a:lnSpc>
                <a:spcPct val="200000"/>
              </a:lnSpc>
              <a:defRPr/>
            </a:pPr>
            <a:r>
              <a:rPr lang="en-US" altLang="zh-CN" dirty="0" err="1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cout</a:t>
            </a:r>
            <a:r>
              <a:rPr lang="en-US" altLang="zh-CN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&lt;&lt;f[n][n];</a:t>
            </a:r>
          </a:p>
          <a:p>
            <a:pPr lvl="0"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45858" y="1331092"/>
            <a:ext cx="5066560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习题练习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04901" y="1663135"/>
            <a:ext cx="2916684" cy="2778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P1020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拦截导弹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P1091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合唱队形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P1280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尼克的任务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P1140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相似基因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P1052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过河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谢谢！</a:t>
            </a:r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9" r="13409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3949</Words>
  <Application>Microsoft Office PowerPoint</Application>
  <PresentationFormat>宽屏</PresentationFormat>
  <Paragraphs>363</Paragraphs>
  <Slides>31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7" baseType="lpstr">
      <vt:lpstr>微软雅黑</vt:lpstr>
      <vt:lpstr>Cambria Math</vt:lpstr>
      <vt:lpstr>Euphemia</vt:lpstr>
      <vt:lpstr>Times New Roman</vt:lpstr>
      <vt:lpstr>Wingdings</vt:lpstr>
      <vt:lpstr>学术文献 16x9</vt:lpstr>
      <vt:lpstr>线性动态规划</vt:lpstr>
      <vt:lpstr>学习目标</vt:lpstr>
      <vt:lpstr>线性动态规划</vt:lpstr>
      <vt:lpstr>线性动态规划</vt:lpstr>
      <vt:lpstr>线性动态规划</vt:lpstr>
      <vt:lpstr>线性动态规划</vt:lpstr>
      <vt:lpstr>线性动态规划</vt:lpstr>
      <vt:lpstr>线性动态规划</vt:lpstr>
      <vt:lpstr>线性动态规划</vt:lpstr>
      <vt:lpstr>线性动态规划</vt:lpstr>
      <vt:lpstr>线性动态规划</vt:lpstr>
      <vt:lpstr>线性动态规划</vt:lpstr>
      <vt:lpstr>线性动态规划</vt:lpstr>
      <vt:lpstr>线性动态规划</vt:lpstr>
      <vt:lpstr>线性动态规划</vt:lpstr>
      <vt:lpstr>线性动态规划</vt:lpstr>
      <vt:lpstr>线性动态规划</vt:lpstr>
      <vt:lpstr>线性动态规划</vt:lpstr>
      <vt:lpstr>线性动态规划</vt:lpstr>
      <vt:lpstr>线性动态规划</vt:lpstr>
      <vt:lpstr>线性动态规划</vt:lpstr>
      <vt:lpstr>线性动态规划</vt:lpstr>
      <vt:lpstr>线性动态规划</vt:lpstr>
      <vt:lpstr>线性动态规划</vt:lpstr>
      <vt:lpstr>线性动态规划</vt:lpstr>
      <vt:lpstr>线性动态规划</vt:lpstr>
      <vt:lpstr>线性动态规划</vt:lpstr>
      <vt:lpstr>线性动态规划</vt:lpstr>
      <vt:lpstr>线性动态规划</vt:lpstr>
      <vt:lpstr>线性动态规划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</cp:revision>
  <dcterms:created xsi:type="dcterms:W3CDTF">2017-11-04T04:56:00Z</dcterms:created>
  <dcterms:modified xsi:type="dcterms:W3CDTF">2023-04-07T03:17:47Z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KSOProductBuildVer">
    <vt:lpwstr>2052-11.1.0.9929</vt:lpwstr>
  </property>
</Properties>
</file>