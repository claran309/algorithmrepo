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7"/>
  </p:handoutMasterIdLst>
  <p:sldIdLst>
    <p:sldId id="706" r:id="rId4"/>
    <p:sldId id="612" r:id="rId6"/>
    <p:sldId id="668" r:id="rId7"/>
    <p:sldId id="669" r:id="rId8"/>
    <p:sldId id="729" r:id="rId9"/>
    <p:sldId id="710" r:id="rId10"/>
    <p:sldId id="714" r:id="rId11"/>
    <p:sldId id="743" r:id="rId12"/>
    <p:sldId id="667" r:id="rId13"/>
    <p:sldId id="735" r:id="rId14"/>
    <p:sldId id="736" r:id="rId15"/>
    <p:sldId id="744" r:id="rId16"/>
    <p:sldId id="741" r:id="rId17"/>
    <p:sldId id="742" r:id="rId18"/>
    <p:sldId id="737" r:id="rId19"/>
    <p:sldId id="746" r:id="rId20"/>
    <p:sldId id="745" r:id="rId21"/>
    <p:sldId id="738" r:id="rId22"/>
    <p:sldId id="739" r:id="rId23"/>
    <p:sldId id="756" r:id="rId24"/>
    <p:sldId id="757" r:id="rId25"/>
    <p:sldId id="707" r:id="rId2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76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62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1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1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  <a:endParaRPr lang="zh-CN" altLang="en-US" sz="1200" b="1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  <a:endParaRPr lang="zh-CN" altLang="en-US" sz="1200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  <a:endParaRPr lang="zh-CN" altLang="en-US" sz="1200" b="1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  <a:endParaRPr lang="zh-CN" altLang="en-US" sz="1200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  <a:p>
            <a:pPr lvl="5" rtl="0"/>
            <a:r>
              <a:rPr lang="zh-CN" altLang="en-US" noProof="0" dirty="0"/>
              <a:t>第六级</a:t>
            </a:r>
            <a:endParaRPr lang="zh-CN" altLang="en-US" noProof="0" dirty="0"/>
          </a:p>
          <a:p>
            <a:pPr lvl="6" rtl="0"/>
            <a:r>
              <a:rPr lang="zh-CN" altLang="en-US" noProof="0" dirty="0"/>
              <a:t>第七级</a:t>
            </a:r>
            <a:endParaRPr lang="zh-CN" altLang="en-US" noProof="0" dirty="0"/>
          </a:p>
          <a:p>
            <a:pPr lvl="7" rtl="0"/>
            <a:r>
              <a:rPr lang="zh-CN" altLang="en-US" noProof="0" dirty="0"/>
              <a:t>第八级</a:t>
            </a:r>
            <a:endParaRPr lang="zh-CN" altLang="en-US" noProof="0" dirty="0"/>
          </a:p>
          <a:p>
            <a:pPr lvl="8" rtl="0"/>
            <a:r>
              <a:rPr lang="zh-CN" altLang="en-US" noProof="0" dirty="0"/>
              <a:t>第九级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  <a:p>
            <a:pPr lvl="5" rtl="0"/>
            <a:r>
              <a:rPr lang="zh-CN" altLang="en-US" noProof="0" dirty="0"/>
              <a:t>第六级</a:t>
            </a:r>
            <a:endParaRPr lang="zh-CN" altLang="en-US" noProof="0" dirty="0"/>
          </a:p>
          <a:p>
            <a:pPr lvl="6" rtl="0"/>
            <a:r>
              <a:rPr lang="zh-CN" altLang="en-US" noProof="0" dirty="0"/>
              <a:t>第七级</a:t>
            </a:r>
            <a:endParaRPr lang="zh-CN" altLang="en-US" noProof="0" dirty="0"/>
          </a:p>
          <a:p>
            <a:pPr lvl="7" rtl="0"/>
            <a:r>
              <a:rPr lang="zh-CN" altLang="en-US" noProof="0" dirty="0"/>
              <a:t>第八级</a:t>
            </a:r>
            <a:endParaRPr lang="zh-CN" altLang="en-US" noProof="0" dirty="0"/>
          </a:p>
          <a:p>
            <a:pPr lvl="8" rtl="0"/>
            <a:r>
              <a:rPr lang="zh-CN" altLang="en-US" noProof="0" dirty="0"/>
              <a:t>第九级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4776186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单调队列优化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77973" y="374705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理解单调队列的基本原理。</a:t>
            </a:r>
            <a:endParaRPr lang="zh-CN" altLang="en-US" sz="2000" dirty="0"/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学会运用单调队列的思想求解实际问题。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344042"/>
            <a:ext cx="10060582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单调队列，顾名思义，就是一个元素单调的队列，那么就能保证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队首的元素是最小（最大）的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，从而满足动态规划的最优性问题的需求。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单调队列，又名双端队列。双端队列，就是说它不同于一般的队列只能在队首删除、队尾插入，它能够在队首、队尾同时进行删除。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单调队列的性质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一般，在动态规划的过程中，单调队列中每个元素一般存储的是两个值：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在原数列中的位置（下标）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在动态规划中的状态值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而单调队列则保证这两个值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同时单调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888590" y="1383531"/>
                <a:ext cx="10196992" cy="53561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个含有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项的数列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(n&lt;=2000000)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，求出每一项前面的第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个数到它这个区间内的最小值。 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很容易写出状态转移方程：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pt-BR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pt-BR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pt-BR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pt-BR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])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这个方程，直接求解的复杂度是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O(nm)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的。这时候，单调队列就发挥了他的作用： 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维护这样一个队列：队列中的每个元素有两个域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position,value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，分别代表在原队列中的位置和数值，我们随时保持这个队列中的元素两个域都单调递增。 计算的时候，只要在队首不断删除，直到队首的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position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大于等于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i-m+1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，那此时队首的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value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必定是不二人选，因为队列是单调的！ 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我们看看怎样将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插入到队列中进行决策：首先，要保证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position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单调递增，由于我们动态规划的过程总是由小到大（反之亦然），所以肯定在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队尾插入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。又因为要保证队列的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value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单调递增，所以将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队尾元素不断删除，直到队尾元素小于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90" y="1383531"/>
                <a:ext cx="10196992" cy="5356146"/>
              </a:xfrm>
              <a:prstGeom prst="rect">
                <a:avLst/>
              </a:prstGeom>
              <a:blipFill rotWithShape="1">
                <a:blip r:embed="rId1"/>
                <a:stretch>
                  <a:fillRect l="-2" t="-9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900712" y="1306611"/>
            <a:ext cx="10560359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时间效率</a:t>
            </a: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由于每个元素最多出队一次、进队一次，所以时间复杂度是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。用单调队列完美的解决了这一题。</a:t>
            </a:r>
            <a:endParaRPr lang="zh-CN" altLang="en-US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为什么要这么做</a:t>
            </a: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所有区间等长连续：𝑎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+2)  ,…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𝑟−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</a:t>
            </a:r>
            <a:endParaRPr lang="en-US" altLang="zh-CN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+2)  ,…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𝑟−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)=min(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,min(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+2)  ,…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𝑟−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));</a:t>
            </a:r>
            <a:endParaRPr lang="en-US" altLang="zh-CN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+2)  ,…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𝑟−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+1))=min(min(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+2)  ,…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𝑟−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+1));</a:t>
            </a:r>
            <a:endParaRPr lang="en-US" altLang="zh-CN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l,r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最小值落在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[l+1,r]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区间概率很大，在求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[l+1,r+1]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最值时，没有必要在扫描一次，只有当上一次最值落在𝑎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𝑙上；</a:t>
            </a:r>
            <a:endParaRPr lang="zh-CN" altLang="en-US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200000"/>
              </a:lnSpc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当区间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l,r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转移到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[l+1,r+1]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时，若队首元素不在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[l+1,r+1]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区间当中，删除它， 𝑎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_(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𝑟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插入单调队列，这样处理后的队首元素就是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[l+1,r+1]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区间内的最小值。</a:t>
            </a:r>
            <a:endParaRPr lang="zh-CN" altLang="en-US" sz="1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n≤10^6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）的数列，给定一个长度为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的窗口，让这个窗口在数列上移动，求移动到每个位置窗口中包含数的最大值和最小值。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70816" y="3216702"/>
          <a:ext cx="90410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366"/>
                <a:gridCol w="1944210"/>
                <a:gridCol w="225751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 position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value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value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  3  -1] -3  5  3  6  7 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[3  -1  -3] 5  3  6  7 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 3 [-1  -3  5] 3  6  7 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 3  -1 [-3  5  3] 6  7 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 3  -1  -3 [5  3  6] 7 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 3  -1  -3  5 [3  6  7]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911" y="1721828"/>
            <a:ext cx="8169348" cy="4877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243" y="1199355"/>
            <a:ext cx="6308118" cy="5637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9222" y="1173162"/>
            <a:ext cx="10166360" cy="57735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2】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最大连续和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输入一个长度为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的整数序列，从中找出一段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的连续子序列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，使得整个序列的和最大。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1,-3,5,1,-2,3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S=5+1-2+3=7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S=5+1=6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第一行两个数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个数，要求在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个数找到最大子序和。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一个数，数出他们的最大子序和。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1 -3 5 1 -2 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35263" y="4994987"/>
            <a:ext cx="6096000" cy="1526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7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n,m≤300000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；数列元素的绝对值≤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36695" y="1274608"/>
                <a:ext cx="10248887" cy="355693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6D7D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前缀和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]=max(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</m:oMath>
                </a14:m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=max(S(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)-S(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-k)|k=1…m)</a:t>
                </a:r>
                <a:endParaRPr lang="en-US" altLang="zh-CN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=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)-min(S(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-k)|k=1…m)</a:t>
                </a:r>
                <a:endParaRPr lang="en-US" altLang="zh-CN" dirty="0">
                  <a:solidFill>
                    <a:prstClr val="black"/>
                  </a:solidFill>
                  <a:latin typeface="微软雅黑" panose="020B0503020204020204" pitchFamily="34" charset="-122"/>
                  <a:ea typeface="宋体" panose="02010600030101010101" pitchFamily="2" charset="-122"/>
                </a:endParaRPr>
              </a:p>
              <a:p>
                <a:pPr lvl="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可以用单调队列维护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S(</a:t>
                </a:r>
                <a:r>
                  <a:rPr lang="en-US" altLang="zh-CN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宋体" panose="02010600030101010101" pitchFamily="2" charset="-122"/>
                  </a:rPr>
                  <a:t>-k)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	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95" y="1274608"/>
                <a:ext cx="10248887" cy="3556936"/>
              </a:xfrm>
              <a:prstGeom prst="rect">
                <a:avLst/>
              </a:prstGeom>
              <a:blipFill rotWithShape="1">
                <a:blip r:embed="rId1"/>
                <a:stretch>
                  <a:fillRect l="-4" t="-5" r="4" b="-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542" y="517907"/>
            <a:ext cx="6222898" cy="6263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2221" b="-854"/>
          <a:stretch>
            <a:fillRect/>
          </a:stretch>
        </p:blipFill>
        <p:spPr>
          <a:xfrm>
            <a:off x="2514600" y="1172845"/>
            <a:ext cx="7858125" cy="5600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多重背包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多重背包的最原始的状态转移方程：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min(num[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], j /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 = max(f[i-1][j-k*v[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   (1 &lt;= k &lt;= c[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是指取第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种物品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j %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, x = j /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= x*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max(f[i-1][b+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x-k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+ k*w[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(0 &lt;= k &lt;= c[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t=x-k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，代入上式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][x* 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+ b] = max(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 –t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 x*w[i]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x-c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&lt;= t &lt;= x)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可以发现，一对（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）唯一对应一个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，固定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b+t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*v[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 - t*w[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有关，而这个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是一段连续的（滑动区间为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无关，可以用单调队列来维护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6474" y="323433"/>
            <a:ext cx="6096000" cy="6353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9222" y="1173162"/>
            <a:ext cx="10166360" cy="4511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烽火传递</a:t>
            </a:r>
            <a:endParaRPr lang="en-US" altLang="zh-CN" b="1" dirty="0">
              <a:solidFill>
                <a:srgbClr val="6D7D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在某两座城市之间有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个烽火台，每个烽火台发出信号都有一定的代价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。为了使情报准确的传递，在每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个连续的烽火台中至少要有一个发出信号。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和每个烽火台发出的信号的代价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，请计算总共最少需要花费多少代价。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N,M&lt;=1,000,000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1 2 5 6 2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4811" y="5584922"/>
            <a:ext cx="6096000" cy="10029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6695" y="1274608"/>
            <a:ext cx="10248887" cy="2726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表示到以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结尾的最少花费，则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]=min{F[k]+a[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-m&lt;=k&lt;=i-1)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可以用单调队列维护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在区间长度为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的最小值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763" y="228600"/>
            <a:ext cx="6248400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9222" y="1173162"/>
            <a:ext cx="10166360" cy="44192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修剪草坪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在一年前赢得了小镇的最佳草坪比赛后，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变得很懒，再也没有修剪过草坪。现在，新一轮的最佳草坪比赛又开始了，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希望能够再次夺冠。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然而，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的草坪非常脏乱，因此，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只能够让他的奶牛来完成这项工作。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N(1 &lt;= N &lt;= 100,000)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只排成一排的奶牛，编号为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1…N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。每只奶牛的效率是不同的，奶牛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的效率为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E_i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 &lt;=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E_i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&lt;= 1,000,000,000)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。靠近的奶牛们很熟悉，因此，如果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安排超过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只连续的奶牛，那么，这些奶牛就会罢工去开派对。因此，现在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需要你的帮助，计算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可以得到的最大效率，并且该方案中没有连续的超过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只奶牛。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9222" y="1136956"/>
            <a:ext cx="10166360" cy="54041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修剪草坪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第一行：空格隔开的两个整数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K*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行有一个整数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E_i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第一行：一个值，表示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可以得到的最大的效率值。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输入解释：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只奶牛，他们的效率为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。他们希望选取效率总和最大的奶牛，但是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他不能选取超过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只连续的奶牛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12FJ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可以选择出了第三只以外的其他奶牛，总的效率为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1+2+4+5=12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6695" y="1274608"/>
            <a:ext cx="10248887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结尾且合法的最大效率值，则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]=max{F[i-1],F[k-1]+sum[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]-sum[k}(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-m&lt;=k&lt;=i-1)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可以用单调队列维护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]-sum[i]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在区间长度为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单调队列优化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-648" t="13445" r="648" b="6367"/>
          <a:stretch>
            <a:fillRect/>
          </a:stretch>
        </p:blipFill>
        <p:spPr>
          <a:xfrm>
            <a:off x="3255010" y="908050"/>
            <a:ext cx="7895590" cy="5775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3367</Words>
  <Application>WPS 演示</Application>
  <PresentationFormat>宽屏</PresentationFormat>
  <Paragraphs>231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Times New Roman</vt:lpstr>
      <vt:lpstr>Cambria Math</vt:lpstr>
      <vt:lpstr>Calibri</vt:lpstr>
      <vt:lpstr>Arial Unicode MS</vt:lpstr>
      <vt:lpstr>Euphemia</vt:lpstr>
      <vt:lpstr>Segoe Print</vt:lpstr>
      <vt:lpstr>BatangChe</vt:lpstr>
      <vt:lpstr>学术文献 16x9</vt:lpstr>
      <vt:lpstr>1_学术文献 16x9</vt:lpstr>
      <vt:lpstr>单调队列优化</vt:lpstr>
      <vt:lpstr>学习目标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单调队列优化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16</cp:revision>
  <dcterms:created xsi:type="dcterms:W3CDTF">2017-11-04T04:56:00Z</dcterms:created>
  <dcterms:modified xsi:type="dcterms:W3CDTF">2022-03-11T08:24:23Z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2052-11.1.0.11365</vt:lpwstr>
  </property>
  <property fmtid="{D5CDD505-2E9C-101B-9397-08002B2CF9AE}" pid="9" name="ICV">
    <vt:lpwstr>F9D15C7B4A8E43F08AAF9A5EEF040FA3</vt:lpwstr>
  </property>
</Properties>
</file>