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  <p:sldMasterId id="2147483661" r:id="rId2"/>
  </p:sldMasterIdLst>
  <p:notesMasterIdLst>
    <p:notesMasterId r:id="rId23"/>
  </p:notesMasterIdLst>
  <p:handoutMasterIdLst>
    <p:handoutMasterId r:id="rId24"/>
  </p:handoutMasterIdLst>
  <p:sldIdLst>
    <p:sldId id="706" r:id="rId3"/>
    <p:sldId id="612" r:id="rId4"/>
    <p:sldId id="668" r:id="rId5"/>
    <p:sldId id="710" r:id="rId6"/>
    <p:sldId id="735" r:id="rId7"/>
    <p:sldId id="736" r:id="rId8"/>
    <p:sldId id="714" r:id="rId9"/>
    <p:sldId id="737" r:id="rId10"/>
    <p:sldId id="738" r:id="rId11"/>
    <p:sldId id="740" r:id="rId12"/>
    <p:sldId id="746" r:id="rId13"/>
    <p:sldId id="739" r:id="rId14"/>
    <p:sldId id="747" r:id="rId15"/>
    <p:sldId id="743" r:id="rId16"/>
    <p:sldId id="748" r:id="rId17"/>
    <p:sldId id="744" r:id="rId18"/>
    <p:sldId id="749" r:id="rId19"/>
    <p:sldId id="745" r:id="rId20"/>
    <p:sldId id="750" r:id="rId21"/>
    <p:sldId id="707" r:id="rId22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9E9"/>
    <a:srgbClr val="FFFF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 autoAdjust="0"/>
  </p:normalViewPr>
  <p:slideViewPr>
    <p:cSldViewPr snapToGrid="0" showGuides="1">
      <p:cViewPr varScale="1">
        <p:scale>
          <a:sx n="86" d="100"/>
          <a:sy n="86" d="100"/>
        </p:scale>
        <p:origin x="562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357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91C0301E-2321-4F52-B85E-5901506D265C}" type="datetime1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2023/7/20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06834459-7356-44BF-850D-8B30C4FB3B6B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29B22C3-6CB1-491B-AD00-E0837F23A3F3}" type="datetime1">
              <a:rPr lang="zh-CN" altLang="en-US" smtClean="0"/>
              <a:t>2023/7/20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A3C37BE-C303-496D-B5CD-85F2937540FC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A3C37BE-C303-496D-B5CD-85F2937540FC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/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7392AAC-879E-4B39-8824-AF6B730A809E}" type="datetime1">
              <a:rPr lang="zh-CN" altLang="en-US" smtClean="0"/>
              <a:t>2023/7/20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  <p:pic>
        <p:nvPicPr>
          <p:cNvPr id="11" name="图 10"/>
          <p:cNvPicPr>
            <a:picLocks noChangeAspect="1"/>
          </p:cNvPicPr>
          <p:nvPr/>
        </p:nvPicPr>
        <p:blipFill rotWithShape="1">
          <a:blip/>
          <a:srcRect/>
          <a:stretch>
            <a:fillRect/>
          </a:stretch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9BA78444-6099-4C0A-A3A9-C6F3C5D7F289}" type="datetime1">
              <a:rPr lang="zh-CN" altLang="en-US" smtClean="0"/>
              <a:t>2023/7/20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包含图片的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直接连接符​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pic>
        <p:nvPicPr>
          <p:cNvPr id="10" name="图 9"/>
          <p:cNvPicPr>
            <a:picLocks noChangeAspect="1"/>
          </p:cNvPicPr>
          <p:nvPr/>
        </p:nvPicPr>
        <p:blipFill rotWithShape="1">
          <a:blip/>
          <a:srcRect/>
          <a:stretch>
            <a:fillRect/>
          </a:stretch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 rtlCol="0"/>
          <a:lstStyle>
            <a:lvl1pPr marL="0" indent="0" algn="ctr" rtl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19" name="说明文字"/>
          <p:cNvSpPr/>
          <p:nvPr/>
        </p:nvSpPr>
        <p:spPr>
          <a:xfrm>
            <a:off x="12344400" y="0"/>
            <a:ext cx="1295400" cy="6858000"/>
          </a:xfrm>
          <a:prstGeom prst="roundRect">
            <a:avLst>
              <a:gd name="adj" fmla="val 9717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rtl="0"/>
            <a:r>
              <a:rPr lang="zh-CN" altLang="en-US" sz="1200" b="1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注意：</a:t>
            </a:r>
          </a:p>
          <a:p>
            <a:pPr rtl="0"/>
            <a:r>
              <a:rPr lang="zh-CN" altLang="en-US" sz="1200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若要更改此幻灯片上的图像，请选择该图片，并将其删除。然后单击占位符中的图片图标以插入自己的图像。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组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直接连接符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​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矩形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直接连接符​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​​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l" rtl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F5F6A19-70BF-4380-9A40-68C9536408C6}" type="datetime1">
              <a:rPr lang="zh-CN" altLang="en-US" smtClean="0"/>
              <a:t>2023/7/20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  <p:pic>
        <p:nvPicPr>
          <p:cNvPr id="7" name="图 6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017EB90-196C-4C15-BD31-13E0E0436C73}" type="datetime1">
              <a:rPr lang="zh-CN" altLang="en-US" dirty="0" smtClean="0"/>
              <a:t>2023/7/20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2EC0F41-B48F-4298-A7F6-618EB9D22195}" type="datetime1">
              <a:rPr lang="zh-CN" altLang="en-US" smtClean="0"/>
              <a:t>2023/7/20</a:t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DB2D836-56E8-4B15-857C-14B1A5B3B67B}" type="datetime1">
              <a:rPr lang="zh-CN" altLang="en-US" smtClean="0"/>
              <a:t>2023/7/20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038D929F-7D8C-4CC3-8AC7-BB9B8FE2DEBF}" type="datetime1">
              <a:rPr lang="zh-CN" altLang="en-US" smtClean="0"/>
              <a:t>2023/7/20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题注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6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/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7892ACC-8BC8-4C9E-9D2B-0669DA5038B6}" type="datetime1">
              <a:rPr lang="zh-CN" altLang="en-US" smtClean="0"/>
              <a:t>2023/7/20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 rtlCol="0">
            <a:normAutofit/>
          </a:bodyPr>
          <a:lstStyle>
            <a:lvl1pPr marL="0" indent="0" algn="ctr" rtl="0"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800"/>
            </a:lvl2pPr>
            <a:lvl3pPr marL="914400" indent="0" algn="l" rtl="0">
              <a:buNone/>
              <a:defRPr sz="2400"/>
            </a:lvl3pPr>
            <a:lvl4pPr marL="1371600" indent="0" algn="l" rtl="0">
              <a:buNone/>
              <a:defRPr sz="2000"/>
            </a:lvl4pPr>
            <a:lvl5pPr marL="1828800" indent="0" algn="l" rtl="0">
              <a:buNone/>
              <a:defRPr sz="2000"/>
            </a:lvl5pPr>
            <a:lvl6pPr marL="2286000" indent="0" algn="l" rtl="0">
              <a:buNone/>
              <a:defRPr sz="2000"/>
            </a:lvl6pPr>
            <a:lvl7pPr marL="2743200" indent="0" algn="l" rtl="0">
              <a:buNone/>
              <a:defRPr sz="2000"/>
            </a:lvl7pPr>
            <a:lvl8pPr marL="3200400" indent="0" algn="l" rtl="0">
              <a:buNone/>
              <a:defRPr sz="2000"/>
            </a:lvl8pPr>
            <a:lvl9pPr marL="3657600" indent="0" algn="l" rtl="0">
              <a:buNone/>
              <a:defRPr sz="20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118C275-B304-48F5-8C4F-015CBCF4E7C1}" type="datetime1">
              <a:rPr lang="zh-CN" altLang="en-US" smtClean="0"/>
              <a:t>2023/7/20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8791AA9-DDCB-4BA8-AD1D-963A3AA00622}" type="datetime1">
              <a:rPr lang="zh-CN" altLang="en-US" smtClean="0"/>
              <a:t>2023/7/20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170426F-E661-472B-BE42-25E072CD46D9}" type="datetime1">
              <a:rPr lang="zh-CN" altLang="en-US" smtClean="0"/>
              <a:t>2023/7/20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  <p:grpSp>
        <p:nvGrpSpPr>
          <p:cNvPr id="7" name="组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直接连接符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​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/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7392AAC-879E-4B39-8824-AF6B730A809E}" type="datetime1">
              <a:rPr lang="zh-CN" altLang="en-US" smtClean="0"/>
              <a:t>2023/7/20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  <p:pic>
        <p:nvPicPr>
          <p:cNvPr id="11" name="图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9BA78444-6099-4C0A-A3A9-C6F3C5D7F289}" type="datetime1">
              <a:rPr lang="zh-CN" altLang="en-US" smtClean="0"/>
              <a:t>2023/7/20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包含图片的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直接连接符​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pic>
        <p:nvPicPr>
          <p:cNvPr id="10" name="图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 rtlCol="0"/>
          <a:lstStyle>
            <a:lvl1pPr marL="0" indent="0" algn="ctr" rtl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19" name="说明文字"/>
          <p:cNvSpPr/>
          <p:nvPr/>
        </p:nvSpPr>
        <p:spPr>
          <a:xfrm>
            <a:off x="12344400" y="0"/>
            <a:ext cx="1295400" cy="6858000"/>
          </a:xfrm>
          <a:prstGeom prst="roundRect">
            <a:avLst>
              <a:gd name="adj" fmla="val 9717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rtl="0"/>
            <a:r>
              <a:rPr lang="zh-CN" altLang="en-US" sz="1200" b="1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注意：</a:t>
            </a:r>
          </a:p>
          <a:p>
            <a:pPr rtl="0"/>
            <a:r>
              <a:rPr lang="zh-CN" altLang="en-US" sz="1200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若要更改此幻灯片上的图像，请选择该图片，并将其删除。然后单击占位符中的图片图标以插入自己的图像。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组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直接连接符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​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矩形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直接连接符​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​​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l" rtl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F5F6A19-70BF-4380-9A40-68C9536408C6}" type="datetime1">
              <a:rPr lang="zh-CN" altLang="en-US" smtClean="0"/>
              <a:t>2023/7/20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  <p:pic>
        <p:nvPicPr>
          <p:cNvPr id="7" name="图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017EB90-196C-4C15-BD31-13E0E0436C73}" type="datetime1">
              <a:rPr lang="zh-CN" altLang="en-US" dirty="0" smtClean="0"/>
              <a:t>2023/7/20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2EC0F41-B48F-4298-A7F6-618EB9D22195}" type="datetime1">
              <a:rPr lang="zh-CN" altLang="en-US" smtClean="0"/>
              <a:t>2023/7/20</a:t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DB2D836-56E8-4B15-857C-14B1A5B3B67B}" type="datetime1">
              <a:rPr lang="zh-CN" altLang="en-US" smtClean="0"/>
              <a:t>2023/7/20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038D929F-7D8C-4CC3-8AC7-BB9B8FE2DEBF}" type="datetime1">
              <a:rPr lang="zh-CN" altLang="en-US" smtClean="0"/>
              <a:t>2023/7/20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题注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6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/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7892ACC-8BC8-4C9E-9D2B-0669DA5038B6}" type="datetime1">
              <a:rPr lang="zh-CN" altLang="en-US" smtClean="0"/>
              <a:t>2023/7/20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 rtlCol="0">
            <a:normAutofit/>
          </a:bodyPr>
          <a:lstStyle>
            <a:lvl1pPr marL="0" indent="0" algn="ctr" rtl="0"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800"/>
            </a:lvl2pPr>
            <a:lvl3pPr marL="914400" indent="0" algn="l" rtl="0">
              <a:buNone/>
              <a:defRPr sz="2400"/>
            </a:lvl3pPr>
            <a:lvl4pPr marL="1371600" indent="0" algn="l" rtl="0">
              <a:buNone/>
              <a:defRPr sz="2000"/>
            </a:lvl4pPr>
            <a:lvl5pPr marL="1828800" indent="0" algn="l" rtl="0">
              <a:buNone/>
              <a:defRPr sz="2000"/>
            </a:lvl5pPr>
            <a:lvl6pPr marL="2286000" indent="0" algn="l" rtl="0">
              <a:buNone/>
              <a:defRPr sz="2000"/>
            </a:lvl6pPr>
            <a:lvl7pPr marL="2743200" indent="0" algn="l" rtl="0">
              <a:buNone/>
              <a:defRPr sz="2000"/>
            </a:lvl7pPr>
            <a:lvl8pPr marL="3200400" indent="0" algn="l" rtl="0">
              <a:buNone/>
              <a:defRPr sz="2000"/>
            </a:lvl8pPr>
            <a:lvl9pPr marL="3657600" indent="0" algn="l" rtl="0">
              <a:buNone/>
              <a:defRPr sz="20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118C275-B304-48F5-8C4F-015CBCF4E7C1}" type="datetime1">
              <a:rPr lang="zh-CN" altLang="en-US" smtClean="0"/>
              <a:t>2023/7/20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8791AA9-DDCB-4BA8-AD1D-963A3AA00622}" type="datetime1">
              <a:rPr lang="zh-CN" altLang="en-US" smtClean="0"/>
              <a:t>2023/7/20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170426F-E661-472B-BE42-25E072CD46D9}" type="datetime1">
              <a:rPr lang="zh-CN" altLang="en-US" smtClean="0"/>
              <a:t>2023/7/20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  <p:grpSp>
        <p:nvGrpSpPr>
          <p:cNvPr id="7" name="组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直接连接符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​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  <a:p>
            <a:pPr lvl="5" rtl="0"/>
            <a:r>
              <a:rPr lang="zh-CN" altLang="en-US" noProof="0" dirty="0"/>
              <a:t>第六级</a:t>
            </a:r>
          </a:p>
          <a:p>
            <a:pPr lvl="6" rtl="0"/>
            <a:r>
              <a:rPr lang="zh-CN" altLang="en-US" noProof="0" dirty="0"/>
              <a:t>第七级</a:t>
            </a:r>
          </a:p>
          <a:p>
            <a:pPr lvl="7" rtl="0"/>
            <a:r>
              <a:rPr lang="zh-CN" altLang="en-US" noProof="0" dirty="0"/>
              <a:t>第八级</a:t>
            </a:r>
          </a:p>
          <a:p>
            <a:pPr lvl="8" rtl="0"/>
            <a:r>
              <a:rPr lang="zh-CN" altLang="en-US" noProof="0" dirty="0"/>
              <a:t>第九级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60B6A15-7713-4A08-BBFD-F297CCC2B976}" type="datetime1">
              <a:rPr lang="zh-CN" altLang="en-US" dirty="0" smtClean="0"/>
              <a:t>2023/7/20</a:t>
            </a:fld>
            <a:r>
              <a:rPr lang="zh-CN" altLang="en-US" dirty="0"/>
              <a:t>​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/>
            <a:fld id="{0FF54DE5-C571-48E8-A5BC-B369434E2F44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  <p:grpSp>
        <p:nvGrpSpPr>
          <p:cNvPr id="15" name="组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直接连接符​​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  <a:p>
            <a:pPr lvl="5" rtl="0"/>
            <a:r>
              <a:rPr lang="zh-CN" altLang="en-US" noProof="0" dirty="0"/>
              <a:t>第六级</a:t>
            </a:r>
          </a:p>
          <a:p>
            <a:pPr lvl="6" rtl="0"/>
            <a:r>
              <a:rPr lang="zh-CN" altLang="en-US" noProof="0" dirty="0"/>
              <a:t>第七级</a:t>
            </a:r>
          </a:p>
          <a:p>
            <a:pPr lvl="7" rtl="0"/>
            <a:r>
              <a:rPr lang="zh-CN" altLang="en-US" noProof="0" dirty="0"/>
              <a:t>第八级</a:t>
            </a:r>
          </a:p>
          <a:p>
            <a:pPr lvl="8" rtl="0"/>
            <a:r>
              <a:rPr lang="zh-CN" altLang="en-US" noProof="0" dirty="0"/>
              <a:t>第九级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60B6A15-7713-4A08-BBFD-F297CCC2B976}" type="datetime1">
              <a:rPr lang="zh-CN" altLang="en-US" dirty="0" smtClean="0"/>
              <a:t>2023/7/20</a:t>
            </a:fld>
            <a:r>
              <a:rPr lang="zh-CN" altLang="en-US" dirty="0"/>
              <a:t>​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/>
            <a:fld id="{0FF54DE5-C571-48E8-A5BC-B369434E2F44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  <p:grpSp>
        <p:nvGrpSpPr>
          <p:cNvPr id="15" name="组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直接连接符​​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</p:nvPr>
        </p:nvSpPr>
        <p:spPr>
          <a:xfrm>
            <a:off x="1535837" y="2147652"/>
            <a:ext cx="4776186" cy="1954514"/>
          </a:xfrm>
        </p:spPr>
        <p:txBody>
          <a:bodyPr rtlCol="0" anchor="ctr"/>
          <a:lstStyle/>
          <a:p>
            <a:pPr rtl="0"/>
            <a:r>
              <a:rPr lang="zh-CN" altLang="en-US" dirty="0"/>
              <a:t>倍增优化</a:t>
            </a:r>
            <a:r>
              <a:rPr lang="en-US" altLang="zh-CN" dirty="0" err="1"/>
              <a:t>Dp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>
          <a:xfrm>
            <a:off x="361950" y="3791448"/>
            <a:ext cx="5734050" cy="955565"/>
          </a:xfrm>
        </p:spPr>
        <p:txBody>
          <a:bodyPr rtlCol="0">
            <a:normAutofit/>
          </a:bodyPr>
          <a:lstStyle/>
          <a:p>
            <a:pPr algn="ctr" rtl="0">
              <a:lnSpc>
                <a:spcPct val="150000"/>
              </a:lnSpc>
            </a:pPr>
            <a:r>
              <a:rPr lang="zh-CN" altLang="en-US" sz="2400" dirty="0"/>
              <a:t>代伟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占位符 3" descr="桌上一本打开的书，书架在背景中模糊显示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0" r="8890"/>
          <a:stretch>
            <a:fillRect/>
          </a:stretch>
        </p:blipFill>
        <p:spPr/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学习目标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23124" y="1582702"/>
            <a:ext cx="9999260" cy="10236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74675">
              <a:lnSpc>
                <a:spcPts val="3200"/>
              </a:lnSpc>
              <a:spcAft>
                <a:spcPts val="1200"/>
              </a:spcAft>
              <a:buClr>
                <a:schemeClr val="accent2"/>
              </a:buClr>
              <a:buSzPct val="80000"/>
            </a:pPr>
            <a:r>
              <a:rPr lang="en-US" altLang="zh-CN" sz="2000" dirty="0"/>
              <a:t>1. </a:t>
            </a:r>
            <a:r>
              <a:rPr lang="zh-CN" altLang="en-US" sz="2000" dirty="0"/>
              <a:t>理解倍增的思想。</a:t>
            </a:r>
          </a:p>
          <a:p>
            <a:pPr indent="574675">
              <a:lnSpc>
                <a:spcPts val="3200"/>
              </a:lnSpc>
              <a:spcAft>
                <a:spcPts val="1200"/>
              </a:spcAft>
              <a:buClr>
                <a:schemeClr val="accent2"/>
              </a:buClr>
              <a:buSzPct val="80000"/>
            </a:pPr>
            <a:r>
              <a:rPr lang="en-US" altLang="zh-CN" sz="2000" dirty="0"/>
              <a:t>2. </a:t>
            </a:r>
            <a:r>
              <a:rPr lang="zh-CN" altLang="en-US" sz="2000" dirty="0"/>
              <a:t>掌握倍增优化</a:t>
            </a:r>
            <a:r>
              <a:rPr lang="en-US" altLang="zh-CN" sz="2000" dirty="0" err="1"/>
              <a:t>dp</a:t>
            </a:r>
            <a:r>
              <a:rPr lang="zh-CN" altLang="en-US" sz="2000" dirty="0"/>
              <a:t>的基本实现方式。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倍增优化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1025000" y="1344042"/>
                <a:ext cx="10060582" cy="403245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n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动态规划经常采用按阶段的递推形式实现，可以按照类似的方法，使用倍增把阶段的线性增长优化为成倍增长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n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ST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算法中，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F[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i,j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]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表示数列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在子区间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[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i,i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+</a:t>
                </a:r>
                <a:r>
                  <a:rPr lang="en-US" altLang="zh-CN" dirty="0">
                    <a:solidFill>
                      <a:srgbClr val="514843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solidFill>
                              <a:srgbClr val="514843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514843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rgbClr val="514843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𝑗</m:t>
                        </m:r>
                      </m:sup>
                    </m:sSup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-1]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里的最大值，即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PrePr>
                      <m:sub>
                        <m:r>
                          <m:rPr>
                            <m:sty m:val="p"/>
                          </m:r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i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≤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+2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max</m:t>
                        </m:r>
                      </m:sup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sPre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。这个动态规划的“阶段”就是</a:t>
                </a:r>
                <a:r>
                  <a:rPr lang="zh-CN" altLang="en-US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区间的长度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（成倍增长），区间的左端点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是一个附加维度。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>
                  <a:lnSpc>
                    <a:spcPct val="200000"/>
                  </a:lnSpc>
                  <a:buFont typeface="Wingdings" panose="05000000000000000000" pitchFamily="2" charset="2"/>
                  <a:buChar char="n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因此，对于一般的倍增优化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dp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算法实现：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1.</a:t>
                </a:r>
                <a:r>
                  <a:rPr lang="zh-CN" altLang="en-US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外层循环为区间长度以</a:t>
                </a:r>
                <a:r>
                  <a:rPr lang="en-US" altLang="zh-CN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zh-CN" altLang="en-US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为底的对数，内层循环为左端点 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2.</a:t>
                </a:r>
                <a:r>
                  <a:rPr lang="zh-CN" altLang="en-US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状态转移时，从长度为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i</m:t>
                        </m:r>
                        <m:r>
                          <a:rPr lang="en-US" altLang="zh-CN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p>
                    </m:sSup>
                    <m:r>
                      <a:rPr lang="zh-CN" altLang="en-US" b="1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的</m:t>
                    </m:r>
                  </m:oMath>
                </a14:m>
                <a:r>
                  <a:rPr lang="zh-CN" altLang="en-US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阶段转移到长度为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i</m:t>
                        </m:r>
                      </m:sup>
                    </m:sSup>
                  </m:oMath>
                </a14:m>
                <a:r>
                  <a:rPr lang="zh-CN" altLang="en-US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的阶段</a:t>
                </a: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000" y="1344042"/>
                <a:ext cx="10060582" cy="4032451"/>
              </a:xfrm>
              <a:prstGeom prst="rect">
                <a:avLst/>
              </a:prstGeom>
              <a:blipFill rotWithShape="1">
                <a:blip r:embed="rId2"/>
                <a:stretch>
                  <a:fillRect l="-1" t="-9" r="4" b="-7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倍增优化</a:t>
            </a:r>
          </a:p>
        </p:txBody>
      </p:sp>
      <p:sp>
        <p:nvSpPr>
          <p:cNvPr id="5" name="矩形 4"/>
          <p:cNvSpPr/>
          <p:nvPr/>
        </p:nvSpPr>
        <p:spPr>
          <a:xfrm>
            <a:off x="1034649" y="1173162"/>
            <a:ext cx="10050933" cy="55487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1】262144 P</a:t>
            </a:r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游戏一开始有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个正整数，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(2&lt;=n&lt;=262144)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，范围在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1-40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。在一步中，贝西可以选相邻的两个相同的数，然后合并成一个比原来的大一的数（例如两个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合并成一个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8)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，目标是使得最大的数最大，请帮助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Bessie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来求最大值。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 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931851" y="3389152"/>
            <a:ext cx="6094520" cy="1116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倍增优化</a:t>
            </a:r>
            <a:endParaRPr lang="zh-CN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970797" y="1173162"/>
                <a:ext cx="10248887" cy="554876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6D7D66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【</a:t>
                </a:r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6D7D66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问题分析</a:t>
                </a:r>
                <a:r>
                  <a:rPr kumimoji="0" lang="en-US" altLang="zh-CN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6D7D66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1】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本道题与石子合并问题类似，可用区间动态规划解决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状态设计：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dp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[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][j]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表示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i~j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区间可以合并的最大值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状态转移方程：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dp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[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][j]=max{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dp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[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][k]+1}(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i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𝑘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限制条件：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dp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[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][k]==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dp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[k+1][j]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初始化：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dp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[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][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]=a[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]</a:t>
                </a:r>
              </a:p>
              <a:p>
                <a:pPr lvl="0">
                  <a:lnSpc>
                    <a:spcPct val="200000"/>
                  </a:lnSpc>
                  <a:defRPr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答案：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max(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dp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[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][j])(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𝑖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𝑗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时间复杂度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:O(N^3),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可优化到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O(N^2)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空间复杂度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:O(N^2)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然而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n&lt;=262144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，显然该解法时间超时，空间也会超内存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797" y="1173162"/>
                <a:ext cx="10248887" cy="5548763"/>
              </a:xfrm>
              <a:prstGeom prst="rect">
                <a:avLst/>
              </a:prstGeom>
              <a:blipFill rotWithShape="1">
                <a:blip r:embed="rId2"/>
                <a:stretch>
                  <a:fillRect l="-5" t="-6" r="5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倍增优化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836695" y="1173162"/>
            <a:ext cx="10248887" cy="4994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问题分析</a:t>
            </a:r>
            <a:r>
              <a:rPr lang="en-US" altLang="zh-CN" b="1" dirty="0">
                <a:solidFill>
                  <a:srgbClr val="6D7D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结合倍增思想，重新设计动态规划转移方程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状态设计：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][j]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表示值为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，左端点为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的右端点位置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状态转移方程：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][j]=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[i-1][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[i-1][j]+1]</a:t>
            </a:r>
          </a:p>
          <a:p>
            <a:pPr>
              <a:lnSpc>
                <a:spcPct val="200000"/>
              </a:lnSpc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初始化：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[a[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]][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]=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>
              <a:lnSpc>
                <a:spcPct val="200000"/>
              </a:lnSpc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限制条件：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nn-NO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nn-NO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i-1][j]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&gt;0</a:t>
            </a:r>
          </a:p>
          <a:p>
            <a:pPr>
              <a:lnSpc>
                <a:spcPct val="200000"/>
              </a:lnSpc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答案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][j]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值域不为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的最大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时间复杂度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:O(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NlogN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空间复杂度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:O(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NlogN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倍增优化</a:t>
            </a:r>
          </a:p>
        </p:txBody>
      </p:sp>
      <p:sp>
        <p:nvSpPr>
          <p:cNvPr id="5" name="矩形 4"/>
          <p:cNvSpPr/>
          <p:nvPr/>
        </p:nvSpPr>
        <p:spPr>
          <a:xfrm>
            <a:off x="899604" y="1352496"/>
            <a:ext cx="100528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lang="zh-CN" altLang="en-US" b="1" dirty="0">
                <a:solidFill>
                  <a:srgbClr val="6D7D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</p:txBody>
      </p:sp>
      <p:sp>
        <p:nvSpPr>
          <p:cNvPr id="4" name="矩形 3"/>
          <p:cNvSpPr/>
          <p:nvPr/>
        </p:nvSpPr>
        <p:spPr>
          <a:xfrm>
            <a:off x="-636233" y="1549251"/>
            <a:ext cx="9980682" cy="561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6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1721828"/>
            <a:ext cx="7606561" cy="49414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倍增优化</a:t>
            </a:r>
          </a:p>
        </p:txBody>
      </p:sp>
      <p:sp>
        <p:nvSpPr>
          <p:cNvPr id="5" name="矩形 4"/>
          <p:cNvSpPr/>
          <p:nvPr/>
        </p:nvSpPr>
        <p:spPr>
          <a:xfrm>
            <a:off x="934166" y="1253549"/>
            <a:ext cx="10721922" cy="5015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2】P1081 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开车旅行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和小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决定利用假期外出旅行，他们将想去的城市从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编号，且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编号较小的城市在编号较大的城市的西边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，已知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各个城市的海拔高度互不相同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，记城市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的海拔高度为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，城市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和城市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之间的距离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i,j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恰好是这两个城市海拔高度之差的绝对值，即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d[</a:t>
            </a:r>
            <a:r>
              <a:rPr lang="en-US" altLang="zh-CN" sz="1600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i,j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]=|Hi - </a:t>
            </a:r>
            <a:r>
              <a:rPr lang="en-US" altLang="zh-CN" sz="1600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Hj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旅行过程中，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 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和小 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轮流开车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，第一天小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开车，之后每天轮换一次。他们计划选择一个城市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作为起点，一直向东行驶，并且最多行驶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公里就结束旅行。小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和小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的驾驶风格不同，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 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总是沿着前进方向选择一个最近的城市作为目的地，而小 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总是沿着前进方向选择第二近的城市作为目的地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（注意：本题中如果当前城市到两个城市的距离相同，则认为离海拔低的那个城市更近）。如果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其中任何一人无法按照自己的原则选择目的城市，或者到达目的地会使行驶的总距离超出 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公里，他们就会结束旅行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在启程之前，小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想知道两个问题：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对于一个给定的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X=X0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，从哪一个城市出发，小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开车行驶的路程总数与小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行驶的路程总数的比值最小（如果小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的行驶路程为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，此时的比值可视为无穷大，且两个无穷大视为相等）。如果从多个城市出发，小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开车行驶的路程总数与小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行驶的路程总数的比值都最小，则输出海拔最高的那个城市。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对任意给定的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X=Xi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和出发城市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，小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开车行驶的路程总数以及小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行驶的路程总数。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倍增优化</a:t>
            </a:r>
          </a:p>
        </p:txBody>
      </p:sp>
      <p:sp>
        <p:nvSpPr>
          <p:cNvPr id="5" name="矩形 4"/>
          <p:cNvSpPr/>
          <p:nvPr/>
        </p:nvSpPr>
        <p:spPr>
          <a:xfrm>
            <a:off x="934166" y="1104319"/>
            <a:ext cx="10721922" cy="62043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2】P1081 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开车旅行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输入格式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第一行包含一个整数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，表示城市的数目。第二行有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个整数，每两个整数之间用一个空格隔开，依次表示城市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到城市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的海拔高度，即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H1,H2,…,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，且每个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都是不同的。第三行包含一个整数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。第四行为一个整数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，表示给定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。接下来的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行，每行包含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个整数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，表示从城市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出发，最多行驶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Xi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公里。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输出格式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输出共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M+1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行。第一行包含一个整数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S0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，表示对于给定的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，从编号为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的城市出发，小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开车行驶的路程总数与小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行驶的路程总数的比值最小。接下来的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行，每行包含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个整数，之间用一个空格隔开，依次表示在给定的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Xi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下小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行驶的里程总数和小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行驶的里程总数。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 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2 3 1 4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1 3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2 3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3 3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4 3</a:t>
            </a:r>
          </a:p>
          <a:p>
            <a:pPr>
              <a:lnSpc>
                <a:spcPct val="150000"/>
              </a:lnSpc>
            </a:pP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110981" y="4516949"/>
            <a:ext cx="6094324" cy="2264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1 1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2 0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0 0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0 0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倍增优化</a:t>
            </a:r>
          </a:p>
        </p:txBody>
      </p:sp>
      <p:sp>
        <p:nvSpPr>
          <p:cNvPr id="5" name="矩形 4"/>
          <p:cNvSpPr/>
          <p:nvPr/>
        </p:nvSpPr>
        <p:spPr>
          <a:xfrm>
            <a:off x="973830" y="1299628"/>
            <a:ext cx="10242821" cy="39576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2】P1081 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开车旅行</a:t>
            </a:r>
            <a:endParaRPr lang="en-US" altLang="zh-CN" sz="16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数据范围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30%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的数据，有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1≤N≤20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1≤M≤20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40%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的数据，有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1≤N≤100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1≤M≤100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50%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的数据，有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1≤N≤100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1≤M≤1,000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70%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的数据，有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1≤N≤1,000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1≤M≤10,000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100%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的数据，有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1≤N≤100,000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1≤M≤100,000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-1,000,000,000≤Hi≤1,000,000,000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0≤X0≤1,000,000,000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1≤Si≤N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0≤Xi≤1,000,000,000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，数据保证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Hi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互不相同。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倍增优化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970797" y="1173162"/>
            <a:ext cx="10248887" cy="333277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问题分析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1】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暴力做法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首先暴力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预处理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每个人从一个城市出发的目标是哪个城市， </a:t>
            </a:r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对于每一个点统计当前点右边点的高度，然后计算出A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分别</a:t>
            </a:r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会到达的点</a:t>
            </a: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0" marR="0" lvl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然后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S0 城市出发，总路程为 X0时走的过程，得到结果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marR="0" lvl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时间复杂度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O(N^2)</a:t>
            </a:r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倍增优化</a:t>
            </a:r>
            <a:endParaRPr lang="zh-CN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970797" y="1173162"/>
                <a:ext cx="10248887" cy="567753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6D7D66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【</a:t>
                </a:r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6D7D66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问题分析</a:t>
                </a:r>
                <a:r>
                  <a:rPr kumimoji="0" lang="en-US" altLang="zh-CN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6D7D66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2】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ga(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 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gb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记为小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和小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从城市 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出发按前进方向行驶到的下一个城市。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首先</a:t>
                </a:r>
                <a:r>
                  <a:rPr lang="zh-CN" altLang="en-US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预处理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出 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 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每个人从一个城市出发的目标是哪个城市， 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ga(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就等于 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i+1 ~ N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 使 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dist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i,j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取到最小值的城市 。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gb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就是取到次最小值的城市 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j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。可以利用平衡树（</a:t>
                </a:r>
                <a:r>
                  <a:rPr lang="en-US" altLang="zh-CN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set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）逆序枚举得到。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本题有三个关键条件：所在城市、已行驶的天数、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各行驶的路径长度。若已知出发城市和天数，就能计算出到达城市和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行驶的路程长度，并且天数还能反映到谁开车。因此我们在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DP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中把天数作为阶段，所在城市作为另一维状态，并使用倍增对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DP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进行优化。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所以设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f[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i,j,k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(0/1)]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表示从城市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j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出发，两人共行驶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i</m:t>
                        </m:r>
                      </m:sup>
                    </m:sSup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天，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先开车，最终会到达的城市。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 = 0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代表小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先开车，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 = 1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代表小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先开车。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初值 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f[0,j,0]=ga(j)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f[0,j,1]=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gb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(j)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797" y="1173162"/>
                <a:ext cx="10248887" cy="5677535"/>
              </a:xfrm>
              <a:prstGeom prst="rect">
                <a:avLst/>
              </a:prstGeom>
              <a:blipFill rotWithShape="1">
                <a:blip r:embed="rId2"/>
                <a:stretch>
                  <a:fillRect l="-5" t="-6" r="5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倍增优化</a:t>
            </a:r>
          </a:p>
        </p:txBody>
      </p:sp>
      <p:sp>
        <p:nvSpPr>
          <p:cNvPr id="5" name="矩形 4"/>
          <p:cNvSpPr/>
          <p:nvPr/>
        </p:nvSpPr>
        <p:spPr>
          <a:xfrm>
            <a:off x="899604" y="1352496"/>
            <a:ext cx="100528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lang="zh-CN" altLang="en-US" b="1" dirty="0">
                <a:solidFill>
                  <a:srgbClr val="6D7D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</p:txBody>
      </p:sp>
      <p:sp>
        <p:nvSpPr>
          <p:cNvPr id="4" name="矩形 3"/>
          <p:cNvSpPr/>
          <p:nvPr/>
        </p:nvSpPr>
        <p:spPr>
          <a:xfrm>
            <a:off x="-636233" y="1549251"/>
            <a:ext cx="9980682" cy="561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6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6DEB30D-85F4-4853-B456-A887E19C1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1507" y="1352495"/>
            <a:ext cx="6330462" cy="5498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778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倍增优化</a:t>
            </a:r>
            <a:endParaRPr lang="zh-CN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970915" y="1172845"/>
                <a:ext cx="10455910" cy="519366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6D7D66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【</a:t>
                </a:r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6D7D66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问题分析</a:t>
                </a:r>
                <a:r>
                  <a:rPr kumimoji="0" lang="en-US" altLang="zh-CN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6D7D66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2】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f[i][j][k]：从城市 j 出发，k 先走，走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i</m:t>
                        </m:r>
                      </m:sup>
                    </m:sSup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天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后到达的城市编号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。其中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k=0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或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1,0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代表轮到小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先开车，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代表轮到小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先开车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 = 0：f[0][j][0] = ga[j], f[0][j][1] = gb[j];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 = 1：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p>
                    </m:sSup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是奇数，所以两人从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j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出发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p>
                    </m:sSup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天到达的城市，等于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先开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p>
                    </m:sSup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天，另一人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1-k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再开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p>
                    </m:sSup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天到达的城市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f[1][j][k] = f[0, f[0][j][k], 1 - k];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 &gt; 1：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是偶数，前后两半路程都轮到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先开车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f[i][j][k] = f[i - 1][f[i - 1][j][k]][k];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915" y="1172845"/>
                <a:ext cx="10455910" cy="5193665"/>
              </a:xfrm>
              <a:prstGeom prst="rect">
                <a:avLst/>
              </a:prstGeom>
              <a:blipFill>
                <a:blip r:embed="rId2"/>
                <a:stretch>
                  <a:fillRect l="-4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倍增优化</a:t>
            </a:r>
          </a:p>
        </p:txBody>
      </p:sp>
      <p:sp>
        <p:nvSpPr>
          <p:cNvPr id="5" name="矩形 4"/>
          <p:cNvSpPr/>
          <p:nvPr/>
        </p:nvSpPr>
        <p:spPr>
          <a:xfrm>
            <a:off x="899604" y="1352496"/>
            <a:ext cx="100528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lang="zh-CN" altLang="en-US" b="1" dirty="0">
                <a:solidFill>
                  <a:srgbClr val="6D7D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</p:txBody>
      </p:sp>
      <p:sp>
        <p:nvSpPr>
          <p:cNvPr id="4" name="矩形 3"/>
          <p:cNvSpPr/>
          <p:nvPr/>
        </p:nvSpPr>
        <p:spPr>
          <a:xfrm>
            <a:off x="-636233" y="1549251"/>
            <a:ext cx="9980682" cy="561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6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940F275-EF61-4BF2-AA17-537C34528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770" y="1851174"/>
            <a:ext cx="6513365" cy="3654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700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倍增优化</a:t>
            </a:r>
            <a:endParaRPr lang="zh-CN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970797" y="1173162"/>
                <a:ext cx="10248887" cy="627761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6D7D66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【</a:t>
                </a:r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6D7D66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问题分析</a:t>
                </a:r>
                <a:r>
                  <a:rPr kumimoji="0" lang="en-US" altLang="zh-CN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6D7D66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】</a:t>
                </a:r>
              </a:p>
              <a:p>
                <a:pPr marL="0" marR="0" lvl="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da[i][j][k]：从城市 j 出发，k 先走，走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i</m:t>
                        </m:r>
                      </m:sup>
                    </m:sSup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步后，小 A 走过的距离.</a:t>
                </a:r>
              </a:p>
              <a:p>
                <a:pPr marL="0" marR="0" lvl="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db[i][j][k]：从城市 j 出发，k 先走，走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i</m:t>
                        </m:r>
                      </m:sup>
                    </m:sSup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步后，小 B 走过的距离. </a:t>
                </a:r>
              </a:p>
              <a:p>
                <a:pPr marL="0" marR="0" lvl="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定义函数 dist(i, j) = abs(h[i] - h[j]);</a:t>
                </a:r>
              </a:p>
              <a:p>
                <a:pPr marL="0" marR="0" lvl="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 = 0：da[0][j][0] = dist(j, ga[j]), da[0][j][1] = 0;</a:t>
                </a:r>
              </a:p>
              <a:p>
                <a:pPr marL="0" marR="0" lvl="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    db[0][j][0] = 0, db[0][j][1] = dist(j, gb[j]);</a:t>
                </a:r>
              </a:p>
              <a:p>
                <a:pPr marL="0" marR="0" lvl="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 = 1：da[1][j][k] = da[0][j][k] + da[0][f[0][j][k]][1 - k];</a:t>
                </a:r>
              </a:p>
              <a:p>
                <a:pPr marL="0" marR="0" lvl="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   db[1][j][k] = db[0][j][k] + db[0][f[0][j][k]][1 - k];</a:t>
                </a:r>
              </a:p>
              <a:p>
                <a:pPr marL="0" marR="0" lvl="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 &gt; 1：da[i][j][k] = da[i - 1][j][k] + da[i - 1][f[i - 1][j][k]][k];</a:t>
                </a:r>
              </a:p>
              <a:p>
                <a:pPr marL="0" marR="0" lvl="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   db[i][j][k] = db[i - 1][j][k] + db[i - 1][f[i - 1][j][k]][k];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altLang="zh-CN" dirty="0"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797" y="1173162"/>
                <a:ext cx="10248887" cy="6277610"/>
              </a:xfrm>
              <a:prstGeom prst="rect">
                <a:avLst/>
              </a:prstGeom>
              <a:blipFill>
                <a:blip r:embed="rId2"/>
                <a:stretch>
                  <a:fillRect l="-4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倍增优化</a:t>
            </a:r>
          </a:p>
        </p:txBody>
      </p:sp>
      <p:sp>
        <p:nvSpPr>
          <p:cNvPr id="5" name="矩形 4"/>
          <p:cNvSpPr/>
          <p:nvPr/>
        </p:nvSpPr>
        <p:spPr>
          <a:xfrm>
            <a:off x="899604" y="1352496"/>
            <a:ext cx="100528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lang="zh-CN" altLang="en-US" b="1" dirty="0">
                <a:solidFill>
                  <a:srgbClr val="6D7D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</p:txBody>
      </p:sp>
      <p:sp>
        <p:nvSpPr>
          <p:cNvPr id="4" name="矩形 3"/>
          <p:cNvSpPr/>
          <p:nvPr/>
        </p:nvSpPr>
        <p:spPr>
          <a:xfrm>
            <a:off x="-636233" y="1549251"/>
            <a:ext cx="9980682" cy="561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6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A2FB5E9-6BB9-4662-91BB-D43DC1038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1721828"/>
            <a:ext cx="8562975" cy="475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59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倍增优化</a:t>
            </a:r>
            <a:endParaRPr lang="zh-CN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970797" y="1082992"/>
                <a:ext cx="10248887" cy="567753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6D7D66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【</a:t>
                </a:r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6D7D66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问题分析</a:t>
                </a:r>
                <a:r>
                  <a:rPr kumimoji="0" lang="en-US" altLang="zh-CN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6D7D66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】</a:t>
                </a:r>
              </a:p>
              <a:p>
                <a:pPr marL="0" marR="0" lvl="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上述算法在O(NlogN)的时间内计算出了所有“行驶天数为2的整数次幂”的状态。接下来考虑calc(S,X),从城市S出发最多行驶X公里时，A和B分别行驶了多长的路程。</a:t>
                </a:r>
              </a:p>
              <a:p>
                <a:pPr marL="0" marR="0" lvl="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按递减顺序枚举所有2的整数次幂，作为行驶天数，并用动态规划中得到的状态，基于二进制划分思想拼成X。</a:t>
                </a:r>
              </a:p>
              <a:p>
                <a:pPr marL="0" marR="0" lvl="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1.初始化当前城市p=S，小A和小B累计行驶路程la=0,lb=0；</a:t>
                </a:r>
              </a:p>
              <a:p>
                <a:pPr marL="0" marR="0" lvl="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2.倒序循环i=logN~0；</a:t>
                </a:r>
              </a:p>
              <a:p>
                <a:pPr marL="0" marR="0" lvl="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3.对于每个i,若两人从p出发行驶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i</m:t>
                        </m:r>
                      </m:sup>
                    </m:sSup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天，累计路程仍未超过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X,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即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la+lb+da[i,p,0]+db[i,p,0]&lt;=X,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则令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la=la+da[i,p,0],lb=lb+db[i,p,0],p=f[i,p,0];</a:t>
                </a:r>
              </a:p>
              <a:p>
                <a:pPr marL="0" marR="0" lvl="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4.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循环结束后，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la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和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lb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即为所求</a:t>
                </a: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797" y="1082992"/>
                <a:ext cx="10248887" cy="5677535"/>
              </a:xfrm>
              <a:prstGeom prst="rect">
                <a:avLst/>
              </a:prstGeom>
              <a:blipFill rotWithShape="1">
                <a:blip r:embed="rId2"/>
                <a:stretch>
                  <a:fillRect l="-5" t="-6" r="5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倍增优化</a:t>
            </a:r>
          </a:p>
        </p:txBody>
      </p:sp>
      <p:sp>
        <p:nvSpPr>
          <p:cNvPr id="5" name="矩形 4"/>
          <p:cNvSpPr/>
          <p:nvPr/>
        </p:nvSpPr>
        <p:spPr>
          <a:xfrm>
            <a:off x="899604" y="1352496"/>
            <a:ext cx="100528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lang="zh-CN" altLang="en-US" b="1" dirty="0">
                <a:solidFill>
                  <a:srgbClr val="6D7D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</p:txBody>
      </p:sp>
      <p:sp>
        <p:nvSpPr>
          <p:cNvPr id="4" name="矩形 3"/>
          <p:cNvSpPr/>
          <p:nvPr/>
        </p:nvSpPr>
        <p:spPr>
          <a:xfrm>
            <a:off x="-636233" y="1549251"/>
            <a:ext cx="9980682" cy="561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6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FF24605-0A35-4865-9EED-5EFF35461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1901162"/>
            <a:ext cx="8467725" cy="278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705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zh-CN" altLang="en-US" dirty="0"/>
              <a:t>谢谢！</a:t>
            </a:r>
          </a:p>
        </p:txBody>
      </p:sp>
      <p:pic>
        <p:nvPicPr>
          <p:cNvPr id="5" name="图片占位符 4"/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09" r="13409"/>
          <a:stretch>
            <a:fillRect/>
          </a:stretch>
        </p:blipFill>
        <p:spPr/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学术文献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学术文献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2249</Words>
  <Application>Microsoft Office PowerPoint</Application>
  <PresentationFormat>宽屏</PresentationFormat>
  <Paragraphs>135</Paragraphs>
  <Slides>20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26" baseType="lpstr">
      <vt:lpstr>微软雅黑</vt:lpstr>
      <vt:lpstr>Cambria Math</vt:lpstr>
      <vt:lpstr>Euphemia</vt:lpstr>
      <vt:lpstr>Wingdings</vt:lpstr>
      <vt:lpstr>学术文献 16x9</vt:lpstr>
      <vt:lpstr>1_学术文献 16x9</vt:lpstr>
      <vt:lpstr>倍增优化Dp</vt:lpstr>
      <vt:lpstr>学习目标</vt:lpstr>
      <vt:lpstr>倍增优化</vt:lpstr>
      <vt:lpstr>倍增优化</vt:lpstr>
      <vt:lpstr>倍增优化</vt:lpstr>
      <vt:lpstr>倍增优化</vt:lpstr>
      <vt:lpstr>倍增优化</vt:lpstr>
      <vt:lpstr>倍增优化</vt:lpstr>
      <vt:lpstr>倍增优化</vt:lpstr>
      <vt:lpstr>倍增优化</vt:lpstr>
      <vt:lpstr>倍增优化</vt:lpstr>
      <vt:lpstr>倍增优化</vt:lpstr>
      <vt:lpstr>倍增优化</vt:lpstr>
      <vt:lpstr>倍增优化</vt:lpstr>
      <vt:lpstr>倍增优化</vt:lpstr>
      <vt:lpstr>倍增优化</vt:lpstr>
      <vt:lpstr>倍增优化</vt:lpstr>
      <vt:lpstr>倍增优化</vt:lpstr>
      <vt:lpstr>倍增优化</vt:lpstr>
      <vt:lpstr>谢谢！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18</cp:revision>
  <dcterms:created xsi:type="dcterms:W3CDTF">2017-11-04T04:56:00Z</dcterms:created>
  <dcterms:modified xsi:type="dcterms:W3CDTF">2023-07-20T08:35:26Z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  <property fmtid="{D5CDD505-2E9C-101B-9397-08002B2CF9AE}" pid="8" name="KSOProductBuildVer">
    <vt:lpwstr>2052-11.1.0.11365</vt:lpwstr>
  </property>
  <property fmtid="{D5CDD505-2E9C-101B-9397-08002B2CF9AE}" pid="9" name="ICV">
    <vt:lpwstr>7F680DC5225F47E9922AC7827962AE51</vt:lpwstr>
  </property>
</Properties>
</file>