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61" r:id="rId2"/>
  </p:sldMasterIdLst>
  <p:notesMasterIdLst>
    <p:notesMasterId r:id="rId22"/>
  </p:notesMasterIdLst>
  <p:handoutMasterIdLst>
    <p:handoutMasterId r:id="rId23"/>
  </p:handoutMasterIdLst>
  <p:sldIdLst>
    <p:sldId id="693" r:id="rId3"/>
    <p:sldId id="612" r:id="rId4"/>
    <p:sldId id="668" r:id="rId5"/>
    <p:sldId id="669" r:id="rId6"/>
    <p:sldId id="613" r:id="rId7"/>
    <p:sldId id="672" r:id="rId8"/>
    <p:sldId id="642" r:id="rId9"/>
    <p:sldId id="678" r:id="rId10"/>
    <p:sldId id="680" r:id="rId11"/>
    <p:sldId id="679" r:id="rId12"/>
    <p:sldId id="681" r:id="rId13"/>
    <p:sldId id="682" r:id="rId14"/>
    <p:sldId id="683" r:id="rId15"/>
    <p:sldId id="688" r:id="rId16"/>
    <p:sldId id="694" r:id="rId17"/>
    <p:sldId id="689" r:id="rId18"/>
    <p:sldId id="690" r:id="rId19"/>
    <p:sldId id="686" r:id="rId20"/>
    <p:sldId id="502" r:id="rId21"/>
  </p:sldIdLst>
  <p:sldSz cx="12192000" cy="6858000"/>
  <p:notesSz cx="6858000" cy="9144000"/>
  <p:defaultTextStyle>
    <a:defPPr rtl="0"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BCEECDBE-45AE-406D-897B-57DEE509F36B}">
          <p14:sldIdLst>
            <p14:sldId id="693"/>
            <p14:sldId id="612"/>
            <p14:sldId id="668"/>
            <p14:sldId id="669"/>
            <p14:sldId id="613"/>
            <p14:sldId id="672"/>
            <p14:sldId id="642"/>
            <p14:sldId id="678"/>
            <p14:sldId id="680"/>
            <p14:sldId id="679"/>
            <p14:sldId id="681"/>
            <p14:sldId id="682"/>
            <p14:sldId id="683"/>
            <p14:sldId id="688"/>
            <p14:sldId id="694"/>
            <p14:sldId id="689"/>
            <p14:sldId id="690"/>
            <p14:sldId id="686"/>
            <p14:sldId id="50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9E9"/>
    <a:srgbClr val="FFFF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55" autoAdjust="0"/>
    <p:restoredTop sz="94660" autoAdjust="0"/>
  </p:normalViewPr>
  <p:slideViewPr>
    <p:cSldViewPr snapToGrid="0" showGuides="1">
      <p:cViewPr varScale="1">
        <p:scale>
          <a:sx n="86" d="100"/>
          <a:sy n="86" d="100"/>
        </p:scale>
        <p:origin x="581" y="62"/>
      </p:cViewPr>
      <p:guideLst>
        <p:guide orient="horz" pos="2160"/>
        <p:guide pos="38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/>
            </a:lvl1pPr>
          </a:lstStyle>
          <a:p>
            <a:pPr algn="r" rtl="0"/>
            <a:fld id="{91C0301E-2321-4F52-B85E-5901506D265C}" type="datetime1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2022/1/7</a:t>
            </a:fld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rtl="0"/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/>
            </a:lvl1pPr>
          </a:lstStyle>
          <a:p>
            <a:pPr algn="r" rtl="0"/>
            <a:fld id="{06834459-7356-44BF-850D-8B30C4FB3B6B}" type="slidenum">
              <a:rPr lang="en-US" altLang="zh-CN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229B22C3-6CB1-491B-AD00-E0837F23A3F3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rtl="0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A3C37BE-C303-496D-B5CD-85F2937540FC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0A3C37BE-C303-496D-B5CD-85F2937540F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/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/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t>2022/1/7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t>2022/1/7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t>2022/1/7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t>2022/1/7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t>2022/1/7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t>2022/1/7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t>2022/1/7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2109926" y="2129897"/>
            <a:ext cx="3986074" cy="1954514"/>
          </a:xfrm>
        </p:spPr>
        <p:txBody>
          <a:bodyPr rtlCol="0" anchor="ctr"/>
          <a:lstStyle/>
          <a:p>
            <a:pPr rtl="0"/>
            <a:r>
              <a:rPr lang="zh-CN" altLang="en-US" dirty="0"/>
              <a:t>背包专题</a:t>
            </a:r>
            <a:r>
              <a:rPr lang="en-US" altLang="zh-CN" dirty="0"/>
              <a:t>3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508075" y="3862469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90" r="8890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学习目标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423124" y="1582702"/>
            <a:ext cx="9999260" cy="1587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1. </a:t>
            </a:r>
            <a:r>
              <a:rPr lang="zh-CN" altLang="en-US" sz="2000" dirty="0"/>
              <a:t>理解各种背包问题及其算法。</a:t>
            </a:r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2. </a:t>
            </a:r>
            <a:r>
              <a:rPr lang="zh-CN" altLang="en-US" sz="2000" dirty="0"/>
              <a:t>体会背包问题的优化策略。</a:t>
            </a:r>
          </a:p>
          <a:p>
            <a:pPr indent="574675">
              <a:lnSpc>
                <a:spcPts val="32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en-US" altLang="zh-CN" sz="2000" dirty="0"/>
              <a:t>3. </a:t>
            </a:r>
            <a:r>
              <a:rPr lang="zh-CN" altLang="en-US" sz="2000" dirty="0"/>
              <a:t>熟练应用背包模型解决一些实际问题。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背包问题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017927" y="1485049"/>
            <a:ext cx="10067655" cy="1116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74675">
              <a:lnSpc>
                <a:spcPct val="200000"/>
              </a:lnSpc>
              <a:spcAft>
                <a:spcPts val="1200"/>
              </a:spcAft>
              <a:buClr>
                <a:schemeClr val="accent2"/>
              </a:buClr>
              <a:buSzPct val="80000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背包问题指这样一类问题，题意往往可以抽象成：给定一组物品，每种物品都有自己的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重量和价格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限定的总重量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内，我们如何选择，才能使得物品的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总价格最高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471" y="2993616"/>
            <a:ext cx="3806339" cy="325936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2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dirty="0"/>
              <a:t>背包问题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" t="-294" r="-155" b="6158"/>
          <a:stretch>
            <a:fillRect/>
          </a:stretch>
        </p:blipFill>
        <p:spPr>
          <a:xfrm>
            <a:off x="1032140" y="1461125"/>
            <a:ext cx="10125427" cy="501957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混合背包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00713" y="1111018"/>
            <a:ext cx="10184869" cy="50348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1】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混合背包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一个旅行者有一个最多能用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公斤的背包，现在有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件物品，它们的重量分别是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...,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，它们的价值分别为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C1,C2,...,Cn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。有的物品只可以取一次（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背包），有的物品可以取无限次（完全背包），有的物品可以取的次数有一个上限（多重背包）。求解将哪些物品装入背包可使这些物品的费用总和不超过背包容量，且价值总和最大。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第一行：二个整数，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背包容量，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V&lt;=200)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物品数量，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N&lt;=30)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2..N+1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行：每行三个整数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Wi,Ci,Pi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，前两个整数分别表示每个物品的重量，价值，第三个整数若为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，则说明此物品可以购买无数件，若为其他数字，则为此物品可购买的最多件数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(Pi)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仅一行，一个数，表示最大总价值。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457027" y="4932251"/>
            <a:ext cx="6096000" cy="18955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样例解释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选第一件物品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件和第三件物品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件。</a:t>
            </a: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4850167" y="4932251"/>
            <a:ext cx="6096000" cy="18955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样例输入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10 3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2  1  0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3  3  1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4  5  4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dirty="0"/>
              <a:t>混合背包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4305" y="1454550"/>
            <a:ext cx="10241872" cy="49832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动态规划思想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只需在对每个物品应用转移方程时，根据物品的类别选用顺序或逆序的循环即可，复杂度是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O(VN)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伪代码如下：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=1..N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if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背包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v=V..0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　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f[v]=max{f[v],f[v-w[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]]+c[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]};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else if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件物品是完全背包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v=0..V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　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f[v]=max{f[v],f[v-w[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]]+c[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]};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再加上多重背包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如果再加上有的物品最多可以取有限次，将每个这类物品分成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O(log n[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背包的物品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混合背包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361624"/>
            <a:ext cx="10131602" cy="36933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752" y="1730956"/>
            <a:ext cx="6713802" cy="49000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dirty="0"/>
              <a:t>二维费用背包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828916" y="1173162"/>
            <a:ext cx="5477023" cy="5631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2】P1507 NASA</a:t>
            </a:r>
            <a:r>
              <a:rPr lang="zh-CN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的食物计划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NASA(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美国航空航天局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因为航天飞机的隔热瓦等其他安全技术问题一直大伤脑筋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因此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NASA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便想设计一种食品方案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让体积和承重有限的条件下多装载一些高卡路里的食物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描述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航天飞机的体积有限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当然如果载过重的物品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燃料会浪费很多钱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每件食品都有各自的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体积、质量以及所含卡路里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在告诉你体积和质量的最大值的情况下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请输出能达到的食品方案所含卡路里的最大值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,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当然每个食品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只能使用一次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</a:p>
          <a:p>
            <a:pPr>
              <a:lnSpc>
                <a:spcPct val="20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397510" y="1269556"/>
            <a:ext cx="5293873" cy="55888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 两个数 体积最大值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(&lt;400)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和质量最大值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(&lt;400)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第二行 一个数 食品总数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N(&lt;50).</a:t>
            </a:r>
            <a:b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第三行－第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3+N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 </a:t>
            </a:r>
            <a:b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每行三个数 体积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(&lt;400)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质量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(&lt;400)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所含卡路里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(&lt;500)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一个数 所能达到的最大卡路里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(int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范围内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样例输入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320 350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160 40 120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80 110 240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220 70 310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40 400 220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样例输出 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550</a:t>
            </a:r>
          </a:p>
        </p:txBody>
      </p:sp>
      <p:cxnSp>
        <p:nvCxnSpPr>
          <p:cNvPr id="6" name="直接连接符 5"/>
          <p:cNvCxnSpPr/>
          <p:nvPr/>
        </p:nvCxnSpPr>
        <p:spPr>
          <a:xfrm>
            <a:off x="6230878" y="1453780"/>
            <a:ext cx="0" cy="5220070"/>
          </a:xfrm>
          <a:prstGeom prst="line">
            <a:avLst/>
          </a:prstGeom>
          <a:ln w="28575">
            <a:prstDash val="sys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二维费用背包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1104900" y="1421234"/>
            <a:ext cx="10241872" cy="3886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动态规划思想 </a:t>
            </a:r>
            <a:endParaRPr lang="en-US" altLang="zh-CN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费用加了一维，只需状态也加一维即可。设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][v][u]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表示前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件物品付出两种代价分别为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时可获得的最大价值。</a:t>
            </a: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状态转移方程就是：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f 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][v][u]=max{f[i-1][v][u],f[i-1][v-a[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]][u-b[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]]+c[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]}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。如前述方法，可以只使用二维的数组：当每件物品只可以取一次时变量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采用逆序的循环，当物品有如完全背包问题时采用顺序的循环。当物品有如多重背包问题时拆分物品。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二维费用背包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468157"/>
            <a:ext cx="10131602" cy="7359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044" y="1946610"/>
            <a:ext cx="7300449" cy="330009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分组背包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00713" y="1253061"/>
            <a:ext cx="647662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一个旅行者有一个最多能用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公斤的背包，现在有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件物品，它们的重量分别是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...,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，它们的价值分别为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C1,C2,...,Cn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。这些物品被划分为若干组，每组中的物品互相冲突，最多选一件。求解将哪些物品装入背包可使这些物品的费用总和不超过背包容量，且价值总和最大。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第一行：三个整数，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背包容量，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V&lt;=200)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物品数量，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N&lt;=30)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T(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最大组号，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T&lt;=10)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2..N+1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行：每行三个整数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Wi,Ci,P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，表示每个物品的重量，价值，所属组号。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输出格式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仅一行，一个数，表示最大总价值。</a:t>
            </a:r>
          </a:p>
          <a:p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7806432" y="1770975"/>
            <a:ext cx="6096000" cy="374217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样例输入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10 6 3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2  1  1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3  3  1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4  8  2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6  9  2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2  8  3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3  9  3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样例输出</a:t>
            </a: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lvl="0">
              <a:lnSpc>
                <a:spcPct val="150000"/>
              </a:lnSpc>
            </a:pPr>
            <a:r>
              <a:rPr lang="en-US" altLang="zh-CN" sz="160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</a:t>
            </a:r>
          </a:p>
        </p:txBody>
      </p:sp>
      <p:cxnSp>
        <p:nvCxnSpPr>
          <p:cNvPr id="7" name="直接连接符 6"/>
          <p:cNvCxnSpPr/>
          <p:nvPr/>
        </p:nvCxnSpPr>
        <p:spPr>
          <a:xfrm>
            <a:off x="7483874" y="1407111"/>
            <a:ext cx="0" cy="5220070"/>
          </a:xfrm>
          <a:prstGeom prst="line">
            <a:avLst/>
          </a:prstGeom>
          <a:ln w="28575">
            <a:prstDash val="sysDash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38687" y="157900"/>
            <a:ext cx="10046895" cy="1015261"/>
          </a:xfrm>
        </p:spPr>
        <p:txBody>
          <a:bodyPr/>
          <a:lstStyle/>
          <a:p>
            <a:r>
              <a:rPr lang="zh-CN" altLang="en-US" dirty="0"/>
              <a:t>分组背包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74305" y="1419038"/>
            <a:ext cx="10241872" cy="52810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动态规划思想 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f[k][v]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表示前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组物品花费费用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能取得的最大权值，则有：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f[k][v]=max{f[k-1][v]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f[k-1][v-w[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]]+c[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]|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物品</a:t>
            </a:r>
            <a:r>
              <a:rPr lang="en-US" altLang="zh-CN" sz="1600" b="1" dirty="0" err="1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属于第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}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使用一维数组的伪代码如下：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所有的组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for v=V..0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 for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所有的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属于组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　　　　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f[v]=max{f[v],f[v-w[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]]+c[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]}</a:t>
            </a: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　　注意这里的三层循环的顺序，“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v=V..0”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这一层循环必须在“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for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所有的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属于组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k”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之外。这样才能保证每一组内的物品最多只有一个会被添加到背包中。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分组背包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361624"/>
            <a:ext cx="10131602" cy="7359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2633" y="1729577"/>
            <a:ext cx="5845047" cy="51134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有依赖的背包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900713" y="1253061"/>
            <a:ext cx="10184869" cy="5958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4】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金明的预算方案（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NOIP2004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问题描述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金明今天很开心，家里购置的新房就要领钥匙了，新房里有一间金明自己专用的很宽敞的房间。更让他高兴的是，妈妈昨天对他说：“ 你的房间需要购买哪些物品，怎么布置，你说了算，只要不超过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元钱就行 ”。今天一早，金明就开始做预算了，他把想买的物品分为两类：主件与附件，附件是从属于某个主件的，下表就是一些主件与附件的例子： 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如果要买归类为附件的物品，必须先买该附件所属的主件。每个主件可以有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个或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个附件。附件不再有从属于自己的附件。金明想买的东西很多，肯定会超过妈妈限定的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元。于是，他把每件物品规定了一个重要度，分为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等：用整数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1∼5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表示，第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等最重要。他还从因特网上查到了每件物品的价格（都是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元的整数倍）。他希望在不超过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元（可以等于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元）的前提下，使每件物品的价格与重要度的乘积的总和最大。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设第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件物品的价格为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v[j]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，重要度为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w[j]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，共选中了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件物品，编号依次为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，⋯⋯，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，则所求的总和为：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v[j1]×w[j1]+v[j2]×w[j2]+⋯+v[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]×w[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jk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请你帮助金明设计一个满足要求的购物单。 </a:t>
            </a: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289" y="3165352"/>
            <a:ext cx="4245183" cy="14599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有依赖的背包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835942" y="1315205"/>
            <a:ext cx="10249640" cy="5958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4】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金明的预算方案（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NOIP2004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endParaRPr lang="en-US" altLang="zh-CN" sz="1600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输入文件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输入文件 的第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行，为两个正整数，用一个空格隔开：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 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（其中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&lt;32000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）表示总钱数，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&lt;60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）为希望购买物品的个数）从第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行到第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m+1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行，第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行给出了编号为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j−1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的物品的基本数据，每行有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个非负整数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 p q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表示该物品的价格（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v&lt;10000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表示该物品的重要（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1∼5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表示该物品是主件还是附件。如果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q=0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，表示该物品为主件，如果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q&gt;0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，表示该物品为附件，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是所属主件的编号） 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输出文件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 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输出文件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只有一个正整数，为不超过总钱数的物品的价格与重要度乘积的总和的最大值（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&lt;200000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输入样例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1000 5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800 2 0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400 5 1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300 5 1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400 3 0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500 2 0</a:t>
            </a:r>
          </a:p>
          <a:p>
            <a:pPr>
              <a:lnSpc>
                <a:spcPct val="150000"/>
              </a:lnSpc>
            </a:pP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912762" y="4232146"/>
            <a:ext cx="6096000" cy="78752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输出样例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#1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2200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</p:spPr>
        <p:txBody>
          <a:bodyPr/>
          <a:lstStyle/>
          <a:p>
            <a:r>
              <a:rPr lang="zh-CN" altLang="en-US" dirty="0"/>
              <a:t>有依赖的背包</a:t>
            </a:r>
          </a:p>
        </p:txBody>
      </p:sp>
      <p:sp>
        <p:nvSpPr>
          <p:cNvPr id="5" name="矩形 4"/>
          <p:cNvSpPr/>
          <p:nvPr/>
        </p:nvSpPr>
        <p:spPr>
          <a:xfrm>
            <a:off x="740856" y="1359593"/>
            <a:ext cx="10853379" cy="5764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问题分析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考虑到每个主件最多只有两个附件，因此我们可以通过转化，把原问题转化为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背包问题来解决，在用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背包之前我们需要对输入数据进行处理，把每一种物品归类，即：把每一个主件和它的附件看作一类物品。处理好之后，我们就可以使用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背包算法了。在取某件物品时，我们只需要从以下四种方案中取最大的那种方案：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只取主件、取主件＋附件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、取主件＋附件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、既主件＋附件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＋附件</a:t>
            </a:r>
            <a:r>
              <a:rPr lang="en-US" altLang="zh-CN" sz="1600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。很容易得到如下状态转移方程：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]=max{f[i-1,j]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f[i-1,j-a[i,0]]+a[i,0]*b[i,0]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f[i-1,j-a[i,0]-a[i,1]]+a[i,0]*b[i,0]+a[i,1]*b[i,1]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f[i-1,j-a[i,0]-a[i,2]]+a[i,0]*b[i,0]+a[i,2]*b[i,2]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f[i-1,j-a[i,0]-a[i,1]-a[i,2]]+a[i,0]*b[i,0]+a[i,1]*b[i,1]+a[i,2]*b[i,2]}</a:t>
            </a:r>
          </a:p>
          <a:p>
            <a:pPr>
              <a:lnSpc>
                <a:spcPct val="20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    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其中，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f[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i,j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表示用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j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元钱，买前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类物品，所得的最大值，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a[i,0]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表示第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类物品主件的价格，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a[i,1]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表示第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类物品第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个附件的价格，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a[i,2]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表示第</a:t>
            </a:r>
            <a:r>
              <a:rPr lang="en-US" altLang="zh-CN" sz="1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类物品第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个附件的价格，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b[i,0],b[i,1],b[i,2]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分别表示主件、第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个附件和第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个附件的重要度。</a:t>
            </a:r>
          </a:p>
          <a:p>
            <a:pPr>
              <a:lnSpc>
                <a:spcPct val="20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有依赖的背包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53980" y="1361624"/>
            <a:ext cx="10131602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参考程序</a:t>
            </a:r>
            <a:r>
              <a:rPr lang="en-US" altLang="zh-CN" b="1" dirty="0">
                <a:solidFill>
                  <a:schemeClr val="accent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endParaRPr lang="zh-CN" altLang="en-US" b="1" dirty="0">
              <a:solidFill>
                <a:schemeClr val="accent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ctangle 2"/>
          <p:cNvSpPr txBox="1">
            <a:spLocks noRot="1" noChangeArrowheads="1"/>
          </p:cNvSpPr>
          <p:nvPr/>
        </p:nvSpPr>
        <p:spPr>
          <a:xfrm>
            <a:off x="753647" y="1466985"/>
            <a:ext cx="5720653" cy="6477000"/>
          </a:xfrm>
          <a:prstGeom prst="rect">
            <a:avLst/>
          </a:prstGeom>
        </p:spPr>
        <p:txBody>
          <a:bodyPr/>
          <a:lstStyle>
            <a:lvl1pPr marL="228600" indent="-228600" algn="l" rtl="0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endParaRPr lang="zh-CN" altLang="en-US" sz="1400" dirty="0">
              <a:solidFill>
                <a:prstClr val="black"/>
              </a:solidFill>
              <a:latin typeface="Arial" panose="020B0604020202020204"/>
              <a:ea typeface="微软雅黑" panose="020B0503020204020204" pitchFamily="34" charset="-122"/>
            </a:endParaRP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#include &lt;bits/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stdc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++.h&gt;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using namespace std;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zf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[65][3],w[65][3],v[65][3],d[65][3205];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int main()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int 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n,m,c,p,q,i,j,t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cin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&gt;&gt;n&gt;&gt;m;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n/=10; //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都是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的整数倍，可以节约空间和时间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for(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=1;i&lt;=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m;i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++)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{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cin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&gt;&gt;c&gt;&gt;p&gt;&gt;q;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c/=10; //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同上 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if(q==0) {w[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][q]=c; v[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][q]=c*p;}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else if(w[q][1]==0) {w[q][1]=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c;v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[q][1]=c*p;}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	else {w[q][2]=</a:t>
            </a:r>
            <a:r>
              <a:rPr lang="en-US" altLang="zh-CN" sz="160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c;v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[q][2]=c*p;}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}</a:t>
            </a:r>
          </a:p>
          <a:p>
            <a:pPr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endParaRPr lang="zh-CN" altLang="en-US" sz="1400" dirty="0">
              <a:solidFill>
                <a:prstClr val="black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540180" y="1466985"/>
            <a:ext cx="59341" cy="5254327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5705308" y="1278523"/>
            <a:ext cx="5918365" cy="59574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l-PL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for(i=1;i&lt;=m;i++)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l-PL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for(j=n;j&gt;=1;j--)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l-PL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{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l-PL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d[i][j]=d[i-1][j];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//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不取</a:t>
            </a:r>
            <a:endParaRPr lang="pl-PL" altLang="zh-CN" sz="16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l-PL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if(j&gt;=w[i][0]) {t=d[i-1][j-w[i][0]]+v[i][0];if(t&gt;d[i][j]) d[i][j]=t;}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//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只取主件</a:t>
            </a:r>
            <a:endParaRPr lang="pl-PL" altLang="zh-CN" sz="16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l-PL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if(j&gt;=w[i][0]+w[i][1]) {t=d[i-1][j-w[i][0]-w[i][1]]+v[i][0]+v[i][1];if(t&gt;d[i][j]) d[i][j]=t;}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//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取主件和附件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endParaRPr lang="pl-PL" altLang="zh-CN" sz="16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l-PL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if(j&gt;=w[i][0]+w[i][2]) {t=d[i-1][j-w[i][0]-w[i][2]]+v[i][0]+v[i][2];if(t&gt;d[i][j]) d[i][j]=t;}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//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取主件和附件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pl-PL" altLang="zh-CN" sz="16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l-PL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if(j&gt;=w[i][0]+w[i][1]+w[i][2]) {t=d[i-1][j-w[i][0]-w[i][1]-w[i][2]]+v[i][0]+v[i][1]+v[i][2];if(t&gt;d[i][j]) d[i][j]=t;}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l-PL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}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 //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取主件、附件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和附件</a:t>
            </a:r>
            <a:r>
              <a:rPr lang="en-US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endParaRPr lang="pl-PL" altLang="zh-CN" sz="1600" dirty="0">
              <a:solidFill>
                <a:prstClr val="black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l-PL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cout&lt;&lt;d[m][n]*10&lt;&lt;endl;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l-PL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	return 0;}</a:t>
            </a:r>
          </a:p>
          <a:p>
            <a:pPr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pl-PL" altLang="zh-CN" sz="1600" dirty="0">
                <a:solidFill>
                  <a:prstClr val="black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 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有依赖的背包</a:t>
            </a:r>
            <a:endParaRPr lang="zh-CN" altLang="zh-CN" dirty="0"/>
          </a:p>
        </p:txBody>
      </p:sp>
      <p:sp>
        <p:nvSpPr>
          <p:cNvPr id="4" name="文本框 3"/>
          <p:cNvSpPr txBox="1"/>
          <p:nvPr/>
        </p:nvSpPr>
        <p:spPr>
          <a:xfrm>
            <a:off x="945858" y="1331092"/>
            <a:ext cx="5066560" cy="64633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习题练习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104900" y="1663135"/>
            <a:ext cx="9980681" cy="1116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05548" y="1771147"/>
            <a:ext cx="5066560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0" marR="0" lvl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kumimoji="0" lang="zh-CN" altLang="en-US" i="0" u="none" strike="noStrike" kern="1200" cap="none" spc="0" normalizeH="0" baseline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</a:t>
            </a:r>
            <a:r>
              <a:rPr kumimoji="0" lang="en-US" altLang="zh-CN" i="0" u="none" strike="noStrike" kern="1200" cap="none" spc="0" normalizeH="0" baseline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1757 </a:t>
            </a:r>
            <a:r>
              <a:rPr kumimoji="0" lang="zh-CN" altLang="en-US" i="0" u="none" strike="noStrike" kern="1200" cap="none" spc="0" normalizeH="0" baseline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通天之分组背包</a:t>
            </a:r>
          </a:p>
          <a:p>
            <a:pPr marL="0" marR="0" lvl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kumimoji="0" lang="en-US" altLang="zh-CN" i="0" u="none" strike="noStrike" kern="1200" cap="none" spc="0" normalizeH="0" baseline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P1417 </a:t>
            </a:r>
            <a:r>
              <a:rPr kumimoji="0" lang="zh-CN" altLang="en-US" i="0" u="none" strike="noStrike" kern="1200" cap="none" spc="0" normalizeH="0" baseline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烹饪方案</a:t>
            </a:r>
          </a:p>
          <a:p>
            <a:pPr marL="0" marR="0" lvl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kumimoji="0" lang="en-US" altLang="zh-CN" i="0" u="none" strike="noStrike" kern="1200" cap="none" spc="0" normalizeH="0" baseline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P1855 </a:t>
            </a:r>
            <a:r>
              <a:rPr kumimoji="0" lang="zh-CN" altLang="en-US" i="0" u="none" strike="noStrike" kern="1200" cap="none" spc="0" normalizeH="0" baseline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榨取</a:t>
            </a:r>
            <a:r>
              <a:rPr kumimoji="0" lang="en-US" altLang="zh-CN" i="0" u="none" strike="noStrike" kern="1200" cap="none" spc="0" normalizeH="0" baseline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kkksc03</a:t>
            </a:r>
          </a:p>
          <a:p>
            <a:pPr marL="0" marR="0" lvl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buClrTx/>
              <a:buSzTx/>
              <a:buFontTx/>
              <a:buNone/>
            </a:pPr>
            <a:r>
              <a:rPr kumimoji="0" lang="en-US" altLang="zh-CN" i="0" u="none" strike="noStrike" kern="1200" cap="none" spc="0" normalizeH="0" baseline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P1833 </a:t>
            </a:r>
            <a:r>
              <a:rPr kumimoji="0" lang="zh-CN" altLang="en-US" i="0" u="none" strike="noStrike" kern="1200" cap="none" spc="0" normalizeH="0" baseline="0" dirty="0"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樱花</a:t>
            </a:r>
            <a:endParaRPr kumimoji="0" lang="zh-CN" altLang="en-US" sz="1600" i="0" u="none" strike="noStrike" kern="1200" cap="none" spc="0" normalizeH="0" baseline="0" dirty="0"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lvl="0">
              <a:defRPr/>
            </a:pPr>
            <a:r>
              <a:rPr lang="en-US" altLang="zh-CN" sz="1600" dirty="0">
                <a:solidFill>
                  <a:srgbClr val="514843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	</a:t>
            </a:r>
            <a:endParaRPr kumimoji="0" lang="zh-CN" altLang="en-US" sz="18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2873</Words>
  <Application>Microsoft Office PowerPoint</Application>
  <PresentationFormat>宽屏</PresentationFormat>
  <Paragraphs>175</Paragraphs>
  <Slides>19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微软雅黑</vt:lpstr>
      <vt:lpstr>Arial</vt:lpstr>
      <vt:lpstr>Euphemia</vt:lpstr>
      <vt:lpstr>Times New Roman</vt:lpstr>
      <vt:lpstr>Wingdings</vt:lpstr>
      <vt:lpstr>学术文献 16x9</vt:lpstr>
      <vt:lpstr>1_学术文献 16x9</vt:lpstr>
      <vt:lpstr>背包专题3</vt:lpstr>
      <vt:lpstr>学习目标</vt:lpstr>
      <vt:lpstr>背包问题</vt:lpstr>
      <vt:lpstr>背包问题</vt:lpstr>
      <vt:lpstr>混合背包</vt:lpstr>
      <vt:lpstr>混合背包</vt:lpstr>
      <vt:lpstr>混合背包</vt:lpstr>
      <vt:lpstr>二维费用背包</vt:lpstr>
      <vt:lpstr>二维费用背包</vt:lpstr>
      <vt:lpstr>二维费用背包</vt:lpstr>
      <vt:lpstr>分组背包</vt:lpstr>
      <vt:lpstr>分组背包</vt:lpstr>
      <vt:lpstr>分组背包</vt:lpstr>
      <vt:lpstr>有依赖的背包</vt:lpstr>
      <vt:lpstr>有依赖的背包</vt:lpstr>
      <vt:lpstr>有依赖的背包</vt:lpstr>
      <vt:lpstr>有依赖的背包</vt:lpstr>
      <vt:lpstr>有依赖的背包</vt:lpstr>
      <vt:lpstr>谢谢！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16</cp:revision>
  <dcterms:created xsi:type="dcterms:W3CDTF">2017-11-04T04:56:00Z</dcterms:created>
  <dcterms:modified xsi:type="dcterms:W3CDTF">2022-01-07T03:39:20Z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0x0101006EDDDB5EE6D98C44930B742096920B300400F5B6D36B3EF94B4E9A635CDF2A18F5B8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  <property fmtid="{D5CDD505-2E9C-101B-9397-08002B2CF9AE}" pid="8" name="KSOProductBuildVer">
    <vt:lpwstr>2052-11.1.0.8976</vt:lpwstr>
  </property>
</Properties>
</file>