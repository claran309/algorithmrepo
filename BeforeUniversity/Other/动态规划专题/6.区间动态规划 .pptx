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36"/>
  </p:handoutMasterIdLst>
  <p:sldIdLst>
    <p:sldId id="256" r:id="rId3"/>
    <p:sldId id="612" r:id="rId5"/>
    <p:sldId id="668" r:id="rId6"/>
    <p:sldId id="669" r:id="rId7"/>
    <p:sldId id="613" r:id="rId8"/>
    <p:sldId id="677" r:id="rId9"/>
    <p:sldId id="676" r:id="rId10"/>
    <p:sldId id="614" r:id="rId11"/>
    <p:sldId id="642" r:id="rId12"/>
    <p:sldId id="646" r:id="rId13"/>
    <p:sldId id="648" r:id="rId14"/>
    <p:sldId id="643" r:id="rId15"/>
    <p:sldId id="644" r:id="rId16"/>
    <p:sldId id="678" r:id="rId17"/>
    <p:sldId id="645" r:id="rId18"/>
    <p:sldId id="649" r:id="rId19"/>
    <p:sldId id="670" r:id="rId20"/>
    <p:sldId id="650" r:id="rId21"/>
    <p:sldId id="651" r:id="rId22"/>
    <p:sldId id="652" r:id="rId23"/>
    <p:sldId id="653" r:id="rId24"/>
    <p:sldId id="654" r:id="rId25"/>
    <p:sldId id="656" r:id="rId26"/>
    <p:sldId id="658" r:id="rId27"/>
    <p:sldId id="659" r:id="rId28"/>
    <p:sldId id="671" r:id="rId29"/>
    <p:sldId id="672" r:id="rId30"/>
    <p:sldId id="673" r:id="rId31"/>
    <p:sldId id="674" r:id="rId32"/>
    <p:sldId id="675" r:id="rId33"/>
    <p:sldId id="667" r:id="rId34"/>
    <p:sldId id="502" r:id="rId35"/>
  </p:sldIdLst>
  <p:sldSz cx="12192000" cy="6858000"/>
  <p:notesSz cx="6858000" cy="9144000"/>
  <p:custDataLst>
    <p:tags r:id="rId40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97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701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1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  <a:endParaRPr lang="zh-CN" altLang="en-US" sz="1200" b="1" i="1" noProof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  <a:endParaRPr lang="zh-CN" altLang="en-US" sz="1200" i="1" noProof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  <a:p>
            <a:pPr lvl="5" rtl="0"/>
            <a:r>
              <a:rPr lang="zh-CN" altLang="en-US" noProof="0" dirty="0"/>
              <a:t>第六级</a:t>
            </a:r>
            <a:endParaRPr lang="zh-CN" altLang="en-US" noProof="0" dirty="0"/>
          </a:p>
          <a:p>
            <a:pPr lvl="6" rtl="0"/>
            <a:r>
              <a:rPr lang="zh-CN" altLang="en-US" noProof="0" dirty="0"/>
              <a:t>第七级</a:t>
            </a:r>
            <a:endParaRPr lang="zh-CN" altLang="en-US" noProof="0" dirty="0"/>
          </a:p>
          <a:p>
            <a:pPr lvl="7" rtl="0"/>
            <a:r>
              <a:rPr lang="zh-CN" altLang="en-US" noProof="0" dirty="0"/>
              <a:t>第八级</a:t>
            </a:r>
            <a:endParaRPr lang="zh-CN" altLang="en-US" noProof="0" dirty="0"/>
          </a:p>
          <a:p>
            <a:pPr lvl="8" rtl="0"/>
            <a:r>
              <a:rPr lang="zh-CN" altLang="en-US" noProof="0" dirty="0"/>
              <a:t>第九级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35837" y="2147652"/>
            <a:ext cx="3986074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区间动态规划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理解区间动态规划的内涵。</a:t>
            </a:r>
            <a:endParaRPr lang="zh-CN" altLang="en-US" sz="2000" dirty="0"/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学会运用区间动态规划的思想求解实际问题。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5000" y="1477207"/>
            <a:ext cx="100605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一般从初态开始，沿着阶段的扩张向某个方向递推，直至计算出目标状态。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属于线性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的一种。顾名思义是在区间上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，以“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区间长度作为”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的阶段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，使用两个坐标（区间的左右端点）描述每个维度。主要思想就是先在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小区间进行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得到最优解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，然后再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利用小区间的最优解合并求大区间的最优解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104899" y="1857027"/>
            <a:ext cx="7035923" cy="4613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初始值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=2;len&lt;=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n;len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区间长度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枚举起点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j=i+len-1;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区间终点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if(j&gt;n) break;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越界结束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for(int k=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i;k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j;k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     //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决策：枚举分割点，构造状态转移方程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][j]=max(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][j],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][k]+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[k+1][j]+w[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][j]);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04900" y="1294244"/>
            <a:ext cx="646331" cy="5627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45101" y="1352025"/>
            <a:ext cx="10140481" cy="420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石子合并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堆石子，现要将石子有序的合并成一堆，规定如下：每次只能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移动任意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堆石子合并，合并花费为新合成的一堆石子的数量。求将这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堆石子合并成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合并的是任意两堆，直接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贪心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即可，每次选择最小的两堆合并。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742002" y="3253070"/>
            <a:ext cx="3076167" cy="24609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45101" y="1218860"/>
            <a:ext cx="10140481" cy="6518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石子合并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堆石子排成一排，每堆石子有一定的数量。现要将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堆石子并成为一堆。合并的过程只能每次将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相邻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的两堆石子堆成一堆，每次合并花费的代价为这两堆石子的和，经过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次合并后成为一堆。求出总的代价最小值。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有多组测试数据，输入到文件结束。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每组测试数据第一行有一个整数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接下来的一行有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0&lt; n &lt;200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）个数，分别表示这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堆石子的数目，用空格隔开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输出总代价的最小值，占单独的一行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1 2 3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13 7 8 16 21 4 18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20079" y="4920422"/>
            <a:ext cx="6096000" cy="11568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239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41590" cy="125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贪心是否正确？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04900" y="2105248"/>
            <a:ext cx="6094520" cy="86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4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8 7 6 8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104900" y="2971319"/>
            <a:ext cx="7774391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使用贪心法求最小代价，合并步骤如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第一次合并：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7 6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。得分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第二次合并：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8 13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。得分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13+ 21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第三次合并：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21 8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。得分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13+21+29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不采用贪心算法：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第一次合并：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8 7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6 8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。得分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第二次合并：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。得分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15+14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第三次合并：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15 14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。得分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15+14+29  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943992" y="1365773"/>
                <a:ext cx="10141590" cy="51332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问题分析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endPara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若第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堆石子和第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堆石子被合并成一堆，则说明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l~r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之间的每一对石子已合并，这样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才可能相邻。可以用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l,r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表述任意一堆石子，其重量为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r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Ai</m:t>
                        </m:r>
                      </m:e>
                    </m:nary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。另外一定存在一个整数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k(l&lt;=k&lt;r),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在这堆石子合并前，先有第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l~k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堆石子被合并成一堆，第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k+1~r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堆石子被合并成一堆，然后这两堆石子才合并成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l,r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确定状态</a:t>
                </a:r>
                <a:endParaRPr lang="zh-CN" altLang="en-US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][j]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表示合并第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堆到第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堆石子的最小代价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确定状态转移方程和边界条件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时间复杂度：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n^3</a:t>
                </a:r>
                <a:r>
                  <a:rPr lang="zh-CN" altLang="en-US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pl-PL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dp[i][j]=min(dp[i][j],dp[i][k]+dp[k+1][j]+w[i][j]);</a:t>
                </a:r>
                <a:endParaRPr lang="pl-PL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][j]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表示把两部分合并起来的代价，即从第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堆到第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堆石子个数的和，为了方便查询，我们可以用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sum[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表示从第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堆到第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堆的石子个数和，那么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][j]=sum[j]-sum[i-1].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（前缀和）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92" y="1365773"/>
                <a:ext cx="10141590" cy="5133265"/>
              </a:xfrm>
              <a:prstGeom prst="rect">
                <a:avLst/>
              </a:prstGeom>
              <a:blipFill rotWithShape="1">
                <a:blip r:embed="rId1"/>
                <a:stretch>
                  <a:fillRect l="-4" t="-10" r="4" b="-12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50715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953980" y="1350715"/>
            <a:ext cx="6784665" cy="11967924"/>
          </a:xfrm>
          <a:prstGeom prst="rect">
            <a:avLst/>
          </a:prstGeom>
        </p:spPr>
        <p:txBody>
          <a:bodyPr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2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&lt;bits/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++.h&gt;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205;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n,x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sum[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&gt;&gt;n)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多组数据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memset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(dp,0x3f,sizeof(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初始化很大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&gt;&gt;x;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sum[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]=sum[i-1]+x;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前缀和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]=0;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自身合并不需花费代价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1600" dirty="0"/>
          </a:p>
        </p:txBody>
      </p:sp>
      <p:sp>
        <p:nvSpPr>
          <p:cNvPr id="6" name="矩形 5"/>
          <p:cNvSpPr/>
          <p:nvPr/>
        </p:nvSpPr>
        <p:spPr>
          <a:xfrm>
            <a:off x="6019781" y="1992928"/>
            <a:ext cx="6096000" cy="35702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=2;len&lt;=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阶段：区间长度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状态： 左端点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int j=i+len-1;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右端点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if(j&gt;n) continue;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for(int k=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i;k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j;k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决策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][j]=min(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][j],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][k]+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[k+1][j]+sum[j]-sum[i-1]);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[1][n]&lt;&lt;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599769" y="1510514"/>
            <a:ext cx="0" cy="5183250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00711" y="1272548"/>
            <a:ext cx="10184871" cy="388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由于状态转移时是三重循环的，我们想能否把其中一层优化呢？尤其是枚举分割点，显然我们用了大量的时间去寻找这个最优分割点，所以我们考虑把这个点找到后保存下来。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表示区间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中的最优分割点，那么第三重循环可以从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[i,j-1]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[s[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][j-1],s[i+1][j]]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这个时候小区间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][j-1]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s[i+1][j]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的值已经求出来了，然后通过这个循环又可以得到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平行四边形优化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时间复杂度：接近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n^2</a:t>
            </a: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446208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7079" y="1769373"/>
            <a:ext cx="8360112" cy="3782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 s[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k=s[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][j-1];k&lt;=s[i+1][j];k++)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if(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][k]+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[k+1][j]+sum[j]-sum[i-1]&lt;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{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][k]+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[k+1][j]+sum[j]-sum[i-1];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s[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][j]=k;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}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36917" y="1379593"/>
            <a:ext cx="5168275" cy="2049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环形石子合并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环形石子合并，即现在有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围成一圈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的若干堆石子，其他条件跟石子合并相同，问合并所需最小代价。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12604" y="1543013"/>
            <a:ext cx="4860588" cy="3957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5 2 4 7 6 1 3 9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105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数据规模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n≤200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362267" y="1620834"/>
            <a:ext cx="0" cy="4802819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06134" y="1325817"/>
            <a:ext cx="10052813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枚举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环断开位置，可以构造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个长度为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的不同区间，分别执行区间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求最小代价。时间复杂度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n^4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），显然超时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326602" y="4634144"/>
            <a:ext cx="222829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箭头: 右 7"/>
          <p:cNvSpPr/>
          <p:nvPr/>
        </p:nvSpPr>
        <p:spPr>
          <a:xfrm>
            <a:off x="3915050" y="4509479"/>
            <a:ext cx="905525" cy="257824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3107184" y="4634144"/>
            <a:ext cx="30769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250326" y="4642640"/>
            <a:ext cx="2380846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200000"/>
              </a:lnSpc>
            </a:pPr>
            <a:r>
              <a:rPr lang="pt-BR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4 ... n 1 2</a:t>
            </a:r>
            <a:endParaRPr lang="pt-BR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251751" y="3533978"/>
            <a:ext cx="2024109" cy="2120717"/>
            <a:chOff x="1251751" y="3533978"/>
            <a:chExt cx="2024109" cy="2120717"/>
          </a:xfrm>
        </p:grpSpPr>
        <p:sp>
          <p:nvSpPr>
            <p:cNvPr id="7" name="椭圆 6"/>
            <p:cNvSpPr/>
            <p:nvPr/>
          </p:nvSpPr>
          <p:spPr>
            <a:xfrm>
              <a:off x="1251751" y="3630586"/>
              <a:ext cx="2024109" cy="2024109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2899888" y="4079857"/>
              <a:ext cx="361145" cy="5627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076334" y="3533978"/>
              <a:ext cx="361145" cy="5627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534102" y="3798465"/>
              <a:ext cx="361145" cy="5627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2618567" y="3757380"/>
              <a:ext cx="361145" cy="5627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06134" y="1325817"/>
            <a:ext cx="10052813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断链成环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。将链延长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倍，扩展成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2n-1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堆，第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n+i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堆完全相同，对这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2n-1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堆进行动态规划，枚举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f(1,n),f(2,n+1)… f(n,2n-1)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取最优值即可。时间复杂度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2n^3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326602" y="4634144"/>
            <a:ext cx="222829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箭头: 右 5"/>
          <p:cNvSpPr/>
          <p:nvPr/>
        </p:nvSpPr>
        <p:spPr>
          <a:xfrm>
            <a:off x="3915050" y="4509479"/>
            <a:ext cx="905525" cy="257824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250326" y="4642640"/>
            <a:ext cx="2380846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200000"/>
              </a:lnSpc>
            </a:pPr>
            <a:r>
              <a:rPr lang="pt-BR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2 ... n 1 2 ... 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pt-BR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pt-BR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251751" y="3533978"/>
            <a:ext cx="2024109" cy="2120717"/>
            <a:chOff x="1251751" y="3533978"/>
            <a:chExt cx="2024109" cy="2120717"/>
          </a:xfrm>
        </p:grpSpPr>
        <p:sp>
          <p:nvSpPr>
            <p:cNvPr id="12" name="椭圆 11"/>
            <p:cNvSpPr/>
            <p:nvPr/>
          </p:nvSpPr>
          <p:spPr>
            <a:xfrm>
              <a:off x="1251751" y="3630586"/>
              <a:ext cx="2024109" cy="2024109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899888" y="4079857"/>
              <a:ext cx="361145" cy="5627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2076334" y="3533978"/>
              <a:ext cx="361145" cy="5627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534102" y="3798465"/>
              <a:ext cx="361145" cy="5627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618567" y="3757380"/>
              <a:ext cx="361145" cy="5627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29440" y="1421737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63379" y="1876526"/>
            <a:ext cx="7581030" cy="2004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57212" y="1085806"/>
            <a:ext cx="10276057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能量项链（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noip2006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星球上，每个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人都随身佩带着一串能量项链。在项链上有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颗能量珠。能量珠是一颗有头标记与尾标记的珠子，这些标记对应着某个正整数。并且，对于相邻的两颗珠子，前一颗珠子的尾标记一定等于后一颗珠子的头标记。因为只有这样，通过吸盘（吸盘是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人吸收能量的一种器官）的作用，这两颗珠子才能聚合成一颗珠子，同时释放出可以被吸盘吸收的能量。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如果前一颗能量珠的头标记为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，尾标记为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，后一颗能量珠的头标记为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，尾标记为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，则聚合后释放的能量为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m×r×n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单位），新产生的珠子的头标记为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，尾标记为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需要时，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人就用吸盘夹住相邻的两颗珠子，通过聚合得到能量，直到项链上只剩下一颗珠子为止。显然，不同的聚合顺序得到的总能量是不同的，请你设计一个聚合顺序，使一串项链释放出的总能量最大。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例如：设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颗珠子的头标记与尾标记依次为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(2,3)(3,5)(5,10)(10,2)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。我们用记号⊕表示两颗珠子的聚合操作，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j⊕k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j,k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两颗珠子聚合后所释放的能量。则第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两颗珠子聚合后释放的能量为：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(4⊕1)=10×2×3=60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这一串项链可以得到最优值的一个聚合顺序所释放的总能量为：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((4⊕1)⊕2)⊕3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10×2×3+10×3×5+10×5×10=710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00929" y="1173162"/>
            <a:ext cx="10390141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能量项链（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noip2006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第一行是一个正整数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N(4≤N≤100)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，表示项链上珠子的个数。第二行是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个用空格隔开的正整数，所有的数均不超过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个数为第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颗珠子的头标记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(1≤i≤N)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，当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颗珠子的尾标记应该等于第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颗珠子的头标记。第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颗珠子的尾标记应该等于第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颗珠子的头标记。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至于珠子的顺序，你可以这样确定：将项链放到桌面上，不要出现交叉，随意指定第一颗珠子，然后按顺时针方向确定其他珠子的顺序。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一个正整数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E(E≤2.1×(10)9)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，为一个最优聚合顺序所释放的总能量。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输入输出样例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2 3 5 10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710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95186" y="1428805"/>
            <a:ext cx="10090396" cy="4603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ead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[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个珠子的头标记，用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tail[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颗珠子的尾标记，合并两颗相邻珠子所释放的能量为：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Energy=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head[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]*tail[i]*tail[i+1]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思路与环形合并石子类似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表示从第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颗珠子合并到第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颗珠子时产生的最大能量；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确定状态转移方程和边界条件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pl-PL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[i][j]=m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</a:t>
            </a:r>
            <a:r>
              <a:rPr lang="pl-PL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pl-PL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[i][j],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pl-PL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[i][k]+</a:t>
            </a:r>
            <a:r>
              <a:rPr lang="en-US" altLang="pl-PL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pl-PL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[k+1][j]+head[i]*tail[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pl-PL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]*tail[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pl-PL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]=0;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=max{ f[1][n], f[2][n+1]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 , f[n][2n-1] }</a:t>
            </a:r>
            <a:endParaRPr lang="pl-PL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29440" y="1421737"/>
            <a:ext cx="1013160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350753" y="199969"/>
            <a:ext cx="8057053" cy="64580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64399" y="1119896"/>
            <a:ext cx="10121183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凸多边形划分问题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给定一个具有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N(N&lt;=50)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个顶点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的凸多边形，每个顶点的权值已知。问如何把这个凸多边形划分成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个互不相交的三角形，使得这些三角形顶点的权值的乘积之和最小。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第一行为顶点数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，第二行为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个顶点（从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）的权值。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乘积之和的最小值。题目保证结果在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范围内。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Sample Input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1 6 4 2 1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121 122 123 245 231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Sample Output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12214884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604" y="1361373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04900" y="3709652"/>
            <a:ext cx="998068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按顺时针将顶点编号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表示从顶点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的凸多边形三角剖分后所得到的最大乘积，枚举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k,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凸多边形（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）剖出三角形（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），凸多边形（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），凸多边形（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104899" y="5530813"/>
            <a:ext cx="64943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得到状态转移方程：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  <a:p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][j]=min(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][j],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][k]+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[k][j]+a[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]*a[k]*a[j]);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877407" y="1606723"/>
            <a:ext cx="2694192" cy="2226911"/>
            <a:chOff x="2333345" y="1351772"/>
            <a:chExt cx="2694192" cy="2226911"/>
          </a:xfrm>
        </p:grpSpPr>
        <p:sp>
          <p:nvSpPr>
            <p:cNvPr id="7" name="矩形 6"/>
            <p:cNvSpPr/>
            <p:nvPr/>
          </p:nvSpPr>
          <p:spPr>
            <a:xfrm>
              <a:off x="4543703" y="1351772"/>
              <a:ext cx="4838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 err="1"/>
                <a:t>i</a:t>
              </a:r>
              <a:endParaRPr lang="zh-CN" altLang="en-US" dirty="0"/>
            </a:p>
            <a:p>
              <a:endParaRPr lang="zh-CN" altLang="en-US" dirty="0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2333345" y="1567103"/>
              <a:ext cx="2555291" cy="2011580"/>
              <a:chOff x="2404367" y="1524169"/>
              <a:chExt cx="2555291" cy="2011580"/>
            </a:xfrm>
          </p:grpSpPr>
          <p:sp>
            <p:nvSpPr>
              <p:cNvPr id="8" name="六边形 7"/>
              <p:cNvSpPr/>
              <p:nvPr/>
            </p:nvSpPr>
            <p:spPr>
              <a:xfrm>
                <a:off x="2654424" y="1524169"/>
                <a:ext cx="2041864" cy="1754287"/>
              </a:xfrm>
              <a:prstGeom prst="hexagon">
                <a:avLst>
                  <a:gd name="adj" fmla="val 18145"/>
                  <a:gd name="vf" fmla="val 115470"/>
                </a:avLst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2404367" y="2262208"/>
                <a:ext cx="48383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j</a:t>
                </a:r>
                <a:endParaRPr lang="zh-CN" altLang="en-US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4475824" y="3166417"/>
                <a:ext cx="48383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k</a:t>
                </a:r>
                <a:endParaRPr lang="zh-CN" altLang="en-US" dirty="0"/>
              </a:p>
            </p:txBody>
          </p:sp>
          <p:sp>
            <p:nvSpPr>
              <p:cNvPr id="11" name="等腰三角形 10"/>
              <p:cNvSpPr/>
              <p:nvPr/>
            </p:nvSpPr>
            <p:spPr>
              <a:xfrm>
                <a:off x="2654423" y="1524169"/>
                <a:ext cx="1740023" cy="1754287"/>
              </a:xfrm>
              <a:custGeom>
                <a:avLst/>
                <a:gdLst>
                  <a:gd name="connsiteX0" fmla="*/ 0 w 1731145"/>
                  <a:gd name="connsiteY0" fmla="*/ 868025 h 868025"/>
                  <a:gd name="connsiteX1" fmla="*/ 1731145 w 1731145"/>
                  <a:gd name="connsiteY1" fmla="*/ 0 h 868025"/>
                  <a:gd name="connsiteX2" fmla="*/ 1731145 w 1731145"/>
                  <a:gd name="connsiteY2" fmla="*/ 868025 h 868025"/>
                  <a:gd name="connsiteX3" fmla="*/ 0 w 1731145"/>
                  <a:gd name="connsiteY3" fmla="*/ 868025 h 868025"/>
                  <a:gd name="connsiteX0-1" fmla="*/ 0 w 1731145"/>
                  <a:gd name="connsiteY0-2" fmla="*/ 868025 h 1711404"/>
                  <a:gd name="connsiteX1-3" fmla="*/ 1731145 w 1731145"/>
                  <a:gd name="connsiteY1-4" fmla="*/ 0 h 1711404"/>
                  <a:gd name="connsiteX2-5" fmla="*/ 1722268 w 1731145"/>
                  <a:gd name="connsiteY2-6" fmla="*/ 1711404 h 1711404"/>
                  <a:gd name="connsiteX3-7" fmla="*/ 0 w 1731145"/>
                  <a:gd name="connsiteY3-8" fmla="*/ 868025 h 1711404"/>
                  <a:gd name="connsiteX0-9" fmla="*/ 0 w 1722268"/>
                  <a:gd name="connsiteY0-10" fmla="*/ 832514 h 1675893"/>
                  <a:gd name="connsiteX1-11" fmla="*/ 1695634 w 1722268"/>
                  <a:gd name="connsiteY1-12" fmla="*/ 0 h 1675893"/>
                  <a:gd name="connsiteX2-13" fmla="*/ 1722268 w 1722268"/>
                  <a:gd name="connsiteY2-14" fmla="*/ 1675893 h 1675893"/>
                  <a:gd name="connsiteX3-15" fmla="*/ 0 w 1722268"/>
                  <a:gd name="connsiteY3-16" fmla="*/ 832514 h 1675893"/>
                  <a:gd name="connsiteX0-17" fmla="*/ 0 w 1713525"/>
                  <a:gd name="connsiteY0-18" fmla="*/ 832514 h 1675893"/>
                  <a:gd name="connsiteX1-19" fmla="*/ 1695634 w 1713525"/>
                  <a:gd name="connsiteY1-20" fmla="*/ 0 h 1675893"/>
                  <a:gd name="connsiteX2-21" fmla="*/ 1713525 w 1713525"/>
                  <a:gd name="connsiteY2-22" fmla="*/ 1675893 h 1675893"/>
                  <a:gd name="connsiteX3-23" fmla="*/ 0 w 1713525"/>
                  <a:gd name="connsiteY3-24" fmla="*/ 832514 h 167589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713525" h="1675893">
                    <a:moveTo>
                      <a:pt x="0" y="832514"/>
                    </a:moveTo>
                    <a:lnTo>
                      <a:pt x="1695634" y="0"/>
                    </a:lnTo>
                    <a:lnTo>
                      <a:pt x="1713525" y="1675893"/>
                    </a:lnTo>
                    <a:lnTo>
                      <a:pt x="0" y="832514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 flipH="1">
                <a:off x="2796466" y="2512381"/>
                <a:ext cx="71021" cy="31071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 flipH="1">
                <a:off x="2938509" y="2636668"/>
                <a:ext cx="150920" cy="5297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H="1">
                <a:off x="3197812" y="2764319"/>
                <a:ext cx="150920" cy="5297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 flipH="1">
                <a:off x="3542934" y="2901542"/>
                <a:ext cx="132422" cy="37691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 flipH="1">
                <a:off x="3878632" y="3045431"/>
                <a:ext cx="66386" cy="23302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4394446" y="1979720"/>
                <a:ext cx="18569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4391118" y="2149917"/>
                <a:ext cx="18902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>
                <a:endCxn id="8" idx="0"/>
              </p:cNvCxnSpPr>
              <p:nvPr/>
            </p:nvCxnSpPr>
            <p:spPr>
              <a:xfrm>
                <a:off x="4391118" y="2386557"/>
                <a:ext cx="305170" cy="14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4391118" y="2636668"/>
                <a:ext cx="18902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20815" y="131333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299316" y="1288528"/>
            <a:ext cx="8262483" cy="55694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64399" y="1332960"/>
            <a:ext cx="10816269" cy="5264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括号匹配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input test file will contain multiple test cases. Each input test case consists of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asingle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line containing only the characters(,),[, and]; each input test will have length between 1 and 100, inclusive. The end-of-file is marked by a line containing the word “end” and should not be processed.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Output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each input case, the program should print the length of the longest possible regular brackets subsequence on a single line.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 Input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((()))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()()()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([]])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)[)(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([][][)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end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47241" y="4078796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 Output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32769" y="1259670"/>
            <a:ext cx="10052813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区间动规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表示区间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里最大完全匹配数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两种转移方程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外围匹配：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][j]=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[i+1][j-1] +2 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外围不匹配：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][j]=max(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][j],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][k]+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[k+1][j])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91836" y="1393236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354025" y="349188"/>
            <a:ext cx="6809193" cy="64326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1291247"/>
            <a:ext cx="7599829" cy="59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给你一个字符串，里面只包含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"(",")","[","]"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四种符号，请问你需要至少添加多少个括号才能使这些括号匹配起来。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如：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[]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是匹配的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([])[]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是匹配的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((]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是不匹配的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([)]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是不匹配的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第一行输入一个正整数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，表示测试数据组数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(N&lt;=10)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每组测试数据都只有一行，是一个字符串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中只包含以上所说的四种字符，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的长度不超过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对于每组测试数据都输出一个正整数，表示最少需要添加的括号的数量。每组测试输出占一行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71148" y="1703148"/>
            <a:ext cx="1193065" cy="41107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样例输入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[]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([])[]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((]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([)]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样例输出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935137" y="1703148"/>
            <a:ext cx="0" cy="4802819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32769" y="1259670"/>
            <a:ext cx="10052813" cy="222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显然，要使添加的括号尽量少，我们需要使原来的括号序列尽可能多得匹配，即先求最大匹配数量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跟上题一样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，那么还剩下一些没有匹配的括号，我们就需要依次加上一个括号使它们得到匹配。综上所述，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所求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原序列括号数量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最大匹配括号数量。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整数划分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暑假来了，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hrdv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又要留学校在参加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集训了，集训的生活非常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Happy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：你懂得），可是他最近遇到了一个难题，让他百思不得其解，他非常郁闷。你能帮帮他吗？问题是我们经常见到的整数划分，给出两个整数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, m 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中加入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- 1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个乘号，将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段，求出这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段的最大乘积。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输入第一行是一个整数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组测试数据接下来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行，每行有两个正整数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( 1&lt;= n &lt; 10^19, 0 &lt; m &lt;= 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的位数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输出输出每组测试样例结果为一个整数占一行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111 2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1111 2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604" y="1441273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1735" y="1810605"/>
            <a:ext cx="9980682" cy="2223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对于划分型动态规划，往往考虑“定范围，取特殊”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（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）阶段：划分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（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）状态：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表示前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段字符划分为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块所能得到的最大乘积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（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）决策：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][j]=max(f[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][j],f[k][j-1]*merge(k+1,i));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20815" y="131333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354095" y="288935"/>
            <a:ext cx="7224867" cy="6492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36979" y="1437623"/>
            <a:ext cx="506656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3199" y="1760789"/>
            <a:ext cx="9980681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P1005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矩阵取数游戏（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NOIP2007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P1018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乘积最大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P1043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数字游戏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  <a:endParaRPr lang="zh-CN" altLang="en-US" dirty="0"/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COMMONDATA" val="eyJoZGlkIjoiYzAwMGYxNGQ5MjNiYWRhZjY0ZTA4OWNjOTNlMDI2ZGIifQ=="/>
</p:tagLst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6146</Words>
  <Application>WPS 演示</Application>
  <PresentationFormat>宽屏</PresentationFormat>
  <Paragraphs>393</Paragraphs>
  <Slides>32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Times New Roman</vt:lpstr>
      <vt:lpstr>Cambria Math</vt:lpstr>
      <vt:lpstr>Arial Unicode MS</vt:lpstr>
      <vt:lpstr>Euphemia</vt:lpstr>
      <vt:lpstr>Segoe Print</vt:lpstr>
      <vt:lpstr>学术文献 16x9</vt:lpstr>
      <vt:lpstr>区间动态规划</vt:lpstr>
      <vt:lpstr>学习目标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18</cp:revision>
  <dcterms:created xsi:type="dcterms:W3CDTF">2017-11-04T04:56:00Z</dcterms:created>
  <dcterms:modified xsi:type="dcterms:W3CDTF">2023-07-28T08:21:43Z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2052-12.1.0.15120</vt:lpwstr>
  </property>
  <property fmtid="{D5CDD505-2E9C-101B-9397-08002B2CF9AE}" pid="9" name="ICV">
    <vt:lpwstr>19AF1E586B2D4BBCAFF09339E6E55647</vt:lpwstr>
  </property>
</Properties>
</file>