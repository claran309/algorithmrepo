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21"/>
  </p:handoutMasterIdLst>
  <p:sldIdLst>
    <p:sldId id="256" r:id="rId3"/>
    <p:sldId id="515" r:id="rId5"/>
    <p:sldId id="535" r:id="rId6"/>
    <p:sldId id="540" r:id="rId7"/>
    <p:sldId id="573" r:id="rId8"/>
    <p:sldId id="566" r:id="rId9"/>
    <p:sldId id="567" r:id="rId10"/>
    <p:sldId id="574" r:id="rId11"/>
    <p:sldId id="577" r:id="rId12"/>
    <p:sldId id="576" r:id="rId13"/>
    <p:sldId id="575" r:id="rId14"/>
    <p:sldId id="578" r:id="rId15"/>
    <p:sldId id="579" r:id="rId16"/>
    <p:sldId id="543" r:id="rId17"/>
    <p:sldId id="572" r:id="rId18"/>
    <p:sldId id="580" r:id="rId19"/>
    <p:sldId id="502" r:id="rId20"/>
  </p:sldIdLst>
  <p:sldSz cx="12192000" cy="6858000"/>
  <p:notesSz cx="6858000" cy="9144000"/>
  <p:custDataLst>
    <p:tags r:id="rId25"/>
  </p:custDataLst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33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480" y="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handoutMaster" Target="handoutMasters/handoutMaster1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  <a:endParaRPr lang="zh-CN" altLang="en-US" sz="1200" b="1" i="1" noProof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  <a:endParaRPr lang="zh-CN" altLang="en-US" sz="1200" i="1" noProof="0" dirty="0"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 rtl="0"/>
            <a:r>
              <a:rPr lang="zh-CN" altLang="en-US" noProof="0"/>
              <a:t>第二级</a:t>
            </a:r>
            <a:endParaRPr lang="zh-CN" altLang="en-US" noProof="0"/>
          </a:p>
          <a:p>
            <a:pPr lvl="2" rtl="0"/>
            <a:r>
              <a:rPr lang="zh-CN" altLang="en-US" noProof="0"/>
              <a:t>第三级</a:t>
            </a:r>
            <a:endParaRPr lang="zh-CN" altLang="en-US" noProof="0"/>
          </a:p>
          <a:p>
            <a:pPr lvl="3" rtl="0"/>
            <a:r>
              <a:rPr lang="zh-CN" altLang="en-US" noProof="0"/>
              <a:t>第四级</a:t>
            </a:r>
            <a:endParaRPr lang="zh-CN" altLang="en-US" noProof="0"/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 rtl="0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 rtl="0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 rtl="0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 rtl="0"/>
            <a:r>
              <a:rPr lang="zh-CN" altLang="en-US" noProof="0" dirty="0"/>
              <a:t>第五级</a:t>
            </a:r>
            <a:endParaRPr lang="zh-CN" altLang="en-US" noProof="0" dirty="0"/>
          </a:p>
          <a:p>
            <a:pPr lvl="5" rtl="0"/>
            <a:r>
              <a:rPr lang="zh-CN" altLang="en-US" noProof="0" dirty="0"/>
              <a:t>第六级</a:t>
            </a:r>
            <a:endParaRPr lang="zh-CN" altLang="en-US" noProof="0" dirty="0"/>
          </a:p>
          <a:p>
            <a:pPr lvl="6" rtl="0"/>
            <a:r>
              <a:rPr lang="zh-CN" altLang="en-US" noProof="0" dirty="0"/>
              <a:t>第七级</a:t>
            </a:r>
            <a:endParaRPr lang="zh-CN" altLang="en-US" noProof="0" dirty="0"/>
          </a:p>
          <a:p>
            <a:pPr lvl="7" rtl="0"/>
            <a:r>
              <a:rPr lang="zh-CN" altLang="en-US" noProof="0" dirty="0"/>
              <a:t>第八级</a:t>
            </a:r>
            <a:endParaRPr lang="zh-CN" altLang="en-US" noProof="0" dirty="0"/>
          </a:p>
          <a:p>
            <a:pPr lvl="8" rtl="0"/>
            <a:r>
              <a:rPr lang="zh-CN" altLang="en-US" noProof="0" dirty="0"/>
              <a:t>第九级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</a:fld>
            <a:r>
              <a:rPr lang="zh-CN" altLang="en-US" dirty="0"/>
              <a:t>​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502541" y="2240690"/>
            <a:ext cx="5734050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随机数据生成与对拍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605729" y="4048900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前言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/>
              <a:t>前言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5" name="文本框 23554"/>
          <p:cNvSpPr txBox="1">
            <a:spLocks noChangeArrowheads="1"/>
          </p:cNvSpPr>
          <p:nvPr/>
        </p:nvSpPr>
        <p:spPr bwMode="auto">
          <a:xfrm>
            <a:off x="1064251" y="1516449"/>
            <a:ext cx="10063497" cy="4308359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在漫长的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OI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生涯中，你肯定遇到过这些情况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在无法获得实时评测反馈的比赛中，思考并实现了一份“高分解法”，但是你会证明自己的结论，或者不能确保自己编写的程序是否完全正确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对于有些无法获得数据的题目，你不知道自己错在了哪里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对于能够获得数据的题目，你拿到的数据都是上万级别的数据，难以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Debug.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有一个不错的构思，自己出了一道题目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这时候，我们就可以试试随机数据生成与对拍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随机数据生成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随机数据生成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5" name="文本框 23554"/>
          <p:cNvSpPr txBox="1">
            <a:spLocks noChangeArrowheads="1"/>
          </p:cNvSpPr>
          <p:nvPr/>
        </p:nvSpPr>
        <p:spPr bwMode="auto">
          <a:xfrm>
            <a:off x="1064251" y="1516449"/>
            <a:ext cx="10063497" cy="49239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rand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（）函数返回一个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0~RAND_MAX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之间的随机整数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int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RAND_MAX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是一个不小于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32767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的整数常量，值与操作系统、编译环境有关。一般来说，在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Windows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系统中为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32767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，在类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Unix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系统中为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2147483647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srand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seed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）以随机种子作初始化，基于线性同余递推式生成随机数。种子确定后，接下来产生的随机数列是固定的，称为“伪随机”。一般用当前系统时间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time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）作为随机种子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time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）返回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1970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时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0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秒到现在的秒数，执行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srand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（（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unsigned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time(0)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随机数据生成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3550" y="1482874"/>
            <a:ext cx="6105525" cy="41719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随机生成整数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0559" y="1443789"/>
            <a:ext cx="8663595" cy="24607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随机生成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n(n&lt;=1e5)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个绝对值在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1e8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之间的整数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n=random(100000)+1,x;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",random(x*2+1)-x);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随机生成排列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0559" y="1413946"/>
            <a:ext cx="9513450" cy="3169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随机生成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1~n(n&lt;=1e5)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的排列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n=random(100000)+1,a[100050];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 a[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shuffle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(a+1,a+n+1); //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随机打乱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",a[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]);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随机生成区间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8286" y="1360157"/>
            <a:ext cx="8663595" cy="4922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随机生成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[1,n]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的子区间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m;i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l=random(n)+1;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int r=random(n)+1;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if(l&gt;r) swap(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l,r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%d\n",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l,r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随机生成树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0559" y="1443789"/>
            <a:ext cx="8663595" cy="43073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随机生成一棵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个点带边权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(&lt;=100000)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的树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=2;i&lt;=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fa=random(i-1)+1;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=random(100000)+1;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%d %d\n",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fa,i,val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}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随机生成连通图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02942" y="1649283"/>
            <a:ext cx="4375882" cy="3268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随机生成连通图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fa=random(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)+1;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make_pair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(fa,i+1);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h[e[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]]=h[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make_pair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(i+1,fa)]=1;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664694" y="1320999"/>
            <a:ext cx="6094206" cy="5028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在生成剩余的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m-n+1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条边</a:t>
            </a:r>
            <a:endParaRPr lang="zh-CN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&lt;=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do{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x=random(n)+1,y=random(n)+1;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}while(x==y || h[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make_pair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)]);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e[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]=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make_pair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x,y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h[e[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]]=h[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make_pair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y,x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)]=1;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random_shuffle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(e+1,e+m+1);//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随机打乱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zh-CN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endParaRPr lang="en-US" altLang="zh-C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m;i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  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%d\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n",e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first,e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].second); </a:t>
            </a:r>
            <a:endParaRPr lang="zh-CN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5378824" y="1452282"/>
            <a:ext cx="0" cy="5185186"/>
          </a:xfrm>
          <a:prstGeom prst="line">
            <a:avLst/>
          </a:prstGeom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随机生成链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0559" y="1443789"/>
            <a:ext cx="8663595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生成一条有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个节点的链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n=random(1000)+1;printf("%d\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n",&amp;n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root=random(n)+1;bool vis[100000];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vis[root]=1;int last=root;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x=random(n)+1;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while(vis[x]==1) x=random(n)+1;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%d\n",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last,x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last=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x;vis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[x]=1;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随机生成菊花图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50559" y="1443789"/>
            <a:ext cx="8663595" cy="3730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//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生成一条有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个节点的菊花图 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n=random(1000)+1;printf("%d\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n",n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 root=random(n)+1;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for(int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=1;i&lt;=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n;i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++)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if(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==root) continue;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printf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("%d %d\n",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root,i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对拍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反思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5" name="文本框 23554"/>
          <p:cNvSpPr txBox="1">
            <a:spLocks noChangeArrowheads="1"/>
          </p:cNvSpPr>
          <p:nvPr/>
        </p:nvSpPr>
        <p:spPr bwMode="auto">
          <a:xfrm>
            <a:off x="1064251" y="1516449"/>
            <a:ext cx="10063497" cy="369280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设此时我们已经编写好了三个程序：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自己编写的“高分解法”程序，名为“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sol.cpp”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，改程序输出答案到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data.out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自己编写的“暴力解法”或者题解程序，名为“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bf.cpp”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，该程序输出正确答案到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data.ans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n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自己编写的随机数据生成程序，名为“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random.cpp”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，该程序输出随机数据到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data.in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zh-CN" altLang="en-US" dirty="0">
                <a:solidFill>
                  <a:srgbClr val="000000"/>
                </a:solidFill>
                <a:cs typeface="+mn-cs"/>
              </a:rPr>
              <a:t>反思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894" y="1194767"/>
            <a:ext cx="7777394" cy="56632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  <a:endParaRPr lang="zh-CN" altLang="en-US" dirty="0"/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COMMONDATA" val="eyJoZGlkIjoiZjM4NzVmNTFjYTI0N2ExMjU4YzJiY2JlOWRkOGY5NjIifQ=="/>
</p:tagLst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学术演示文稿、细条纹和丝带设计（宽屏）</Template>
  <TotalTime>0</TotalTime>
  <Words>1952</Words>
  <Application>WPS 演示</Application>
  <PresentationFormat>宽屏</PresentationFormat>
  <Paragraphs>123</Paragraphs>
  <Slides>17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Times New Roman</vt:lpstr>
      <vt:lpstr>Arial Unicode MS</vt:lpstr>
      <vt:lpstr>Euphemia</vt:lpstr>
      <vt:lpstr>Segoe Print</vt:lpstr>
      <vt:lpstr>学术文献 16x9</vt:lpstr>
      <vt:lpstr>随机数据生成与对拍</vt:lpstr>
      <vt:lpstr>前言</vt:lpstr>
      <vt:lpstr>前言</vt:lpstr>
      <vt:lpstr>随机数据生成</vt:lpstr>
      <vt:lpstr>随机数据生成</vt:lpstr>
      <vt:lpstr>随机数据生成</vt:lpstr>
      <vt:lpstr>随机生成整数</vt:lpstr>
      <vt:lpstr>随机生成排列</vt:lpstr>
      <vt:lpstr>随机生成区间</vt:lpstr>
      <vt:lpstr>随机生成树</vt:lpstr>
      <vt:lpstr>随机生成连通图</vt:lpstr>
      <vt:lpstr>随机生成链</vt:lpstr>
      <vt:lpstr>随机生成菊花图</vt:lpstr>
      <vt:lpstr>对拍</vt:lpstr>
      <vt:lpstr>反思</vt:lpstr>
      <vt:lpstr>反思</vt:lpstr>
      <vt:lpstr>谢谢！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lenovo</cp:lastModifiedBy>
  <cp:revision>10</cp:revision>
  <dcterms:created xsi:type="dcterms:W3CDTF">2017-11-04T04:56:00Z</dcterms:created>
  <dcterms:modified xsi:type="dcterms:W3CDTF">2023-10-20T13:49:52Z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2052-12.1.0.15712</vt:lpwstr>
  </property>
  <property fmtid="{D5CDD505-2E9C-101B-9397-08002B2CF9AE}" pid="9" name="ICV">
    <vt:lpwstr>95F0A6D080B14DA59ECA3E770F3B3740_12</vt:lpwstr>
  </property>
</Properties>
</file>