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512" r:id="rId3"/>
    <p:sldId id="514" r:id="rId4"/>
    <p:sldId id="557" r:id="rId5"/>
    <p:sldId id="580" r:id="rId6"/>
    <p:sldId id="588" r:id="rId7"/>
    <p:sldId id="589" r:id="rId8"/>
    <p:sldId id="590" r:id="rId9"/>
    <p:sldId id="566" r:id="rId10"/>
    <p:sldId id="567" r:id="rId11"/>
    <p:sldId id="565" r:id="rId12"/>
    <p:sldId id="592" r:id="rId13"/>
    <p:sldId id="593" r:id="rId14"/>
    <p:sldId id="594" r:id="rId15"/>
    <p:sldId id="595" r:id="rId16"/>
    <p:sldId id="596" r:id="rId17"/>
    <p:sldId id="597" r:id="rId18"/>
    <p:sldId id="702" r:id="rId19"/>
    <p:sldId id="703" r:id="rId20"/>
    <p:sldId id="502" r:id="rId21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562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2021/7/1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pPr/>
              <a:t>2021/7/1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2021/7/1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2021/7/1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2021/7/1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pPr/>
              <a:t>2021/7/1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2021/7/1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2021/7/1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2021/7/1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2021/7/1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2021/7/1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2021/7/1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2021/7/1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pPr/>
              <a:t>2021/7/1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115188" y="2227736"/>
            <a:ext cx="5734050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数据结构</a:t>
            </a:r>
            <a:r>
              <a:rPr lang="en-US" altLang="zh-CN" dirty="0"/>
              <a:t>——</a:t>
            </a:r>
            <a:r>
              <a:rPr lang="zh-CN" altLang="en-US" dirty="0"/>
              <a:t>链表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361950" y="3877450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8" name="图片占位符 3" descr="桌上一本打开的书，书架在背景中模糊显示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>
          <a:xfrm>
            <a:off x="6981063" y="1319123"/>
            <a:ext cx="5210937" cy="420860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714284E-AE49-4ACF-9408-156B8F7B5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841" y="1680839"/>
            <a:ext cx="7287519" cy="1087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719138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20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理解数据结构的含义。</a:t>
            </a:r>
          </a:p>
          <a:p>
            <a:pPr eaLnBrk="1" hangingPunct="1">
              <a:spcAft>
                <a:spcPts val="20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掌握链表的基本原理和应用。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1DCB32-C949-4662-BB8A-B96F00B94C06}"/>
              </a:ext>
            </a:extLst>
          </p:cNvPr>
          <p:cNvSpPr txBox="1"/>
          <p:nvPr/>
        </p:nvSpPr>
        <p:spPr>
          <a:xfrm>
            <a:off x="1013814" y="61074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学习目标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链表</a:t>
            </a:r>
            <a:endParaRPr lang="en-US" altLang="zh-CN" dirty="0"/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310" y="1317629"/>
            <a:ext cx="10162645" cy="2907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000"/>
              </a:spcAft>
              <a:buClr>
                <a:schemeClr val="accent2"/>
              </a:buClr>
              <a:buSzPct val="80000"/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链表是一种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非连续的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存储空间存储数据。数据之间通过链接的形式连成一体。链表中每个结点包括两个部分：一个是存储数据元素的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数据域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，另一个是存储下一个结点地址的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指针域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Aft>
                <a:spcPts val="1000"/>
              </a:spcAft>
              <a:buClr>
                <a:schemeClr val="accent2"/>
              </a:buClr>
              <a:buSzPct val="80000"/>
            </a:pP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相比于数组，它的优点是，它比数组更适合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频繁的插入和删除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；缺点是，它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不支持随机读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。由于链表的每一个元素的空间是动态分配的。所以，在一些系统中数据集的大小或个数不确定的时候，链表的使用率会有很大的增加。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184FA6A-164E-443B-989B-16009E161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310" y="4589136"/>
            <a:ext cx="6207122" cy="16673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链表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ABF615D-05AD-4B76-BBBB-85C76BEAEC27}"/>
              </a:ext>
            </a:extLst>
          </p:cNvPr>
          <p:cNvSpPr/>
          <p:nvPr/>
        </p:nvSpPr>
        <p:spPr>
          <a:xfrm>
            <a:off x="1039315" y="1413954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链表的分类</a:t>
            </a:r>
            <a:endParaRPr lang="zh-CN" altLang="en-US" sz="20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3800CA6-71D0-42E1-9D41-13B416454886}"/>
              </a:ext>
            </a:extLst>
          </p:cNvPr>
          <p:cNvSpPr txBox="1"/>
          <p:nvPr/>
        </p:nvSpPr>
        <p:spPr>
          <a:xfrm>
            <a:off x="1039315" y="1814064"/>
            <a:ext cx="9942801" cy="2778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链表一般分为三种</a:t>
            </a:r>
          </a:p>
          <a:p>
            <a:pPr>
              <a:lnSpc>
                <a:spcPct val="200000"/>
              </a:lnSpc>
            </a:pP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单向链表：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元素之间通过一个指针链接，由前一个指向后一个，这种结构允许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单向遍历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双向链表：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元素之间通过两个指针相连，对于某个元素，它既指向它后面的元素，也指向前面的元素，所以，它支持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正向和反向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两种方式遍历。</a:t>
            </a:r>
          </a:p>
          <a:p>
            <a:pPr>
              <a:lnSpc>
                <a:spcPct val="200000"/>
              </a:lnSpc>
            </a:pP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循环列表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：链表的最后一个元素，指向链表的第一个元素，使链表成环。所以，允许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循环遍历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5408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链表</a:t>
            </a:r>
          </a:p>
        </p:txBody>
      </p:sp>
      <p:sp>
        <p:nvSpPr>
          <p:cNvPr id="73" name="Text Box 3">
            <a:extLst>
              <a:ext uri="{FF2B5EF4-FFF2-40B4-BE49-F238E27FC236}">
                <a16:creationId xmlns:a16="http://schemas.microsoft.com/office/drawing/2014/main" id="{0532D8AF-02A7-493C-80D7-4376B4BBA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796" y="2004290"/>
            <a:ext cx="9884849" cy="1289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36353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429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链表中的每一个节点，都包含两个区域：</a:t>
            </a:r>
            <a:r>
              <a:rPr lang="zh-CN" altLang="en-US" sz="1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数据域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指针域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。数据域保存了节点真正要存放的数据。指针域则保存下一个节点的内存地址。当最后一个元素的时候，因为没有下一个元素了，则保存一个空指针，表示为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B08F321B-1635-4177-91DF-A052FB97D87A}"/>
              </a:ext>
            </a:extLst>
          </p:cNvPr>
          <p:cNvSpPr/>
          <p:nvPr/>
        </p:nvSpPr>
        <p:spPr>
          <a:xfrm>
            <a:off x="1088994" y="1496025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单向链表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0A9CE92-3CA9-413F-A64E-C274019C3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94" y="3513197"/>
            <a:ext cx="6882581" cy="184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7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链表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678D4F4-0A18-4494-9EC3-91A3F4160F32}"/>
              </a:ext>
            </a:extLst>
          </p:cNvPr>
          <p:cNvSpPr txBox="1"/>
          <p:nvPr/>
        </p:nvSpPr>
        <p:spPr>
          <a:xfrm>
            <a:off x="1168141" y="1365557"/>
            <a:ext cx="4256000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静态实现：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Node{ 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data;    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next;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a[50];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FB0F45B8-029B-43BE-B463-107BB3782344}"/>
              </a:ext>
            </a:extLst>
          </p:cNvPr>
          <p:cNvSpPr txBox="1"/>
          <p:nvPr/>
        </p:nvSpPr>
        <p:spPr>
          <a:xfrm>
            <a:off x="1168141" y="3072025"/>
            <a:ext cx="4256000" cy="31393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核心代码：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&gt;&gt;x;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head=0;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a[head].next=-1;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a[head].data=x;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i=0;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while(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&gt;&gt;x){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a[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].next=i+1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a[++i].data=x;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a[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].next=-1;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84F181-061A-4315-81FB-60FEB22782F4}"/>
              </a:ext>
            </a:extLst>
          </p:cNvPr>
          <p:cNvSpPr txBox="1"/>
          <p:nvPr/>
        </p:nvSpPr>
        <p:spPr>
          <a:xfrm>
            <a:off x="5651731" y="150981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链表的插入：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A2732B6-C2F3-4F93-8177-8D3D5E52F0DE}"/>
              </a:ext>
            </a:extLst>
          </p:cNvPr>
          <p:cNvSpPr txBox="1"/>
          <p:nvPr/>
        </p:nvSpPr>
        <p:spPr>
          <a:xfrm>
            <a:off x="5668996" y="3709224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链表的删除：</a:t>
            </a:r>
          </a:p>
        </p:txBody>
      </p:sp>
      <p:pic>
        <p:nvPicPr>
          <p:cNvPr id="12" name="Picture 1" descr="C:\Users\lenovo\AppData\Roaming\Tencent\Users\280363419\QQ\WinTemp\RichOle\S_F]$8RD_GPTT]R@A~A005U.png">
            <a:extLst>
              <a:ext uri="{FF2B5EF4-FFF2-40B4-BE49-F238E27FC236}">
                <a16:creationId xmlns:a16="http://schemas.microsoft.com/office/drawing/2014/main" id="{EA412D64-8F69-45BB-B6FB-5BF2674AA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731" y="2029528"/>
            <a:ext cx="5372128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lenovo\AppData\Roaming\Tencent\Users\280363419\QQ\WinTemp\RichOle\R0@~PZ@2AQ0}V6%R~U$%M(1.png">
            <a:extLst>
              <a:ext uri="{FF2B5EF4-FFF2-40B4-BE49-F238E27FC236}">
                <a16:creationId xmlns:a16="http://schemas.microsoft.com/office/drawing/2014/main" id="{67915B61-482F-499A-A418-482692D69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731" y="4379868"/>
            <a:ext cx="5623674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76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链表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B08F321B-1635-4177-91DF-A052FB97D87A}"/>
              </a:ext>
            </a:extLst>
          </p:cNvPr>
          <p:cNvSpPr/>
          <p:nvPr/>
        </p:nvSpPr>
        <p:spPr>
          <a:xfrm>
            <a:off x="1088994" y="1496025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双向链表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12A36E-0EC2-41DD-963B-725CDDCABC9D}"/>
              </a:ext>
            </a:extLst>
          </p:cNvPr>
          <p:cNvSpPr txBox="1"/>
          <p:nvPr/>
        </p:nvSpPr>
        <p:spPr>
          <a:xfrm>
            <a:off x="1088994" y="1969921"/>
            <a:ext cx="9289002" cy="1670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双向链表中的每个结点具有两个方向指针，后继指针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(next)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指向后面的结点，前驱指针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prev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指向前面的结点。</a:t>
            </a:r>
          </a:p>
          <a:p>
            <a:pPr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双向链表也有两个特殊结点，首节点的前驱指针和尾结点的后继指针均指向空地址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25F7B8-8FE1-4AAB-9A18-5B9D536BE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94" y="3714485"/>
            <a:ext cx="8614299" cy="253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69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链表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B08F321B-1635-4177-91DF-A052FB97D87A}"/>
              </a:ext>
            </a:extLst>
          </p:cNvPr>
          <p:cNvSpPr/>
          <p:nvPr/>
        </p:nvSpPr>
        <p:spPr>
          <a:xfrm>
            <a:off x="1088994" y="1496025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循环链表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12A36E-0EC2-41DD-963B-725CDDCABC9D}"/>
              </a:ext>
            </a:extLst>
          </p:cNvPr>
          <p:cNvSpPr txBox="1"/>
          <p:nvPr/>
        </p:nvSpPr>
        <p:spPr>
          <a:xfrm>
            <a:off x="1088994" y="1969921"/>
            <a:ext cx="9289002" cy="562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循环链表，将尾元素的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next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指针指向首元素，就形成了一个循环链表。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E5A63CA-77D2-49FE-BCEE-50EBE30E2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959" y="2815110"/>
            <a:ext cx="8743765" cy="274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9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9E20A-1C8D-4579-9394-7E888985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CF57E6-1519-47A8-ABF2-E94A9D7926A6}"/>
              </a:ext>
            </a:extLst>
          </p:cNvPr>
          <p:cNvSpPr/>
          <p:nvPr/>
        </p:nvSpPr>
        <p:spPr>
          <a:xfrm>
            <a:off x="809113" y="1264583"/>
            <a:ext cx="10185029" cy="339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约瑟夫问题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设有ｎ个人依次围成一圈，从第１个人开始报数数到第ｍ个人出列，然后从出列的下一个人开始报   数，数到第ｍ个人又出列，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，如此反复到所有的人全部出列为止。设ｎ个人的编号分别为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，打印出列的顺序。（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1≤m,n≤100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5  3</a:t>
            </a:r>
          </a:p>
          <a:p>
            <a:pPr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3 1 5 2 4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591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9E20A-1C8D-4579-9394-7E888985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F18623-A851-4927-A4A7-1E6748542230}"/>
              </a:ext>
            </a:extLst>
          </p:cNvPr>
          <p:cNvSpPr/>
          <p:nvPr/>
        </p:nvSpPr>
        <p:spPr>
          <a:xfrm>
            <a:off x="1002726" y="1300735"/>
            <a:ext cx="73211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CF57E6-1519-47A8-ABF2-E94A9D7926A6}"/>
              </a:ext>
            </a:extLst>
          </p:cNvPr>
          <p:cNvSpPr/>
          <p:nvPr/>
        </p:nvSpPr>
        <p:spPr>
          <a:xfrm>
            <a:off x="1002726" y="1654678"/>
            <a:ext cx="10185029" cy="4480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题我们可以用数组建立标志位等方法求解，但如果用上数据结构中循环链的思想，则更贴切题意，解题效率更高。ｎ人围成一圈，把一人看成一个结点，ｎ人之间的关系采用链接方式，即每一结点有一个前继结点和一个后继结点，每一个结点有一个指针指向下一个结点，最后一个结点指针指向第一个结点。这就是单循环链的数据结构。当ｍ人出列时，将ｍ结点的前继结点指针指向ｍ结点的后继结点指针，即把ｍ结点驱出循环链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、建立循环链表。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当用数组实现本题链式结构时，数组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kumimoji="1"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变量来使用，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kumimoji="1"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存放下一个结点的位置。设立指针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指向当前结点，则移动结点过程为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j=a[j]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，当数到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结点出链，则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a[j]=a[a[j]]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当直接用链来实现时，则比较直观，每个结点有两个域：一个数值域，一个指针域，当数到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出链，将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结点的前继结点指针指向其后继结点；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、设立指针，指向当前结点，设立计数器，计数数到多少人；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、沿链移动指针，每移动一个结点，计数器值加１，当计数器值为ｍ时，  则ｍ结点出链，计数器值置为１。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、重复３，直到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个结点均出链为止。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78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9E20A-1C8D-4579-9394-7E888985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4AF971-8EC1-4A53-B549-DD1B30B56C96}"/>
              </a:ext>
            </a:extLst>
          </p:cNvPr>
          <p:cNvSpPr/>
          <p:nvPr/>
        </p:nvSpPr>
        <p:spPr>
          <a:xfrm>
            <a:off x="1037788" y="1280075"/>
            <a:ext cx="950717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#include&lt;bits/stdc++.h&gt;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 int n=10,m=4;    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报到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的人出列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a[n+1],j=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=1,p=0;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for 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a[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]=i+1;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建立链表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a[n]=1;              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人指向第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人，形成一个环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(p&lt;n)                //n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个人均出队为止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while(k&lt;m)      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报数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计数器加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j=a[j];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k++;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                  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",a[j]); p++;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此人出队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计数器置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a[j]=a[a[j]]; k=1;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                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E31EA2-134B-40A5-8D1A-86F9F09C5E1D}"/>
              </a:ext>
            </a:extLst>
          </p:cNvPr>
          <p:cNvSpPr/>
          <p:nvPr/>
        </p:nvSpPr>
        <p:spPr>
          <a:xfrm>
            <a:off x="1161246" y="309142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zh-CN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51573E-5098-4F0F-B4F8-23D373C47D3F}"/>
              </a:ext>
            </a:extLst>
          </p:cNvPr>
          <p:cNvSpPr/>
          <p:nvPr/>
        </p:nvSpPr>
        <p:spPr>
          <a:xfrm>
            <a:off x="1037788" y="2873983"/>
            <a:ext cx="92890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19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endParaRPr lang="en-US" altLang="zh-CN" dirty="0"/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310" y="1317629"/>
            <a:ext cx="10162645" cy="111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000"/>
              </a:spcAft>
              <a:buClr>
                <a:schemeClr val="accent2"/>
              </a:buClr>
              <a:buSzPct val="80000"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r>
              <a:rPr lang="zh-CN" altLang="en-US" sz="1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是一种静态链表存储，用边集数组和邻接表相结合，可以快速访问一个顶点的所有邻接点，在算法竞赛中广泛应用相比于数组。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2F86C0-E657-4466-95CD-1997562BEFEB}"/>
              </a:ext>
            </a:extLst>
          </p:cNvPr>
          <p:cNvSpPr txBox="1"/>
          <p:nvPr/>
        </p:nvSpPr>
        <p:spPr>
          <a:xfrm>
            <a:off x="1525110" y="2434410"/>
            <a:ext cx="9141780" cy="1670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链式前向星存储包括两种结构：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边集数组：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edge[ ]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edge[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表示第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条边；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头结点数组：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head[ ]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head[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存以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为起点的第一条边的下标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edge[]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中的下标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45C6B0-F1D3-4889-9CCF-05D39A176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110" y="4206871"/>
            <a:ext cx="95631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4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1A96F74-B922-4586-B103-649FE01E6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433" y="1352875"/>
            <a:ext cx="1943294" cy="128837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79669EA-50F3-40C1-92ED-5E16ECA79F3C}"/>
              </a:ext>
            </a:extLst>
          </p:cNvPr>
          <p:cNvSpPr txBox="1"/>
          <p:nvPr/>
        </p:nvSpPr>
        <p:spPr>
          <a:xfrm>
            <a:off x="1044606" y="1431224"/>
            <a:ext cx="6297227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例如，一个无向图，按以下顺序输入每条边的两个端点，建立的链式前向星，过程如下：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58064C-CF5C-41B5-BA00-41EBECAF0D4C}"/>
              </a:ext>
            </a:extLst>
          </p:cNvPr>
          <p:cNvSpPr txBox="1"/>
          <p:nvPr/>
        </p:nvSpPr>
        <p:spPr>
          <a:xfrm>
            <a:off x="1044606" y="2366224"/>
            <a:ext cx="8929456" cy="11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1 2 5</a:t>
            </a:r>
          </a:p>
          <a:p>
            <a:pPr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创建一条边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1—2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，权值为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，创建第一条边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edge[0]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，如图所示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E35D1E2-C041-42C3-8D3B-053351905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862" y="2800858"/>
            <a:ext cx="2190796" cy="67202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BA655D3-1D18-42E7-BA78-8A7B21B0B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862" y="3632492"/>
            <a:ext cx="2360493" cy="29652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67931BF-A118-4BC9-A86D-F11F14E9A87B}"/>
              </a:ext>
            </a:extLst>
          </p:cNvPr>
          <p:cNvSpPr txBox="1"/>
          <p:nvPr/>
        </p:nvSpPr>
        <p:spPr>
          <a:xfrm>
            <a:off x="1088994" y="3650249"/>
            <a:ext cx="6563557" cy="2778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然后将该边链接到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号结点的头结点中。（初始时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head[]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数组全部初始化为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edge[0].next=head[1]; head[1]=0;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号结点关联的第一个条边为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号边，如图所示。图中的虚线箭头仅表示他们之间的链接关系，不是指针。</a:t>
            </a:r>
          </a:p>
        </p:txBody>
      </p:sp>
    </p:spTree>
    <p:extLst>
      <p:ext uri="{BB962C8B-B14F-4D97-AF65-F5344CB8AC3E}">
        <p14:creationId xmlns:p14="http://schemas.microsoft.com/office/powerpoint/2010/main" val="14842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3F41A9-062A-4D4F-9E2A-BA308CBC0A51}"/>
              </a:ext>
            </a:extLst>
          </p:cNvPr>
          <p:cNvSpPr txBox="1"/>
          <p:nvPr/>
        </p:nvSpPr>
        <p:spPr>
          <a:xfrm>
            <a:off x="973585" y="1711680"/>
            <a:ext cx="4539449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因为是无向图，还需要添加它的反向边，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2—1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，权值为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。创建第二条边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edge[1]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4AB20A-6949-4D13-A98E-66202885D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786" y="1779446"/>
            <a:ext cx="2218137" cy="64921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3B8A7D4-5F52-42E2-8BF1-24A7E3CF7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786" y="3043015"/>
            <a:ext cx="2364303" cy="295829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0165B28-E278-4386-910B-053EF55740BB}"/>
              </a:ext>
            </a:extLst>
          </p:cNvPr>
          <p:cNvSpPr txBox="1"/>
          <p:nvPr/>
        </p:nvSpPr>
        <p:spPr>
          <a:xfrm>
            <a:off x="1088994" y="3325431"/>
            <a:ext cx="5569258" cy="1670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然后将该边链接到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号结点的头结点中。</a:t>
            </a:r>
          </a:p>
          <a:p>
            <a:pPr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edge[1].next=head[2]; head[2]=1; </a:t>
            </a:r>
          </a:p>
          <a:p>
            <a:pPr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号结点关联的第一个条边为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号边</a:t>
            </a:r>
          </a:p>
        </p:txBody>
      </p:sp>
    </p:spTree>
    <p:extLst>
      <p:ext uri="{BB962C8B-B14F-4D97-AF65-F5344CB8AC3E}">
        <p14:creationId xmlns:p14="http://schemas.microsoft.com/office/powerpoint/2010/main" val="3630989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3F41A9-062A-4D4F-9E2A-BA308CBC0A51}"/>
              </a:ext>
            </a:extLst>
          </p:cNvPr>
          <p:cNvSpPr txBox="1"/>
          <p:nvPr/>
        </p:nvSpPr>
        <p:spPr>
          <a:xfrm>
            <a:off x="1123766" y="1489644"/>
            <a:ext cx="5405020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1 4 3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创建一条边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1—4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，权值为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，创建第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条边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edge[2]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165B28-E278-4386-910B-053EF55740BB}"/>
              </a:ext>
            </a:extLst>
          </p:cNvPr>
          <p:cNvSpPr txBox="1"/>
          <p:nvPr/>
        </p:nvSpPr>
        <p:spPr>
          <a:xfrm>
            <a:off x="1088994" y="3325431"/>
            <a:ext cx="5569258" cy="1670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然后将该边链接到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号结点的头结点中。</a:t>
            </a:r>
          </a:p>
          <a:p>
            <a:pPr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edge[2].next=head[1]; head[1]=2;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号结点关联的第一个条边为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号边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663EF90-6F14-46CC-B836-727249386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160" y="1789979"/>
            <a:ext cx="2350432" cy="71352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D152DFE-3BEE-4A10-88A0-16220620B8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160" y="3325431"/>
            <a:ext cx="3657617" cy="24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2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3F41A9-062A-4D4F-9E2A-BA308CBC0A51}"/>
              </a:ext>
            </a:extLst>
          </p:cNvPr>
          <p:cNvSpPr txBox="1"/>
          <p:nvPr/>
        </p:nvSpPr>
        <p:spPr>
          <a:xfrm>
            <a:off x="1123766" y="1489644"/>
            <a:ext cx="5405020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1 4 3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创建一条边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1—4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，权值为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，创建第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条边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edge[2]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165B28-E278-4386-910B-053EF55740BB}"/>
              </a:ext>
            </a:extLst>
          </p:cNvPr>
          <p:cNvSpPr txBox="1"/>
          <p:nvPr/>
        </p:nvSpPr>
        <p:spPr>
          <a:xfrm>
            <a:off x="1088994" y="3325431"/>
            <a:ext cx="5569258" cy="1670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然后将该边链接到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号结点的头结点中。</a:t>
            </a:r>
          </a:p>
          <a:p>
            <a:pPr>
              <a:lnSpc>
                <a:spcPct val="20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edge[2].next=head[1]; head[1]=2;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号结点关联的第一个条边为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号边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663EF90-6F14-46CC-B836-727249386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160" y="1789979"/>
            <a:ext cx="2350432" cy="71352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D152DFE-3BEE-4A10-88A0-16220620B8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160" y="3325431"/>
            <a:ext cx="3657617" cy="24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77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3F41A9-062A-4D4F-9E2A-BA308CBC0A51}"/>
              </a:ext>
            </a:extLst>
          </p:cNvPr>
          <p:cNvSpPr txBox="1"/>
          <p:nvPr/>
        </p:nvSpPr>
        <p:spPr>
          <a:xfrm>
            <a:off x="1088994" y="1427500"/>
            <a:ext cx="7513468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依次输入以下三条边，创建的链式前向星，如图所示。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2 3 8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2 4 12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3 4 9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2FFED3-37AE-4855-A2A9-E92E33218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94" y="3395315"/>
            <a:ext cx="4759927" cy="260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1070148" y="1376116"/>
            <a:ext cx="10015434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04900" y="2162627"/>
            <a:ext cx="6096000" cy="25327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Edge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next;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to;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w;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}edge[105];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记录边信息 </a:t>
            </a:r>
          </a:p>
        </p:txBody>
      </p:sp>
      <p:sp>
        <p:nvSpPr>
          <p:cNvPr id="8" name="矩形 7"/>
          <p:cNvSpPr/>
          <p:nvPr/>
        </p:nvSpPr>
        <p:spPr>
          <a:xfrm>
            <a:off x="5803260" y="1952105"/>
            <a:ext cx="5577913" cy="3782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add(int u, int v, int w)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添加边信息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edge[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].w = w;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边权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].to = v;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条边的终点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].next = head[u];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与第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条边同起点的下一条边的存储位置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head[u]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++;  //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为起点第一条边存储的位置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634144" y="1580225"/>
            <a:ext cx="0" cy="4598633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1016123" y="1903317"/>
            <a:ext cx="4665585" cy="2777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=head[u];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!=-1;i=edge[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].next){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v=edge[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].to;       //u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的邻接点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w=edge[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].w;     //u—v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的权值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85D3EC-EBD9-44BC-9934-FB6E79822EC7}"/>
              </a:ext>
            </a:extLst>
          </p:cNvPr>
          <p:cNvSpPr txBox="1"/>
          <p:nvPr/>
        </p:nvSpPr>
        <p:spPr>
          <a:xfrm>
            <a:off x="1016123" y="146454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访问一个结点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的所有邻接点</a:t>
            </a:r>
          </a:p>
        </p:txBody>
      </p:sp>
    </p:spTree>
    <p:extLst>
      <p:ext uri="{BB962C8B-B14F-4D97-AF65-F5344CB8AC3E}">
        <p14:creationId xmlns:p14="http://schemas.microsoft.com/office/powerpoint/2010/main" val="379480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学术演示文稿、细条纹和丝带设计（宽屏）</Template>
  <TotalTime>0</TotalTime>
  <Words>1820</Words>
  <Application>Microsoft Office PowerPoint</Application>
  <PresentationFormat>宽屏</PresentationFormat>
  <Paragraphs>132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微软雅黑</vt:lpstr>
      <vt:lpstr>Arial</vt:lpstr>
      <vt:lpstr>Euphemia</vt:lpstr>
      <vt:lpstr>Times New Roman</vt:lpstr>
      <vt:lpstr>Wingdings</vt:lpstr>
      <vt:lpstr>学术文献 16x9</vt:lpstr>
      <vt:lpstr>数据结构——链表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链表</vt:lpstr>
      <vt:lpstr>链表</vt:lpstr>
      <vt:lpstr>链表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链式前向星</vt:lpstr>
      <vt:lpstr>链式前向星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created xsi:type="dcterms:W3CDTF">2017-11-04T04:56:00Z</dcterms:created>
  <dcterms:modified xsi:type="dcterms:W3CDTF">2021-07-01T02:33:52Z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2052-10.1.0.7520</vt:lpwstr>
  </property>
</Properties>
</file>