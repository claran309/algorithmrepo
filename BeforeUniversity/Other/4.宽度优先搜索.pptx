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31"/>
  </p:notesMasterIdLst>
  <p:handoutMasterIdLst>
    <p:handoutMasterId r:id="rId32"/>
  </p:handoutMasterIdLst>
  <p:sldIdLst>
    <p:sldId id="256" r:id="rId2"/>
    <p:sldId id="612" r:id="rId3"/>
    <p:sldId id="613" r:id="rId4"/>
    <p:sldId id="614" r:id="rId5"/>
    <p:sldId id="642" r:id="rId6"/>
    <p:sldId id="677" r:id="rId7"/>
    <p:sldId id="682" r:id="rId8"/>
    <p:sldId id="683" r:id="rId9"/>
    <p:sldId id="684" r:id="rId10"/>
    <p:sldId id="685" r:id="rId11"/>
    <p:sldId id="686" r:id="rId12"/>
    <p:sldId id="687" r:id="rId13"/>
    <p:sldId id="688" r:id="rId14"/>
    <p:sldId id="689" r:id="rId15"/>
    <p:sldId id="690" r:id="rId16"/>
    <p:sldId id="691" r:id="rId17"/>
    <p:sldId id="692" r:id="rId18"/>
    <p:sldId id="693" r:id="rId19"/>
    <p:sldId id="680" r:id="rId20"/>
    <p:sldId id="694" r:id="rId21"/>
    <p:sldId id="698" r:id="rId22"/>
    <p:sldId id="681" r:id="rId23"/>
    <p:sldId id="700" r:id="rId24"/>
    <p:sldId id="701" r:id="rId25"/>
    <p:sldId id="702" r:id="rId26"/>
    <p:sldId id="695" r:id="rId27"/>
    <p:sldId id="697" r:id="rId28"/>
    <p:sldId id="699" r:id="rId29"/>
    <p:sldId id="502" r:id="rId30"/>
  </p:sldIdLst>
  <p:sldSz cx="12192000" cy="6858000"/>
  <p:notesSz cx="6858000" cy="9144000"/>
  <p:defaultTextStyle>
    <a:defPPr rtl="0"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9E9"/>
    <a:srgbClr val="FFFF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381" autoAdjust="0"/>
    <p:restoredTop sz="94660" autoAdjust="0"/>
  </p:normalViewPr>
  <p:slideViewPr>
    <p:cSldViewPr snapToGrid="0" showGuides="1">
      <p:cViewPr varScale="1">
        <p:scale>
          <a:sx n="86" d="100"/>
          <a:sy n="86" d="100"/>
        </p:scale>
        <p:origin x="341" y="6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0" d="100"/>
        <a:sy n="20" d="100"/>
      </p:scale>
      <p:origin x="0" y="0"/>
    </p:cViewPr>
  </p:sorterViewPr>
  <p:notesViewPr>
    <p:cSldViewPr snapToGrid="0">
      <p:cViewPr varScale="1">
        <p:scale>
          <a:sx n="99" d="100"/>
          <a:sy n="99" d="100"/>
        </p:scale>
        <p:origin x="3570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algn="r" rtl="0"/>
            <a:fld id="{91C0301E-2321-4F52-B85E-5901506D265C}" type="datetime1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2021/5/24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algn="r" rtl="0"/>
            <a:fld id="{06834459-7356-44BF-850D-8B30C4FB3B6B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‹#›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0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229B22C3-6CB1-491B-AD00-E0837F23A3F3}" type="datetime1">
              <a:rPr lang="zh-CN" altLang="en-US" smtClean="0"/>
              <a:t>2021/5/24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zh-CN" altLang="en-US" noProof="0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CN" altLang="en-US" noProof="0" dirty="0"/>
              <a:t>单击此处编辑母版文本样式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rtl="0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A3C37BE-C303-496D-B5CD-85F2937540FC}" type="slidenum">
              <a:rPr lang="en-US" altLang="zh-CN" smtClean="0"/>
              <a:t>‹#›</a:t>
            </a:fld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 altLang="zh-CN" smtClean="0"/>
              <a:t>1</a:t>
            </a:fld>
            <a:endParaRPr lang="en-US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/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10096500" cy="2219691"/>
          </a:xfrm>
        </p:spPr>
        <p:txBody>
          <a:bodyPr rtlCol="0" anchor="ctr">
            <a:normAutofit/>
          </a:bodyPr>
          <a:lstStyle>
            <a:lvl1pPr algn="l" rtl="0">
              <a:defRPr sz="4400" cap="all" baseline="0"/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04898" y="4511784"/>
            <a:ext cx="10096501" cy="955565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800"/>
            </a:lvl1pPr>
            <a:lvl2pPr marL="457200" indent="0" algn="ctr" rtl="0">
              <a:buNone/>
              <a:defRPr sz="2000"/>
            </a:lvl2pPr>
            <a:lvl3pPr marL="914400" indent="0" algn="ctr" rtl="0">
              <a:buNone/>
              <a:defRPr sz="1800"/>
            </a:lvl3pPr>
            <a:lvl4pPr marL="1371600" indent="0" algn="ctr" rtl="0">
              <a:buNone/>
              <a:defRPr sz="1600"/>
            </a:lvl4pPr>
            <a:lvl5pPr marL="1828800" indent="0" algn="ctr" rtl="0">
              <a:buNone/>
              <a:defRPr sz="1600"/>
            </a:lvl5pPr>
            <a:lvl6pPr marL="2286000" indent="0" algn="ctr" rtl="0">
              <a:buNone/>
              <a:defRPr sz="1600"/>
            </a:lvl6pPr>
            <a:lvl7pPr marL="2743200" indent="0" algn="ctr" rtl="0">
              <a:buNone/>
              <a:defRPr sz="1600"/>
            </a:lvl7pPr>
            <a:lvl8pPr marL="3200400" indent="0" algn="ctr" rtl="0">
              <a:buNone/>
              <a:defRPr sz="1600"/>
            </a:lvl8pPr>
            <a:lvl9pPr marL="3657600" indent="0" algn="ctr" rtl="0">
              <a:buNone/>
              <a:defRPr sz="1600"/>
            </a:lvl9pPr>
          </a:lstStyle>
          <a:p>
            <a:pPr rtl="0"/>
            <a:r>
              <a:rPr lang="zh-CN" altLang="en-US" noProof="0"/>
              <a:t>单击此处编辑母版副标题样式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A7392AAC-879E-4B39-8824-AF6B730A809E}" type="datetime1">
              <a:rPr lang="zh-CN" altLang="en-US" smtClean="0"/>
              <a:t>2021/5/24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en-US" altLang="zh-CN" dirty="0"/>
          </a:p>
        </p:txBody>
      </p:sp>
      <p:pic>
        <p:nvPicPr>
          <p:cNvPr id="11" name="图 10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24445" y="0"/>
            <a:ext cx="1747524" cy="22920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9BA78444-6099-4C0A-A3A9-C6F3C5D7F289}" type="datetime1">
              <a:rPr lang="zh-CN" altLang="en-US" smtClean="0"/>
              <a:t>2021/5/24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包含图片的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 12"/>
          <p:cNvGrpSpPr/>
          <p:nvPr/>
        </p:nvGrpSpPr>
        <p:grpSpPr>
          <a:xfrm rot="10800000">
            <a:off x="0" y="5645510"/>
            <a:ext cx="12192000" cy="63125"/>
            <a:chOff x="507492" y="1501519"/>
            <a:chExt cx="8129016" cy="63125"/>
          </a:xfrm>
        </p:grpSpPr>
        <p:cxnSp>
          <p:nvCxnSpPr>
            <p:cNvPr id="17" name="直接连接符 16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组 13"/>
          <p:cNvGrpSpPr/>
          <p:nvPr/>
        </p:nvGrpSpPr>
        <p:grpSpPr>
          <a:xfrm>
            <a:off x="0" y="1143000"/>
            <a:ext cx="12192000" cy="63125"/>
            <a:chOff x="507492" y="1501519"/>
            <a:chExt cx="8129016" cy="63125"/>
          </a:xfrm>
        </p:grpSpPr>
        <p:cxnSp>
          <p:nvCxnSpPr>
            <p:cNvPr id="15" name="直接连接符​ 14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矩形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5734050" cy="2219691"/>
          </a:xfrm>
        </p:spPr>
        <p:txBody>
          <a:bodyPr rtlCol="0" anchor="ctr">
            <a:normAutofit/>
          </a:bodyPr>
          <a:lstStyle>
            <a:lvl1pPr algn="l" rtl="0">
              <a:defRPr sz="4400" cap="all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04900" y="4511784"/>
            <a:ext cx="5734050" cy="955565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 rtl="0">
              <a:buNone/>
              <a:defRPr sz="2000"/>
            </a:lvl2pPr>
            <a:lvl3pPr marL="914400" indent="0" algn="ctr" rtl="0">
              <a:buNone/>
              <a:defRPr sz="1800"/>
            </a:lvl3pPr>
            <a:lvl4pPr marL="1371600" indent="0" algn="ctr" rtl="0">
              <a:buNone/>
              <a:defRPr sz="1600"/>
            </a:lvl4pPr>
            <a:lvl5pPr marL="1828800" indent="0" algn="ctr" rtl="0">
              <a:buNone/>
              <a:defRPr sz="1600"/>
            </a:lvl5pPr>
            <a:lvl6pPr marL="2286000" indent="0" algn="ctr" rtl="0">
              <a:buNone/>
              <a:defRPr sz="1600"/>
            </a:lvl6pPr>
            <a:lvl7pPr marL="2743200" indent="0" algn="ctr" rtl="0">
              <a:buNone/>
              <a:defRPr sz="1600"/>
            </a:lvl7pPr>
            <a:lvl8pPr marL="3200400" indent="0" algn="ctr" rtl="0">
              <a:buNone/>
              <a:defRPr sz="1600"/>
            </a:lvl8pPr>
            <a:lvl9pPr marL="3657600" indent="0" algn="ctr" rtl="0">
              <a:buNone/>
              <a:defRPr sz="1600"/>
            </a:lvl9pPr>
          </a:lstStyle>
          <a:p>
            <a:pPr rtl="0"/>
            <a:r>
              <a:rPr lang="zh-CN" altLang="en-US" noProof="0"/>
              <a:t>单击此处编辑母版副标题样式</a:t>
            </a:r>
            <a:endParaRPr lang="zh-CN" altLang="en-US" noProof="0" dirty="0"/>
          </a:p>
        </p:txBody>
      </p:sp>
      <p:pic>
        <p:nvPicPr>
          <p:cNvPr id="10" name="图 9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25880" y="0"/>
            <a:ext cx="1747524" cy="2292094"/>
          </a:xfrm>
          <a:prstGeom prst="rect">
            <a:avLst/>
          </a:prstGeom>
        </p:spPr>
      </p:pic>
      <p:sp>
        <p:nvSpPr>
          <p:cNvPr id="11" name="图片占位符 10"/>
          <p:cNvSpPr>
            <a:spLocks noGrp="1"/>
          </p:cNvSpPr>
          <p:nvPr>
            <p:ph type="pic" sz="quarter" idx="13"/>
          </p:nvPr>
        </p:nvSpPr>
        <p:spPr>
          <a:xfrm>
            <a:off x="6981063" y="1310656"/>
            <a:ext cx="5210937" cy="4208604"/>
          </a:xfrm>
          <a:solidFill>
            <a:schemeClr val="tx1">
              <a:lumMod val="20000"/>
              <a:lumOff val="80000"/>
            </a:schemeClr>
          </a:solidFill>
        </p:spPr>
        <p:txBody>
          <a:bodyPr tIns="1005840" rtlCol="0"/>
          <a:lstStyle>
            <a:lvl1pPr marL="0" indent="0" algn="ctr" rtl="0">
              <a:buNone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sp>
        <p:nvSpPr>
          <p:cNvPr id="19" name="说明文字"/>
          <p:cNvSpPr/>
          <p:nvPr/>
        </p:nvSpPr>
        <p:spPr>
          <a:xfrm>
            <a:off x="12344400" y="0"/>
            <a:ext cx="1295400" cy="6858000"/>
          </a:xfrm>
          <a:prstGeom prst="roundRect">
            <a:avLst>
              <a:gd name="adj" fmla="val 9717"/>
            </a:avLst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rtl="0"/>
            <a:r>
              <a:rPr lang="zh-CN" altLang="en-US" sz="1200" b="1" i="1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注意：</a:t>
            </a:r>
          </a:p>
          <a:p>
            <a:pPr rtl="0"/>
            <a:r>
              <a:rPr lang="zh-CN" altLang="en-US" sz="1200" i="1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若要更改此幻灯片上的图像，请选择该图片，并将其删除。然后单击占位符中的图片图标以插入自己的图像。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 7"/>
          <p:cNvGrpSpPr/>
          <p:nvPr/>
        </p:nvGrpSpPr>
        <p:grpSpPr>
          <a:xfrm>
            <a:off x="0" y="2514600"/>
            <a:ext cx="12192000" cy="3194035"/>
            <a:chOff x="647402" y="2514600"/>
            <a:chExt cx="10838688" cy="3194035"/>
          </a:xfrm>
        </p:grpSpPr>
        <p:grpSp>
          <p:nvGrpSpPr>
            <p:cNvPr id="9" name="组 8"/>
            <p:cNvGrpSpPr/>
            <p:nvPr/>
          </p:nvGrpSpPr>
          <p:grpSpPr>
            <a:xfrm>
              <a:off x="647402" y="2514600"/>
              <a:ext cx="10838688" cy="63125"/>
              <a:chOff x="507492" y="1501519"/>
              <a:chExt cx="8129016" cy="63125"/>
            </a:xfrm>
          </p:grpSpPr>
          <p:cxnSp>
            <p:nvCxnSpPr>
              <p:cNvPr id="14" name="直接连接符 13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​ 14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矩形 9"/>
            <p:cNvSpPr/>
            <p:nvPr/>
          </p:nvSpPr>
          <p:spPr>
            <a:xfrm>
              <a:off x="647402" y="2640850"/>
              <a:ext cx="10838688" cy="294153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 noProof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" name="组 10"/>
            <p:cNvGrpSpPr/>
            <p:nvPr/>
          </p:nvGrpSpPr>
          <p:grpSpPr>
            <a:xfrm rot="10800000">
              <a:off x="647402" y="5645510"/>
              <a:ext cx="10838688" cy="63125"/>
              <a:chOff x="507492" y="1501519"/>
              <a:chExt cx="8129016" cy="63125"/>
            </a:xfrm>
          </p:grpSpPr>
          <p:cxnSp>
            <p:nvCxnSpPr>
              <p:cNvPr id="12" name="直接连接符​ 11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​​ 12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04899" y="2971806"/>
            <a:ext cx="10071099" cy="1684150"/>
          </a:xfrm>
        </p:spPr>
        <p:txBody>
          <a:bodyPr rtlCol="0" anchor="ctr">
            <a:normAutofit/>
          </a:bodyPr>
          <a:lstStyle>
            <a:lvl1pPr algn="l" rtl="0">
              <a:defRPr sz="4400" cap="all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04899" y="4655956"/>
            <a:ext cx="10071099" cy="50975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l" rtl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AF5F6A19-70BF-4380-9A40-68C9536408C6}" type="datetime1">
              <a:rPr lang="zh-CN" altLang="en-US" smtClean="0"/>
              <a:t>2021/5/24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zh-CN" altLang="en-US" dirty="0"/>
          </a:p>
        </p:txBody>
      </p:sp>
      <p:pic>
        <p:nvPicPr>
          <p:cNvPr id="7" name="图 6"/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880" y="0"/>
            <a:ext cx="1783188" cy="29718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04900" y="1600200"/>
            <a:ext cx="4914900" cy="4571999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l" rtl="0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  <a:lvl9pPr algn="l" rtl="0">
              <a:defRPr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4914900" cy="4571999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l" rtl="0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​</a:t>
            </a:r>
            <a:fld id="{6017EB90-196C-4C15-BD31-13E0E0436C73}" type="datetime1">
              <a:rPr lang="zh-CN" altLang="en-US" dirty="0" smtClean="0"/>
              <a:t>2021/5/24</a:t>
            </a:fld>
            <a:r>
              <a:rPr lang="zh-CN" altLang="en-US" dirty="0"/>
              <a:t>​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4919472" cy="823911"/>
          </a:xfrm>
        </p:spPr>
        <p:txBody>
          <a:bodyPr rtlCol="0" anchor="ctr"/>
          <a:lstStyle>
            <a:lvl1pPr marL="0" indent="0" algn="l" rtl="0">
              <a:spcBef>
                <a:spcPts val="0"/>
              </a:spcBef>
              <a:buNone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000" b="1"/>
            </a:lvl2pPr>
            <a:lvl3pPr marL="914400" indent="0" algn="l" rtl="0">
              <a:buNone/>
              <a:defRPr sz="1800" b="1"/>
            </a:lvl3pPr>
            <a:lvl4pPr marL="1371600" indent="0" algn="l" rtl="0">
              <a:buNone/>
              <a:defRPr sz="1600" b="1"/>
            </a:lvl4pPr>
            <a:lvl5pPr marL="1828800" indent="0" algn="l" rtl="0">
              <a:buNone/>
              <a:defRPr sz="1600" b="1"/>
            </a:lvl5pPr>
            <a:lvl6pPr marL="2286000" indent="0" algn="l" rtl="0">
              <a:buNone/>
              <a:defRPr sz="1600" b="1"/>
            </a:lvl6pPr>
            <a:lvl7pPr marL="2743200" indent="0" algn="l" rtl="0">
              <a:buNone/>
              <a:defRPr sz="1600" b="1"/>
            </a:lvl7pPr>
            <a:lvl8pPr marL="3200400" indent="0" algn="l" rtl="0">
              <a:buNone/>
              <a:defRPr sz="1600" b="1"/>
            </a:lvl8pPr>
            <a:lvl9pPr marL="3657600" indent="0" algn="l" rtl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04900" y="2424112"/>
            <a:ext cx="4919472" cy="3748088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66110" y="1600200"/>
            <a:ext cx="4919472" cy="823911"/>
          </a:xfrm>
        </p:spPr>
        <p:txBody>
          <a:bodyPr rtlCol="0" anchor="ctr"/>
          <a:lstStyle>
            <a:lvl1pPr marL="0" indent="0" algn="l" rtl="0">
              <a:spcBef>
                <a:spcPts val="0"/>
              </a:spcBef>
              <a:buNone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000" b="1"/>
            </a:lvl2pPr>
            <a:lvl3pPr marL="914400" indent="0" algn="l" rtl="0">
              <a:buNone/>
              <a:defRPr sz="1800" b="1"/>
            </a:lvl3pPr>
            <a:lvl4pPr marL="1371600" indent="0" algn="l" rtl="0">
              <a:buNone/>
              <a:defRPr sz="1600" b="1"/>
            </a:lvl4pPr>
            <a:lvl5pPr marL="1828800" indent="0" algn="l" rtl="0">
              <a:buNone/>
              <a:defRPr sz="1600" b="1"/>
            </a:lvl5pPr>
            <a:lvl6pPr marL="2286000" indent="0" algn="l" rtl="0">
              <a:buNone/>
              <a:defRPr sz="1600" b="1"/>
            </a:lvl6pPr>
            <a:lvl7pPr marL="2743200" indent="0" algn="l" rtl="0">
              <a:buNone/>
              <a:defRPr sz="1600" b="1"/>
            </a:lvl7pPr>
            <a:lvl8pPr marL="3200400" indent="0" algn="l" rtl="0">
              <a:buNone/>
              <a:defRPr sz="1600" b="1"/>
            </a:lvl8pPr>
            <a:lvl9pPr marL="3657600" indent="0" algn="l" rtl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66110" y="2424112"/>
            <a:ext cx="4919472" cy="3748088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C2EC0F41-B48F-4298-A7F6-618EB9D22195}" type="datetime1">
              <a:rPr lang="zh-CN" altLang="en-US" smtClean="0"/>
              <a:t>2021/5/24</a:t>
            </a:fld>
            <a:endParaRPr lang="zh-CN" altLang="en-US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7DB2D836-56E8-4B15-857C-14B1A5B3B67B}" type="datetime1">
              <a:rPr lang="zh-CN" altLang="en-US" smtClean="0"/>
              <a:t>2021/5/24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038D929F-7D8C-4CC3-8AC7-BB9B8FE2DEBF}" type="datetime1">
              <a:rPr lang="zh-CN" altLang="en-US" smtClean="0"/>
              <a:t>2021/5/24</a:t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带题注的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 anchor="b"/>
          <a:lstStyle>
            <a:lvl1pPr algn="l" rtl="0">
              <a:defRPr sz="3200"/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41848" y="1600199"/>
            <a:ext cx="5445252" cy="4572001"/>
          </a:xfrm>
        </p:spPr>
        <p:txBody>
          <a:bodyPr rtlCol="0">
            <a:normAutofit/>
          </a:bodyPr>
          <a:lstStyle>
            <a:lvl1pPr algn="l" rtl="0">
              <a:defRPr sz="2000"/>
            </a:lvl1pPr>
            <a:lvl2pPr algn="l" rtl="0">
              <a:defRPr sz="1600"/>
            </a:lvl2pPr>
            <a:lvl3pPr algn="l" rtl="0">
              <a:defRPr sz="1600"/>
            </a:lvl3pPr>
            <a:lvl4pPr algn="l" rtl="0">
              <a:defRPr sz="1400"/>
            </a:lvl4pPr>
            <a:lvl5pPr algn="l" rtl="0">
              <a:defRPr sz="1400"/>
            </a:lvl5pPr>
            <a:lvl6pPr algn="l" rtl="0">
              <a:defRPr sz="1400"/>
            </a:lvl6pPr>
            <a:lvl7pPr algn="l" rtl="0">
              <a:defRPr sz="1400"/>
            </a:lvl7pPr>
            <a:lvl8pPr algn="l" rtl="0">
              <a:defRPr sz="1400"/>
            </a:lvl8pPr>
            <a:lvl9pPr algn="l" rtl="0">
              <a:defRPr sz="14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4384548" cy="45720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1200"/>
              </a:spcBef>
              <a:buNone/>
              <a:defRPr sz="1800"/>
            </a:lvl1pPr>
            <a:lvl2pPr marL="457200" indent="0" algn="l" rtl="0">
              <a:buNone/>
              <a:defRPr sz="1400"/>
            </a:lvl2pPr>
            <a:lvl3pPr marL="914400" indent="0" algn="l" rtl="0">
              <a:buNone/>
              <a:defRPr sz="1200"/>
            </a:lvl3pPr>
            <a:lvl4pPr marL="1371600" indent="0" algn="l" rtl="0">
              <a:buNone/>
              <a:defRPr sz="1000"/>
            </a:lvl4pPr>
            <a:lvl5pPr marL="1828800" indent="0" algn="l" rtl="0">
              <a:buNone/>
              <a:defRPr sz="1000"/>
            </a:lvl5pPr>
            <a:lvl6pPr marL="2286000" indent="0" algn="l" rtl="0">
              <a:buNone/>
              <a:defRPr sz="1000"/>
            </a:lvl6pPr>
            <a:lvl7pPr marL="2743200" indent="0" algn="l" rtl="0">
              <a:buNone/>
              <a:defRPr sz="1000"/>
            </a:lvl7pPr>
            <a:lvl8pPr marL="3200400" indent="0" algn="l" rtl="0">
              <a:buNone/>
              <a:defRPr sz="1000"/>
            </a:lvl8pPr>
            <a:lvl9pPr marL="3657600" indent="0" algn="l" rtl="0">
              <a:buNone/>
              <a:defRPr sz="10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F7892ACC-8BC8-4C9E-9D2B-0669DA5038B6}" type="datetime1">
              <a:rPr lang="zh-CN" altLang="en-US" smtClean="0"/>
              <a:t>2021/5/24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带题注的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 anchor="b"/>
          <a:lstStyle>
            <a:lvl1pPr algn="l" rtl="0">
              <a:defRPr sz="3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654671" y="1600199"/>
            <a:ext cx="6430912" cy="4572001"/>
          </a:xfrm>
        </p:spPr>
        <p:txBody>
          <a:bodyPr tIns="1188720" rtlCol="0">
            <a:normAutofit/>
          </a:bodyPr>
          <a:lstStyle>
            <a:lvl1pPr marL="0" indent="0" algn="ctr" rtl="0">
              <a:buNone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800"/>
            </a:lvl2pPr>
            <a:lvl3pPr marL="914400" indent="0" algn="l" rtl="0">
              <a:buNone/>
              <a:defRPr sz="2400"/>
            </a:lvl3pPr>
            <a:lvl4pPr marL="1371600" indent="0" algn="l" rtl="0">
              <a:buNone/>
              <a:defRPr sz="2000"/>
            </a:lvl4pPr>
            <a:lvl5pPr marL="1828800" indent="0" algn="l" rtl="0">
              <a:buNone/>
              <a:defRPr sz="2000"/>
            </a:lvl5pPr>
            <a:lvl6pPr marL="2286000" indent="0" algn="l" rtl="0">
              <a:buNone/>
              <a:defRPr sz="2000"/>
            </a:lvl6pPr>
            <a:lvl7pPr marL="2743200" indent="0" algn="l" rtl="0">
              <a:buNone/>
              <a:defRPr sz="2000"/>
            </a:lvl7pPr>
            <a:lvl8pPr marL="3200400" indent="0" algn="l" rtl="0">
              <a:buNone/>
              <a:defRPr sz="2000"/>
            </a:lvl8pPr>
            <a:lvl9pPr marL="3657600" indent="0" algn="l" rtl="0">
              <a:buNone/>
              <a:defRPr sz="2000"/>
            </a:lvl9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3396996" cy="45720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1200"/>
              </a:spcBef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1400"/>
            </a:lvl2pPr>
            <a:lvl3pPr marL="914400" indent="0" algn="l" rtl="0">
              <a:buNone/>
              <a:defRPr sz="1200"/>
            </a:lvl3pPr>
            <a:lvl4pPr marL="1371600" indent="0" algn="l" rtl="0">
              <a:buNone/>
              <a:defRPr sz="1000"/>
            </a:lvl4pPr>
            <a:lvl5pPr marL="1828800" indent="0" algn="l" rtl="0">
              <a:buNone/>
              <a:defRPr sz="1000"/>
            </a:lvl5pPr>
            <a:lvl6pPr marL="2286000" indent="0" algn="l" rtl="0">
              <a:buNone/>
              <a:defRPr sz="1000"/>
            </a:lvl6pPr>
            <a:lvl7pPr marL="2743200" indent="0" algn="l" rtl="0">
              <a:buNone/>
              <a:defRPr sz="1000"/>
            </a:lvl7pPr>
            <a:lvl8pPr marL="3200400" indent="0" algn="l" rtl="0">
              <a:buNone/>
              <a:defRPr sz="1000"/>
            </a:lvl8pPr>
            <a:lvl9pPr marL="3657600" indent="0" algn="l" rtl="0">
              <a:buNone/>
              <a:defRPr sz="10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118C275-B304-48F5-8C4F-015CBCF4E7C1}" type="datetime1">
              <a:rPr lang="zh-CN" altLang="en-US" smtClean="0"/>
              <a:t>2021/5/24</a:t>
            </a:fld>
            <a:r>
              <a:rPr lang="zh-CN" altLang="en-US" dirty="0"/>
              <a:t>​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8791AA9-DDCB-4BA8-AD1D-963A3AA00622}" type="datetime1">
              <a:rPr lang="zh-CN" altLang="en-US" smtClean="0"/>
              <a:t>2021/5/24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垂直标题 1"/>
          <p:cNvSpPr>
            <a:spLocks noGrp="1"/>
          </p:cNvSpPr>
          <p:nvPr>
            <p:ph type="title" orient="vert"/>
          </p:nvPr>
        </p:nvSpPr>
        <p:spPr>
          <a:xfrm>
            <a:off x="9372600" y="365125"/>
            <a:ext cx="1714500" cy="5811838"/>
          </a:xfrm>
        </p:spPr>
        <p:txBody>
          <a:bodyPr vert="eaVert"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04900" y="365125"/>
            <a:ext cx="8098896" cy="5811838"/>
          </a:xfrm>
        </p:spPr>
        <p:txBody>
          <a:bodyPr vert="eaVert" rtlCol="0"/>
          <a:lstStyle/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170426F-E661-472B-BE42-25E072CD46D9}" type="datetime1">
              <a:rPr lang="zh-CN" altLang="en-US" smtClean="0"/>
              <a:t>2021/5/24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en-US" altLang="zh-CN" dirty="0"/>
          </a:p>
        </p:txBody>
      </p:sp>
      <p:grpSp>
        <p:nvGrpSpPr>
          <p:cNvPr id="7" name="组 6"/>
          <p:cNvGrpSpPr/>
          <p:nvPr/>
        </p:nvGrpSpPr>
        <p:grpSpPr>
          <a:xfrm rot="5400000">
            <a:off x="6514047" y="3228843"/>
            <a:ext cx="5632704" cy="84403"/>
            <a:chOff x="1073150" y="1219201"/>
            <a:chExt cx="10058400" cy="63125"/>
          </a:xfrm>
        </p:grpSpPr>
        <p:cxnSp>
          <p:nvCxnSpPr>
            <p:cNvPr id="8" name="直接连接符 7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​ 8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/>
          <a:p>
            <a:pPr rtl="0"/>
            <a:r>
              <a:rPr lang="zh-CN" altLang="en-US" noProof="0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zh-CN" altLang="en-US" noProof="0" dirty="0"/>
              <a:t>单击此处编辑母版文本样式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  <a:p>
            <a:pPr lvl="5" rtl="0"/>
            <a:r>
              <a:rPr lang="zh-CN" altLang="en-US" noProof="0" dirty="0"/>
              <a:t>第六级</a:t>
            </a:r>
          </a:p>
          <a:p>
            <a:pPr lvl="6" rtl="0"/>
            <a:r>
              <a:rPr lang="zh-CN" altLang="en-US" noProof="0" dirty="0"/>
              <a:t>第七级</a:t>
            </a:r>
          </a:p>
          <a:p>
            <a:pPr lvl="7" rtl="0"/>
            <a:r>
              <a:rPr lang="zh-CN" altLang="en-US" noProof="0" dirty="0"/>
              <a:t>第八级</a:t>
            </a:r>
          </a:p>
          <a:p>
            <a:pPr lvl="8" rtl="0"/>
            <a:r>
              <a:rPr lang="zh-CN" altLang="en-US" noProof="0" dirty="0"/>
              <a:t>第九级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 rtl="0">
              <a:defRPr sz="120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​</a:t>
            </a:r>
            <a:fld id="{660B6A15-7713-4A08-BBFD-F297CCC2B976}" type="datetime1">
              <a:rPr lang="zh-CN" altLang="en-US" dirty="0" smtClean="0"/>
              <a:t>2021/5/24</a:t>
            </a:fld>
            <a:r>
              <a:rPr lang="zh-CN" altLang="en-US" dirty="0"/>
              <a:t>​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 rtl="0">
              <a:defRPr sz="120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256782" y="6356351"/>
            <a:ext cx="18288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 rtl="0">
              <a:defRPr sz="120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r"/>
            <a:fld id="{0FF54DE5-C571-48E8-A5BC-B369434E2F44}" type="slidenum">
              <a:rPr lang="en-US" altLang="zh-CN" noProof="0" smtClean="0"/>
              <a:t>‹#›</a:t>
            </a:fld>
            <a:endParaRPr lang="zh-CN" altLang="en-US" noProof="0" dirty="0"/>
          </a:p>
        </p:txBody>
      </p:sp>
      <p:grpSp>
        <p:nvGrpSpPr>
          <p:cNvPr id="15" name="组 14"/>
          <p:cNvGrpSpPr/>
          <p:nvPr/>
        </p:nvGrpSpPr>
        <p:grpSpPr>
          <a:xfrm>
            <a:off x="1103376" y="1219201"/>
            <a:ext cx="9985248" cy="84403"/>
            <a:chOff x="1073150" y="1219201"/>
            <a:chExt cx="10058400" cy="63125"/>
          </a:xfrm>
        </p:grpSpPr>
        <p:cxnSp>
          <p:nvCxnSpPr>
            <p:cNvPr id="13" name="直接连接符​​ 12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/>
          </p:nvPr>
        </p:nvSpPr>
        <p:spPr>
          <a:xfrm>
            <a:off x="1535837" y="2147652"/>
            <a:ext cx="3675102" cy="1954514"/>
          </a:xfrm>
        </p:spPr>
        <p:txBody>
          <a:bodyPr rtlCol="0" anchor="ctr"/>
          <a:lstStyle/>
          <a:p>
            <a:pPr rtl="0"/>
            <a:r>
              <a:rPr lang="zh-CN" altLang="en-US" dirty="0"/>
              <a:t>宽度优先搜索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占位符 3" descr="桌上一本打开的书，书架在背景中模糊显示"/>
          <p:cNvPicPr>
            <a:picLocks noGrp="1" noChangeAspect="1"/>
          </p:cNvPicPr>
          <p:nvPr>
            <p:ph type="pic" sz="quarter" idx="13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90" r="8890"/>
          <a:stretch>
            <a:fillRect/>
          </a:stretch>
        </p:blipFill>
        <p:spPr/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学习目标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23124" y="1582702"/>
            <a:ext cx="9999260" cy="15878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74675">
              <a:lnSpc>
                <a:spcPts val="3200"/>
              </a:lnSpc>
              <a:spcAft>
                <a:spcPts val="1200"/>
              </a:spcAft>
              <a:buClr>
                <a:schemeClr val="accent2"/>
              </a:buClr>
              <a:buSzPct val="80000"/>
            </a:pPr>
            <a:r>
              <a:rPr lang="en-US" altLang="zh-CN" sz="2000" dirty="0"/>
              <a:t>1. </a:t>
            </a:r>
            <a:r>
              <a:rPr lang="zh-CN" altLang="en-US" sz="2000" dirty="0"/>
              <a:t>理解与体会搜索算法中的相关概念。</a:t>
            </a:r>
          </a:p>
          <a:p>
            <a:pPr indent="574675">
              <a:lnSpc>
                <a:spcPts val="3200"/>
              </a:lnSpc>
              <a:spcAft>
                <a:spcPts val="1200"/>
              </a:spcAft>
              <a:buClr>
                <a:schemeClr val="accent2"/>
              </a:buClr>
              <a:buSzPct val="80000"/>
            </a:pPr>
            <a:r>
              <a:rPr lang="en-US" altLang="zh-CN" sz="2000" dirty="0"/>
              <a:t>2. </a:t>
            </a:r>
            <a:r>
              <a:rPr lang="zh-CN" altLang="en-US" sz="2000" dirty="0"/>
              <a:t>掌握广度优先搜索的基本思想和算法框架。</a:t>
            </a:r>
          </a:p>
          <a:p>
            <a:pPr indent="574675">
              <a:lnSpc>
                <a:spcPts val="3200"/>
              </a:lnSpc>
              <a:spcAft>
                <a:spcPts val="1200"/>
              </a:spcAft>
              <a:buClr>
                <a:schemeClr val="accent2"/>
              </a:buClr>
              <a:buSzPct val="80000"/>
            </a:pPr>
            <a:r>
              <a:rPr lang="en-US" altLang="zh-CN" sz="2000" dirty="0"/>
              <a:t>3. </a:t>
            </a:r>
            <a:r>
              <a:rPr lang="zh-CN" altLang="en-US" sz="2000" dirty="0"/>
              <a:t>熟练应用广度优先搜索求解一些实际问题。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搜索</a:t>
            </a:r>
          </a:p>
        </p:txBody>
      </p:sp>
      <p:sp>
        <p:nvSpPr>
          <p:cNvPr id="5" name="矩形 4"/>
          <p:cNvSpPr/>
          <p:nvPr/>
        </p:nvSpPr>
        <p:spPr>
          <a:xfrm>
            <a:off x="1104900" y="1602816"/>
            <a:ext cx="10060582" cy="33327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搜索是计算机程序设计中一种最基本、最常用的算法。搜索算法是直接基于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计算机高速运算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的特点而使用的计算机求解方法。</a:t>
            </a: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它是从问题的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初始状态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出发，根据其中的约束条件，按照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一定的策略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，有序推进，不断深入，对于达到的所有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目标状态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（解空间），一一验证，找到符合条件的解（可行解），或者找出所有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可行解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中的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最优解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按照推进的控制策略，搜索一般分为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宽度优先搜索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深度优先搜索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宽度优先搜索</a:t>
            </a:r>
          </a:p>
        </p:txBody>
      </p:sp>
      <p:sp>
        <p:nvSpPr>
          <p:cNvPr id="4" name="矩形 3"/>
          <p:cNvSpPr/>
          <p:nvPr/>
        </p:nvSpPr>
        <p:spPr>
          <a:xfrm>
            <a:off x="1042756" y="1483014"/>
            <a:ext cx="9980682" cy="1116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宽度优先搜索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BFS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Breadth First Search)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是一个针对图和树的遍历算法。发明于上世纪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50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年代末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60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年代初，最初用于解决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迷宫最短路径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网络路由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等问题。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3004" y="2909647"/>
            <a:ext cx="3630821" cy="349325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宽度优先搜索</a:t>
            </a:r>
            <a:endParaRPr lang="zh-CN" altLang="zh-CN" dirty="0"/>
          </a:p>
        </p:txBody>
      </p:sp>
      <p:sp>
        <p:nvSpPr>
          <p:cNvPr id="4" name="文本框 3"/>
          <p:cNvSpPr txBox="1"/>
          <p:nvPr/>
        </p:nvSpPr>
        <p:spPr>
          <a:xfrm>
            <a:off x="1034513" y="1473971"/>
            <a:ext cx="9911654" cy="333277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BFS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使用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队列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(queue)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来实施算法过程，队列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(queue)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有着先进先出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FIFO(First Input First Output)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的特性，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BFS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操作步骤如下： （ 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时间复杂度：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O(n)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</a:t>
            </a:r>
          </a:p>
          <a:p>
            <a:pPr>
              <a:lnSpc>
                <a:spcPct val="200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、把起始点放入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queue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； </a:t>
            </a:r>
          </a:p>
          <a:p>
            <a:pPr>
              <a:lnSpc>
                <a:spcPct val="200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、重复下述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步骤，直到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queue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为空为止： </a:t>
            </a:r>
          </a:p>
          <a:p>
            <a:pPr>
              <a:lnSpc>
                <a:spcPct val="200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1) 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从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queue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中取出队列头的点； </a:t>
            </a:r>
          </a:p>
          <a:p>
            <a:pPr>
              <a:lnSpc>
                <a:spcPct val="200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2) 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找出与此点邻接的且尚未遍历的点，进行标记，然后全部放入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queue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中。</a:t>
            </a:r>
            <a:endParaRPr lang="zh-CN" altLang="en-US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宽度优先搜索</a:t>
            </a:r>
          </a:p>
        </p:txBody>
      </p:sp>
      <p:sp>
        <p:nvSpPr>
          <p:cNvPr id="4" name="矩形 3"/>
          <p:cNvSpPr/>
          <p:nvPr/>
        </p:nvSpPr>
        <p:spPr>
          <a:xfrm>
            <a:off x="1032768" y="1520002"/>
            <a:ext cx="1005281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下面结合一个图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(graph)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的实例，说明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BFS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的工作过程和原理： </a:t>
            </a: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）将起始节点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放入队列中，标记为已遍历：</a:t>
            </a:r>
            <a:endParaRPr lang="en-US" altLang="zh-CN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https://img-blog.csdn.net/20170114211828038?watermark/2/text/aHR0cDovL2Jsb2cuY3Nkbi5uZXQvc2FsdHJpdmVy/font/5a6L5L2T/fontsize/400/fill/I0JBQkFCMA==/dissolve/70/gravity/SouthEast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3073" y="3067171"/>
            <a:ext cx="5454181" cy="2744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宽度优先搜索</a:t>
            </a:r>
          </a:p>
        </p:txBody>
      </p:sp>
      <p:sp>
        <p:nvSpPr>
          <p:cNvPr id="4" name="矩形 3"/>
          <p:cNvSpPr/>
          <p:nvPr/>
        </p:nvSpPr>
        <p:spPr>
          <a:xfrm>
            <a:off x="1032768" y="1520002"/>
            <a:ext cx="1005281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下面结合一个图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(graph)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的实例，说明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BFS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的工作过程和原理： </a:t>
            </a: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）将起始节点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放入队列中，标记为已遍历：</a:t>
            </a:r>
            <a:endParaRPr lang="en-US" altLang="zh-CN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https://img-blog.csdn.net/20170114211828038?watermark/2/text/aHR0cDovL2Jsb2cuY3Nkbi5uZXQvc2FsdHJpdmVy/font/5a6L5L2T/fontsize/400/fill/I0JBQkFCMA==/dissolve/70/gravity/SouthEast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3073" y="3067171"/>
            <a:ext cx="5454181" cy="2744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宽度优先搜索</a:t>
            </a:r>
          </a:p>
        </p:txBody>
      </p:sp>
      <p:sp>
        <p:nvSpPr>
          <p:cNvPr id="4" name="矩形 3"/>
          <p:cNvSpPr/>
          <p:nvPr/>
        </p:nvSpPr>
        <p:spPr>
          <a:xfrm>
            <a:off x="943992" y="1594724"/>
            <a:ext cx="10052814" cy="874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）从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queue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中取出队列头的节点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，找出与节点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邻接的节点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2,3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，标记为已遍历，然后放入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queue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中。 </a:t>
            </a:r>
            <a:endParaRPr lang="en-US" altLang="zh-CN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这里写图片描述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2785" y="2890500"/>
            <a:ext cx="6481257" cy="3261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宽度优先搜索</a:t>
            </a:r>
          </a:p>
        </p:txBody>
      </p:sp>
      <p:sp>
        <p:nvSpPr>
          <p:cNvPr id="4" name="矩形 3"/>
          <p:cNvSpPr/>
          <p:nvPr/>
        </p:nvSpPr>
        <p:spPr>
          <a:xfrm>
            <a:off x="943992" y="1576969"/>
            <a:ext cx="10052814" cy="874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）从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queue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中取出队列头的节点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，找出与节点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邻接的节点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1,4,5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，由于节点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已遍历，排除；标记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4,5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为已遍历，然后放入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queue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中。 </a:t>
            </a:r>
            <a:endParaRPr lang="en-US" altLang="zh-CN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194" name="Picture 2" descr="这里写图片描述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2381" y="2890499"/>
            <a:ext cx="5969681" cy="30042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宽度优先搜索</a:t>
            </a:r>
          </a:p>
        </p:txBody>
      </p:sp>
      <p:sp>
        <p:nvSpPr>
          <p:cNvPr id="4" name="矩形 3"/>
          <p:cNvSpPr/>
          <p:nvPr/>
        </p:nvSpPr>
        <p:spPr>
          <a:xfrm>
            <a:off x="952869" y="1461558"/>
            <a:ext cx="10052814" cy="874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）从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queue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中取出队列头的节点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，找出与节点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邻接的节点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1,6,7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，由于节点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已遍历，排除；标记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6,7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为已遍历，然后放入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queue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中。  </a:t>
            </a:r>
            <a:endParaRPr lang="en-US" altLang="zh-CN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170" name="Picture 2" descr="这里写图片描述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9620" y="2775089"/>
            <a:ext cx="6640021" cy="3341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宽度优先搜索</a:t>
            </a:r>
          </a:p>
        </p:txBody>
      </p:sp>
      <p:sp>
        <p:nvSpPr>
          <p:cNvPr id="4" name="矩形 3"/>
          <p:cNvSpPr/>
          <p:nvPr/>
        </p:nvSpPr>
        <p:spPr>
          <a:xfrm>
            <a:off x="961747" y="1497069"/>
            <a:ext cx="10052814" cy="874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）从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queue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中取出队列头的节点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，找出与节点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邻接的节点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2,8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属于已遍历点，排除；因此标记节点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为已遍历，然后放入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queue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中。 </a:t>
            </a:r>
            <a:endParaRPr lang="en-US" altLang="zh-CN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146" name="Picture 2" descr="这里写图片描述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5950" y="2695190"/>
            <a:ext cx="6445977" cy="3243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宽度优先搜索</a:t>
            </a:r>
          </a:p>
        </p:txBody>
      </p:sp>
      <p:sp>
        <p:nvSpPr>
          <p:cNvPr id="4" name="矩形 3"/>
          <p:cNvSpPr/>
          <p:nvPr/>
        </p:nvSpPr>
        <p:spPr>
          <a:xfrm>
            <a:off x="943992" y="1594724"/>
            <a:ext cx="10052814" cy="874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）从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queue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中取出队列头的节点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，找出与节点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邻接的节点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2,8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2,8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均属于已遍历点，不作下一步操作。</a:t>
            </a:r>
            <a:endParaRPr lang="en-US" altLang="zh-CN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122" name="Picture 2" descr="这里写图片描述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2481" y="2740444"/>
            <a:ext cx="6551819" cy="3297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宽度优先搜索</a:t>
            </a:r>
          </a:p>
        </p:txBody>
      </p:sp>
      <p:sp>
        <p:nvSpPr>
          <p:cNvPr id="4" name="矩形 3"/>
          <p:cNvSpPr/>
          <p:nvPr/>
        </p:nvSpPr>
        <p:spPr>
          <a:xfrm>
            <a:off x="943992" y="1594724"/>
            <a:ext cx="10052814" cy="874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）从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queue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中取出队列头的节点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，找出与节点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邻接的节点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3,8,9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3,8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属于已遍历点，排除；因此标记节点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为已遍历，然后放入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queue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中。 </a:t>
            </a:r>
            <a:endParaRPr lang="en-US" altLang="zh-CN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98" name="Picture 2" descr="这里写图片描述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8396" y="2753761"/>
            <a:ext cx="6498898" cy="3270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宽度优先搜索</a:t>
            </a:r>
          </a:p>
        </p:txBody>
      </p:sp>
      <p:sp>
        <p:nvSpPr>
          <p:cNvPr id="4" name="矩形 3"/>
          <p:cNvSpPr/>
          <p:nvPr/>
        </p:nvSpPr>
        <p:spPr>
          <a:xfrm>
            <a:off x="943992" y="1594724"/>
            <a:ext cx="10052814" cy="874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）从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queue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中取出队列头的节点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，找出与节点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邻接的节点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3, 9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3,9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属于已遍历点，不作下一步操作。</a:t>
            </a:r>
            <a:endParaRPr lang="en-US" altLang="zh-CN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266" name="Picture 2" descr="这里写图片描述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4008" y="2829302"/>
            <a:ext cx="6710584" cy="3377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宽度优先搜索</a:t>
            </a:r>
          </a:p>
        </p:txBody>
      </p:sp>
      <p:sp>
        <p:nvSpPr>
          <p:cNvPr id="4" name="矩形 3"/>
          <p:cNvSpPr/>
          <p:nvPr/>
        </p:nvSpPr>
        <p:spPr>
          <a:xfrm>
            <a:off x="943992" y="1594724"/>
            <a:ext cx="10052814" cy="874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）从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queue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中取出队列头的节点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，找出与节点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邻接的节点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4,5,6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4,5,6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属于已遍历点，不作下一步操作。</a:t>
            </a:r>
            <a:endParaRPr lang="en-US" altLang="zh-CN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42" name="Picture 2" descr="这里写图片描述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4726" y="2668558"/>
            <a:ext cx="6428333" cy="32350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宽度优先搜索</a:t>
            </a:r>
          </a:p>
        </p:txBody>
      </p:sp>
      <p:sp>
        <p:nvSpPr>
          <p:cNvPr id="4" name="矩形 3"/>
          <p:cNvSpPr/>
          <p:nvPr/>
        </p:nvSpPr>
        <p:spPr>
          <a:xfrm>
            <a:off x="935115" y="1436334"/>
            <a:ext cx="10052814" cy="17045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）从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queue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中取出队列头的节点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，找出与节点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邻接的节点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6,7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6,7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属于已遍历点，不作下一步操作。 </a:t>
            </a:r>
            <a:endParaRPr lang="en-US" altLang="zh-CN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queue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为空，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BFS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遍历结束。</a:t>
            </a:r>
          </a:p>
          <a:p>
            <a:pPr>
              <a:lnSpc>
                <a:spcPct val="150000"/>
              </a:lnSpc>
            </a:pPr>
            <a:endParaRPr lang="en-US" altLang="zh-CN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218" name="Picture 2" descr="这里写图片描述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4826" y="2931850"/>
            <a:ext cx="6640021" cy="3341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宽度优先搜索</a:t>
            </a:r>
          </a:p>
        </p:txBody>
      </p:sp>
      <p:sp>
        <p:nvSpPr>
          <p:cNvPr id="4" name="矩形 3"/>
          <p:cNvSpPr/>
          <p:nvPr/>
        </p:nvSpPr>
        <p:spPr>
          <a:xfrm>
            <a:off x="1032768" y="1400822"/>
            <a:ext cx="10052814" cy="5859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算法描述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1】</a:t>
            </a:r>
          </a:p>
          <a:p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int 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bfs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()</a:t>
            </a:r>
          </a:p>
          <a:p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{</a:t>
            </a:r>
          </a:p>
          <a:p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初始化，初始状态存入队列；</a:t>
            </a:r>
          </a:p>
          <a:p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队列首指针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head=0;  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尾指针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tail=1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；</a:t>
            </a:r>
          </a:p>
          <a:p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do</a:t>
            </a:r>
          </a:p>
          <a:p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{</a:t>
            </a:r>
          </a:p>
          <a:p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指针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head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后移一位，指向待扩展结点；</a:t>
            </a:r>
          </a:p>
          <a:p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for (int 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=1;i&lt;=max;++</a:t>
            </a: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                  //max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为产生子结点的规则数</a:t>
            </a:r>
          </a:p>
          <a:p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{ </a:t>
            </a:r>
          </a:p>
          <a:p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if (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子结点符合条件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{</a:t>
            </a:r>
          </a:p>
          <a:p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if (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新结点是目标结点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 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输出并退出；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tail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指针增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，把新结点存入列尾；</a:t>
            </a:r>
          </a:p>
          <a:p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  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</a:p>
          <a:p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}</a:t>
            </a:r>
          </a:p>
          <a:p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}while(head&lt;tail);                       //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队列为空</a:t>
            </a:r>
          </a:p>
          <a:p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</a:p>
          <a:p>
            <a:endParaRPr lang="zh-CN" altLang="en-US" sz="2000" b="1" dirty="0">
              <a:solidFill>
                <a:schemeClr val="accent2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宽度优先搜索</a:t>
            </a:r>
          </a:p>
        </p:txBody>
      </p:sp>
      <p:sp>
        <p:nvSpPr>
          <p:cNvPr id="4" name="矩形 3"/>
          <p:cNvSpPr/>
          <p:nvPr/>
        </p:nvSpPr>
        <p:spPr>
          <a:xfrm>
            <a:off x="1032768" y="1400822"/>
            <a:ext cx="10052814" cy="8156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算法描述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2】</a:t>
            </a:r>
          </a:p>
          <a:p>
            <a:endParaRPr lang="en-US" altLang="zh-CN" sz="2000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233666" y="1988538"/>
            <a:ext cx="10586785" cy="386184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宽度优先搜索</a:t>
            </a:r>
          </a:p>
        </p:txBody>
      </p:sp>
      <p:sp>
        <p:nvSpPr>
          <p:cNvPr id="4" name="矩形 3"/>
          <p:cNvSpPr/>
          <p:nvPr/>
        </p:nvSpPr>
        <p:spPr>
          <a:xfrm>
            <a:off x="961747" y="1266691"/>
            <a:ext cx="10123836" cy="16047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1】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最短路径</a:t>
            </a:r>
            <a:endParaRPr lang="en-US" altLang="zh-CN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如图表示的是从城市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到城市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的交通图。从图中可以看出，从城市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到城市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要经过若干个城市。现要找出一条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经过城市最少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的一条路线。</a:t>
            </a:r>
          </a:p>
          <a:p>
            <a:pPr>
              <a:lnSpc>
                <a:spcPct val="150000"/>
              </a:lnSpc>
            </a:pPr>
            <a:endParaRPr lang="en-US" altLang="zh-CN" dirty="0"/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7103" y="2852048"/>
            <a:ext cx="6281690" cy="2954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宽度优先搜索</a:t>
            </a:r>
          </a:p>
        </p:txBody>
      </p:sp>
      <p:sp>
        <p:nvSpPr>
          <p:cNvPr id="4" name="矩形 3"/>
          <p:cNvSpPr/>
          <p:nvPr/>
        </p:nvSpPr>
        <p:spPr>
          <a:xfrm>
            <a:off x="961747" y="1266691"/>
            <a:ext cx="10123836" cy="12815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问题分析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邻接距阵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来表示交通图，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表示能走，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表示不能走</a:t>
            </a:r>
          </a:p>
          <a:p>
            <a:pPr>
              <a:lnSpc>
                <a:spcPct val="150000"/>
              </a:lnSpc>
            </a:pPr>
            <a:endParaRPr lang="en-US" altLang="zh-CN" dirty="0"/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1458" y="2496022"/>
            <a:ext cx="5867400" cy="3627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宽度优先搜索</a:t>
            </a:r>
            <a:endParaRPr lang="zh-CN" altLang="zh-CN" dirty="0"/>
          </a:p>
        </p:txBody>
      </p:sp>
      <p:sp>
        <p:nvSpPr>
          <p:cNvPr id="4" name="文本框 3"/>
          <p:cNvSpPr txBox="1"/>
          <p:nvPr/>
        </p:nvSpPr>
        <p:spPr>
          <a:xfrm>
            <a:off x="1019187" y="1673140"/>
            <a:ext cx="4643018" cy="50463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#include&lt;bits/stdc++.h&gt;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namespace std;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 ju[9][9]={{0,0,0,0,0,0,0,0,0},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{0,1,0,0,0,1,0,1,1},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{0,0,1,1,1,1,0,1,1},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{0,0,1,1,0,0,1,1,1},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{0,0,1,0,1,1,1,0,1},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{0,1,1,0,1,1,1,0,0},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{0,0,0,1,1,1,1,1,0},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{0,1,1,1,0,0,1,1,0},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{0,1,1,1,1,0,0,0,1}};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a[101],b[101];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bool s[9];                              //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初始化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void out()         //</a:t>
            </a:r>
            <a:r>
              <a:rPr lang="zh-CN" altLang="en-US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输出</a:t>
            </a:r>
            <a:endParaRPr lang="en-US" altLang="zh-CN" sz="1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  <a:p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{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	cout&lt;&lt;'H';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	int x=8;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	while(b[x])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	{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		cout&lt;&lt;"--"&lt;&lt;char(b[x]+64);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		x=b[x];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	}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}</a:t>
            </a:r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878889" y="1367439"/>
            <a:ext cx="17139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chemeClr val="accent2"/>
                </a:solidFill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</a:rPr>
              <a:t>参考程序</a:t>
            </a:r>
            <a:r>
              <a:rPr lang="en-US" altLang="zh-CN" b="1" dirty="0">
                <a:solidFill>
                  <a:schemeClr val="accent2"/>
                </a:solidFill>
              </a:rPr>
              <a:t>1】</a:t>
            </a:r>
          </a:p>
        </p:txBody>
      </p:sp>
      <p:cxnSp>
        <p:nvCxnSpPr>
          <p:cNvPr id="7" name="直接连接符 6"/>
          <p:cNvCxnSpPr/>
          <p:nvPr/>
        </p:nvCxnSpPr>
        <p:spPr>
          <a:xfrm>
            <a:off x="5225477" y="1600294"/>
            <a:ext cx="0" cy="4909351"/>
          </a:xfrm>
          <a:prstGeom prst="line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5914920" y="1287244"/>
            <a:ext cx="5758108" cy="5139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/>
              <a:t> </a:t>
            </a:r>
            <a:r>
              <a:rPr lang="en-US" altLang="zh-CN" sz="1400" dirty="0"/>
              <a:t>void bfs()</a:t>
            </a:r>
          </a:p>
          <a:p>
            <a:r>
              <a:rPr lang="en-US" altLang="zh-CN" sz="1400" dirty="0"/>
              <a:t>{</a:t>
            </a:r>
          </a:p>
          <a:p>
            <a:r>
              <a:rPr lang="en-US" altLang="zh-CN" sz="1400" dirty="0"/>
              <a:t>   int head=0,tail=1,i,a[1]=1;                 //</a:t>
            </a:r>
            <a:r>
              <a:rPr lang="zh-CN" altLang="en-US" sz="1400" dirty="0"/>
              <a:t>队首为</a:t>
            </a:r>
            <a:r>
              <a:rPr lang="en-US" altLang="zh-CN" sz="1400" dirty="0"/>
              <a:t>0</a:t>
            </a:r>
            <a:r>
              <a:rPr lang="zh-CN" altLang="en-US" sz="1400" dirty="0"/>
              <a:t>、队尾为</a:t>
            </a:r>
            <a:r>
              <a:rPr lang="en-US" altLang="zh-CN" sz="1400" dirty="0"/>
              <a:t>1</a:t>
            </a:r>
          </a:p>
          <a:p>
            <a:r>
              <a:rPr lang="en-US" altLang="zh-CN" sz="1400" dirty="0"/>
              <a:t>   b[1]=0; s[1]=1;            //</a:t>
            </a:r>
            <a:r>
              <a:rPr lang="zh-CN" altLang="en-US" sz="1400" dirty="0"/>
              <a:t>记录前趋城市、表示该城市已经到过</a:t>
            </a:r>
            <a:endParaRPr lang="en-US" altLang="zh-CN" sz="1400" dirty="0"/>
          </a:p>
          <a:p>
            <a:r>
              <a:rPr lang="en-US" altLang="zh-CN" sz="1400" dirty="0"/>
              <a:t>do                                          //</a:t>
            </a:r>
            <a:r>
              <a:rPr lang="zh-CN" altLang="en-US" sz="1400" dirty="0"/>
              <a:t>步骤</a:t>
            </a:r>
            <a:r>
              <a:rPr lang="en-US" altLang="zh-CN" sz="1400" dirty="0"/>
              <a:t>2</a:t>
            </a:r>
          </a:p>
          <a:p>
            <a:r>
              <a:rPr lang="en-US" altLang="zh-CN" sz="1400" dirty="0"/>
              <a:t>    {</a:t>
            </a:r>
          </a:p>
          <a:p>
            <a:r>
              <a:rPr lang="en-US" altLang="zh-CN" sz="1400" dirty="0"/>
              <a:t>     head++;                               //</a:t>
            </a:r>
            <a:r>
              <a:rPr lang="zh-CN" altLang="en-US" sz="1400" dirty="0"/>
              <a:t>队首加一，出队</a:t>
            </a:r>
          </a:p>
          <a:p>
            <a:r>
              <a:rPr lang="zh-CN" altLang="en-US" sz="1400" dirty="0"/>
              <a:t>     </a:t>
            </a:r>
            <a:r>
              <a:rPr lang="en-US" altLang="zh-CN" sz="1400" dirty="0"/>
              <a:t>for (i=1;i&lt;=8;i++)                 //</a:t>
            </a:r>
            <a:r>
              <a:rPr lang="zh-CN" altLang="en-US" sz="1400" dirty="0"/>
              <a:t>搜索可直通的城市</a:t>
            </a:r>
          </a:p>
          <a:p>
            <a:r>
              <a:rPr lang="zh-CN" altLang="en-US" sz="1400" dirty="0"/>
              <a:t>      </a:t>
            </a:r>
            <a:r>
              <a:rPr lang="en-US" altLang="zh-CN" sz="1400" dirty="0"/>
              <a:t>if ((</a:t>
            </a:r>
            <a:r>
              <a:rPr lang="en-US" altLang="zh-CN" sz="1400" dirty="0" err="1"/>
              <a:t>ju</a:t>
            </a:r>
            <a:r>
              <a:rPr lang="en-US" altLang="zh-CN" sz="1400" dirty="0"/>
              <a:t>[a[head]][i]==0)&amp;&amp;(s[i]==0))  //</a:t>
            </a:r>
            <a:r>
              <a:rPr lang="zh-CN" altLang="en-US" sz="1400" dirty="0"/>
              <a:t>判断城市是否走过</a:t>
            </a:r>
          </a:p>
          <a:p>
            <a:r>
              <a:rPr lang="zh-CN" altLang="en-US" sz="1400" dirty="0"/>
              <a:t>       </a:t>
            </a:r>
            <a:r>
              <a:rPr lang="en-US" altLang="zh-CN" sz="1400" dirty="0"/>
              <a:t>{</a:t>
            </a:r>
          </a:p>
          <a:p>
            <a:r>
              <a:rPr lang="en-US" altLang="zh-CN" sz="1400" dirty="0"/>
              <a:t>         tail++;   a[tail]=i; //</a:t>
            </a:r>
            <a:r>
              <a:rPr lang="zh-CN" altLang="en-US" sz="1400" dirty="0"/>
              <a:t>队尾加一，入队</a:t>
            </a:r>
            <a:r>
              <a:rPr lang="en-US" altLang="zh-CN" sz="1400" dirty="0"/>
              <a:t>        </a:t>
            </a:r>
          </a:p>
          <a:p>
            <a:r>
              <a:rPr lang="en-US" altLang="zh-CN" sz="1400" dirty="0"/>
              <a:t>         b[i]=a[head];  s[i]=1;</a:t>
            </a:r>
          </a:p>
          <a:p>
            <a:r>
              <a:rPr lang="en-US" altLang="zh-CN" sz="1400" dirty="0"/>
              <a:t>         if (i==8) </a:t>
            </a:r>
          </a:p>
          <a:p>
            <a:r>
              <a:rPr lang="en-US" altLang="zh-CN" sz="1400" dirty="0"/>
              <a:t>          {</a:t>
            </a:r>
          </a:p>
          <a:p>
            <a:r>
              <a:rPr lang="en-US" altLang="zh-CN" sz="1400" dirty="0"/>
              <a:t>             out();head=tail;break; //</a:t>
            </a:r>
            <a:r>
              <a:rPr lang="zh-CN" altLang="en-US" sz="1400" dirty="0"/>
              <a:t>第一次搜到</a:t>
            </a:r>
            <a:r>
              <a:rPr lang="en-US" altLang="zh-CN" sz="1400" dirty="0"/>
              <a:t>H</a:t>
            </a:r>
            <a:r>
              <a:rPr lang="zh-CN" altLang="en-US" sz="1400" dirty="0"/>
              <a:t>城市时路线最短</a:t>
            </a:r>
          </a:p>
          <a:p>
            <a:r>
              <a:rPr lang="zh-CN" altLang="en-US" sz="1400" dirty="0"/>
              <a:t>          </a:t>
            </a:r>
            <a:r>
              <a:rPr lang="en-US" altLang="zh-CN" sz="1400" dirty="0"/>
              <a:t>}</a:t>
            </a:r>
          </a:p>
          <a:p>
            <a:r>
              <a:rPr lang="en-US" altLang="zh-CN" sz="1400" dirty="0"/>
              <a:t>       }</a:t>
            </a:r>
          </a:p>
          <a:p>
            <a:r>
              <a:rPr lang="en-US" altLang="zh-CN" sz="1400" dirty="0"/>
              <a:t>    }while (head&lt;tail);</a:t>
            </a:r>
          </a:p>
          <a:p>
            <a:r>
              <a:rPr lang="en-US" altLang="zh-CN" sz="1400" dirty="0"/>
              <a:t>}</a:t>
            </a:r>
          </a:p>
          <a:p>
            <a:r>
              <a:rPr lang="en-US" altLang="zh-CN" sz="1400" dirty="0"/>
              <a:t>int main()                                   //</a:t>
            </a:r>
            <a:r>
              <a:rPr lang="zh-CN" altLang="en-US" sz="1400" dirty="0"/>
              <a:t>主程序</a:t>
            </a:r>
          </a:p>
          <a:p>
            <a:r>
              <a:rPr lang="en-US" altLang="zh-CN" sz="1400" dirty="0"/>
              <a:t>{</a:t>
            </a:r>
          </a:p>
          <a:p>
            <a:r>
              <a:rPr lang="en-US" altLang="zh-CN" sz="1400" dirty="0"/>
              <a:t>  bfs();                                       //</a:t>
            </a:r>
            <a:r>
              <a:rPr lang="zh-CN" altLang="en-US" sz="1400" dirty="0"/>
              <a:t>进行</a:t>
            </a:r>
            <a:r>
              <a:rPr lang="en-US" altLang="zh-CN" sz="1400" dirty="0"/>
              <a:t>Bfs</a:t>
            </a:r>
            <a:r>
              <a:rPr lang="zh-CN" altLang="en-US" sz="1400" dirty="0"/>
              <a:t>操作</a:t>
            </a:r>
          </a:p>
          <a:p>
            <a:r>
              <a:rPr lang="zh-CN" altLang="en-US" sz="1400" dirty="0"/>
              <a:t>  </a:t>
            </a:r>
            <a:r>
              <a:rPr lang="en-US" altLang="zh-CN" sz="1400" dirty="0"/>
              <a:t>return 0;}</a:t>
            </a:r>
            <a:endParaRPr lang="zh-CN" altLang="en-US" sz="1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宽度优先搜索</a:t>
            </a:r>
            <a:endParaRPr lang="zh-CN" altLang="zh-CN" dirty="0"/>
          </a:p>
        </p:txBody>
      </p:sp>
      <p:sp>
        <p:nvSpPr>
          <p:cNvPr id="4" name="文本框 3"/>
          <p:cNvSpPr txBox="1"/>
          <p:nvPr/>
        </p:nvSpPr>
        <p:spPr>
          <a:xfrm>
            <a:off x="1019187" y="1673140"/>
            <a:ext cx="4643018" cy="526297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#include&lt;bits/</a:t>
            </a:r>
            <a:r>
              <a:rPr lang="en-US" altLang="zh-CN" sz="14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stdc</a:t>
            </a:r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++.h&gt;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using namespace std;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queue &lt;int&gt; q;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int  linker[9][9]={{0,0,0,0,0,0,0,0,0},     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           {0,1,0,0,0,1,0,1,1},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           {0,0,1,1,1,1,0,1,1},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           {0,0,1,1,0,0,1,1,1},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           {0,0,1,0,1,1,1,0,1},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           {0,1,1,0,1,1,1,0,0},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           {0,0,0,1,1,1,1,1,0},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           {0,1,1,1,0,0,1,1,0},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           {0,1,1,1,1,0,0,0,1}};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bool visited[9];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int b[9];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void out()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{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	</a:t>
            </a:r>
            <a:r>
              <a:rPr lang="en-US" altLang="zh-CN" sz="14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cout</a:t>
            </a:r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&lt;&lt;'H';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	int x=8;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	while(b[x])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	{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		</a:t>
            </a:r>
            <a:r>
              <a:rPr lang="en-US" altLang="zh-CN" sz="14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cout</a:t>
            </a:r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&lt;&lt;"--"&lt;&lt;char(b[x]+64);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		x=b[x];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	}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}</a:t>
            </a:r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878889" y="1367439"/>
            <a:ext cx="17139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chemeClr val="accent2"/>
                </a:solidFill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</a:rPr>
              <a:t>参考程序</a:t>
            </a:r>
            <a:r>
              <a:rPr lang="en-US" altLang="zh-CN" b="1" dirty="0">
                <a:solidFill>
                  <a:schemeClr val="accent2"/>
                </a:solidFill>
              </a:rPr>
              <a:t>2】</a:t>
            </a:r>
          </a:p>
        </p:txBody>
      </p:sp>
      <p:cxnSp>
        <p:nvCxnSpPr>
          <p:cNvPr id="7" name="直接连接符 6"/>
          <p:cNvCxnSpPr/>
          <p:nvPr/>
        </p:nvCxnSpPr>
        <p:spPr>
          <a:xfrm>
            <a:off x="5662205" y="1736771"/>
            <a:ext cx="0" cy="4909351"/>
          </a:xfrm>
          <a:prstGeom prst="line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5996807" y="1173162"/>
            <a:ext cx="5758108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/>
              <a:t> </a:t>
            </a:r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void </a:t>
            </a:r>
            <a:r>
              <a:rPr lang="en-US" altLang="zh-CN" sz="14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bfs</a:t>
            </a:r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(int start)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{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</a:t>
            </a:r>
            <a:r>
              <a:rPr lang="en-US" altLang="zh-CN" sz="14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q.push</a:t>
            </a:r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(start);   visited[start]=true;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while(!</a:t>
            </a:r>
            <a:r>
              <a:rPr lang="en-US" altLang="zh-CN" sz="14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q.empty</a:t>
            </a:r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())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{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int </a:t>
            </a:r>
            <a:r>
              <a:rPr lang="en-US" altLang="zh-CN" sz="14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i,x</a:t>
            </a:r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</a:t>
            </a:r>
            <a:r>
              <a:rPr lang="en-US" altLang="zh-CN" sz="14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q.front</a:t>
            </a:r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();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  <a:r>
              <a:rPr lang="en-US" altLang="zh-CN" sz="14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q.pop</a:t>
            </a:r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();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for(</a:t>
            </a:r>
            <a:r>
              <a:rPr lang="en-US" altLang="zh-CN" sz="14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=1;i&lt;=8;i++)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{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	if(linker[x][</a:t>
            </a:r>
            <a:r>
              <a:rPr lang="en-US" altLang="zh-CN" sz="14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]==0 &amp;&amp; visited[</a:t>
            </a:r>
            <a:r>
              <a:rPr lang="en-US" altLang="zh-CN" sz="14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]==false)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	{					                                        </a:t>
            </a:r>
            <a:r>
              <a:rPr lang="en-US" altLang="zh-CN" sz="14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q.push</a:t>
            </a:r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14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); visited[</a:t>
            </a:r>
            <a:r>
              <a:rPr lang="en-US" altLang="zh-CN" sz="14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]=true;  b[</a:t>
            </a:r>
            <a:r>
              <a:rPr lang="en-US" altLang="zh-CN" sz="14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]=x;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		if(</a:t>
            </a:r>
            <a:r>
              <a:rPr lang="en-US" altLang="zh-CN" sz="14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==8) 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		{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			out();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			while(!</a:t>
            </a:r>
            <a:r>
              <a:rPr lang="en-US" altLang="zh-CN" sz="14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q.empty</a:t>
            </a:r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())</a:t>
            </a:r>
            <a:r>
              <a:rPr lang="en-US" altLang="zh-CN" sz="14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q.pop</a:t>
            </a:r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();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			break;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		}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	}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}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}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int main()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{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</a:t>
            </a:r>
            <a:r>
              <a:rPr lang="en-US" altLang="zh-CN" sz="14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bfs</a:t>
            </a:r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(1);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return 0;}</a:t>
            </a:r>
            <a:endParaRPr lang="zh-CN" altLang="en-US" sz="16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宽度优先搜索</a:t>
            </a:r>
          </a:p>
        </p:txBody>
      </p:sp>
      <p:sp>
        <p:nvSpPr>
          <p:cNvPr id="4" name="矩形 3"/>
          <p:cNvSpPr/>
          <p:nvPr/>
        </p:nvSpPr>
        <p:spPr>
          <a:xfrm>
            <a:off x="1098224" y="1498704"/>
            <a:ext cx="9983758" cy="46628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2】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细胞个数</a:t>
            </a:r>
            <a:endParaRPr lang="en-US" altLang="zh-CN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一矩形阵列由数字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组成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数字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代表细胞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细胞的定义为沿细胞数字上下左右还是细胞数字则为同一细胞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求给定矩形阵列的细胞个数。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阵列  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4  10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0234500067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1034560500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2045600671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0000000089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个细胞。</a:t>
            </a:r>
          </a:p>
          <a:p>
            <a:pPr>
              <a:lnSpc>
                <a:spcPct val="150000"/>
              </a:lnSpc>
            </a:pPr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宽度优先搜索</a:t>
            </a:r>
            <a:endParaRPr lang="zh-CN" altLang="zh-CN" dirty="0"/>
          </a:p>
        </p:txBody>
      </p:sp>
      <p:sp>
        <p:nvSpPr>
          <p:cNvPr id="4" name="文本框 3"/>
          <p:cNvSpPr txBox="1"/>
          <p:nvPr/>
        </p:nvSpPr>
        <p:spPr>
          <a:xfrm>
            <a:off x="928047" y="1595021"/>
            <a:ext cx="5431809" cy="526297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#include&lt;bits/stdc++.h&gt;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namespace std;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dx[4]={-1,0,1,0},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dy[4]={0,1,0,-1};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bz[100][100],num=0,n,m; 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bfs(int p,int q)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int x,y,t,w,i;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int h[1000][2];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num++;bz[p][q]=0;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t=0;w=1;h[1][0]=p;h[1][1]=q;     //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遇到的第一个细胞入队</a:t>
            </a:r>
          </a:p>
          <a:p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t++;                            //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队头指针加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for (i=0;i&lt;=3;i++)  //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沿细胞的上下左右四个方向搜索细胞</a:t>
            </a:r>
          </a:p>
          <a:p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x=h[t][0]+dx[i];y=h[t][1]+dy[i];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if ((x&gt;=0)&amp;&amp;(x&lt;m)&amp;&amp;(y&gt;=0)&amp;&amp;(y&lt;n)&amp;&amp;(bz[x][y]))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w++;h[w][0]=x;h[w][1]=y;bz[x][y]=0;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}                           //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本方向搜索到细胞就入队</a:t>
            </a:r>
          </a:p>
          <a:p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}while (t&lt;w);                //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直至队空为止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878889" y="1367439"/>
            <a:ext cx="17139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chemeClr val="accent2"/>
                </a:solidFill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</a:rPr>
              <a:t>参考程序</a:t>
            </a:r>
            <a:r>
              <a:rPr lang="en-US" altLang="zh-CN" b="1" dirty="0">
                <a:solidFill>
                  <a:schemeClr val="accent2"/>
                </a:solidFill>
              </a:rPr>
              <a:t>1】</a:t>
            </a:r>
          </a:p>
        </p:txBody>
      </p:sp>
      <p:cxnSp>
        <p:nvCxnSpPr>
          <p:cNvPr id="7" name="直接连接符 6"/>
          <p:cNvCxnSpPr/>
          <p:nvPr/>
        </p:nvCxnSpPr>
        <p:spPr>
          <a:xfrm>
            <a:off x="5839626" y="1559351"/>
            <a:ext cx="0" cy="4909351"/>
          </a:xfrm>
          <a:prstGeom prst="line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6269763" y="1410074"/>
            <a:ext cx="4334548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main()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int i,j; 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char s[100],ch;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cin&gt;&gt;m&gt;&gt;n;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for (i=0; i&lt;=m-1;i++ )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for (j=0;j&lt;=n-1;j++ )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bz[i][j]=1;                      //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初始化</a:t>
            </a:r>
          </a:p>
          <a:p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(i=0;i&lt;m;i++)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cin&gt;&gt;s; 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for (j=0;j&lt;=n-1;j++)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		if (s[j]=='0') bz[i][j]=0;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for (i=0;i&lt;=m-1;i++)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for (j=0;j&lt;=n-1;j++)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if (bz[i][j])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bfs(i,j);          //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在矩阵中寻找细胞</a:t>
            </a:r>
          </a:p>
          <a:p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cout&lt;&lt;num;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return 0;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宽度优先搜索</a:t>
            </a:r>
            <a:endParaRPr lang="zh-CN" altLang="zh-CN" dirty="0"/>
          </a:p>
        </p:txBody>
      </p:sp>
      <p:sp>
        <p:nvSpPr>
          <p:cNvPr id="4" name="文本框 3"/>
          <p:cNvSpPr txBox="1"/>
          <p:nvPr/>
        </p:nvSpPr>
        <p:spPr>
          <a:xfrm>
            <a:off x="1105165" y="1658064"/>
            <a:ext cx="5854889" cy="52622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#include&lt;bits/stdc++.h&gt;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using namespace std;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queue &lt; pair&lt;int,int&gt; &gt; q;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int dx[4]={-1,0,1,0},dy[4]={0,1,0,-1};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int bz[100][100],num=0,n,m; 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void bfs(int x,int y)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{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     int nx,ny;   num++;  bz[x][y]=0;  pair&lt;int,int&gt; p(x,y);   q.push(p);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     while(!q.empty())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    {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	p=q.front();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	q.pop();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	for(int i=0;i&lt;4;i++)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	{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	        nx=p.first+dx[i]; 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	        ny=p.second+dy[i];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	        if(nx&gt;=0 &amp;&amp; ny&gt;=0 &amp;&amp; nx&lt;m &amp;&amp; ny&lt;n &amp;&amp; bz[nx][ny])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	        {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		pair&lt;int,int&gt; p1(nx,ny);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		q.push(p1);   bz[nx][ny]=0;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	         }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	  }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      }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}</a:t>
            </a:r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867459" y="1288699"/>
            <a:ext cx="17139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chemeClr val="accent2"/>
                </a:solidFill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</a:rPr>
              <a:t>参考程序</a:t>
            </a:r>
            <a:r>
              <a:rPr lang="en-US" altLang="zh-CN" b="1" dirty="0">
                <a:solidFill>
                  <a:schemeClr val="accent2"/>
                </a:solidFill>
              </a:rPr>
              <a:t>2】</a:t>
            </a:r>
          </a:p>
        </p:txBody>
      </p:sp>
      <p:cxnSp>
        <p:nvCxnSpPr>
          <p:cNvPr id="7" name="直接连接符 6"/>
          <p:cNvCxnSpPr/>
          <p:nvPr/>
        </p:nvCxnSpPr>
        <p:spPr>
          <a:xfrm>
            <a:off x="7272641" y="1470978"/>
            <a:ext cx="0" cy="4909351"/>
          </a:xfrm>
          <a:prstGeom prst="line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7757368" y="1514356"/>
            <a:ext cx="5758108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/>
              <a:t> </a:t>
            </a:r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int main()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{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int i,j; 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char s[100],ch;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cin&gt;&gt;m&gt;&gt;n;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for (i=0;i&lt;=m-1;i++ )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for (j=0;j&lt;=n-1;j++ )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bz[i][j]=1;                      //</a:t>
            </a:r>
            <a:r>
              <a:rPr lang="zh-CN" altLang="en-US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初始化</a:t>
            </a:r>
          </a:p>
          <a:p>
            <a:r>
              <a:rPr lang="zh-CN" altLang="en-US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</a:t>
            </a:r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for (i=0;i&lt;m;i++)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{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cin&gt;&gt;s;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for (j=0;j&lt;=n-1;j++)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if (s[j]=='0') bz[i][j]=0;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}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for (i=0;i&lt;=m-1;i++)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for (j=0;j&lt;=n-1;j++)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if (bz[i][j])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bfs(i,j);          //</a:t>
            </a:r>
            <a:r>
              <a:rPr lang="zh-CN" altLang="en-US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在矩阵中寻找细胞</a:t>
            </a:r>
          </a:p>
          <a:p>
            <a:r>
              <a:rPr lang="zh-CN" altLang="en-US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</a:t>
            </a:r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cout&lt;&lt;num;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return 0;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宽度优先搜索</a:t>
            </a:r>
          </a:p>
        </p:txBody>
      </p:sp>
      <p:sp>
        <p:nvSpPr>
          <p:cNvPr id="4" name="矩形 3"/>
          <p:cNvSpPr/>
          <p:nvPr/>
        </p:nvSpPr>
        <p:spPr>
          <a:xfrm>
            <a:off x="961747" y="1266691"/>
            <a:ext cx="10123836" cy="57246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3】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最少步数</a:t>
            </a:r>
            <a:endParaRPr lang="en-US" altLang="zh-CN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问题描述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各种棋中，棋子的走法总是一定的，如中国象棋中马走“日”。有一位小学生就想如果马能有两种走法将增加其趣味性，因此，他规定马既能按“日”走，也能如象一样走“田”字。他的同桌平时喜欢下围棋，知道这件事后觉得很有趣，就想试一试，在一个（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100*100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）的围棋盘上任选两点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点放上黑子，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点放上白子，代表两匹马。棋子可以按“日”字走，也可以按“田”字走，俩人一个走黑马，一个走白马。谁用最少的步数走到左上角坐标为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(1,1)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的点时，谁获胜。现在他请你帮忙，给你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两点的坐标，想知道两个位置到（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1,1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）点可能的最少步数。</a:t>
            </a:r>
            <a:b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输入样例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12 16</a:t>
            </a:r>
            <a:b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18 10</a:t>
            </a:r>
            <a:b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【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输出样例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】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8</a:t>
            </a:r>
            <a:b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9</a:t>
            </a:r>
          </a:p>
          <a:p>
            <a:pPr>
              <a:lnSpc>
                <a:spcPct val="150000"/>
              </a:lnSpc>
            </a:pPr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宽度优先搜索</a:t>
            </a:r>
            <a:endParaRPr lang="zh-CN" altLang="zh-CN" dirty="0"/>
          </a:p>
        </p:txBody>
      </p:sp>
      <p:sp>
        <p:nvSpPr>
          <p:cNvPr id="4" name="文本框 3"/>
          <p:cNvSpPr txBox="1"/>
          <p:nvPr/>
        </p:nvSpPr>
        <p:spPr>
          <a:xfrm>
            <a:off x="1019187" y="1673140"/>
            <a:ext cx="4643018" cy="526297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&lt;bits/stdc++.h&gt;</a:t>
            </a:r>
            <a:b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namespace std;</a:t>
            </a:r>
            <a:b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dx[12]={-2,-2,-1,1,2,2,2,2,1,-1,-2,-2},</a:t>
            </a:r>
            <a:b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dy[12]={-1,-2,-2,-2,-2,-1,1,2,2,2,2,1};</a:t>
            </a:r>
            <a:b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main()</a:t>
            </a:r>
            <a:b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b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int s[101][101], que[10000][4]={0} ,x1,y1,x2,y2,i,j;</a:t>
            </a:r>
            <a:b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for(i=1;i&lt;=100;i++)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for(j=1;j&lt;=100;j++)  s[i][j]=-1;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//s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数组的初始化</a:t>
            </a:r>
            <a:b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head=1,tail=1;                         //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初始位置入队</a:t>
            </a:r>
            <a:b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que[1][1]=1;que[1][2]=1;que[1][3]=0;    </a:t>
            </a:r>
            <a:b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cin&gt;&gt;x1&gt;&gt;y1&gt;&gt;x2&gt;&gt;y2;     //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读入黑马和白马的出发位置</a:t>
            </a:r>
            <a:b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while(head&lt;=tail)          //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若队列非空，则扩展队首结点</a:t>
            </a:r>
            <a:b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b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for(int d=0;d&lt;=11;d++)                //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枚举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个扩展方向</a:t>
            </a:r>
            <a:b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b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878889" y="1367439"/>
            <a:ext cx="17139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chemeClr val="accent2"/>
                </a:solidFill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</a:rPr>
              <a:t>参考程序</a:t>
            </a:r>
            <a:r>
              <a:rPr lang="en-US" altLang="zh-CN" b="1" dirty="0">
                <a:solidFill>
                  <a:schemeClr val="accent2"/>
                </a:solidFill>
              </a:rPr>
              <a:t>1】</a:t>
            </a:r>
          </a:p>
        </p:txBody>
      </p:sp>
      <p:cxnSp>
        <p:nvCxnSpPr>
          <p:cNvPr id="7" name="直接连接符 6"/>
          <p:cNvCxnSpPr/>
          <p:nvPr/>
        </p:nvCxnSpPr>
        <p:spPr>
          <a:xfrm>
            <a:off x="5935160" y="1559351"/>
            <a:ext cx="0" cy="4909351"/>
          </a:xfrm>
          <a:prstGeom prst="line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6242467" y="1287244"/>
            <a:ext cx="5758108" cy="55707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x=que[head][1]+dx[d];     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计算马按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方向跳跃后的位置</a:t>
            </a:r>
            <a:b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y=que[head][2]+dy[d];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if(x&gt;0&amp;&amp;y&gt;0&amp;&amp;x&lt;=100&amp;&amp;y&lt;=100) </a:t>
            </a:r>
            <a:b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if(s[x][y]== -1)                      //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若（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x,y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）满足约束条件</a:t>
            </a:r>
            <a:b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b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s[x][y]=que[head][3]+1;//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计算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(1,1)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到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(x,y)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的最少步数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	tail++;         //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1,1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）至（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x,y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）的最少步数入队</a:t>
            </a:r>
            <a:b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que[tail][1]=x;</a:t>
            </a:r>
            <a:b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que[tail][2]=y;</a:t>
            </a:r>
            <a:b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que[tail][3]=s[x][y];</a:t>
            </a:r>
            <a:b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if(s[x1][y1]&gt;0&amp;&amp;s[x2][y2]&gt;0)  //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输出问题的解</a:t>
            </a:r>
            <a:b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b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cout&lt;&lt;s[x1][y1]&lt;&lt;endl; </a:t>
            </a:r>
            <a:b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cout&lt;&lt;s[x2][y2]&lt;&lt;endl;</a:t>
            </a:r>
            <a:b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return 0;</a:t>
            </a:r>
            <a:b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}</a:t>
            </a:r>
            <a:b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}</a:t>
            </a:r>
            <a:b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}</a:t>
            </a:r>
            <a:b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head++;</a:t>
            </a:r>
            <a:b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}</a:t>
            </a:r>
            <a:b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宽度优先搜索</a:t>
            </a:r>
            <a:endParaRPr lang="zh-CN" altLang="zh-CN" dirty="0"/>
          </a:p>
        </p:txBody>
      </p:sp>
      <p:sp>
        <p:nvSpPr>
          <p:cNvPr id="4" name="文本框 3"/>
          <p:cNvSpPr txBox="1"/>
          <p:nvPr/>
        </p:nvSpPr>
        <p:spPr>
          <a:xfrm>
            <a:off x="800823" y="1795969"/>
            <a:ext cx="4426270" cy="461664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#include&lt;bits/stdc++.h&gt;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using namespace std;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int sx,sy,gx,gy;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queue &lt; pair&lt;int,int&gt; &gt; q;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int dx[15]={2,-2,-1,1,2,2,2,2,1,-1,-2,-2};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int dy[12]={-1,-2,-2,-2,-2,-1,1,2,2,2,2,1};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int d[101][101];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void bfs()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{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	int nx,ny;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	pair&lt;int,int&gt; p(1,1);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	q.push(p);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	while(!q.empty())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	{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		p=q.front();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		q.pop();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		for(int i=0;i&lt;12;i++)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		{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			nx=p.first+dx[i]; 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			ny=p.second+dy[i];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			</a:t>
            </a:r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878889" y="1367439"/>
            <a:ext cx="17139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chemeClr val="accent2"/>
                </a:solidFill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</a:rPr>
              <a:t>参考程序</a:t>
            </a:r>
            <a:r>
              <a:rPr lang="en-US" altLang="zh-CN" b="1" dirty="0">
                <a:solidFill>
                  <a:schemeClr val="accent2"/>
                </a:solidFill>
              </a:rPr>
              <a:t>2】</a:t>
            </a:r>
          </a:p>
        </p:txBody>
      </p:sp>
      <p:sp>
        <p:nvSpPr>
          <p:cNvPr id="8" name="矩形 7"/>
          <p:cNvSpPr/>
          <p:nvPr/>
        </p:nvSpPr>
        <p:spPr>
          <a:xfrm>
            <a:off x="5399965" y="1379577"/>
            <a:ext cx="7142328" cy="54784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         if(nx&gt;0 &amp;&amp; ny&gt;0 &amp;&amp; nx&lt;=100 &amp;&amp; ny&lt;=100 &amp;&amp; d[nx][ny]==-1)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        {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	d[nx][ny]=d[p.first][p.second]+1;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                  if(d[sx][sy]&gt;0 &amp;&amp; d[gx][gy]&gt;0)  //</a:t>
            </a:r>
            <a:r>
              <a:rPr lang="zh-CN" altLang="en-US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输出问题的解</a:t>
            </a:r>
          </a:p>
          <a:p>
            <a:r>
              <a:rPr lang="zh-CN" altLang="en-US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	</a:t>
            </a:r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{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		cout&lt;&lt;d[sx][sy]&lt;&lt;endl;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		cout&lt;&lt;d[gx][gy]&lt;&lt;endl;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		while(!q.empty()) q.pop();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		break;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	}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	pair&lt;int,int&gt; p1(nx,ny);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	q.push(p1);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	}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}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}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}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int main()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{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    cin&gt;&gt;sx&gt;&gt;sy&gt;&gt;gx&gt;&gt;gy;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    for(int i=1;i&lt;=100;i++)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        for(int j=1;j&lt;=100;j++) d[i][j]=-1;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    d[1][1]=0;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    bfs();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   return 0;</a:t>
            </a:r>
          </a:p>
          <a:p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}</a:t>
            </a:r>
          </a:p>
        </p:txBody>
      </p:sp>
      <p:cxnSp>
        <p:nvCxnSpPr>
          <p:cNvPr id="9" name="直接连接符 8"/>
          <p:cNvCxnSpPr/>
          <p:nvPr/>
        </p:nvCxnSpPr>
        <p:spPr>
          <a:xfrm>
            <a:off x="5266420" y="1518409"/>
            <a:ext cx="0" cy="4909351"/>
          </a:xfrm>
          <a:prstGeom prst="line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zh-CN" altLang="en-US" dirty="0"/>
              <a:t>谢谢！</a:t>
            </a:r>
          </a:p>
        </p:txBody>
      </p:sp>
      <p:pic>
        <p:nvPicPr>
          <p:cNvPr id="5" name="图片占位符 4"/>
          <p:cNvPicPr>
            <a:picLocks noGrp="1" noChangeAspect="1"/>
          </p:cNvPicPr>
          <p:nvPr>
            <p:ph type="pic" sz="quarter" idx="13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09" r="13409"/>
          <a:stretch>
            <a:fillRect/>
          </a:stretch>
        </p:blipFill>
        <p:spPr/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学术文献 16x9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3518</Words>
  <Application>Microsoft Office PowerPoint</Application>
  <PresentationFormat>宽屏</PresentationFormat>
  <Paragraphs>336</Paragraphs>
  <Slides>29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34" baseType="lpstr">
      <vt:lpstr>微软雅黑</vt:lpstr>
      <vt:lpstr>Euphemia</vt:lpstr>
      <vt:lpstr>Times New Roman</vt:lpstr>
      <vt:lpstr>Wingdings</vt:lpstr>
      <vt:lpstr>学术文献 16x9</vt:lpstr>
      <vt:lpstr>宽度优先搜索</vt:lpstr>
      <vt:lpstr>学习目标</vt:lpstr>
      <vt:lpstr>搜索</vt:lpstr>
      <vt:lpstr>宽度优先搜索</vt:lpstr>
      <vt:lpstr>宽度优先搜索</vt:lpstr>
      <vt:lpstr>宽度优先搜索</vt:lpstr>
      <vt:lpstr>宽度优先搜索</vt:lpstr>
      <vt:lpstr>宽度优先搜索</vt:lpstr>
      <vt:lpstr>宽度优先搜索</vt:lpstr>
      <vt:lpstr>宽度优先搜索</vt:lpstr>
      <vt:lpstr>宽度优先搜索</vt:lpstr>
      <vt:lpstr>宽度优先搜索</vt:lpstr>
      <vt:lpstr>宽度优先搜索</vt:lpstr>
      <vt:lpstr>宽度优先搜索</vt:lpstr>
      <vt:lpstr>宽度优先搜索</vt:lpstr>
      <vt:lpstr>宽度优先搜索</vt:lpstr>
      <vt:lpstr>宽度优先搜索</vt:lpstr>
      <vt:lpstr>宽度优先搜索</vt:lpstr>
      <vt:lpstr>宽度优先搜索</vt:lpstr>
      <vt:lpstr>宽度优先搜索</vt:lpstr>
      <vt:lpstr>宽度优先搜索</vt:lpstr>
      <vt:lpstr>宽度优先搜索</vt:lpstr>
      <vt:lpstr>宽度优先搜索</vt:lpstr>
      <vt:lpstr>宽度优先搜索</vt:lpstr>
      <vt:lpstr>宽度优先搜索</vt:lpstr>
      <vt:lpstr>宽度优先搜索</vt:lpstr>
      <vt:lpstr>宽度优先搜索</vt:lpstr>
      <vt:lpstr>宽度优先搜索</vt:lpstr>
      <vt:lpstr>谢谢！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15</cp:revision>
  <dcterms:created xsi:type="dcterms:W3CDTF">2017-11-04T04:56:00Z</dcterms:created>
  <dcterms:modified xsi:type="dcterms:W3CDTF">2021-05-24T03:49:39Z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0x0101006EDDDB5EE6D98C44930B742096920B300400F5B6D36B3EF94B4E9A635CDF2A18F5B8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  <property fmtid="{D5CDD505-2E9C-101B-9397-08002B2CF9AE}" pid="8" name="KSOProductBuildVer">
    <vt:lpwstr>2052-11.1.0.9999</vt:lpwstr>
  </property>
</Properties>
</file>