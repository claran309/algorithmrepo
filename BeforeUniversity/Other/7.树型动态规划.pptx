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1" r:id="rId2"/>
  </p:sldMasterIdLst>
  <p:notesMasterIdLst>
    <p:notesMasterId r:id="rId49"/>
  </p:notesMasterIdLst>
  <p:handoutMasterIdLst>
    <p:handoutMasterId r:id="rId50"/>
  </p:handoutMasterIdLst>
  <p:sldIdLst>
    <p:sldId id="706" r:id="rId3"/>
    <p:sldId id="612" r:id="rId4"/>
    <p:sldId id="668" r:id="rId5"/>
    <p:sldId id="669" r:id="rId6"/>
    <p:sldId id="613" r:id="rId7"/>
    <p:sldId id="729" r:id="rId8"/>
    <p:sldId id="730" r:id="rId9"/>
    <p:sldId id="675" r:id="rId10"/>
    <p:sldId id="708" r:id="rId11"/>
    <p:sldId id="614" r:id="rId12"/>
    <p:sldId id="642" r:id="rId13"/>
    <p:sldId id="673" r:id="rId14"/>
    <p:sldId id="674" r:id="rId15"/>
    <p:sldId id="709" r:id="rId16"/>
    <p:sldId id="732" r:id="rId17"/>
    <p:sldId id="733" r:id="rId18"/>
    <p:sldId id="734" r:id="rId19"/>
    <p:sldId id="710" r:id="rId20"/>
    <p:sldId id="731" r:id="rId21"/>
    <p:sldId id="711" r:id="rId22"/>
    <p:sldId id="712" r:id="rId23"/>
    <p:sldId id="713" r:id="rId24"/>
    <p:sldId id="714" r:id="rId25"/>
    <p:sldId id="715" r:id="rId26"/>
    <p:sldId id="718" r:id="rId27"/>
    <p:sldId id="716" r:id="rId28"/>
    <p:sldId id="717" r:id="rId29"/>
    <p:sldId id="719" r:id="rId30"/>
    <p:sldId id="720" r:id="rId31"/>
    <p:sldId id="721" r:id="rId32"/>
    <p:sldId id="722" r:id="rId33"/>
    <p:sldId id="723" r:id="rId34"/>
    <p:sldId id="724" r:id="rId35"/>
    <p:sldId id="725" r:id="rId36"/>
    <p:sldId id="726" r:id="rId37"/>
    <p:sldId id="727" r:id="rId38"/>
    <p:sldId id="728" r:id="rId39"/>
    <p:sldId id="667" r:id="rId40"/>
    <p:sldId id="736" r:id="rId41"/>
    <p:sldId id="735" r:id="rId42"/>
    <p:sldId id="737" r:id="rId43"/>
    <p:sldId id="738" r:id="rId44"/>
    <p:sldId id="740" r:id="rId45"/>
    <p:sldId id="739" r:id="rId46"/>
    <p:sldId id="741" r:id="rId47"/>
    <p:sldId id="707" r:id="rId48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commentAuthors" Target="commentAuthors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2022/2/19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/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/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2022/2/19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2022/2/19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2022/2/19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2022/2/19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2022/2/19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2022/2/19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2022/2/19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树型动态规划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理解树型动态规划的内涵。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学会运用树型动态规划的思想求解实际问题。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77207"/>
            <a:ext cx="10060582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树型动态规划就是在“树”的数据结构上的动态规划，一般的动态规划是线性的或者是建立在图上的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在树上设计动态规划算法时，一般以节点从深到浅（子树从小到大）的顺序作为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的“阶段”。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的状态表示中，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第一维通常是节点的编号（代表以 该节点为根的子树）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。对于每个节点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，先递归在 它的每个子节点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上进行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，在回归时，从子节点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进行状态转移。大多数时候，我们采用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的方式实现树型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3" name="矩形 2"/>
          <p:cNvSpPr/>
          <p:nvPr/>
        </p:nvSpPr>
        <p:spPr>
          <a:xfrm>
            <a:off x="1104900" y="1857027"/>
            <a:ext cx="6096000" cy="222477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基础应用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子树和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基础应用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直径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覆盖类问题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树上背包问题 </a:t>
            </a:r>
          </a:p>
        </p:txBody>
      </p:sp>
      <p:sp>
        <p:nvSpPr>
          <p:cNvPr id="4" name="矩形 3"/>
          <p:cNvSpPr/>
          <p:nvPr/>
        </p:nvSpPr>
        <p:spPr>
          <a:xfrm>
            <a:off x="1104900" y="1294244"/>
            <a:ext cx="646331" cy="56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343148"/>
            <a:ext cx="10140481" cy="1347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子树和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104900" y="1834639"/>
                <a:ext cx="7657360" cy="3517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有一个权值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val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[u]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，统计节点的子树和</a:t>
                </a:r>
              </a:p>
              <a:p>
                <a:pPr marL="285750" indent="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令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sum[ 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为子树和数组，叶子的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val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对于每个节点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以及它的子节点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v, sum[u] =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val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[u]+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𝑠𝑢𝑚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[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</m:t>
                        </m:r>
                      </m:e>
                    </m:nary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</a:t>
                </a:r>
              </a:p>
              <a:p>
                <a:pPr marL="285750" indent="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统计子树大小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把所有节点的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val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即可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marL="285750" indent="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找重心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1834639"/>
                <a:ext cx="7657360" cy="3517438"/>
              </a:xfrm>
              <a:prstGeom prst="rect">
                <a:avLst/>
              </a:prstGeom>
              <a:blipFill rotWithShape="1">
                <a:blip r:embed="rId2"/>
                <a:stretch>
                  <a:fillRect t="-4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最大子树和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Luogu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P1122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给出一颗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个节点的无根树，每个节点有一个权值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600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可能为负数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要求保留树上一个连通块，使得留下的权值和最大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-1 -1 -1 1 1 1 0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1 4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2 5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3 6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4 7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5 7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6 7</a:t>
            </a: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22703" y="2903059"/>
            <a:ext cx="6096000" cy="11568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N≤1000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N≤16000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1621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1104900" y="1645730"/>
            <a:ext cx="9980682" cy="1669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设立状态：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f[u]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为根且包含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的最大权联通块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状态转移方程：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f[u]+=max(0,f[v]); (v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的孩子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有些儿子比较丑，美丽指数小于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，可能不选，所以与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作个比较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4" t="5471" r="15737" b="10022"/>
          <a:stretch>
            <a:fillRect/>
          </a:stretch>
        </p:blipFill>
        <p:spPr>
          <a:xfrm>
            <a:off x="1450022" y="3644419"/>
            <a:ext cx="2138797" cy="257843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9" t="6297" r="20853" b="10250"/>
          <a:stretch>
            <a:fillRect/>
          </a:stretch>
        </p:blipFill>
        <p:spPr>
          <a:xfrm>
            <a:off x="5402422" y="3505424"/>
            <a:ext cx="2138798" cy="2856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47448" y="142874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900" y="1946645"/>
            <a:ext cx="5791702" cy="3170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250159"/>
            <a:ext cx="10188606" cy="3228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树的重心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给出一棵有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个节点的无根树。求该树的重心。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树的重心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：若有一节点，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以该节点为根的所有子树中最大子树的节点数最少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，则该点就是这棵树的重心。或者说，删除这个节点后最大连通块的节点数最小，那么这个点就是树的重心。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一般的树只有一个重心，有些有偶数个节点的树，可能有两个重心。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1026" name="Picture 2" descr="preview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02"/>
          <a:stretch>
            <a:fillRect/>
          </a:stretch>
        </p:blipFill>
        <p:spPr bwMode="auto">
          <a:xfrm>
            <a:off x="1059402" y="4133758"/>
            <a:ext cx="4101177" cy="244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树的重心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求树的重心方法就是随意确定一个根节点，先把无根树转化为有根树，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求出所有点的子树的节点个数。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如果有一点满足该点的子树的节点数的二倍大于等于总结点数</a:t>
            </a:r>
            <a:r>
              <a:rPr lang="en-US" altLang="zh-CN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(size[u]*2&gt;=n)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，并且该点的儿子都满足子树的节点数的二倍小于等于总结点数</a:t>
            </a:r>
            <a:r>
              <a:rPr lang="en-US" altLang="zh-CN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(size[</a:t>
            </a:r>
            <a:r>
              <a:rPr lang="en-US" altLang="zh-CN" b="1" dirty="0" err="1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son_u</a:t>
            </a:r>
            <a:r>
              <a:rPr lang="en-US" altLang="zh-CN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]*2&lt;=n)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，这个点就是树的重心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树的重心的性质：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树上所有的点到树的重心的距离之和是最短的，如果有多个重心，那么总距离相等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、插入或删除一个点，树的重心的位置最多移动一个单位。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、若添加一条边连接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棵树，那么新树的重心一定在原来两棵树的重心的路径上。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50715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953980" y="1350715"/>
            <a:ext cx="6784665" cy="11967924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3987" y="1865619"/>
            <a:ext cx="6592415" cy="41978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46402" y="1865619"/>
            <a:ext cx="4008214" cy="32842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医院设置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设有一棵二叉树，如图：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其中，圈中的数字表示结点中居民的人口。圈边上数字表示结点编号，现在要求在某个结点上建立一个医院，使所有居民所走的路程之和为最小，同时约定，相邻接点之间的距离为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。如上图中，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若医院建在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处，则距离和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=4+12+2*20+2*40=136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；若医院建在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处，则距离和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=4*2+13+20+40=81……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，表示树的结点数。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(n≤100)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行每行描述了一个结点的状况，包含三个整数，整数之间用空格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一个或多个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分隔，其中：第一个数为居民人口数；第二个数为左链接，为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表示无链接；第三个数为右链接。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一个整数，表示最小距离和。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21" y="1448308"/>
            <a:ext cx="2519594" cy="1889696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604986" y="1545201"/>
            <a:ext cx="1497752" cy="1883799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13 2 3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4 0 0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12 4 5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20 0 0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40 0 0 </a:t>
            </a:r>
          </a:p>
        </p:txBody>
      </p:sp>
      <p:sp>
        <p:nvSpPr>
          <p:cNvPr id="7" name="矩形 6"/>
          <p:cNvSpPr/>
          <p:nvPr/>
        </p:nvSpPr>
        <p:spPr>
          <a:xfrm>
            <a:off x="8701607" y="1620619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899604" y="1537162"/>
            <a:ext cx="9980682" cy="5402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）找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加权重心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，权重为居民人口数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size[u]=w[u];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）以重心为根遍历求距离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dfs2(int 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u,int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dep){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for(int 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=head[u];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i;i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=next[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int v=to[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	if(father[u]!=v){  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		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father[v]=u;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dfs2(v,dep+1);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sum+=dep*w[u];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}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一棵树的直径就是这棵树上存在的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最长路径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两次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。第一次任意选一个点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找到离它最远的点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，此点就是最长路的一个端点，再以此点进行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），找到离它最远的点，此点就是最长路的另一个端点， 于是就找到了树的直径。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①从任意一点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寻找离它最远的点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②再次从点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寻找离它最远的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③直径即为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WQ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算法证明：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①若点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本身就在直径上，则根据直径的定义，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必定是直径的一个端点。若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不是直径端点，则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PQ+PW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（直径另一端点）必定能组成一条更长的简单路径，与定义矛盾。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算法证明：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②若点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不在直径上，则我们通过反证法来证明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必定是直径端点。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定义直径为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上，则有以下两种情况：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有交点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3992" y="6282004"/>
            <a:ext cx="9955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CP+CQ&gt;CP+CB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CQ+CA&gt;CB+CA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QA&gt;AB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，不符合直径定义，矛盾。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4224723"/>
            <a:ext cx="4408933" cy="18435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算法证明：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无交点：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7119" y="5733779"/>
            <a:ext cx="105483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CP+CQ&gt;CP+CD+DB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CQ&gt;CD+DB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，两边同加，则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CQ+CD+DA&gt;CD+DB+CD+DA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AQ&gt;AB+2CD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，不符合直径定义，矛盾。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19" y="3138977"/>
            <a:ext cx="7940235" cy="23478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306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给出一棵无根树，求树的直径，即树上两点之间的最长距离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第一行为树的节点总数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，第二行至第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行每行两个整数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 示树上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点之间有边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输出树的直径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Sample Input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5 1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6 3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2 6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6 1  </a:t>
            </a:r>
          </a:p>
        </p:txBody>
      </p:sp>
      <p:sp>
        <p:nvSpPr>
          <p:cNvPr id="3" name="矩形 2"/>
          <p:cNvSpPr/>
          <p:nvPr/>
        </p:nvSpPr>
        <p:spPr>
          <a:xfrm>
            <a:off x="3646715" y="3385457"/>
            <a:ext cx="6096000" cy="11084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Sample Output 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50715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953980" y="1350715"/>
            <a:ext cx="6784665" cy="11967924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146" y="1823653"/>
            <a:ext cx="5641312" cy="272732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91458" y="1823653"/>
            <a:ext cx="4991100" cy="3651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覆盖类问题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相邻点选择限制（例：独立集）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相邻点覆盖限制（例：覆盖集，支配集）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链覆盖限制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61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没有上司的舞会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某公司有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个职员，编号为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。他们之间有从属关系，也就是说他们的关系就像一棵以董事长为根的树，父结点就是子结点的直接上司。现在有个周年庆宴会，宴会每邀请来一个职员都会增加一定的快乐指数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，但是呢，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如果某个职员的上司来参加舞会了，那么这个职员就无论如何也不肯来参加舞会了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。所以，请你编程计算，邀请哪些职员可以使快乐指数最大，求最大的快乐指数。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(1&lt;=N&lt;=6000)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个数，每个数之间用一个空格隔开，第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号职员的快乐指数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(-128&lt;=Ri&lt;=127)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行，每行输入一对整数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L,K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的直接上司。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输出最大的快乐指数。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5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24109" y="5247589"/>
            <a:ext cx="6276512" cy="437249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7 1 1 1 1 1 1 1 1 3 2 3 6 4 7 4 4 5 3 5 0 0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1104900" y="1829840"/>
            <a:ext cx="9432894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建图（邻接矩阵），找到没有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的那个点（根节点），从这个点开始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每个点都有两种情况，选择这个点取得的最大值和不选取得最大值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表示选择这个点时的最大值，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表示不选这个点取得最大值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程式为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[x][0]+=max(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][1],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][0]);    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[x][1]+=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][0];  (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的子结点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1004558" y="1721828"/>
            <a:ext cx="413561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&lt;int&gt; G[6010];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n,x,y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[6010][2];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r[6010];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boss[6010];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u)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j=0;j&lt;G[u].size();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v=G[u][j];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[u][0]+=max(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[v][1],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[v][0]);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[u][1]+=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[v][0];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[u][1]+=r[u];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67116" y="1465675"/>
            <a:ext cx="433417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d%d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",&amp;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x,&amp;y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)==2,x||y)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G[y].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push_back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boss[x]=y;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if(boss[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]==0)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d",max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][0]));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459767" y="1465675"/>
            <a:ext cx="0" cy="5165944"/>
          </a:xfrm>
          <a:prstGeom prst="line">
            <a:avLst/>
          </a:prstGeom>
          <a:ln w="28575"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28117" y="1261938"/>
            <a:ext cx="10157465" cy="6696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皇宫看守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太平王世子事件后，陆小凤成了皇上特聘的御前一品侍卫。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皇宫以午门为起点，直到后宫嫔妃们的寝宫，呈一棵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的形状；某些宫殿间可以互相望见。大内保卫 森严，三步一岗，五步一哨，每个宫殿都要有人全天候看守，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在不同的宫殿安排看守所需的费用不同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。可是陆小凤手上的经费不足，无论如何也没法在每个宫殿都安置留守侍卫。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编程任务：帮助陆小凤布置侍卫，在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看守全部宫殿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的前提下，使得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花费的经费最少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，表示树中节点的个数。第二行到第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行，每行描述每个宫殿结点信息，依次为：该宫殿结点标号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0&lt;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&lt;=n&lt;=1500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在该宫殿安置侍卫所需的经费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，该边的子节点数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个数，分别是这个节点的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个子节点的标号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r1,r2…rm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输出所求的最少经费。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1 30 3 2 3 4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2 16 2 5 6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3 5 0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4 4 0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5 11 0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6 5 0</a:t>
            </a:r>
          </a:p>
        </p:txBody>
      </p:sp>
      <p:sp>
        <p:nvSpPr>
          <p:cNvPr id="3" name="矩形 2"/>
          <p:cNvSpPr/>
          <p:nvPr/>
        </p:nvSpPr>
        <p:spPr>
          <a:xfrm>
            <a:off x="2576724" y="4886281"/>
            <a:ext cx="6096000" cy="18955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4 4 0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5 11 0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6 5 0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326541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1009934" y="1706972"/>
            <a:ext cx="9363367" cy="4450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][0]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节点在父节点可看到时，以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为根的子树需要安排的最少士兵数；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][1]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节点在子节点可看到时，以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为根的子树需要安排的最少士兵数；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][2]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节点安置士兵时，以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为根的子树需要安排的最少士兵数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][0]+=min{f[son][1],f[son][2]}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在父节点可以看到，这时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没有安排警卫，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的子节点要么安排警卫，要么被他的后代看到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][2]=min{f[son][0],f[son][1],f[son][2]}+w[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安排了警卫，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的儿子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可以安排警卫，也可以被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的儿子看守，还可以被他的父亲看守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权值最少的覆盖集</a:t>
            </a:r>
          </a:p>
          <a:p>
            <a:pPr>
              <a:lnSpc>
                <a:spcPct val="20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170478" y="1549251"/>
            <a:ext cx="2347941" cy="2165644"/>
            <a:chOff x="8060665" y="2561490"/>
            <a:chExt cx="2875863" cy="2652577"/>
          </a:xfrm>
        </p:grpSpPr>
        <p:grpSp>
          <p:nvGrpSpPr>
            <p:cNvPr id="23" name="组合 22"/>
            <p:cNvGrpSpPr/>
            <p:nvPr/>
          </p:nvGrpSpPr>
          <p:grpSpPr>
            <a:xfrm>
              <a:off x="8322962" y="2561490"/>
              <a:ext cx="2613566" cy="2111254"/>
              <a:chOff x="8322962" y="2561490"/>
              <a:chExt cx="2613566" cy="2111254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8322962" y="2649984"/>
                <a:ext cx="2042974" cy="2022760"/>
                <a:chOff x="8904302" y="1779972"/>
                <a:chExt cx="2042974" cy="2022760"/>
              </a:xfrm>
            </p:grpSpPr>
            <p:sp>
              <p:nvSpPr>
                <p:cNvPr id="3" name="椭圆 2"/>
                <p:cNvSpPr/>
                <p:nvPr/>
              </p:nvSpPr>
              <p:spPr>
                <a:xfrm>
                  <a:off x="9632271" y="1779972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9632271" y="2573225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9783191" y="3500890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8904302" y="3500891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10645435" y="3500889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>
                  <a:stCxn id="3" idx="4"/>
                  <a:endCxn id="7" idx="0"/>
                </p:cNvCxnSpPr>
                <p:nvPr/>
              </p:nvCxnSpPr>
              <p:spPr>
                <a:xfrm>
                  <a:off x="9783192" y="2081813"/>
                  <a:ext cx="0" cy="491412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>
                  <a:stCxn id="7" idx="4"/>
                  <a:endCxn id="9" idx="0"/>
                </p:cNvCxnSpPr>
                <p:nvPr/>
              </p:nvCxnSpPr>
              <p:spPr>
                <a:xfrm flipH="1">
                  <a:off x="9055223" y="2875066"/>
                  <a:ext cx="727969" cy="625825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>
                  <a:stCxn id="7" idx="4"/>
                  <a:endCxn id="8" idx="0"/>
                </p:cNvCxnSpPr>
                <p:nvPr/>
              </p:nvCxnSpPr>
              <p:spPr>
                <a:xfrm>
                  <a:off x="9783192" y="2875066"/>
                  <a:ext cx="150920" cy="625824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>
                  <a:stCxn id="7" idx="4"/>
                  <a:endCxn id="10" idx="0"/>
                </p:cNvCxnSpPr>
                <p:nvPr/>
              </p:nvCxnSpPr>
              <p:spPr>
                <a:xfrm>
                  <a:off x="9783192" y="2875066"/>
                  <a:ext cx="1013164" cy="625823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文本框 19"/>
              <p:cNvSpPr txBox="1"/>
              <p:nvPr/>
            </p:nvSpPr>
            <p:spPr>
              <a:xfrm>
                <a:off x="9493501" y="3402834"/>
                <a:ext cx="1443027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当前节点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552460" y="2561490"/>
                <a:ext cx="1110864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父节点</a:t>
                </a: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8060665" y="4799391"/>
              <a:ext cx="1443027" cy="414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子节点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326541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998512" y="1585000"/>
            <a:ext cx="10087069" cy="4942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][1]=min{f[son][1],f[son][2]}+d 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d=min{f[son][2]−min(f[son][1],f[son][2])}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在子节点可以看到，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子节点至少有一个节点需要安排看守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理想的情况下，子结点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中如果有至少有一个结点满足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min{F(y,1),F(y,2) }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可得：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F(x,1)=∑( min{ F(y,1),F(y,2) })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但是如果所有的子结点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更小，那么至少要取一个子结点的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F(y,2).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解决的方法是取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{F(y,1),F(y,2)}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绝对值最小一组的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F(y,2),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可使总和最小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 1=7+3+1=11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 2=6+5+1=12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 3=6+3+4=13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显然取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更小的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更优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901" y="4061712"/>
            <a:ext cx="7382152" cy="6558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736" y="1761898"/>
            <a:ext cx="5304778" cy="298567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15433" y="1721828"/>
            <a:ext cx="4436984" cy="43100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28117" y="1377348"/>
            <a:ext cx="10157465" cy="4850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战略游戏  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Luogu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P2016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喜欢玩电脑游戏，特别是战略游戏。但是他经常无法找到快速玩过游戏的办法。现在他有个问题。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他要建立一个古城堡，城堡中的路形成一棵树。他要在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这棵树的结点上放置最少数目的士兵，使得这些士兵能了望到所有的路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注意，某个士兵在一个结点上时，与该结点相连的所有边将都可以被了望到。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请你编一程序，给定一树，帮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计算出他需要放置最少的士兵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，表示树中结点的数目。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第二行至第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行，每行描述每个结点信息，依次为：该结点标号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条边与结点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相连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个数，分别是每条边的另一个结点标号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n(0&lt;n&lt;=1500)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个结点的树，结点标号在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之间，在输入数据中每条边只出现一次。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输出格式： 输出文件仅包含一个数，为所求的最少的士兵数目。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477199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009935" y="1840612"/>
                <a:ext cx="9363367" cy="34651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][0]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节点不放士兵时，以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为根的子树需要安排的最少士兵数； 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• f[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][1]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节点放士兵时，以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为根的子树需要安排的最少士兵数； 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不放时，它的所有儿子都必须放，即：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sz="1600" b="1" dirty="0" err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][0]=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[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𝒔𝒐𝒏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][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 </m:t>
                        </m:r>
                      </m:e>
                    </m:nary>
                  </m:oMath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放时，它的所有儿子放与不放都无所谓，但应该取两种情况的最小值。即：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sz="1600" b="1" dirty="0" err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][1]=1+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𝒎𝒊𝒏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{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[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𝒔𝒐𝒏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][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],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[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𝒔𝒐𝒏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][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]}</m:t>
                        </m:r>
                      </m:e>
                    </m:nary>
                  </m:oMath>
                </a14:m>
                <a:endPara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35" y="1840612"/>
                <a:ext cx="9363367" cy="3465179"/>
              </a:xfrm>
              <a:prstGeom prst="rect">
                <a:avLst/>
              </a:prstGeom>
              <a:blipFill rotWithShape="1">
                <a:blip r:embed="rId2"/>
                <a:stretch>
                  <a:fillRect l="-3" t="-11" r="6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/>
          <p:cNvGrpSpPr/>
          <p:nvPr/>
        </p:nvGrpSpPr>
        <p:grpSpPr>
          <a:xfrm>
            <a:off x="8737641" y="1511207"/>
            <a:ext cx="2347941" cy="2165644"/>
            <a:chOff x="8060665" y="2561490"/>
            <a:chExt cx="2875863" cy="2652577"/>
          </a:xfrm>
        </p:grpSpPr>
        <p:grpSp>
          <p:nvGrpSpPr>
            <p:cNvPr id="23" name="组合 22"/>
            <p:cNvGrpSpPr/>
            <p:nvPr/>
          </p:nvGrpSpPr>
          <p:grpSpPr>
            <a:xfrm>
              <a:off x="8322962" y="2561490"/>
              <a:ext cx="2613566" cy="2111254"/>
              <a:chOff x="8322962" y="2561490"/>
              <a:chExt cx="2613566" cy="2111254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8322962" y="2649984"/>
                <a:ext cx="2042974" cy="2022760"/>
                <a:chOff x="8904302" y="1779972"/>
                <a:chExt cx="2042974" cy="2022760"/>
              </a:xfrm>
            </p:grpSpPr>
            <p:sp>
              <p:nvSpPr>
                <p:cNvPr id="3" name="椭圆 2"/>
                <p:cNvSpPr/>
                <p:nvPr/>
              </p:nvSpPr>
              <p:spPr>
                <a:xfrm>
                  <a:off x="9632271" y="1779972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9632271" y="2573225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9783191" y="3500890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8904302" y="3500891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10645435" y="3500889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>
                  <a:stCxn id="3" idx="4"/>
                  <a:endCxn id="7" idx="0"/>
                </p:cNvCxnSpPr>
                <p:nvPr/>
              </p:nvCxnSpPr>
              <p:spPr>
                <a:xfrm>
                  <a:off x="9783192" y="2081813"/>
                  <a:ext cx="0" cy="491412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>
                  <a:stCxn id="7" idx="4"/>
                  <a:endCxn id="9" idx="0"/>
                </p:cNvCxnSpPr>
                <p:nvPr/>
              </p:nvCxnSpPr>
              <p:spPr>
                <a:xfrm flipH="1">
                  <a:off x="9055223" y="2875066"/>
                  <a:ext cx="727969" cy="625825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>
                  <a:stCxn id="7" idx="4"/>
                  <a:endCxn id="8" idx="0"/>
                </p:cNvCxnSpPr>
                <p:nvPr/>
              </p:nvCxnSpPr>
              <p:spPr>
                <a:xfrm>
                  <a:off x="9783192" y="2875066"/>
                  <a:ext cx="150920" cy="625824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>
                  <a:stCxn id="7" idx="4"/>
                  <a:endCxn id="10" idx="0"/>
                </p:cNvCxnSpPr>
                <p:nvPr/>
              </p:nvCxnSpPr>
              <p:spPr>
                <a:xfrm>
                  <a:off x="9783192" y="2875066"/>
                  <a:ext cx="1013164" cy="625823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文本框 19"/>
              <p:cNvSpPr txBox="1"/>
              <p:nvPr/>
            </p:nvSpPr>
            <p:spPr>
              <a:xfrm>
                <a:off x="9493501" y="3402834"/>
                <a:ext cx="1443027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当前节点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552460" y="2561490"/>
                <a:ext cx="1110864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父节点</a:t>
                </a: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8060665" y="4799391"/>
              <a:ext cx="1443027" cy="414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子节点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900" y="1901162"/>
            <a:ext cx="5570894" cy="27507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树型背包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树上做背包问题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28117" y="1173162"/>
            <a:ext cx="10157465" cy="595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二叉苹果树  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Luogu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P2015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有一棵苹果树，如果树枝有分叉，一定是分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叉（就是说没有只有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个儿子的结点）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这棵树共有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个结点（叶子点或者树枝分叉点），编号为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1-N,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树根编号一定是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我们用一根树枝两端连接的结点的编号来描述一根树枝的位置。下面是一颗有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个树枝的树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现在这颗树枝条太多了，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需要剪枝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。但是一些树枝上长有苹果。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给定需要保留的树枝数量，求出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最多能留住多少苹果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Q(1&lt;=Q&lt;= N,1&lt;N&lt;=100)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表示树的结点数，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表示要保留的树枝数量。接下来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行描述树枝的信息。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个整数，前两个是它连接的结点的编号。第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个数是这根树枝上苹果的数量。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每根树枝上的苹果不超过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一个数，最多能留住的苹果的数量。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 5 2 /1 3 1/ 1 4 10/ 2 3 20/ 3 5 20   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 21 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24274" y="3429000"/>
            <a:ext cx="1441906" cy="1984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477199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1009935" y="1840611"/>
            <a:ext cx="10052813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为根的子树上保留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条边的最大权值和。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9934" y="2694754"/>
            <a:ext cx="86727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−1]+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)( 1≤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]),0≤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−1) 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09934" y="3337826"/>
            <a:ext cx="10118595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表示当前节点，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的一个子节点，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s[u]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的子树上的边数，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就是题目中要求的最多保留边数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3250" y="1829839"/>
            <a:ext cx="8545969" cy="29177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28117" y="1387171"/>
            <a:ext cx="10210053" cy="4850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选课 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Luogu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P2014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在大学里每个学生，为了达到一定的学分，必须从很多课程里选择一些课程来学习，在课程里有些课程必须在某些课程之前学习，如高等数学总是在其它课程之前学习。现在有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门功课，每门课有个学分，每门课有一门或没有直接先修课（若课程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是课程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的先修课即只有学完了课程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，才能学习课程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）。一个学生要从这些课程里选择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门课程学习，问他能获得的最大学分是多少？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 第一行有两个整数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N,M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用空格隔开。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(1&lt;=N&lt;=300,1&lt;=M&lt;=300)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行包含两个整数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门课的直接先修课，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门课的学分。若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表示没有直接先修课（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&lt;=N, 1&lt;=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输出格式： 只有一行，选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门课程的最大得分。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 7  4 / 2  2 /0  1 /0  4 / 2  1 / 7  1 / 7  6 /2 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 13 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477199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009935" y="1840611"/>
                <a:ext cx="10052813" cy="39576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门课程构成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森林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（可能存在不止一门课没有先修课）。我们可以建立一个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虚拟节点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号节点，作为“实际没有先修课的课程“的先修课，把包括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个节点的森林转化为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N+1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个节点的树，其中节点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为根节点。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f[x][t]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为根的子树中选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门课能够获得最高的学分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，设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的子节点为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son(x),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子节点个数为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。修完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门课后，对于每个子节点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，可以在以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为根的子树中选修若干门课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ci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=t-1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的基础上获得尽量多的学分。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t=0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时，显然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f[x][t]=0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。当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t&gt;0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时，状态转移方程为：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                                       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典型的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分组背包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p=|son(x)|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组物品，从每组选出不超过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个物品（每个子节点只能选一个进行转移），物品体积不超过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t-1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的情况下，使物品价值总和最大。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x=0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为特例，虚拟的根节点不需要被选修，背包容积为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35" y="1840611"/>
                <a:ext cx="10052813" cy="3957622"/>
              </a:xfrm>
              <a:prstGeom prst="rect">
                <a:avLst/>
              </a:prstGeom>
              <a:blipFill rotWithShape="1">
                <a:blip r:embed="rId2"/>
                <a:stretch>
                  <a:fillRect l="-3" t="-10" r="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45102" y="4413238"/>
                <a:ext cx="8672779" cy="436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l-PL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]=</a:t>
                </a:r>
                <a:r>
                  <a:rPr lang="pl-PL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l-PL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𝑦𝑖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+score[x])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02" y="4413238"/>
                <a:ext cx="8672779" cy="436530"/>
              </a:xfrm>
              <a:prstGeom prst="rect">
                <a:avLst/>
              </a:prstGeom>
              <a:blipFill rotWithShape="1">
                <a:blip r:embed="rId3"/>
                <a:stretch>
                  <a:fillRect l="-3" t="-143" r="2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7726" y="1956951"/>
            <a:ext cx="845820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10346" y="1410990"/>
            <a:ext cx="5066560" cy="20621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P1040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加分二叉树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P1273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有线电视网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4999" y="1477207"/>
            <a:ext cx="10089843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二次扫描与换根法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定义：是一种处理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无根树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问题的方法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算法特点：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第一次扫描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时，在 “有根树” 上（选择一个点为根）进行一次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树形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用来处理关键数据（准备工作），进行一次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，此过程是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自下及上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第二次扫描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时，在刚才选定的根上进行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自上及下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的推导，借助第一步处理的信息完成换根后的解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90214" y="1262884"/>
            <a:ext cx="10210053" cy="5219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积蓄程度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有一个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树形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的水系，由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N−1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条河道和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个交叉点组成。我们可以把交叉点看作树中的节点，编号为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1∼N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，河道则看作树中的无向边。每条河道都有一个容量，连接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的河道的容量记为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河道中单位时间流过的水量不能超过河道的容量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。有一个节点是整个水系的发源地，可以源源不断地流出水，我们称之为源点。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除了源点之外，树中所有度数为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节点都是入海口，可以吸收无限多的水，我们称之为汇点。也就是说，水系中的水从源点出发，沿着每条河道，最终流向各个汇点。在整个水系稳定时，每条河道中的水都以单位时间固定的水量流向固定的方向。除源点和汇点之外，其余各点不贮存水，也就是流入该点的河道水量之和等于从该点流出的河道水量之和。整个水系的流量就定义为源点单位时间发出的水量。在流量不超过河道容量的前提下，求哪个点作为源点时，整个水系的流量最大，输出这个最大值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输入第一行包含整数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，表示共有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组测试数据。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每组测试数据，第一行包含整数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N−1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行，每行包含三个整数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x,y,z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之间存在河道，且河道容量为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节点编号从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90214" y="1262884"/>
            <a:ext cx="10210053" cy="5588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积蓄程度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每组数据输出一个结果，每个结果占一行。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数据保证结果不超过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2^31−1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N≤2×10^5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1 2 11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1 4 13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3 4 5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4 5 10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899604" y="1578651"/>
            <a:ext cx="998068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朴素做法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枚举所有点作为源点（树的根），将其转化为有根树进行求解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在有根树中每个结点的流域就是它的子树，因此我们处理出一个数组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D[s]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，表示以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为根的子树中，把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作为源点，从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出发流向子树的流量最大是多少，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deg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数组存储入度或出度，判断是否为叶节点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44" y="4346093"/>
            <a:ext cx="5862251" cy="10256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72612" y="5440155"/>
            <a:ext cx="9980682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N^2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72F9DB2-0813-40D3-9D5D-2450ABECD0F8}"/>
              </a:ext>
            </a:extLst>
          </p:cNvPr>
          <p:cNvGrpSpPr/>
          <p:nvPr/>
        </p:nvGrpSpPr>
        <p:grpSpPr>
          <a:xfrm>
            <a:off x="7364130" y="4085921"/>
            <a:ext cx="2302545" cy="2100503"/>
            <a:chOff x="8921727" y="2435656"/>
            <a:chExt cx="2302545" cy="2100503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A6C4443-5AE8-4031-8DCA-AD7B8F7C48F4}"/>
                </a:ext>
              </a:extLst>
            </p:cNvPr>
            <p:cNvGrpSpPr/>
            <p:nvPr/>
          </p:nvGrpSpPr>
          <p:grpSpPr>
            <a:xfrm>
              <a:off x="8921727" y="2435656"/>
              <a:ext cx="2302545" cy="2100503"/>
              <a:chOff x="7843065" y="2561490"/>
              <a:chExt cx="2820259" cy="2572789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E831A60C-987F-423C-9305-8FF03E57D6A3}"/>
                  </a:ext>
                </a:extLst>
              </p:cNvPr>
              <p:cNvGrpSpPr/>
              <p:nvPr/>
            </p:nvGrpSpPr>
            <p:grpSpPr>
              <a:xfrm>
                <a:off x="7843065" y="2561490"/>
                <a:ext cx="2820259" cy="2111254"/>
                <a:chOff x="7843065" y="2561490"/>
                <a:chExt cx="2820259" cy="2111254"/>
              </a:xfrm>
            </p:grpSpPr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4A46D6FD-DB60-4407-89B1-E8DE4EA54A53}"/>
                    </a:ext>
                  </a:extLst>
                </p:cNvPr>
                <p:cNvGrpSpPr/>
                <p:nvPr/>
              </p:nvGrpSpPr>
              <p:grpSpPr>
                <a:xfrm>
                  <a:off x="8322962" y="2649984"/>
                  <a:ext cx="2042974" cy="2022760"/>
                  <a:chOff x="8904302" y="1779972"/>
                  <a:chExt cx="2042974" cy="2022760"/>
                </a:xfrm>
              </p:grpSpPr>
              <p:sp>
                <p:nvSpPr>
                  <p:cNvPr id="32" name="椭圆 31">
                    <a:extLst>
                      <a:ext uri="{FF2B5EF4-FFF2-40B4-BE49-F238E27FC236}">
                        <a16:creationId xmlns:a16="http://schemas.microsoft.com/office/drawing/2014/main" id="{E8404593-908B-4A80-A28F-56E088517499}"/>
                      </a:ext>
                    </a:extLst>
                  </p:cNvPr>
                  <p:cNvSpPr/>
                  <p:nvPr/>
                </p:nvSpPr>
                <p:spPr>
                  <a:xfrm>
                    <a:off x="9632271" y="1779972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" name="椭圆 32">
                    <a:extLst>
                      <a:ext uri="{FF2B5EF4-FFF2-40B4-BE49-F238E27FC236}">
                        <a16:creationId xmlns:a16="http://schemas.microsoft.com/office/drawing/2014/main" id="{FA672135-5DDF-4F13-800C-97D49544A53C}"/>
                      </a:ext>
                    </a:extLst>
                  </p:cNvPr>
                  <p:cNvSpPr/>
                  <p:nvPr/>
                </p:nvSpPr>
                <p:spPr>
                  <a:xfrm>
                    <a:off x="9632271" y="2573225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" name="椭圆 33">
                    <a:extLst>
                      <a:ext uri="{FF2B5EF4-FFF2-40B4-BE49-F238E27FC236}">
                        <a16:creationId xmlns:a16="http://schemas.microsoft.com/office/drawing/2014/main" id="{A9F30654-6DC4-4431-9132-BE6A3F3FAC8E}"/>
                      </a:ext>
                    </a:extLst>
                  </p:cNvPr>
                  <p:cNvSpPr/>
                  <p:nvPr/>
                </p:nvSpPr>
                <p:spPr>
                  <a:xfrm>
                    <a:off x="9783191" y="3500890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" name="椭圆 34">
                    <a:extLst>
                      <a:ext uri="{FF2B5EF4-FFF2-40B4-BE49-F238E27FC236}">
                        <a16:creationId xmlns:a16="http://schemas.microsoft.com/office/drawing/2014/main" id="{71559E4E-FD8A-4117-BF76-75B058AE0384}"/>
                      </a:ext>
                    </a:extLst>
                  </p:cNvPr>
                  <p:cNvSpPr/>
                  <p:nvPr/>
                </p:nvSpPr>
                <p:spPr>
                  <a:xfrm>
                    <a:off x="8904302" y="3500891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" name="椭圆 35">
                    <a:extLst>
                      <a:ext uri="{FF2B5EF4-FFF2-40B4-BE49-F238E27FC236}">
                        <a16:creationId xmlns:a16="http://schemas.microsoft.com/office/drawing/2014/main" id="{BD178CE8-637B-4D3B-BEBF-692AE890834B}"/>
                      </a:ext>
                    </a:extLst>
                  </p:cNvPr>
                  <p:cNvSpPr/>
                  <p:nvPr/>
                </p:nvSpPr>
                <p:spPr>
                  <a:xfrm>
                    <a:off x="10645435" y="3500889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7" name="直接连接符 36">
                    <a:extLst>
                      <a:ext uri="{FF2B5EF4-FFF2-40B4-BE49-F238E27FC236}">
                        <a16:creationId xmlns:a16="http://schemas.microsoft.com/office/drawing/2014/main" id="{FD0037EC-778F-4133-BBE1-B300A6A3AB96}"/>
                      </a:ext>
                    </a:extLst>
                  </p:cNvPr>
                  <p:cNvCxnSpPr>
                    <a:cxnSpLocks/>
                    <a:stCxn id="32" idx="4"/>
                    <a:endCxn id="33" idx="0"/>
                  </p:cNvCxnSpPr>
                  <p:nvPr/>
                </p:nvCxnSpPr>
                <p:spPr>
                  <a:xfrm>
                    <a:off x="9783192" y="2081813"/>
                    <a:ext cx="0" cy="491412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>
                    <a:extLst>
                      <a:ext uri="{FF2B5EF4-FFF2-40B4-BE49-F238E27FC236}">
                        <a16:creationId xmlns:a16="http://schemas.microsoft.com/office/drawing/2014/main" id="{3182D522-EFC6-4780-AE18-50D576C274EC}"/>
                      </a:ext>
                    </a:extLst>
                  </p:cNvPr>
                  <p:cNvCxnSpPr>
                    <a:cxnSpLocks/>
                    <a:stCxn id="33" idx="4"/>
                    <a:endCxn id="35" idx="0"/>
                  </p:cNvCxnSpPr>
                  <p:nvPr/>
                </p:nvCxnSpPr>
                <p:spPr>
                  <a:xfrm flipH="1">
                    <a:off x="9055223" y="2875066"/>
                    <a:ext cx="727969" cy="625825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>
                    <a:extLst>
                      <a:ext uri="{FF2B5EF4-FFF2-40B4-BE49-F238E27FC236}">
                        <a16:creationId xmlns:a16="http://schemas.microsoft.com/office/drawing/2014/main" id="{93F5461A-33F7-4E87-87B7-FC6FF281517B}"/>
                      </a:ext>
                    </a:extLst>
                  </p:cNvPr>
                  <p:cNvCxnSpPr>
                    <a:cxnSpLocks/>
                    <a:stCxn id="33" idx="4"/>
                    <a:endCxn id="34" idx="0"/>
                  </p:cNvCxnSpPr>
                  <p:nvPr/>
                </p:nvCxnSpPr>
                <p:spPr>
                  <a:xfrm>
                    <a:off x="9783192" y="2875066"/>
                    <a:ext cx="150920" cy="62582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>
                    <a:extLst>
                      <a:ext uri="{FF2B5EF4-FFF2-40B4-BE49-F238E27FC236}">
                        <a16:creationId xmlns:a16="http://schemas.microsoft.com/office/drawing/2014/main" id="{43DB75DE-5606-4FAD-A3FE-BBF3FA030237}"/>
                      </a:ext>
                    </a:extLst>
                  </p:cNvPr>
                  <p:cNvCxnSpPr>
                    <a:cxnSpLocks/>
                    <a:stCxn id="33" idx="4"/>
                    <a:endCxn id="36" idx="0"/>
                  </p:cNvCxnSpPr>
                  <p:nvPr/>
                </p:nvCxnSpPr>
                <p:spPr>
                  <a:xfrm>
                    <a:off x="9783192" y="2875066"/>
                    <a:ext cx="1013164" cy="625823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562FF0B-E077-4A54-A344-73F7EA225D35}"/>
                    </a:ext>
                  </a:extLst>
                </p:cNvPr>
                <p:cNvSpPr txBox="1"/>
                <p:nvPr/>
              </p:nvSpPr>
              <p:spPr>
                <a:xfrm>
                  <a:off x="7843065" y="3411092"/>
                  <a:ext cx="1443027" cy="4146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/>
                    <a:t>当前节点</a:t>
                  </a:r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2E1174D-85B7-45A1-8481-D276200C99EF}"/>
                    </a:ext>
                  </a:extLst>
                </p:cNvPr>
                <p:cNvSpPr txBox="1"/>
                <p:nvPr/>
              </p:nvSpPr>
              <p:spPr>
                <a:xfrm>
                  <a:off x="9552460" y="2561490"/>
                  <a:ext cx="1110864" cy="4146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/>
                    <a:t>父节点</a:t>
                  </a:r>
                </a:p>
              </p:txBody>
            </p:sp>
          </p:grp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A22B4B3-339D-4340-AB8F-E69B2841BF2B}"/>
                  </a:ext>
                </a:extLst>
              </p:cNvPr>
              <p:cNvSpPr txBox="1"/>
              <p:nvPr/>
            </p:nvSpPr>
            <p:spPr>
              <a:xfrm>
                <a:off x="8837867" y="4719603"/>
                <a:ext cx="1443028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子节点</a:t>
                </a:r>
              </a:p>
            </p:txBody>
          </p:sp>
        </p:grp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C333529-2ED2-4AB4-A97D-0F41B5CEDF9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7816" y="2764507"/>
              <a:ext cx="733018" cy="39051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DD0586-A0EF-46E7-AEFB-32D31D73BE14}"/>
                </a:ext>
              </a:extLst>
            </p:cNvPr>
            <p:cNvSpPr/>
            <p:nvPr/>
          </p:nvSpPr>
          <p:spPr>
            <a:xfrm>
              <a:off x="10820834" y="3125453"/>
              <a:ext cx="246432" cy="246432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899604" y="1578651"/>
            <a:ext cx="9980682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朴素做法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278515"/>
            <a:ext cx="6129623" cy="2857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4" name="矩形 3"/>
          <p:cNvSpPr/>
          <p:nvPr/>
        </p:nvSpPr>
        <p:spPr>
          <a:xfrm>
            <a:off x="971735" y="1098084"/>
            <a:ext cx="9980682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二次扫描与换根法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我们把答案存在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数组里，其中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f[x]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 以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作为源点，向整个“无根树”的最大流量是多少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不难发现，根据我们所维护的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数组可以进行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的处理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由于遍历是从上到下的，将问题缩放，假设已经处理出了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f[x]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如何得到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f[y]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f[y]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分成两部分：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一部分为流向自己的子树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，这个我们已经处理出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另一部分为流向他的父亲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：由于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的流量为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min(c(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),D[y])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，这一部分的流量即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F[x]−min(c(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),D[y])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t="8536" r="9604" b="42141"/>
          <a:stretch>
            <a:fillRect/>
          </a:stretch>
        </p:blipFill>
        <p:spPr>
          <a:xfrm>
            <a:off x="1104900" y="5538851"/>
            <a:ext cx="7918520" cy="75362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71735" y="641246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显然地，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f[root]=d[root]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36756" y="6219017"/>
            <a:ext cx="6094324" cy="562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2F6409B-39C7-46B8-89A5-7DF74C22BA6C}"/>
              </a:ext>
            </a:extLst>
          </p:cNvPr>
          <p:cNvGrpSpPr/>
          <p:nvPr/>
        </p:nvGrpSpPr>
        <p:grpSpPr>
          <a:xfrm>
            <a:off x="9450382" y="2350381"/>
            <a:ext cx="2302545" cy="2100503"/>
            <a:chOff x="8921727" y="2435656"/>
            <a:chExt cx="2302545" cy="2100503"/>
          </a:xfrm>
        </p:grpSpPr>
        <p:grpSp>
          <p:nvGrpSpPr>
            <p:cNvPr id="11" name="组合 10"/>
            <p:cNvGrpSpPr/>
            <p:nvPr/>
          </p:nvGrpSpPr>
          <p:grpSpPr>
            <a:xfrm>
              <a:off x="8921727" y="2435656"/>
              <a:ext cx="2302545" cy="2100503"/>
              <a:chOff x="7843065" y="2561490"/>
              <a:chExt cx="2820259" cy="2572789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7843065" y="2561490"/>
                <a:ext cx="2820259" cy="2111254"/>
                <a:chOff x="7843065" y="2561490"/>
                <a:chExt cx="2820259" cy="2111254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>
                  <a:off x="8322962" y="2649984"/>
                  <a:ext cx="2042974" cy="2022760"/>
                  <a:chOff x="8904302" y="1779972"/>
                  <a:chExt cx="2042974" cy="2022760"/>
                </a:xfrm>
              </p:grpSpPr>
              <p:sp>
                <p:nvSpPr>
                  <p:cNvPr id="17" name="椭圆 16"/>
                  <p:cNvSpPr/>
                  <p:nvPr/>
                </p:nvSpPr>
                <p:spPr>
                  <a:xfrm>
                    <a:off x="9632271" y="1779972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椭圆 17"/>
                  <p:cNvSpPr/>
                  <p:nvPr/>
                </p:nvSpPr>
                <p:spPr>
                  <a:xfrm>
                    <a:off x="9632271" y="2573225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" name="椭圆 18"/>
                  <p:cNvSpPr/>
                  <p:nvPr/>
                </p:nvSpPr>
                <p:spPr>
                  <a:xfrm>
                    <a:off x="9783191" y="3500890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椭圆 19"/>
                  <p:cNvSpPr/>
                  <p:nvPr/>
                </p:nvSpPr>
                <p:spPr>
                  <a:xfrm>
                    <a:off x="8904302" y="3500891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椭圆 20"/>
                  <p:cNvSpPr/>
                  <p:nvPr/>
                </p:nvSpPr>
                <p:spPr>
                  <a:xfrm>
                    <a:off x="10645435" y="3500889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2" name="直接连接符 21"/>
                  <p:cNvCxnSpPr>
                    <a:cxnSpLocks/>
                    <a:stCxn id="17" idx="4"/>
                    <a:endCxn id="18" idx="0"/>
                  </p:cNvCxnSpPr>
                  <p:nvPr/>
                </p:nvCxnSpPr>
                <p:spPr>
                  <a:xfrm>
                    <a:off x="9783192" y="2081813"/>
                    <a:ext cx="0" cy="491412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>
                    <a:cxnSpLocks/>
                    <a:stCxn id="18" idx="4"/>
                    <a:endCxn id="20" idx="0"/>
                  </p:cNvCxnSpPr>
                  <p:nvPr/>
                </p:nvCxnSpPr>
                <p:spPr>
                  <a:xfrm flipH="1">
                    <a:off x="9055223" y="2875066"/>
                    <a:ext cx="727969" cy="625825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>
                    <a:cxnSpLocks/>
                    <a:stCxn id="18" idx="4"/>
                    <a:endCxn id="19" idx="0"/>
                  </p:cNvCxnSpPr>
                  <p:nvPr/>
                </p:nvCxnSpPr>
                <p:spPr>
                  <a:xfrm>
                    <a:off x="9783192" y="2875066"/>
                    <a:ext cx="150920" cy="62582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>
                    <a:cxnSpLocks/>
                    <a:stCxn id="18" idx="4"/>
                    <a:endCxn id="21" idx="0"/>
                  </p:cNvCxnSpPr>
                  <p:nvPr/>
                </p:nvCxnSpPr>
                <p:spPr>
                  <a:xfrm>
                    <a:off x="9783192" y="2875066"/>
                    <a:ext cx="1013164" cy="625823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" name="文本框 14"/>
                <p:cNvSpPr txBox="1"/>
                <p:nvPr/>
              </p:nvSpPr>
              <p:spPr>
                <a:xfrm>
                  <a:off x="7843065" y="3411092"/>
                  <a:ext cx="1443027" cy="4146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/>
                    <a:t>当前节点</a:t>
                  </a: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9552460" y="2561490"/>
                  <a:ext cx="1110864" cy="4146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/>
                    <a:t>父节点</a:t>
                  </a:r>
                </a:p>
              </p:txBody>
            </p:sp>
          </p:grpSp>
          <p:sp>
            <p:nvSpPr>
              <p:cNvPr id="13" name="文本框 12"/>
              <p:cNvSpPr txBox="1"/>
              <p:nvPr/>
            </p:nvSpPr>
            <p:spPr>
              <a:xfrm>
                <a:off x="8837867" y="4719603"/>
                <a:ext cx="1443028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子节点</a:t>
                </a:r>
              </a:p>
            </p:txBody>
          </p:sp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C7F9957-9A34-4F32-9FAE-8F16A40D4134}"/>
                </a:ext>
              </a:extLst>
            </p:cNvPr>
            <p:cNvCxnSpPr>
              <a:cxnSpLocks/>
            </p:cNvCxnSpPr>
            <p:nvPr/>
          </p:nvCxnSpPr>
          <p:spPr>
            <a:xfrm>
              <a:off x="10087816" y="2764507"/>
              <a:ext cx="733018" cy="39051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85298A4A-BD30-4852-9A0B-9DF53FA09070}"/>
                </a:ext>
              </a:extLst>
            </p:cNvPr>
            <p:cNvSpPr/>
            <p:nvPr/>
          </p:nvSpPr>
          <p:spPr>
            <a:xfrm>
              <a:off x="10820834" y="3125453"/>
              <a:ext cx="246432" cy="246432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27" grpId="0"/>
      <p:bldP spid="27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899604" y="1578651"/>
            <a:ext cx="9980682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二次扫描与换根法</a:t>
            </a: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414040"/>
            <a:ext cx="7200900" cy="3076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5043</Words>
  <Application>Microsoft Office PowerPoint</Application>
  <PresentationFormat>宽屏</PresentationFormat>
  <Paragraphs>390</Paragraphs>
  <Slides>46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55" baseType="lpstr">
      <vt:lpstr>微软雅黑</vt:lpstr>
      <vt:lpstr>Arial</vt:lpstr>
      <vt:lpstr>Cambria Math</vt:lpstr>
      <vt:lpstr>Courier New</vt:lpstr>
      <vt:lpstr>Euphemia</vt:lpstr>
      <vt:lpstr>Times New Roman</vt:lpstr>
      <vt:lpstr>Wingdings</vt:lpstr>
      <vt:lpstr>学术文献 16x9</vt:lpstr>
      <vt:lpstr>1_学术文献 16x9</vt:lpstr>
      <vt:lpstr>树型动态规划</vt:lpstr>
      <vt:lpstr>学习目标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created xsi:type="dcterms:W3CDTF">2017-11-04T04:56:00Z</dcterms:created>
  <dcterms:modified xsi:type="dcterms:W3CDTF">2022-02-19T03:55:38Z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2052-11.1.0.11294</vt:lpwstr>
  </property>
  <property fmtid="{D5CDD505-2E9C-101B-9397-08002B2CF9AE}" pid="9" name="ICV">
    <vt:lpwstr>043FB131AA5A4B0CB5363542BE553483</vt:lpwstr>
  </property>
</Properties>
</file>