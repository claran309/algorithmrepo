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5"/>
  </p:notesMasterIdLst>
  <p:sldIdLst>
    <p:sldId id="256" r:id="rId3"/>
    <p:sldId id="512" r:id="rId4"/>
    <p:sldId id="515" r:id="rId5"/>
    <p:sldId id="582" r:id="rId6"/>
    <p:sldId id="591" r:id="rId7"/>
    <p:sldId id="583" r:id="rId8"/>
    <p:sldId id="592" r:id="rId9"/>
    <p:sldId id="584" r:id="rId10"/>
    <p:sldId id="585" r:id="rId11"/>
    <p:sldId id="589" r:id="rId12"/>
    <p:sldId id="588" r:id="rId13"/>
    <p:sldId id="586" r:id="rId14"/>
    <p:sldId id="593" r:id="rId15"/>
    <p:sldId id="594" r:id="rId16"/>
    <p:sldId id="595" r:id="rId17"/>
    <p:sldId id="596" r:id="rId18"/>
    <p:sldId id="597" r:id="rId19"/>
    <p:sldId id="587" r:id="rId20"/>
    <p:sldId id="513" r:id="rId21"/>
    <p:sldId id="556" r:id="rId22"/>
    <p:sldId id="580" r:id="rId23"/>
    <p:sldId id="581" r:id="rId24"/>
    <p:sldId id="514" r:id="rId25"/>
    <p:sldId id="557" r:id="rId26"/>
    <p:sldId id="558" r:id="rId27"/>
    <p:sldId id="540" r:id="rId28"/>
    <p:sldId id="598" r:id="rId29"/>
    <p:sldId id="599" r:id="rId30"/>
    <p:sldId id="600" r:id="rId31"/>
    <p:sldId id="590" r:id="rId32"/>
    <p:sldId id="560" r:id="rId33"/>
    <p:sldId id="502"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86413-5575-44E0-B842-9D707A083A46}" type="datetimeFigureOut">
              <a:rPr lang="zh-CN" altLang="en-US" smtClean="0"/>
              <a:t>2022/5/13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953ECC-87CB-4F60-8C5E-52AC188B58FE}" type="slidenum">
              <a:rPr lang="zh-CN" altLang="en-US" smtClean="0"/>
              <a:t>‹#›</a:t>
            </a:fld>
            <a:endParaRPr lang="zh-CN" altLang="en-US"/>
          </a:p>
        </p:txBody>
      </p:sp>
    </p:spTree>
    <p:extLst>
      <p:ext uri="{BB962C8B-B14F-4D97-AF65-F5344CB8AC3E}">
        <p14:creationId xmlns:p14="http://schemas.microsoft.com/office/powerpoint/2010/main" val="37813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C37BE-C303-496D-B5CD-85F2937540FC}" type="slidenum">
              <a:rPr kumimoji="0" lang="en-US" altLang="zh-CN" sz="1200" b="0" i="0" u="none" strike="noStrike" kern="1200" cap="none" spc="0" normalizeH="0" baseline="0" noProof="0" smtClean="0">
                <a:ln>
                  <a:noFill/>
                </a:ln>
                <a:solidFill>
                  <a:srgbClr val="514843"/>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altLang="zh-CN" sz="12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15</a:t>
            </a:fld>
            <a:endParaRPr lang="zh-CN" altLang="en-US"/>
          </a:p>
        </p:txBody>
      </p:sp>
    </p:spTree>
    <p:extLst>
      <p:ext uri="{BB962C8B-B14F-4D97-AF65-F5344CB8AC3E}">
        <p14:creationId xmlns:p14="http://schemas.microsoft.com/office/powerpoint/2010/main" val="3610425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16</a:t>
            </a:fld>
            <a:endParaRPr lang="zh-CN" altLang="en-US"/>
          </a:p>
        </p:txBody>
      </p:sp>
    </p:spTree>
    <p:extLst>
      <p:ext uri="{BB962C8B-B14F-4D97-AF65-F5344CB8AC3E}">
        <p14:creationId xmlns:p14="http://schemas.microsoft.com/office/powerpoint/2010/main" val="931701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17</a:t>
            </a:fld>
            <a:endParaRPr lang="zh-CN" altLang="en-US"/>
          </a:p>
        </p:txBody>
      </p:sp>
    </p:spTree>
    <p:extLst>
      <p:ext uri="{BB962C8B-B14F-4D97-AF65-F5344CB8AC3E}">
        <p14:creationId xmlns:p14="http://schemas.microsoft.com/office/powerpoint/2010/main" val="3897676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27</a:t>
            </a:fld>
            <a:endParaRPr lang="zh-CN" altLang="en-US"/>
          </a:p>
        </p:txBody>
      </p:sp>
    </p:spTree>
    <p:extLst>
      <p:ext uri="{BB962C8B-B14F-4D97-AF65-F5344CB8AC3E}">
        <p14:creationId xmlns:p14="http://schemas.microsoft.com/office/powerpoint/2010/main" val="15901074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28</a:t>
            </a:fld>
            <a:endParaRPr lang="zh-CN" altLang="en-US"/>
          </a:p>
        </p:txBody>
      </p:sp>
    </p:spTree>
    <p:extLst>
      <p:ext uri="{BB962C8B-B14F-4D97-AF65-F5344CB8AC3E}">
        <p14:creationId xmlns:p14="http://schemas.microsoft.com/office/powerpoint/2010/main" val="1482207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29</a:t>
            </a:fld>
            <a:endParaRPr lang="zh-CN" altLang="en-US"/>
          </a:p>
        </p:txBody>
      </p:sp>
    </p:spTree>
    <p:extLst>
      <p:ext uri="{BB962C8B-B14F-4D97-AF65-F5344CB8AC3E}">
        <p14:creationId xmlns:p14="http://schemas.microsoft.com/office/powerpoint/2010/main" val="1838373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F953ECC-87CB-4F60-8C5E-52AC188B58FE}" type="slidenum">
              <a:rPr lang="zh-CN" altLang="en-US" smtClean="0"/>
              <a:t>31</a:t>
            </a:fld>
            <a:endParaRPr lang="zh-CN" altLang="en-US"/>
          </a:p>
        </p:txBody>
      </p:sp>
    </p:spTree>
    <p:extLst>
      <p:ext uri="{BB962C8B-B14F-4D97-AF65-F5344CB8AC3E}">
        <p14:creationId xmlns:p14="http://schemas.microsoft.com/office/powerpoint/2010/main" val="2345771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AD28B-DADC-4D12-8E8D-C982F718644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2B4C300-2993-4440-B2F4-5B0A9D25F2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4EBF94E-ACDA-47CC-894B-A2E4B704C113}"/>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5" name="页脚占位符 4">
            <a:extLst>
              <a:ext uri="{FF2B5EF4-FFF2-40B4-BE49-F238E27FC236}">
                <a16:creationId xmlns:a16="http://schemas.microsoft.com/office/drawing/2014/main" id="{8229D30F-1E19-48EA-BE2F-9A9479F9CFA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3E9C0F0-04AB-4525-9E7F-5E9F14DEC564}"/>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19641842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8040C3-D710-4CE8-B954-2614C45AF42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55EC250-49D9-4223-B6B1-4A6AA09E27B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F3288CE-9478-4617-808B-61C8F3083D92}"/>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5" name="页脚占位符 4">
            <a:extLst>
              <a:ext uri="{FF2B5EF4-FFF2-40B4-BE49-F238E27FC236}">
                <a16:creationId xmlns:a16="http://schemas.microsoft.com/office/drawing/2014/main" id="{4A3DE362-A1CA-4ECF-8C73-090FA6D3F0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0BE425-4527-445A-8A40-F19D508AD5D7}"/>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4217925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354385-4584-4B56-ABFF-60185E663C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9CECEE5-A36B-432C-88BC-0CBAB57355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0644CFE-9DA9-46ED-8C48-0BEFCC7FB66F}"/>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5" name="页脚占位符 4">
            <a:extLst>
              <a:ext uri="{FF2B5EF4-FFF2-40B4-BE49-F238E27FC236}">
                <a16:creationId xmlns:a16="http://schemas.microsoft.com/office/drawing/2014/main" id="{099E704E-3B80-4171-AC3B-1E28CC2FAB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28EB95E-EE8D-4112-B8AB-1427CA074713}"/>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4077275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15627-9731-456B-80FB-8422BC1EE4F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65E2AD0-B4C9-4684-B18E-07B021F16E8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065B058-3F83-4580-9E13-A08D24DA26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99BF980-7F5D-4DAD-AE07-3F77E44ED3BC}"/>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6" name="页脚占位符 5">
            <a:extLst>
              <a:ext uri="{FF2B5EF4-FFF2-40B4-BE49-F238E27FC236}">
                <a16:creationId xmlns:a16="http://schemas.microsoft.com/office/drawing/2014/main" id="{383FBC3B-C981-4F64-941B-84A381626EA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DD50B80-640E-4F1E-AC26-C072251FB448}"/>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70049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2252FF-A7C6-4BD0-962E-E23F7CA92A3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8E6DACC-BADB-43AC-9FFA-87C6AE9CBC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C05F71F-B3A8-440C-844D-89F5C043ADA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C5287BC-A57B-4AD5-A3E1-6BD6191B00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4E08BE8-FCC2-4B15-B998-B06775C51E7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E89B487-FE08-4212-B3F5-BF883D0C7710}"/>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8" name="页脚占位符 7">
            <a:extLst>
              <a:ext uri="{FF2B5EF4-FFF2-40B4-BE49-F238E27FC236}">
                <a16:creationId xmlns:a16="http://schemas.microsoft.com/office/drawing/2014/main" id="{B088EE85-114B-4B8D-A2A1-813F4BEF713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F5C189D-9C20-4503-8AFC-E059058EA32A}"/>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1569130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BFF734-34CC-4FA2-B877-DAE2E7EA958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DB2D95-BD50-49B2-A17A-AAB4392B7C9A}"/>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4" name="页脚占位符 3">
            <a:extLst>
              <a:ext uri="{FF2B5EF4-FFF2-40B4-BE49-F238E27FC236}">
                <a16:creationId xmlns:a16="http://schemas.microsoft.com/office/drawing/2014/main" id="{A7843EF7-D2B3-41AC-A879-9220B22966F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271CC44-E3D3-40FB-AD6C-2B457DAD3A0F}"/>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57332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9D2AB9D-6B78-4FDC-8C65-C73C8359B7A7}"/>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3" name="页脚占位符 2">
            <a:extLst>
              <a:ext uri="{FF2B5EF4-FFF2-40B4-BE49-F238E27FC236}">
                <a16:creationId xmlns:a16="http://schemas.microsoft.com/office/drawing/2014/main" id="{C6089827-82D2-4E1A-A166-246AE8C97D3E}"/>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E1B95E8-6D05-4822-ABB3-7591B14ADE2B}"/>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3051074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4DF38A-AFE5-4474-A250-1558801E56D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438E47D-C403-4BA7-92EF-D7F556C8A9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C5C4594-F67F-4F24-8131-BB293B5527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F3F729-FD6F-4222-A443-D7AE3696D382}"/>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6" name="页脚占位符 5">
            <a:extLst>
              <a:ext uri="{FF2B5EF4-FFF2-40B4-BE49-F238E27FC236}">
                <a16:creationId xmlns:a16="http://schemas.microsoft.com/office/drawing/2014/main" id="{A6B4A955-9A80-497A-9CBB-4530414DE90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EDD583C-2FCC-47E2-833C-26B6DE8C3452}"/>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305591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BD5E37-B105-4DEE-8B81-5E99FAD9460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2DF27DF-34CB-4CDB-93FA-6ABF7E0713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8041ED5-9AD7-45DE-BEDD-37F36D2BD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5A2DE13-613D-434E-96EB-F3006635FC2B}"/>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6" name="页脚占位符 5">
            <a:extLst>
              <a:ext uri="{FF2B5EF4-FFF2-40B4-BE49-F238E27FC236}">
                <a16:creationId xmlns:a16="http://schemas.microsoft.com/office/drawing/2014/main" id="{7EE6B35A-8C9B-47AB-BDDC-D04BCC7E3BA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A2BD272-FE64-43AE-B56E-29F867227A1A}"/>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119963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D0D38-0CAA-454D-A810-983C48BB1AE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4B98DF5-2E1A-4C7B-9FB0-E6A43E6A832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6D41F2-2C5D-4D9A-80FA-5BB426AF5237}"/>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5" name="页脚占位符 4">
            <a:extLst>
              <a:ext uri="{FF2B5EF4-FFF2-40B4-BE49-F238E27FC236}">
                <a16:creationId xmlns:a16="http://schemas.microsoft.com/office/drawing/2014/main" id="{21365654-C0FB-4C74-839D-6452587E04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5B1941-ED33-452B-A01B-81A9A22883ED}"/>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4043353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6F5C8E5-9A31-4476-9CA6-A3C34D5B218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88A2EE-1309-453A-8E53-0882690C074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3AF0AB3-47B2-44F0-96B9-88B0EA9C0FF6}"/>
              </a:ext>
            </a:extLst>
          </p:cNvPr>
          <p:cNvSpPr>
            <a:spLocks noGrp="1"/>
          </p:cNvSpPr>
          <p:nvPr>
            <p:ph type="dt" sz="half" idx="10"/>
          </p:nvPr>
        </p:nvSpPr>
        <p:spPr/>
        <p:txBody>
          <a:bodyPr/>
          <a:lstStyle/>
          <a:p>
            <a:fld id="{055CC9E3-4FB9-45E1-B57F-A6CAF846D858}" type="datetimeFigureOut">
              <a:rPr lang="zh-CN" altLang="en-US" smtClean="0"/>
              <a:t>2022/5/13</a:t>
            </a:fld>
            <a:endParaRPr lang="zh-CN" altLang="en-US"/>
          </a:p>
        </p:txBody>
      </p:sp>
      <p:sp>
        <p:nvSpPr>
          <p:cNvPr id="5" name="页脚占位符 4">
            <a:extLst>
              <a:ext uri="{FF2B5EF4-FFF2-40B4-BE49-F238E27FC236}">
                <a16:creationId xmlns:a16="http://schemas.microsoft.com/office/drawing/2014/main" id="{CFACB908-BC6D-4EA8-8B19-53D3A9E7FCB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1FCEBD2-5F7A-4A15-B5CC-4CEF8FD90D17}"/>
              </a:ext>
            </a:extLst>
          </p:cNvPr>
          <p:cNvSpPr>
            <a:spLocks noGrp="1"/>
          </p:cNvSpPr>
          <p:nvPr>
            <p:ph type="sldNum" sz="quarter" idx="12"/>
          </p:nvPr>
        </p:nvSpPr>
        <p:spPr/>
        <p:txBody>
          <a:body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17758640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2022/5/13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extLst>
      <p:ext uri="{BB962C8B-B14F-4D97-AF65-F5344CB8AC3E}">
        <p14:creationId xmlns:p14="http://schemas.microsoft.com/office/powerpoint/2010/main" val="693716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2022/5/13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164474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86464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2022/5/13</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228944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2022/5/13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1233861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2022/5/13</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60163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2022/5/13</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480480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2022/5/13</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2985566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2022/5/13</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1943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2022/5/13</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1468360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2022/5/13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897177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2022/5/13</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35882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29D1390-BB1B-4C90-B2FA-322D4EBAC8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25955D-87F8-4FEE-8B03-CF484F3461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24EB6C-AA11-4C60-9B51-1B3DEA285E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5CC9E3-4FB9-45E1-B57F-A6CAF846D858}" type="datetimeFigureOut">
              <a:rPr lang="zh-CN" altLang="en-US" smtClean="0"/>
              <a:t>2022/5/13</a:t>
            </a:fld>
            <a:endParaRPr lang="zh-CN" altLang="en-US"/>
          </a:p>
        </p:txBody>
      </p:sp>
      <p:sp>
        <p:nvSpPr>
          <p:cNvPr id="5" name="页脚占位符 4">
            <a:extLst>
              <a:ext uri="{FF2B5EF4-FFF2-40B4-BE49-F238E27FC236}">
                <a16:creationId xmlns:a16="http://schemas.microsoft.com/office/drawing/2014/main" id="{20A6D7A5-0707-49C1-8468-280964E078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EC9C99B-153E-4203-BC6F-E13875BFAC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597DC3-C392-4295-95F0-746B1B16CA67}" type="slidenum">
              <a:rPr lang="zh-CN" altLang="en-US" smtClean="0"/>
              <a:t>‹#›</a:t>
            </a:fld>
            <a:endParaRPr lang="zh-CN" altLang="en-US"/>
          </a:p>
        </p:txBody>
      </p:sp>
    </p:spTree>
    <p:extLst>
      <p:ext uri="{BB962C8B-B14F-4D97-AF65-F5344CB8AC3E}">
        <p14:creationId xmlns:p14="http://schemas.microsoft.com/office/powerpoint/2010/main" val="1411287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2022/5/13</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18032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115188" y="2227736"/>
            <a:ext cx="5734050" cy="1954514"/>
          </a:xfrm>
        </p:spPr>
        <p:txBody>
          <a:bodyPr rtlCol="0" anchor="ctr"/>
          <a:lstStyle/>
          <a:p>
            <a:pPr rtl="0"/>
            <a:r>
              <a:rPr lang="zh-CN" altLang="en-US" dirty="0"/>
              <a:t>数据结构</a:t>
            </a:r>
            <a:r>
              <a:rPr lang="en-US" altLang="zh-CN" dirty="0"/>
              <a:t>——</a:t>
            </a:r>
            <a:r>
              <a:rPr lang="en-US" altLang="zh-CN" dirty="0">
                <a:latin typeface="微软雅黑" panose="020B0503020204020204" pitchFamily="34" charset="-122"/>
                <a:ea typeface="微软雅黑" panose="020B0503020204020204" pitchFamily="34" charset="-122"/>
              </a:rPr>
              <a:t>Hash</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361950" y="3877450"/>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8" name="图片占位符 3" descr="桌上一本打开的书，书架在背景中模糊显示">
            <a:extLst>
              <a:ext uri="{FF2B5EF4-FFF2-40B4-BE49-F238E27FC236}">
                <a16:creationId xmlns:a16="http://schemas.microsoft.com/office/drawing/2014/main" id="{E47235D0-8851-4ECB-91F0-B4E945123F3B}"/>
              </a:ext>
            </a:extLst>
          </p:cNvPr>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a:fillRect/>
          </a:stretch>
        </p:blipFill>
        <p:spPr>
          <a:xfrm>
            <a:off x="6981825" y="1311275"/>
            <a:ext cx="5210175" cy="4208463"/>
          </a:xfrm>
          <a:prstGeom prst="rect">
            <a:avLst/>
          </a:prstGeom>
          <a:solidFill>
            <a:schemeClr val="tx1">
              <a:lumMod val="20000"/>
              <a:lumOff val="80000"/>
            </a:schemeClr>
          </a:solid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714284E-AE49-4ACF-9408-156B8F7B5E38}"/>
              </a:ext>
            </a:extLst>
          </p:cNvPr>
          <p:cNvSpPr>
            <a:spLocks noChangeArrowheads="1"/>
          </p:cNvSpPr>
          <p:nvPr/>
        </p:nvSpPr>
        <p:spPr bwMode="auto">
          <a:xfrm>
            <a:off x="301841" y="1680839"/>
            <a:ext cx="7287519" cy="1087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719138">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marL="0" marR="0" lvl="0" indent="719138" algn="l" defTabSz="914400" rtl="0" eaLnBrk="1" fontAlgn="auto" latinLnBrk="0" hangingPunct="1">
              <a:lnSpc>
                <a:spcPct val="100000"/>
              </a:lnSpc>
              <a:spcBef>
                <a:spcPts val="0"/>
              </a:spcBef>
              <a:spcAft>
                <a:spcPts val="2000"/>
              </a:spcAft>
              <a:buClr>
                <a:srgbClr val="6D7D66"/>
              </a:buClr>
              <a:buSzPct val="80000"/>
              <a:buFont typeface="Wingdings" panose="05000000000000000000" pitchFamily="2" charset="2"/>
              <a:buNone/>
              <a:tabLst/>
              <a:defRPr/>
            </a:pPr>
            <a:r>
              <a:rPr kumimoji="1" lang="en-US" altLang="zh-CN" sz="24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1. </a:t>
            </a:r>
            <a:r>
              <a:rPr kumimoji="1" lang="zh-CN" altLang="en-US" sz="24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理解</a:t>
            </a:r>
            <a:r>
              <a:rPr kumimoji="1" lang="en-US" altLang="zh-CN" sz="24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24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的含义。</a:t>
            </a:r>
          </a:p>
          <a:p>
            <a:pPr marL="0" marR="0" lvl="0" indent="719138" algn="l" defTabSz="914400" rtl="0" eaLnBrk="1" fontAlgn="auto" latinLnBrk="0" hangingPunct="1">
              <a:lnSpc>
                <a:spcPct val="100000"/>
              </a:lnSpc>
              <a:spcBef>
                <a:spcPts val="0"/>
              </a:spcBef>
              <a:spcAft>
                <a:spcPts val="2000"/>
              </a:spcAft>
              <a:buClr>
                <a:srgbClr val="6D7D66"/>
              </a:buClr>
              <a:buSzPct val="80000"/>
              <a:buFont typeface="Wingdings" panose="05000000000000000000" pitchFamily="2" charset="2"/>
              <a:buNone/>
              <a:tabLst/>
              <a:defRPr/>
            </a:pPr>
            <a:r>
              <a:rPr kumimoji="1" lang="en-US" altLang="zh-CN" sz="24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2. </a:t>
            </a:r>
            <a:r>
              <a:rPr kumimoji="1" lang="zh-CN" altLang="en-US" sz="24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掌握字符串哈希。</a:t>
            </a:r>
          </a:p>
        </p:txBody>
      </p:sp>
      <p:sp>
        <p:nvSpPr>
          <p:cNvPr id="5" name="文本框 4">
            <a:extLst>
              <a:ext uri="{FF2B5EF4-FFF2-40B4-BE49-F238E27FC236}">
                <a16:creationId xmlns:a16="http://schemas.microsoft.com/office/drawing/2014/main" id="{051DCB32-C949-4662-BB8A-B96F00B94C06}"/>
              </a:ext>
            </a:extLst>
          </p:cNvPr>
          <p:cNvSpPr txBox="1"/>
          <p:nvPr/>
        </p:nvSpPr>
        <p:spPr>
          <a:xfrm>
            <a:off x="1013814" y="610745"/>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Calibri" panose="020F0502020204030204" pitchFamily="34" charset="0"/>
              </a:rPr>
              <a:t>学习目标</a:t>
            </a:r>
            <a:endParaRPr kumimoji="0" lang="zh-CN" altLang="en-US"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altLang="zh-CN" dirty="0"/>
              <a:t>hash</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10" name="矩形 2">
            <a:extLst>
              <a:ext uri="{FF2B5EF4-FFF2-40B4-BE49-F238E27FC236}">
                <a16:creationId xmlns:a16="http://schemas.microsoft.com/office/drawing/2014/main" id="{9E9CDA5A-157A-4DE2-8231-06CC1B6BE65A}"/>
              </a:ext>
            </a:extLst>
          </p:cNvPr>
          <p:cNvSpPr>
            <a:spLocks noChangeArrowheads="1"/>
          </p:cNvSpPr>
          <p:nvPr/>
        </p:nvSpPr>
        <p:spPr bwMode="auto">
          <a:xfrm>
            <a:off x="697938" y="1276728"/>
            <a:ext cx="10572155" cy="4450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线性表的查找是通过比较关键字的方法进行的，查找效率取决于关键字的比较次数。</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是根据关键字直接进行访问的数据结构，通过散列函数将关键字映射到存储地址，建立关键字和存储地址之间的</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直接映射关系</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endParaRPr lang="en-US" altLang="zh-CN" sz="1600" b="0" dirty="0">
              <a:solidFill>
                <a:srgbClr val="514843"/>
              </a:solidFill>
              <a:latin typeface="微软雅黑" panose="020B0503020204020204" pitchFamily="34" charset="-122"/>
              <a:ea typeface="微软雅黑" panose="020B0503020204020204" pitchFamily="34" charset="-122"/>
            </a:endParaRP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在记录的存储位置和它的关键字之间建立一个确定的对应关系</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f</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，使每一个关键字都对应一个存储位置。即：存储位置</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=f</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（关键字）。这样，在查找的过程中，只需要通过这个对应关系</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f </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找到给定值</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key</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的映射</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f</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key</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）。只要集合中存在关键字和</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key</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相等的记录，则必在存储位置</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f</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key</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）处。我们把这种对应关系</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f </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称为</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散列函数</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或</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哈希函数</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 按照这个思想，采用散列技术将记录存储在一块连续的存储空间中，这块连续的存储空间称为</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哈希表</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。所得的存储地址称为</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哈希地址</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或</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散列地址</a:t>
            </a: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当对复杂信息信息做统计时，可以用</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函数把复杂信息映射到一个容易维护的值域内。因为值域变简单、范围变小，有可能造成两个不同原始信息被</a:t>
            </a:r>
            <a:r>
              <a:rPr kumimoji="1" lang="en-US" altLang="zh-CN"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函数映射为相同值，需</a:t>
            </a:r>
            <a:r>
              <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处理冲突</a:t>
            </a:r>
            <a:r>
              <a:rPr kumimoji="1" lang="zh-CN" altLang="en-US" sz="16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情况。</a:t>
            </a:r>
            <a:endParaRPr kumimoji="1" lang="zh-CN" altLang="en-US" sz="16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99990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4" name="矩形 2">
            <a:extLst>
              <a:ext uri="{FF2B5EF4-FFF2-40B4-BE49-F238E27FC236}">
                <a16:creationId xmlns:a16="http://schemas.microsoft.com/office/drawing/2014/main" id="{ED1DDD87-DA61-4105-933E-42358501E344}"/>
              </a:ext>
            </a:extLst>
          </p:cNvPr>
          <p:cNvSpPr>
            <a:spLocks noChangeArrowheads="1"/>
          </p:cNvSpPr>
          <p:nvPr/>
        </p:nvSpPr>
        <p:spPr bwMode="auto">
          <a:xfrm>
            <a:off x="697938" y="1276728"/>
            <a:ext cx="10572155"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例如，关键字</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key=(17,24,48,25),</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散列函数</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H(key)=key%5,</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散列函数将关键字映射到存储地址下标，将关键字存储到散列表的对应位置。</a:t>
            </a:r>
            <a:endParaRPr lang="en-US" altLang="zh-CN" sz="1800" b="0" dirty="0">
              <a:solidFill>
                <a:srgbClr val="514843"/>
              </a:solidFill>
              <a:latin typeface="微软雅黑" panose="020B0503020204020204" pitchFamily="34" charset="-122"/>
              <a:ea typeface="微软雅黑" panose="020B0503020204020204" pitchFamily="34" charset="-122"/>
            </a:endParaRPr>
          </a:p>
        </p:txBody>
      </p:sp>
      <p:sp>
        <p:nvSpPr>
          <p:cNvPr id="2" name="椭圆 1">
            <a:extLst>
              <a:ext uri="{FF2B5EF4-FFF2-40B4-BE49-F238E27FC236}">
                <a16:creationId xmlns:a16="http://schemas.microsoft.com/office/drawing/2014/main" id="{8DEBE491-7420-46BD-A2C3-E47FB473444B}"/>
              </a:ext>
            </a:extLst>
          </p:cNvPr>
          <p:cNvSpPr/>
          <p:nvPr/>
        </p:nvSpPr>
        <p:spPr>
          <a:xfrm>
            <a:off x="2127314" y="3150557"/>
            <a:ext cx="650450" cy="650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17</a:t>
            </a:r>
            <a:endParaRPr lang="zh-CN" altLang="en-US" dirty="0"/>
          </a:p>
        </p:txBody>
      </p:sp>
      <p:sp>
        <p:nvSpPr>
          <p:cNvPr id="7" name="椭圆 6">
            <a:extLst>
              <a:ext uri="{FF2B5EF4-FFF2-40B4-BE49-F238E27FC236}">
                <a16:creationId xmlns:a16="http://schemas.microsoft.com/office/drawing/2014/main" id="{8DFB6616-5920-433D-9E6B-501B02018352}"/>
              </a:ext>
            </a:extLst>
          </p:cNvPr>
          <p:cNvSpPr/>
          <p:nvPr/>
        </p:nvSpPr>
        <p:spPr>
          <a:xfrm>
            <a:off x="2127314" y="3974507"/>
            <a:ext cx="650450" cy="650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24</a:t>
            </a:r>
            <a:endParaRPr lang="zh-CN" altLang="en-US" dirty="0"/>
          </a:p>
        </p:txBody>
      </p:sp>
      <p:sp>
        <p:nvSpPr>
          <p:cNvPr id="8" name="椭圆 7">
            <a:extLst>
              <a:ext uri="{FF2B5EF4-FFF2-40B4-BE49-F238E27FC236}">
                <a16:creationId xmlns:a16="http://schemas.microsoft.com/office/drawing/2014/main" id="{AD40B0B5-DF57-40DC-81CB-23F660CB3C9C}"/>
              </a:ext>
            </a:extLst>
          </p:cNvPr>
          <p:cNvSpPr/>
          <p:nvPr/>
        </p:nvSpPr>
        <p:spPr>
          <a:xfrm>
            <a:off x="2127314" y="4780278"/>
            <a:ext cx="650450" cy="650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48</a:t>
            </a:r>
            <a:endParaRPr lang="zh-CN" altLang="en-US" dirty="0"/>
          </a:p>
        </p:txBody>
      </p:sp>
      <p:sp>
        <p:nvSpPr>
          <p:cNvPr id="9" name="椭圆 8">
            <a:extLst>
              <a:ext uri="{FF2B5EF4-FFF2-40B4-BE49-F238E27FC236}">
                <a16:creationId xmlns:a16="http://schemas.microsoft.com/office/drawing/2014/main" id="{5BC49DE7-2555-4E12-A07B-1155A3474E33}"/>
              </a:ext>
            </a:extLst>
          </p:cNvPr>
          <p:cNvSpPr/>
          <p:nvPr/>
        </p:nvSpPr>
        <p:spPr>
          <a:xfrm>
            <a:off x="2128884" y="5632658"/>
            <a:ext cx="650450" cy="650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25</a:t>
            </a:r>
            <a:endParaRPr lang="zh-CN" altLang="en-US" dirty="0"/>
          </a:p>
        </p:txBody>
      </p:sp>
      <p:sp>
        <p:nvSpPr>
          <p:cNvPr id="11" name="文本框 10">
            <a:extLst>
              <a:ext uri="{FF2B5EF4-FFF2-40B4-BE49-F238E27FC236}">
                <a16:creationId xmlns:a16="http://schemas.microsoft.com/office/drawing/2014/main" id="{B782AE37-8A8D-44CD-A58D-8E876E3C6499}"/>
              </a:ext>
            </a:extLst>
          </p:cNvPr>
          <p:cNvSpPr txBox="1"/>
          <p:nvPr/>
        </p:nvSpPr>
        <p:spPr>
          <a:xfrm>
            <a:off x="1963132" y="2625904"/>
            <a:ext cx="1034592"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关键字</a:t>
            </a:r>
          </a:p>
        </p:txBody>
      </p:sp>
      <p:sp>
        <p:nvSpPr>
          <p:cNvPr id="12" name="文本框 11">
            <a:extLst>
              <a:ext uri="{FF2B5EF4-FFF2-40B4-BE49-F238E27FC236}">
                <a16:creationId xmlns:a16="http://schemas.microsoft.com/office/drawing/2014/main" id="{84A0F0AC-1E25-4BE8-A096-3B256F7134E3}"/>
              </a:ext>
            </a:extLst>
          </p:cNvPr>
          <p:cNvSpPr txBox="1"/>
          <p:nvPr/>
        </p:nvSpPr>
        <p:spPr>
          <a:xfrm>
            <a:off x="5061408" y="2625904"/>
            <a:ext cx="1034592"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地址</a:t>
            </a:r>
          </a:p>
        </p:txBody>
      </p:sp>
      <p:sp>
        <p:nvSpPr>
          <p:cNvPr id="13" name="文本框 12">
            <a:extLst>
              <a:ext uri="{FF2B5EF4-FFF2-40B4-BE49-F238E27FC236}">
                <a16:creationId xmlns:a16="http://schemas.microsoft.com/office/drawing/2014/main" id="{33A83848-1335-4F36-9185-55EC47D7151F}"/>
              </a:ext>
            </a:extLst>
          </p:cNvPr>
          <p:cNvSpPr txBox="1"/>
          <p:nvPr/>
        </p:nvSpPr>
        <p:spPr>
          <a:xfrm>
            <a:off x="4593211" y="2995236"/>
            <a:ext cx="1666187" cy="2778774"/>
          </a:xfrm>
          <a:prstGeom prst="rect">
            <a:avLst/>
          </a:prstGeom>
          <a:noFill/>
        </p:spPr>
        <p:txBody>
          <a:bodyPr wrap="square">
            <a:spAutoFit/>
          </a:bodyPr>
          <a:lstStyle/>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en-US" altLang="zh-CN" sz="1800" b="1"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0</a:t>
            </a:r>
            <a:endParaRPr kumimoji="1" lang="en-US" altLang="zh-CN" b="1" dirty="0">
              <a:solidFill>
                <a:srgbClr val="514843"/>
              </a:solidFill>
              <a:latin typeface="微软雅黑" panose="020B0503020204020204" pitchFamily="34" charset="-122"/>
              <a:ea typeface="微软雅黑" panose="020B0503020204020204" pitchFamily="34" charset="-122"/>
            </a:endParaRP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en-US" altLang="zh-CN" sz="1800" b="1" dirty="0">
                <a:solidFill>
                  <a:srgbClr val="514843"/>
                </a:solidFill>
                <a:latin typeface="微软雅黑" panose="020B0503020204020204" pitchFamily="34" charset="-122"/>
                <a:ea typeface="微软雅黑" panose="020B0503020204020204" pitchFamily="34" charset="-122"/>
              </a:rPr>
              <a:t>1</a:t>
            </a: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en-US" altLang="zh-CN" b="1" dirty="0">
                <a:solidFill>
                  <a:srgbClr val="514843"/>
                </a:solidFill>
                <a:latin typeface="微软雅黑" panose="020B0503020204020204" pitchFamily="34" charset="-122"/>
                <a:ea typeface="微软雅黑" panose="020B0503020204020204" pitchFamily="34" charset="-122"/>
              </a:rPr>
              <a:t>2</a:t>
            </a: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en-US" altLang="zh-CN" sz="1800" b="1" dirty="0">
                <a:solidFill>
                  <a:srgbClr val="514843"/>
                </a:solidFill>
                <a:latin typeface="微软雅黑" panose="020B0503020204020204" pitchFamily="34" charset="-122"/>
                <a:ea typeface="微软雅黑" panose="020B0503020204020204" pitchFamily="34" charset="-122"/>
              </a:rPr>
              <a:t>3</a:t>
            </a: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en-US" altLang="zh-CN" b="1" dirty="0">
                <a:solidFill>
                  <a:srgbClr val="514843"/>
                </a:solidFill>
                <a:latin typeface="微软雅黑" panose="020B0503020204020204" pitchFamily="34" charset="-122"/>
                <a:ea typeface="微软雅黑" panose="020B0503020204020204" pitchFamily="34" charset="-122"/>
              </a:rPr>
              <a:t>4</a:t>
            </a:r>
          </a:p>
        </p:txBody>
      </p:sp>
      <p:cxnSp>
        <p:nvCxnSpPr>
          <p:cNvPr id="15" name="直接连接符 14">
            <a:extLst>
              <a:ext uri="{FF2B5EF4-FFF2-40B4-BE49-F238E27FC236}">
                <a16:creationId xmlns:a16="http://schemas.microsoft.com/office/drawing/2014/main" id="{A8023FFA-A204-4E90-BE4E-BBF6F8A3C92D}"/>
              </a:ext>
            </a:extLst>
          </p:cNvPr>
          <p:cNvCxnSpPr>
            <a:stCxn id="2" idx="6"/>
          </p:cNvCxnSpPr>
          <p:nvPr/>
        </p:nvCxnSpPr>
        <p:spPr>
          <a:xfrm>
            <a:off x="2777764" y="3475782"/>
            <a:ext cx="2501246" cy="964243"/>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17" name="直接连接符 16">
            <a:extLst>
              <a:ext uri="{FF2B5EF4-FFF2-40B4-BE49-F238E27FC236}">
                <a16:creationId xmlns:a16="http://schemas.microsoft.com/office/drawing/2014/main" id="{9223C357-F55F-4645-9DFB-AA9A6B30A9B9}"/>
              </a:ext>
            </a:extLst>
          </p:cNvPr>
          <p:cNvCxnSpPr>
            <a:stCxn id="7" idx="6"/>
          </p:cNvCxnSpPr>
          <p:nvPr/>
        </p:nvCxnSpPr>
        <p:spPr>
          <a:xfrm>
            <a:off x="2777764" y="4299732"/>
            <a:ext cx="2501246" cy="1130996"/>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19" name="直接连接符 18">
            <a:extLst>
              <a:ext uri="{FF2B5EF4-FFF2-40B4-BE49-F238E27FC236}">
                <a16:creationId xmlns:a16="http://schemas.microsoft.com/office/drawing/2014/main" id="{44C0D239-8149-48FD-A010-E9BF7FDFED70}"/>
              </a:ext>
            </a:extLst>
          </p:cNvPr>
          <p:cNvCxnSpPr>
            <a:stCxn id="8" idx="6"/>
          </p:cNvCxnSpPr>
          <p:nvPr/>
        </p:nvCxnSpPr>
        <p:spPr>
          <a:xfrm flipV="1">
            <a:off x="2777764" y="5005633"/>
            <a:ext cx="2501246" cy="99870"/>
          </a:xfrm>
          <a:prstGeom prst="line">
            <a:avLst/>
          </a:prstGeom>
          <a:ln/>
        </p:spPr>
        <p:style>
          <a:lnRef idx="2">
            <a:schemeClr val="accent2"/>
          </a:lnRef>
          <a:fillRef idx="0">
            <a:schemeClr val="accent2"/>
          </a:fillRef>
          <a:effectRef idx="1">
            <a:schemeClr val="accent2"/>
          </a:effectRef>
          <a:fontRef idx="minor">
            <a:schemeClr val="tx1"/>
          </a:fontRef>
        </p:style>
      </p:cxnSp>
      <p:cxnSp>
        <p:nvCxnSpPr>
          <p:cNvPr id="21" name="直接连接符 20">
            <a:extLst>
              <a:ext uri="{FF2B5EF4-FFF2-40B4-BE49-F238E27FC236}">
                <a16:creationId xmlns:a16="http://schemas.microsoft.com/office/drawing/2014/main" id="{B43D50E2-9A42-4623-B0D8-4C5BB35C735D}"/>
              </a:ext>
            </a:extLst>
          </p:cNvPr>
          <p:cNvCxnSpPr>
            <a:stCxn id="9" idx="6"/>
          </p:cNvCxnSpPr>
          <p:nvPr/>
        </p:nvCxnSpPr>
        <p:spPr>
          <a:xfrm flipV="1">
            <a:off x="2779334" y="3382218"/>
            <a:ext cx="2499676" cy="2575665"/>
          </a:xfrm>
          <a:prstGeom prst="line">
            <a:avLst/>
          </a:prstGeom>
          <a:ln/>
        </p:spPr>
        <p:style>
          <a:lnRef idx="2">
            <a:schemeClr val="accent2"/>
          </a:lnRef>
          <a:fillRef idx="0">
            <a:schemeClr val="accent2"/>
          </a:fillRef>
          <a:effectRef idx="1">
            <a:schemeClr val="accent2"/>
          </a:effectRef>
          <a:fontRef idx="minor">
            <a:schemeClr val="tx1"/>
          </a:fontRef>
        </p:style>
      </p:cxnSp>
      <p:sp>
        <p:nvSpPr>
          <p:cNvPr id="22" name="文本框 21">
            <a:extLst>
              <a:ext uri="{FF2B5EF4-FFF2-40B4-BE49-F238E27FC236}">
                <a16:creationId xmlns:a16="http://schemas.microsoft.com/office/drawing/2014/main" id="{2F829F4F-A0DF-4A49-AD22-937A33F4A64A}"/>
              </a:ext>
            </a:extLst>
          </p:cNvPr>
          <p:cNvSpPr txBox="1"/>
          <p:nvPr/>
        </p:nvSpPr>
        <p:spPr>
          <a:xfrm rot="1454394">
            <a:off x="3148636" y="3488815"/>
            <a:ext cx="1254440"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散列函数</a:t>
            </a:r>
          </a:p>
        </p:txBody>
      </p:sp>
      <p:graphicFrame>
        <p:nvGraphicFramePr>
          <p:cNvPr id="23" name="表格 23">
            <a:extLst>
              <a:ext uri="{FF2B5EF4-FFF2-40B4-BE49-F238E27FC236}">
                <a16:creationId xmlns:a16="http://schemas.microsoft.com/office/drawing/2014/main" id="{D769EEA7-6429-49F7-9C07-7C2F934757FB}"/>
              </a:ext>
            </a:extLst>
          </p:cNvPr>
          <p:cNvGraphicFramePr>
            <a:graphicFrameLocks noGrp="1"/>
          </p:cNvGraphicFramePr>
          <p:nvPr>
            <p:extLst>
              <p:ext uri="{D42A27DB-BD31-4B8C-83A1-F6EECF244321}">
                <p14:modId xmlns:p14="http://schemas.microsoft.com/office/powerpoint/2010/main" val="2408658981"/>
              </p:ext>
            </p:extLst>
          </p:nvPr>
        </p:nvGraphicFramePr>
        <p:xfrm>
          <a:off x="5929460" y="3075104"/>
          <a:ext cx="668770" cy="2778775"/>
        </p:xfrm>
        <a:graphic>
          <a:graphicData uri="http://schemas.openxmlformats.org/drawingml/2006/table">
            <a:tbl>
              <a:tblPr firstRow="1" bandRow="1">
                <a:tableStyleId>{5C22544A-7EE6-4342-B048-85BDC9FD1C3A}</a:tableStyleId>
              </a:tblPr>
              <a:tblGrid>
                <a:gridCol w="668770">
                  <a:extLst>
                    <a:ext uri="{9D8B030D-6E8A-4147-A177-3AD203B41FA5}">
                      <a16:colId xmlns:a16="http://schemas.microsoft.com/office/drawing/2014/main" val="2003380167"/>
                    </a:ext>
                  </a:extLst>
                </a:gridCol>
              </a:tblGrid>
              <a:tr h="555755">
                <a:tc>
                  <a:txBody>
                    <a:bodyPr/>
                    <a:lstStyle/>
                    <a:p>
                      <a:pPr algn="ctr"/>
                      <a:r>
                        <a:rPr lang="en-US" altLang="zh-CN" dirty="0"/>
                        <a:t>25</a:t>
                      </a:r>
                      <a:endParaRPr lang="zh-CN" altLang="en-US" dirty="0"/>
                    </a:p>
                  </a:txBody>
                  <a:tcPr anchor="ctr"/>
                </a:tc>
                <a:extLst>
                  <a:ext uri="{0D108BD9-81ED-4DB2-BD59-A6C34878D82A}">
                    <a16:rowId xmlns:a16="http://schemas.microsoft.com/office/drawing/2014/main" val="111137897"/>
                  </a:ext>
                </a:extLst>
              </a:tr>
              <a:tr h="555755">
                <a:tc>
                  <a:txBody>
                    <a:bodyPr/>
                    <a:lstStyle/>
                    <a:p>
                      <a:pPr algn="ctr"/>
                      <a:endParaRPr lang="zh-CN" altLang="en-US" dirty="0"/>
                    </a:p>
                  </a:txBody>
                  <a:tcPr anchor="ctr"/>
                </a:tc>
                <a:extLst>
                  <a:ext uri="{0D108BD9-81ED-4DB2-BD59-A6C34878D82A}">
                    <a16:rowId xmlns:a16="http://schemas.microsoft.com/office/drawing/2014/main" val="3894761019"/>
                  </a:ext>
                </a:extLst>
              </a:tr>
              <a:tr h="555755">
                <a:tc>
                  <a:txBody>
                    <a:bodyPr/>
                    <a:lstStyle/>
                    <a:p>
                      <a:pPr algn="ctr"/>
                      <a:r>
                        <a:rPr lang="en-US" altLang="zh-CN" dirty="0"/>
                        <a:t>17</a:t>
                      </a:r>
                      <a:endParaRPr lang="zh-CN" altLang="en-US" dirty="0"/>
                    </a:p>
                  </a:txBody>
                  <a:tcPr anchor="ctr"/>
                </a:tc>
                <a:extLst>
                  <a:ext uri="{0D108BD9-81ED-4DB2-BD59-A6C34878D82A}">
                    <a16:rowId xmlns:a16="http://schemas.microsoft.com/office/drawing/2014/main" val="3978806507"/>
                  </a:ext>
                </a:extLst>
              </a:tr>
              <a:tr h="555755">
                <a:tc>
                  <a:txBody>
                    <a:bodyPr/>
                    <a:lstStyle/>
                    <a:p>
                      <a:pPr algn="ctr"/>
                      <a:r>
                        <a:rPr lang="en-US" altLang="zh-CN" dirty="0"/>
                        <a:t>48</a:t>
                      </a:r>
                      <a:endParaRPr lang="zh-CN" altLang="en-US" dirty="0"/>
                    </a:p>
                  </a:txBody>
                  <a:tcPr anchor="ctr"/>
                </a:tc>
                <a:extLst>
                  <a:ext uri="{0D108BD9-81ED-4DB2-BD59-A6C34878D82A}">
                    <a16:rowId xmlns:a16="http://schemas.microsoft.com/office/drawing/2014/main" val="782962549"/>
                  </a:ext>
                </a:extLst>
              </a:tr>
              <a:tr h="555755">
                <a:tc>
                  <a:txBody>
                    <a:bodyPr/>
                    <a:lstStyle/>
                    <a:p>
                      <a:pPr algn="ctr"/>
                      <a:r>
                        <a:rPr lang="en-US" altLang="zh-CN" dirty="0"/>
                        <a:t>24</a:t>
                      </a:r>
                      <a:endParaRPr lang="zh-CN" altLang="en-US" dirty="0"/>
                    </a:p>
                  </a:txBody>
                  <a:tcPr anchor="ctr"/>
                </a:tc>
                <a:extLst>
                  <a:ext uri="{0D108BD9-81ED-4DB2-BD59-A6C34878D82A}">
                    <a16:rowId xmlns:a16="http://schemas.microsoft.com/office/drawing/2014/main" val="2448600229"/>
                  </a:ext>
                </a:extLst>
              </a:tr>
            </a:tbl>
          </a:graphicData>
        </a:graphic>
      </p:graphicFrame>
      <p:sp>
        <p:nvSpPr>
          <p:cNvPr id="24" name="文本框 23">
            <a:extLst>
              <a:ext uri="{FF2B5EF4-FFF2-40B4-BE49-F238E27FC236}">
                <a16:creationId xmlns:a16="http://schemas.microsoft.com/office/drawing/2014/main" id="{6ED3D2D3-23B6-4468-90F8-F946DE9BDE39}"/>
              </a:ext>
            </a:extLst>
          </p:cNvPr>
          <p:cNvSpPr txBox="1"/>
          <p:nvPr/>
        </p:nvSpPr>
        <p:spPr>
          <a:xfrm>
            <a:off x="5892664" y="2625904"/>
            <a:ext cx="1034592" cy="369332"/>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散列表</a:t>
            </a:r>
          </a:p>
        </p:txBody>
      </p:sp>
    </p:spTree>
    <p:extLst>
      <p:ext uri="{BB962C8B-B14F-4D97-AF65-F5344CB8AC3E}">
        <p14:creationId xmlns:p14="http://schemas.microsoft.com/office/powerpoint/2010/main" val="348529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5" name="文本框 4">
            <a:extLst>
              <a:ext uri="{FF2B5EF4-FFF2-40B4-BE49-F238E27FC236}">
                <a16:creationId xmlns:a16="http://schemas.microsoft.com/office/drawing/2014/main" id="{DB8DBBA2-A2DD-4D87-942E-4020C721D15C}"/>
              </a:ext>
            </a:extLst>
          </p:cNvPr>
          <p:cNvSpPr txBox="1"/>
          <p:nvPr/>
        </p:nvSpPr>
        <p:spPr>
          <a:xfrm>
            <a:off x="1058159" y="1438436"/>
            <a:ext cx="6094428" cy="369332"/>
          </a:xfrm>
          <a:prstGeom prst="rect">
            <a:avLst/>
          </a:prstGeom>
          <a:noFill/>
        </p:spPr>
        <p:txBody>
          <a:bodyPr wrap="square">
            <a:spAutoFit/>
          </a:bodyPr>
          <a:lstStyle/>
          <a:p>
            <a:r>
              <a:rPr lang="zh-CN" altLang="en-US" b="1" dirty="0">
                <a:solidFill>
                  <a:schemeClr val="accent2"/>
                </a:solidFill>
                <a:latin typeface="微软雅黑" panose="020B0503020204020204" pitchFamily="34" charset="-122"/>
                <a:ea typeface="微软雅黑" panose="020B0503020204020204" pitchFamily="34" charset="-122"/>
              </a:rPr>
              <a:t>哈希函数的构造方法</a:t>
            </a:r>
          </a:p>
        </p:txBody>
      </p:sp>
      <p:sp>
        <p:nvSpPr>
          <p:cNvPr id="7" name="文本框 6">
            <a:extLst>
              <a:ext uri="{FF2B5EF4-FFF2-40B4-BE49-F238E27FC236}">
                <a16:creationId xmlns:a16="http://schemas.microsoft.com/office/drawing/2014/main" id="{E8529DC6-1A90-4913-AE99-D85FC4FF074D}"/>
              </a:ext>
            </a:extLst>
          </p:cNvPr>
          <p:cNvSpPr txBox="1"/>
          <p:nvPr/>
        </p:nvSpPr>
        <p:spPr>
          <a:xfrm>
            <a:off x="1011417" y="3429000"/>
            <a:ext cx="10027763" cy="2640275"/>
          </a:xfrm>
          <a:prstGeom prst="rect">
            <a:avLst/>
          </a:prstGeom>
          <a:noFill/>
        </p:spPr>
        <p:txBody>
          <a:bodyPr wrap="square">
            <a:spAutoFit/>
          </a:bodyPr>
          <a:lstStyle/>
          <a:p>
            <a:pPr>
              <a:lnSpc>
                <a:spcPct val="150000"/>
              </a:lnSpc>
            </a:pPr>
            <a:r>
              <a:rPr kumimoji="1" lang="en-US" altLang="zh-CN" dirty="0">
                <a:solidFill>
                  <a:srgbClr val="514843"/>
                </a:solidFill>
                <a:latin typeface="微软雅黑" panose="020B0503020204020204" pitchFamily="34" charset="-122"/>
                <a:ea typeface="微软雅黑" panose="020B0503020204020204" pitchFamily="34" charset="-122"/>
              </a:rPr>
              <a:t>1.</a:t>
            </a:r>
            <a:r>
              <a:rPr kumimoji="1" lang="zh-CN" altLang="en-US" dirty="0">
                <a:solidFill>
                  <a:srgbClr val="514843"/>
                </a:solidFill>
                <a:latin typeface="微软雅黑" panose="020B0503020204020204" pitchFamily="34" charset="-122"/>
                <a:ea typeface="微软雅黑" panose="020B0503020204020204" pitchFamily="34" charset="-122"/>
              </a:rPr>
              <a:t>除留余数法</a:t>
            </a:r>
          </a:p>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除留余法是一种最简单、常用的构造散列函数的方法，并且不需要事先知道关键字的分布情况。假定散列表长度为</a:t>
            </a:r>
            <a:r>
              <a:rPr kumimoji="1" lang="en-US" altLang="zh-CN" dirty="0">
                <a:solidFill>
                  <a:srgbClr val="514843"/>
                </a:solidFill>
                <a:latin typeface="微软雅黑" panose="020B0503020204020204" pitchFamily="34" charset="-122"/>
                <a:ea typeface="微软雅黑" panose="020B0503020204020204" pitchFamily="34" charset="-122"/>
              </a:rPr>
              <a:t>m</a:t>
            </a:r>
            <a:r>
              <a:rPr kumimoji="1" lang="zh-CN" altLang="en-US" dirty="0">
                <a:solidFill>
                  <a:srgbClr val="514843"/>
                </a:solidFill>
                <a:latin typeface="微软雅黑" panose="020B0503020204020204" pitchFamily="34" charset="-122"/>
                <a:ea typeface="微软雅黑" panose="020B0503020204020204" pitchFamily="34" charset="-122"/>
              </a:rPr>
              <a:t>，取一个不大于表长的最大素数</a:t>
            </a:r>
            <a:r>
              <a:rPr kumimoji="1" lang="en-US" altLang="zh-CN" dirty="0">
                <a:solidFill>
                  <a:srgbClr val="514843"/>
                </a:solidFill>
                <a:latin typeface="微软雅黑" panose="020B0503020204020204" pitchFamily="34" charset="-122"/>
                <a:ea typeface="微软雅黑" panose="020B0503020204020204" pitchFamily="34" charset="-122"/>
              </a:rPr>
              <a:t>p(</a:t>
            </a:r>
            <a:r>
              <a:rPr kumimoji="1" lang="zh-CN" altLang="en-US" dirty="0">
                <a:solidFill>
                  <a:srgbClr val="514843"/>
                </a:solidFill>
                <a:latin typeface="微软雅黑" panose="020B0503020204020204" pitchFamily="34" charset="-122"/>
                <a:ea typeface="微软雅黑" panose="020B0503020204020204" pitchFamily="34" charset="-122"/>
              </a:rPr>
              <a:t>避免冲突</a:t>
            </a:r>
            <a:r>
              <a:rPr kumimoji="1" lang="en-US" altLang="zh-CN" dirty="0">
                <a:solidFill>
                  <a:srgbClr val="514843"/>
                </a:solidFill>
                <a:latin typeface="微软雅黑" panose="020B0503020204020204" pitchFamily="34" charset="-122"/>
                <a:ea typeface="微软雅黑" panose="020B0503020204020204" pitchFamily="34" charset="-122"/>
              </a:rPr>
              <a:t>),</a:t>
            </a:r>
            <a:r>
              <a:rPr kumimoji="1" lang="zh-CN" altLang="en-US" dirty="0">
                <a:solidFill>
                  <a:srgbClr val="514843"/>
                </a:solidFill>
                <a:latin typeface="微软雅黑" panose="020B0503020204020204" pitchFamily="34" charset="-122"/>
                <a:ea typeface="微软雅黑" panose="020B0503020204020204" pitchFamily="34" charset="-122"/>
              </a:rPr>
              <a:t>用关键字</a:t>
            </a:r>
            <a:r>
              <a:rPr kumimoji="1" lang="en-US" altLang="zh-CN" dirty="0">
                <a:solidFill>
                  <a:srgbClr val="514843"/>
                </a:solidFill>
                <a:latin typeface="微软雅黑" panose="020B0503020204020204" pitchFamily="34" charset="-122"/>
                <a:ea typeface="微软雅黑" panose="020B0503020204020204" pitchFamily="34" charset="-122"/>
              </a:rPr>
              <a:t>key</a:t>
            </a:r>
            <a:r>
              <a:rPr kumimoji="1" lang="zh-CN" altLang="en-US" dirty="0">
                <a:solidFill>
                  <a:srgbClr val="514843"/>
                </a:solidFill>
                <a:latin typeface="微软雅黑" panose="020B0503020204020204" pitchFamily="34" charset="-122"/>
                <a:ea typeface="微软雅黑" panose="020B0503020204020204" pitchFamily="34" charset="-122"/>
              </a:rPr>
              <a:t>除以</a:t>
            </a:r>
            <a:r>
              <a:rPr kumimoji="1" lang="en-US" altLang="zh-CN" dirty="0">
                <a:solidFill>
                  <a:srgbClr val="514843"/>
                </a:solidFill>
                <a:latin typeface="微软雅黑" panose="020B0503020204020204" pitchFamily="34" charset="-122"/>
                <a:ea typeface="微软雅黑" panose="020B0503020204020204" pitchFamily="34" charset="-122"/>
              </a:rPr>
              <a:t>p</a:t>
            </a:r>
            <a:r>
              <a:rPr kumimoji="1" lang="zh-CN" altLang="en-US" dirty="0">
                <a:solidFill>
                  <a:srgbClr val="514843"/>
                </a:solidFill>
                <a:latin typeface="微软雅黑" panose="020B0503020204020204" pitchFamily="34" charset="-122"/>
                <a:ea typeface="微软雅黑" panose="020B0503020204020204" pitchFamily="34" charset="-122"/>
              </a:rPr>
              <a:t>，并取余数作为散列地址，散列函数为： </a:t>
            </a:r>
            <a:r>
              <a:rPr kumimoji="1" lang="en-US" altLang="zh-CN" dirty="0">
                <a:solidFill>
                  <a:srgbClr val="514843"/>
                </a:solidFill>
                <a:latin typeface="微软雅黑" panose="020B0503020204020204" pitchFamily="34" charset="-122"/>
                <a:ea typeface="微软雅黑" panose="020B0503020204020204" pitchFamily="34" charset="-122"/>
              </a:rPr>
              <a:t>h(key) </a:t>
            </a:r>
            <a:r>
              <a:rPr kumimoji="1" lang="zh-CN" altLang="en-US" dirty="0">
                <a:solidFill>
                  <a:srgbClr val="514843"/>
                </a:solidFill>
                <a:latin typeface="微软雅黑" panose="020B0503020204020204" pitchFamily="34" charset="-122"/>
                <a:ea typeface="微软雅黑" panose="020B0503020204020204" pitchFamily="34" charset="-122"/>
              </a:rPr>
              <a:t>＝ </a:t>
            </a:r>
            <a:r>
              <a:rPr kumimoji="1" lang="en-US" altLang="zh-CN" dirty="0">
                <a:solidFill>
                  <a:srgbClr val="514843"/>
                </a:solidFill>
                <a:latin typeface="微软雅黑" panose="020B0503020204020204" pitchFamily="34" charset="-122"/>
                <a:ea typeface="微软雅黑" panose="020B0503020204020204" pitchFamily="34" charset="-122"/>
              </a:rPr>
              <a:t>key mod p</a:t>
            </a:r>
            <a:r>
              <a:rPr kumimoji="1" lang="zh-CN" altLang="en-US" dirty="0">
                <a:solidFill>
                  <a:srgbClr val="514843"/>
                </a:solidFill>
                <a:latin typeface="微软雅黑" panose="020B0503020204020204" pitchFamily="34" charset="-122"/>
                <a:ea typeface="微软雅黑" panose="020B0503020204020204" pitchFamily="34" charset="-122"/>
              </a:rPr>
              <a:t>。在实际应用中，访问往往具有某种周期性，若周期与</a:t>
            </a:r>
            <a:r>
              <a:rPr kumimoji="1" lang="en-US" altLang="zh-CN" dirty="0">
                <a:solidFill>
                  <a:srgbClr val="514843"/>
                </a:solidFill>
                <a:latin typeface="微软雅黑" panose="020B0503020204020204" pitchFamily="34" charset="-122"/>
                <a:ea typeface="微软雅黑" panose="020B0503020204020204" pitchFamily="34" charset="-122"/>
              </a:rPr>
              <a:t>p</a:t>
            </a:r>
            <a:r>
              <a:rPr kumimoji="1" lang="zh-CN" altLang="en-US" dirty="0">
                <a:solidFill>
                  <a:srgbClr val="514843"/>
                </a:solidFill>
                <a:latin typeface="微软雅黑" panose="020B0503020204020204" pitchFamily="34" charset="-122"/>
                <a:ea typeface="微软雅黑" panose="020B0503020204020204" pitchFamily="34" charset="-122"/>
              </a:rPr>
              <a:t>有公共素因子，则发生冲突的概率将急剧上升。</a:t>
            </a:r>
          </a:p>
        </p:txBody>
      </p:sp>
      <p:sp>
        <p:nvSpPr>
          <p:cNvPr id="9" name="文本框 8">
            <a:extLst>
              <a:ext uri="{FF2B5EF4-FFF2-40B4-BE49-F238E27FC236}">
                <a16:creationId xmlns:a16="http://schemas.microsoft.com/office/drawing/2014/main" id="{682B5208-DFC2-46F9-A64D-E216E354F39B}"/>
              </a:ext>
            </a:extLst>
          </p:cNvPr>
          <p:cNvSpPr txBox="1"/>
          <p:nvPr/>
        </p:nvSpPr>
        <p:spPr>
          <a:xfrm>
            <a:off x="1011417" y="1705855"/>
            <a:ext cx="10169165" cy="1670778"/>
          </a:xfrm>
          <a:prstGeom prst="rect">
            <a:avLst/>
          </a:prstGeom>
          <a:noFill/>
        </p:spPr>
        <p:txBody>
          <a:bodyPr wrap="square">
            <a:spAutoFit/>
          </a:bodyPr>
          <a:lstStyle/>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散列函数，又被称为哈希函数，是将关键字映射到存储地址的函数，被记为</a:t>
            </a:r>
            <a:r>
              <a:rPr kumimoji="1" lang="en-US" altLang="zh-CN" dirty="0">
                <a:solidFill>
                  <a:srgbClr val="514843"/>
                </a:solidFill>
                <a:latin typeface="微软雅黑" panose="020B0503020204020204" pitchFamily="34" charset="-122"/>
                <a:ea typeface="微软雅黑" panose="020B0503020204020204" pitchFamily="34" charset="-122"/>
              </a:rPr>
              <a:t>hash(key)=</a:t>
            </a:r>
            <a:r>
              <a:rPr kumimoji="1" lang="en-US" altLang="zh-CN" dirty="0" err="1">
                <a:solidFill>
                  <a:srgbClr val="514843"/>
                </a:solidFill>
                <a:latin typeface="微软雅黑" panose="020B0503020204020204" pitchFamily="34" charset="-122"/>
                <a:ea typeface="微软雅黑" panose="020B0503020204020204" pitchFamily="34" charset="-122"/>
              </a:rPr>
              <a:t>Addr</a:t>
            </a:r>
            <a:r>
              <a:rPr kumimoji="1" lang="zh-CN" altLang="en-US" dirty="0">
                <a:solidFill>
                  <a:srgbClr val="514843"/>
                </a:solidFill>
                <a:latin typeface="微软雅黑" panose="020B0503020204020204" pitchFamily="34" charset="-122"/>
                <a:ea typeface="微软雅黑" panose="020B0503020204020204" pitchFamily="34" charset="-122"/>
              </a:rPr>
              <a:t>。设计散列函数需要遵循两个原则：</a:t>
            </a:r>
            <a:r>
              <a:rPr kumimoji="1" lang="en-US" altLang="zh-CN" dirty="0">
                <a:solidFill>
                  <a:srgbClr val="514843"/>
                </a:solidFill>
                <a:latin typeface="微软雅黑" panose="020B0503020204020204" pitchFamily="34" charset="-122"/>
                <a:ea typeface="微软雅黑" panose="020B0503020204020204" pitchFamily="34" charset="-122"/>
              </a:rPr>
              <a:t>1.</a:t>
            </a:r>
            <a:r>
              <a:rPr kumimoji="1" lang="zh-CN" altLang="en-US" dirty="0">
                <a:solidFill>
                  <a:srgbClr val="514843"/>
                </a:solidFill>
                <a:latin typeface="微软雅黑" panose="020B0503020204020204" pitchFamily="34" charset="-122"/>
                <a:ea typeface="微软雅黑" panose="020B0503020204020204" pitchFamily="34" charset="-122"/>
              </a:rPr>
              <a:t>散列函数尽可能</a:t>
            </a:r>
            <a:r>
              <a:rPr kumimoji="1" lang="zh-CN" altLang="en-US" b="1" dirty="0">
                <a:solidFill>
                  <a:schemeClr val="accent2"/>
                </a:solidFill>
                <a:latin typeface="微软雅黑" panose="020B0503020204020204" pitchFamily="34" charset="-122"/>
                <a:ea typeface="微软雅黑" panose="020B0503020204020204" pitchFamily="34" charset="-122"/>
              </a:rPr>
              <a:t>简单</a:t>
            </a:r>
            <a:r>
              <a:rPr kumimoji="1" lang="zh-CN" altLang="en-US" dirty="0">
                <a:solidFill>
                  <a:srgbClr val="514843"/>
                </a:solidFill>
                <a:latin typeface="微软雅黑" panose="020B0503020204020204" pitchFamily="34" charset="-122"/>
                <a:ea typeface="微软雅黑" panose="020B0503020204020204" pitchFamily="34" charset="-122"/>
              </a:rPr>
              <a:t>，能够快速计算出任意关键字的散列函数；</a:t>
            </a:r>
            <a:r>
              <a:rPr kumimoji="1" lang="en-US" altLang="zh-CN" dirty="0">
                <a:solidFill>
                  <a:srgbClr val="514843"/>
                </a:solidFill>
                <a:latin typeface="微软雅黑" panose="020B0503020204020204" pitchFamily="34" charset="-122"/>
                <a:ea typeface="微软雅黑" panose="020B0503020204020204" pitchFamily="34" charset="-122"/>
              </a:rPr>
              <a:t>2.</a:t>
            </a:r>
            <a:r>
              <a:rPr kumimoji="1" lang="zh-CN" altLang="en-US" dirty="0">
                <a:solidFill>
                  <a:srgbClr val="514843"/>
                </a:solidFill>
                <a:latin typeface="微软雅黑" panose="020B0503020204020204" pitchFamily="34" charset="-122"/>
                <a:ea typeface="微软雅黑" panose="020B0503020204020204" pitchFamily="34" charset="-122"/>
              </a:rPr>
              <a:t>散列函数映射的地址应</a:t>
            </a:r>
            <a:r>
              <a:rPr kumimoji="1" lang="zh-CN" altLang="en-US" b="1" dirty="0">
                <a:solidFill>
                  <a:schemeClr val="accent2"/>
                </a:solidFill>
                <a:latin typeface="微软雅黑" panose="020B0503020204020204" pitchFamily="34" charset="-122"/>
                <a:ea typeface="微软雅黑" panose="020B0503020204020204" pitchFamily="34" charset="-122"/>
              </a:rPr>
              <a:t>均分</a:t>
            </a:r>
            <a:r>
              <a:rPr kumimoji="1" lang="zh-CN" altLang="en-US" dirty="0">
                <a:solidFill>
                  <a:srgbClr val="514843"/>
                </a:solidFill>
                <a:latin typeface="微软雅黑" panose="020B0503020204020204" pitchFamily="34" charset="-122"/>
                <a:ea typeface="微软雅黑" panose="020B0503020204020204" pitchFamily="34" charset="-122"/>
              </a:rPr>
              <a:t>在整个地址空间，避免聚集，以减少冲突。</a:t>
            </a:r>
            <a:endParaRPr kumimoji="1" lang="en-US" altLang="zh-CN" dirty="0">
              <a:solidFill>
                <a:srgbClr val="51484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813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5" name="文本框 4">
            <a:extLst>
              <a:ext uri="{FF2B5EF4-FFF2-40B4-BE49-F238E27FC236}">
                <a16:creationId xmlns:a16="http://schemas.microsoft.com/office/drawing/2014/main" id="{DB8DBBA2-A2DD-4D87-942E-4020C721D15C}"/>
              </a:ext>
            </a:extLst>
          </p:cNvPr>
          <p:cNvSpPr txBox="1"/>
          <p:nvPr/>
        </p:nvSpPr>
        <p:spPr>
          <a:xfrm>
            <a:off x="1058159" y="1438436"/>
            <a:ext cx="6094428" cy="369332"/>
          </a:xfrm>
          <a:prstGeom prst="rect">
            <a:avLst/>
          </a:prstGeom>
          <a:noFill/>
        </p:spPr>
        <p:txBody>
          <a:bodyPr wrap="square">
            <a:spAutoFit/>
          </a:bodyPr>
          <a:lstStyle/>
          <a:p>
            <a:r>
              <a:rPr lang="zh-CN" altLang="en-US" b="1" dirty="0">
                <a:solidFill>
                  <a:schemeClr val="accent2"/>
                </a:solidFill>
                <a:latin typeface="微软雅黑" panose="020B0503020204020204" pitchFamily="34" charset="-122"/>
                <a:ea typeface="微软雅黑" panose="020B0503020204020204" pitchFamily="34" charset="-122"/>
              </a:rPr>
              <a:t>哈希函数的构造方法</a:t>
            </a:r>
          </a:p>
        </p:txBody>
      </p:sp>
      <p:sp>
        <p:nvSpPr>
          <p:cNvPr id="9" name="文本框 8">
            <a:extLst>
              <a:ext uri="{FF2B5EF4-FFF2-40B4-BE49-F238E27FC236}">
                <a16:creationId xmlns:a16="http://schemas.microsoft.com/office/drawing/2014/main" id="{682B5208-DFC2-46F9-A64D-E216E354F39B}"/>
              </a:ext>
            </a:extLst>
          </p:cNvPr>
          <p:cNvSpPr txBox="1"/>
          <p:nvPr/>
        </p:nvSpPr>
        <p:spPr>
          <a:xfrm>
            <a:off x="1011417" y="1705855"/>
            <a:ext cx="10169165" cy="3332772"/>
          </a:xfrm>
          <a:prstGeom prst="rect">
            <a:avLst/>
          </a:prstGeom>
          <a:noFill/>
        </p:spPr>
        <p:txBody>
          <a:bodyPr wrap="square">
            <a:spAutoFit/>
          </a:bodyPr>
          <a:lstStyle/>
          <a:p>
            <a:pPr>
              <a:lnSpc>
                <a:spcPct val="200000"/>
              </a:lnSpc>
            </a:pPr>
            <a:r>
              <a:rPr kumimoji="1" lang="en-US" altLang="zh-CN" dirty="0">
                <a:solidFill>
                  <a:srgbClr val="514843"/>
                </a:solidFill>
                <a:latin typeface="微软雅黑" panose="020B0503020204020204" pitchFamily="34" charset="-122"/>
                <a:ea typeface="微软雅黑" panose="020B0503020204020204" pitchFamily="34" charset="-122"/>
              </a:rPr>
              <a:t>2.</a:t>
            </a:r>
            <a:r>
              <a:rPr kumimoji="1" lang="zh-CN" altLang="en-US" dirty="0">
                <a:solidFill>
                  <a:srgbClr val="514843"/>
                </a:solidFill>
                <a:latin typeface="微软雅黑" panose="020B0503020204020204" pitchFamily="34" charset="-122"/>
                <a:ea typeface="微软雅黑" panose="020B0503020204020204" pitchFamily="34" charset="-122"/>
              </a:rPr>
              <a:t>直接定址法</a:t>
            </a:r>
            <a:endParaRPr kumimoji="1" lang="en-US" altLang="zh-CN" dirty="0">
              <a:solidFill>
                <a:srgbClr val="514843"/>
              </a:solidFill>
              <a:latin typeface="微软雅黑" panose="020B0503020204020204" pitchFamily="34" charset="-122"/>
              <a:ea typeface="微软雅黑" panose="020B0503020204020204" pitchFamily="34" charset="-122"/>
            </a:endParaRPr>
          </a:p>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 直接取关键字的某个线性函数作为散列函数，其形式如下：</a:t>
            </a:r>
            <a:endParaRPr kumimoji="1" lang="en-US" altLang="zh-CN" dirty="0">
              <a:solidFill>
                <a:srgbClr val="514843"/>
              </a:solidFill>
              <a:latin typeface="微软雅黑" panose="020B0503020204020204" pitchFamily="34" charset="-122"/>
              <a:ea typeface="微软雅黑" panose="020B0503020204020204" pitchFamily="34" charset="-122"/>
            </a:endParaRPr>
          </a:p>
          <a:p>
            <a:pPr>
              <a:lnSpc>
                <a:spcPct val="200000"/>
              </a:lnSpc>
            </a:pPr>
            <a:r>
              <a:rPr kumimoji="1" lang="en-US" altLang="zh-CN" dirty="0">
                <a:solidFill>
                  <a:srgbClr val="514843"/>
                </a:solidFill>
                <a:latin typeface="微软雅黑" panose="020B0503020204020204" pitchFamily="34" charset="-122"/>
                <a:ea typeface="微软雅黑" panose="020B0503020204020204" pitchFamily="34" charset="-122"/>
              </a:rPr>
              <a:t>       hash(key)=a</a:t>
            </a:r>
            <a:r>
              <a:rPr kumimoji="1" lang="zh-CN" altLang="en-US" dirty="0">
                <a:solidFill>
                  <a:srgbClr val="514843"/>
                </a:solidFill>
                <a:latin typeface="微软雅黑" panose="020B0503020204020204" pitchFamily="34" charset="-122"/>
                <a:ea typeface="微软雅黑" panose="020B0503020204020204" pitchFamily="34" charset="-122"/>
              </a:rPr>
              <a:t>*</a:t>
            </a:r>
            <a:r>
              <a:rPr kumimoji="1" lang="en-US" altLang="zh-CN" dirty="0" err="1">
                <a:solidFill>
                  <a:srgbClr val="514843"/>
                </a:solidFill>
                <a:latin typeface="微软雅黑" panose="020B0503020204020204" pitchFamily="34" charset="-122"/>
                <a:ea typeface="微软雅黑" panose="020B0503020204020204" pitchFamily="34" charset="-122"/>
              </a:rPr>
              <a:t>key+b</a:t>
            </a:r>
            <a:r>
              <a:rPr kumimoji="1" lang="en-US" altLang="zh-CN" dirty="0">
                <a:solidFill>
                  <a:srgbClr val="514843"/>
                </a:solidFill>
                <a:latin typeface="微软雅黑" panose="020B0503020204020204" pitchFamily="34" charset="-122"/>
                <a:ea typeface="微软雅黑" panose="020B0503020204020204" pitchFamily="34" charset="-122"/>
              </a:rPr>
              <a:t>(</a:t>
            </a:r>
            <a:r>
              <a:rPr kumimoji="1" lang="en-US" altLang="zh-CN" dirty="0" err="1">
                <a:solidFill>
                  <a:srgbClr val="514843"/>
                </a:solidFill>
                <a:latin typeface="微软雅黑" panose="020B0503020204020204" pitchFamily="34" charset="-122"/>
                <a:ea typeface="微软雅黑" panose="020B0503020204020204" pitchFamily="34" charset="-122"/>
              </a:rPr>
              <a:t>a,b</a:t>
            </a:r>
            <a:r>
              <a:rPr kumimoji="1" lang="zh-CN" altLang="en-US" dirty="0">
                <a:solidFill>
                  <a:srgbClr val="514843"/>
                </a:solidFill>
                <a:latin typeface="微软雅黑" panose="020B0503020204020204" pitchFamily="34" charset="-122"/>
                <a:ea typeface="微软雅黑" panose="020B0503020204020204" pitchFamily="34" charset="-122"/>
              </a:rPr>
              <a:t>为常数）</a:t>
            </a:r>
            <a:endParaRPr kumimoji="1" lang="en-US" altLang="zh-CN" dirty="0">
              <a:solidFill>
                <a:srgbClr val="514843"/>
              </a:solidFill>
              <a:latin typeface="微软雅黑" panose="020B0503020204020204" pitchFamily="34" charset="-122"/>
              <a:ea typeface="微软雅黑" panose="020B0503020204020204" pitchFamily="34" charset="-122"/>
            </a:endParaRPr>
          </a:p>
          <a:p>
            <a:pPr>
              <a:lnSpc>
                <a:spcPct val="200000"/>
              </a:lnSpc>
            </a:pPr>
            <a:r>
              <a:rPr kumimoji="1" lang="en-US" altLang="zh-CN" dirty="0">
                <a:solidFill>
                  <a:srgbClr val="514843"/>
                </a:solidFill>
                <a:latin typeface="微软雅黑" panose="020B0503020204020204" pitchFamily="34" charset="-122"/>
                <a:ea typeface="微软雅黑" panose="020B0503020204020204" pitchFamily="34" charset="-122"/>
              </a:rPr>
              <a:t>       </a:t>
            </a:r>
            <a:r>
              <a:rPr kumimoji="1" lang="zh-CN" altLang="en-US" dirty="0">
                <a:solidFill>
                  <a:srgbClr val="514843"/>
                </a:solidFill>
                <a:latin typeface="微软雅黑" panose="020B0503020204020204" pitchFamily="34" charset="-122"/>
                <a:ea typeface="微软雅黑" panose="020B0503020204020204" pitchFamily="34" charset="-122"/>
              </a:rPr>
              <a:t>适用于事先知道关键字而关键字集合不是很大且连续性较好的情况。如果关键字不连续，则有大量空位，造成空间浪费。</a:t>
            </a:r>
            <a:endParaRPr kumimoji="1" lang="en-US" altLang="zh-CN" dirty="0">
              <a:solidFill>
                <a:srgbClr val="514843"/>
              </a:solidFill>
              <a:latin typeface="微软雅黑" panose="020B0503020204020204" pitchFamily="34" charset="-122"/>
              <a:ea typeface="微软雅黑" panose="020B0503020204020204" pitchFamily="34" charset="-122"/>
            </a:endParaRPr>
          </a:p>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例如学生学号为（</a:t>
            </a:r>
            <a:r>
              <a:rPr kumimoji="1" lang="en-US" altLang="zh-CN" dirty="0">
                <a:solidFill>
                  <a:srgbClr val="514843"/>
                </a:solidFill>
                <a:latin typeface="微软雅黑" panose="020B0503020204020204" pitchFamily="34" charset="-122"/>
                <a:ea typeface="微软雅黑" panose="020B0503020204020204" pitchFamily="34" charset="-122"/>
              </a:rPr>
              <a:t>601001,601002</a:t>
            </a:r>
            <a:r>
              <a:rPr kumimoji="1" lang="zh-CN" altLang="en-US" dirty="0">
                <a:solidFill>
                  <a:srgbClr val="514843"/>
                </a:solidFill>
                <a:latin typeface="微软雅黑" panose="020B0503020204020204" pitchFamily="34" charset="-122"/>
                <a:ea typeface="微软雅黑" panose="020B0503020204020204" pitchFamily="34" charset="-122"/>
              </a:rPr>
              <a:t>，</a:t>
            </a:r>
            <a:r>
              <a:rPr kumimoji="1" lang="en-US" altLang="zh-CN" dirty="0">
                <a:solidFill>
                  <a:srgbClr val="514843"/>
                </a:solidFill>
                <a:latin typeface="微软雅黑" panose="020B0503020204020204" pitchFamily="34" charset="-122"/>
                <a:ea typeface="微软雅黑" panose="020B0503020204020204" pitchFamily="34" charset="-122"/>
              </a:rPr>
              <a:t>…,601045</a:t>
            </a:r>
            <a:r>
              <a:rPr kumimoji="1" lang="zh-CN" altLang="en-US" dirty="0">
                <a:solidFill>
                  <a:srgbClr val="514843"/>
                </a:solidFill>
                <a:latin typeface="微软雅黑" panose="020B0503020204020204" pitchFamily="34" charset="-122"/>
                <a:ea typeface="微软雅黑" panose="020B0503020204020204" pitchFamily="34" charset="-122"/>
              </a:rPr>
              <a:t>），可设计</a:t>
            </a:r>
            <a:r>
              <a:rPr kumimoji="1" lang="en-US" altLang="zh-CN" dirty="0">
                <a:solidFill>
                  <a:srgbClr val="514843"/>
                </a:solidFill>
                <a:latin typeface="微软雅黑" panose="020B0503020204020204" pitchFamily="34" charset="-122"/>
                <a:ea typeface="微软雅黑" panose="020B0503020204020204" pitchFamily="34" charset="-122"/>
              </a:rPr>
              <a:t>hash(key)=key-601000</a:t>
            </a:r>
          </a:p>
        </p:txBody>
      </p:sp>
    </p:spTree>
    <p:extLst>
      <p:ext uri="{BB962C8B-B14F-4D97-AF65-F5344CB8AC3E}">
        <p14:creationId xmlns:p14="http://schemas.microsoft.com/office/powerpoint/2010/main" val="378949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5" name="文本框 4">
            <a:extLst>
              <a:ext uri="{FF2B5EF4-FFF2-40B4-BE49-F238E27FC236}">
                <a16:creationId xmlns:a16="http://schemas.microsoft.com/office/drawing/2014/main" id="{DB8DBBA2-A2DD-4D87-942E-4020C721D15C}"/>
              </a:ext>
            </a:extLst>
          </p:cNvPr>
          <p:cNvSpPr txBox="1"/>
          <p:nvPr/>
        </p:nvSpPr>
        <p:spPr>
          <a:xfrm>
            <a:off x="1058159" y="1322026"/>
            <a:ext cx="6094428" cy="369332"/>
          </a:xfrm>
          <a:prstGeom prst="rect">
            <a:avLst/>
          </a:prstGeom>
          <a:noFill/>
        </p:spPr>
        <p:txBody>
          <a:bodyPr wrap="square">
            <a:spAutoFit/>
          </a:bodyPr>
          <a:lstStyle/>
          <a:p>
            <a:r>
              <a:rPr lang="zh-CN" altLang="en-US" b="1" dirty="0">
                <a:solidFill>
                  <a:schemeClr val="accent2"/>
                </a:solidFill>
                <a:latin typeface="微软雅黑" panose="020B0503020204020204" pitchFamily="34" charset="-122"/>
                <a:ea typeface="微软雅黑" panose="020B0503020204020204" pitchFamily="34" charset="-122"/>
              </a:rPr>
              <a:t>哈希函数的构造方法</a:t>
            </a:r>
          </a:p>
        </p:txBody>
      </p:sp>
      <p:sp>
        <p:nvSpPr>
          <p:cNvPr id="7" name="文本框 6">
            <a:extLst>
              <a:ext uri="{FF2B5EF4-FFF2-40B4-BE49-F238E27FC236}">
                <a16:creationId xmlns:a16="http://schemas.microsoft.com/office/drawing/2014/main" id="{E8529DC6-1A90-4913-AE99-D85FC4FF074D}"/>
              </a:ext>
            </a:extLst>
          </p:cNvPr>
          <p:cNvSpPr txBox="1"/>
          <p:nvPr/>
        </p:nvSpPr>
        <p:spPr>
          <a:xfrm>
            <a:off x="1058159" y="1561793"/>
            <a:ext cx="9518716" cy="2778774"/>
          </a:xfrm>
          <a:prstGeom prst="rect">
            <a:avLst/>
          </a:prstGeom>
          <a:noFill/>
        </p:spPr>
        <p:txBody>
          <a:bodyPr wrap="square">
            <a:spAutoFit/>
          </a:bodyPr>
          <a:lstStyle/>
          <a:p>
            <a:pPr>
              <a:lnSpc>
                <a:spcPct val="20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平方取中法</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由于整数相除的运行速度通常比相乘要慢，所以有意识地避免使用除余法运算可以提高散列算法的运行时间。平方取中法的具体实现是：先通过求关键字的平方值，从而扩大相近数的差别，然后根据表长度取中间的几位数（往往取二进制的比特位）作为散列函数值。因为一个乘积的中间几位数与乘数的每一数位都相关，所以由此产生的散列地址较为均匀。</a:t>
            </a:r>
            <a:endParaRPr kumimoji="1" lang="zh-CN" altLang="en-US" sz="2000" dirty="0">
              <a:solidFill>
                <a:srgbClr val="514843"/>
              </a:solidFill>
              <a:latin typeface="微软雅黑" panose="020B0503020204020204" pitchFamily="34" charset="-122"/>
              <a:ea typeface="微软雅黑" panose="020B0503020204020204" pitchFamily="34" charset="-122"/>
            </a:endParaRPr>
          </a:p>
        </p:txBody>
      </p:sp>
      <p:graphicFrame>
        <p:nvGraphicFramePr>
          <p:cNvPr id="2" name="表格 1">
            <a:extLst>
              <a:ext uri="{FF2B5EF4-FFF2-40B4-BE49-F238E27FC236}">
                <a16:creationId xmlns:a16="http://schemas.microsoft.com/office/drawing/2014/main" id="{659E6136-631E-4BCA-ABA7-4AF1401FA560}"/>
              </a:ext>
            </a:extLst>
          </p:cNvPr>
          <p:cNvGraphicFramePr>
            <a:graphicFrameLocks noGrp="1"/>
          </p:cNvGraphicFramePr>
          <p:nvPr>
            <p:extLst>
              <p:ext uri="{D42A27DB-BD31-4B8C-83A1-F6EECF244321}">
                <p14:modId xmlns:p14="http://schemas.microsoft.com/office/powerpoint/2010/main" val="3103178950"/>
              </p:ext>
            </p:extLst>
          </p:nvPr>
        </p:nvGraphicFramePr>
        <p:xfrm>
          <a:off x="1168894" y="4545374"/>
          <a:ext cx="5071872" cy="1981200"/>
        </p:xfrm>
        <a:graphic>
          <a:graphicData uri="http://schemas.openxmlformats.org/drawingml/2006/table">
            <a:tbl>
              <a:tblPr>
                <a:tableStyleId>{284E427A-3D55-4303-BF80-6455036E1DE7}</a:tableStyleId>
              </a:tblPr>
              <a:tblGrid>
                <a:gridCol w="1690624">
                  <a:extLst>
                    <a:ext uri="{9D8B030D-6E8A-4147-A177-3AD203B41FA5}">
                      <a16:colId xmlns:a16="http://schemas.microsoft.com/office/drawing/2014/main" val="1273588631"/>
                    </a:ext>
                  </a:extLst>
                </a:gridCol>
                <a:gridCol w="1690624">
                  <a:extLst>
                    <a:ext uri="{9D8B030D-6E8A-4147-A177-3AD203B41FA5}">
                      <a16:colId xmlns:a16="http://schemas.microsoft.com/office/drawing/2014/main" val="4206216069"/>
                    </a:ext>
                  </a:extLst>
                </a:gridCol>
                <a:gridCol w="1690624">
                  <a:extLst>
                    <a:ext uri="{9D8B030D-6E8A-4147-A177-3AD203B41FA5}">
                      <a16:colId xmlns:a16="http://schemas.microsoft.com/office/drawing/2014/main" val="904749332"/>
                    </a:ext>
                  </a:extLst>
                </a:gridCol>
              </a:tblGrid>
              <a:tr h="0">
                <a:tc>
                  <a:txBody>
                    <a:bodyPr/>
                    <a:lstStyle/>
                    <a:p>
                      <a:pPr algn="ctr" fontAlgn="ctr"/>
                      <a:r>
                        <a:rPr lang="zh-CN" altLang="en-US" b="1" dirty="0">
                          <a:effectLst/>
                        </a:rPr>
                        <a:t>关键字</a:t>
                      </a:r>
                    </a:p>
                  </a:txBody>
                  <a:tcPr marL="60960" marR="60960" marT="60960" marB="60960" anchor="ctr"/>
                </a:tc>
                <a:tc>
                  <a:txBody>
                    <a:bodyPr/>
                    <a:lstStyle/>
                    <a:p>
                      <a:pPr algn="ctr" fontAlgn="ctr"/>
                      <a:r>
                        <a:rPr lang="zh-CN" altLang="en-US" b="1" dirty="0">
                          <a:effectLst/>
                        </a:rPr>
                        <a:t>关键字的平方</a:t>
                      </a:r>
                    </a:p>
                  </a:txBody>
                  <a:tcPr marL="60960" marR="60960" marT="60960" marB="60960" anchor="ctr"/>
                </a:tc>
                <a:tc>
                  <a:txBody>
                    <a:bodyPr/>
                    <a:lstStyle/>
                    <a:p>
                      <a:pPr algn="ctr" fontAlgn="ctr"/>
                      <a:r>
                        <a:rPr lang="zh-CN" altLang="en-US" b="1">
                          <a:effectLst/>
                        </a:rPr>
                        <a:t>哈希函数值</a:t>
                      </a:r>
                    </a:p>
                  </a:txBody>
                  <a:tcPr marL="60960" marR="60960" marT="60960" marB="60960" anchor="ctr"/>
                </a:tc>
                <a:extLst>
                  <a:ext uri="{0D108BD9-81ED-4DB2-BD59-A6C34878D82A}">
                    <a16:rowId xmlns:a16="http://schemas.microsoft.com/office/drawing/2014/main" val="2706427632"/>
                  </a:ext>
                </a:extLst>
              </a:tr>
              <a:tr h="0">
                <a:tc>
                  <a:txBody>
                    <a:bodyPr/>
                    <a:lstStyle/>
                    <a:p>
                      <a:pPr algn="ctr" fontAlgn="ctr"/>
                      <a:r>
                        <a:rPr lang="en-US" altLang="zh-CN">
                          <a:effectLst/>
                        </a:rPr>
                        <a:t>1234</a:t>
                      </a:r>
                    </a:p>
                  </a:txBody>
                  <a:tcPr marL="60960" marR="60960" marT="60960" marB="60960" anchor="ctr"/>
                </a:tc>
                <a:tc>
                  <a:txBody>
                    <a:bodyPr/>
                    <a:lstStyle/>
                    <a:p>
                      <a:pPr algn="ctr" fontAlgn="ctr"/>
                      <a:r>
                        <a:rPr lang="en-US" altLang="zh-CN" dirty="0">
                          <a:effectLst/>
                        </a:rPr>
                        <a:t>1522756</a:t>
                      </a:r>
                    </a:p>
                  </a:txBody>
                  <a:tcPr marL="60960" marR="60960" marT="60960" marB="60960" anchor="ctr"/>
                </a:tc>
                <a:tc>
                  <a:txBody>
                    <a:bodyPr/>
                    <a:lstStyle/>
                    <a:p>
                      <a:pPr algn="ctr" fontAlgn="ctr"/>
                      <a:r>
                        <a:rPr lang="en-US" altLang="zh-CN" dirty="0">
                          <a:effectLst/>
                        </a:rPr>
                        <a:t>227</a:t>
                      </a:r>
                    </a:p>
                  </a:txBody>
                  <a:tcPr marL="60960" marR="60960" marT="60960" marB="60960" anchor="ctr"/>
                </a:tc>
                <a:extLst>
                  <a:ext uri="{0D108BD9-81ED-4DB2-BD59-A6C34878D82A}">
                    <a16:rowId xmlns:a16="http://schemas.microsoft.com/office/drawing/2014/main" val="3252050576"/>
                  </a:ext>
                </a:extLst>
              </a:tr>
              <a:tr h="0">
                <a:tc>
                  <a:txBody>
                    <a:bodyPr/>
                    <a:lstStyle/>
                    <a:p>
                      <a:pPr algn="ctr" fontAlgn="ctr"/>
                      <a:r>
                        <a:rPr lang="en-US" altLang="zh-CN">
                          <a:effectLst/>
                        </a:rPr>
                        <a:t>2143</a:t>
                      </a:r>
                    </a:p>
                  </a:txBody>
                  <a:tcPr marL="60960" marR="60960" marT="60960" marB="60960" anchor="ctr"/>
                </a:tc>
                <a:tc>
                  <a:txBody>
                    <a:bodyPr/>
                    <a:lstStyle/>
                    <a:p>
                      <a:pPr algn="ctr" fontAlgn="ctr"/>
                      <a:r>
                        <a:rPr lang="en-US" altLang="zh-CN" dirty="0">
                          <a:effectLst/>
                        </a:rPr>
                        <a:t>4592449</a:t>
                      </a:r>
                    </a:p>
                  </a:txBody>
                  <a:tcPr marL="60960" marR="60960" marT="60960" marB="60960" anchor="ctr"/>
                </a:tc>
                <a:tc>
                  <a:txBody>
                    <a:bodyPr/>
                    <a:lstStyle/>
                    <a:p>
                      <a:pPr algn="ctr" fontAlgn="ctr"/>
                      <a:r>
                        <a:rPr lang="en-US" altLang="zh-CN" dirty="0">
                          <a:effectLst/>
                        </a:rPr>
                        <a:t>924</a:t>
                      </a:r>
                    </a:p>
                  </a:txBody>
                  <a:tcPr marL="60960" marR="60960" marT="60960" marB="60960" anchor="ctr"/>
                </a:tc>
                <a:extLst>
                  <a:ext uri="{0D108BD9-81ED-4DB2-BD59-A6C34878D82A}">
                    <a16:rowId xmlns:a16="http://schemas.microsoft.com/office/drawing/2014/main" val="689353407"/>
                  </a:ext>
                </a:extLst>
              </a:tr>
              <a:tr h="0">
                <a:tc>
                  <a:txBody>
                    <a:bodyPr/>
                    <a:lstStyle/>
                    <a:p>
                      <a:pPr algn="ctr" fontAlgn="ctr"/>
                      <a:r>
                        <a:rPr lang="en-US" altLang="zh-CN">
                          <a:effectLst/>
                        </a:rPr>
                        <a:t>4132</a:t>
                      </a:r>
                    </a:p>
                  </a:txBody>
                  <a:tcPr marL="60960" marR="60960" marT="60960" marB="60960" anchor="ctr"/>
                </a:tc>
                <a:tc>
                  <a:txBody>
                    <a:bodyPr/>
                    <a:lstStyle/>
                    <a:p>
                      <a:pPr algn="ctr" fontAlgn="ctr"/>
                      <a:r>
                        <a:rPr lang="en-US" altLang="zh-CN">
                          <a:effectLst/>
                        </a:rPr>
                        <a:t>17073424</a:t>
                      </a:r>
                    </a:p>
                  </a:txBody>
                  <a:tcPr marL="60960" marR="60960" marT="60960" marB="60960" anchor="ctr"/>
                </a:tc>
                <a:tc>
                  <a:txBody>
                    <a:bodyPr/>
                    <a:lstStyle/>
                    <a:p>
                      <a:pPr algn="ctr" fontAlgn="ctr"/>
                      <a:r>
                        <a:rPr lang="en-US" altLang="zh-CN" dirty="0">
                          <a:effectLst/>
                        </a:rPr>
                        <a:t>734</a:t>
                      </a:r>
                    </a:p>
                  </a:txBody>
                  <a:tcPr marL="60960" marR="60960" marT="60960" marB="60960" anchor="ctr"/>
                </a:tc>
                <a:extLst>
                  <a:ext uri="{0D108BD9-81ED-4DB2-BD59-A6C34878D82A}">
                    <a16:rowId xmlns:a16="http://schemas.microsoft.com/office/drawing/2014/main" val="1941060975"/>
                  </a:ext>
                </a:extLst>
              </a:tr>
              <a:tr h="0">
                <a:tc>
                  <a:txBody>
                    <a:bodyPr/>
                    <a:lstStyle/>
                    <a:p>
                      <a:pPr algn="ctr" fontAlgn="ctr"/>
                      <a:r>
                        <a:rPr lang="en-US" altLang="zh-CN">
                          <a:effectLst/>
                        </a:rPr>
                        <a:t>3214</a:t>
                      </a:r>
                    </a:p>
                  </a:txBody>
                  <a:tcPr marL="60960" marR="60960" marT="60960" marB="60960" anchor="ctr"/>
                </a:tc>
                <a:tc>
                  <a:txBody>
                    <a:bodyPr/>
                    <a:lstStyle/>
                    <a:p>
                      <a:pPr algn="ctr" fontAlgn="ctr"/>
                      <a:r>
                        <a:rPr lang="en-US" altLang="zh-CN">
                          <a:effectLst/>
                        </a:rPr>
                        <a:t>10329796</a:t>
                      </a:r>
                    </a:p>
                  </a:txBody>
                  <a:tcPr marL="60960" marR="60960" marT="60960" marB="60960" anchor="ctr"/>
                </a:tc>
                <a:tc>
                  <a:txBody>
                    <a:bodyPr/>
                    <a:lstStyle/>
                    <a:p>
                      <a:pPr algn="ctr" fontAlgn="ctr"/>
                      <a:r>
                        <a:rPr lang="en-US" altLang="zh-CN" dirty="0">
                          <a:effectLst/>
                        </a:rPr>
                        <a:t>297</a:t>
                      </a:r>
                    </a:p>
                  </a:txBody>
                  <a:tcPr marL="60960" marR="60960" marT="60960" marB="60960" anchor="ctr"/>
                </a:tc>
                <a:extLst>
                  <a:ext uri="{0D108BD9-81ED-4DB2-BD59-A6C34878D82A}">
                    <a16:rowId xmlns:a16="http://schemas.microsoft.com/office/drawing/2014/main" val="680528552"/>
                  </a:ext>
                </a:extLst>
              </a:tr>
            </a:tbl>
          </a:graphicData>
        </a:graphic>
      </p:graphicFrame>
    </p:spTree>
    <p:extLst>
      <p:ext uri="{BB962C8B-B14F-4D97-AF65-F5344CB8AC3E}">
        <p14:creationId xmlns:p14="http://schemas.microsoft.com/office/powerpoint/2010/main" val="301589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5" name="文本框 4">
            <a:extLst>
              <a:ext uri="{FF2B5EF4-FFF2-40B4-BE49-F238E27FC236}">
                <a16:creationId xmlns:a16="http://schemas.microsoft.com/office/drawing/2014/main" id="{DB8DBBA2-A2DD-4D87-942E-4020C721D15C}"/>
              </a:ext>
            </a:extLst>
          </p:cNvPr>
          <p:cNvSpPr txBox="1"/>
          <p:nvPr/>
        </p:nvSpPr>
        <p:spPr>
          <a:xfrm>
            <a:off x="1058159" y="1463224"/>
            <a:ext cx="6094428" cy="400110"/>
          </a:xfrm>
          <a:prstGeom prst="rect">
            <a:avLst/>
          </a:prstGeom>
          <a:noFill/>
        </p:spPr>
        <p:txBody>
          <a:bodyPr wrap="squar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哈希函数的构造方法</a:t>
            </a:r>
          </a:p>
        </p:txBody>
      </p:sp>
      <p:sp>
        <p:nvSpPr>
          <p:cNvPr id="7" name="文本框 6">
            <a:extLst>
              <a:ext uri="{FF2B5EF4-FFF2-40B4-BE49-F238E27FC236}">
                <a16:creationId xmlns:a16="http://schemas.microsoft.com/office/drawing/2014/main" id="{E8529DC6-1A90-4913-AE99-D85FC4FF074D}"/>
              </a:ext>
            </a:extLst>
          </p:cNvPr>
          <p:cNvSpPr txBox="1"/>
          <p:nvPr/>
        </p:nvSpPr>
        <p:spPr>
          <a:xfrm>
            <a:off x="1058158" y="1907366"/>
            <a:ext cx="10008909" cy="4302268"/>
          </a:xfrm>
          <a:prstGeom prst="rect">
            <a:avLst/>
          </a:prstGeom>
          <a:noFill/>
        </p:spPr>
        <p:txBody>
          <a:bodyPr wrap="square">
            <a:spAutoFit/>
          </a:bodyPr>
          <a:lstStyle/>
          <a:p>
            <a:pPr>
              <a:lnSpc>
                <a:spcPct val="15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 数字分析法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数字分析法用于处理关键字位数比较多的数字，通过抽取关键字的一部分进行操作，计算哈希存储位置的方法。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例如：关键字是手机号时，众所周知，我们的１１位手机号中，前三位是接入号，一般对应不同运营商的子品牌；中间四位是ＨＬＲ识别号，表示用户号的归属地；最后四位才是真正的用户号，所以我们可以选择后四位成为哈希地址，对其在进行相应操作来减少冲突。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数字分析法适合处理关键字位数比较大的情况，事先知道关键字的分布且关键字的若干位分布均匀。</a:t>
            </a:r>
          </a:p>
        </p:txBody>
      </p:sp>
    </p:spTree>
    <p:extLst>
      <p:ext uri="{BB962C8B-B14F-4D97-AF65-F5344CB8AC3E}">
        <p14:creationId xmlns:p14="http://schemas.microsoft.com/office/powerpoint/2010/main" val="374160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5" name="文本框 4">
            <a:extLst>
              <a:ext uri="{FF2B5EF4-FFF2-40B4-BE49-F238E27FC236}">
                <a16:creationId xmlns:a16="http://schemas.microsoft.com/office/drawing/2014/main" id="{DB8DBBA2-A2DD-4D87-942E-4020C721D15C}"/>
              </a:ext>
            </a:extLst>
          </p:cNvPr>
          <p:cNvSpPr txBox="1"/>
          <p:nvPr/>
        </p:nvSpPr>
        <p:spPr>
          <a:xfrm>
            <a:off x="1058159" y="1463224"/>
            <a:ext cx="6094428" cy="400110"/>
          </a:xfrm>
          <a:prstGeom prst="rect">
            <a:avLst/>
          </a:prstGeom>
          <a:noFill/>
        </p:spPr>
        <p:txBody>
          <a:bodyPr wrap="square">
            <a:spAutoFit/>
          </a:bodyPr>
          <a:lstStyle/>
          <a:p>
            <a:r>
              <a:rPr lang="zh-CN" altLang="en-US" sz="2000" b="1" dirty="0">
                <a:solidFill>
                  <a:schemeClr val="accent2"/>
                </a:solidFill>
                <a:latin typeface="微软雅黑" panose="020B0503020204020204" pitchFamily="34" charset="-122"/>
                <a:ea typeface="微软雅黑" panose="020B0503020204020204" pitchFamily="34" charset="-122"/>
              </a:rPr>
              <a:t>冲突解决的策略</a:t>
            </a:r>
          </a:p>
        </p:txBody>
      </p:sp>
      <p:sp>
        <p:nvSpPr>
          <p:cNvPr id="7" name="文本框 6">
            <a:extLst>
              <a:ext uri="{FF2B5EF4-FFF2-40B4-BE49-F238E27FC236}">
                <a16:creationId xmlns:a16="http://schemas.microsoft.com/office/drawing/2014/main" id="{E8529DC6-1A90-4913-AE99-D85FC4FF074D}"/>
              </a:ext>
            </a:extLst>
          </p:cNvPr>
          <p:cNvSpPr txBox="1"/>
          <p:nvPr/>
        </p:nvSpPr>
        <p:spPr>
          <a:xfrm>
            <a:off x="1058159" y="1954500"/>
            <a:ext cx="10008909" cy="2778774"/>
          </a:xfrm>
          <a:prstGeom prst="rect">
            <a:avLst/>
          </a:prstGeom>
          <a:noFill/>
        </p:spPr>
        <p:txBody>
          <a:bodyPr wrap="square">
            <a:spAutoFit/>
          </a:bodyPr>
          <a:lstStyle/>
          <a:p>
            <a:pPr>
              <a:lnSpc>
                <a:spcPct val="200000"/>
              </a:lnSpc>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尽管散列函数的目标是使得冲突最少，但实际上冲突是无法避免的。因此，我们必须研究冲突解决策略。冲突解决技术可以分为两类：</a:t>
            </a:r>
            <a:r>
              <a:rPr lang="zh-CN" altLang="en-US" b="1" dirty="0">
                <a:solidFill>
                  <a:schemeClr val="accent2"/>
                </a:solidFill>
                <a:latin typeface="微软雅黑" panose="020B0503020204020204" pitchFamily="34" charset="-122"/>
                <a:ea typeface="微软雅黑" panose="020B0503020204020204" pitchFamily="34" charset="-122"/>
              </a:rPr>
              <a:t>开散列方法</a:t>
            </a:r>
            <a:r>
              <a:rPr lang="en-US" altLang="zh-CN" dirty="0">
                <a:latin typeface="微软雅黑" panose="020B0503020204020204" pitchFamily="34" charset="-122"/>
                <a:ea typeface="微软雅黑" panose="020B0503020204020204" pitchFamily="34" charset="-122"/>
              </a:rPr>
              <a:t>( open hashing</a:t>
            </a:r>
            <a:r>
              <a:rPr lang="zh-CN" altLang="en-US" dirty="0">
                <a:latin typeface="微软雅黑" panose="020B0503020204020204" pitchFamily="34" charset="-122"/>
                <a:ea typeface="微软雅黑" panose="020B0503020204020204" pitchFamily="34" charset="-122"/>
              </a:rPr>
              <a:t>，也称为拉链法，</a:t>
            </a:r>
            <a:r>
              <a:rPr lang="en-US" altLang="zh-CN" dirty="0">
                <a:latin typeface="微软雅黑" panose="020B0503020204020204" pitchFamily="34" charset="-122"/>
                <a:ea typeface="微软雅黑" panose="020B0503020204020204" pitchFamily="34" charset="-122"/>
              </a:rPr>
              <a:t>separate chaining )</a:t>
            </a:r>
            <a:r>
              <a:rPr lang="zh-CN" altLang="en-US" dirty="0">
                <a:latin typeface="微软雅黑" panose="020B0503020204020204" pitchFamily="34" charset="-122"/>
                <a:ea typeface="微软雅黑" panose="020B0503020204020204" pitchFamily="34" charset="-122"/>
              </a:rPr>
              <a:t>和</a:t>
            </a:r>
            <a:r>
              <a:rPr lang="zh-CN" altLang="en-US" b="1" dirty="0">
                <a:solidFill>
                  <a:schemeClr val="accent2"/>
                </a:solidFill>
                <a:latin typeface="微软雅黑" panose="020B0503020204020204" pitchFamily="34" charset="-122"/>
                <a:ea typeface="微软雅黑" panose="020B0503020204020204" pitchFamily="34" charset="-122"/>
              </a:rPr>
              <a:t>闭散列方法</a:t>
            </a:r>
            <a:r>
              <a:rPr lang="en-US" altLang="zh-CN" dirty="0">
                <a:latin typeface="微软雅黑" panose="020B0503020204020204" pitchFamily="34" charset="-122"/>
                <a:ea typeface="微软雅黑" panose="020B0503020204020204" pitchFamily="34" charset="-122"/>
              </a:rPr>
              <a:t>( closed hashing</a:t>
            </a:r>
            <a:r>
              <a:rPr lang="zh-CN" altLang="en-US" dirty="0">
                <a:latin typeface="微软雅黑" panose="020B0503020204020204" pitchFamily="34" charset="-122"/>
                <a:ea typeface="微软雅黑" panose="020B0503020204020204" pitchFamily="34" charset="-122"/>
              </a:rPr>
              <a:t>，也称为开地址方法，</a:t>
            </a:r>
            <a:r>
              <a:rPr lang="en-US" altLang="zh-CN" dirty="0">
                <a:latin typeface="微软雅黑" panose="020B0503020204020204" pitchFamily="34" charset="-122"/>
                <a:ea typeface="微软雅黑" panose="020B0503020204020204" pitchFamily="34" charset="-122"/>
              </a:rPr>
              <a:t>open addressing )</a:t>
            </a:r>
            <a:r>
              <a:rPr lang="zh-CN" altLang="en-US" dirty="0">
                <a:latin typeface="微软雅黑" panose="020B0503020204020204" pitchFamily="34" charset="-122"/>
                <a:ea typeface="微软雅黑" panose="020B0503020204020204" pitchFamily="34" charset="-122"/>
              </a:rPr>
              <a:t>。这两种方法的不同之处在于：开散列法把发生冲突的关键码存储在散列表主表之外，而闭散列法把发生冲突的关键码存储在表中另一个槽内。</a:t>
            </a:r>
          </a:p>
        </p:txBody>
      </p:sp>
    </p:spTree>
    <p:extLst>
      <p:ext uri="{BB962C8B-B14F-4D97-AF65-F5344CB8AC3E}">
        <p14:creationId xmlns:p14="http://schemas.microsoft.com/office/powerpoint/2010/main" val="148189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7" name="文本框 6">
            <a:extLst>
              <a:ext uri="{FF2B5EF4-FFF2-40B4-BE49-F238E27FC236}">
                <a16:creationId xmlns:a16="http://schemas.microsoft.com/office/drawing/2014/main" id="{E8529DC6-1A90-4913-AE99-D85FC4FF074D}"/>
              </a:ext>
            </a:extLst>
          </p:cNvPr>
          <p:cNvSpPr txBox="1"/>
          <p:nvPr/>
        </p:nvSpPr>
        <p:spPr>
          <a:xfrm>
            <a:off x="1091545" y="1138455"/>
            <a:ext cx="10008909" cy="3332772"/>
          </a:xfrm>
          <a:prstGeom prst="rect">
            <a:avLst/>
          </a:prstGeom>
          <a:noFill/>
        </p:spPr>
        <p:txBody>
          <a:bodyPr wrap="square">
            <a:spAutoFit/>
          </a:bodyPr>
          <a:lstStyle/>
          <a:p>
            <a:pPr>
              <a:lnSpc>
                <a:spcPct val="200000"/>
              </a:lnSpc>
            </a:pPr>
            <a:r>
              <a:rPr lang="en-US" altLang="zh-CN" b="1" dirty="0">
                <a:solidFill>
                  <a:schemeClr val="accent2"/>
                </a:solidFill>
                <a:latin typeface="微软雅黑" panose="020B0503020204020204" pitchFamily="34" charset="-122"/>
                <a:ea typeface="微软雅黑" panose="020B0503020204020204" pitchFamily="34" charset="-122"/>
              </a:rPr>
              <a:t>1.</a:t>
            </a:r>
            <a:r>
              <a:rPr lang="zh-CN" altLang="en-US" b="1" dirty="0">
                <a:solidFill>
                  <a:schemeClr val="accent2"/>
                </a:solidFill>
                <a:latin typeface="微软雅黑" panose="020B0503020204020204" pitchFamily="34" charset="-122"/>
                <a:ea typeface="微软雅黑" panose="020B0503020204020204" pitchFamily="34" charset="-122"/>
              </a:rPr>
              <a:t>拉链法</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开散列方法的一种简单形式是把散列表中的每个槽定义为一个链表的表头。散列到一个特定槽的所有记录都放到这个槽的链表中。图例说明了一个开散列的散列表，这个表中每一个槽存储一个记录和一个指向链表其余部分的指针。这</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个数存储在有</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个槽的散列表中，使用的散列函数是</a:t>
            </a:r>
            <a:r>
              <a:rPr lang="en-US" altLang="zh-CN" dirty="0">
                <a:latin typeface="微软雅黑" panose="020B0503020204020204" pitchFamily="34" charset="-122"/>
                <a:ea typeface="微软雅黑" panose="020B0503020204020204" pitchFamily="34" charset="-122"/>
              </a:rPr>
              <a:t>h(K) = K mod 11</a:t>
            </a:r>
            <a:r>
              <a:rPr lang="zh-CN" altLang="en-US" dirty="0">
                <a:latin typeface="微软雅黑" panose="020B0503020204020204" pitchFamily="34" charset="-122"/>
                <a:ea typeface="微软雅黑" panose="020B0503020204020204" pitchFamily="34" charset="-122"/>
              </a:rPr>
              <a:t>。数的插入顺序是</a:t>
            </a:r>
            <a:r>
              <a:rPr lang="en-US" altLang="zh-CN" dirty="0">
                <a:latin typeface="微软雅黑" panose="020B0503020204020204" pitchFamily="34" charset="-122"/>
                <a:ea typeface="微软雅黑" panose="020B0503020204020204" pitchFamily="34" charset="-122"/>
              </a:rPr>
              <a:t>77</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110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95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75</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62</a:t>
            </a:r>
            <a:r>
              <a:rPr lang="zh-CN" altLang="en-US" dirty="0">
                <a:latin typeface="微软雅黑" panose="020B0503020204020204" pitchFamily="34" charset="-122"/>
                <a:ea typeface="微软雅黑" panose="020B0503020204020204" pitchFamily="34" charset="-122"/>
              </a:rPr>
              <a:t>。有</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个值散列到第</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个槽，</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个值散列到第</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个槽，</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个值散列到第</a:t>
            </a:r>
            <a:r>
              <a:rPr lang="en-US" altLang="zh-CN" dirty="0">
                <a:latin typeface="微软雅黑" panose="020B0503020204020204" pitchFamily="34" charset="-122"/>
                <a:ea typeface="微软雅黑" panose="020B0503020204020204" pitchFamily="34" charset="-122"/>
              </a:rPr>
              <a:t>7</a:t>
            </a:r>
            <a:r>
              <a:rPr lang="zh-CN" altLang="en-US" dirty="0">
                <a:latin typeface="微软雅黑" panose="020B0503020204020204" pitchFamily="34" charset="-122"/>
                <a:ea typeface="微软雅黑" panose="020B0503020204020204" pitchFamily="34" charset="-122"/>
              </a:rPr>
              <a:t>个槽，</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个值散列到第</a:t>
            </a:r>
            <a:r>
              <a:rPr lang="en-US" altLang="zh-CN" dirty="0">
                <a:latin typeface="微软雅黑" panose="020B0503020204020204" pitchFamily="34" charset="-122"/>
                <a:ea typeface="微软雅黑" panose="020B0503020204020204" pitchFamily="34" charset="-122"/>
              </a:rPr>
              <a:t>9</a:t>
            </a:r>
            <a:r>
              <a:rPr lang="zh-CN" altLang="en-US" dirty="0">
                <a:latin typeface="微软雅黑" panose="020B0503020204020204" pitchFamily="34" charset="-122"/>
                <a:ea typeface="微软雅黑" panose="020B0503020204020204" pitchFamily="34" charset="-122"/>
              </a:rPr>
              <a:t>个槽。</a:t>
            </a:r>
          </a:p>
        </p:txBody>
      </p:sp>
      <p:pic>
        <p:nvPicPr>
          <p:cNvPr id="2" name="图片 1">
            <a:extLst>
              <a:ext uri="{FF2B5EF4-FFF2-40B4-BE49-F238E27FC236}">
                <a16:creationId xmlns:a16="http://schemas.microsoft.com/office/drawing/2014/main" id="{D2A99610-C3D7-4EC0-9A93-C2C5B68CA2AE}"/>
              </a:ext>
            </a:extLst>
          </p:cNvPr>
          <p:cNvPicPr>
            <a:picLocks noChangeAspect="1"/>
          </p:cNvPicPr>
          <p:nvPr/>
        </p:nvPicPr>
        <p:blipFill rotWithShape="1">
          <a:blip r:embed="rId2"/>
          <a:srcRect b="9282"/>
          <a:stretch/>
        </p:blipFill>
        <p:spPr>
          <a:xfrm>
            <a:off x="1168894" y="4471227"/>
            <a:ext cx="3878892" cy="2171216"/>
          </a:xfrm>
          <a:prstGeom prst="rect">
            <a:avLst/>
          </a:prstGeom>
        </p:spPr>
      </p:pic>
    </p:spTree>
    <p:extLst>
      <p:ext uri="{BB962C8B-B14F-4D97-AF65-F5344CB8AC3E}">
        <p14:creationId xmlns:p14="http://schemas.microsoft.com/office/powerpoint/2010/main" val="1773410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p>
        </p:txBody>
      </p:sp>
      <p:sp>
        <p:nvSpPr>
          <p:cNvPr id="7" name="文本框 6">
            <a:extLst>
              <a:ext uri="{FF2B5EF4-FFF2-40B4-BE49-F238E27FC236}">
                <a16:creationId xmlns:a16="http://schemas.microsoft.com/office/drawing/2014/main" id="{E8529DC6-1A90-4913-AE99-D85FC4FF074D}"/>
              </a:ext>
            </a:extLst>
          </p:cNvPr>
          <p:cNvSpPr txBox="1"/>
          <p:nvPr/>
        </p:nvSpPr>
        <p:spPr>
          <a:xfrm>
            <a:off x="1168894" y="1307152"/>
            <a:ext cx="10008909" cy="5056321"/>
          </a:xfrm>
          <a:prstGeom prst="rect">
            <a:avLst/>
          </a:prstGeom>
          <a:noFill/>
        </p:spPr>
        <p:txBody>
          <a:bodyPr wrap="square">
            <a:spAutoFit/>
          </a:bodyPr>
          <a:lstStyle/>
          <a:p>
            <a:pPr>
              <a:lnSpc>
                <a:spcPct val="200000"/>
              </a:lnSpc>
            </a:pPr>
            <a:r>
              <a:rPr lang="en-US" altLang="zh-CN" sz="2000" b="1" dirty="0">
                <a:solidFill>
                  <a:schemeClr val="accent2"/>
                </a:solidFill>
                <a:latin typeface="微软雅黑" panose="020B0503020204020204" pitchFamily="34" charset="-122"/>
                <a:ea typeface="微软雅黑" panose="020B0503020204020204" pitchFamily="34" charset="-122"/>
              </a:rPr>
              <a:t>2.</a:t>
            </a:r>
            <a:r>
              <a:rPr lang="zh-CN" altLang="en-US" sz="2000" b="1" dirty="0">
                <a:solidFill>
                  <a:schemeClr val="accent2"/>
                </a:solidFill>
                <a:latin typeface="微软雅黑" panose="020B0503020204020204" pitchFamily="34" charset="-122"/>
                <a:ea typeface="微软雅黑" panose="020B0503020204020204" pitchFamily="34" charset="-122"/>
              </a:rPr>
              <a:t>开放地址法</a:t>
            </a:r>
            <a:endParaRPr lang="en-US" altLang="zh-CN" sz="2000"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一旦发生了冲突就去寻找下一个空的哈希地址，只要哈希表足够大，空的散列地址总能找到，并将记录存入。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公式：</a:t>
            </a:r>
            <a:r>
              <a:rPr lang="en-US" altLang="zh-CN" dirty="0">
                <a:latin typeface="微软雅黑" panose="020B0503020204020204" pitchFamily="34" charset="-122"/>
                <a:ea typeface="微软雅黑" panose="020B0503020204020204" pitchFamily="34" charset="-122"/>
              </a:rPr>
              <a:t>Hi=(H(*key) + Di) mod m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 1,2,3,….,k /</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k&lt;=m-1)</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其中：</a:t>
            </a:r>
            <a:r>
              <a:rPr lang="en-US" altLang="zh-CN" dirty="0">
                <a:latin typeface="微软雅黑" panose="020B0503020204020204" pitchFamily="34" charset="-122"/>
                <a:ea typeface="微软雅黑" panose="020B0503020204020204" pitchFamily="34" charset="-122"/>
              </a:rPr>
              <a:t>H</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key</a:t>
            </a:r>
            <a:r>
              <a:rPr lang="zh-CN" altLang="en-US" dirty="0">
                <a:latin typeface="微软雅黑" panose="020B0503020204020204" pitchFamily="34" charset="-122"/>
                <a:ea typeface="微软雅黑" panose="020B0503020204020204" pitchFamily="34" charset="-122"/>
              </a:rPr>
              <a:t>）为哈希函数；</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为哈希表表长；</a:t>
            </a:r>
            <a:r>
              <a:rPr lang="en-US" altLang="zh-CN" dirty="0">
                <a:latin typeface="微软雅黑" panose="020B0503020204020204" pitchFamily="34" charset="-122"/>
                <a:ea typeface="微软雅黑" panose="020B0503020204020204" pitchFamily="34" charset="-122"/>
              </a:rPr>
              <a:t>Di</a:t>
            </a:r>
            <a:r>
              <a:rPr lang="zh-CN" altLang="en-US" dirty="0">
                <a:latin typeface="微软雅黑" panose="020B0503020204020204" pitchFamily="34" charset="-122"/>
                <a:ea typeface="微软雅黑" panose="020B0503020204020204" pitchFamily="34" charset="-122"/>
              </a:rPr>
              <a:t>为增量序列，有以下</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中取法</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①</a:t>
            </a:r>
            <a:r>
              <a:rPr lang="en-US" altLang="zh-CN" dirty="0">
                <a:latin typeface="微软雅黑" panose="020B0503020204020204" pitchFamily="34" charset="-122"/>
                <a:ea typeface="微软雅黑" panose="020B0503020204020204" pitchFamily="34" charset="-122"/>
              </a:rPr>
              <a:t>Di = 1,2,3,…,m-1, </a:t>
            </a:r>
            <a:r>
              <a:rPr lang="zh-CN" altLang="en-US" dirty="0">
                <a:latin typeface="微软雅黑" panose="020B0503020204020204" pitchFamily="34" charset="-122"/>
                <a:ea typeface="微软雅黑" panose="020B0503020204020204" pitchFamily="34" charset="-122"/>
              </a:rPr>
              <a:t>称为线性探测再散列；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②</a:t>
            </a:r>
            <a:r>
              <a:rPr lang="en-US" altLang="zh-CN" dirty="0">
                <a:latin typeface="微软雅黑" panose="020B0503020204020204" pitchFamily="34" charset="-122"/>
                <a:ea typeface="微软雅黑" panose="020B0503020204020204" pitchFamily="34" charset="-122"/>
              </a:rPr>
              <a:t>Di = 1²</a:t>
            </a:r>
            <a:r>
              <a:rPr lang="zh-CN" altLang="en-US" dirty="0">
                <a:latin typeface="微软雅黑" panose="020B0503020204020204" pitchFamily="34" charset="-122"/>
                <a:ea typeface="微软雅黑" panose="020B0503020204020204" pitchFamily="34" charset="-122"/>
              </a:rPr>
              <a:t>，－１</a:t>
            </a:r>
            <a:r>
              <a:rPr lang="en-US" altLang="zh-CN" dirty="0">
                <a:latin typeface="微软雅黑" panose="020B0503020204020204" pitchFamily="34" charset="-122"/>
                <a:ea typeface="微软雅黑" panose="020B0503020204020204" pitchFamily="34" charset="-122"/>
              </a:rPr>
              <a:t>²</a:t>
            </a:r>
            <a:r>
              <a:rPr lang="zh-CN" altLang="en-US" dirty="0">
                <a:latin typeface="微软雅黑" panose="020B0503020204020204" pitchFamily="34" charset="-122"/>
                <a:ea typeface="微软雅黑" panose="020B0503020204020204" pitchFamily="34" charset="-122"/>
              </a:rPr>
              <a:t>，２</a:t>
            </a:r>
            <a:r>
              <a:rPr lang="en-US" altLang="zh-CN" dirty="0">
                <a:latin typeface="微软雅黑" panose="020B0503020204020204" pitchFamily="34" charset="-122"/>
                <a:ea typeface="微软雅黑" panose="020B0503020204020204" pitchFamily="34" charset="-122"/>
              </a:rPr>
              <a:t>²</a:t>
            </a:r>
            <a:r>
              <a:rPr lang="zh-CN" altLang="en-US" dirty="0">
                <a:latin typeface="微软雅黑" panose="020B0503020204020204" pitchFamily="34" charset="-122"/>
                <a:ea typeface="微软雅黑" panose="020B0503020204020204" pitchFamily="34" charset="-122"/>
              </a:rPr>
              <a:t>，－２</a:t>
            </a:r>
            <a:r>
              <a:rPr lang="en-US" altLang="zh-CN" dirty="0">
                <a:latin typeface="微软雅黑" panose="020B0503020204020204" pitchFamily="34" charset="-122"/>
                <a:ea typeface="微软雅黑" panose="020B0503020204020204" pitchFamily="34" charset="-122"/>
              </a:rPr>
              <a:t>²</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ｋ</a:t>
            </a:r>
            <a:r>
              <a:rPr lang="en-US" altLang="zh-CN" dirty="0">
                <a:latin typeface="微软雅黑" panose="020B0503020204020204" pitchFamily="34" charset="-122"/>
                <a:ea typeface="微软雅黑" panose="020B0503020204020204" pitchFamily="34" charset="-122"/>
              </a:rPr>
              <a:t>²</a:t>
            </a:r>
            <a:r>
              <a:rPr lang="zh-CN" altLang="en-US" dirty="0">
                <a:latin typeface="微软雅黑" panose="020B0503020204020204" pitchFamily="34" charset="-122"/>
                <a:ea typeface="微软雅黑" panose="020B0503020204020204" pitchFamily="34" charset="-122"/>
              </a:rPr>
              <a:t>，（ｋ</a:t>
            </a:r>
            <a:r>
              <a:rPr lang="en-US" altLang="zh-CN" dirty="0">
                <a:latin typeface="微软雅黑" panose="020B0503020204020204" pitchFamily="34" charset="-122"/>
                <a:ea typeface="微软雅黑" panose="020B0503020204020204" pitchFamily="34" charset="-122"/>
              </a:rPr>
              <a:t>&lt;= m/2)</a:t>
            </a:r>
            <a:r>
              <a:rPr lang="zh-CN" altLang="en-US" dirty="0">
                <a:latin typeface="微软雅黑" panose="020B0503020204020204" pitchFamily="34" charset="-122"/>
                <a:ea typeface="微软雅黑" panose="020B0503020204020204" pitchFamily="34" charset="-122"/>
              </a:rPr>
              <a:t>称为二次探测再散列　　 　　</a:t>
            </a:r>
            <a:endParaRPr lang="en-US" altLang="zh-CN" dirty="0">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③</a:t>
            </a:r>
            <a:r>
              <a:rPr lang="en-US" altLang="zh-CN" dirty="0">
                <a:latin typeface="微软雅黑" panose="020B0503020204020204" pitchFamily="34" charset="-122"/>
                <a:ea typeface="微软雅黑" panose="020B0503020204020204" pitchFamily="34" charset="-122"/>
              </a:rPr>
              <a:t>Di = </a:t>
            </a:r>
            <a:r>
              <a:rPr lang="zh-CN" altLang="en-US" dirty="0">
                <a:latin typeface="微软雅黑" panose="020B0503020204020204" pitchFamily="34" charset="-122"/>
                <a:ea typeface="微软雅黑" panose="020B0503020204020204" pitchFamily="34" charset="-122"/>
              </a:rPr>
              <a:t>伪随机数序列，称为伪随机数探测再散列。　　 　　</a:t>
            </a:r>
            <a:endParaRPr lang="en-US" altLang="zh-CN" dirty="0">
              <a:latin typeface="微软雅黑" panose="020B0503020204020204" pitchFamily="34" charset="-122"/>
              <a:ea typeface="微软雅黑" panose="020B0503020204020204" pitchFamily="34" charset="-122"/>
            </a:endParaRPr>
          </a:p>
          <a:p>
            <a:pPr>
              <a:lnSpc>
                <a:spcPct val="200000"/>
              </a:lnSpc>
            </a:pP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90021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en-US" altLang="zh-CN" dirty="0"/>
              <a:t>Hash</a:t>
            </a:r>
            <a:endParaRPr lang="zh-CN" altLang="en-US" dirty="0"/>
          </a:p>
        </p:txBody>
      </p:sp>
      <p:sp>
        <p:nvSpPr>
          <p:cNvPr id="5" name="矩形 4">
            <a:extLst>
              <a:ext uri="{FF2B5EF4-FFF2-40B4-BE49-F238E27FC236}">
                <a16:creationId xmlns:a16="http://schemas.microsoft.com/office/drawing/2014/main" id="{28F18623-A851-4927-A4A7-1E6748542230}"/>
              </a:ext>
            </a:extLst>
          </p:cNvPr>
          <p:cNvSpPr/>
          <p:nvPr/>
        </p:nvSpPr>
        <p:spPr>
          <a:xfrm>
            <a:off x="900553" y="1318983"/>
            <a:ext cx="7321118"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例</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1】POJ3349  </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雪花</a:t>
            </a:r>
          </a:p>
        </p:txBody>
      </p:sp>
      <p:sp>
        <p:nvSpPr>
          <p:cNvPr id="3" name="矩形 2">
            <a:extLst>
              <a:ext uri="{FF2B5EF4-FFF2-40B4-BE49-F238E27FC236}">
                <a16:creationId xmlns:a16="http://schemas.microsoft.com/office/drawing/2014/main" id="{87CF57E6-1519-47A8-ABF2-E94A9D7926A6}"/>
              </a:ext>
            </a:extLst>
          </p:cNvPr>
          <p:cNvSpPr/>
          <p:nvPr/>
        </p:nvSpPr>
        <p:spPr>
          <a:xfrm>
            <a:off x="900553" y="1734166"/>
            <a:ext cx="9344660" cy="554447"/>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514843"/>
                </a:solidFill>
                <a:effectLst/>
                <a:uLnTx/>
                <a:uFillTx/>
                <a:latin typeface="Euphemia"/>
                <a:ea typeface="+mn-ea"/>
                <a:cs typeface="+mn-cs"/>
              </a:rPr>
              <a:t> </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9B2A4A38-4AE2-477E-999E-9E0A2D6790FD}"/>
                  </a:ext>
                </a:extLst>
              </p:cNvPr>
              <p:cNvSpPr txBox="1"/>
              <p:nvPr/>
            </p:nvSpPr>
            <p:spPr>
              <a:xfrm>
                <a:off x="1036806" y="1503649"/>
                <a:ext cx="10048776" cy="2554674"/>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题目描述</a:t>
                </a:r>
              </a:p>
              <a:p>
                <a:pPr>
                  <a:lnSpc>
                    <a:spcPct val="150000"/>
                  </a:lnSpc>
                </a:pPr>
                <a:r>
                  <a:rPr lang="zh-CN" altLang="en-US" dirty="0">
                    <a:latin typeface="微软雅黑" panose="020B0503020204020204" pitchFamily="34" charset="-122"/>
                    <a:ea typeface="微软雅黑" panose="020B0503020204020204" pitchFamily="34" charset="-122"/>
                  </a:rPr>
                  <a:t>有</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片雪花，每片雪花由</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个角组成，每个角都有长度。第</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片雪花六个角的长度从某个角度开始顺时针依次标记为</a:t>
                </a:r>
                <a14:m>
                  <m:oMath xmlns:m="http://schemas.openxmlformats.org/officeDocument/2006/math">
                    <m:sSub>
                      <m:sSubPr>
                        <m:ctrlPr>
                          <a:rPr lang="en-US" altLang="zh-CN" i="1" smtClean="0">
                            <a:latin typeface="Cambria Math" panose="02040503050406030204" pitchFamily="18" charset="0"/>
                            <a:ea typeface="微软雅黑" panose="020B0503020204020204" pitchFamily="34" charset="-122"/>
                          </a:rPr>
                        </m:ctrlPr>
                      </m:sSubPr>
                      <m:e>
                        <m:r>
                          <m:rPr>
                            <m:sty m:val="p"/>
                          </m:rPr>
                          <a:rPr lang="en-US" altLang="zh-CN" i="1">
                            <a:latin typeface="Cambria Math" panose="02040503050406030204" pitchFamily="18" charset="0"/>
                            <a:ea typeface="微软雅黑" panose="020B0503020204020204" pitchFamily="34" charset="-122"/>
                          </a:rPr>
                          <m:t>a</m:t>
                        </m:r>
                      </m:e>
                      <m:sub>
                        <m:r>
                          <m:rPr>
                            <m:sty m:val="p"/>
                          </m:rPr>
                          <a:rPr lang="en-US" altLang="zh-CN" i="1">
                            <a:latin typeface="Cambria Math" panose="02040503050406030204" pitchFamily="18" charset="0"/>
                            <a:ea typeface="微软雅黑" panose="020B0503020204020204" pitchFamily="34" charset="-122"/>
                          </a:rPr>
                          <m:t>i</m:t>
                        </m:r>
                        <m:r>
                          <a:rPr lang="en-US" altLang="zh-CN" b="0" i="1" smtClean="0">
                            <a:latin typeface="Cambria Math" panose="02040503050406030204" pitchFamily="18" charset="0"/>
                            <a:ea typeface="微软雅黑" panose="020B0503020204020204" pitchFamily="34" charset="-122"/>
                          </a:rPr>
                          <m:t>,1</m:t>
                        </m:r>
                      </m:sub>
                    </m:sSub>
                  </m:oMath>
                </a14:m>
                <a:r>
                  <a:rPr lang="en-US" altLang="zh-CN" dirty="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sty m:val="p"/>
                          </m:rPr>
                          <a:rPr lang="en-US" altLang="zh-CN" i="1">
                            <a:latin typeface="Cambria Math" panose="02040503050406030204" pitchFamily="18" charset="0"/>
                            <a:ea typeface="微软雅黑" panose="020B0503020204020204" pitchFamily="34" charset="-122"/>
                          </a:rPr>
                          <m:t>a</m:t>
                        </m:r>
                      </m:e>
                      <m:sub>
                        <m:r>
                          <m:rPr>
                            <m:sty m:val="p"/>
                          </m:rPr>
                          <a:rPr lang="en-US" altLang="zh-CN" i="1">
                            <a:latin typeface="Cambria Math" panose="02040503050406030204" pitchFamily="18" charset="0"/>
                            <a:ea typeface="微软雅黑" panose="020B0503020204020204" pitchFamily="34" charset="-122"/>
                          </a:rPr>
                          <m:t>i</m:t>
                        </m:r>
                        <m:r>
                          <a:rPr lang="en-US" altLang="zh-CN" b="0" i="1" smtClean="0">
                            <a:latin typeface="Cambria Math" panose="02040503050406030204" pitchFamily="18" charset="0"/>
                            <a:ea typeface="微软雅黑" panose="020B0503020204020204" pitchFamily="34" charset="-122"/>
                          </a:rPr>
                          <m:t>,2</m:t>
                        </m:r>
                      </m:sub>
                    </m:sSub>
                    <m:r>
                      <a:rPr lang="en-US" altLang="zh-CN" b="0" i="0" smtClean="0">
                        <a:latin typeface="Cambria Math" panose="02040503050406030204" pitchFamily="18" charset="0"/>
                        <a:ea typeface="微软雅黑" panose="020B0503020204020204" pitchFamily="34" charset="-122"/>
                      </a:rPr>
                      <m:t>…</m:t>
                    </m:r>
                  </m:oMath>
                </a14:m>
                <a:r>
                  <a:rPr lang="en-US" altLang="zh-CN" dirty="0">
                    <a:ea typeface="微软雅黑" panose="020B0503020204020204" pitchFamily="34" charset="-122"/>
                  </a:rPr>
                  <a:t> </a:t>
                </a:r>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m:rPr>
                            <m:sty m:val="p"/>
                          </m:rPr>
                          <a:rPr lang="en-US" altLang="zh-CN" i="1">
                            <a:latin typeface="Cambria Math" panose="02040503050406030204" pitchFamily="18" charset="0"/>
                            <a:ea typeface="微软雅黑" panose="020B0503020204020204" pitchFamily="34" charset="-122"/>
                          </a:rPr>
                          <m:t>a</m:t>
                        </m:r>
                      </m:e>
                      <m:sub>
                        <m:r>
                          <m:rPr>
                            <m:sty m:val="p"/>
                          </m:rPr>
                          <a:rPr lang="en-US" altLang="zh-CN" i="1">
                            <a:latin typeface="Cambria Math" panose="02040503050406030204" pitchFamily="18" charset="0"/>
                            <a:ea typeface="微软雅黑" panose="020B0503020204020204" pitchFamily="34" charset="-122"/>
                          </a:rPr>
                          <m:t>i</m:t>
                        </m:r>
                        <m:r>
                          <a:rPr lang="en-US" altLang="zh-CN" i="1">
                            <a:latin typeface="Cambria Math" panose="02040503050406030204" pitchFamily="18" charset="0"/>
                            <a:ea typeface="微软雅黑" panose="020B0503020204020204" pitchFamily="34" charset="-122"/>
                          </a:rPr>
                          <m:t>,6</m:t>
                        </m:r>
                      </m:sub>
                    </m:sSub>
                    <m:r>
                      <a:rPr lang="zh-CN" altLang="en-US" i="1" smtClean="0">
                        <a:latin typeface="Cambria Math" panose="02040503050406030204" pitchFamily="18" charset="0"/>
                        <a:ea typeface="微软雅黑" panose="020B0503020204020204" pitchFamily="34" charset="-122"/>
                      </a:rPr>
                      <m:t>。</m:t>
                    </m:r>
                  </m:oMath>
                </a14:m>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因为雪花的形状是封闭的环形，所以从任何一个角开始顺时针或逆时针往后记录长度，得到的六元组都代表雪花相同的雪花。我们称两片雪花形状相同，当且仅当他们各自从某一个角开始顺时针或逆时针记录长度，能得到两个相同的六元组。求这</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片雪花中是否存在两片相同的雪花。</a:t>
                </a:r>
                <a:endParaRPr lang="en-US" altLang="zh-CN" dirty="0">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9B2A4A38-4AE2-477E-999E-9E0A2D6790FD}"/>
                  </a:ext>
                </a:extLst>
              </p:cNvPr>
              <p:cNvSpPr txBox="1">
                <a:spLocks noRot="1" noChangeAspect="1" noMove="1" noResize="1" noEditPoints="1" noAdjustHandles="1" noChangeArrowheads="1" noChangeShapeType="1" noTextEdit="1"/>
              </p:cNvSpPr>
              <p:nvPr/>
            </p:nvSpPr>
            <p:spPr>
              <a:xfrm>
                <a:off x="1036806" y="1503649"/>
                <a:ext cx="10048776" cy="2554674"/>
              </a:xfrm>
              <a:prstGeom prst="rect">
                <a:avLst/>
              </a:prstGeom>
              <a:blipFill>
                <a:blip r:embed="rId2"/>
                <a:stretch>
                  <a:fillRect l="-485" r="-364" b="-2864"/>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50D6646-0658-4EF5-B581-A9B9ED717BE7}"/>
              </a:ext>
            </a:extLst>
          </p:cNvPr>
          <p:cNvSpPr txBox="1"/>
          <p:nvPr/>
        </p:nvSpPr>
        <p:spPr>
          <a:xfrm>
            <a:off x="7596280" y="4321600"/>
            <a:ext cx="3338473" cy="2536400"/>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样例输入</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2</a:t>
            </a:r>
          </a:p>
          <a:p>
            <a:pPr>
              <a:lnSpc>
                <a:spcPct val="150000"/>
              </a:lnSpc>
            </a:pPr>
            <a:r>
              <a:rPr lang="en-US" altLang="zh-CN" dirty="0">
                <a:latin typeface="微软雅黑" panose="020B0503020204020204" pitchFamily="34" charset="-122"/>
                <a:ea typeface="微软雅黑" panose="020B0503020204020204" pitchFamily="34" charset="-122"/>
              </a:rPr>
              <a:t>1 2 3 4 5 6</a:t>
            </a:r>
          </a:p>
          <a:p>
            <a:pPr>
              <a:lnSpc>
                <a:spcPct val="150000"/>
              </a:lnSpc>
            </a:pPr>
            <a:r>
              <a:rPr lang="en-US" altLang="zh-CN" dirty="0">
                <a:latin typeface="微软雅黑" panose="020B0503020204020204" pitchFamily="34" charset="-122"/>
                <a:ea typeface="微软雅黑" panose="020B0503020204020204" pitchFamily="34" charset="-122"/>
              </a:rPr>
              <a:t>4 3 2 1 6 5</a:t>
            </a:r>
          </a:p>
          <a:p>
            <a:pPr>
              <a:lnSpc>
                <a:spcPct val="150000"/>
              </a:lnSpc>
            </a:pPr>
            <a:r>
              <a:rPr lang="zh-CN" altLang="en-US" dirty="0">
                <a:latin typeface="微软雅黑" panose="020B0503020204020204" pitchFamily="34" charset="-122"/>
                <a:ea typeface="微软雅黑" panose="020B0503020204020204" pitchFamily="34" charset="-122"/>
              </a:rPr>
              <a:t>样例输出</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Twin snowflakes found.</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2869BEEB-D876-4E78-9345-0D88473B6C85}"/>
              </a:ext>
            </a:extLst>
          </p:cNvPr>
          <p:cNvSpPr txBox="1"/>
          <p:nvPr/>
        </p:nvSpPr>
        <p:spPr>
          <a:xfrm>
            <a:off x="1036806" y="3947903"/>
            <a:ext cx="6146420" cy="2951898"/>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输入格式</a:t>
            </a:r>
          </a:p>
          <a:p>
            <a:pPr>
              <a:lnSpc>
                <a:spcPct val="150000"/>
              </a:lnSpc>
            </a:pPr>
            <a:r>
              <a:rPr lang="zh-CN" altLang="en-US" dirty="0">
                <a:latin typeface="微软雅黑" panose="020B0503020204020204" pitchFamily="34" charset="-122"/>
                <a:ea typeface="微软雅黑" panose="020B0503020204020204" pitchFamily="34" charset="-122"/>
              </a:rPr>
              <a:t>第一行包含一个整数 </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，为雪花的数量（</a:t>
            </a:r>
            <a:r>
              <a:rPr lang="en-US" altLang="zh-CN" dirty="0">
                <a:latin typeface="微软雅黑" panose="020B0503020204020204" pitchFamily="34" charset="-122"/>
                <a:ea typeface="微软雅黑" panose="020B0503020204020204" pitchFamily="34" charset="-122"/>
              </a:rPr>
              <a:t>0&lt;n&lt;=10^5</a:t>
            </a:r>
            <a:r>
              <a:rPr lang="zh-CN" altLang="en-US" dirty="0">
                <a:latin typeface="微软雅黑" panose="020B0503020204020204" pitchFamily="34" charset="-122"/>
                <a:ea typeface="微软雅黑" panose="020B0503020204020204" pitchFamily="34" charset="-122"/>
              </a:rPr>
              <a:t>）。</a:t>
            </a:r>
          </a:p>
          <a:p>
            <a:pPr>
              <a:lnSpc>
                <a:spcPct val="150000"/>
              </a:lnSpc>
            </a:pPr>
            <a:r>
              <a:rPr lang="zh-CN" altLang="en-US" dirty="0">
                <a:latin typeface="微软雅黑" panose="020B0503020204020204" pitchFamily="34" charset="-122"/>
                <a:ea typeface="微软雅黑" panose="020B0503020204020204" pitchFamily="34" charset="-122"/>
              </a:rPr>
              <a:t>接下来 </a:t>
            </a:r>
            <a:r>
              <a:rPr lang="en-US" altLang="zh-CN"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行每行都描述一片雪花，包含</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个整数（至少为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且小于</a:t>
            </a:r>
            <a:r>
              <a:rPr lang="en-US" altLang="zh-CN" dirty="0">
                <a:latin typeface="微软雅黑" panose="020B0503020204020204" pitchFamily="34" charset="-122"/>
                <a:ea typeface="微软雅黑" panose="020B0503020204020204" pitchFamily="34" charset="-122"/>
              </a:rPr>
              <a:t>10^7</a:t>
            </a:r>
            <a:r>
              <a:rPr lang="zh-CN" altLang="en-US" dirty="0">
                <a:latin typeface="微软雅黑" panose="020B0503020204020204" pitchFamily="34" charset="-122"/>
                <a:ea typeface="微软雅黑" panose="020B0503020204020204" pitchFamily="34" charset="-122"/>
              </a:rPr>
              <a:t>），表示花瓣长度</a:t>
            </a:r>
          </a:p>
          <a:p>
            <a:pPr>
              <a:lnSpc>
                <a:spcPct val="150000"/>
              </a:lnSpc>
            </a:pPr>
            <a:r>
              <a:rPr lang="zh-CN" altLang="en-US" dirty="0">
                <a:latin typeface="微软雅黑" panose="020B0503020204020204" pitchFamily="34" charset="-122"/>
                <a:ea typeface="微软雅黑" panose="020B0503020204020204" pitchFamily="34" charset="-122"/>
              </a:rPr>
              <a:t>输出格式</a:t>
            </a:r>
          </a:p>
          <a:p>
            <a:pPr>
              <a:lnSpc>
                <a:spcPct val="150000"/>
              </a:lnSpc>
            </a:pPr>
            <a:r>
              <a:rPr lang="zh-CN" altLang="en-US" dirty="0">
                <a:latin typeface="微软雅黑" panose="020B0503020204020204" pitchFamily="34" charset="-122"/>
                <a:ea typeface="微软雅黑" panose="020B0503020204020204" pitchFamily="34" charset="-122"/>
              </a:rPr>
              <a:t>如果所有的雪花都是不同，则输出“</a:t>
            </a:r>
            <a:r>
              <a:rPr lang="en-US" altLang="zh-CN" dirty="0">
                <a:latin typeface="微软雅黑" panose="020B0503020204020204" pitchFamily="34" charset="-122"/>
                <a:ea typeface="微软雅黑" panose="020B0503020204020204" pitchFamily="34" charset="-122"/>
              </a:rPr>
              <a:t>No two snowflakes are alike.”,</a:t>
            </a:r>
            <a:r>
              <a:rPr lang="zh-CN" altLang="en-US" dirty="0">
                <a:latin typeface="微软雅黑" panose="020B0503020204020204" pitchFamily="34" charset="-122"/>
                <a:ea typeface="微软雅黑" panose="020B0503020204020204" pitchFamily="34" charset="-122"/>
              </a:rPr>
              <a:t>否则输出“</a:t>
            </a:r>
            <a:r>
              <a:rPr lang="en-US" altLang="zh-CN" dirty="0">
                <a:latin typeface="微软雅黑" panose="020B0503020204020204" pitchFamily="34" charset="-122"/>
                <a:ea typeface="微软雅黑" panose="020B0503020204020204" pitchFamily="34" charset="-122"/>
              </a:rPr>
              <a:t>Twin snowflakes found.”</a:t>
            </a:r>
          </a:p>
        </p:txBody>
      </p:sp>
    </p:spTree>
    <p:extLst>
      <p:ext uri="{BB962C8B-B14F-4D97-AF65-F5344CB8AC3E}">
        <p14:creationId xmlns:p14="http://schemas.microsoft.com/office/powerpoint/2010/main" val="2001030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en-US" altLang="zh-CN" dirty="0"/>
              <a:t>Hash</a:t>
            </a:r>
            <a:endParaRPr lang="zh-CN" altLang="en-US" dirty="0"/>
          </a:p>
        </p:txBody>
      </p:sp>
      <p:sp>
        <p:nvSpPr>
          <p:cNvPr id="5" name="矩形 4">
            <a:extLst>
              <a:ext uri="{FF2B5EF4-FFF2-40B4-BE49-F238E27FC236}">
                <a16:creationId xmlns:a16="http://schemas.microsoft.com/office/drawing/2014/main" id="{28F18623-A851-4927-A4A7-1E6748542230}"/>
              </a:ext>
            </a:extLst>
          </p:cNvPr>
          <p:cNvSpPr/>
          <p:nvPr/>
        </p:nvSpPr>
        <p:spPr>
          <a:xfrm>
            <a:off x="900553" y="1334056"/>
            <a:ext cx="732111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sz="2000" b="1" dirty="0">
                <a:solidFill>
                  <a:srgbClr val="6D7D66"/>
                </a:solidFill>
                <a:latin typeface="微软雅黑" panose="020B0503020204020204" pitchFamily="34" charset="-122"/>
                <a:ea typeface="微软雅黑" panose="020B0503020204020204" pitchFamily="34" charset="-122"/>
              </a:rPr>
              <a:t>思路分析</a:t>
            </a:r>
            <a:r>
              <a:rPr kumimoji="0" lang="en-US" altLang="zh-CN"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endParaRPr kumimoji="0" lang="zh-CN" altLang="en-US"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p:txBody>
      </p:sp>
      <p:sp>
        <p:nvSpPr>
          <p:cNvPr id="3" name="矩形 2">
            <a:extLst>
              <a:ext uri="{FF2B5EF4-FFF2-40B4-BE49-F238E27FC236}">
                <a16:creationId xmlns:a16="http://schemas.microsoft.com/office/drawing/2014/main" id="{87CF57E6-1519-47A8-ABF2-E94A9D7926A6}"/>
              </a:ext>
            </a:extLst>
          </p:cNvPr>
          <p:cNvSpPr/>
          <p:nvPr/>
        </p:nvSpPr>
        <p:spPr>
          <a:xfrm>
            <a:off x="900553" y="1734166"/>
            <a:ext cx="9344660" cy="554447"/>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514843"/>
                </a:solidFill>
                <a:effectLst/>
                <a:uLnTx/>
                <a:uFillTx/>
                <a:latin typeface="Euphemia"/>
                <a:ea typeface="+mn-ea"/>
                <a:cs typeface="+mn-cs"/>
              </a:rPr>
              <a:t> </a:t>
            </a:r>
          </a:p>
        </p:txBody>
      </p:sp>
      <p:sp>
        <p:nvSpPr>
          <p:cNvPr id="7" name="文本框 6">
            <a:extLst>
              <a:ext uri="{FF2B5EF4-FFF2-40B4-BE49-F238E27FC236}">
                <a16:creationId xmlns:a16="http://schemas.microsoft.com/office/drawing/2014/main" id="{9B2A4A38-4AE2-477E-999E-9E0A2D6790FD}"/>
              </a:ext>
            </a:extLst>
          </p:cNvPr>
          <p:cNvSpPr txBox="1"/>
          <p:nvPr/>
        </p:nvSpPr>
        <p:spPr>
          <a:xfrm>
            <a:off x="823622" y="1657882"/>
            <a:ext cx="10092618" cy="4440767"/>
          </a:xfrm>
          <a:prstGeom prst="rect">
            <a:avLst/>
          </a:prstGeom>
          <a:noFill/>
        </p:spPr>
        <p:txBody>
          <a:bodyPr wrap="square">
            <a:spAutoFit/>
          </a:bodyPr>
          <a:lstStyle/>
          <a:p>
            <a:pPr>
              <a:lnSpc>
                <a:spcPct val="20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暴力</a:t>
            </a:r>
            <a:r>
              <a:rPr lang="en-US" altLang="zh-CN" dirty="0">
                <a:latin typeface="微软雅黑" panose="020B0503020204020204" pitchFamily="34" charset="-122"/>
                <a:ea typeface="微软雅黑" panose="020B0503020204020204" pitchFamily="34" charset="-122"/>
              </a:rPr>
              <a:t>】</a:t>
            </a:r>
          </a:p>
          <a:p>
            <a:pPr>
              <a:lnSpc>
                <a:spcPct val="200000"/>
              </a:lnSpc>
            </a:pPr>
            <a:r>
              <a:rPr lang="zh-CN" altLang="en-US" dirty="0">
                <a:latin typeface="微软雅黑" panose="020B0503020204020204" pitchFamily="34" charset="-122"/>
                <a:ea typeface="微软雅黑" panose="020B0503020204020204" pitchFamily="34" charset="-122"/>
              </a:rPr>
              <a:t>暴力枚举，时间复杂度（</a:t>
            </a:r>
            <a:r>
              <a:rPr lang="en-US" altLang="zh-CN" dirty="0">
                <a:latin typeface="微软雅黑" panose="020B0503020204020204" pitchFamily="34" charset="-122"/>
                <a:ea typeface="微软雅黑" panose="020B0503020204020204" pitchFamily="34" charset="-122"/>
              </a:rPr>
              <a:t>O(36</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N^2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超时</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优化</a:t>
            </a:r>
            <a:r>
              <a:rPr lang="en-US" altLang="zh-CN" dirty="0">
                <a:latin typeface="微软雅黑" panose="020B0503020204020204" pitchFamily="34" charset="-122"/>
                <a:ea typeface="微软雅黑" panose="020B0503020204020204" pitchFamily="34" charset="-122"/>
              </a:rPr>
              <a:t>】</a:t>
            </a:r>
          </a:p>
          <a:p>
            <a:pPr>
              <a:lnSpc>
                <a:spcPct val="200000"/>
              </a:lnSpc>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将雪花的</a:t>
            </a:r>
            <a:r>
              <a:rPr lang="en-US" altLang="zh-CN" dirty="0">
                <a:latin typeface="微软雅黑" panose="020B0503020204020204" pitchFamily="34" charset="-122"/>
                <a:ea typeface="微软雅黑" panose="020B0503020204020204" pitchFamily="34" charset="-122"/>
              </a:rPr>
              <a:t>6</a:t>
            </a:r>
            <a:r>
              <a:rPr lang="zh-CN" altLang="en-US" dirty="0">
                <a:latin typeface="微软雅黑" panose="020B0503020204020204" pitchFamily="34" charset="-122"/>
                <a:ea typeface="微软雅黑" panose="020B0503020204020204" pitchFamily="34" charset="-122"/>
              </a:rPr>
              <a:t>个花瓣长度求和，然后模上一个较大的质数，例如</a:t>
            </a:r>
            <a:r>
              <a:rPr lang="en-US" altLang="zh-CN" dirty="0">
                <a:latin typeface="微软雅黑" panose="020B0503020204020204" pitchFamily="34" charset="-122"/>
                <a:ea typeface="微软雅黑" panose="020B0503020204020204" pitchFamily="34" charset="-122"/>
              </a:rPr>
              <a:t>100003,100007</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哈希表冲突时采用链地址法，实现用</a:t>
            </a:r>
            <a:r>
              <a:rPr lang="en-US" altLang="zh-CN" dirty="0">
                <a:latin typeface="微软雅黑" panose="020B0503020204020204" pitchFamily="34" charset="-122"/>
                <a:ea typeface="微软雅黑" panose="020B0503020204020204" pitchFamily="34" charset="-122"/>
              </a:rPr>
              <a:t>vector</a:t>
            </a:r>
            <a:r>
              <a:rPr lang="zh-CN" altLang="en-US" dirty="0">
                <a:latin typeface="微软雅黑" panose="020B0503020204020204" pitchFamily="34" charset="-122"/>
                <a:ea typeface="微软雅黑" panose="020B0503020204020204" pitchFamily="34" charset="-122"/>
              </a:rPr>
              <a:t>或链式前向星均可，但</a:t>
            </a:r>
            <a:r>
              <a:rPr lang="en-US" altLang="zh-CN" dirty="0">
                <a:latin typeface="微软雅黑" panose="020B0503020204020204" pitchFamily="34" charset="-122"/>
                <a:ea typeface="微软雅黑" panose="020B0503020204020204" pitchFamily="34" charset="-122"/>
              </a:rPr>
              <a:t>vector</a:t>
            </a:r>
            <a:r>
              <a:rPr lang="zh-CN" altLang="en-US" dirty="0">
                <a:latin typeface="微软雅黑" panose="020B0503020204020204" pitchFamily="34" charset="-122"/>
                <a:ea typeface="微软雅黑" panose="020B0503020204020204" pitchFamily="34" charset="-122"/>
              </a:rPr>
              <a:t>速度较慢；</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在哈希表</a:t>
            </a:r>
            <a:r>
              <a:rPr lang="en-US" altLang="zh-CN" dirty="0">
                <a:latin typeface="微软雅黑" panose="020B0503020204020204" pitchFamily="34" charset="-122"/>
                <a:ea typeface="微软雅黑" panose="020B0503020204020204" pitchFamily="34" charset="-122"/>
              </a:rPr>
              <a:t>key</a:t>
            </a:r>
            <a:r>
              <a:rPr lang="zh-CN" altLang="en-US" dirty="0">
                <a:latin typeface="微软雅黑" panose="020B0503020204020204" pitchFamily="34" charset="-122"/>
                <a:ea typeface="微软雅黑" panose="020B0503020204020204" pitchFamily="34" charset="-122"/>
              </a:rPr>
              <a:t>相同的链中查询是否有相同的，如果有则返回</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，否则将关键字添加到哈希表中；</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比较相同时，从顺时针和逆时针两个方向判断。</a:t>
            </a:r>
            <a:endParaRPr lang="en-US" altLang="zh-CN" dirty="0">
              <a:latin typeface="微软雅黑" panose="020B0503020204020204" pitchFamily="34" charset="-122"/>
              <a:ea typeface="微软雅黑" panose="020B0503020204020204" pitchFamily="34" charset="-122"/>
            </a:endParaRPr>
          </a:p>
          <a:p>
            <a:pPr>
              <a:lnSpc>
                <a:spcPct val="200000"/>
              </a:lnSpc>
            </a:pP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期望的时间复杂度为</a:t>
            </a:r>
            <a:r>
              <a:rPr lang="en-US" altLang="zh-CN" dirty="0">
                <a:latin typeface="微软雅黑" panose="020B0503020204020204" pitchFamily="34" charset="-122"/>
                <a:ea typeface="微软雅黑" panose="020B0503020204020204" pitchFamily="34" charset="-122"/>
              </a:rPr>
              <a:t>O((N/p)^2N),</a:t>
            </a:r>
            <a:r>
              <a:rPr lang="zh-CN" altLang="en-US" dirty="0">
                <a:latin typeface="微软雅黑" panose="020B0503020204020204" pitchFamily="34" charset="-122"/>
                <a:ea typeface="微软雅黑" panose="020B0503020204020204" pitchFamily="34" charset="-122"/>
              </a:rPr>
              <a:t>取</a:t>
            </a:r>
            <a:r>
              <a:rPr lang="en-US" altLang="zh-CN" dirty="0">
                <a:latin typeface="微软雅黑" panose="020B0503020204020204" pitchFamily="34" charset="-122"/>
                <a:ea typeface="微软雅黑" panose="020B0503020204020204" pitchFamily="34" charset="-122"/>
              </a:rPr>
              <a:t>p</a:t>
            </a:r>
            <a:r>
              <a:rPr lang="zh-CN" altLang="en-US" dirty="0">
                <a:latin typeface="微软雅黑" panose="020B0503020204020204" pitchFamily="34" charset="-122"/>
                <a:ea typeface="微软雅黑" panose="020B0503020204020204" pitchFamily="34" charset="-122"/>
              </a:rPr>
              <a:t>为最接近</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的质数，期望的时间复杂度</a:t>
            </a:r>
            <a:r>
              <a:rPr lang="en-US" altLang="zh-CN" dirty="0">
                <a:latin typeface="微软雅黑" panose="020B0503020204020204" pitchFamily="34" charset="-122"/>
                <a:ea typeface="微软雅黑" panose="020B0503020204020204" pitchFamily="34" charset="-122"/>
              </a:rPr>
              <a:t>O(N)</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1478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en-US" altLang="zh-CN" dirty="0"/>
              <a:t>Hash</a:t>
            </a:r>
            <a:endParaRPr lang="zh-CN" altLang="en-US" dirty="0"/>
          </a:p>
        </p:txBody>
      </p:sp>
      <p:pic>
        <p:nvPicPr>
          <p:cNvPr id="7" name="图片 6">
            <a:extLst>
              <a:ext uri="{FF2B5EF4-FFF2-40B4-BE49-F238E27FC236}">
                <a16:creationId xmlns:a16="http://schemas.microsoft.com/office/drawing/2014/main" id="{E5FA3D27-F527-4AA5-8C0A-F564FDEB609B}"/>
              </a:ext>
            </a:extLst>
          </p:cNvPr>
          <p:cNvPicPr>
            <a:picLocks noChangeAspect="1"/>
          </p:cNvPicPr>
          <p:nvPr/>
        </p:nvPicPr>
        <p:blipFill>
          <a:blip r:embed="rId3"/>
          <a:stretch>
            <a:fillRect/>
          </a:stretch>
        </p:blipFill>
        <p:spPr>
          <a:xfrm>
            <a:off x="1104900" y="2123144"/>
            <a:ext cx="5724525" cy="3219450"/>
          </a:xfrm>
          <a:prstGeom prst="rect">
            <a:avLst/>
          </a:prstGeom>
        </p:spPr>
      </p:pic>
      <p:sp>
        <p:nvSpPr>
          <p:cNvPr id="9" name="文本框 8">
            <a:extLst>
              <a:ext uri="{FF2B5EF4-FFF2-40B4-BE49-F238E27FC236}">
                <a16:creationId xmlns:a16="http://schemas.microsoft.com/office/drawing/2014/main" id="{ED93E8B2-D9E0-4E11-99D9-C88D95F6BB99}"/>
              </a:ext>
            </a:extLst>
          </p:cNvPr>
          <p:cNvSpPr txBox="1"/>
          <p:nvPr/>
        </p:nvSpPr>
        <p:spPr>
          <a:xfrm>
            <a:off x="938801" y="1463487"/>
            <a:ext cx="30110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参考程序</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1</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en-US" altLang="zh-CN" dirty="0">
                <a:latin typeface="微软雅黑" panose="020B0503020204020204" pitchFamily="34" charset="-122"/>
                <a:ea typeface="微软雅黑" panose="020B0503020204020204" pitchFamily="34" charset="-122"/>
              </a:rPr>
              <a:t> </a:t>
            </a:r>
            <a:r>
              <a:rPr lang="en-US" altLang="zh-CN" b="1" dirty="0">
                <a:solidFill>
                  <a:srgbClr val="6D7D66"/>
                </a:solidFill>
                <a:latin typeface="微软雅黑" panose="020B0503020204020204" pitchFamily="34" charset="-122"/>
                <a:ea typeface="微软雅黑" panose="020B0503020204020204" pitchFamily="34" charset="-122"/>
              </a:rPr>
              <a:t>vector</a:t>
            </a:r>
            <a:endParaRPr lang="zh-CN" altLang="en-US" b="1" dirty="0">
              <a:solidFill>
                <a:srgbClr val="6D7D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75203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en-US" altLang="zh-CN" dirty="0"/>
              <a:t>Hash</a:t>
            </a:r>
            <a:endParaRPr lang="zh-CN" altLang="en-US" dirty="0"/>
          </a:p>
        </p:txBody>
      </p:sp>
      <p:pic>
        <p:nvPicPr>
          <p:cNvPr id="5" name="图片 4">
            <a:extLst>
              <a:ext uri="{FF2B5EF4-FFF2-40B4-BE49-F238E27FC236}">
                <a16:creationId xmlns:a16="http://schemas.microsoft.com/office/drawing/2014/main" id="{8DE1FA02-8EF9-4DE3-9276-6C1C6343B726}"/>
              </a:ext>
            </a:extLst>
          </p:cNvPr>
          <p:cNvPicPr>
            <a:picLocks noChangeAspect="1"/>
          </p:cNvPicPr>
          <p:nvPr/>
        </p:nvPicPr>
        <p:blipFill>
          <a:blip r:embed="rId3"/>
          <a:stretch>
            <a:fillRect/>
          </a:stretch>
        </p:blipFill>
        <p:spPr>
          <a:xfrm>
            <a:off x="1104900" y="1911333"/>
            <a:ext cx="6962775" cy="4562475"/>
          </a:xfrm>
          <a:prstGeom prst="rect">
            <a:avLst/>
          </a:prstGeom>
        </p:spPr>
      </p:pic>
      <p:sp>
        <p:nvSpPr>
          <p:cNvPr id="6" name="文本框 5">
            <a:extLst>
              <a:ext uri="{FF2B5EF4-FFF2-40B4-BE49-F238E27FC236}">
                <a16:creationId xmlns:a16="http://schemas.microsoft.com/office/drawing/2014/main" id="{BE795AA2-2E9F-4D01-B6F6-59F000DA63DC}"/>
              </a:ext>
            </a:extLst>
          </p:cNvPr>
          <p:cNvSpPr txBox="1"/>
          <p:nvPr/>
        </p:nvSpPr>
        <p:spPr>
          <a:xfrm>
            <a:off x="938800" y="1454060"/>
            <a:ext cx="30958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参考程序</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1</a:t>
            </a:r>
            <a:r>
              <a:rPr lang="en-US" altLang="zh-CN" b="1" dirty="0">
                <a:solidFill>
                  <a:srgbClr val="6D7D66"/>
                </a:solidFill>
                <a:latin typeface="微软雅黑" panose="020B0503020204020204" pitchFamily="34" charset="-122"/>
                <a:ea typeface="微软雅黑" panose="020B0503020204020204" pitchFamily="34" charset="-122"/>
              </a:rPr>
              <a:t>】 vector</a:t>
            </a:r>
            <a:endParaRPr lang="zh-CN" altLang="en-US" b="1" dirty="0">
              <a:solidFill>
                <a:srgbClr val="6D7D6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61114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en-US" altLang="zh-CN" dirty="0"/>
              <a:t>Hash</a:t>
            </a:r>
            <a:endParaRPr lang="zh-CN" altLang="en-US" dirty="0"/>
          </a:p>
        </p:txBody>
      </p:sp>
      <p:sp>
        <p:nvSpPr>
          <p:cNvPr id="9" name="文本框 8">
            <a:extLst>
              <a:ext uri="{FF2B5EF4-FFF2-40B4-BE49-F238E27FC236}">
                <a16:creationId xmlns:a16="http://schemas.microsoft.com/office/drawing/2014/main" id="{ED93E8B2-D9E0-4E11-99D9-C88D95F6BB99}"/>
              </a:ext>
            </a:extLst>
          </p:cNvPr>
          <p:cNvSpPr txBox="1"/>
          <p:nvPr/>
        </p:nvSpPr>
        <p:spPr>
          <a:xfrm>
            <a:off x="938801" y="1463487"/>
            <a:ext cx="30110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参考程序</a:t>
            </a:r>
            <a:r>
              <a:rPr lang="en-US" altLang="zh-CN" b="1" dirty="0">
                <a:solidFill>
                  <a:srgbClr val="6D7D66"/>
                </a:solidFill>
                <a:latin typeface="微软雅黑" panose="020B0503020204020204" pitchFamily="34" charset="-122"/>
                <a:ea typeface="微软雅黑" panose="020B0503020204020204" pitchFamily="34" charset="-122"/>
              </a:rPr>
              <a:t>2</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en-US" altLang="zh-CN" dirty="0">
                <a:latin typeface="微软雅黑" panose="020B0503020204020204" pitchFamily="34" charset="-122"/>
                <a:ea typeface="微软雅黑" panose="020B0503020204020204" pitchFamily="34" charset="-122"/>
              </a:rPr>
              <a:t> </a:t>
            </a:r>
            <a:r>
              <a:rPr lang="zh-CN" altLang="en-US" b="1" dirty="0">
                <a:solidFill>
                  <a:srgbClr val="6D7D66"/>
                </a:solidFill>
                <a:latin typeface="微软雅黑" panose="020B0503020204020204" pitchFamily="34" charset="-122"/>
                <a:ea typeface="微软雅黑" panose="020B0503020204020204" pitchFamily="34" charset="-122"/>
              </a:rPr>
              <a:t>链式前向星</a:t>
            </a:r>
          </a:p>
        </p:txBody>
      </p:sp>
      <p:pic>
        <p:nvPicPr>
          <p:cNvPr id="4" name="图片 3">
            <a:extLst>
              <a:ext uri="{FF2B5EF4-FFF2-40B4-BE49-F238E27FC236}">
                <a16:creationId xmlns:a16="http://schemas.microsoft.com/office/drawing/2014/main" id="{B90E1D2E-18AA-4165-B742-6D850DEEA3D6}"/>
              </a:ext>
            </a:extLst>
          </p:cNvPr>
          <p:cNvPicPr>
            <a:picLocks noChangeAspect="1"/>
          </p:cNvPicPr>
          <p:nvPr/>
        </p:nvPicPr>
        <p:blipFill rotWithShape="1">
          <a:blip r:embed="rId3"/>
          <a:srcRect r="54419"/>
          <a:stretch/>
        </p:blipFill>
        <p:spPr>
          <a:xfrm>
            <a:off x="1189250" y="2161244"/>
            <a:ext cx="3759822" cy="1771650"/>
          </a:xfrm>
          <a:prstGeom prst="rect">
            <a:avLst/>
          </a:prstGeom>
        </p:spPr>
      </p:pic>
      <p:pic>
        <p:nvPicPr>
          <p:cNvPr id="6" name="图片 5">
            <a:extLst>
              <a:ext uri="{FF2B5EF4-FFF2-40B4-BE49-F238E27FC236}">
                <a16:creationId xmlns:a16="http://schemas.microsoft.com/office/drawing/2014/main" id="{0E2FD9B9-BD56-46F0-8970-185184D4415F}"/>
              </a:ext>
            </a:extLst>
          </p:cNvPr>
          <p:cNvPicPr>
            <a:picLocks noChangeAspect="1"/>
          </p:cNvPicPr>
          <p:nvPr/>
        </p:nvPicPr>
        <p:blipFill>
          <a:blip r:embed="rId4"/>
          <a:stretch>
            <a:fillRect/>
          </a:stretch>
        </p:blipFill>
        <p:spPr>
          <a:xfrm>
            <a:off x="5383000" y="2161244"/>
            <a:ext cx="5619750" cy="3467100"/>
          </a:xfrm>
          <a:prstGeom prst="rect">
            <a:avLst/>
          </a:prstGeom>
        </p:spPr>
      </p:pic>
    </p:spTree>
    <p:extLst>
      <p:ext uri="{BB962C8B-B14F-4D97-AF65-F5344CB8AC3E}">
        <p14:creationId xmlns:p14="http://schemas.microsoft.com/office/powerpoint/2010/main" val="2740863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dirty="0"/>
              <a:t>字符串</a:t>
            </a:r>
            <a:r>
              <a:rPr lang="en-US" altLang="zh-CN" dirty="0"/>
              <a:t>Hash</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zh-CN" altLang="en-US" dirty="0">
                <a:solidFill>
                  <a:srgbClr val="000000"/>
                </a:solidFill>
                <a:cs typeface="+mn-cs"/>
              </a:rPr>
              <a:t>字符串</a:t>
            </a:r>
            <a:r>
              <a:rPr lang="en-US" altLang="zh-CN" dirty="0">
                <a:solidFill>
                  <a:srgbClr val="000000"/>
                </a:solidFill>
                <a:cs typeface="+mn-cs"/>
              </a:rPr>
              <a:t>Hash</a:t>
            </a:r>
          </a:p>
        </p:txBody>
      </p:sp>
      <p:sp>
        <p:nvSpPr>
          <p:cNvPr id="10" name="矩形 2">
            <a:extLst>
              <a:ext uri="{FF2B5EF4-FFF2-40B4-BE49-F238E27FC236}">
                <a16:creationId xmlns:a16="http://schemas.microsoft.com/office/drawing/2014/main" id="{9E9CDA5A-157A-4DE2-8231-06CC1B6BE65A}"/>
              </a:ext>
            </a:extLst>
          </p:cNvPr>
          <p:cNvSpPr>
            <a:spLocks noChangeArrowheads="1"/>
          </p:cNvSpPr>
          <p:nvPr/>
        </p:nvSpPr>
        <p:spPr bwMode="auto">
          <a:xfrm>
            <a:off x="688512" y="1447131"/>
            <a:ext cx="10572155" cy="4308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字符串</a:t>
            </a:r>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可以通俗的理解为，把一个字符串转换为一个整数。如果我们通过某种方法，将字符串转换为一个整数，就可以便的确定某个字符串是否重复出现过，这是最简单的字符串</a:t>
            </a:r>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应用情景了。</a:t>
            </a:r>
            <a:endPar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r>
              <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当然也不难想到，如果有不同的两个字符串同时</a:t>
            </a:r>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到一个整数，这样就比较麻烦了。我们希望这个映射是一个单射，所以问题就是如何构造这个</a:t>
            </a:r>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函数，使得他们成为一个单射。</a:t>
            </a:r>
          </a:p>
          <a:p>
            <a:pPr marL="0" marR="0" lvl="0" indent="647700" algn="l" defTabSz="914400" rtl="0" eaLnBrk="1" fontAlgn="auto" latinLnBrk="0" hangingPunct="1">
              <a:lnSpc>
                <a:spcPct val="200000"/>
              </a:lnSpc>
              <a:spcBef>
                <a:spcPts val="0"/>
              </a:spcBef>
              <a:spcAft>
                <a:spcPts val="0"/>
              </a:spcAft>
              <a:buClr>
                <a:srgbClr val="6D7D66"/>
              </a:buClr>
              <a:buSzPct val="80000"/>
              <a:buFont typeface="Wingdings" panose="05000000000000000000" pitchFamily="2" charset="2"/>
              <a:buNone/>
              <a:tabLst/>
              <a:defRPr/>
            </a:pPr>
            <a:endParaRPr kumimoji="1" lang="zh-CN" altLang="en-US"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r>
              <a:rPr lang="zh-CN" altLang="en-US" dirty="0">
                <a:solidFill>
                  <a:srgbClr val="000000"/>
                </a:solidFill>
                <a:cs typeface="+mn-cs"/>
              </a:rPr>
              <a:t>方法</a:t>
            </a:r>
            <a:endParaRPr lang="en-US" altLang="zh-CN" dirty="0">
              <a:solidFill>
                <a:srgbClr val="000000"/>
              </a:solidFill>
              <a:cs typeface="+mn-cs"/>
            </a:endParaRPr>
          </a:p>
        </p:txBody>
      </p:sp>
      <p:sp>
        <p:nvSpPr>
          <p:cNvPr id="13" name="文本框 12">
            <a:extLst>
              <a:ext uri="{FF2B5EF4-FFF2-40B4-BE49-F238E27FC236}">
                <a16:creationId xmlns:a16="http://schemas.microsoft.com/office/drawing/2014/main" id="{4CD61179-D4A8-4372-8F24-37E4C4043BAA}"/>
              </a:ext>
            </a:extLst>
          </p:cNvPr>
          <p:cNvSpPr txBox="1"/>
          <p:nvPr/>
        </p:nvSpPr>
        <p:spPr>
          <a:xfrm>
            <a:off x="1041400" y="1328869"/>
            <a:ext cx="10109200" cy="1846146"/>
          </a:xfrm>
          <a:prstGeom prst="rect">
            <a:avLst/>
          </a:prstGeom>
          <a:noFill/>
        </p:spPr>
        <p:txBody>
          <a:bodyPr wrap="square">
            <a:spAutoFit/>
          </a:bodyPr>
          <a:lstStyle/>
          <a:p>
            <a:pPr>
              <a:lnSpc>
                <a:spcPct val="200000"/>
              </a:lnSpc>
            </a:pPr>
            <a:r>
              <a:rPr kumimoji="1" lang="zh-CN" altLang="en-US" sz="2000" dirty="0">
                <a:solidFill>
                  <a:srgbClr val="514843"/>
                </a:solidFill>
                <a:latin typeface="微软雅黑" panose="020B0503020204020204" pitchFamily="34" charset="-122"/>
                <a:ea typeface="微软雅黑" panose="020B0503020204020204" pitchFamily="34" charset="-122"/>
              </a:rPr>
              <a:t>取一固定值</a:t>
            </a:r>
            <a:r>
              <a:rPr kumimoji="1" lang="en-US" altLang="zh-CN" sz="2000" dirty="0">
                <a:solidFill>
                  <a:srgbClr val="514843"/>
                </a:solidFill>
                <a:latin typeface="微软雅黑" panose="020B0503020204020204" pitchFamily="34" charset="-122"/>
                <a:ea typeface="微软雅黑" panose="020B0503020204020204" pitchFamily="34" charset="-122"/>
              </a:rPr>
              <a:t>P</a:t>
            </a:r>
            <a:r>
              <a:rPr kumimoji="1" lang="zh-CN" altLang="en-US" sz="2000" dirty="0">
                <a:solidFill>
                  <a:srgbClr val="514843"/>
                </a:solidFill>
                <a:latin typeface="微软雅黑" panose="020B0503020204020204" pitchFamily="34" charset="-122"/>
                <a:ea typeface="微软雅黑" panose="020B0503020204020204" pitchFamily="34" charset="-122"/>
              </a:rPr>
              <a:t>，把字符串看做</a:t>
            </a:r>
            <a:r>
              <a:rPr kumimoji="1" lang="en-US" altLang="zh-CN" sz="2000" dirty="0">
                <a:solidFill>
                  <a:srgbClr val="514843"/>
                </a:solidFill>
                <a:latin typeface="微软雅黑" panose="020B0503020204020204" pitchFamily="34" charset="-122"/>
                <a:ea typeface="微软雅黑" panose="020B0503020204020204" pitchFamily="34" charset="-122"/>
              </a:rPr>
              <a:t>P</a:t>
            </a:r>
            <a:r>
              <a:rPr kumimoji="1" lang="zh-CN" altLang="en-US" sz="2000" dirty="0">
                <a:solidFill>
                  <a:srgbClr val="514843"/>
                </a:solidFill>
                <a:latin typeface="微软雅黑" panose="020B0503020204020204" pitchFamily="34" charset="-122"/>
                <a:ea typeface="微软雅黑" panose="020B0503020204020204" pitchFamily="34" charset="-122"/>
              </a:rPr>
              <a:t>进制数，并分配一个大于</a:t>
            </a:r>
            <a:r>
              <a:rPr kumimoji="1" lang="en-US" altLang="zh-CN" sz="2000" dirty="0">
                <a:solidFill>
                  <a:srgbClr val="514843"/>
                </a:solidFill>
                <a:latin typeface="微软雅黑" panose="020B0503020204020204" pitchFamily="34" charset="-122"/>
                <a:ea typeface="微软雅黑" panose="020B0503020204020204" pitchFamily="34" charset="-122"/>
              </a:rPr>
              <a:t>0</a:t>
            </a:r>
            <a:r>
              <a:rPr kumimoji="1" lang="zh-CN" altLang="en-US" sz="2000" dirty="0">
                <a:solidFill>
                  <a:srgbClr val="514843"/>
                </a:solidFill>
                <a:latin typeface="微软雅黑" panose="020B0503020204020204" pitchFamily="34" charset="-122"/>
                <a:ea typeface="微软雅黑" panose="020B0503020204020204" pitchFamily="34" charset="-122"/>
              </a:rPr>
              <a:t>的数值，代表每种字符。一般来说，给定一个字符串</a:t>
            </a:r>
            <a:r>
              <a:rPr kumimoji="1" lang="en-US" altLang="zh-CN" sz="2000" dirty="0">
                <a:solidFill>
                  <a:srgbClr val="514843"/>
                </a:solidFill>
                <a:latin typeface="微软雅黑" panose="020B0503020204020204" pitchFamily="34" charset="-122"/>
                <a:ea typeface="微软雅黑" panose="020B0503020204020204" pitchFamily="34" charset="-122"/>
              </a:rPr>
              <a:t>S=s1s2s3…</a:t>
            </a:r>
            <a:r>
              <a:rPr kumimoji="1" lang="en-US" altLang="zh-CN" sz="2000" dirty="0" err="1">
                <a:solidFill>
                  <a:srgbClr val="514843"/>
                </a:solidFill>
                <a:latin typeface="微软雅黑" panose="020B0503020204020204" pitchFamily="34" charset="-122"/>
                <a:ea typeface="微软雅黑" panose="020B0503020204020204" pitchFamily="34" charset="-122"/>
              </a:rPr>
              <a:t>sn</a:t>
            </a:r>
            <a:r>
              <a:rPr kumimoji="1" lang="zh-CN" altLang="en-US" sz="2000" dirty="0">
                <a:solidFill>
                  <a:srgbClr val="514843"/>
                </a:solidFill>
                <a:latin typeface="微软雅黑" panose="020B0503020204020204" pitchFamily="34" charset="-122"/>
                <a:ea typeface="微软雅黑" panose="020B0503020204020204" pitchFamily="34" charset="-122"/>
              </a:rPr>
              <a:t>​，对字母x，我们规定i d x ( x ) = x − ′ a ′ + 1 。 （当然也可以直接用s_i的ASCII值），一般来说，我们取</a:t>
            </a:r>
            <a:r>
              <a:rPr kumimoji="1" lang="en-US" altLang="zh-CN" sz="2000" dirty="0">
                <a:solidFill>
                  <a:srgbClr val="514843"/>
                </a:solidFill>
                <a:latin typeface="微软雅黑" panose="020B0503020204020204" pitchFamily="34" charset="-122"/>
                <a:ea typeface="微软雅黑" panose="020B0503020204020204" pitchFamily="34" charset="-122"/>
              </a:rPr>
              <a:t>P=131</a:t>
            </a:r>
            <a:r>
              <a:rPr kumimoji="1" lang="zh-CN" altLang="en-US" sz="2000" dirty="0">
                <a:solidFill>
                  <a:srgbClr val="514843"/>
                </a:solidFill>
                <a:latin typeface="微软雅黑" panose="020B0503020204020204" pitchFamily="34" charset="-122"/>
                <a:ea typeface="微软雅黑" panose="020B0503020204020204" pitchFamily="34" charset="-122"/>
              </a:rPr>
              <a:t>或</a:t>
            </a:r>
            <a:r>
              <a:rPr kumimoji="1" lang="en-US" altLang="zh-CN" sz="2000" dirty="0">
                <a:solidFill>
                  <a:srgbClr val="514843"/>
                </a:solidFill>
                <a:latin typeface="微软雅黑" panose="020B0503020204020204" pitchFamily="34" charset="-122"/>
                <a:ea typeface="微软雅黑" panose="020B0503020204020204" pitchFamily="34" charset="-122"/>
              </a:rPr>
              <a:t>P=13331</a:t>
            </a:r>
            <a:endParaRPr kumimoji="1" lang="zh-CN" altLang="en-US" sz="2000" dirty="0">
              <a:solidFill>
                <a:srgbClr val="514843"/>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8F1BCCE8-DA4C-4155-B752-A5474A84F7FD}"/>
              </a:ext>
            </a:extLst>
          </p:cNvPr>
          <p:cNvSpPr txBox="1"/>
          <p:nvPr/>
        </p:nvSpPr>
        <p:spPr>
          <a:xfrm>
            <a:off x="1041400" y="3365429"/>
            <a:ext cx="9728200" cy="1846146"/>
          </a:xfrm>
          <a:prstGeom prst="rect">
            <a:avLst/>
          </a:prstGeom>
          <a:noFill/>
        </p:spPr>
        <p:txBody>
          <a:bodyPr wrap="square">
            <a:spAutoFit/>
          </a:bodyPr>
          <a:lstStyle/>
          <a:p>
            <a:pPr>
              <a:lnSpc>
                <a:spcPct val="200000"/>
              </a:lnSpc>
            </a:pPr>
            <a:r>
              <a:rPr kumimoji="1" lang="zh-CN" altLang="en-US" sz="2000" b="1" dirty="0">
                <a:solidFill>
                  <a:schemeClr val="accent2"/>
                </a:solidFill>
                <a:latin typeface="微软雅黑" panose="020B0503020204020204" pitchFamily="34" charset="-122"/>
                <a:ea typeface="微软雅黑" panose="020B0503020204020204" pitchFamily="34" charset="-122"/>
              </a:rPr>
              <a:t>自然溢出方法</a:t>
            </a:r>
            <a:r>
              <a:rPr kumimoji="1" lang="zh-CN" altLang="en-US" sz="2000" dirty="0">
                <a:solidFill>
                  <a:srgbClr val="514843"/>
                </a:solidFill>
                <a:latin typeface="微软雅黑" panose="020B0503020204020204" pitchFamily="34" charset="-122"/>
                <a:ea typeface="微软雅黑" panose="020B0503020204020204" pitchFamily="34" charset="-122"/>
              </a:rPr>
              <a:t>：利用</a:t>
            </a:r>
            <a:r>
              <a:rPr kumimoji="1" lang="en-US" altLang="zh-CN" sz="2000" dirty="0">
                <a:solidFill>
                  <a:srgbClr val="514843"/>
                </a:solidFill>
                <a:latin typeface="微软雅黑" panose="020B0503020204020204" pitchFamily="34" charset="-122"/>
                <a:ea typeface="微软雅黑" panose="020B0503020204020204" pitchFamily="34" charset="-122"/>
              </a:rPr>
              <a:t>unsigned long </a:t>
            </a:r>
            <a:r>
              <a:rPr kumimoji="1" lang="en-US" altLang="zh-CN" sz="2000" dirty="0" err="1">
                <a:solidFill>
                  <a:srgbClr val="514843"/>
                </a:solidFill>
                <a:latin typeface="微软雅黑" panose="020B0503020204020204" pitchFamily="34" charset="-122"/>
                <a:ea typeface="微软雅黑" panose="020B0503020204020204" pitchFamily="34" charset="-122"/>
              </a:rPr>
              <a:t>long</a:t>
            </a:r>
            <a:r>
              <a:rPr kumimoji="1" lang="en-US" altLang="zh-CN" sz="2000" dirty="0">
                <a:solidFill>
                  <a:srgbClr val="514843"/>
                </a:solidFill>
                <a:latin typeface="微软雅黑" panose="020B0503020204020204" pitchFamily="34" charset="-122"/>
                <a:ea typeface="微软雅黑" panose="020B0503020204020204" pitchFamily="34" charset="-122"/>
              </a:rPr>
              <a:t> </a:t>
            </a:r>
            <a:r>
              <a:rPr kumimoji="1" lang="zh-CN" altLang="en-US" sz="2000" dirty="0">
                <a:solidFill>
                  <a:srgbClr val="514843"/>
                </a:solidFill>
                <a:latin typeface="微软雅黑" panose="020B0503020204020204" pitchFamily="34" charset="-122"/>
                <a:ea typeface="微软雅黑" panose="020B0503020204020204" pitchFamily="34" charset="-122"/>
              </a:rPr>
              <a:t>自然溢出</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zh-CN" altLang="en-US" sz="2000" dirty="0">
                <a:solidFill>
                  <a:srgbClr val="514843"/>
                </a:solidFill>
                <a:latin typeface="微软雅黑" panose="020B0503020204020204" pitchFamily="34" charset="-122"/>
                <a:ea typeface="微软雅黑" panose="020B0503020204020204" pitchFamily="34" charset="-122"/>
              </a:rPr>
              <a:t>相当于自动对</a:t>
            </a:r>
            <a:r>
              <a:rPr kumimoji="1" lang="en-US" altLang="zh-CN" sz="2000" dirty="0">
                <a:solidFill>
                  <a:srgbClr val="514843"/>
                </a:solidFill>
                <a:latin typeface="微软雅黑" panose="020B0503020204020204" pitchFamily="34" charset="-122"/>
                <a:ea typeface="微软雅黑" panose="020B0503020204020204" pitchFamily="34" charset="-122"/>
              </a:rPr>
              <a:t>2^64−1</a:t>
            </a:r>
            <a:r>
              <a:rPr kumimoji="1" lang="zh-CN" altLang="en-US" sz="2000" dirty="0">
                <a:solidFill>
                  <a:srgbClr val="514843"/>
                </a:solidFill>
                <a:latin typeface="微软雅黑" panose="020B0503020204020204" pitchFamily="34" charset="-122"/>
                <a:ea typeface="微软雅黑" panose="020B0503020204020204" pitchFamily="34" charset="-122"/>
              </a:rPr>
              <a:t>取模 </a:t>
            </a:r>
            <a:endParaRPr kumimoji="1" lang="en-US" altLang="zh-CN" sz="2000" dirty="0">
              <a:solidFill>
                <a:srgbClr val="514843"/>
              </a:solidFill>
              <a:latin typeface="微软雅黑" panose="020B0503020204020204" pitchFamily="34" charset="-122"/>
              <a:ea typeface="微软雅黑" panose="020B0503020204020204" pitchFamily="34" charset="-122"/>
            </a:endParaRPr>
          </a:p>
          <a:p>
            <a:pPr>
              <a:lnSpc>
                <a:spcPct val="200000"/>
              </a:lnSpc>
            </a:pPr>
            <a:r>
              <a:rPr kumimoji="1" lang="zh-CN" altLang="en-US" sz="2000" dirty="0">
                <a:solidFill>
                  <a:srgbClr val="514843"/>
                </a:solidFill>
                <a:latin typeface="微软雅黑" panose="020B0503020204020204" pitchFamily="34" charset="-122"/>
                <a:ea typeface="微软雅黑" panose="020B0503020204020204" pitchFamily="34" charset="-122"/>
              </a:rPr>
              <a:t>定义哈希函数：</a:t>
            </a:r>
            <a:r>
              <a:rPr kumimoji="1" lang="en-US" altLang="zh-CN" sz="2000" dirty="0">
                <a:solidFill>
                  <a:srgbClr val="514843"/>
                </a:solidFill>
                <a:latin typeface="微软雅黑" panose="020B0503020204020204" pitchFamily="34" charset="-122"/>
                <a:ea typeface="微软雅黑" panose="020B0503020204020204" pitchFamily="34" charset="-122"/>
              </a:rPr>
              <a:t>unsigned long </a:t>
            </a:r>
            <a:r>
              <a:rPr kumimoji="1" lang="en-US" altLang="zh-CN" sz="2000" dirty="0" err="1">
                <a:solidFill>
                  <a:srgbClr val="514843"/>
                </a:solidFill>
                <a:latin typeface="微软雅黑" panose="020B0503020204020204" pitchFamily="34" charset="-122"/>
                <a:ea typeface="微软雅黑" panose="020B0503020204020204" pitchFamily="34" charset="-122"/>
              </a:rPr>
              <a:t>long</a:t>
            </a:r>
            <a:r>
              <a:rPr kumimoji="1" lang="en-US" altLang="zh-CN" sz="2000" dirty="0">
                <a:solidFill>
                  <a:srgbClr val="514843"/>
                </a:solidFill>
                <a:latin typeface="微软雅黑" panose="020B0503020204020204" pitchFamily="34" charset="-122"/>
                <a:ea typeface="微软雅黑" panose="020B0503020204020204" pitchFamily="34" charset="-122"/>
              </a:rPr>
              <a:t> hash[n];</a:t>
            </a:r>
          </a:p>
          <a:p>
            <a:pPr>
              <a:lnSpc>
                <a:spcPct val="200000"/>
              </a:lnSpc>
            </a:pPr>
            <a:r>
              <a:rPr kumimoji="1" lang="zh-CN" altLang="en-US" sz="2000" dirty="0">
                <a:solidFill>
                  <a:srgbClr val="514843"/>
                </a:solidFill>
                <a:latin typeface="微软雅黑" panose="020B0503020204020204" pitchFamily="34" charset="-122"/>
                <a:ea typeface="微软雅黑" panose="020B0503020204020204" pitchFamily="34" charset="-122"/>
              </a:rPr>
              <a:t>公式：</a:t>
            </a:r>
            <a:r>
              <a:rPr kumimoji="1" lang="en-US" altLang="zh-CN" sz="2000" dirty="0">
                <a:solidFill>
                  <a:srgbClr val="514843"/>
                </a:solidFill>
                <a:latin typeface="微软雅黑" panose="020B0503020204020204" pitchFamily="34" charset="-122"/>
                <a:ea typeface="微软雅黑" panose="020B0503020204020204" pitchFamily="34" charset="-122"/>
              </a:rPr>
              <a:t>Hash[</a:t>
            </a:r>
            <a:r>
              <a:rPr kumimoji="1" lang="en-US" altLang="zh-CN" sz="2000" dirty="0" err="1">
                <a:solidFill>
                  <a:srgbClr val="514843"/>
                </a:solidFill>
                <a:latin typeface="微软雅黑" panose="020B0503020204020204" pitchFamily="34" charset="-122"/>
                <a:ea typeface="微软雅黑" panose="020B0503020204020204" pitchFamily="34" charset="-122"/>
              </a:rPr>
              <a:t>i</a:t>
            </a:r>
            <a:r>
              <a:rPr kumimoji="1" lang="en-US" altLang="zh-CN" sz="2000" dirty="0">
                <a:solidFill>
                  <a:srgbClr val="514843"/>
                </a:solidFill>
                <a:latin typeface="微软雅黑" panose="020B0503020204020204" pitchFamily="34" charset="-122"/>
                <a:ea typeface="微软雅黑" panose="020B0503020204020204" pitchFamily="34" charset="-122"/>
              </a:rPr>
              <a:t>] = Hash[i-1]*</a:t>
            </a:r>
            <a:r>
              <a:rPr kumimoji="1" lang="en-US" altLang="zh-CN" sz="2000" dirty="0" err="1">
                <a:solidFill>
                  <a:srgbClr val="514843"/>
                </a:solidFill>
                <a:latin typeface="微软雅黑" panose="020B0503020204020204" pitchFamily="34" charset="-122"/>
                <a:ea typeface="微软雅黑" panose="020B0503020204020204" pitchFamily="34" charset="-122"/>
              </a:rPr>
              <a:t>p+idx</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en-US" altLang="zh-CN" sz="2000" dirty="0" err="1">
                <a:solidFill>
                  <a:srgbClr val="514843"/>
                </a:solidFill>
                <a:latin typeface="微软雅黑" panose="020B0503020204020204" pitchFamily="34" charset="-122"/>
                <a:ea typeface="微软雅黑" panose="020B0503020204020204" pitchFamily="34" charset="-122"/>
              </a:rPr>
              <a:t>si</a:t>
            </a:r>
            <a:r>
              <a:rPr kumimoji="1" lang="en-US" altLang="zh-CN" sz="2000" dirty="0">
                <a:solidFill>
                  <a:srgbClr val="514843"/>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48345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r>
              <a:rPr lang="zh-CN" altLang="en-US" dirty="0">
                <a:solidFill>
                  <a:srgbClr val="000000"/>
                </a:solidFill>
                <a:cs typeface="+mn-cs"/>
              </a:rPr>
              <a:t>方法</a:t>
            </a:r>
            <a:endParaRPr lang="en-US" altLang="zh-CN" dirty="0">
              <a:solidFill>
                <a:srgbClr val="000000"/>
              </a:solidFill>
              <a:cs typeface="+mn-cs"/>
            </a:endParaRPr>
          </a:p>
        </p:txBody>
      </p:sp>
      <p:sp>
        <p:nvSpPr>
          <p:cNvPr id="17" name="文本框 16">
            <a:extLst>
              <a:ext uri="{FF2B5EF4-FFF2-40B4-BE49-F238E27FC236}">
                <a16:creationId xmlns:a16="http://schemas.microsoft.com/office/drawing/2014/main" id="{8F1BCCE8-DA4C-4155-B752-A5474A84F7FD}"/>
              </a:ext>
            </a:extLst>
          </p:cNvPr>
          <p:cNvSpPr txBox="1"/>
          <p:nvPr/>
        </p:nvSpPr>
        <p:spPr>
          <a:xfrm>
            <a:off x="1168894" y="1362963"/>
            <a:ext cx="9728200" cy="1230593"/>
          </a:xfrm>
          <a:prstGeom prst="rect">
            <a:avLst/>
          </a:prstGeom>
          <a:noFill/>
        </p:spPr>
        <p:txBody>
          <a:bodyPr wrap="square">
            <a:spAutoFit/>
          </a:bodyPr>
          <a:lstStyle/>
          <a:p>
            <a:pPr>
              <a:lnSpc>
                <a:spcPct val="200000"/>
              </a:lnSpc>
            </a:pPr>
            <a:r>
              <a:rPr kumimoji="1" lang="zh-CN" altLang="en-US" sz="2000" b="1" dirty="0">
                <a:solidFill>
                  <a:schemeClr val="accent2"/>
                </a:solidFill>
                <a:latin typeface="微软雅黑" panose="020B0503020204020204" pitchFamily="34" charset="-122"/>
                <a:ea typeface="微软雅黑" panose="020B0503020204020204" pitchFamily="34" charset="-122"/>
              </a:rPr>
              <a:t>单哈希方法公式</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Hash[</a:t>
            </a:r>
            <a:r>
              <a:rPr kumimoji="1" lang="en-US" altLang="zh-CN" sz="2000" dirty="0" err="1">
                <a:solidFill>
                  <a:srgbClr val="514843"/>
                </a:solidFill>
                <a:latin typeface="微软雅黑" panose="020B0503020204020204" pitchFamily="34" charset="-122"/>
                <a:ea typeface="微软雅黑" panose="020B0503020204020204" pitchFamily="34" charset="-122"/>
              </a:rPr>
              <a:t>i</a:t>
            </a:r>
            <a:r>
              <a:rPr kumimoji="1" lang="en-US" altLang="zh-CN" sz="2000" dirty="0">
                <a:solidFill>
                  <a:srgbClr val="514843"/>
                </a:solidFill>
                <a:latin typeface="微软雅黑" panose="020B0503020204020204" pitchFamily="34" charset="-122"/>
                <a:ea typeface="微软雅黑" panose="020B0503020204020204" pitchFamily="34" charset="-122"/>
              </a:rPr>
              <a:t>] = </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Hash[i-1]*</a:t>
            </a:r>
            <a:r>
              <a:rPr kumimoji="1" lang="en-US" altLang="zh-CN" sz="2000" dirty="0" err="1">
                <a:solidFill>
                  <a:srgbClr val="514843"/>
                </a:solidFill>
                <a:latin typeface="微软雅黑" panose="020B0503020204020204" pitchFamily="34" charset="-122"/>
                <a:ea typeface="微软雅黑" panose="020B0503020204020204" pitchFamily="34" charset="-122"/>
              </a:rPr>
              <a:t>p+idx</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en-US" altLang="zh-CN" sz="2000" dirty="0" err="1">
                <a:solidFill>
                  <a:srgbClr val="514843"/>
                </a:solidFill>
                <a:latin typeface="微软雅黑" panose="020B0503020204020204" pitchFamily="34" charset="-122"/>
                <a:ea typeface="微软雅黑" panose="020B0503020204020204" pitchFamily="34" charset="-122"/>
              </a:rPr>
              <a:t>si</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%mod </a:t>
            </a:r>
          </a:p>
          <a:p>
            <a:pPr>
              <a:lnSpc>
                <a:spcPct val="200000"/>
              </a:lnSpc>
            </a:pPr>
            <a:r>
              <a:rPr kumimoji="1" lang="en-US" altLang="zh-CN" sz="2000" dirty="0" err="1">
                <a:solidFill>
                  <a:srgbClr val="514843"/>
                </a:solidFill>
                <a:latin typeface="微软雅黑" panose="020B0503020204020204" pitchFamily="34" charset="-122"/>
                <a:ea typeface="微软雅黑" panose="020B0503020204020204" pitchFamily="34" charset="-122"/>
              </a:rPr>
              <a:t>p,mod</a:t>
            </a:r>
            <a:r>
              <a:rPr kumimoji="1" lang="zh-CN" altLang="en-US" sz="2000" dirty="0">
                <a:solidFill>
                  <a:srgbClr val="514843"/>
                </a:solidFill>
                <a:latin typeface="微软雅黑" panose="020B0503020204020204" pitchFamily="34" charset="-122"/>
                <a:ea typeface="微软雅黑" panose="020B0503020204020204" pitchFamily="34" charset="-122"/>
              </a:rPr>
              <a:t>均为质数，</a:t>
            </a:r>
            <a:r>
              <a:rPr kumimoji="1" lang="en-US" altLang="zh-CN" sz="2000" dirty="0">
                <a:solidFill>
                  <a:srgbClr val="514843"/>
                </a:solidFill>
                <a:latin typeface="微软雅黑" panose="020B0503020204020204" pitchFamily="34" charset="-122"/>
                <a:ea typeface="微软雅黑" panose="020B0503020204020204" pitchFamily="34" charset="-122"/>
              </a:rPr>
              <a:t>p&lt;mod,  p</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mod</a:t>
            </a:r>
            <a:r>
              <a:rPr kumimoji="1" lang="zh-CN" altLang="en-US" sz="2000" dirty="0">
                <a:solidFill>
                  <a:srgbClr val="514843"/>
                </a:solidFill>
                <a:latin typeface="微软雅黑" panose="020B0503020204020204" pitchFamily="34" charset="-122"/>
                <a:ea typeface="微软雅黑" panose="020B0503020204020204" pitchFamily="34" charset="-122"/>
              </a:rPr>
              <a:t>取尽量大时冲突很小</a:t>
            </a:r>
          </a:p>
        </p:txBody>
      </p:sp>
      <p:sp>
        <p:nvSpPr>
          <p:cNvPr id="7" name="文本框 6">
            <a:extLst>
              <a:ext uri="{FF2B5EF4-FFF2-40B4-BE49-F238E27FC236}">
                <a16:creationId xmlns:a16="http://schemas.microsoft.com/office/drawing/2014/main" id="{DB108323-A2E9-4E0E-BCDB-0C4E24D2D6DD}"/>
              </a:ext>
            </a:extLst>
          </p:cNvPr>
          <p:cNvSpPr txBox="1"/>
          <p:nvPr/>
        </p:nvSpPr>
        <p:spPr>
          <a:xfrm>
            <a:off x="1168893" y="2818064"/>
            <a:ext cx="8991599" cy="3077253"/>
          </a:xfrm>
          <a:prstGeom prst="rect">
            <a:avLst/>
          </a:prstGeom>
          <a:noFill/>
        </p:spPr>
        <p:txBody>
          <a:bodyPr wrap="square">
            <a:spAutoFit/>
          </a:bodyPr>
          <a:lstStyle/>
          <a:p>
            <a:pPr>
              <a:lnSpc>
                <a:spcPct val="200000"/>
              </a:lnSpc>
            </a:pPr>
            <a:r>
              <a:rPr kumimoji="1" lang="zh-CN" altLang="en-US" sz="2000" dirty="0">
                <a:solidFill>
                  <a:srgbClr val="514843"/>
                </a:solidFill>
                <a:latin typeface="微软雅黑" panose="020B0503020204020204" pitchFamily="34" charset="-122"/>
                <a:ea typeface="微软雅黑" panose="020B0503020204020204" pitchFamily="34" charset="-122"/>
              </a:rPr>
              <a:t>举例如取</a:t>
            </a:r>
            <a:r>
              <a:rPr kumimoji="1" lang="en-US" altLang="zh-CN" sz="2000" dirty="0">
                <a:solidFill>
                  <a:srgbClr val="514843"/>
                </a:solidFill>
                <a:latin typeface="微软雅黑" panose="020B0503020204020204" pitchFamily="34" charset="-122"/>
                <a:ea typeface="微软雅黑" panose="020B0503020204020204" pitchFamily="34" charset="-122"/>
              </a:rPr>
              <a:t>p=13,mod=101</a:t>
            </a:r>
            <a:r>
              <a:rPr kumimoji="1" lang="zh-CN" altLang="en-US" sz="2000" dirty="0">
                <a:solidFill>
                  <a:srgbClr val="514843"/>
                </a:solidFill>
                <a:latin typeface="微软雅黑" panose="020B0503020204020204" pitchFamily="34" charset="-122"/>
                <a:ea typeface="微软雅黑" panose="020B0503020204020204" pitchFamily="34" charset="-122"/>
              </a:rPr>
              <a:t>，对字符串</a:t>
            </a:r>
            <a:r>
              <a:rPr kumimoji="1" lang="en-US" altLang="zh-CN" sz="2000" dirty="0" err="1">
                <a:solidFill>
                  <a:srgbClr val="514843"/>
                </a:solidFill>
                <a:latin typeface="微软雅黑" panose="020B0503020204020204" pitchFamily="34" charset="-122"/>
                <a:ea typeface="微软雅黑" panose="020B0503020204020204" pitchFamily="34" charset="-122"/>
              </a:rPr>
              <a:t>abc</a:t>
            </a:r>
            <a:r>
              <a:rPr kumimoji="1" lang="zh-CN" altLang="en-US" sz="2000" dirty="0">
                <a:solidFill>
                  <a:srgbClr val="514843"/>
                </a:solidFill>
                <a:latin typeface="微软雅黑" panose="020B0503020204020204" pitchFamily="34" charset="-122"/>
                <a:ea typeface="微软雅黑" panose="020B0503020204020204" pitchFamily="34" charset="-122"/>
              </a:rPr>
              <a:t>进行</a:t>
            </a:r>
            <a:r>
              <a:rPr kumimoji="1" lang="en-US" altLang="zh-CN" sz="2000" dirty="0">
                <a:solidFill>
                  <a:srgbClr val="514843"/>
                </a:solidFill>
                <a:latin typeface="微软雅黑" panose="020B0503020204020204" pitchFamily="34" charset="-122"/>
                <a:ea typeface="微软雅黑" panose="020B0503020204020204" pitchFamily="34" charset="-122"/>
              </a:rPr>
              <a:t>Hash</a:t>
            </a:r>
          </a:p>
          <a:p>
            <a:pPr>
              <a:lnSpc>
                <a:spcPct val="200000"/>
              </a:lnSpc>
            </a:pPr>
            <a:r>
              <a:rPr kumimoji="1" lang="en-US" altLang="zh-CN" sz="2000" dirty="0">
                <a:solidFill>
                  <a:srgbClr val="514843"/>
                </a:solidFill>
                <a:latin typeface="微软雅黑" panose="020B0503020204020204" pitchFamily="34" charset="-122"/>
                <a:ea typeface="微软雅黑" panose="020B0503020204020204" pitchFamily="34" charset="-122"/>
              </a:rPr>
              <a:t>hash[0] = 1</a:t>
            </a:r>
          </a:p>
          <a:p>
            <a:pPr>
              <a:lnSpc>
                <a:spcPct val="200000"/>
              </a:lnSpc>
            </a:pPr>
            <a:r>
              <a:rPr kumimoji="1" lang="en-US" altLang="zh-CN" sz="2000" dirty="0">
                <a:solidFill>
                  <a:srgbClr val="514843"/>
                </a:solidFill>
                <a:latin typeface="微软雅黑" panose="020B0503020204020204" pitchFamily="34" charset="-122"/>
                <a:ea typeface="微软雅黑" panose="020B0503020204020204" pitchFamily="34" charset="-122"/>
              </a:rPr>
              <a:t>hash[1] = (hash[0] * 13 + 2) % 101 = 15</a:t>
            </a:r>
          </a:p>
          <a:p>
            <a:pPr>
              <a:lnSpc>
                <a:spcPct val="200000"/>
              </a:lnSpc>
            </a:pPr>
            <a:r>
              <a:rPr kumimoji="1" lang="en-US" altLang="zh-CN" sz="2000" dirty="0">
                <a:solidFill>
                  <a:srgbClr val="514843"/>
                </a:solidFill>
                <a:latin typeface="微软雅黑" panose="020B0503020204020204" pitchFamily="34" charset="-122"/>
                <a:ea typeface="微软雅黑" panose="020B0503020204020204" pitchFamily="34" charset="-122"/>
              </a:rPr>
              <a:t>hash[2] = (hash[1] * 13 + 3) % 101 = 97</a:t>
            </a:r>
          </a:p>
          <a:p>
            <a:pPr>
              <a:lnSpc>
                <a:spcPct val="200000"/>
              </a:lnSpc>
            </a:pPr>
            <a:r>
              <a:rPr kumimoji="1" lang="zh-CN" altLang="en-US" sz="2000" dirty="0">
                <a:solidFill>
                  <a:srgbClr val="514843"/>
                </a:solidFill>
                <a:latin typeface="微软雅黑" panose="020B0503020204020204" pitchFamily="34" charset="-122"/>
                <a:ea typeface="微软雅黑" panose="020B0503020204020204" pitchFamily="34" charset="-122"/>
              </a:rPr>
              <a:t>这样，我们就认为字符串</a:t>
            </a:r>
            <a:r>
              <a:rPr kumimoji="1" lang="en-US" altLang="zh-CN" sz="2000" dirty="0" err="1">
                <a:solidFill>
                  <a:srgbClr val="514843"/>
                </a:solidFill>
                <a:latin typeface="微软雅黑" panose="020B0503020204020204" pitchFamily="34" charset="-122"/>
                <a:ea typeface="微软雅黑" panose="020B0503020204020204" pitchFamily="34" charset="-122"/>
              </a:rPr>
              <a:t>abc</a:t>
            </a:r>
            <a:r>
              <a:rPr kumimoji="1" lang="zh-CN" altLang="en-US" sz="2000" dirty="0">
                <a:solidFill>
                  <a:srgbClr val="514843"/>
                </a:solidFill>
                <a:latin typeface="微软雅黑" panose="020B0503020204020204" pitchFamily="34" charset="-122"/>
                <a:ea typeface="微软雅黑" panose="020B0503020204020204" pitchFamily="34" charset="-122"/>
              </a:rPr>
              <a:t>当做</a:t>
            </a:r>
            <a:r>
              <a:rPr kumimoji="1" lang="en-US" altLang="zh-CN" sz="2000" dirty="0">
                <a:solidFill>
                  <a:srgbClr val="514843"/>
                </a:solidFill>
                <a:latin typeface="微软雅黑" panose="020B0503020204020204" pitchFamily="34" charset="-122"/>
                <a:ea typeface="微软雅黑" panose="020B0503020204020204" pitchFamily="34" charset="-122"/>
              </a:rPr>
              <a:t>97</a:t>
            </a:r>
            <a:r>
              <a:rPr kumimoji="1" lang="zh-CN" altLang="en-US" sz="2000" dirty="0">
                <a:solidFill>
                  <a:srgbClr val="514843"/>
                </a:solidFill>
                <a:latin typeface="微软雅黑" panose="020B0503020204020204" pitchFamily="34" charset="-122"/>
                <a:ea typeface="微软雅黑" panose="020B0503020204020204" pitchFamily="34" charset="-122"/>
              </a:rPr>
              <a:t>，即</a:t>
            </a:r>
            <a:r>
              <a:rPr kumimoji="1" lang="en-US" altLang="zh-CN" sz="2000" dirty="0">
                <a:solidFill>
                  <a:srgbClr val="514843"/>
                </a:solidFill>
                <a:latin typeface="微软雅黑" panose="020B0503020204020204" pitchFamily="34" charset="-122"/>
                <a:ea typeface="微软雅黑" panose="020B0503020204020204" pitchFamily="34" charset="-122"/>
              </a:rPr>
              <a:t>97</a:t>
            </a:r>
            <a:r>
              <a:rPr kumimoji="1" lang="zh-CN" altLang="en-US" sz="2000" dirty="0">
                <a:solidFill>
                  <a:srgbClr val="514843"/>
                </a:solidFill>
                <a:latin typeface="微软雅黑" panose="020B0503020204020204" pitchFamily="34" charset="-122"/>
                <a:ea typeface="微软雅黑" panose="020B0503020204020204" pitchFamily="34" charset="-122"/>
              </a:rPr>
              <a:t>就是</a:t>
            </a:r>
            <a:r>
              <a:rPr kumimoji="1" lang="en-US" altLang="zh-CN" sz="2000" dirty="0" err="1">
                <a:solidFill>
                  <a:srgbClr val="514843"/>
                </a:solidFill>
                <a:latin typeface="微软雅黑" panose="020B0503020204020204" pitchFamily="34" charset="-122"/>
                <a:ea typeface="微软雅黑" panose="020B0503020204020204" pitchFamily="34" charset="-122"/>
              </a:rPr>
              <a:t>abc</a:t>
            </a:r>
            <a:r>
              <a:rPr kumimoji="1" lang="en-US" altLang="zh-CN" sz="2000" dirty="0">
                <a:solidFill>
                  <a:srgbClr val="514843"/>
                </a:solidFill>
                <a:latin typeface="微软雅黑" panose="020B0503020204020204" pitchFamily="34" charset="-122"/>
                <a:ea typeface="微软雅黑" panose="020B0503020204020204" pitchFamily="34" charset="-122"/>
              </a:rPr>
              <a:t> </a:t>
            </a:r>
            <a:r>
              <a:rPr kumimoji="1" lang="zh-CN" altLang="en-US" sz="2000" dirty="0">
                <a:solidFill>
                  <a:srgbClr val="514843"/>
                </a:solidFill>
                <a:latin typeface="微软雅黑" panose="020B0503020204020204" pitchFamily="34" charset="-122"/>
                <a:ea typeface="微软雅黑" panose="020B0503020204020204" pitchFamily="34" charset="-122"/>
              </a:rPr>
              <a:t>的</a:t>
            </a:r>
            <a:r>
              <a:rPr kumimoji="1" lang="en-US" altLang="zh-CN" sz="2000" dirty="0">
                <a:solidFill>
                  <a:srgbClr val="514843"/>
                </a:solidFill>
                <a:latin typeface="微软雅黑" panose="020B0503020204020204" pitchFamily="34" charset="-122"/>
                <a:ea typeface="微软雅黑" panose="020B0503020204020204" pitchFamily="34" charset="-122"/>
              </a:rPr>
              <a:t>hash</a:t>
            </a:r>
            <a:r>
              <a:rPr kumimoji="1" lang="zh-CN" altLang="en-US" sz="2000" dirty="0">
                <a:solidFill>
                  <a:srgbClr val="514843"/>
                </a:solidFill>
                <a:latin typeface="微软雅黑" panose="020B0503020204020204" pitchFamily="34" charset="-122"/>
                <a:ea typeface="微软雅黑" panose="020B0503020204020204" pitchFamily="34" charset="-122"/>
              </a:rPr>
              <a:t>值。</a:t>
            </a:r>
          </a:p>
        </p:txBody>
      </p:sp>
    </p:spTree>
    <p:extLst>
      <p:ext uri="{BB962C8B-B14F-4D97-AF65-F5344CB8AC3E}">
        <p14:creationId xmlns:p14="http://schemas.microsoft.com/office/powerpoint/2010/main" val="2379622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AAD5FF89-979C-4556-A53B-2CF9F04CEBE8}"/>
              </a:ext>
            </a:extLst>
          </p:cNvPr>
          <p:cNvSpPr>
            <a:spLocks noGrp="1" noChangeArrowheads="1"/>
          </p:cNvSpPr>
          <p:nvPr>
            <p:ph type="title"/>
          </p:nvPr>
        </p:nvSpPr>
        <p:spPr>
          <a:xfrm>
            <a:off x="1168894" y="574892"/>
            <a:ext cx="8991600" cy="563563"/>
          </a:xfrm>
        </p:spPr>
        <p:txBody>
          <a:bodyPr>
            <a:normAutofit/>
          </a:bodyPr>
          <a:lstStyle/>
          <a:p>
            <a:pPr eaLnBrk="1" hangingPunct="1"/>
            <a:r>
              <a:rPr lang="en-US" altLang="zh-CN" dirty="0">
                <a:solidFill>
                  <a:srgbClr val="000000"/>
                </a:solidFill>
                <a:cs typeface="+mn-cs"/>
              </a:rPr>
              <a:t>Hash</a:t>
            </a:r>
            <a:r>
              <a:rPr lang="zh-CN" altLang="en-US" dirty="0">
                <a:solidFill>
                  <a:srgbClr val="000000"/>
                </a:solidFill>
                <a:cs typeface="+mn-cs"/>
              </a:rPr>
              <a:t>方法</a:t>
            </a:r>
            <a:endParaRPr lang="en-US" altLang="zh-CN" dirty="0">
              <a:solidFill>
                <a:srgbClr val="000000"/>
              </a:solidFill>
              <a:cs typeface="+mn-cs"/>
            </a:endParaRPr>
          </a:p>
        </p:txBody>
      </p:sp>
      <p:sp>
        <p:nvSpPr>
          <p:cNvPr id="17" name="文本框 16">
            <a:extLst>
              <a:ext uri="{FF2B5EF4-FFF2-40B4-BE49-F238E27FC236}">
                <a16:creationId xmlns:a16="http://schemas.microsoft.com/office/drawing/2014/main" id="{8F1BCCE8-DA4C-4155-B752-A5474A84F7FD}"/>
              </a:ext>
            </a:extLst>
          </p:cNvPr>
          <p:cNvSpPr txBox="1"/>
          <p:nvPr/>
        </p:nvSpPr>
        <p:spPr>
          <a:xfrm>
            <a:off x="1168894" y="1440171"/>
            <a:ext cx="9728200" cy="615040"/>
          </a:xfrm>
          <a:prstGeom prst="rect">
            <a:avLst/>
          </a:prstGeom>
          <a:noFill/>
        </p:spPr>
        <p:txBody>
          <a:bodyPr wrap="square">
            <a:spAutoFit/>
          </a:bodyPr>
          <a:lstStyle/>
          <a:p>
            <a:pPr>
              <a:lnSpc>
                <a:spcPct val="200000"/>
              </a:lnSpc>
            </a:pPr>
            <a:r>
              <a:rPr kumimoji="1" lang="zh-CN" altLang="en-US" sz="2000" b="1" dirty="0">
                <a:solidFill>
                  <a:schemeClr val="accent2"/>
                </a:solidFill>
                <a:latin typeface="微软雅黑" panose="020B0503020204020204" pitchFamily="34" charset="-122"/>
                <a:ea typeface="微软雅黑" panose="020B0503020204020204" pitchFamily="34" charset="-122"/>
              </a:rPr>
              <a:t>双哈希方法：</a:t>
            </a:r>
            <a:r>
              <a:rPr kumimoji="1" lang="zh-CN" altLang="en-US" sz="2000" dirty="0">
                <a:solidFill>
                  <a:srgbClr val="514843"/>
                </a:solidFill>
                <a:latin typeface="微软雅黑" panose="020B0503020204020204" pitchFamily="34" charset="-122"/>
                <a:ea typeface="微软雅黑" panose="020B0503020204020204" pitchFamily="34" charset="-122"/>
              </a:rPr>
              <a:t>将字符串用不同</a:t>
            </a:r>
            <a:r>
              <a:rPr kumimoji="1" lang="en-US" altLang="zh-CN" sz="2000" dirty="0">
                <a:solidFill>
                  <a:srgbClr val="514843"/>
                </a:solidFill>
                <a:latin typeface="微软雅黑" panose="020B0503020204020204" pitchFamily="34" charset="-122"/>
                <a:ea typeface="微软雅黑" panose="020B0503020204020204" pitchFamily="34" charset="-122"/>
              </a:rPr>
              <a:t>mod</a:t>
            </a:r>
            <a:r>
              <a:rPr kumimoji="1" lang="zh-CN" altLang="en-US" sz="2000" dirty="0">
                <a:solidFill>
                  <a:srgbClr val="514843"/>
                </a:solidFill>
                <a:latin typeface="微软雅黑" panose="020B0503020204020204" pitchFamily="34" charset="-122"/>
                <a:ea typeface="微软雅黑" panose="020B0503020204020204" pitchFamily="34" charset="-122"/>
              </a:rPr>
              <a:t>单哈希两次，结果用二元组表示</a:t>
            </a:r>
          </a:p>
        </p:txBody>
      </p:sp>
      <p:sp>
        <p:nvSpPr>
          <p:cNvPr id="8" name="文本框 7">
            <a:extLst>
              <a:ext uri="{FF2B5EF4-FFF2-40B4-BE49-F238E27FC236}">
                <a16:creationId xmlns:a16="http://schemas.microsoft.com/office/drawing/2014/main" id="{39338AED-4AEF-47C2-B22A-F8A7B6116D01}"/>
              </a:ext>
            </a:extLst>
          </p:cNvPr>
          <p:cNvSpPr txBox="1"/>
          <p:nvPr/>
        </p:nvSpPr>
        <p:spPr>
          <a:xfrm>
            <a:off x="1168894" y="2198150"/>
            <a:ext cx="7890439" cy="2461700"/>
          </a:xfrm>
          <a:prstGeom prst="rect">
            <a:avLst/>
          </a:prstGeom>
          <a:noFill/>
        </p:spPr>
        <p:txBody>
          <a:bodyPr wrap="square">
            <a:spAutoFit/>
          </a:bodyPr>
          <a:lstStyle/>
          <a:p>
            <a:pPr algn="l">
              <a:lnSpc>
                <a:spcPct val="200000"/>
              </a:lnSpc>
            </a:pPr>
            <a:r>
              <a:rPr kumimoji="1" lang="en-US" altLang="zh-CN" sz="2000" dirty="0">
                <a:solidFill>
                  <a:srgbClr val="514843"/>
                </a:solidFill>
                <a:latin typeface="微软雅黑" panose="020B0503020204020204" pitchFamily="34" charset="-122"/>
                <a:ea typeface="微软雅黑" panose="020B0503020204020204" pitchFamily="34" charset="-122"/>
              </a:rPr>
              <a:t>Hash1[</a:t>
            </a:r>
            <a:r>
              <a:rPr kumimoji="1" lang="en-US" altLang="zh-CN" sz="2000" dirty="0" err="1">
                <a:solidFill>
                  <a:srgbClr val="514843"/>
                </a:solidFill>
                <a:latin typeface="微软雅黑" panose="020B0503020204020204" pitchFamily="34" charset="-122"/>
                <a:ea typeface="微软雅黑" panose="020B0503020204020204" pitchFamily="34" charset="-122"/>
              </a:rPr>
              <a:t>i</a:t>
            </a:r>
            <a:r>
              <a:rPr kumimoji="1" lang="en-US" altLang="zh-CN" sz="2000" dirty="0">
                <a:solidFill>
                  <a:srgbClr val="514843"/>
                </a:solidFill>
                <a:latin typeface="微软雅黑" panose="020B0503020204020204" pitchFamily="34" charset="-122"/>
                <a:ea typeface="微软雅黑" panose="020B0503020204020204" pitchFamily="34" charset="-122"/>
              </a:rPr>
              <a:t>] = </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Hash1[i-1]*</a:t>
            </a:r>
            <a:r>
              <a:rPr kumimoji="1" lang="en-US" altLang="zh-CN" sz="2000" dirty="0" err="1">
                <a:solidFill>
                  <a:srgbClr val="514843"/>
                </a:solidFill>
                <a:latin typeface="微软雅黑" panose="020B0503020204020204" pitchFamily="34" charset="-122"/>
                <a:ea typeface="微软雅黑" panose="020B0503020204020204" pitchFamily="34" charset="-122"/>
              </a:rPr>
              <a:t>p+idx</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en-US" altLang="zh-CN" sz="2000" dirty="0" err="1">
                <a:solidFill>
                  <a:srgbClr val="514843"/>
                </a:solidFill>
                <a:latin typeface="微软雅黑" panose="020B0503020204020204" pitchFamily="34" charset="-122"/>
                <a:ea typeface="微软雅黑" panose="020B0503020204020204" pitchFamily="34" charset="-122"/>
              </a:rPr>
              <a:t>si</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%mod1</a:t>
            </a:r>
          </a:p>
          <a:p>
            <a:pPr algn="l">
              <a:lnSpc>
                <a:spcPct val="200000"/>
              </a:lnSpc>
            </a:pPr>
            <a:r>
              <a:rPr kumimoji="1" lang="en-US" altLang="zh-CN" sz="2000" dirty="0">
                <a:solidFill>
                  <a:srgbClr val="514843"/>
                </a:solidFill>
                <a:latin typeface="微软雅黑" panose="020B0503020204020204" pitchFamily="34" charset="-122"/>
                <a:ea typeface="微软雅黑" panose="020B0503020204020204" pitchFamily="34" charset="-122"/>
              </a:rPr>
              <a:t>Hash2[</a:t>
            </a:r>
            <a:r>
              <a:rPr kumimoji="1" lang="en-US" altLang="zh-CN" sz="2000" dirty="0" err="1">
                <a:solidFill>
                  <a:srgbClr val="514843"/>
                </a:solidFill>
                <a:latin typeface="微软雅黑" panose="020B0503020204020204" pitchFamily="34" charset="-122"/>
                <a:ea typeface="微软雅黑" panose="020B0503020204020204" pitchFamily="34" charset="-122"/>
              </a:rPr>
              <a:t>i</a:t>
            </a:r>
            <a:r>
              <a:rPr kumimoji="1" lang="en-US" altLang="zh-CN" sz="2000" dirty="0">
                <a:solidFill>
                  <a:srgbClr val="514843"/>
                </a:solidFill>
                <a:latin typeface="微软雅黑" panose="020B0503020204020204" pitchFamily="34" charset="-122"/>
                <a:ea typeface="微软雅黑" panose="020B0503020204020204" pitchFamily="34" charset="-122"/>
              </a:rPr>
              <a:t>] = </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Hash2[i-1]*</a:t>
            </a:r>
            <a:r>
              <a:rPr kumimoji="1" lang="en-US" altLang="zh-CN" sz="2000" dirty="0" err="1">
                <a:solidFill>
                  <a:srgbClr val="514843"/>
                </a:solidFill>
                <a:latin typeface="微软雅黑" panose="020B0503020204020204" pitchFamily="34" charset="-122"/>
                <a:ea typeface="微软雅黑" panose="020B0503020204020204" pitchFamily="34" charset="-122"/>
              </a:rPr>
              <a:t>p+idx</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en-US" altLang="zh-CN" sz="2000" dirty="0" err="1">
                <a:solidFill>
                  <a:srgbClr val="514843"/>
                </a:solidFill>
                <a:latin typeface="微软雅黑" panose="020B0503020204020204" pitchFamily="34" charset="-122"/>
                <a:ea typeface="微软雅黑" panose="020B0503020204020204" pitchFamily="34" charset="-122"/>
              </a:rPr>
              <a:t>si</a:t>
            </a:r>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zh-CN" altLang="en-US"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latin typeface="微软雅黑" panose="020B0503020204020204" pitchFamily="34" charset="-122"/>
                <a:ea typeface="微软雅黑" panose="020B0503020204020204" pitchFamily="34" charset="-122"/>
              </a:rPr>
              <a:t>%mod2</a:t>
            </a:r>
          </a:p>
          <a:p>
            <a:pPr algn="l">
              <a:lnSpc>
                <a:spcPct val="200000"/>
              </a:lnSpc>
            </a:pPr>
            <a:r>
              <a:rPr kumimoji="1" lang="en-US" altLang="zh-CN" sz="2000" dirty="0">
                <a:solidFill>
                  <a:srgbClr val="514843"/>
                </a:solidFill>
                <a:latin typeface="微软雅黑" panose="020B0503020204020204" pitchFamily="34" charset="-122"/>
                <a:ea typeface="微软雅黑" panose="020B0503020204020204" pitchFamily="34" charset="-122"/>
              </a:rPr>
              <a:t>Hash[n]:&lt;Hash1[n],Hash2[n]&gt;</a:t>
            </a:r>
          </a:p>
          <a:p>
            <a:pPr algn="l">
              <a:lnSpc>
                <a:spcPct val="200000"/>
              </a:lnSpc>
            </a:pPr>
            <a:r>
              <a:rPr kumimoji="1" lang="zh-CN" altLang="en-US" sz="2000" dirty="0">
                <a:solidFill>
                  <a:srgbClr val="514843"/>
                </a:solidFill>
                <a:latin typeface="微软雅黑" panose="020B0503020204020204" pitchFamily="34" charset="-122"/>
                <a:ea typeface="微软雅黑" panose="020B0503020204020204" pitchFamily="34" charset="-122"/>
              </a:rPr>
              <a:t>这种方法很安全</a:t>
            </a:r>
          </a:p>
        </p:txBody>
      </p:sp>
    </p:spTree>
    <p:extLst>
      <p:ext uri="{BB962C8B-B14F-4D97-AF65-F5344CB8AC3E}">
        <p14:creationId xmlns:p14="http://schemas.microsoft.com/office/powerpoint/2010/main" val="899542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rPr>
              <a:t>Hash</a:t>
            </a:r>
            <a:r>
              <a:rPr kumimoji="0" lang="zh-CN" altLang="en-US"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rPr>
              <a:t>方法</a:t>
            </a:r>
            <a:endParaRPr kumimoji="0" lang="en-US" altLang="zh-CN"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endParaRPr>
          </a:p>
        </p:txBody>
      </p:sp>
      <mc:AlternateContent xmlns:mc="http://schemas.openxmlformats.org/markup-compatibility/2006" xmlns:a14="http://schemas.microsoft.com/office/drawing/2010/main">
        <mc:Choice Requires="a14">
          <p:sp>
            <p:nvSpPr>
              <p:cNvPr id="4" name="矩形 2">
                <a:extLst>
                  <a:ext uri="{FF2B5EF4-FFF2-40B4-BE49-F238E27FC236}">
                    <a16:creationId xmlns:a16="http://schemas.microsoft.com/office/drawing/2014/main" id="{DDEDC142-C849-4F32-99C1-520F97CD5D8C}"/>
                  </a:ext>
                </a:extLst>
              </p:cNvPr>
              <p:cNvSpPr>
                <a:spLocks noChangeArrowheads="1"/>
              </p:cNvSpPr>
              <p:nvPr/>
            </p:nvSpPr>
            <p:spPr bwMode="auto">
              <a:xfrm>
                <a:off x="413990" y="1344199"/>
                <a:ext cx="10775626" cy="5334281"/>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indent="647700">
                  <a:defRPr kumimoji="1" sz="2000" b="1">
                    <a:solidFill>
                      <a:srgbClr val="000066"/>
                    </a:solidFill>
                    <a:latin typeface="Times New Roman" panose="02020603050405020304" pitchFamily="18" charset="0"/>
                    <a:ea typeface="宋体" panose="02010600030101010101" pitchFamily="2" charset="-122"/>
                  </a:defRPr>
                </a:lvl1pPr>
                <a:lvl2pPr marL="742950" indent="-285750">
                  <a:defRPr kumimoji="1" sz="2000" b="1">
                    <a:solidFill>
                      <a:srgbClr val="000066"/>
                    </a:solidFill>
                    <a:latin typeface="Times New Roman" panose="02020603050405020304" pitchFamily="18" charset="0"/>
                    <a:ea typeface="宋体" panose="02010600030101010101" pitchFamily="2" charset="-122"/>
                  </a:defRPr>
                </a:lvl2pPr>
                <a:lvl3pPr marL="1143000" indent="-228600">
                  <a:defRPr kumimoji="1" sz="2000" b="1">
                    <a:solidFill>
                      <a:srgbClr val="000066"/>
                    </a:solidFill>
                    <a:latin typeface="Times New Roman" panose="02020603050405020304" pitchFamily="18" charset="0"/>
                    <a:ea typeface="宋体" panose="02010600030101010101" pitchFamily="2" charset="-122"/>
                  </a:defRPr>
                </a:lvl3pPr>
                <a:lvl4pPr marL="1600200" indent="-228600">
                  <a:defRPr kumimoji="1" sz="2000" b="1">
                    <a:solidFill>
                      <a:srgbClr val="000066"/>
                    </a:solidFill>
                    <a:latin typeface="Times New Roman" panose="02020603050405020304" pitchFamily="18" charset="0"/>
                    <a:ea typeface="宋体" panose="02010600030101010101" pitchFamily="2" charset="-122"/>
                  </a:defRPr>
                </a:lvl4pPr>
                <a:lvl5pPr marL="2057400" indent="-228600">
                  <a:defRPr kumimoji="1" sz="2000" b="1">
                    <a:solidFill>
                      <a:srgbClr val="000066"/>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b="1">
                    <a:solidFill>
                      <a:srgbClr val="000066"/>
                    </a:solidFill>
                    <a:latin typeface="Times New Roman" panose="02020603050405020304" pitchFamily="18" charset="0"/>
                    <a:ea typeface="宋体" panose="02010600030101010101" pitchFamily="2" charset="-122"/>
                  </a:defRPr>
                </a:lvl9pPr>
              </a:lstStyle>
              <a:p>
                <a:pPr marL="0" marR="0" lvl="0" indent="647700" algn="l" defTabSz="914400" rtl="0" eaLnBrk="1" fontAlgn="auto" latinLnBrk="0" hangingPunct="1">
                  <a:lnSpc>
                    <a:spcPct val="200000"/>
                  </a:lnSpc>
                  <a:spcBef>
                    <a:spcPts val="0"/>
                  </a:spcBef>
                  <a:spcAft>
                    <a:spcPts val="1000"/>
                  </a:spcAft>
                  <a:buClr>
                    <a:srgbClr val="6D7D66"/>
                  </a:buClr>
                  <a:buSzPct val="80000"/>
                  <a:buFontTx/>
                  <a:buNone/>
                  <a:tabLst/>
                  <a:defRPr/>
                </a:pPr>
                <a:r>
                  <a:rPr kumimoji="1" lang="zh-CN" altLang="en-US" sz="18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获取子串的</a:t>
                </a:r>
                <a:r>
                  <a:rPr kumimoji="1" lang="en-US" altLang="zh-CN" sz="1800" i="0" u="none" strike="noStrike" kern="1200" cap="none" spc="0" normalizeH="0" baseline="0" noProof="0" dirty="0">
                    <a:ln>
                      <a:noFill/>
                    </a:ln>
                    <a:solidFill>
                      <a:schemeClr val="accent2"/>
                    </a:solidFill>
                    <a:effectLst/>
                    <a:uLnTx/>
                    <a:uFillTx/>
                    <a:latin typeface="微软雅黑" panose="020B0503020204020204" pitchFamily="34" charset="-122"/>
                    <a:ea typeface="微软雅黑" panose="020B0503020204020204" pitchFamily="34" charset="-122"/>
                    <a:cs typeface="+mn-cs"/>
                  </a:rPr>
                  <a:t>Hash</a:t>
                </a:r>
              </a:p>
              <a:p>
                <a:pPr marL="0" marR="0" lvl="0" indent="647700" algn="l" defTabSz="914400" rtl="0" eaLnBrk="1" fontAlgn="auto" latinLnBrk="0" hangingPunct="1">
                  <a:lnSpc>
                    <a:spcPct val="150000"/>
                  </a:lnSpc>
                  <a:spcBef>
                    <a:spcPts val="0"/>
                  </a:spcBef>
                  <a:spcAft>
                    <a:spcPts val="1000"/>
                  </a:spcAft>
                  <a:buClr>
                    <a:srgbClr val="6D7D66"/>
                  </a:buClr>
                  <a:buSzPct val="80000"/>
                  <a:buFontTx/>
                  <a:buNone/>
                  <a:tabLst/>
                  <a:defRPr/>
                </a:pP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如果我们求出一个串的</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，就可以</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O(1)</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求解其子串的</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Hash</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值。</a:t>
                </a:r>
                <a:endPar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marL="0" marR="0" lvl="0" indent="647700" algn="l" defTabSz="914400" rtl="0" eaLnBrk="1" fontAlgn="auto" latinLnBrk="0" hangingPunct="1">
                  <a:lnSpc>
                    <a:spcPct val="150000"/>
                  </a:lnSpc>
                  <a:spcBef>
                    <a:spcPts val="0"/>
                  </a:spcBef>
                  <a:spcAft>
                    <a:spcPts val="1000"/>
                  </a:spcAft>
                  <a:buClr>
                    <a:srgbClr val="6D7D66"/>
                  </a:buClr>
                  <a:buSzPct val="80000"/>
                  <a:buFontTx/>
                  <a:buNone/>
                  <a:tabLst/>
                  <a:defRPr/>
                </a:pP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假设有</a:t>
                </a:r>
                <a:r>
                  <a:rPr lang="zh-CN" altLang="en-US" sz="1800" b="0" dirty="0">
                    <a:solidFill>
                      <a:srgbClr val="514843"/>
                    </a:solidFill>
                    <a:latin typeface="微软雅黑" panose="020B0503020204020204" pitchFamily="34" charset="-122"/>
                    <a:ea typeface="微软雅黑" panose="020B0503020204020204" pitchFamily="34" charset="-122"/>
                  </a:rPr>
                  <a:t>长度为</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5</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的字符串</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S</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，设</a:t>
                </a:r>
                <a14:m>
                  <m:oMath xmlns:m="http://schemas.openxmlformats.org/officeDocument/2006/math">
                    <m:sSub>
                      <m:sSubPr>
                        <m:ctrlPr>
                          <a:rPr kumimoji="1" lang="en-US" altLang="zh-CN" sz="18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1800" b="0" i="1">
                            <a:solidFill>
                              <a:srgbClr val="514843"/>
                            </a:solidFill>
                            <a:latin typeface="Cambria Math" panose="02040503050406030204" pitchFamily="18" charset="0"/>
                            <a:ea typeface="微软雅黑" panose="020B0503020204020204" pitchFamily="34" charset="-122"/>
                          </a:rPr>
                          <m:t>S</m:t>
                        </m:r>
                      </m:e>
                      <m:sub>
                        <m:r>
                          <m:rPr>
                            <m:sty m:val="p"/>
                          </m:rPr>
                          <a:rPr lang="en-US" altLang="zh-CN" sz="1800" b="0" i="1">
                            <a:solidFill>
                              <a:srgbClr val="514843"/>
                            </a:solidFill>
                            <a:latin typeface="Cambria Math" panose="02040503050406030204" pitchFamily="18" charset="0"/>
                            <a:ea typeface="微软雅黑" panose="020B0503020204020204" pitchFamily="34" charset="-122"/>
                          </a:rPr>
                          <m:t>i</m:t>
                        </m:r>
                      </m:sub>
                    </m:sSub>
                  </m:oMath>
                </a14:m>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为第</a:t>
                </a:r>
                <a:r>
                  <a:rPr kumimoji="1" lang="en-US" altLang="zh-CN" sz="1800" b="0" i="0" u="none" strike="noStrike" kern="1200" cap="none" spc="0" normalizeH="0" baseline="0" noProof="0" dirty="0" err="1">
                    <a:ln>
                      <a:noFill/>
                    </a:ln>
                    <a:solidFill>
                      <a:srgbClr val="514843"/>
                    </a:solidFill>
                    <a:effectLst/>
                    <a:uLnTx/>
                    <a:uFillTx/>
                    <a:latin typeface="微软雅黑" panose="020B0503020204020204" pitchFamily="34" charset="-122"/>
                    <a:ea typeface="微软雅黑" panose="020B0503020204020204" pitchFamily="34" charset="-122"/>
                    <a:cs typeface="+mn-cs"/>
                  </a:rPr>
                  <a:t>i</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个字符，其中</a:t>
                </a:r>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1</a:t>
                </a:r>
                <a14:m>
                  <m:oMath xmlns:m="http://schemas.openxmlformats.org/officeDocument/2006/math">
                    <m:r>
                      <a:rPr kumimoji="1" lang="en-US" altLang="zh-CN" sz="1800" b="0" i="1" u="none" strike="noStrike" kern="1200" cap="none" spc="0" normalizeH="0" baseline="0" noProof="0" smtClean="0">
                        <a:ln>
                          <a:noFill/>
                        </a:ln>
                        <a:solidFill>
                          <a:srgbClr val="514843"/>
                        </a:solidFill>
                        <a:effectLst/>
                        <a:uLnTx/>
                        <a:uFillTx/>
                        <a:latin typeface="Cambria Math" panose="02040503050406030204" pitchFamily="18" charset="0"/>
                        <a:ea typeface="Cambria Math" panose="02040503050406030204" pitchFamily="18" charset="0"/>
                      </a:rPr>
                      <m:t>≤</m:t>
                    </m:r>
                  </m:oMath>
                </a14:m>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i</a:t>
                </a:r>
                <a14:m>
                  <m:oMath xmlns:m="http://schemas.openxmlformats.org/officeDocument/2006/math">
                    <m:r>
                      <a:rPr kumimoji="1" lang="en-US" altLang="zh-CN" sz="1800" b="0" i="1" u="none" strike="noStrike" kern="1200" cap="none" spc="0" normalizeH="0" baseline="0" noProof="0" dirty="0" smtClean="0">
                        <a:ln>
                          <a:noFill/>
                        </a:ln>
                        <a:solidFill>
                          <a:srgbClr val="514843"/>
                        </a:solidFill>
                        <a:effectLst/>
                        <a:uLnTx/>
                        <a:uFillTx/>
                        <a:latin typeface="Cambria Math" panose="02040503050406030204" pitchFamily="18" charset="0"/>
                        <a:ea typeface="Cambria Math" panose="02040503050406030204" pitchFamily="18" charset="0"/>
                      </a:rPr>
                      <m:t>≤</m:t>
                    </m:r>
                  </m:oMath>
                </a14:m>
                <a:r>
                  <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5</a:t>
                </a:r>
                <a:r>
                  <a:rPr kumimoji="1" lang="zh-CN" altLang="en-US"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endPar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marL="0" marR="0" lvl="0" indent="647700" algn="l" defTabSz="914400" rtl="0" eaLnBrk="1" fontAlgn="auto" latinLnBrk="0" hangingPunct="1">
                  <a:lnSpc>
                    <a:spcPct val="150000"/>
                  </a:lnSpc>
                  <a:spcBef>
                    <a:spcPts val="0"/>
                  </a:spcBef>
                  <a:spcAft>
                    <a:spcPts val="1000"/>
                  </a:spcAft>
                  <a:buClr>
                    <a:srgbClr val="6D7D66"/>
                  </a:buClr>
                  <a:buSzPct val="80000"/>
                  <a:buFontTx/>
                  <a:buNone/>
                  <a:tabLst/>
                  <a:defRPr/>
                </a:pPr>
                <a:r>
                  <a:rPr lang="en-US" altLang="zh-CN" sz="1800" b="0" dirty="0">
                    <a:solidFill>
                      <a:srgbClr val="514843"/>
                    </a:solidFill>
                    <a:latin typeface="微软雅黑" panose="020B0503020204020204" pitchFamily="34" charset="-122"/>
                    <a:ea typeface="微软雅黑" panose="020B0503020204020204" pitchFamily="34" charset="-122"/>
                  </a:rPr>
                  <a:t>Hash[1]=</a:t>
                </a:r>
                <a:r>
                  <a:rPr kumimoji="1" lang="en-US" altLang="zh-CN" b="0" u="none" strike="noStrike" kern="1200" cap="none" spc="0" normalizeH="0" baseline="0" noProof="0" dirty="0">
                    <a:ln>
                      <a:noFill/>
                    </a:ln>
                    <a:solidFill>
                      <a:srgbClr val="514843"/>
                    </a:solidFill>
                    <a:effectLst/>
                    <a:uLnTx/>
                    <a:uFillTx/>
                    <a:ea typeface="微软雅黑" panose="020B0503020204020204" pitchFamily="34" charset="-122"/>
                    <a:cs typeface="+mn-cs"/>
                  </a:rPr>
                  <a:t> </a:t>
                </a:r>
                <a14:m>
                  <m:oMath xmlns:m="http://schemas.openxmlformats.org/officeDocument/2006/math">
                    <m:sSub>
                      <m:sSubPr>
                        <m:ctrlPr>
                          <a:rPr kumimoji="1" lang="en-US" altLang="zh-CN"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1800" b="0" i="1">
                            <a:solidFill>
                              <a:srgbClr val="514843"/>
                            </a:solidFill>
                            <a:latin typeface="Cambria Math" panose="02040503050406030204" pitchFamily="18" charset="0"/>
                            <a:ea typeface="微软雅黑" panose="020B0503020204020204" pitchFamily="34" charset="-122"/>
                          </a:rPr>
                          <m:t>S</m:t>
                        </m:r>
                      </m:e>
                      <m:sub>
                        <m:r>
                          <a:rPr lang="en-US" altLang="zh-CN" sz="1800" b="0" i="1" smtClean="0">
                            <a:solidFill>
                              <a:srgbClr val="514843"/>
                            </a:solidFill>
                            <a:latin typeface="Cambria Math" panose="02040503050406030204" pitchFamily="18" charset="0"/>
                            <a:ea typeface="微软雅黑" panose="020B0503020204020204" pitchFamily="34" charset="-122"/>
                          </a:rPr>
                          <m:t>1</m:t>
                        </m:r>
                      </m:sub>
                    </m:sSub>
                  </m:oMath>
                </a14:m>
                <a:endParaRPr kumimoji="1" lang="en-US" altLang="zh-CN" sz="1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lvl="0">
                  <a:lnSpc>
                    <a:spcPct val="150000"/>
                  </a:lnSpc>
                  <a:spcAft>
                    <a:spcPts val="1000"/>
                  </a:spcAft>
                  <a:buClr>
                    <a:srgbClr val="6D7D66"/>
                  </a:buClr>
                  <a:buSzPct val="80000"/>
                  <a:defRPr/>
                </a:pPr>
                <a:r>
                  <a:rPr lang="en-US" altLang="zh-CN" sz="2000" b="0" dirty="0">
                    <a:solidFill>
                      <a:srgbClr val="514843"/>
                    </a:solidFill>
                    <a:latin typeface="微软雅黑" panose="020B0503020204020204" pitchFamily="34" charset="-122"/>
                    <a:ea typeface="微软雅黑" panose="020B0503020204020204" pitchFamily="34" charset="-122"/>
                  </a:rPr>
                  <a:t>Hash[2]=</a:t>
                </a:r>
                <a:r>
                  <a:rPr kumimoji="1" lang="en-US" altLang="zh-CN" b="0" u="none" strike="noStrike" kern="1200" cap="none" spc="0" normalizeH="0" baseline="0" noProof="0" dirty="0">
                    <a:ln>
                      <a:noFill/>
                    </a:ln>
                    <a:solidFill>
                      <a:srgbClr val="514843"/>
                    </a:solidFill>
                    <a:effectLst/>
                    <a:uLnTx/>
                    <a:uFillTx/>
                    <a:ea typeface="微软雅黑" panose="020B0503020204020204" pitchFamily="34" charset="-122"/>
                    <a:cs typeface="+mn-cs"/>
                  </a:rPr>
                  <a:t> </a:t>
                </a:r>
                <a14:m>
                  <m:oMath xmlns:m="http://schemas.openxmlformats.org/officeDocument/2006/math">
                    <m:sSub>
                      <m:sSubPr>
                        <m:ctrlPr>
                          <a:rPr kumimoji="1" lang="en-US" altLang="zh-CN"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2000" b="0" i="1">
                            <a:solidFill>
                              <a:srgbClr val="514843"/>
                            </a:solidFill>
                            <a:latin typeface="Cambria Math" panose="02040503050406030204" pitchFamily="18" charset="0"/>
                            <a:ea typeface="微软雅黑" panose="020B0503020204020204" pitchFamily="34" charset="-122"/>
                          </a:rPr>
                          <m:t>S</m:t>
                        </m:r>
                      </m:e>
                      <m:sub>
                        <m:r>
                          <a:rPr lang="en-US" altLang="zh-CN" sz="2000" b="0" i="1" smtClean="0">
                            <a:solidFill>
                              <a:srgbClr val="514843"/>
                            </a:solidFill>
                            <a:latin typeface="Cambria Math" panose="02040503050406030204" pitchFamily="18" charset="0"/>
                            <a:ea typeface="微软雅黑" panose="020B0503020204020204" pitchFamily="34" charset="-122"/>
                          </a:rPr>
                          <m:t>1</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r>
                      <a:rPr lang="en-US" altLang="zh-CN" b="0" i="1" dirty="0">
                        <a:solidFill>
                          <a:srgbClr val="514843"/>
                        </a:solidFill>
                        <a:latin typeface="Cambria Math" panose="02040503050406030204" pitchFamily="18" charset="0"/>
                        <a:ea typeface="微软雅黑" panose="020B0503020204020204" pitchFamily="34" charset="-122"/>
                      </a:rPr>
                      <m:t>𝑝</m:t>
                    </m:r>
                    <m:r>
                      <a:rPr lang="en-US" altLang="zh-CN" b="0" i="1" dirty="0">
                        <a:solidFill>
                          <a:srgbClr val="514843"/>
                        </a:solidFill>
                        <a:latin typeface="Cambria Math" panose="02040503050406030204" pitchFamily="18" charset="0"/>
                        <a:ea typeface="微软雅黑" panose="020B0503020204020204" pitchFamily="34" charset="-122"/>
                      </a:rPr>
                      <m:t> </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2</m:t>
                        </m:r>
                      </m:sub>
                    </m:sSub>
                  </m:oMath>
                </a14:m>
                <a:endPar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a:lnSpc>
                    <a:spcPct val="150000"/>
                  </a:lnSpc>
                  <a:spcAft>
                    <a:spcPts val="1000"/>
                  </a:spcAft>
                  <a:buClr>
                    <a:srgbClr val="6D7D66"/>
                  </a:buClr>
                  <a:buSzPct val="80000"/>
                  <a:defRPr/>
                </a:pPr>
                <a:r>
                  <a:rPr lang="en-US" altLang="zh-CN" sz="2000" b="0" dirty="0">
                    <a:solidFill>
                      <a:srgbClr val="514843"/>
                    </a:solidFill>
                    <a:latin typeface="微软雅黑" panose="020B0503020204020204" pitchFamily="34" charset="-122"/>
                    <a:ea typeface="微软雅黑" panose="020B0503020204020204" pitchFamily="34" charset="-122"/>
                  </a:rPr>
                  <a:t>Hash[3]=</a:t>
                </a:r>
                <a:r>
                  <a:rPr kumimoji="1" lang="en-US" altLang="zh-CN" b="0" u="none" strike="noStrike" kern="1200" cap="none" spc="0" normalizeH="0" baseline="0" noProof="0" dirty="0">
                    <a:ln>
                      <a:noFill/>
                    </a:ln>
                    <a:solidFill>
                      <a:srgbClr val="514843"/>
                    </a:solidFill>
                    <a:effectLst/>
                    <a:uLnTx/>
                    <a:uFillTx/>
                    <a:ea typeface="微软雅黑" panose="020B0503020204020204" pitchFamily="34" charset="-122"/>
                    <a:cs typeface="+mn-cs"/>
                  </a:rPr>
                  <a:t> </a:t>
                </a:r>
                <a14:m>
                  <m:oMath xmlns:m="http://schemas.openxmlformats.org/officeDocument/2006/math">
                    <m:sSub>
                      <m:sSubPr>
                        <m:ctrlPr>
                          <a:rPr kumimoji="1" lang="en-US" altLang="zh-CN"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2000" b="0" i="1">
                            <a:solidFill>
                              <a:srgbClr val="514843"/>
                            </a:solidFill>
                            <a:latin typeface="Cambria Math" panose="02040503050406030204" pitchFamily="18" charset="0"/>
                            <a:ea typeface="微软雅黑" panose="020B0503020204020204" pitchFamily="34" charset="-122"/>
                          </a:rPr>
                          <m:t>S</m:t>
                        </m:r>
                      </m:e>
                      <m:sub>
                        <m:r>
                          <a:rPr lang="en-US" altLang="zh-CN" sz="2000" b="0" i="1" smtClean="0">
                            <a:solidFill>
                              <a:srgbClr val="514843"/>
                            </a:solidFill>
                            <a:latin typeface="Cambria Math" panose="02040503050406030204" pitchFamily="18" charset="0"/>
                            <a:ea typeface="微软雅黑" panose="020B0503020204020204" pitchFamily="34" charset="-122"/>
                          </a:rPr>
                          <m:t>1</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sSup>
                      <m:sSupPr>
                        <m:ctrlP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𝑝</m:t>
                        </m:r>
                      </m:e>
                      <m:sup>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2</m:t>
                        </m:r>
                      </m:sup>
                    </m:sSup>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2</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r>
                      <a:rPr lang="en-US" altLang="zh-CN" b="0" i="1" dirty="0">
                        <a:solidFill>
                          <a:srgbClr val="514843"/>
                        </a:solidFill>
                        <a:latin typeface="Cambria Math" panose="02040503050406030204" pitchFamily="18" charset="0"/>
                        <a:ea typeface="微软雅黑" panose="020B0503020204020204" pitchFamily="34" charset="-122"/>
                      </a:rPr>
                      <m:t>𝑝</m:t>
                    </m:r>
                    <m:r>
                      <a:rPr lang="en-US" altLang="zh-CN" b="0" i="1" dirty="0">
                        <a:solidFill>
                          <a:srgbClr val="514843"/>
                        </a:solidFill>
                        <a:latin typeface="Cambria Math" panose="02040503050406030204" pitchFamily="18" charset="0"/>
                        <a:ea typeface="微软雅黑" panose="020B0503020204020204" pitchFamily="34" charset="-122"/>
                      </a:rPr>
                      <m:t> </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3</m:t>
                        </m:r>
                      </m:sub>
                    </m:sSub>
                  </m:oMath>
                </a14:m>
                <a:endPar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a:lnSpc>
                    <a:spcPct val="150000"/>
                  </a:lnSpc>
                  <a:spcAft>
                    <a:spcPts val="1000"/>
                  </a:spcAft>
                  <a:buClr>
                    <a:srgbClr val="6D7D66"/>
                  </a:buClr>
                  <a:buSzPct val="80000"/>
                  <a:defRPr/>
                </a:pPr>
                <a:r>
                  <a:rPr lang="en-US" altLang="zh-CN" sz="2000" b="0" dirty="0">
                    <a:solidFill>
                      <a:srgbClr val="514843"/>
                    </a:solidFill>
                    <a:latin typeface="微软雅黑" panose="020B0503020204020204" pitchFamily="34" charset="-122"/>
                    <a:ea typeface="微软雅黑" panose="020B0503020204020204" pitchFamily="34" charset="-122"/>
                  </a:rPr>
                  <a:t>Hash[4]=</a:t>
                </a:r>
                <a:r>
                  <a:rPr kumimoji="1" lang="en-US" altLang="zh-CN" b="0" u="none" strike="noStrike" kern="1200" cap="none" spc="0" normalizeH="0" baseline="0" noProof="0" dirty="0">
                    <a:ln>
                      <a:noFill/>
                    </a:ln>
                    <a:solidFill>
                      <a:srgbClr val="514843"/>
                    </a:solidFill>
                    <a:effectLst/>
                    <a:uLnTx/>
                    <a:uFillTx/>
                    <a:ea typeface="微软雅黑" panose="020B0503020204020204" pitchFamily="34" charset="-122"/>
                    <a:cs typeface="+mn-cs"/>
                  </a:rPr>
                  <a:t> </a:t>
                </a:r>
                <a14:m>
                  <m:oMath xmlns:m="http://schemas.openxmlformats.org/officeDocument/2006/math">
                    <m:sSub>
                      <m:sSubPr>
                        <m:ctrlPr>
                          <a:rPr kumimoji="1" lang="en-US" altLang="zh-CN"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2000" b="0" i="1">
                            <a:solidFill>
                              <a:srgbClr val="514843"/>
                            </a:solidFill>
                            <a:latin typeface="Cambria Math" panose="02040503050406030204" pitchFamily="18" charset="0"/>
                            <a:ea typeface="微软雅黑" panose="020B0503020204020204" pitchFamily="34" charset="-122"/>
                          </a:rPr>
                          <m:t>S</m:t>
                        </m:r>
                      </m:e>
                      <m:sub>
                        <m:r>
                          <a:rPr lang="en-US" altLang="zh-CN" sz="2000" b="0" i="1" smtClean="0">
                            <a:solidFill>
                              <a:srgbClr val="514843"/>
                            </a:solidFill>
                            <a:latin typeface="Cambria Math" panose="02040503050406030204" pitchFamily="18" charset="0"/>
                            <a:ea typeface="微软雅黑" panose="020B0503020204020204" pitchFamily="34" charset="-122"/>
                          </a:rPr>
                          <m:t>1</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sSup>
                      <m:sSupPr>
                        <m:ctrlP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𝑝</m:t>
                        </m:r>
                      </m:e>
                      <m:sup>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3</m:t>
                        </m:r>
                      </m:sup>
                    </m:sSup>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2</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p>
                      <m:sSupPr>
                        <m:ctrlPr>
                          <a:rPr lang="en-US" altLang="zh-CN" b="0" i="1" dirty="0">
                            <a:solidFill>
                              <a:srgbClr val="514843"/>
                            </a:solidFill>
                            <a:latin typeface="Cambria Math" panose="02040503050406030204" pitchFamily="18" charset="0"/>
                            <a:ea typeface="微软雅黑" panose="020B0503020204020204" pitchFamily="34" charset="-122"/>
                          </a:rPr>
                        </m:ctrlPr>
                      </m:sSupPr>
                      <m:e>
                        <m:r>
                          <a:rPr lang="en-US" altLang="zh-CN" b="0" i="1" dirty="0">
                            <a:solidFill>
                              <a:srgbClr val="514843"/>
                            </a:solidFill>
                            <a:latin typeface="Cambria Math" panose="02040503050406030204" pitchFamily="18" charset="0"/>
                            <a:ea typeface="微软雅黑" panose="020B0503020204020204" pitchFamily="34" charset="-122"/>
                          </a:rPr>
                          <m:t>𝑝</m:t>
                        </m:r>
                      </m:e>
                      <m:sup>
                        <m:r>
                          <a:rPr lang="en-US" altLang="zh-CN" b="0" i="1" dirty="0" smtClean="0">
                            <a:solidFill>
                              <a:srgbClr val="514843"/>
                            </a:solidFill>
                            <a:latin typeface="Cambria Math" panose="02040503050406030204" pitchFamily="18" charset="0"/>
                            <a:ea typeface="微软雅黑" panose="020B0503020204020204" pitchFamily="34" charset="-122"/>
                          </a:rPr>
                          <m:t>2</m:t>
                        </m:r>
                      </m:sup>
                    </m:sSup>
                    <m:r>
                      <a:rPr lang="en-US" altLang="zh-CN" b="0" i="1" dirty="0">
                        <a:solidFill>
                          <a:srgbClr val="514843"/>
                        </a:solidFill>
                        <a:latin typeface="Cambria Math" panose="02040503050406030204" pitchFamily="18" charset="0"/>
                        <a:ea typeface="微软雅黑" panose="020B0503020204020204" pitchFamily="34" charset="-122"/>
                      </a:rPr>
                      <m:t> </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3</m:t>
                        </m:r>
                      </m:sub>
                    </m:sSub>
                  </m:oMath>
                </a14:m>
                <a:r>
                  <a:rPr lang="en-US" altLang="zh-CN" b="0" dirty="0">
                    <a:solidFill>
                      <a:srgbClr val="514843"/>
                    </a:solidFill>
                    <a:ea typeface="微软雅黑" panose="020B0503020204020204" pitchFamily="34" charset="-122"/>
                  </a:rPr>
                  <a:t>* </a:t>
                </a:r>
                <a14:m>
                  <m:oMath xmlns:m="http://schemas.openxmlformats.org/officeDocument/2006/math">
                    <m:r>
                      <a:rPr lang="en-US" altLang="zh-CN" b="0" i="1" dirty="0" smtClean="0">
                        <a:solidFill>
                          <a:srgbClr val="514843"/>
                        </a:solidFill>
                        <a:latin typeface="Cambria Math" panose="02040503050406030204" pitchFamily="18" charset="0"/>
                        <a:ea typeface="微软雅黑" panose="020B0503020204020204" pitchFamily="34" charset="-122"/>
                      </a:rPr>
                      <m:t>𝑝</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4</m:t>
                        </m:r>
                      </m:sub>
                    </m:sSub>
                  </m:oMath>
                </a14:m>
                <a:endPar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a:lnSpc>
                    <a:spcPct val="150000"/>
                  </a:lnSpc>
                  <a:spcAft>
                    <a:spcPts val="1000"/>
                  </a:spcAft>
                  <a:buClr>
                    <a:srgbClr val="6D7D66"/>
                  </a:buClr>
                  <a:buSzPct val="80000"/>
                  <a:defRPr/>
                </a:pPr>
                <a:r>
                  <a:rPr lang="en-US" altLang="zh-CN" sz="2000" b="0" dirty="0">
                    <a:solidFill>
                      <a:srgbClr val="514843"/>
                    </a:solidFill>
                    <a:latin typeface="微软雅黑" panose="020B0503020204020204" pitchFamily="34" charset="-122"/>
                    <a:ea typeface="微软雅黑" panose="020B0503020204020204" pitchFamily="34" charset="-122"/>
                  </a:rPr>
                  <a:t>Hash[5]=</a:t>
                </a:r>
                <a:r>
                  <a:rPr kumimoji="1" lang="en-US" altLang="zh-CN" b="0" u="none" strike="noStrike" kern="1200" cap="none" spc="0" normalizeH="0" baseline="0" noProof="0" dirty="0">
                    <a:ln>
                      <a:noFill/>
                    </a:ln>
                    <a:solidFill>
                      <a:srgbClr val="514843"/>
                    </a:solidFill>
                    <a:effectLst/>
                    <a:uLnTx/>
                    <a:uFillTx/>
                    <a:ea typeface="微软雅黑" panose="020B0503020204020204" pitchFamily="34" charset="-122"/>
                    <a:cs typeface="+mn-cs"/>
                  </a:rPr>
                  <a:t> </a:t>
                </a:r>
                <a14:m>
                  <m:oMath xmlns:m="http://schemas.openxmlformats.org/officeDocument/2006/math">
                    <m:sSub>
                      <m:sSubPr>
                        <m:ctrlPr>
                          <a:rPr kumimoji="1" lang="en-US" altLang="zh-CN"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2000" b="0" i="1">
                            <a:solidFill>
                              <a:srgbClr val="514843"/>
                            </a:solidFill>
                            <a:latin typeface="Cambria Math" panose="02040503050406030204" pitchFamily="18" charset="0"/>
                            <a:ea typeface="微软雅黑" panose="020B0503020204020204" pitchFamily="34" charset="-122"/>
                          </a:rPr>
                          <m:t>S</m:t>
                        </m:r>
                      </m:e>
                      <m:sub>
                        <m:r>
                          <a:rPr lang="en-US" altLang="zh-CN" sz="2000" b="0" i="1" smtClean="0">
                            <a:solidFill>
                              <a:srgbClr val="514843"/>
                            </a:solidFill>
                            <a:latin typeface="Cambria Math" panose="02040503050406030204" pitchFamily="18" charset="0"/>
                            <a:ea typeface="微软雅黑" panose="020B0503020204020204" pitchFamily="34" charset="-122"/>
                          </a:rPr>
                          <m:t>1</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sSup>
                      <m:sSupPr>
                        <m:ctrlP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𝑝</m:t>
                        </m:r>
                      </m:e>
                      <m:sup>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4</m:t>
                        </m:r>
                      </m:sup>
                    </m:sSup>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2</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p>
                      <m:sSupPr>
                        <m:ctrlPr>
                          <a:rPr lang="en-US" altLang="zh-CN" b="0" i="1" dirty="0">
                            <a:solidFill>
                              <a:srgbClr val="514843"/>
                            </a:solidFill>
                            <a:latin typeface="Cambria Math" panose="02040503050406030204" pitchFamily="18" charset="0"/>
                            <a:ea typeface="微软雅黑" panose="020B0503020204020204" pitchFamily="34" charset="-122"/>
                          </a:rPr>
                        </m:ctrlPr>
                      </m:sSupPr>
                      <m:e>
                        <m:r>
                          <a:rPr lang="en-US" altLang="zh-CN" b="0" i="1" dirty="0">
                            <a:solidFill>
                              <a:srgbClr val="514843"/>
                            </a:solidFill>
                            <a:latin typeface="Cambria Math" panose="02040503050406030204" pitchFamily="18" charset="0"/>
                            <a:ea typeface="微软雅黑" panose="020B0503020204020204" pitchFamily="34" charset="-122"/>
                          </a:rPr>
                          <m:t>𝑝</m:t>
                        </m:r>
                      </m:e>
                      <m:sup>
                        <m:r>
                          <a:rPr lang="en-US" altLang="zh-CN" b="0" i="1" dirty="0" smtClean="0">
                            <a:solidFill>
                              <a:srgbClr val="514843"/>
                            </a:solidFill>
                            <a:latin typeface="Cambria Math" panose="02040503050406030204" pitchFamily="18" charset="0"/>
                            <a:ea typeface="微软雅黑" panose="020B0503020204020204" pitchFamily="34" charset="-122"/>
                          </a:rPr>
                          <m:t>3</m:t>
                        </m:r>
                      </m:sup>
                    </m:sSup>
                    <m:r>
                      <a:rPr lang="en-US" altLang="zh-CN" b="0" i="1" dirty="0">
                        <a:solidFill>
                          <a:srgbClr val="514843"/>
                        </a:solidFill>
                        <a:latin typeface="Cambria Math" panose="02040503050406030204" pitchFamily="18" charset="0"/>
                        <a:ea typeface="微软雅黑" panose="020B0503020204020204" pitchFamily="34" charset="-122"/>
                      </a:rPr>
                      <m:t> </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3</m:t>
                        </m:r>
                      </m:sub>
                    </m:sSub>
                  </m:oMath>
                </a14:m>
                <a:r>
                  <a:rPr lang="en-US" altLang="zh-CN" b="0" dirty="0">
                    <a:solidFill>
                      <a:srgbClr val="514843"/>
                    </a:solidFill>
                    <a:ea typeface="微软雅黑" panose="020B0503020204020204" pitchFamily="34" charset="-122"/>
                  </a:rPr>
                  <a:t>*</a:t>
                </a:r>
                <a14:m>
                  <m:oMath xmlns:m="http://schemas.openxmlformats.org/officeDocument/2006/math">
                    <m:r>
                      <a:rPr lang="en-US" altLang="zh-CN" b="0" i="1" dirty="0">
                        <a:solidFill>
                          <a:srgbClr val="514843"/>
                        </a:solidFill>
                        <a:latin typeface="Cambria Math" panose="02040503050406030204" pitchFamily="18" charset="0"/>
                        <a:ea typeface="微软雅黑" panose="020B0503020204020204" pitchFamily="34" charset="-122"/>
                      </a:rPr>
                      <m:t>𝑝</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4</m:t>
                        </m:r>
                      </m:sub>
                    </m:sSub>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r>
                      <a:rPr lang="en-US" altLang="zh-CN" b="0" i="1" dirty="0">
                        <a:solidFill>
                          <a:srgbClr val="514843"/>
                        </a:solidFill>
                        <a:latin typeface="Cambria Math" panose="02040503050406030204" pitchFamily="18" charset="0"/>
                        <a:ea typeface="微软雅黑" panose="020B0503020204020204" pitchFamily="34" charset="-122"/>
                      </a:rPr>
                      <m:t>𝑝</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lang="en-US" altLang="zh-CN" b="0" dirty="0">
                    <a:solidFill>
                      <a:srgbClr val="514843"/>
                    </a:solidFill>
                    <a:ea typeface="微软雅黑" panose="020B0503020204020204" pitchFamily="34" charset="-122"/>
                  </a:rPr>
                  <a:t> </a:t>
                </a:r>
                <a14:m>
                  <m:oMath xmlns:m="http://schemas.openxmlformats.org/officeDocument/2006/math">
                    <m:sSub>
                      <m:sSubPr>
                        <m:ctrlPr>
                          <a:rPr lang="en-US" altLang="zh-CN" b="0" i="1">
                            <a:solidFill>
                              <a:srgbClr val="514843"/>
                            </a:solidFill>
                            <a:latin typeface="Cambria Math" panose="02040503050406030204" pitchFamily="18" charset="0"/>
                            <a:ea typeface="微软雅黑" panose="020B0503020204020204" pitchFamily="34" charset="-122"/>
                          </a:rPr>
                        </m:ctrlPr>
                      </m:sSubPr>
                      <m:e>
                        <m:r>
                          <m:rPr>
                            <m:sty m:val="p"/>
                          </m:rPr>
                          <a:rPr lang="en-US" altLang="zh-CN" b="0"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5</m:t>
                        </m:r>
                      </m:sub>
                    </m:sSub>
                  </m:oMath>
                </a14:m>
                <a:endPar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a:p>
                <a:pPr lvl="0">
                  <a:lnSpc>
                    <a:spcPct val="200000"/>
                  </a:lnSpc>
                  <a:spcAft>
                    <a:spcPts val="1000"/>
                  </a:spcAft>
                  <a:buClr>
                    <a:srgbClr val="6D7D66"/>
                  </a:buClr>
                  <a:buSzPct val="80000"/>
                  <a:defRPr/>
                </a:pPr>
                <a:endPar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4" name="矩形 2">
                <a:extLst>
                  <a:ext uri="{FF2B5EF4-FFF2-40B4-BE49-F238E27FC236}">
                    <a16:creationId xmlns:a16="http://schemas.microsoft.com/office/drawing/2014/main" id="{DDEDC142-C849-4F32-99C1-520F97CD5D8C}"/>
                  </a:ext>
                </a:extLst>
              </p:cNvPr>
              <p:cNvSpPr>
                <a:spLocks noRot="1" noChangeAspect="1" noMove="1" noResize="1" noEditPoints="1" noAdjustHandles="1" noChangeArrowheads="1" noChangeShapeType="1" noTextEdit="1"/>
              </p:cNvSpPr>
              <p:nvPr/>
            </p:nvSpPr>
            <p:spPr bwMode="auto">
              <a:xfrm>
                <a:off x="413990" y="1344199"/>
                <a:ext cx="10775626" cy="5334281"/>
              </a:xfrm>
              <a:prstGeom prst="rect">
                <a:avLst/>
              </a:prstGeom>
              <a:blipFill>
                <a:blip r:embed="rId2"/>
                <a:stretch>
                  <a:fillRect/>
                </a:stretch>
              </a:blip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rPr>
              <a:t>Hash</a:t>
            </a:r>
            <a:r>
              <a:rPr kumimoji="0" lang="zh-CN" altLang="en-US"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rPr>
              <a:t>方法</a:t>
            </a:r>
            <a:endParaRPr kumimoji="0" lang="en-US" altLang="zh-CN"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2C18058-340A-4E17-BB89-FAA5CD39A569}"/>
                  </a:ext>
                </a:extLst>
              </p:cNvPr>
              <p:cNvSpPr txBox="1"/>
              <p:nvPr/>
            </p:nvSpPr>
            <p:spPr>
              <a:xfrm>
                <a:off x="1013579" y="1367211"/>
                <a:ext cx="9959221" cy="3938386"/>
              </a:xfrm>
              <a:prstGeom prst="rect">
                <a:avLst/>
              </a:prstGeom>
              <a:noFill/>
            </p:spPr>
            <p:txBody>
              <a:bodyPr wrap="square">
                <a:spAutoFit/>
              </a:bodyPr>
              <a:lstStyle/>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现在我们想求</a:t>
                </a:r>
                <a14:m>
                  <m:oMath xmlns:m="http://schemas.openxmlformats.org/officeDocument/2006/math">
                    <m:sSub>
                      <m:sSubPr>
                        <m:ctrlPr>
                          <a:rPr kumimoji="1" lang="en-US" altLang="zh-CN"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bPr>
                      <m:e>
                        <m:r>
                          <m:rPr>
                            <m:sty m:val="p"/>
                          </m:rPr>
                          <a:rPr lang="en-US" altLang="zh-CN" sz="1800" b="0" i="1">
                            <a:solidFill>
                              <a:srgbClr val="514843"/>
                            </a:solidFill>
                            <a:latin typeface="Cambria Math" panose="02040503050406030204" pitchFamily="18" charset="0"/>
                            <a:ea typeface="微软雅黑" panose="020B0503020204020204" pitchFamily="34" charset="-122"/>
                          </a:rPr>
                          <m:t>S</m:t>
                        </m:r>
                      </m:e>
                      <m:sub>
                        <m:r>
                          <a:rPr lang="en-US" altLang="zh-CN" sz="1800" b="0" i="1" smtClean="0">
                            <a:solidFill>
                              <a:srgbClr val="514843"/>
                            </a:solidFill>
                            <a:latin typeface="Cambria Math" panose="02040503050406030204" pitchFamily="18" charset="0"/>
                            <a:ea typeface="微软雅黑" panose="020B0503020204020204" pitchFamily="34" charset="-122"/>
                          </a:rPr>
                          <m:t>3</m:t>
                        </m:r>
                      </m:sub>
                    </m:sSub>
                    <m:sSub>
                      <m:sSubPr>
                        <m:ctrlPr>
                          <a:rPr kumimoji="1" lang="en-US" altLang="zh-CN" i="1">
                            <a:solidFill>
                              <a:srgbClr val="514843"/>
                            </a:solidFill>
                            <a:latin typeface="Cambria Math" panose="02040503050406030204" pitchFamily="18" charset="0"/>
                            <a:ea typeface="微软雅黑" panose="020B0503020204020204" pitchFamily="34" charset="-122"/>
                          </a:rPr>
                        </m:ctrlPr>
                      </m:sSubPr>
                      <m:e>
                        <m:r>
                          <m:rPr>
                            <m:sty m:val="p"/>
                          </m:rPr>
                          <a:rPr lang="en-US" altLang="zh-CN"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4</m:t>
                        </m:r>
                      </m:sub>
                    </m:sSub>
                  </m:oMath>
                </a14:m>
                <a:r>
                  <a:rPr kumimoji="1" lang="zh-CN" altLang="en-US" dirty="0">
                    <a:solidFill>
                      <a:srgbClr val="514843"/>
                    </a:solidFill>
                    <a:latin typeface="微软雅黑" panose="020B0503020204020204" pitchFamily="34" charset="-122"/>
                    <a:ea typeface="微软雅黑" panose="020B0503020204020204" pitchFamily="34" charset="-122"/>
                  </a:rPr>
                  <a:t>的</a:t>
                </a:r>
                <a:r>
                  <a:rPr kumimoji="1" lang="en-US" altLang="zh-CN" dirty="0">
                    <a:solidFill>
                      <a:srgbClr val="514843"/>
                    </a:solidFill>
                    <a:latin typeface="微软雅黑" panose="020B0503020204020204" pitchFamily="34" charset="-122"/>
                    <a:ea typeface="微软雅黑" panose="020B0503020204020204" pitchFamily="34" charset="-122"/>
                  </a:rPr>
                  <a:t>hash</a:t>
                </a:r>
                <a:r>
                  <a:rPr kumimoji="1" lang="zh-CN" altLang="en-US" dirty="0">
                    <a:solidFill>
                      <a:srgbClr val="514843"/>
                    </a:solidFill>
                    <a:latin typeface="微软雅黑" panose="020B0503020204020204" pitchFamily="34" charset="-122"/>
                    <a:ea typeface="微软雅黑" panose="020B0503020204020204" pitchFamily="34" charset="-122"/>
                  </a:rPr>
                  <a:t>值，不难得出为</a:t>
                </a:r>
                <a14:m>
                  <m:oMath xmlns:m="http://schemas.openxmlformats.org/officeDocument/2006/math">
                    <m:sSub>
                      <m:sSubPr>
                        <m:ctrlPr>
                          <a:rPr kumimoji="1" lang="en-US" altLang="zh-CN" i="1">
                            <a:solidFill>
                              <a:srgbClr val="514843"/>
                            </a:solidFill>
                            <a:latin typeface="Cambria Math" panose="02040503050406030204" pitchFamily="18" charset="0"/>
                            <a:ea typeface="微软雅黑" panose="020B0503020204020204" pitchFamily="34" charset="-122"/>
                          </a:rPr>
                        </m:ctrlPr>
                      </m:sSubPr>
                      <m:e>
                        <m:r>
                          <m:rPr>
                            <m:sty m:val="p"/>
                          </m:rPr>
                          <a:rPr lang="en-US" altLang="zh-CN" i="1">
                            <a:solidFill>
                              <a:srgbClr val="514843"/>
                            </a:solidFill>
                            <a:latin typeface="Cambria Math" panose="02040503050406030204" pitchFamily="18" charset="0"/>
                            <a:ea typeface="微软雅黑" panose="020B0503020204020204" pitchFamily="34" charset="-122"/>
                          </a:rPr>
                          <m:t>S</m:t>
                        </m:r>
                      </m:e>
                      <m:sub>
                        <m:r>
                          <a:rPr lang="en-US" altLang="zh-CN" i="1">
                            <a:solidFill>
                              <a:srgbClr val="514843"/>
                            </a:solidFill>
                            <a:latin typeface="Cambria Math" panose="02040503050406030204" pitchFamily="18" charset="0"/>
                            <a:ea typeface="微软雅黑" panose="020B0503020204020204" pitchFamily="34" charset="-122"/>
                          </a:rPr>
                          <m:t>3</m:t>
                        </m:r>
                      </m:sub>
                    </m:sSub>
                  </m:oMath>
                </a14:m>
                <a:r>
                  <a:rPr kumimoji="1" lang="en-US" altLang="zh-CN" dirty="0">
                    <a:solidFill>
                      <a:srgbClr val="514843"/>
                    </a:solidFill>
                    <a:latin typeface="微软雅黑" panose="020B0503020204020204" pitchFamily="34" charset="-122"/>
                    <a:ea typeface="微软雅黑" panose="020B0503020204020204" pitchFamily="34" charset="-122"/>
                  </a:rPr>
                  <a:t> * p </a:t>
                </a:r>
                <a:r>
                  <a:rPr kumimoji="1" lang="zh-CN" altLang="en-US" dirty="0">
                    <a:solidFill>
                      <a:srgbClr val="514843"/>
                    </a:solidFill>
                    <a:latin typeface="微软雅黑" panose="020B0503020204020204" pitchFamily="34" charset="-122"/>
                    <a:ea typeface="微软雅黑" panose="020B0503020204020204" pitchFamily="34" charset="-122"/>
                  </a:rPr>
                  <a:t>＋</a:t>
                </a:r>
                <a:r>
                  <a:rPr kumimoji="1" lang="en-US" altLang="zh-CN" dirty="0">
                    <a:solidFill>
                      <a:srgbClr val="514843"/>
                    </a:solidFill>
                    <a:ea typeface="微软雅黑" panose="020B0503020204020204" pitchFamily="34" charset="-122"/>
                  </a:rPr>
                  <a:t> </a:t>
                </a:r>
                <a14:m>
                  <m:oMath xmlns:m="http://schemas.openxmlformats.org/officeDocument/2006/math">
                    <m:sSub>
                      <m:sSubPr>
                        <m:ctrlPr>
                          <a:rPr kumimoji="1" lang="en-US" altLang="zh-CN" i="1">
                            <a:solidFill>
                              <a:srgbClr val="514843"/>
                            </a:solidFill>
                            <a:latin typeface="Cambria Math" panose="02040503050406030204" pitchFamily="18" charset="0"/>
                            <a:ea typeface="微软雅黑" panose="020B0503020204020204" pitchFamily="34" charset="-122"/>
                          </a:rPr>
                        </m:ctrlPr>
                      </m:sSubPr>
                      <m:e>
                        <m:r>
                          <m:rPr>
                            <m:sty m:val="p"/>
                          </m:rPr>
                          <a:rPr lang="en-US" altLang="zh-CN"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4</m:t>
                        </m:r>
                      </m:sub>
                    </m:sSub>
                  </m:oMath>
                </a14:m>
                <a:r>
                  <a:rPr kumimoji="1" lang="en-US" altLang="zh-CN" dirty="0">
                    <a:solidFill>
                      <a:srgbClr val="514843"/>
                    </a:solidFill>
                    <a:latin typeface="微软雅黑" panose="020B0503020204020204" pitchFamily="34" charset="-122"/>
                    <a:ea typeface="微软雅黑" panose="020B0503020204020204" pitchFamily="34" charset="-122"/>
                  </a:rPr>
                  <a:t>,</a:t>
                </a:r>
                <a:r>
                  <a:rPr kumimoji="1" lang="zh-CN" altLang="en-US" dirty="0">
                    <a:solidFill>
                      <a:srgbClr val="514843"/>
                    </a:solidFill>
                    <a:latin typeface="微软雅黑" panose="020B0503020204020204" pitchFamily="34" charset="-122"/>
                    <a:ea typeface="微软雅黑" panose="020B0503020204020204" pitchFamily="34" charset="-122"/>
                  </a:rPr>
                  <a:t>并且观察得知，如果将</a:t>
                </a:r>
                <a:r>
                  <a:rPr kumimoji="1" lang="en-US" altLang="zh-CN" dirty="0">
                    <a:solidFill>
                      <a:srgbClr val="514843"/>
                    </a:solidFill>
                    <a:latin typeface="微软雅黑" panose="020B0503020204020204" pitchFamily="34" charset="-122"/>
                    <a:ea typeface="微软雅黑" panose="020B0503020204020204" pitchFamily="34" charset="-122"/>
                  </a:rPr>
                  <a:t>hash[4] - hash[2]</a:t>
                </a:r>
                <a:r>
                  <a:rPr kumimoji="1" lang="zh-CN" altLang="en-US" dirty="0">
                    <a:solidFill>
                      <a:srgbClr val="514843"/>
                    </a:solidFill>
                    <a:latin typeface="微软雅黑" panose="020B0503020204020204" pitchFamily="34" charset="-122"/>
                    <a:ea typeface="微软雅黑" panose="020B0503020204020204" pitchFamily="34" charset="-122"/>
                  </a:rPr>
                  <a:t>的结果带有</a:t>
                </a:r>
                <a14:m>
                  <m:oMath xmlns:m="http://schemas.openxmlformats.org/officeDocument/2006/math">
                    <m:sSub>
                      <m:sSubPr>
                        <m:ctrlPr>
                          <a:rPr kumimoji="1" lang="en-US" altLang="zh-CN" i="1">
                            <a:solidFill>
                              <a:srgbClr val="514843"/>
                            </a:solidFill>
                            <a:latin typeface="Cambria Math" panose="02040503050406030204" pitchFamily="18" charset="0"/>
                            <a:ea typeface="微软雅黑" panose="020B0503020204020204" pitchFamily="34" charset="-122"/>
                          </a:rPr>
                        </m:ctrlPr>
                      </m:sSubPr>
                      <m:e>
                        <m:r>
                          <m:rPr>
                            <m:sty m:val="p"/>
                          </m:rPr>
                          <a:rPr lang="en-US" altLang="zh-CN"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1</m:t>
                        </m:r>
                      </m:sub>
                    </m:sSub>
                  </m:oMath>
                </a14:m>
                <a:r>
                  <a:rPr kumimoji="1" lang="en-US" altLang="zh-CN" dirty="0">
                    <a:solidFill>
                      <a:srgbClr val="514843"/>
                    </a:solidFill>
                    <a:latin typeface="微软雅黑" panose="020B0503020204020204" pitchFamily="34" charset="-122"/>
                    <a:ea typeface="微软雅黑" panose="020B0503020204020204" pitchFamily="34" charset="-122"/>
                  </a:rPr>
                  <a:t>,</a:t>
                </a:r>
                <a:r>
                  <a:rPr kumimoji="1" lang="en-US" altLang="zh-CN" dirty="0">
                    <a:solidFill>
                      <a:srgbClr val="514843"/>
                    </a:solidFill>
                    <a:ea typeface="微软雅黑" panose="020B0503020204020204" pitchFamily="34" charset="-122"/>
                  </a:rPr>
                  <a:t> </a:t>
                </a:r>
                <a14:m>
                  <m:oMath xmlns:m="http://schemas.openxmlformats.org/officeDocument/2006/math">
                    <m:sSub>
                      <m:sSubPr>
                        <m:ctrlPr>
                          <a:rPr kumimoji="1" lang="en-US" altLang="zh-CN" i="1">
                            <a:solidFill>
                              <a:srgbClr val="514843"/>
                            </a:solidFill>
                            <a:latin typeface="Cambria Math" panose="02040503050406030204" pitchFamily="18" charset="0"/>
                            <a:ea typeface="微软雅黑" panose="020B0503020204020204" pitchFamily="34" charset="-122"/>
                          </a:rPr>
                        </m:ctrlPr>
                      </m:sSubPr>
                      <m:e>
                        <m:r>
                          <m:rPr>
                            <m:sty m:val="p"/>
                          </m:rPr>
                          <a:rPr lang="en-US" altLang="zh-CN" i="1">
                            <a:solidFill>
                              <a:srgbClr val="514843"/>
                            </a:solidFill>
                            <a:latin typeface="Cambria Math" panose="02040503050406030204" pitchFamily="18" charset="0"/>
                            <a:ea typeface="微软雅黑" panose="020B0503020204020204" pitchFamily="34" charset="-122"/>
                          </a:rPr>
                          <m:t>S</m:t>
                        </m:r>
                      </m:e>
                      <m:sub>
                        <m:r>
                          <a:rPr lang="en-US" altLang="zh-CN" b="0" i="1" smtClean="0">
                            <a:solidFill>
                              <a:srgbClr val="514843"/>
                            </a:solidFill>
                            <a:latin typeface="Cambria Math" panose="02040503050406030204" pitchFamily="18" charset="0"/>
                            <a:ea typeface="微软雅黑" panose="020B0503020204020204" pitchFamily="34" charset="-122"/>
                          </a:rPr>
                          <m:t>2</m:t>
                        </m:r>
                      </m:sub>
                    </m:sSub>
                  </m:oMath>
                </a14:m>
                <a:r>
                  <a:rPr kumimoji="1" lang="zh-CN" altLang="en-US" dirty="0">
                    <a:solidFill>
                      <a:srgbClr val="514843"/>
                    </a:solidFill>
                    <a:latin typeface="微软雅黑" panose="020B0503020204020204" pitchFamily="34" charset="-122"/>
                    <a:ea typeface="微软雅黑" panose="020B0503020204020204" pitchFamily="34" charset="-122"/>
                  </a:rPr>
                  <a:t>系数的项全部消掉，就是所求。但是由于</a:t>
                </a:r>
                <a:r>
                  <a:rPr kumimoji="1" lang="en-US" altLang="zh-CN" dirty="0">
                    <a:solidFill>
                      <a:srgbClr val="514843"/>
                    </a:solidFill>
                    <a:latin typeface="微软雅黑" panose="020B0503020204020204" pitchFamily="34" charset="-122"/>
                    <a:ea typeface="微软雅黑" panose="020B0503020204020204" pitchFamily="34" charset="-122"/>
                  </a:rPr>
                  <a:t>p</a:t>
                </a:r>
                <a:r>
                  <a:rPr kumimoji="1" lang="zh-CN" altLang="en-US" dirty="0">
                    <a:solidFill>
                      <a:srgbClr val="514843"/>
                    </a:solidFill>
                    <a:latin typeface="微软雅黑" panose="020B0503020204020204" pitchFamily="34" charset="-122"/>
                    <a:ea typeface="微软雅黑" panose="020B0503020204020204" pitchFamily="34" charset="-122"/>
                  </a:rPr>
                  <a:t>的阶数，不能直接消掉，所以问题就转化为，将</a:t>
                </a:r>
                <a:r>
                  <a:rPr kumimoji="1" lang="en-US" altLang="zh-CN" dirty="0">
                    <a:solidFill>
                      <a:srgbClr val="514843"/>
                    </a:solidFill>
                    <a:latin typeface="微软雅黑" panose="020B0503020204020204" pitchFamily="34" charset="-122"/>
                    <a:ea typeface="微软雅黑" panose="020B0503020204020204" pitchFamily="34" charset="-122"/>
                  </a:rPr>
                  <a:t>hash[2]</a:t>
                </a:r>
                <a:r>
                  <a:rPr kumimoji="1" lang="zh-CN" altLang="en-US" dirty="0">
                    <a:solidFill>
                      <a:srgbClr val="514843"/>
                    </a:solidFill>
                    <a:latin typeface="微软雅黑" panose="020B0503020204020204" pitchFamily="34" charset="-122"/>
                    <a:ea typeface="微软雅黑" panose="020B0503020204020204" pitchFamily="34" charset="-122"/>
                  </a:rPr>
                  <a:t>乘一个关于</a:t>
                </a:r>
                <a:r>
                  <a:rPr kumimoji="1" lang="en-US" altLang="zh-CN" dirty="0">
                    <a:solidFill>
                      <a:srgbClr val="514843"/>
                    </a:solidFill>
                    <a:latin typeface="微软雅黑" panose="020B0503020204020204" pitchFamily="34" charset="-122"/>
                    <a:ea typeface="微软雅黑" panose="020B0503020204020204" pitchFamily="34" charset="-122"/>
                  </a:rPr>
                  <a:t>p</a:t>
                </a:r>
                <a:r>
                  <a:rPr kumimoji="1" lang="zh-CN" altLang="en-US" dirty="0">
                    <a:solidFill>
                      <a:srgbClr val="514843"/>
                    </a:solidFill>
                    <a:latin typeface="微软雅黑" panose="020B0503020204020204" pitchFamily="34" charset="-122"/>
                    <a:ea typeface="微软雅黑" panose="020B0503020204020204" pitchFamily="34" charset="-122"/>
                  </a:rPr>
                  <a:t>的系数，在做差的时候将多余项消除，从而得到结果。</a:t>
                </a:r>
                <a:endParaRPr kumimoji="1" lang="en-US" altLang="zh-CN" dirty="0">
                  <a:solidFill>
                    <a:srgbClr val="514843"/>
                  </a:solidFill>
                  <a:latin typeface="微软雅黑" panose="020B0503020204020204" pitchFamily="34" charset="-122"/>
                  <a:ea typeface="微软雅黑" panose="020B0503020204020204" pitchFamily="34" charset="-122"/>
                </a:endParaRPr>
              </a:p>
              <a:p>
                <a:pPr>
                  <a:lnSpc>
                    <a:spcPct val="200000"/>
                  </a:lnSpc>
                </a:pPr>
                <a:endParaRPr kumimoji="1" lang="en-US" altLang="zh-CN" dirty="0">
                  <a:solidFill>
                    <a:srgbClr val="514843"/>
                  </a:solidFill>
                  <a:latin typeface="微软雅黑" panose="020B0503020204020204" pitchFamily="34" charset="-122"/>
                  <a:ea typeface="微软雅黑" panose="020B0503020204020204" pitchFamily="34" charset="-122"/>
                </a:endParaRPr>
              </a:p>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不难发现，对应项系数只差一个</a:t>
                </a:r>
                <a14:m>
                  <m:oMath xmlns:m="http://schemas.openxmlformats.org/officeDocument/2006/math">
                    <m:sSup>
                      <m:sSupPr>
                        <m:ctrlPr>
                          <a:rPr kumimoji="1" lang="en-US" altLang="zh-CN" sz="18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1" lang="en-US" altLang="zh-CN" sz="18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𝑝</m:t>
                        </m:r>
                      </m:e>
                      <m:sup>
                        <m:r>
                          <a:rPr kumimoji="1" lang="en-US" altLang="zh-CN" sz="18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2</m:t>
                        </m:r>
                      </m:sup>
                    </m:sSup>
                    <m:r>
                      <a:rPr kumimoji="1" lang="en-US" altLang="zh-CN" sz="18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 </m:t>
                    </m:r>
                  </m:oMath>
                </a14:m>
                <a:r>
                  <a:rPr kumimoji="1" lang="zh-CN" altLang="en-US" dirty="0">
                    <a:solidFill>
                      <a:srgbClr val="514843"/>
                    </a:solidFill>
                    <a:latin typeface="微软雅黑" panose="020B0503020204020204" pitchFamily="34" charset="-122"/>
                    <a:ea typeface="微软雅黑" panose="020B0503020204020204" pitchFamily="34" charset="-122"/>
                  </a:rPr>
                  <a:t>，而</a:t>
                </a:r>
                <a:r>
                  <a:rPr kumimoji="1" lang="en-US" altLang="zh-CN" dirty="0">
                    <a:solidFill>
                      <a:srgbClr val="514843"/>
                    </a:solidFill>
                    <a:latin typeface="微软雅黑" panose="020B0503020204020204" pitchFamily="34" charset="-122"/>
                    <a:ea typeface="微软雅黑" panose="020B0503020204020204" pitchFamily="34" charset="-122"/>
                  </a:rPr>
                  <a:t>4-3+1=2(</a:t>
                </a:r>
                <a:r>
                  <a:rPr kumimoji="1" lang="zh-CN" altLang="en-US" dirty="0">
                    <a:solidFill>
                      <a:srgbClr val="514843"/>
                    </a:solidFill>
                    <a:latin typeface="微软雅黑" panose="020B0503020204020204" pitchFamily="34" charset="-122"/>
                    <a:ea typeface="微软雅黑" panose="020B0503020204020204" pitchFamily="34" charset="-122"/>
                  </a:rPr>
                  <a:t>待求</a:t>
                </a:r>
                <a:r>
                  <a:rPr kumimoji="1" lang="en-US" altLang="zh-CN" dirty="0">
                    <a:solidFill>
                      <a:srgbClr val="514843"/>
                    </a:solidFill>
                    <a:latin typeface="微软雅黑" panose="020B0503020204020204" pitchFamily="34" charset="-122"/>
                    <a:ea typeface="微软雅黑" panose="020B0503020204020204" pitchFamily="34" charset="-122"/>
                  </a:rPr>
                  <a:t>hash</a:t>
                </a:r>
                <a:r>
                  <a:rPr kumimoji="1" lang="zh-CN" altLang="en-US" dirty="0">
                    <a:solidFill>
                      <a:srgbClr val="514843"/>
                    </a:solidFill>
                    <a:latin typeface="微软雅黑" panose="020B0503020204020204" pitchFamily="34" charset="-122"/>
                    <a:ea typeface="微软雅黑" panose="020B0503020204020204" pitchFamily="34" charset="-122"/>
                  </a:rPr>
                  <a:t>子串下标相减再加一</a:t>
                </a:r>
                <a:r>
                  <a:rPr kumimoji="1" lang="en-US" altLang="zh-CN" dirty="0">
                    <a:solidFill>
                      <a:srgbClr val="514843"/>
                    </a:solidFill>
                    <a:latin typeface="微软雅黑" panose="020B0503020204020204" pitchFamily="34" charset="-122"/>
                    <a:ea typeface="微软雅黑" panose="020B0503020204020204" pitchFamily="34" charset="-122"/>
                  </a:rPr>
                  <a:t>)</a:t>
                </a:r>
                <a:r>
                  <a:rPr kumimoji="1" lang="zh-CN" altLang="en-US" dirty="0">
                    <a:solidFill>
                      <a:srgbClr val="514843"/>
                    </a:solidFill>
                    <a:latin typeface="微软雅黑" panose="020B0503020204020204" pitchFamily="34" charset="-122"/>
                    <a:ea typeface="微软雅黑" panose="020B0503020204020204" pitchFamily="34" charset="-122"/>
                  </a:rPr>
                  <a:t>。归纳得到以下公式：</a:t>
                </a:r>
                <a:endParaRPr kumimoji="1" lang="en-US" altLang="zh-CN" dirty="0">
                  <a:solidFill>
                    <a:srgbClr val="514843"/>
                  </a:solidFill>
                  <a:latin typeface="微软雅黑" panose="020B0503020204020204" pitchFamily="34" charset="-122"/>
                  <a:ea typeface="微软雅黑" panose="020B0503020204020204" pitchFamily="34" charset="-122"/>
                </a:endParaRPr>
              </a:p>
              <a:p>
                <a:pPr algn="ctr">
                  <a:lnSpc>
                    <a:spcPct val="200000"/>
                  </a:lnSpc>
                </a:pPr>
                <a:r>
                  <a:rPr kumimoji="1" lang="en-US" altLang="zh-CN" dirty="0">
                    <a:solidFill>
                      <a:srgbClr val="514843"/>
                    </a:solidFill>
                    <a:latin typeface="微软雅黑" panose="020B0503020204020204" pitchFamily="34" charset="-122"/>
                    <a:ea typeface="微软雅黑" panose="020B0503020204020204" pitchFamily="34" charset="-122"/>
                  </a:rPr>
                  <a:t>hash[4]-hash[2]*</a:t>
                </a:r>
                <a:r>
                  <a:rPr kumimoji="1" lang="en-US" altLang="zh-CN" sz="1800" b="0" u="none" strike="noStrike" kern="1200" cap="none" spc="0" normalizeH="0" baseline="0" noProof="0" dirty="0">
                    <a:ln>
                      <a:noFill/>
                    </a:ln>
                    <a:solidFill>
                      <a:srgbClr val="514843"/>
                    </a:solidFill>
                    <a:effectLst/>
                    <a:uLnTx/>
                    <a:uFillTx/>
                    <a:ea typeface="微软雅黑" panose="020B0503020204020204" pitchFamily="34" charset="-122"/>
                    <a:cs typeface="+mn-cs"/>
                  </a:rPr>
                  <a:t> </a:t>
                </a:r>
                <a14:m>
                  <m:oMath xmlns:m="http://schemas.openxmlformats.org/officeDocument/2006/math">
                    <m:sSup>
                      <m:sSupPr>
                        <m:ctrlP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𝑝</m:t>
                        </m:r>
                      </m:e>
                      <m:sup>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4−3+1</m:t>
                        </m:r>
                      </m:sup>
                    </m:sSup>
                    <m: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 </m:t>
                    </m:r>
                  </m:oMath>
                </a14:m>
                <a:endParaRPr kumimoji="1" lang="zh-CN" altLang="en-US" dirty="0">
                  <a:solidFill>
                    <a:srgbClr val="514843"/>
                  </a:solidFill>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A2C18058-340A-4E17-BB89-FAA5CD39A569}"/>
                  </a:ext>
                </a:extLst>
              </p:cNvPr>
              <p:cNvSpPr txBox="1">
                <a:spLocks noRot="1" noChangeAspect="1" noMove="1" noResize="1" noEditPoints="1" noAdjustHandles="1" noChangeArrowheads="1" noChangeShapeType="1" noTextEdit="1"/>
              </p:cNvSpPr>
              <p:nvPr/>
            </p:nvSpPr>
            <p:spPr>
              <a:xfrm>
                <a:off x="1013579" y="1367211"/>
                <a:ext cx="9959221" cy="3938386"/>
              </a:xfrm>
              <a:prstGeom prst="rect">
                <a:avLst/>
              </a:prstGeom>
              <a:blipFill>
                <a:blip r:embed="rId2"/>
                <a:stretch>
                  <a:fillRect l="-490" b="-1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4089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04A4E4C-F26A-4A35-88AF-956C21E7D748}"/>
              </a:ext>
            </a:extLst>
          </p:cNvPr>
          <p:cNvSpPr txBox="1">
            <a:spLocks noChangeArrowheads="1"/>
          </p:cNvSpPr>
          <p:nvPr/>
        </p:nvSpPr>
        <p:spPr>
          <a:xfrm>
            <a:off x="1088994" y="601525"/>
            <a:ext cx="8991600" cy="563563"/>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rPr>
              <a:t>Hash</a:t>
            </a:r>
            <a:r>
              <a:rPr kumimoji="0" lang="zh-CN" altLang="en-US"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rPr>
              <a:t>方法</a:t>
            </a:r>
            <a:endParaRPr kumimoji="0" lang="en-US" altLang="zh-CN" sz="28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j-cs"/>
            </a:endParaRP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D6B0711-2D3A-4106-A025-F4A93011B4B3}"/>
                  </a:ext>
                </a:extLst>
              </p:cNvPr>
              <p:cNvSpPr txBox="1"/>
              <p:nvPr/>
            </p:nvSpPr>
            <p:spPr>
              <a:xfrm>
                <a:off x="1013579" y="1401940"/>
                <a:ext cx="9968647" cy="3477940"/>
              </a:xfrm>
              <a:prstGeom prst="rect">
                <a:avLst/>
              </a:prstGeom>
              <a:noFill/>
            </p:spPr>
            <p:txBody>
              <a:bodyPr wrap="square">
                <a:spAutoFit/>
              </a:bodyPr>
              <a:lstStyle/>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若已知一个</a:t>
                </a:r>
                <a:r>
                  <a:rPr kumimoji="1" lang="en-US" altLang="zh-CN" dirty="0">
                    <a:solidFill>
                      <a:srgbClr val="514843"/>
                    </a:solidFill>
                    <a:latin typeface="微软雅黑" panose="020B0503020204020204" pitchFamily="34" charset="-122"/>
                    <a:ea typeface="微软雅黑" panose="020B0503020204020204" pitchFamily="34" charset="-122"/>
                  </a:rPr>
                  <a:t>|S|= n</a:t>
                </a:r>
                <a:r>
                  <a:rPr kumimoji="1" lang="zh-CN" altLang="en-US" dirty="0">
                    <a:solidFill>
                      <a:srgbClr val="514843"/>
                    </a:solidFill>
                    <a:latin typeface="微软雅黑" panose="020B0503020204020204" pitchFamily="34" charset="-122"/>
                    <a:ea typeface="微软雅黑" panose="020B0503020204020204" pitchFamily="34" charset="-122"/>
                  </a:rPr>
                  <a:t>的字符串的</a:t>
                </a:r>
                <a:r>
                  <a:rPr kumimoji="1" lang="en-US" altLang="zh-CN" dirty="0">
                    <a:solidFill>
                      <a:srgbClr val="514843"/>
                    </a:solidFill>
                    <a:latin typeface="微软雅黑" panose="020B0503020204020204" pitchFamily="34" charset="-122"/>
                    <a:ea typeface="微软雅黑" panose="020B0503020204020204" pitchFamily="34" charset="-122"/>
                  </a:rPr>
                  <a:t>hash</a:t>
                </a:r>
                <a:r>
                  <a:rPr kumimoji="1" lang="zh-CN" altLang="en-US" dirty="0">
                    <a:solidFill>
                      <a:srgbClr val="514843"/>
                    </a:solidFill>
                    <a:latin typeface="微软雅黑" panose="020B0503020204020204" pitchFamily="34" charset="-122"/>
                    <a:ea typeface="微软雅黑" panose="020B0503020204020204" pitchFamily="34" charset="-122"/>
                  </a:rPr>
                  <a:t>值，</a:t>
                </a:r>
                <a:r>
                  <a:rPr kumimoji="1" lang="en-US" altLang="zh-CN" dirty="0">
                    <a:solidFill>
                      <a:srgbClr val="514843"/>
                    </a:solidFill>
                    <a:latin typeface="微软雅黑" panose="020B0503020204020204" pitchFamily="34" charset="-122"/>
                    <a:ea typeface="微软雅黑" panose="020B0503020204020204" pitchFamily="34" charset="-122"/>
                  </a:rPr>
                  <a:t>hash[</a:t>
                </a:r>
                <a:r>
                  <a:rPr kumimoji="1" lang="en-US" altLang="zh-CN" dirty="0" err="1">
                    <a:solidFill>
                      <a:srgbClr val="514843"/>
                    </a:solidFill>
                    <a:latin typeface="微软雅黑" panose="020B0503020204020204" pitchFamily="34" charset="-122"/>
                    <a:ea typeface="微软雅黑" panose="020B0503020204020204" pitchFamily="34" charset="-122"/>
                  </a:rPr>
                  <a:t>i</a:t>
                </a:r>
                <a:r>
                  <a:rPr kumimoji="1" lang="en-US" altLang="zh-CN" dirty="0">
                    <a:solidFill>
                      <a:srgbClr val="514843"/>
                    </a:solidFill>
                    <a:latin typeface="微软雅黑" panose="020B0503020204020204" pitchFamily="34" charset="-122"/>
                    <a:ea typeface="微软雅黑" panose="020B0503020204020204" pitchFamily="34" charset="-122"/>
                  </a:rPr>
                  <a:t>],1≤i≤n</a:t>
                </a:r>
                <a:r>
                  <a:rPr kumimoji="1" lang="zh-CN" altLang="en-US" dirty="0">
                    <a:solidFill>
                      <a:srgbClr val="514843"/>
                    </a:solidFill>
                    <a:latin typeface="微软雅黑" panose="020B0503020204020204" pitchFamily="34" charset="-122"/>
                    <a:ea typeface="微软雅黑" panose="020B0503020204020204" pitchFamily="34" charset="-122"/>
                  </a:rPr>
                  <a:t>，其子串</a:t>
                </a:r>
                <a14:m>
                  <m:oMath xmlns:m="http://schemas.openxmlformats.org/officeDocument/2006/math">
                    <m:sSub>
                      <m:sSubPr>
                        <m:ctrlPr>
                          <a:rPr kumimoji="1" lang="en-US" altLang="zh-CN" i="1" dirty="0" smtClean="0">
                            <a:solidFill>
                              <a:srgbClr val="514843"/>
                            </a:solidFill>
                            <a:latin typeface="Cambria Math" panose="02040503050406030204" pitchFamily="18" charset="0"/>
                            <a:ea typeface="微软雅黑" panose="020B0503020204020204" pitchFamily="34" charset="-122"/>
                          </a:rPr>
                        </m:ctrlPr>
                      </m:sSubPr>
                      <m:e>
                        <m:r>
                          <a:rPr kumimoji="1" lang="en-US" altLang="zh-CN" b="0" i="1" dirty="0" smtClean="0">
                            <a:solidFill>
                              <a:srgbClr val="514843"/>
                            </a:solidFill>
                            <a:latin typeface="Cambria Math" panose="02040503050406030204" pitchFamily="18" charset="0"/>
                            <a:ea typeface="微软雅黑" panose="020B0503020204020204" pitchFamily="34" charset="-122"/>
                          </a:rPr>
                          <m:t>𝑆</m:t>
                        </m:r>
                      </m:e>
                      <m:sub>
                        <m:r>
                          <a:rPr kumimoji="1" lang="en-US" altLang="zh-CN" b="0" i="1" dirty="0" smtClean="0">
                            <a:solidFill>
                              <a:srgbClr val="514843"/>
                            </a:solidFill>
                            <a:latin typeface="Cambria Math" panose="02040503050406030204" pitchFamily="18" charset="0"/>
                            <a:ea typeface="微软雅黑" panose="020B0503020204020204" pitchFamily="34" charset="-122"/>
                          </a:rPr>
                          <m:t>𝑙</m:t>
                        </m:r>
                      </m:sub>
                    </m:sSub>
                    <m:sSub>
                      <m:sSubPr>
                        <m:ctrlPr>
                          <a:rPr kumimoji="1" lang="en-US" altLang="zh-CN" i="1" dirty="0">
                            <a:solidFill>
                              <a:srgbClr val="514843"/>
                            </a:solidFill>
                            <a:latin typeface="Cambria Math" panose="02040503050406030204" pitchFamily="18" charset="0"/>
                            <a:ea typeface="微软雅黑" panose="020B0503020204020204" pitchFamily="34" charset="-122"/>
                          </a:rPr>
                        </m:ctrlPr>
                      </m:sSubPr>
                      <m:e>
                        <m:r>
                          <a:rPr kumimoji="1" lang="en-US" altLang="zh-CN" b="0" i="1" dirty="0" smtClean="0">
                            <a:solidFill>
                              <a:srgbClr val="514843"/>
                            </a:solidFill>
                            <a:latin typeface="Cambria Math" panose="02040503050406030204" pitchFamily="18" charset="0"/>
                            <a:ea typeface="微软雅黑" panose="020B0503020204020204" pitchFamily="34" charset="-122"/>
                          </a:rPr>
                          <m:t>..</m:t>
                        </m:r>
                        <m:r>
                          <a:rPr kumimoji="1" lang="en-US" altLang="zh-CN" i="1" dirty="0">
                            <a:solidFill>
                              <a:srgbClr val="514843"/>
                            </a:solidFill>
                            <a:latin typeface="Cambria Math" panose="02040503050406030204" pitchFamily="18" charset="0"/>
                            <a:ea typeface="微软雅黑" panose="020B0503020204020204" pitchFamily="34" charset="-122"/>
                          </a:rPr>
                          <m:t>𝑆</m:t>
                        </m:r>
                      </m:e>
                      <m:sub>
                        <m:r>
                          <a:rPr kumimoji="1" lang="en-US" altLang="zh-CN" b="0" i="1" dirty="0" smtClean="0">
                            <a:solidFill>
                              <a:srgbClr val="514843"/>
                            </a:solidFill>
                            <a:latin typeface="Cambria Math" panose="02040503050406030204" pitchFamily="18" charset="0"/>
                            <a:ea typeface="微软雅黑" panose="020B0503020204020204" pitchFamily="34" charset="-122"/>
                          </a:rPr>
                          <m:t>𝑟</m:t>
                        </m:r>
                      </m:sub>
                    </m:sSub>
                    <m:r>
                      <a:rPr kumimoji="1" lang="zh-CN" altLang="en-US" i="1" dirty="0" smtClean="0">
                        <a:solidFill>
                          <a:srgbClr val="514843"/>
                        </a:solidFill>
                        <a:latin typeface="Cambria Math" panose="02040503050406030204" pitchFamily="18" charset="0"/>
                        <a:ea typeface="微软雅黑" panose="020B0503020204020204" pitchFamily="34" charset="-122"/>
                      </a:rPr>
                      <m:t>（</m:t>
                    </m:r>
                    <m:r>
                      <m:rPr>
                        <m:nor/>
                      </m:rPr>
                      <a:rPr kumimoji="1" lang="en-US" altLang="zh-CN" dirty="0">
                        <a:solidFill>
                          <a:srgbClr val="514843"/>
                        </a:solidFill>
                        <a:latin typeface="微软雅黑" panose="020B0503020204020204" pitchFamily="34" charset="-122"/>
                        <a:ea typeface="微软雅黑" panose="020B0503020204020204" pitchFamily="34" charset="-122"/>
                      </a:rPr>
                      <m:t>1 ≤</m:t>
                    </m:r>
                    <m:r>
                      <m:rPr>
                        <m:nor/>
                      </m:rPr>
                      <a:rPr kumimoji="1" lang="en-US" altLang="zh-CN" dirty="0">
                        <a:solidFill>
                          <a:srgbClr val="514843"/>
                        </a:solidFill>
                        <a:latin typeface="微软雅黑" panose="020B0503020204020204" pitchFamily="34" charset="-122"/>
                        <a:ea typeface="微软雅黑" panose="020B0503020204020204" pitchFamily="34" charset="-122"/>
                      </a:rPr>
                      <m:t>l</m:t>
                    </m:r>
                    <m:r>
                      <m:rPr>
                        <m:nor/>
                      </m:rPr>
                      <a:rPr kumimoji="1" lang="en-US" altLang="zh-CN" dirty="0">
                        <a:solidFill>
                          <a:srgbClr val="514843"/>
                        </a:solidFill>
                        <a:latin typeface="微软雅黑" panose="020B0503020204020204" pitchFamily="34" charset="-122"/>
                        <a:ea typeface="微软雅黑" panose="020B0503020204020204" pitchFamily="34" charset="-122"/>
                      </a:rPr>
                      <m:t>&lt;</m:t>
                    </m:r>
                    <m:r>
                      <m:rPr>
                        <m:nor/>
                      </m:rPr>
                      <a:rPr kumimoji="1" lang="en-US" altLang="zh-CN" dirty="0">
                        <a:solidFill>
                          <a:srgbClr val="514843"/>
                        </a:solidFill>
                        <a:latin typeface="微软雅黑" panose="020B0503020204020204" pitchFamily="34" charset="-122"/>
                        <a:ea typeface="微软雅黑" panose="020B0503020204020204" pitchFamily="34" charset="-122"/>
                      </a:rPr>
                      <m:t>r</m:t>
                    </m:r>
                    <m:r>
                      <m:rPr>
                        <m:nor/>
                      </m:rPr>
                      <a:rPr kumimoji="1" lang="en-US" altLang="zh-CN" dirty="0">
                        <a:solidFill>
                          <a:srgbClr val="514843"/>
                        </a:solidFill>
                        <a:latin typeface="微软雅黑" panose="020B0503020204020204" pitchFamily="34" charset="-122"/>
                        <a:ea typeface="微软雅黑" panose="020B0503020204020204" pitchFamily="34" charset="-122"/>
                      </a:rPr>
                      <m:t> ≤</m:t>
                    </m:r>
                    <m:r>
                      <m:rPr>
                        <m:nor/>
                      </m:rPr>
                      <a:rPr kumimoji="1" lang="en-US" altLang="zh-CN" dirty="0">
                        <a:solidFill>
                          <a:srgbClr val="514843"/>
                        </a:solidFill>
                        <a:latin typeface="微软雅黑" panose="020B0503020204020204" pitchFamily="34" charset="-122"/>
                        <a:ea typeface="微软雅黑" panose="020B0503020204020204" pitchFamily="34" charset="-122"/>
                      </a:rPr>
                      <m:t>n</m:t>
                    </m:r>
                    <m:r>
                      <a:rPr kumimoji="1" lang="zh-CN" altLang="en-US" i="1" dirty="0" smtClean="0">
                        <a:solidFill>
                          <a:srgbClr val="514843"/>
                        </a:solidFill>
                        <a:latin typeface="Cambria Math" panose="02040503050406030204" pitchFamily="18" charset="0"/>
                        <a:ea typeface="微软雅黑" panose="020B0503020204020204" pitchFamily="34" charset="-122"/>
                      </a:rPr>
                      <m:t>）</m:t>
                    </m:r>
                  </m:oMath>
                </a14:m>
                <a:r>
                  <a:rPr kumimoji="1" lang="zh-CN" altLang="en-US" dirty="0">
                    <a:solidFill>
                      <a:srgbClr val="514843"/>
                    </a:solidFill>
                    <a:latin typeface="微软雅黑" panose="020B0503020204020204" pitchFamily="34" charset="-122"/>
                    <a:ea typeface="微软雅黑" panose="020B0503020204020204" pitchFamily="34" charset="-122"/>
                  </a:rPr>
                  <a:t>对应的</a:t>
                </a:r>
                <a:r>
                  <a:rPr kumimoji="1" lang="en-US" altLang="zh-CN" dirty="0">
                    <a:solidFill>
                      <a:srgbClr val="514843"/>
                    </a:solidFill>
                    <a:latin typeface="微软雅黑" panose="020B0503020204020204" pitchFamily="34" charset="-122"/>
                    <a:ea typeface="微软雅黑" panose="020B0503020204020204" pitchFamily="34" charset="-122"/>
                  </a:rPr>
                  <a:t>hash</a:t>
                </a:r>
                <a:r>
                  <a:rPr kumimoji="1" lang="zh-CN" altLang="en-US" dirty="0">
                    <a:solidFill>
                      <a:srgbClr val="514843"/>
                    </a:solidFill>
                    <a:latin typeface="微软雅黑" panose="020B0503020204020204" pitchFamily="34" charset="-122"/>
                    <a:ea typeface="微软雅黑" panose="020B0503020204020204" pitchFamily="34" charset="-122"/>
                  </a:rPr>
                  <a:t>值为</a:t>
                </a:r>
                <a:r>
                  <a:rPr kumimoji="1" lang="en-US" altLang="zh-CN" dirty="0">
                    <a:solidFill>
                      <a:srgbClr val="514843"/>
                    </a:solidFill>
                    <a:latin typeface="微软雅黑" panose="020B0503020204020204" pitchFamily="34" charset="-122"/>
                    <a:ea typeface="微软雅黑" panose="020B0503020204020204" pitchFamily="34" charset="-122"/>
                  </a:rPr>
                  <a:t>:</a:t>
                </a:r>
              </a:p>
              <a:p>
                <a:pPr algn="ctr">
                  <a:lnSpc>
                    <a:spcPct val="200000"/>
                  </a:lnSpc>
                </a:pPr>
                <a14:m>
                  <m:oMath xmlns:m="http://schemas.openxmlformats.org/officeDocument/2006/math">
                    <m:r>
                      <m:rPr>
                        <m:sty m:val="p"/>
                      </m:rPr>
                      <a:rPr kumimoji="1" lang="en-US" altLang="zh-CN" sz="2000" i="1" dirty="0">
                        <a:solidFill>
                          <a:srgbClr val="514843"/>
                        </a:solidFill>
                        <a:latin typeface="Cambria Math" panose="02040503050406030204" pitchFamily="18" charset="0"/>
                        <a:ea typeface="微软雅黑" panose="020B0503020204020204" pitchFamily="34" charset="-122"/>
                      </a:rPr>
                      <m:t>hash</m:t>
                    </m:r>
                  </m:oMath>
                </a14:m>
                <a:r>
                  <a:rPr kumimoji="1" lang="en-US" altLang="zh-CN" sz="2000" dirty="0">
                    <a:solidFill>
                      <a:srgbClr val="514843"/>
                    </a:solidFill>
                    <a:latin typeface="微软雅黑" panose="020B0503020204020204" pitchFamily="34" charset="-122"/>
                    <a:ea typeface="微软雅黑" panose="020B0503020204020204" pitchFamily="34" charset="-122"/>
                  </a:rPr>
                  <a:t>=</a:t>
                </a:r>
                <a:r>
                  <a:rPr kumimoji="1" lang="en-US" altLang="zh-CN" sz="2000" dirty="0">
                    <a:solidFill>
                      <a:srgbClr val="514843"/>
                    </a:solidFill>
                    <a:ea typeface="微软雅黑" panose="020B0503020204020204" pitchFamily="34" charset="-122"/>
                  </a:rPr>
                  <a:t> (</a:t>
                </a:r>
                <a14:m>
                  <m:oMath xmlns:m="http://schemas.openxmlformats.org/officeDocument/2006/math">
                    <m:r>
                      <a:rPr kumimoji="1" lang="en-US" altLang="zh-CN" sz="2000" i="1">
                        <a:solidFill>
                          <a:srgbClr val="514843"/>
                        </a:solidFill>
                        <a:latin typeface="Cambria Math" panose="02040503050406030204" pitchFamily="18" charset="0"/>
                        <a:ea typeface="微软雅黑" panose="020B0503020204020204" pitchFamily="34" charset="-122"/>
                      </a:rPr>
                      <m:t>h𝑎𝑠h</m:t>
                    </m:r>
                    <m:d>
                      <m:dPr>
                        <m:begChr m:val="["/>
                        <m:endChr m:val="]"/>
                        <m:ctrlPr>
                          <a:rPr kumimoji="1" lang="en-US" altLang="zh-CN" sz="2000" i="1">
                            <a:solidFill>
                              <a:srgbClr val="514843"/>
                            </a:solidFill>
                            <a:latin typeface="Cambria Math" panose="02040503050406030204" pitchFamily="18" charset="0"/>
                            <a:ea typeface="微软雅黑" panose="020B0503020204020204" pitchFamily="34" charset="-122"/>
                          </a:rPr>
                        </m:ctrlPr>
                      </m:dPr>
                      <m:e>
                        <m:r>
                          <a:rPr kumimoji="1" lang="en-US" altLang="zh-CN" sz="2000" b="0" i="1" smtClean="0">
                            <a:solidFill>
                              <a:srgbClr val="514843"/>
                            </a:solidFill>
                            <a:latin typeface="Cambria Math" panose="02040503050406030204" pitchFamily="18" charset="0"/>
                            <a:ea typeface="微软雅黑" panose="020B0503020204020204" pitchFamily="34" charset="-122"/>
                          </a:rPr>
                          <m:t>𝑟</m:t>
                        </m:r>
                      </m:e>
                    </m:d>
                    <m:r>
                      <a:rPr kumimoji="1" lang="en-US" altLang="zh-CN" sz="2000" i="1">
                        <a:solidFill>
                          <a:srgbClr val="514843"/>
                        </a:solidFill>
                        <a:latin typeface="Cambria Math" panose="02040503050406030204" pitchFamily="18" charset="0"/>
                        <a:ea typeface="微软雅黑" panose="020B0503020204020204" pitchFamily="34" charset="-122"/>
                      </a:rPr>
                      <m:t> </m:t>
                    </m:r>
                  </m:oMath>
                </a14:m>
                <a:r>
                  <a:rPr kumimoji="1" lang="en-US" altLang="zh-CN" sz="2000" dirty="0">
                    <a:solidFill>
                      <a:srgbClr val="514843"/>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000" b="0" i="1" smtClean="0">
                        <a:solidFill>
                          <a:srgbClr val="514843"/>
                        </a:solidFill>
                        <a:latin typeface="Cambria Math" panose="02040503050406030204" pitchFamily="18" charset="0"/>
                        <a:ea typeface="微软雅黑" panose="020B0503020204020204" pitchFamily="34" charset="-122"/>
                      </a:rPr>
                      <m:t>h𝑎𝑠h</m:t>
                    </m:r>
                    <m:d>
                      <m:dPr>
                        <m:begChr m:val="["/>
                        <m:endChr m:val="]"/>
                        <m:ctrlPr>
                          <a:rPr kumimoji="1" lang="en-US" altLang="zh-CN" sz="2000" b="0" i="1" smtClean="0">
                            <a:solidFill>
                              <a:srgbClr val="514843"/>
                            </a:solidFill>
                            <a:latin typeface="Cambria Math" panose="02040503050406030204" pitchFamily="18" charset="0"/>
                            <a:ea typeface="微软雅黑" panose="020B0503020204020204" pitchFamily="34" charset="-122"/>
                          </a:rPr>
                        </m:ctrlPr>
                      </m:dPr>
                      <m:e>
                        <m:r>
                          <a:rPr kumimoji="1" lang="en-US" altLang="zh-CN" sz="2000" b="0" i="1" smtClean="0">
                            <a:solidFill>
                              <a:srgbClr val="514843"/>
                            </a:solidFill>
                            <a:latin typeface="Cambria Math" panose="02040503050406030204" pitchFamily="18" charset="0"/>
                            <a:ea typeface="微软雅黑" panose="020B0503020204020204" pitchFamily="34" charset="-122"/>
                          </a:rPr>
                          <m:t>𝑙</m:t>
                        </m:r>
                        <m:r>
                          <a:rPr kumimoji="1" lang="en-US" altLang="zh-CN" sz="2000" b="0" i="1" smtClean="0">
                            <a:solidFill>
                              <a:srgbClr val="514843"/>
                            </a:solidFill>
                            <a:latin typeface="Cambria Math" panose="02040503050406030204" pitchFamily="18" charset="0"/>
                            <a:ea typeface="微软雅黑" panose="020B0503020204020204" pitchFamily="34" charset="-122"/>
                          </a:rPr>
                          <m:t>−1</m:t>
                        </m:r>
                      </m:e>
                    </m:d>
                    <m:r>
                      <a:rPr kumimoji="1" lang="en-US" altLang="zh-CN" sz="2000" b="0" i="1" smtClean="0">
                        <a:solidFill>
                          <a:srgbClr val="514843"/>
                        </a:solidFill>
                        <a:latin typeface="Cambria Math" panose="02040503050406030204" pitchFamily="18" charset="0"/>
                        <a:ea typeface="微软雅黑" panose="020B0503020204020204" pitchFamily="34" charset="-122"/>
                      </a:rPr>
                      <m:t>∗</m:t>
                    </m:r>
                    <m:sSup>
                      <m:sSupPr>
                        <m:ctrlPr>
                          <a:rPr kumimoji="1" lang="en-US" altLang="zh-CN" sz="2000" b="0" i="1" smtClean="0">
                            <a:solidFill>
                              <a:srgbClr val="514843"/>
                            </a:solidFill>
                            <a:latin typeface="Cambria Math" panose="02040503050406030204" pitchFamily="18" charset="0"/>
                            <a:ea typeface="微软雅黑" panose="020B0503020204020204" pitchFamily="34" charset="-122"/>
                          </a:rPr>
                        </m:ctrlPr>
                      </m:sSupPr>
                      <m:e>
                        <m:r>
                          <a:rPr kumimoji="1" lang="en-US" altLang="zh-CN" sz="2000" b="0" i="1" smtClean="0">
                            <a:solidFill>
                              <a:srgbClr val="514843"/>
                            </a:solidFill>
                            <a:latin typeface="Cambria Math" panose="02040503050406030204" pitchFamily="18" charset="0"/>
                            <a:ea typeface="微软雅黑" panose="020B0503020204020204" pitchFamily="34" charset="-122"/>
                          </a:rPr>
                          <m:t>𝑝</m:t>
                        </m:r>
                      </m:e>
                      <m:sup>
                        <m:r>
                          <a:rPr kumimoji="1" lang="en-US" altLang="zh-CN" sz="2000" b="0" i="1" smtClean="0">
                            <a:solidFill>
                              <a:srgbClr val="514843"/>
                            </a:solidFill>
                            <a:latin typeface="Cambria Math" panose="02040503050406030204" pitchFamily="18" charset="0"/>
                            <a:ea typeface="微软雅黑" panose="020B0503020204020204" pitchFamily="34" charset="-122"/>
                          </a:rPr>
                          <m:t>𝑟</m:t>
                        </m:r>
                        <m:r>
                          <a:rPr kumimoji="1" lang="en-US" altLang="zh-CN" sz="2000" b="0" i="1" smtClean="0">
                            <a:solidFill>
                              <a:srgbClr val="514843"/>
                            </a:solidFill>
                            <a:latin typeface="Cambria Math" panose="02040503050406030204" pitchFamily="18" charset="0"/>
                            <a:ea typeface="微软雅黑" panose="020B0503020204020204" pitchFamily="34" charset="-122"/>
                          </a:rPr>
                          <m:t>−</m:t>
                        </m:r>
                        <m:r>
                          <a:rPr kumimoji="1" lang="en-US" altLang="zh-CN" sz="2000" b="0" i="1" smtClean="0">
                            <a:solidFill>
                              <a:srgbClr val="514843"/>
                            </a:solidFill>
                            <a:latin typeface="Cambria Math" panose="02040503050406030204" pitchFamily="18" charset="0"/>
                            <a:ea typeface="微软雅黑" panose="020B0503020204020204" pitchFamily="34" charset="-122"/>
                          </a:rPr>
                          <m:t>𝑙</m:t>
                        </m:r>
                        <m:r>
                          <a:rPr kumimoji="1" lang="en-US" altLang="zh-CN" sz="2000" b="0" i="1" smtClean="0">
                            <a:solidFill>
                              <a:srgbClr val="514843"/>
                            </a:solidFill>
                            <a:latin typeface="Cambria Math" panose="02040503050406030204" pitchFamily="18" charset="0"/>
                            <a:ea typeface="微软雅黑" panose="020B0503020204020204" pitchFamily="34" charset="-122"/>
                          </a:rPr>
                          <m:t>+1</m:t>
                        </m:r>
                      </m:sup>
                    </m:sSup>
                  </m:oMath>
                </a14:m>
                <a:r>
                  <a:rPr kumimoji="1" lang="en-US" altLang="zh-CN" sz="2000" dirty="0">
                    <a:solidFill>
                      <a:srgbClr val="514843"/>
                    </a:solidFill>
                    <a:latin typeface="微软雅黑" panose="020B0503020204020204" pitchFamily="34" charset="-122"/>
                    <a:ea typeface="微软雅黑" panose="020B0503020204020204" pitchFamily="34" charset="-122"/>
                  </a:rPr>
                  <a:t>)%MOD</a:t>
                </a:r>
              </a:p>
              <a:p>
                <a:pPr>
                  <a:lnSpc>
                    <a:spcPct val="200000"/>
                  </a:lnSpc>
                </a:pPr>
                <a:r>
                  <a:rPr kumimoji="1" lang="zh-CN" altLang="en-US" dirty="0">
                    <a:solidFill>
                      <a:srgbClr val="514843"/>
                    </a:solidFill>
                    <a:latin typeface="微软雅黑" panose="020B0503020204020204" pitchFamily="34" charset="-122"/>
                    <a:ea typeface="微软雅黑" panose="020B0503020204020204" pitchFamily="34" charset="-122"/>
                  </a:rPr>
                  <a:t>注意到括号里面是减法，即有可能是负数，故做如下修正</a:t>
                </a:r>
                <a:r>
                  <a:rPr kumimoji="1" lang="en-US" altLang="zh-CN" dirty="0">
                    <a:solidFill>
                      <a:srgbClr val="514843"/>
                    </a:solidFill>
                    <a:latin typeface="微软雅黑" panose="020B0503020204020204" pitchFamily="34" charset="-122"/>
                    <a:ea typeface="微软雅黑" panose="020B0503020204020204" pitchFamily="34" charset="-122"/>
                  </a:rPr>
                  <a:t>:</a:t>
                </a:r>
              </a:p>
              <a:p>
                <a:pPr marL="0" marR="0" lvl="0" indent="0" algn="ctr" defTabSz="914400" rtl="0" eaLnBrk="1" fontAlgn="auto" latinLnBrk="0" hangingPunct="1">
                  <a:lnSpc>
                    <a:spcPct val="200000"/>
                  </a:lnSpc>
                  <a:spcBef>
                    <a:spcPts val="0"/>
                  </a:spcBef>
                  <a:spcAft>
                    <a:spcPts val="0"/>
                  </a:spcAft>
                  <a:buClrTx/>
                  <a:buSzTx/>
                  <a:buFontTx/>
                  <a:buNone/>
                  <a:tabLst/>
                  <a:defRPr/>
                </a:pPr>
                <a14:m>
                  <m:oMath xmlns:m="http://schemas.openxmlformats.org/officeDocument/2006/math">
                    <m:r>
                      <m:rPr>
                        <m:sty m:val="p"/>
                      </m:rPr>
                      <a:rPr kumimoji="1" lang="en-US" altLang="zh-CN" sz="2000" b="0" i="1" u="none" strike="noStrike" kern="1200" cap="none" spc="0" normalizeH="0" baseline="0" noProof="0" dirty="0" smtClean="0">
                        <a:ln>
                          <a:noFill/>
                        </a:ln>
                        <a:solidFill>
                          <a:srgbClr val="514843"/>
                        </a:solidFill>
                        <a:effectLst/>
                        <a:uLnTx/>
                        <a:uFillTx/>
                        <a:latin typeface="Cambria Math" panose="02040503050406030204" pitchFamily="18" charset="0"/>
                        <a:ea typeface="微软雅黑" panose="020B0503020204020204" pitchFamily="34" charset="-122"/>
                        <a:cs typeface="+mn-cs"/>
                      </a:rPr>
                      <m:t>hash</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r>
                  <a:rPr kumimoji="1" lang="en-US" altLang="zh-CN" sz="2000" b="0" i="0" u="none" strike="noStrike" kern="1200" cap="none" spc="0" normalizeH="0" baseline="0" noProof="0" dirty="0">
                    <a:ln>
                      <a:noFill/>
                    </a:ln>
                    <a:solidFill>
                      <a:srgbClr val="514843"/>
                    </a:solidFill>
                    <a:effectLst/>
                    <a:uLnTx/>
                    <a:uFillTx/>
                    <a:latin typeface="Euphemia"/>
                    <a:ea typeface="微软雅黑" panose="020B0503020204020204" pitchFamily="34" charset="-122"/>
                    <a:cs typeface="+mn-cs"/>
                  </a:rPr>
                  <a:t> ((</a:t>
                </a:r>
                <a14:m>
                  <m:oMath xmlns:m="http://schemas.openxmlformats.org/officeDocument/2006/math">
                    <m:r>
                      <a:rPr kumimoji="1" lang="en-US" altLang="zh-CN" sz="2000" b="0" i="1" u="none" strike="noStrike" kern="1200" cap="none" spc="0" normalizeH="0" baseline="0" noProof="0">
                        <a:ln>
                          <a:noFill/>
                        </a:ln>
                        <a:solidFill>
                          <a:srgbClr val="514843"/>
                        </a:solidFill>
                        <a:effectLst/>
                        <a:uLnTx/>
                        <a:uFillTx/>
                        <a:latin typeface="Cambria Math" panose="02040503050406030204" pitchFamily="18" charset="0"/>
                        <a:ea typeface="微软雅黑" panose="020B0503020204020204" pitchFamily="34" charset="-122"/>
                        <a:cs typeface="+mn-cs"/>
                      </a:rPr>
                      <m:t>h𝑎𝑠h</m:t>
                    </m:r>
                    <m:d>
                      <m:dPr>
                        <m:begChr m:val="["/>
                        <m:endChr m:val="]"/>
                        <m:ctrlPr>
                          <a:rPr kumimoji="1" lang="en-US" altLang="zh-CN" sz="2000" b="0" i="1" u="none" strike="noStrike" kern="1200" cap="none" spc="0" normalizeH="0" baseline="0" noProof="0">
                            <a:ln>
                              <a:noFill/>
                            </a:ln>
                            <a:solidFill>
                              <a:srgbClr val="514843"/>
                            </a:solidFill>
                            <a:effectLst/>
                            <a:uLnTx/>
                            <a:uFillTx/>
                            <a:latin typeface="Cambria Math" panose="02040503050406030204" pitchFamily="18" charset="0"/>
                            <a:ea typeface="微软雅黑" panose="020B0503020204020204" pitchFamily="34" charset="-122"/>
                            <a:cs typeface="+mn-cs"/>
                          </a:rPr>
                        </m:ctrlPr>
                      </m:dPr>
                      <m:e>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𝑟</m:t>
                        </m:r>
                      </m:e>
                    </m:d>
                    <m:r>
                      <a:rPr kumimoji="1" lang="en-US" altLang="zh-CN" sz="2000" b="0" i="1" u="none" strike="noStrike" kern="1200" cap="none" spc="0" normalizeH="0" baseline="0" noProof="0">
                        <a:ln>
                          <a:noFill/>
                        </a:ln>
                        <a:solidFill>
                          <a:srgbClr val="514843"/>
                        </a:solidFill>
                        <a:effectLst/>
                        <a:uLnTx/>
                        <a:uFillTx/>
                        <a:latin typeface="Cambria Math" panose="02040503050406030204" pitchFamily="18" charset="0"/>
                        <a:ea typeface="微软雅黑" panose="020B0503020204020204" pitchFamily="34" charset="-122"/>
                        <a:cs typeface="+mn-cs"/>
                      </a:rPr>
                      <m:t> </m:t>
                    </m:r>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h𝑎𝑠h</m:t>
                    </m:r>
                    <m:d>
                      <m:dPr>
                        <m:begChr m:val="["/>
                        <m:endChr m:val="]"/>
                        <m:ctrlP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dPr>
                      <m:e>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𝑙</m:t>
                        </m:r>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−1</m:t>
                        </m:r>
                      </m:e>
                    </m:d>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m:t>
                    </m:r>
                    <m:sSup>
                      <m:sSupPr>
                        <m:ctrlP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ctrlPr>
                      </m:sSupPr>
                      <m:e>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𝑝</m:t>
                        </m:r>
                      </m:e>
                      <m:sup>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𝑟</m:t>
                        </m:r>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m:t>
                        </m:r>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𝑙</m:t>
                        </m:r>
                        <m:r>
                          <a:rPr kumimoji="1" lang="en-US" altLang="zh-CN" sz="2000" b="0" i="1" u="none" strike="noStrike" kern="1200" cap="none" spc="0" normalizeH="0" baseline="0" noProof="0" smtClean="0">
                            <a:ln>
                              <a:noFill/>
                            </a:ln>
                            <a:solidFill>
                              <a:srgbClr val="514843"/>
                            </a:solidFill>
                            <a:effectLst/>
                            <a:uLnTx/>
                            <a:uFillTx/>
                            <a:latin typeface="Cambria Math" panose="02040503050406030204" pitchFamily="18" charset="0"/>
                            <a:ea typeface="微软雅黑" panose="020B0503020204020204" pitchFamily="34" charset="-122"/>
                            <a:cs typeface="+mn-cs"/>
                          </a:rPr>
                          <m:t>+1</m:t>
                        </m:r>
                      </m:sup>
                    </m:sSup>
                  </m:oMath>
                </a14:m>
                <a:r>
                  <a:rPr kumimoji="1" lang="en-US" altLang="zh-CN" sz="20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rPr>
                  <a:t>)%MOD+MOD)%MOD</a:t>
                </a:r>
              </a:p>
              <a:p>
                <a:pPr>
                  <a:lnSpc>
                    <a:spcPct val="200000"/>
                  </a:lnSpc>
                </a:pPr>
                <a:endParaRPr kumimoji="1" lang="en-US" altLang="zh-CN" dirty="0">
                  <a:solidFill>
                    <a:srgbClr val="514843"/>
                  </a:solidFill>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5D6B0711-2D3A-4106-A025-F4A93011B4B3}"/>
                  </a:ext>
                </a:extLst>
              </p:cNvPr>
              <p:cNvSpPr txBox="1">
                <a:spLocks noRot="1" noChangeAspect="1" noMove="1" noResize="1" noEditPoints="1" noAdjustHandles="1" noChangeArrowheads="1" noChangeShapeType="1" noTextEdit="1"/>
              </p:cNvSpPr>
              <p:nvPr/>
            </p:nvSpPr>
            <p:spPr>
              <a:xfrm>
                <a:off x="1013579" y="1401940"/>
                <a:ext cx="9968647" cy="3477940"/>
              </a:xfrm>
              <a:prstGeom prst="rect">
                <a:avLst/>
              </a:prstGeom>
              <a:blipFill>
                <a:blip r:embed="rId2"/>
                <a:stretch>
                  <a:fillRect l="-4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8757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字符串</a:t>
            </a:r>
            <a:r>
              <a:rPr lang="en-US" altLang="zh-CN" dirty="0"/>
              <a:t>Hash</a:t>
            </a:r>
            <a:endParaRPr lang="zh-CN" altLang="en-US" dirty="0"/>
          </a:p>
        </p:txBody>
      </p:sp>
      <p:sp>
        <p:nvSpPr>
          <p:cNvPr id="5" name="矩形 4">
            <a:extLst>
              <a:ext uri="{FF2B5EF4-FFF2-40B4-BE49-F238E27FC236}">
                <a16:creationId xmlns:a16="http://schemas.microsoft.com/office/drawing/2014/main" id="{28F18623-A851-4927-A4A7-1E6748542230}"/>
              </a:ext>
            </a:extLst>
          </p:cNvPr>
          <p:cNvSpPr/>
          <p:nvPr/>
        </p:nvSpPr>
        <p:spPr>
          <a:xfrm>
            <a:off x="1022936" y="1350288"/>
            <a:ext cx="732111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例</a:t>
            </a:r>
            <a:r>
              <a:rPr lang="en-US" altLang="zh-CN" sz="2000" b="1" dirty="0">
                <a:solidFill>
                  <a:srgbClr val="6D7D66"/>
                </a:solidFill>
                <a:latin typeface="微软雅黑" panose="020B0503020204020204" pitchFamily="34" charset="-122"/>
                <a:ea typeface="微软雅黑" panose="020B0503020204020204" pitchFamily="34" charset="-122"/>
              </a:rPr>
              <a:t>2</a:t>
            </a:r>
            <a:r>
              <a:rPr kumimoji="0" lang="en-US" altLang="zh-CN"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】P3370 </a:t>
            </a:r>
            <a:r>
              <a:rPr kumimoji="0" lang="zh-CN" altLang="en-US"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字符串哈希</a:t>
            </a:r>
          </a:p>
        </p:txBody>
      </p:sp>
      <p:sp>
        <p:nvSpPr>
          <p:cNvPr id="3" name="矩形 2">
            <a:extLst>
              <a:ext uri="{FF2B5EF4-FFF2-40B4-BE49-F238E27FC236}">
                <a16:creationId xmlns:a16="http://schemas.microsoft.com/office/drawing/2014/main" id="{87CF57E6-1519-47A8-ABF2-E94A9D7926A6}"/>
              </a:ext>
            </a:extLst>
          </p:cNvPr>
          <p:cNvSpPr/>
          <p:nvPr/>
        </p:nvSpPr>
        <p:spPr>
          <a:xfrm>
            <a:off x="900553" y="1734166"/>
            <a:ext cx="9344660" cy="554447"/>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514843"/>
                </a:solidFill>
                <a:effectLst/>
                <a:uLnTx/>
                <a:uFillTx/>
                <a:latin typeface="Euphemia"/>
                <a:ea typeface="+mn-ea"/>
                <a:cs typeface="+mn-cs"/>
              </a:rPr>
              <a:t> </a:t>
            </a:r>
          </a:p>
        </p:txBody>
      </p:sp>
      <p:sp>
        <p:nvSpPr>
          <p:cNvPr id="7" name="文本框 6">
            <a:extLst>
              <a:ext uri="{FF2B5EF4-FFF2-40B4-BE49-F238E27FC236}">
                <a16:creationId xmlns:a16="http://schemas.microsoft.com/office/drawing/2014/main" id="{9B2A4A38-4AE2-477E-999E-9E0A2D6790FD}"/>
              </a:ext>
            </a:extLst>
          </p:cNvPr>
          <p:cNvSpPr txBox="1"/>
          <p:nvPr/>
        </p:nvSpPr>
        <p:spPr>
          <a:xfrm>
            <a:off x="1104900" y="1573696"/>
            <a:ext cx="9828571" cy="3367397"/>
          </a:xfrm>
          <a:prstGeom prst="rect">
            <a:avLst/>
          </a:prstGeom>
          <a:noFill/>
        </p:spPr>
        <p:txBody>
          <a:bodyPr wrap="square">
            <a:spAutoFit/>
          </a:bodyPr>
          <a:lstStyle/>
          <a:p>
            <a:pPr>
              <a:lnSpc>
                <a:spcPct val="150000"/>
              </a:lnSpc>
            </a:pPr>
            <a:r>
              <a:rPr lang="zh-CN" altLang="en-US" dirty="0">
                <a:latin typeface="微软雅黑" panose="020B0503020204020204" pitchFamily="34" charset="-122"/>
                <a:ea typeface="微软雅黑" panose="020B0503020204020204" pitchFamily="34" charset="-122"/>
              </a:rPr>
              <a:t>题目描述</a:t>
            </a:r>
          </a:p>
          <a:p>
            <a:pPr>
              <a:lnSpc>
                <a:spcPct val="150000"/>
              </a:lnSpc>
            </a:pPr>
            <a:r>
              <a:rPr lang="zh-CN" altLang="en-US" dirty="0">
                <a:latin typeface="微软雅黑" panose="020B0503020204020204" pitchFamily="34" charset="-122"/>
                <a:ea typeface="微软雅黑" panose="020B0503020204020204" pitchFamily="34" charset="-122"/>
              </a:rPr>
              <a:t>如题，给定 </a:t>
            </a:r>
            <a:r>
              <a:rPr lang="en-US" altLang="zh-CN"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个字符串（第 </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个字符串长度为</a:t>
            </a:r>
            <a:r>
              <a:rPr lang="en-US" altLang="zh-CN" dirty="0">
                <a:latin typeface="微软雅黑" panose="020B0503020204020204" pitchFamily="34" charset="-122"/>
                <a:ea typeface="微软雅黑" panose="020B0503020204020204" pitchFamily="34" charset="-122"/>
              </a:rPr>
              <a:t>M </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，字符串内包含数字、大小写字母，大小写敏感），请求出 </a:t>
            </a:r>
            <a:r>
              <a:rPr lang="en-US" altLang="zh-CN"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个字符串中共有多少个不同的字符串。（</a:t>
            </a:r>
            <a:r>
              <a:rPr lang="nn-NO" altLang="zh-CN" dirty="0">
                <a:latin typeface="微软雅黑" panose="020B0503020204020204" pitchFamily="34" charset="-122"/>
                <a:ea typeface="微软雅黑" panose="020B0503020204020204" pitchFamily="34" charset="-122"/>
              </a:rPr>
              <a:t> N≤10000</a:t>
            </a:r>
            <a:r>
              <a:rPr lang="zh-CN" altLang="nn-NO" dirty="0">
                <a:latin typeface="微软雅黑" panose="020B0503020204020204" pitchFamily="34" charset="-122"/>
                <a:ea typeface="微软雅黑" panose="020B0503020204020204" pitchFamily="34" charset="-122"/>
              </a:rPr>
              <a:t>，</a:t>
            </a:r>
            <a:r>
              <a:rPr lang="nn-NO" altLang="zh-CN" dirty="0">
                <a:latin typeface="微软雅黑" panose="020B0503020204020204" pitchFamily="34" charset="-122"/>
                <a:ea typeface="微软雅黑" panose="020B0503020204020204" pitchFamily="34" charset="-122"/>
              </a:rPr>
              <a:t>M_i≈1000 </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输入格式</a:t>
            </a:r>
          </a:p>
          <a:p>
            <a:pPr>
              <a:lnSpc>
                <a:spcPct val="150000"/>
              </a:lnSpc>
            </a:pPr>
            <a:r>
              <a:rPr lang="zh-CN" altLang="en-US" dirty="0">
                <a:latin typeface="微软雅黑" panose="020B0503020204020204" pitchFamily="34" charset="-122"/>
                <a:ea typeface="微软雅黑" panose="020B0503020204020204" pitchFamily="34" charset="-122"/>
              </a:rPr>
              <a:t>第一行包含一个整数 </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，为字符串的个数。</a:t>
            </a:r>
          </a:p>
          <a:p>
            <a:pPr>
              <a:lnSpc>
                <a:spcPct val="150000"/>
              </a:lnSpc>
            </a:pPr>
            <a:r>
              <a:rPr lang="zh-CN" altLang="en-US" dirty="0">
                <a:latin typeface="微软雅黑" panose="020B0503020204020204" pitchFamily="34" charset="-122"/>
                <a:ea typeface="微软雅黑" panose="020B0503020204020204" pitchFamily="34" charset="-122"/>
              </a:rPr>
              <a:t>接下来 </a:t>
            </a:r>
            <a:r>
              <a:rPr lang="en-US" altLang="zh-CN"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行每行包含一个字符串，为所提供的字符串。</a:t>
            </a:r>
          </a:p>
          <a:p>
            <a:pPr>
              <a:lnSpc>
                <a:spcPct val="150000"/>
              </a:lnSpc>
            </a:pPr>
            <a:r>
              <a:rPr lang="zh-CN" altLang="en-US" dirty="0">
                <a:latin typeface="微软雅黑" panose="020B0503020204020204" pitchFamily="34" charset="-122"/>
                <a:ea typeface="微软雅黑" panose="020B0503020204020204" pitchFamily="34" charset="-122"/>
              </a:rPr>
              <a:t>输出格式</a:t>
            </a:r>
          </a:p>
          <a:p>
            <a:pPr>
              <a:lnSpc>
                <a:spcPct val="150000"/>
              </a:lnSpc>
            </a:pPr>
            <a:r>
              <a:rPr lang="zh-CN" altLang="en-US" dirty="0">
                <a:latin typeface="微软雅黑" panose="020B0503020204020204" pitchFamily="34" charset="-122"/>
                <a:ea typeface="微软雅黑" panose="020B0503020204020204" pitchFamily="34" charset="-122"/>
              </a:rPr>
              <a:t>输出包含一行，包含一个整数，为不同的字符串个数。</a:t>
            </a:r>
          </a:p>
        </p:txBody>
      </p:sp>
      <p:sp>
        <p:nvSpPr>
          <p:cNvPr id="9" name="文本框 8">
            <a:extLst>
              <a:ext uri="{FF2B5EF4-FFF2-40B4-BE49-F238E27FC236}">
                <a16:creationId xmlns:a16="http://schemas.microsoft.com/office/drawing/2014/main" id="{D11E7FE2-FE8A-4334-9EC8-07EA4541DFDA}"/>
              </a:ext>
            </a:extLst>
          </p:cNvPr>
          <p:cNvSpPr txBox="1"/>
          <p:nvPr/>
        </p:nvSpPr>
        <p:spPr>
          <a:xfrm>
            <a:off x="1181408" y="4916897"/>
            <a:ext cx="6096000" cy="1754326"/>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5</a:t>
            </a:r>
          </a:p>
          <a:p>
            <a:r>
              <a:rPr lang="en-US" altLang="zh-CN" dirty="0" err="1">
                <a:latin typeface="微软雅黑" panose="020B0503020204020204" pitchFamily="34" charset="-122"/>
                <a:ea typeface="微软雅黑" panose="020B0503020204020204" pitchFamily="34" charset="-122"/>
              </a:rPr>
              <a:t>abc</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aaaa</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abc</a:t>
            </a:r>
            <a:endParaRPr lang="en-US" altLang="zh-CN" dirty="0">
              <a:latin typeface="微软雅黑" panose="020B0503020204020204" pitchFamily="34" charset="-122"/>
              <a:ea typeface="微软雅黑" panose="020B0503020204020204" pitchFamily="34" charset="-122"/>
            </a:endParaRPr>
          </a:p>
          <a:p>
            <a:r>
              <a:rPr lang="en-US" altLang="zh-CN" dirty="0" err="1">
                <a:latin typeface="微软雅黑" panose="020B0503020204020204" pitchFamily="34" charset="-122"/>
                <a:ea typeface="微软雅黑" panose="020B0503020204020204" pitchFamily="34" charset="-122"/>
              </a:rPr>
              <a:t>abcc</a:t>
            </a:r>
            <a:endParaRPr lang="en-US" altLang="zh-CN" dirty="0">
              <a:latin typeface="微软雅黑" panose="020B0503020204020204" pitchFamily="34" charset="-122"/>
              <a:ea typeface="微软雅黑" panose="020B0503020204020204" pitchFamily="34" charset="-122"/>
            </a:endParaRPr>
          </a:p>
          <a:p>
            <a:r>
              <a:rPr lang="en-US" altLang="zh-CN" dirty="0">
                <a:latin typeface="微软雅黑" panose="020B0503020204020204" pitchFamily="34" charset="-122"/>
                <a:ea typeface="微软雅黑" panose="020B0503020204020204" pitchFamily="34" charset="-122"/>
              </a:rPr>
              <a:t>12345</a:t>
            </a:r>
            <a:endParaRPr lang="zh-CN" altLang="en-US"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CFF4A412-F8E7-462D-913B-F5ED1F3D456C}"/>
              </a:ext>
            </a:extLst>
          </p:cNvPr>
          <p:cNvSpPr txBox="1"/>
          <p:nvPr/>
        </p:nvSpPr>
        <p:spPr>
          <a:xfrm>
            <a:off x="3621344" y="4916897"/>
            <a:ext cx="6096000" cy="369332"/>
          </a:xfrm>
          <a:prstGeom prst="rect">
            <a:avLst/>
          </a:prstGeom>
          <a:noFill/>
        </p:spPr>
        <p:txBody>
          <a:bodyPr wrap="square">
            <a:spAutoFit/>
          </a:bodyPr>
          <a:lstStyle/>
          <a:p>
            <a:r>
              <a:rPr lang="en-US" altLang="zh-CN" dirty="0"/>
              <a:t>4</a:t>
            </a:r>
            <a:endParaRPr lang="zh-CN" altLang="en-US" dirty="0"/>
          </a:p>
        </p:txBody>
      </p:sp>
    </p:spTree>
    <p:extLst>
      <p:ext uri="{BB962C8B-B14F-4D97-AF65-F5344CB8AC3E}">
        <p14:creationId xmlns:p14="http://schemas.microsoft.com/office/powerpoint/2010/main" val="238286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字符串</a:t>
            </a:r>
            <a:r>
              <a:rPr lang="en-US" altLang="zh-CN" dirty="0"/>
              <a:t>Hash</a:t>
            </a:r>
            <a:endParaRPr lang="zh-CN" altLang="en-US" dirty="0"/>
          </a:p>
        </p:txBody>
      </p:sp>
      <p:pic>
        <p:nvPicPr>
          <p:cNvPr id="7" name="图片 6">
            <a:extLst>
              <a:ext uri="{FF2B5EF4-FFF2-40B4-BE49-F238E27FC236}">
                <a16:creationId xmlns:a16="http://schemas.microsoft.com/office/drawing/2014/main" id="{284CC5CD-599A-4FD9-ABCA-B7B050FCA06F}"/>
              </a:ext>
            </a:extLst>
          </p:cNvPr>
          <p:cNvPicPr>
            <a:picLocks noChangeAspect="1"/>
          </p:cNvPicPr>
          <p:nvPr/>
        </p:nvPicPr>
        <p:blipFill>
          <a:blip r:embed="rId3"/>
          <a:stretch>
            <a:fillRect/>
          </a:stretch>
        </p:blipFill>
        <p:spPr>
          <a:xfrm>
            <a:off x="1029485" y="2000018"/>
            <a:ext cx="5133975" cy="4133850"/>
          </a:xfrm>
          <a:prstGeom prst="rect">
            <a:avLst/>
          </a:prstGeom>
        </p:spPr>
      </p:pic>
      <p:pic>
        <p:nvPicPr>
          <p:cNvPr id="9" name="图片 8">
            <a:extLst>
              <a:ext uri="{FF2B5EF4-FFF2-40B4-BE49-F238E27FC236}">
                <a16:creationId xmlns:a16="http://schemas.microsoft.com/office/drawing/2014/main" id="{B2B8EE1F-7337-4CBF-8624-132D723F0F84}"/>
              </a:ext>
            </a:extLst>
          </p:cNvPr>
          <p:cNvPicPr>
            <a:picLocks noChangeAspect="1"/>
          </p:cNvPicPr>
          <p:nvPr/>
        </p:nvPicPr>
        <p:blipFill>
          <a:blip r:embed="rId4"/>
          <a:stretch>
            <a:fillRect/>
          </a:stretch>
        </p:blipFill>
        <p:spPr>
          <a:xfrm>
            <a:off x="6341981" y="2000018"/>
            <a:ext cx="4905375" cy="4286250"/>
          </a:xfrm>
          <a:prstGeom prst="rect">
            <a:avLst/>
          </a:prstGeom>
        </p:spPr>
      </p:pic>
      <p:sp>
        <p:nvSpPr>
          <p:cNvPr id="11" name="文本框 10">
            <a:extLst>
              <a:ext uri="{FF2B5EF4-FFF2-40B4-BE49-F238E27FC236}">
                <a16:creationId xmlns:a16="http://schemas.microsoft.com/office/drawing/2014/main" id="{53FA1C3B-AD00-4E83-872C-4C510C3A9867}"/>
              </a:ext>
            </a:extLst>
          </p:cNvPr>
          <p:cNvSpPr txBox="1"/>
          <p:nvPr/>
        </p:nvSpPr>
        <p:spPr>
          <a:xfrm>
            <a:off x="944644" y="1401924"/>
            <a:ext cx="1581740" cy="369332"/>
          </a:xfrm>
          <a:prstGeom prst="rect">
            <a:avLst/>
          </a:prstGeom>
          <a:noFill/>
        </p:spPr>
        <p:txBody>
          <a:bodyPr wrap="square">
            <a:spAutoFit/>
          </a:bodyPr>
          <a:lstStyle/>
          <a:p>
            <a:r>
              <a:rPr kumimoji="1" lang="en-US" altLang="zh-CN" b="1" dirty="0">
                <a:solidFill>
                  <a:schemeClr val="accent2"/>
                </a:solidFill>
                <a:latin typeface="微软雅黑" panose="020B0503020204020204" pitchFamily="34" charset="-122"/>
                <a:ea typeface="微软雅黑" panose="020B0503020204020204" pitchFamily="34" charset="-122"/>
              </a:rPr>
              <a:t>【</a:t>
            </a:r>
            <a:r>
              <a:rPr kumimoji="1" lang="zh-CN" altLang="en-US" sz="1800" b="1" dirty="0">
                <a:solidFill>
                  <a:schemeClr val="accent2"/>
                </a:solidFill>
                <a:latin typeface="微软雅黑" panose="020B0503020204020204" pitchFamily="34" charset="-122"/>
                <a:ea typeface="微软雅黑" panose="020B0503020204020204" pitchFamily="34" charset="-122"/>
              </a:rPr>
              <a:t>自然溢出</a:t>
            </a:r>
            <a:r>
              <a:rPr kumimoji="1" lang="en-US" altLang="zh-CN" b="1" dirty="0">
                <a:solidFill>
                  <a:schemeClr val="accent2"/>
                </a:solidFill>
                <a:latin typeface="微软雅黑" panose="020B0503020204020204" pitchFamily="34" charset="-122"/>
                <a:ea typeface="微软雅黑" panose="020B0503020204020204" pitchFamily="34" charset="-122"/>
              </a:rPr>
              <a:t>】</a:t>
            </a:r>
            <a:endParaRPr lang="zh-CN" altLang="en-US" dirty="0"/>
          </a:p>
        </p:txBody>
      </p:sp>
    </p:spTree>
    <p:extLst>
      <p:ext uri="{BB962C8B-B14F-4D97-AF65-F5344CB8AC3E}">
        <p14:creationId xmlns:p14="http://schemas.microsoft.com/office/powerpoint/2010/main" val="1810099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字符串</a:t>
            </a:r>
            <a:r>
              <a:rPr lang="en-US" altLang="zh-CN" dirty="0"/>
              <a:t>Hash</a:t>
            </a:r>
            <a:endParaRPr lang="zh-CN" altLang="en-US" dirty="0"/>
          </a:p>
        </p:txBody>
      </p:sp>
      <p:sp>
        <p:nvSpPr>
          <p:cNvPr id="11" name="文本框 10">
            <a:extLst>
              <a:ext uri="{FF2B5EF4-FFF2-40B4-BE49-F238E27FC236}">
                <a16:creationId xmlns:a16="http://schemas.microsoft.com/office/drawing/2014/main" id="{53FA1C3B-AD00-4E83-872C-4C510C3A9867}"/>
              </a:ext>
            </a:extLst>
          </p:cNvPr>
          <p:cNvSpPr txBox="1"/>
          <p:nvPr/>
        </p:nvSpPr>
        <p:spPr>
          <a:xfrm>
            <a:off x="944644" y="1401924"/>
            <a:ext cx="1581740" cy="369332"/>
          </a:xfrm>
          <a:prstGeom prst="rect">
            <a:avLst/>
          </a:prstGeom>
          <a:noFill/>
        </p:spPr>
        <p:txBody>
          <a:bodyPr wrap="square">
            <a:spAutoFit/>
          </a:bodyPr>
          <a:lstStyle/>
          <a:p>
            <a:r>
              <a:rPr kumimoji="1" lang="en-US" altLang="zh-CN" b="1" dirty="0">
                <a:solidFill>
                  <a:schemeClr val="accent2"/>
                </a:solidFill>
                <a:latin typeface="微软雅黑" panose="020B0503020204020204" pitchFamily="34" charset="-122"/>
                <a:ea typeface="微软雅黑" panose="020B0503020204020204" pitchFamily="34" charset="-122"/>
              </a:rPr>
              <a:t>【</a:t>
            </a:r>
            <a:r>
              <a:rPr kumimoji="1" lang="zh-CN" altLang="en-US" sz="1800" b="1" dirty="0">
                <a:solidFill>
                  <a:schemeClr val="accent2"/>
                </a:solidFill>
                <a:latin typeface="微软雅黑" panose="020B0503020204020204" pitchFamily="34" charset="-122"/>
                <a:ea typeface="微软雅黑" panose="020B0503020204020204" pitchFamily="34" charset="-122"/>
              </a:rPr>
              <a:t>单哈希</a:t>
            </a:r>
            <a:r>
              <a:rPr kumimoji="1" lang="en-US" altLang="zh-CN" b="1" dirty="0">
                <a:solidFill>
                  <a:schemeClr val="accent2"/>
                </a:solidFill>
                <a:latin typeface="微软雅黑" panose="020B0503020204020204" pitchFamily="34" charset="-122"/>
                <a:ea typeface="微软雅黑" panose="020B0503020204020204" pitchFamily="34" charset="-122"/>
              </a:rPr>
              <a:t>】</a:t>
            </a:r>
            <a:endParaRPr lang="zh-CN" altLang="en-US" dirty="0"/>
          </a:p>
        </p:txBody>
      </p:sp>
      <p:pic>
        <p:nvPicPr>
          <p:cNvPr id="13" name="图片 12">
            <a:extLst>
              <a:ext uri="{FF2B5EF4-FFF2-40B4-BE49-F238E27FC236}">
                <a16:creationId xmlns:a16="http://schemas.microsoft.com/office/drawing/2014/main" id="{02529597-82A8-43EB-8D28-9AAA7C1EA4B0}"/>
              </a:ext>
            </a:extLst>
          </p:cNvPr>
          <p:cNvPicPr>
            <a:picLocks noChangeAspect="1"/>
          </p:cNvPicPr>
          <p:nvPr/>
        </p:nvPicPr>
        <p:blipFill>
          <a:blip r:embed="rId3"/>
          <a:stretch>
            <a:fillRect/>
          </a:stretch>
        </p:blipFill>
        <p:spPr>
          <a:xfrm>
            <a:off x="1189742" y="2000018"/>
            <a:ext cx="5353050" cy="2562225"/>
          </a:xfrm>
          <a:prstGeom prst="rect">
            <a:avLst/>
          </a:prstGeom>
        </p:spPr>
      </p:pic>
    </p:spTree>
    <p:extLst>
      <p:ext uri="{BB962C8B-B14F-4D97-AF65-F5344CB8AC3E}">
        <p14:creationId xmlns:p14="http://schemas.microsoft.com/office/powerpoint/2010/main" val="3194220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字符串</a:t>
            </a:r>
            <a:r>
              <a:rPr lang="en-US" altLang="zh-CN" dirty="0"/>
              <a:t>Hash</a:t>
            </a:r>
            <a:endParaRPr lang="zh-CN" altLang="en-US" dirty="0"/>
          </a:p>
        </p:txBody>
      </p:sp>
      <p:sp>
        <p:nvSpPr>
          <p:cNvPr id="11" name="文本框 10">
            <a:extLst>
              <a:ext uri="{FF2B5EF4-FFF2-40B4-BE49-F238E27FC236}">
                <a16:creationId xmlns:a16="http://schemas.microsoft.com/office/drawing/2014/main" id="{53FA1C3B-AD00-4E83-872C-4C510C3A9867}"/>
              </a:ext>
            </a:extLst>
          </p:cNvPr>
          <p:cNvSpPr txBox="1"/>
          <p:nvPr/>
        </p:nvSpPr>
        <p:spPr>
          <a:xfrm>
            <a:off x="944644" y="1401924"/>
            <a:ext cx="1581740" cy="369332"/>
          </a:xfrm>
          <a:prstGeom prst="rect">
            <a:avLst/>
          </a:prstGeom>
          <a:noFill/>
        </p:spPr>
        <p:txBody>
          <a:bodyPr wrap="square">
            <a:spAutoFit/>
          </a:bodyPr>
          <a:lstStyle/>
          <a:p>
            <a:r>
              <a:rPr kumimoji="1" lang="en-US" altLang="zh-CN" b="1" dirty="0">
                <a:solidFill>
                  <a:schemeClr val="accent2"/>
                </a:solidFill>
                <a:latin typeface="微软雅黑" panose="020B0503020204020204" pitchFamily="34" charset="-122"/>
                <a:ea typeface="微软雅黑" panose="020B0503020204020204" pitchFamily="34" charset="-122"/>
              </a:rPr>
              <a:t>【</a:t>
            </a:r>
            <a:r>
              <a:rPr kumimoji="1" lang="zh-CN" altLang="en-US" b="1" dirty="0">
                <a:solidFill>
                  <a:schemeClr val="accent2"/>
                </a:solidFill>
                <a:latin typeface="微软雅黑" panose="020B0503020204020204" pitchFamily="34" charset="-122"/>
                <a:ea typeface="微软雅黑" panose="020B0503020204020204" pitchFamily="34" charset="-122"/>
              </a:rPr>
              <a:t>双</a:t>
            </a:r>
            <a:r>
              <a:rPr kumimoji="1" lang="zh-CN" altLang="en-US" sz="1800" b="1" dirty="0">
                <a:solidFill>
                  <a:schemeClr val="accent2"/>
                </a:solidFill>
                <a:latin typeface="微软雅黑" panose="020B0503020204020204" pitchFamily="34" charset="-122"/>
                <a:ea typeface="微软雅黑" panose="020B0503020204020204" pitchFamily="34" charset="-122"/>
              </a:rPr>
              <a:t>哈希</a:t>
            </a:r>
            <a:r>
              <a:rPr kumimoji="1" lang="en-US" altLang="zh-CN" b="1" dirty="0">
                <a:solidFill>
                  <a:schemeClr val="accent2"/>
                </a:solidFill>
                <a:latin typeface="微软雅黑" panose="020B0503020204020204" pitchFamily="34" charset="-122"/>
                <a:ea typeface="微软雅黑" panose="020B0503020204020204" pitchFamily="34" charset="-122"/>
              </a:rPr>
              <a:t>】</a:t>
            </a:r>
            <a:endParaRPr lang="zh-CN" altLang="en-US" dirty="0"/>
          </a:p>
        </p:txBody>
      </p:sp>
      <p:pic>
        <p:nvPicPr>
          <p:cNvPr id="4" name="图片 3">
            <a:extLst>
              <a:ext uri="{FF2B5EF4-FFF2-40B4-BE49-F238E27FC236}">
                <a16:creationId xmlns:a16="http://schemas.microsoft.com/office/drawing/2014/main" id="{20F6CF54-1747-4ED4-A598-CA99E2D8BF4E}"/>
              </a:ext>
            </a:extLst>
          </p:cNvPr>
          <p:cNvPicPr>
            <a:picLocks noChangeAspect="1"/>
          </p:cNvPicPr>
          <p:nvPr/>
        </p:nvPicPr>
        <p:blipFill rotWithShape="1">
          <a:blip r:embed="rId3"/>
          <a:srcRect r="7746"/>
          <a:stretch/>
        </p:blipFill>
        <p:spPr>
          <a:xfrm>
            <a:off x="963524" y="1790700"/>
            <a:ext cx="5131717" cy="4991100"/>
          </a:xfrm>
          <a:prstGeom prst="rect">
            <a:avLst/>
          </a:prstGeom>
        </p:spPr>
      </p:pic>
      <p:pic>
        <p:nvPicPr>
          <p:cNvPr id="6" name="图片 5">
            <a:extLst>
              <a:ext uri="{FF2B5EF4-FFF2-40B4-BE49-F238E27FC236}">
                <a16:creationId xmlns:a16="http://schemas.microsoft.com/office/drawing/2014/main" id="{4E233C54-BF8D-4200-A60E-6486635416A5}"/>
              </a:ext>
            </a:extLst>
          </p:cNvPr>
          <p:cNvPicPr>
            <a:picLocks noChangeAspect="1"/>
          </p:cNvPicPr>
          <p:nvPr/>
        </p:nvPicPr>
        <p:blipFill>
          <a:blip r:embed="rId4"/>
          <a:stretch>
            <a:fillRect/>
          </a:stretch>
        </p:blipFill>
        <p:spPr>
          <a:xfrm>
            <a:off x="6095241" y="1790700"/>
            <a:ext cx="5687633" cy="4701668"/>
          </a:xfrm>
          <a:prstGeom prst="rect">
            <a:avLst/>
          </a:prstGeom>
        </p:spPr>
      </p:pic>
    </p:spTree>
    <p:extLst>
      <p:ext uri="{BB962C8B-B14F-4D97-AF65-F5344CB8AC3E}">
        <p14:creationId xmlns:p14="http://schemas.microsoft.com/office/powerpoint/2010/main" val="1461261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字符串</a:t>
            </a:r>
            <a:r>
              <a:rPr lang="en-US" altLang="zh-CN" dirty="0"/>
              <a:t>Hash</a:t>
            </a:r>
            <a:endParaRPr lang="zh-CN" altLang="en-US" dirty="0"/>
          </a:p>
        </p:txBody>
      </p:sp>
      <p:sp>
        <p:nvSpPr>
          <p:cNvPr id="5" name="矩形 4">
            <a:extLst>
              <a:ext uri="{FF2B5EF4-FFF2-40B4-BE49-F238E27FC236}">
                <a16:creationId xmlns:a16="http://schemas.microsoft.com/office/drawing/2014/main" id="{28F18623-A851-4927-A4A7-1E6748542230}"/>
              </a:ext>
            </a:extLst>
          </p:cNvPr>
          <p:cNvSpPr/>
          <p:nvPr/>
        </p:nvSpPr>
        <p:spPr>
          <a:xfrm>
            <a:off x="900553" y="1300850"/>
            <a:ext cx="7321118"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例</a:t>
            </a:r>
            <a:r>
              <a:rPr kumimoji="0" lang="en-US" altLang="zh-CN"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3】</a:t>
            </a:r>
            <a:r>
              <a:rPr kumimoji="0" lang="zh-CN" altLang="en-US" sz="20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兔子与兔子</a:t>
            </a:r>
          </a:p>
        </p:txBody>
      </p:sp>
      <p:sp>
        <p:nvSpPr>
          <p:cNvPr id="3" name="矩形 2">
            <a:extLst>
              <a:ext uri="{FF2B5EF4-FFF2-40B4-BE49-F238E27FC236}">
                <a16:creationId xmlns:a16="http://schemas.microsoft.com/office/drawing/2014/main" id="{87CF57E6-1519-47A8-ABF2-E94A9D7926A6}"/>
              </a:ext>
            </a:extLst>
          </p:cNvPr>
          <p:cNvSpPr/>
          <p:nvPr/>
        </p:nvSpPr>
        <p:spPr>
          <a:xfrm>
            <a:off x="900553" y="1734166"/>
            <a:ext cx="9344660" cy="554447"/>
          </a:xfrm>
          <a:prstGeom prst="rect">
            <a:avLst/>
          </a:prstGeom>
        </p:spPr>
        <p:txBody>
          <a:bodyPr wrap="square">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514843"/>
                </a:solidFill>
                <a:effectLst/>
                <a:uLnTx/>
                <a:uFillTx/>
                <a:latin typeface="Euphemia"/>
                <a:ea typeface="+mn-ea"/>
                <a:cs typeface="+mn-cs"/>
              </a:rPr>
              <a:t> </a:t>
            </a:r>
          </a:p>
        </p:txBody>
      </p:sp>
      <p:sp>
        <p:nvSpPr>
          <p:cNvPr id="7" name="文本框 6">
            <a:extLst>
              <a:ext uri="{FF2B5EF4-FFF2-40B4-BE49-F238E27FC236}">
                <a16:creationId xmlns:a16="http://schemas.microsoft.com/office/drawing/2014/main" id="{9B2A4A38-4AE2-477E-999E-9E0A2D6790FD}"/>
              </a:ext>
            </a:extLst>
          </p:cNvPr>
          <p:cNvSpPr txBox="1"/>
          <p:nvPr/>
        </p:nvSpPr>
        <p:spPr>
          <a:xfrm>
            <a:off x="1085707" y="1552174"/>
            <a:ext cx="9999875" cy="5588838"/>
          </a:xfrm>
          <a:prstGeom prst="rect">
            <a:avLst/>
          </a:prstGeom>
          <a:noFill/>
        </p:spPr>
        <p:txBody>
          <a:bodyPr wrap="square">
            <a:spAutoFit/>
          </a:bodyPr>
          <a:lstStyle/>
          <a:p>
            <a:pPr>
              <a:lnSpc>
                <a:spcPct val="150000"/>
              </a:lnSpc>
            </a:pPr>
            <a:r>
              <a:rPr lang="zh-CN" altLang="en-US" sz="1600" dirty="0">
                <a:latin typeface="微软雅黑" panose="020B0503020204020204" pitchFamily="34" charset="-122"/>
                <a:ea typeface="微软雅黑" panose="020B0503020204020204" pitchFamily="34" charset="-122"/>
              </a:rPr>
              <a:t>题目描述</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很久很久以前，森林里住着一群兔子。有一天，兔子们想要研究自己的 </a:t>
            </a:r>
            <a:r>
              <a:rPr lang="en-US" altLang="zh-CN" sz="1600" dirty="0">
                <a:latin typeface="微软雅黑" panose="020B0503020204020204" pitchFamily="34" charset="-122"/>
                <a:ea typeface="微软雅黑" panose="020B0503020204020204" pitchFamily="34" charset="-122"/>
              </a:rPr>
              <a:t>DNA </a:t>
            </a:r>
            <a:r>
              <a:rPr lang="zh-CN" altLang="en-US" sz="1600" dirty="0">
                <a:latin typeface="微软雅黑" panose="020B0503020204020204" pitchFamily="34" charset="-122"/>
                <a:ea typeface="微软雅黑" panose="020B0503020204020204" pitchFamily="34" charset="-122"/>
              </a:rPr>
              <a:t>序列。我们首先选取一个好长好长的 </a:t>
            </a:r>
            <a:r>
              <a:rPr lang="en-US" altLang="zh-CN" sz="1600" dirty="0">
                <a:latin typeface="微软雅黑" panose="020B0503020204020204" pitchFamily="34" charset="-122"/>
                <a:ea typeface="微软雅黑" panose="020B0503020204020204" pitchFamily="34" charset="-122"/>
              </a:rPr>
              <a:t>DNA </a:t>
            </a:r>
            <a:r>
              <a:rPr lang="zh-CN" altLang="en-US" sz="1600" dirty="0">
                <a:latin typeface="微软雅黑" panose="020B0503020204020204" pitchFamily="34" charset="-122"/>
                <a:ea typeface="微软雅黑" panose="020B0503020204020204" pitchFamily="34" charset="-122"/>
              </a:rPr>
              <a:t>序列（小兔子是外星生物，</a:t>
            </a:r>
            <a:r>
              <a:rPr lang="en-US" altLang="zh-CN" sz="1600" dirty="0">
                <a:latin typeface="微软雅黑" panose="020B0503020204020204" pitchFamily="34" charset="-122"/>
                <a:ea typeface="微软雅黑" panose="020B0503020204020204" pitchFamily="34" charset="-122"/>
              </a:rPr>
              <a:t>DNA </a:t>
            </a:r>
            <a:r>
              <a:rPr lang="zh-CN" altLang="en-US" sz="1600" dirty="0">
                <a:latin typeface="微软雅黑" panose="020B0503020204020204" pitchFamily="34" charset="-122"/>
                <a:ea typeface="微软雅黑" panose="020B0503020204020204" pitchFamily="34" charset="-122"/>
              </a:rPr>
              <a:t>序列可能包含 </a:t>
            </a:r>
            <a:r>
              <a:rPr lang="en-US" altLang="zh-CN" sz="1600" dirty="0">
                <a:latin typeface="微软雅黑" panose="020B0503020204020204" pitchFamily="34" charset="-122"/>
                <a:ea typeface="微软雅黑" panose="020B0503020204020204" pitchFamily="34" charset="-122"/>
              </a:rPr>
              <a:t>26 </a:t>
            </a:r>
            <a:r>
              <a:rPr lang="zh-CN" altLang="en-US" sz="1600" dirty="0">
                <a:latin typeface="微软雅黑" panose="020B0503020204020204" pitchFamily="34" charset="-122"/>
                <a:ea typeface="微软雅黑" panose="020B0503020204020204" pitchFamily="34" charset="-122"/>
              </a:rPr>
              <a:t>个小写英文字母）。然后我们每次选择两个区间，询问如果用两个区间里的 </a:t>
            </a:r>
            <a:r>
              <a:rPr lang="en-US" altLang="zh-CN" sz="1600" dirty="0">
                <a:latin typeface="微软雅黑" panose="020B0503020204020204" pitchFamily="34" charset="-122"/>
                <a:ea typeface="微软雅黑" panose="020B0503020204020204" pitchFamily="34" charset="-122"/>
              </a:rPr>
              <a:t>DNA </a:t>
            </a:r>
            <a:r>
              <a:rPr lang="zh-CN" altLang="en-US" sz="1600" dirty="0">
                <a:latin typeface="微软雅黑" panose="020B0503020204020204" pitchFamily="34" charset="-122"/>
                <a:ea typeface="微软雅黑" panose="020B0503020204020204" pitchFamily="34" charset="-122"/>
              </a:rPr>
              <a:t>序列分别生产出来两只兔子，这两个兔子是否一模一样。注意两个兔子一模一样只可能是他们的 </a:t>
            </a:r>
            <a:r>
              <a:rPr lang="en-US" altLang="zh-CN" sz="1600" dirty="0">
                <a:latin typeface="微软雅黑" panose="020B0503020204020204" pitchFamily="34" charset="-122"/>
                <a:ea typeface="微软雅黑" panose="020B0503020204020204" pitchFamily="34" charset="-122"/>
              </a:rPr>
              <a:t>DNA </a:t>
            </a:r>
            <a:r>
              <a:rPr lang="zh-CN" altLang="en-US" sz="1600" dirty="0">
                <a:latin typeface="微软雅黑" panose="020B0503020204020204" pitchFamily="34" charset="-122"/>
                <a:ea typeface="微软雅黑" panose="020B0503020204020204" pitchFamily="34" charset="-122"/>
              </a:rPr>
              <a:t>序列一模一样。</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输入格式</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第一行输入一个 </a:t>
            </a:r>
            <a:r>
              <a:rPr lang="en-US" altLang="zh-CN" sz="1600" dirty="0">
                <a:latin typeface="微软雅黑" panose="020B0503020204020204" pitchFamily="34" charset="-122"/>
                <a:ea typeface="微软雅黑" panose="020B0503020204020204" pitchFamily="34" charset="-122"/>
              </a:rPr>
              <a:t>DNA </a:t>
            </a:r>
            <a:r>
              <a:rPr lang="zh-CN" altLang="en-US" sz="1600" dirty="0">
                <a:latin typeface="微软雅黑" panose="020B0503020204020204" pitchFamily="34" charset="-122"/>
                <a:ea typeface="微软雅黑" panose="020B0503020204020204" pitchFamily="34" charset="-122"/>
              </a:rPr>
              <a:t>字符串 </a:t>
            </a:r>
            <a:r>
              <a:rPr lang="en-US" altLang="zh-CN" sz="1600" dirty="0">
                <a:latin typeface="微软雅黑" panose="020B0503020204020204" pitchFamily="34" charset="-122"/>
                <a:ea typeface="微软雅黑" panose="020B0503020204020204" pitchFamily="34" charset="-122"/>
              </a:rPr>
              <a:t>S</a:t>
            </a:r>
            <a:r>
              <a:rPr lang="zh-CN" altLang="en-US" sz="1600" dirty="0">
                <a:latin typeface="微软雅黑" panose="020B0503020204020204" pitchFamily="34" charset="-122"/>
                <a:ea typeface="微软雅黑" panose="020B0503020204020204" pitchFamily="34" charset="-122"/>
              </a:rPr>
              <a:t>。第二行一个数字 </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，表示 </a:t>
            </a:r>
            <a:r>
              <a:rPr lang="en-US" altLang="zh-CN" sz="1600" dirty="0">
                <a:latin typeface="微软雅黑" panose="020B0503020204020204" pitchFamily="34" charset="-122"/>
                <a:ea typeface="微软雅黑" panose="020B0503020204020204" pitchFamily="34" charset="-122"/>
              </a:rPr>
              <a:t>m </a:t>
            </a:r>
            <a:r>
              <a:rPr lang="zh-CN" altLang="en-US" sz="1600" dirty="0">
                <a:latin typeface="微软雅黑" panose="020B0503020204020204" pitchFamily="34" charset="-122"/>
                <a:ea typeface="微软雅黑" panose="020B0503020204020204" pitchFamily="34" charset="-122"/>
              </a:rPr>
              <a:t>次询问。接下来 </a:t>
            </a:r>
            <a:r>
              <a:rPr lang="en-US" altLang="zh-CN" sz="1600" dirty="0">
                <a:latin typeface="微软雅黑" panose="020B0503020204020204" pitchFamily="34" charset="-122"/>
                <a:ea typeface="微软雅黑" panose="020B0503020204020204" pitchFamily="34" charset="-122"/>
              </a:rPr>
              <a:t>m </a:t>
            </a:r>
            <a:r>
              <a:rPr lang="zh-CN" altLang="en-US" sz="1600" dirty="0">
                <a:latin typeface="微软雅黑" panose="020B0503020204020204" pitchFamily="34" charset="-122"/>
                <a:ea typeface="微软雅黑" panose="020B0503020204020204" pitchFamily="34" charset="-122"/>
              </a:rPr>
              <a:t>行，每行四个数字 </a:t>
            </a:r>
            <a:r>
              <a:rPr lang="en-US" altLang="zh-CN" sz="1600" dirty="0">
                <a:latin typeface="微软雅黑" panose="020B0503020204020204" pitchFamily="34" charset="-122"/>
                <a:ea typeface="微软雅黑" panose="020B0503020204020204" pitchFamily="34" charset="-122"/>
              </a:rPr>
              <a:t>l1,r1,l2,r2</a:t>
            </a:r>
            <a:r>
              <a:rPr lang="zh-CN" altLang="en-US" sz="1600" dirty="0">
                <a:latin typeface="微软雅黑" panose="020B0503020204020204" pitchFamily="34" charset="-122"/>
                <a:ea typeface="微软雅黑" panose="020B0503020204020204" pitchFamily="34" charset="-122"/>
              </a:rPr>
              <a:t>分别表示此次询问的两个区间，注意字符串的位置从</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开始编号。</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输出格式</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       对于每次询问，输出一行表示结果。如果两只兔子完全相同输出 </a:t>
            </a:r>
            <a:r>
              <a:rPr lang="en-US" altLang="zh-CN" sz="1600" dirty="0">
                <a:latin typeface="微软雅黑" panose="020B0503020204020204" pitchFamily="34" charset="-122"/>
                <a:ea typeface="微软雅黑" panose="020B0503020204020204" pitchFamily="34" charset="-122"/>
              </a:rPr>
              <a:t>Yes</a:t>
            </a:r>
            <a:r>
              <a:rPr lang="zh-CN" altLang="en-US" sz="1600" dirty="0">
                <a:latin typeface="微软雅黑" panose="020B0503020204020204" pitchFamily="34" charset="-122"/>
                <a:ea typeface="微软雅黑" panose="020B0503020204020204" pitchFamily="34" charset="-122"/>
              </a:rPr>
              <a:t>，否则输出 </a:t>
            </a:r>
            <a:r>
              <a:rPr lang="en-US" altLang="zh-CN" sz="1600" dirty="0">
                <a:latin typeface="微软雅黑" panose="020B0503020204020204" pitchFamily="34" charset="-122"/>
                <a:ea typeface="微软雅黑" panose="020B0503020204020204" pitchFamily="34" charset="-122"/>
              </a:rPr>
              <a:t>No</a:t>
            </a:r>
            <a:r>
              <a:rPr lang="zh-CN" altLang="en-US" sz="1600" dirty="0">
                <a:latin typeface="微软雅黑" panose="020B0503020204020204" pitchFamily="34" charset="-122"/>
                <a:ea typeface="微软雅黑" panose="020B0503020204020204" pitchFamily="34" charset="-122"/>
              </a:rPr>
              <a:t>（注意大小写）。</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数据范围</a:t>
            </a:r>
            <a:r>
              <a:rPr lang="en-US" altLang="zh-CN" sz="1600" dirty="0">
                <a:latin typeface="微软雅黑" panose="020B0503020204020204" pitchFamily="34" charset="-122"/>
                <a:ea typeface="微软雅黑" panose="020B0503020204020204" pitchFamily="34" charset="-122"/>
              </a:rPr>
              <a:t>   1≤length(S),m≤10^6</a:t>
            </a:r>
          </a:p>
          <a:p>
            <a:pPr>
              <a:lnSpc>
                <a:spcPct val="150000"/>
              </a:lnSpc>
            </a:pPr>
            <a:r>
              <a:rPr lang="zh-CN" altLang="en-US" sz="1600" dirty="0">
                <a:latin typeface="微软雅黑" panose="020B0503020204020204" pitchFamily="34" charset="-122"/>
                <a:ea typeface="微软雅黑" panose="020B0503020204020204" pitchFamily="34" charset="-122"/>
              </a:rPr>
              <a:t>       输入样例：</a:t>
            </a:r>
            <a:r>
              <a:rPr lang="en-US" altLang="zh-CN" sz="1600" dirty="0" err="1">
                <a:latin typeface="微软雅黑" panose="020B0503020204020204" pitchFamily="34" charset="-122"/>
                <a:ea typeface="微软雅黑" panose="020B0503020204020204" pitchFamily="34" charset="-122"/>
              </a:rPr>
              <a:t>aabbaabb</a:t>
            </a:r>
            <a:endParaRPr lang="en-US" altLang="zh-CN" sz="1600" dirty="0">
              <a:latin typeface="微软雅黑" panose="020B0503020204020204" pitchFamily="34" charset="-122"/>
              <a:ea typeface="微软雅黑" panose="020B0503020204020204" pitchFamily="34" charset="-122"/>
            </a:endParaRPr>
          </a:p>
          <a:p>
            <a:pPr>
              <a:lnSpc>
                <a:spcPct val="150000"/>
              </a:lnSpc>
            </a:pPr>
            <a:r>
              <a:rPr lang="en-US" altLang="zh-CN" sz="1600" dirty="0">
                <a:latin typeface="微软雅黑" panose="020B0503020204020204" pitchFamily="34" charset="-122"/>
                <a:ea typeface="微软雅黑" panose="020B0503020204020204" pitchFamily="34" charset="-122"/>
              </a:rPr>
              <a:t>	         3</a:t>
            </a:r>
          </a:p>
          <a:p>
            <a:pPr>
              <a:lnSpc>
                <a:spcPct val="150000"/>
              </a:lnSpc>
            </a:pPr>
            <a:r>
              <a:rPr lang="en-US" altLang="zh-CN" sz="1600" dirty="0">
                <a:latin typeface="微软雅黑" panose="020B0503020204020204" pitchFamily="34" charset="-122"/>
                <a:ea typeface="微软雅黑" panose="020B0503020204020204" pitchFamily="34" charset="-122"/>
              </a:rPr>
              <a:t>	         1 3 5 7</a:t>
            </a:r>
          </a:p>
          <a:p>
            <a:pPr>
              <a:lnSpc>
                <a:spcPct val="150000"/>
              </a:lnSpc>
            </a:pPr>
            <a:r>
              <a:rPr lang="en-US" altLang="zh-CN" sz="1600"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D1A1616F-A65C-4C41-A615-9522A4E334D2}"/>
              </a:ext>
            </a:extLst>
          </p:cNvPr>
          <p:cNvSpPr txBox="1"/>
          <p:nvPr/>
        </p:nvSpPr>
        <p:spPr>
          <a:xfrm>
            <a:off x="4150945" y="5579100"/>
            <a:ext cx="6094268" cy="866071"/>
          </a:xfrm>
          <a:prstGeom prst="rect">
            <a:avLst/>
          </a:prstGeom>
          <a:noFill/>
        </p:spPr>
        <p:txBody>
          <a:bodyPr wrap="square">
            <a:spAutoFit/>
          </a:bodyPr>
          <a:lstStyle/>
          <a:p>
            <a:pPr>
              <a:lnSpc>
                <a:spcPct val="150000"/>
              </a:lnSpc>
            </a:pPr>
            <a:r>
              <a:rPr lang="en-US" altLang="zh-CN" dirty="0"/>
              <a:t>1 3 6 8</a:t>
            </a:r>
          </a:p>
          <a:p>
            <a:pPr>
              <a:lnSpc>
                <a:spcPct val="150000"/>
              </a:lnSpc>
            </a:pPr>
            <a:r>
              <a:rPr lang="en-US" altLang="zh-CN" dirty="0"/>
              <a:t>1 2 1 2</a:t>
            </a:r>
          </a:p>
        </p:txBody>
      </p:sp>
      <p:sp>
        <p:nvSpPr>
          <p:cNvPr id="8" name="文本框 7">
            <a:extLst>
              <a:ext uri="{FF2B5EF4-FFF2-40B4-BE49-F238E27FC236}">
                <a16:creationId xmlns:a16="http://schemas.microsoft.com/office/drawing/2014/main" id="{A9455872-BF11-48E3-A797-220C84EEE2A1}"/>
              </a:ext>
            </a:extLst>
          </p:cNvPr>
          <p:cNvSpPr txBox="1"/>
          <p:nvPr/>
        </p:nvSpPr>
        <p:spPr>
          <a:xfrm>
            <a:off x="6257827" y="5197174"/>
            <a:ext cx="6094428" cy="1697068"/>
          </a:xfrm>
          <a:prstGeom prst="rect">
            <a:avLst/>
          </a:prstGeom>
          <a:noFill/>
        </p:spPr>
        <p:txBody>
          <a:bodyPr wrap="square">
            <a:spAutoFit/>
          </a:bodyPr>
          <a:lstStyle/>
          <a:p>
            <a:pPr>
              <a:lnSpc>
                <a:spcPct val="150000"/>
              </a:lnSpc>
            </a:pPr>
            <a:r>
              <a:rPr lang="zh-CN" altLang="en-US" dirty="0"/>
              <a:t>输出样例：</a:t>
            </a:r>
            <a:endParaRPr lang="en-US" altLang="zh-CN" dirty="0"/>
          </a:p>
          <a:p>
            <a:pPr>
              <a:lnSpc>
                <a:spcPct val="150000"/>
              </a:lnSpc>
            </a:pPr>
            <a:r>
              <a:rPr lang="en-US" altLang="zh-CN" dirty="0"/>
              <a:t>Yes </a:t>
            </a:r>
          </a:p>
          <a:p>
            <a:pPr>
              <a:lnSpc>
                <a:spcPct val="150000"/>
              </a:lnSpc>
            </a:pPr>
            <a:r>
              <a:rPr lang="en-US" altLang="zh-CN" dirty="0"/>
              <a:t>No</a:t>
            </a:r>
          </a:p>
          <a:p>
            <a:pPr>
              <a:lnSpc>
                <a:spcPct val="150000"/>
              </a:lnSpc>
            </a:pPr>
            <a:r>
              <a:rPr lang="en-US" altLang="zh-CN" dirty="0"/>
              <a:t>Yes</a:t>
            </a:r>
          </a:p>
        </p:txBody>
      </p:sp>
    </p:spTree>
    <p:extLst>
      <p:ext uri="{BB962C8B-B14F-4D97-AF65-F5344CB8AC3E}">
        <p14:creationId xmlns:p14="http://schemas.microsoft.com/office/powerpoint/2010/main" val="3625514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9E20A-1C8D-4579-9394-7E8889852E28}"/>
              </a:ext>
            </a:extLst>
          </p:cNvPr>
          <p:cNvSpPr>
            <a:spLocks noGrp="1"/>
          </p:cNvSpPr>
          <p:nvPr>
            <p:ph type="title"/>
          </p:nvPr>
        </p:nvSpPr>
        <p:spPr/>
        <p:txBody>
          <a:bodyPr/>
          <a:lstStyle/>
          <a:p>
            <a:r>
              <a:rPr lang="zh-CN" altLang="en-US" dirty="0"/>
              <a:t>字符串</a:t>
            </a:r>
            <a:r>
              <a:rPr lang="en-US" altLang="zh-CN" dirty="0"/>
              <a:t>Hash</a:t>
            </a:r>
            <a:endParaRPr lang="zh-CN" altLang="en-US" dirty="0"/>
          </a:p>
        </p:txBody>
      </p:sp>
      <p:pic>
        <p:nvPicPr>
          <p:cNvPr id="4" name="图片 3">
            <a:extLst>
              <a:ext uri="{FF2B5EF4-FFF2-40B4-BE49-F238E27FC236}">
                <a16:creationId xmlns:a16="http://schemas.microsoft.com/office/drawing/2014/main" id="{862267D2-9D80-4D10-A333-481EEA25FDF1}"/>
              </a:ext>
            </a:extLst>
          </p:cNvPr>
          <p:cNvPicPr>
            <a:picLocks noChangeAspect="1"/>
          </p:cNvPicPr>
          <p:nvPr/>
        </p:nvPicPr>
        <p:blipFill>
          <a:blip r:embed="rId3"/>
          <a:stretch>
            <a:fillRect/>
          </a:stretch>
        </p:blipFill>
        <p:spPr>
          <a:xfrm>
            <a:off x="1104900" y="1412858"/>
            <a:ext cx="9911892" cy="5368942"/>
          </a:xfrm>
          <a:prstGeom prst="rect">
            <a:avLst/>
          </a:prstGeom>
        </p:spPr>
      </p:pic>
    </p:spTree>
    <p:extLst>
      <p:ext uri="{BB962C8B-B14F-4D97-AF65-F5344CB8AC3E}">
        <p14:creationId xmlns:p14="http://schemas.microsoft.com/office/powerpoint/2010/main" val="4060817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698</TotalTime>
  <Words>2936</Words>
  <Application>Microsoft Office PowerPoint</Application>
  <PresentationFormat>宽屏</PresentationFormat>
  <Paragraphs>209</Paragraphs>
  <Slides>32</Slides>
  <Notes>8</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32</vt:i4>
      </vt:variant>
    </vt:vector>
  </HeadingPairs>
  <TitlesOfParts>
    <vt:vector size="42" baseType="lpstr">
      <vt:lpstr>等线</vt:lpstr>
      <vt:lpstr>等线 Light</vt:lpstr>
      <vt:lpstr>微软雅黑</vt:lpstr>
      <vt:lpstr>Arial</vt:lpstr>
      <vt:lpstr>Cambria Math</vt:lpstr>
      <vt:lpstr>Euphemia</vt:lpstr>
      <vt:lpstr>Times New Roman</vt:lpstr>
      <vt:lpstr>Wingdings</vt:lpstr>
      <vt:lpstr>Office 主题​​</vt:lpstr>
      <vt:lpstr>学术文献 16x9</vt:lpstr>
      <vt:lpstr>数据结构——Hash</vt:lpstr>
      <vt:lpstr>PowerPoint 演示文稿</vt:lpstr>
      <vt:lpstr>hash</vt:lpstr>
      <vt:lpstr>Hash</vt:lpstr>
      <vt:lpstr>Hash</vt:lpstr>
      <vt:lpstr>Hash</vt:lpstr>
      <vt:lpstr>Hash</vt:lpstr>
      <vt:lpstr>Hash</vt:lpstr>
      <vt:lpstr>Hash</vt:lpstr>
      <vt:lpstr>Hash</vt:lpstr>
      <vt:lpstr>Hash</vt:lpstr>
      <vt:lpstr>Hash</vt:lpstr>
      <vt:lpstr>Hash</vt:lpstr>
      <vt:lpstr>Hash</vt:lpstr>
      <vt:lpstr>Hash</vt:lpstr>
      <vt:lpstr>Hash</vt:lpstr>
      <vt:lpstr>Hash</vt:lpstr>
      <vt:lpstr>字符串Hash</vt:lpstr>
      <vt:lpstr>字符串Hash</vt:lpstr>
      <vt:lpstr>Hash方法</vt:lpstr>
      <vt:lpstr>Hash方法</vt:lpstr>
      <vt:lpstr>Hash方法</vt:lpstr>
      <vt:lpstr>PowerPoint 演示文稿</vt:lpstr>
      <vt:lpstr>PowerPoint 演示文稿</vt:lpstr>
      <vt:lpstr>PowerPoint 演示文稿</vt:lpstr>
      <vt:lpstr>字符串Hash</vt:lpstr>
      <vt:lpstr>字符串Hash</vt:lpstr>
      <vt:lpstr>字符串Hash</vt:lpstr>
      <vt:lpstr>字符串Hash</vt:lpstr>
      <vt:lpstr>字符串Hash</vt:lpstr>
      <vt:lpstr>字符串Hash</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数据结构——Hash</dc:title>
  <dc:creator>代 伟</dc:creator>
  <cp:lastModifiedBy>代 伟</cp:lastModifiedBy>
  <cp:revision>89</cp:revision>
  <dcterms:created xsi:type="dcterms:W3CDTF">2021-04-09T01:44:55Z</dcterms:created>
  <dcterms:modified xsi:type="dcterms:W3CDTF">2022-05-13T08:34:44Z</dcterms:modified>
</cp:coreProperties>
</file>