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612" r:id="rId3"/>
    <p:sldId id="668" r:id="rId4"/>
    <p:sldId id="750" r:id="rId5"/>
    <p:sldId id="691" r:id="rId6"/>
    <p:sldId id="751" r:id="rId7"/>
    <p:sldId id="752" r:id="rId8"/>
    <p:sldId id="685" r:id="rId9"/>
    <p:sldId id="754" r:id="rId10"/>
    <p:sldId id="755" r:id="rId11"/>
    <p:sldId id="756" r:id="rId12"/>
    <p:sldId id="757" r:id="rId13"/>
    <p:sldId id="753" r:id="rId14"/>
    <p:sldId id="701" r:id="rId15"/>
    <p:sldId id="758" r:id="rId16"/>
    <p:sldId id="759" r:id="rId17"/>
    <p:sldId id="760" r:id="rId18"/>
    <p:sldId id="761" r:id="rId19"/>
    <p:sldId id="762" r:id="rId20"/>
    <p:sldId id="763" r:id="rId21"/>
    <p:sldId id="764" r:id="rId22"/>
    <p:sldId id="765" r:id="rId23"/>
    <p:sldId id="766" r:id="rId24"/>
    <p:sldId id="767" r:id="rId25"/>
    <p:sldId id="768" r:id="rId26"/>
    <p:sldId id="769" r:id="rId27"/>
    <p:sldId id="770" r:id="rId28"/>
    <p:sldId id="771" r:id="rId29"/>
    <p:sldId id="777" r:id="rId30"/>
    <p:sldId id="735" r:id="rId31"/>
    <p:sldId id="502" r:id="rId32"/>
  </p:sldIdLst>
  <p:sldSz cx="12192000" cy="6858000"/>
  <p:notesSz cx="6858000" cy="9144000"/>
  <p:custDataLst>
    <p:tags r:id="rId35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3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97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701" y="6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2023/5/3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t>2023/5/3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2023/5/3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2023/5/3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2023/5/3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2023/5/3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2023/5/3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2023/5/3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2023/5/3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2023/5/3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2023/5/3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2023/5/3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2023/5/3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2023/5/3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2221637" y="2093223"/>
            <a:ext cx="3986074" cy="1954514"/>
          </a:xfrm>
        </p:spPr>
        <p:txBody>
          <a:bodyPr rtlCol="0" anchor="ctr"/>
          <a:lstStyle/>
          <a:p>
            <a:pPr rt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最小生成树</a:t>
            </a: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08075" y="386246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2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理解最小生成树的含义。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掌握</a:t>
            </a:r>
            <a:r>
              <a:rPr lang="en-US" altLang="zh-CN" sz="2000" dirty="0"/>
              <a:t>Prime</a:t>
            </a:r>
            <a:r>
              <a:rPr lang="zh-CN" altLang="en-US" sz="2000" dirty="0"/>
              <a:t>和</a:t>
            </a:r>
            <a:r>
              <a:rPr lang="en-US" altLang="zh-CN" sz="2000" dirty="0"/>
              <a:t>Kruskal</a:t>
            </a:r>
            <a:r>
              <a:rPr lang="zh-CN" altLang="en-US" sz="2000" dirty="0"/>
              <a:t>的基本实现方法。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最小生成树</a:t>
            </a:r>
          </a:p>
        </p:txBody>
      </p:sp>
      <p:sp>
        <p:nvSpPr>
          <p:cNvPr id="5" name="矩形 4"/>
          <p:cNvSpPr/>
          <p:nvPr/>
        </p:nvSpPr>
        <p:spPr>
          <a:xfrm>
            <a:off x="1023632" y="1448257"/>
            <a:ext cx="10349865" cy="319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关于图的几个概念定义：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连通图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：在无向图中，若任意两个顶点vi与vj都有路径相通，则称该无向图为连通图。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强连通图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：在有向图中，若任意两个顶点vi与vj都有路径相通，则称该有向图为强连通图。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连通网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：在连通图中，若图的边具有一定的意义，每一条边都对应着一个数，称为权；权代表着连接连个顶点的代价，称这种连通图叫做连通网。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最小生成树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0" y="3388360"/>
            <a:ext cx="6953250" cy="28003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04900" y="1365885"/>
            <a:ext cx="9204960" cy="1691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生成树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：一个连通图的生成树是指一个连通子图，它含有图中全部n个顶点，但只有足以构成一棵树的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n-1条边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。一颗有n个顶点的生成树有且仅有n-1条边，如果生成树中再添加一条边，则必定成环。</a:t>
            </a:r>
            <a:endParaRPr lang="zh-CN" altLang="en-US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最小生成树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：在连通网的所有生成树中，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所有边的代价和最小的生成树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，称为最小生成树。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最小生成树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997585" y="1330325"/>
            <a:ext cx="10088245" cy="4661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【例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】城市公交网建设问题</a:t>
            </a:r>
            <a:endParaRPr lang="zh-CN" altLang="en-US" b="1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【问题描述】</a:t>
            </a: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有一张城市地图，图中的顶点为城市，无向边代表两个城市间的连通关系，边上的权为在这两个城市之间修建高速公路的造价，研究后发现，这个地图有一个特点，即任一对城市都是连通的。现在的问题是，要修建若干高速公路把所有城市联系起来，问如何设计可使得工程的总造价最少？</a:t>
            </a: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【输入格式】</a:t>
            </a: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n（城市数，1&lt;=n&lt;=100）</a:t>
            </a: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e（边数）</a:t>
            </a: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以下e行，每行3个数i,j,w。</a:t>
            </a:r>
            <a:r>
              <a:rPr lang="en-US" altLang="zh-CN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</a:t>
            </a: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表示在城市i,j之间修建高速公路的造价。</a:t>
            </a: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【输出格式】</a:t>
            </a: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n-1行，每行为两个城市的序号，表明这两个城市间建一条高速公路。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最小生成树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80335" y="1285937"/>
            <a:ext cx="3512271" cy="502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【例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】城市公交网建设问题</a:t>
            </a:r>
            <a:endParaRPr lang="zh-CN" altLang="en-US" b="1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【输入样例】</a:t>
            </a: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5 8</a:t>
            </a: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1 2 2</a:t>
            </a: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2 5 9</a:t>
            </a: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5 4 7</a:t>
            </a: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4 1 10</a:t>
            </a: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1 3 12</a:t>
            </a: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4 3 6</a:t>
            </a: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5 3 3</a:t>
            </a:r>
          </a:p>
          <a:p>
            <a:pPr fontAlgn="auto"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2 3 8</a:t>
            </a:r>
          </a:p>
          <a:p>
            <a:pPr fontAlgn="auto">
              <a:lnSpc>
                <a:spcPct val="150000"/>
              </a:lnSpc>
            </a:pP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98648" y="1709408"/>
            <a:ext cx="2540000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        【输出样例】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　　　1  2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　　　2  3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　　　3  4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　　　3  5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Prime</a:t>
            </a:r>
          </a:p>
        </p:txBody>
      </p:sp>
      <p:sp>
        <p:nvSpPr>
          <p:cNvPr id="5" name="矩形 4"/>
          <p:cNvSpPr/>
          <p:nvPr/>
        </p:nvSpPr>
        <p:spPr>
          <a:xfrm>
            <a:off x="1032510" y="1439656"/>
            <a:ext cx="10349865" cy="37482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此算法可以称为“加点法”，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每次迭代选择代价最小的边对应的点，加入到最小生成树中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。算法从某一个顶点s开始，逐渐长大覆盖整个连通网的所有顶点。</a:t>
            </a:r>
          </a:p>
          <a:p>
            <a:pPr algn="l">
              <a:lnSpc>
                <a:spcPct val="2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1.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图的所有顶点集合为V；初始令集合u={s},v=V−u;</a:t>
            </a:r>
          </a:p>
          <a:p>
            <a:pPr algn="l">
              <a:lnSpc>
                <a:spcPct val="2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2.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在两个集合u,,v能够组成的边中，选择一条代价最小的边(u0,v0)，加入到最小生成树中，并把v0并入到集合u中。</a:t>
            </a:r>
          </a:p>
          <a:p>
            <a:pPr algn="l">
              <a:lnSpc>
                <a:spcPct val="2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重复上述步骤，直到最小生成树有n-1条边或者n个顶点为止。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Prime</a:t>
            </a:r>
          </a:p>
        </p:txBody>
      </p:sp>
      <p:sp>
        <p:nvSpPr>
          <p:cNvPr id="9" name="文本占位符 10244"/>
          <p:cNvSpPr>
            <a:spLocks noGrp="1"/>
          </p:cNvSpPr>
          <p:nvPr>
            <p:ph idx="1"/>
          </p:nvPr>
        </p:nvSpPr>
        <p:spPr>
          <a:xfrm>
            <a:off x="2267268" y="1256665"/>
            <a:ext cx="8229600" cy="5327650"/>
          </a:xfrm>
        </p:spPr>
        <p:txBody>
          <a:bodyPr anchor="t"/>
          <a:lstStyle/>
          <a:p>
            <a:pPr>
              <a:buNone/>
            </a:pP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      </a:t>
            </a:r>
          </a:p>
          <a:p>
            <a:pPr>
              <a:buNone/>
            </a:pP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      </a:t>
            </a:r>
            <a:endParaRPr lang="zh-CN" altLang="en-US" sz="32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grpSp>
        <p:nvGrpSpPr>
          <p:cNvPr id="10" name="组合 10248"/>
          <p:cNvGrpSpPr/>
          <p:nvPr/>
        </p:nvGrpSpPr>
        <p:grpSpPr>
          <a:xfrm>
            <a:off x="3498661" y="3131888"/>
            <a:ext cx="3871141" cy="2672539"/>
            <a:chOff x="0" y="0"/>
            <a:chExt cx="3852" cy="2637"/>
          </a:xfrm>
        </p:grpSpPr>
        <p:sp>
          <p:nvSpPr>
            <p:cNvPr id="12" name="椭圆 10249"/>
            <p:cNvSpPr/>
            <p:nvPr/>
          </p:nvSpPr>
          <p:spPr>
            <a:xfrm>
              <a:off x="0" y="625"/>
              <a:ext cx="541" cy="539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4" name="椭圆 10250"/>
            <p:cNvSpPr/>
            <p:nvPr/>
          </p:nvSpPr>
          <p:spPr>
            <a:xfrm>
              <a:off x="1621" y="0"/>
              <a:ext cx="539" cy="540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6" name="椭圆 10251"/>
            <p:cNvSpPr/>
            <p:nvPr/>
          </p:nvSpPr>
          <p:spPr>
            <a:xfrm>
              <a:off x="1617" y="2097"/>
              <a:ext cx="541" cy="540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8" name="椭圆 10252"/>
            <p:cNvSpPr/>
            <p:nvPr/>
          </p:nvSpPr>
          <p:spPr>
            <a:xfrm>
              <a:off x="1621" y="936"/>
              <a:ext cx="539" cy="541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0" name="椭圆 10253"/>
            <p:cNvSpPr/>
            <p:nvPr/>
          </p:nvSpPr>
          <p:spPr>
            <a:xfrm>
              <a:off x="3241" y="469"/>
              <a:ext cx="539" cy="539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1" name="直接连接符 10254"/>
            <p:cNvSpPr/>
            <p:nvPr/>
          </p:nvSpPr>
          <p:spPr>
            <a:xfrm flipV="1">
              <a:off x="541" y="312"/>
              <a:ext cx="1080" cy="46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2" name="直接连接符 10255"/>
            <p:cNvSpPr/>
            <p:nvPr/>
          </p:nvSpPr>
          <p:spPr>
            <a:xfrm>
              <a:off x="420" y="1167"/>
              <a:ext cx="1220" cy="105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3" name="直接连接符 10256"/>
            <p:cNvSpPr/>
            <p:nvPr/>
          </p:nvSpPr>
          <p:spPr>
            <a:xfrm>
              <a:off x="541" y="936"/>
              <a:ext cx="1099" cy="23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4" name="直接连接符 10257"/>
            <p:cNvSpPr/>
            <p:nvPr/>
          </p:nvSpPr>
          <p:spPr>
            <a:xfrm>
              <a:off x="1870" y="531"/>
              <a:ext cx="0" cy="41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5" name="直接连接符 10258"/>
            <p:cNvSpPr/>
            <p:nvPr/>
          </p:nvSpPr>
          <p:spPr>
            <a:xfrm>
              <a:off x="1863" y="1503"/>
              <a:ext cx="7" cy="624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6" name="直接连接符 10259"/>
            <p:cNvSpPr/>
            <p:nvPr/>
          </p:nvSpPr>
          <p:spPr>
            <a:xfrm flipV="1">
              <a:off x="2160" y="910"/>
              <a:ext cx="1153" cy="34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7" name="直接连接符 10260"/>
            <p:cNvSpPr/>
            <p:nvPr/>
          </p:nvSpPr>
          <p:spPr>
            <a:xfrm>
              <a:off x="2160" y="312"/>
              <a:ext cx="1081" cy="313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8" name="文本框 10261"/>
            <p:cNvSpPr txBox="1"/>
            <p:nvPr/>
          </p:nvSpPr>
          <p:spPr>
            <a:xfrm>
              <a:off x="77" y="649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文本框 10262"/>
            <p:cNvSpPr txBox="1"/>
            <p:nvPr/>
          </p:nvSpPr>
          <p:spPr>
            <a:xfrm>
              <a:off x="1693" y="35"/>
              <a:ext cx="539" cy="4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矩形 10263"/>
            <p:cNvSpPr/>
            <p:nvPr/>
          </p:nvSpPr>
          <p:spPr>
            <a:xfrm>
              <a:off x="1621" y="936"/>
              <a:ext cx="539" cy="7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31" name="文本框 10264"/>
            <p:cNvSpPr txBox="1"/>
            <p:nvPr/>
          </p:nvSpPr>
          <p:spPr>
            <a:xfrm>
              <a:off x="1693" y="970"/>
              <a:ext cx="539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文本框 10265"/>
            <p:cNvSpPr txBox="1"/>
            <p:nvPr/>
          </p:nvSpPr>
          <p:spPr>
            <a:xfrm>
              <a:off x="1680" y="2112"/>
              <a:ext cx="541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文本框 10266"/>
            <p:cNvSpPr txBox="1"/>
            <p:nvPr/>
          </p:nvSpPr>
          <p:spPr>
            <a:xfrm>
              <a:off x="3313" y="525"/>
              <a:ext cx="539" cy="6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文本框 10267"/>
            <p:cNvSpPr txBox="1"/>
            <p:nvPr/>
          </p:nvSpPr>
          <p:spPr>
            <a:xfrm>
              <a:off x="824" y="153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文本框 10268"/>
            <p:cNvSpPr txBox="1"/>
            <p:nvPr/>
          </p:nvSpPr>
          <p:spPr>
            <a:xfrm>
              <a:off x="1006" y="645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文本框 10269"/>
            <p:cNvSpPr txBox="1"/>
            <p:nvPr/>
          </p:nvSpPr>
          <p:spPr>
            <a:xfrm>
              <a:off x="905" y="1269"/>
              <a:ext cx="541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  <a:p>
              <a:endPara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文本框 10270"/>
            <p:cNvSpPr txBox="1"/>
            <p:nvPr/>
          </p:nvSpPr>
          <p:spPr>
            <a:xfrm>
              <a:off x="1819" y="504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文本框 10271"/>
            <p:cNvSpPr txBox="1"/>
            <p:nvPr/>
          </p:nvSpPr>
          <p:spPr>
            <a:xfrm>
              <a:off x="1872" y="1594"/>
              <a:ext cx="72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文本框 10272"/>
            <p:cNvSpPr txBox="1"/>
            <p:nvPr/>
          </p:nvSpPr>
          <p:spPr>
            <a:xfrm>
              <a:off x="2460" y="690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  <a:p>
              <a:endPara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文本框 10273"/>
            <p:cNvSpPr txBox="1"/>
            <p:nvPr/>
          </p:nvSpPr>
          <p:spPr>
            <a:xfrm>
              <a:off x="2540" y="45"/>
              <a:ext cx="360" cy="4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0" name="文本框 10247"/>
          <p:cNvSpPr txBox="1"/>
          <p:nvPr/>
        </p:nvSpPr>
        <p:spPr>
          <a:xfrm>
            <a:off x="1033878" y="1345762"/>
            <a:ext cx="9616440" cy="116903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演示过程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20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始时所有点都是蓝点，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min[1]=0,min[2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5]=∞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。权值之和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MST=0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Prime</a:t>
            </a:r>
          </a:p>
        </p:txBody>
      </p:sp>
      <p:sp>
        <p:nvSpPr>
          <p:cNvPr id="9" name="文本占位符 10244"/>
          <p:cNvSpPr>
            <a:spLocks noGrp="1"/>
          </p:cNvSpPr>
          <p:nvPr>
            <p:ph idx="1"/>
          </p:nvPr>
        </p:nvSpPr>
        <p:spPr>
          <a:xfrm>
            <a:off x="3194368" y="896620"/>
            <a:ext cx="8229600" cy="5327650"/>
          </a:xfrm>
        </p:spPr>
        <p:txBody>
          <a:bodyPr anchor="t"/>
          <a:lstStyle/>
          <a:p>
            <a:pPr>
              <a:buNone/>
            </a:pP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      </a:t>
            </a:r>
          </a:p>
          <a:p>
            <a:pPr>
              <a:buNone/>
            </a:pP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      </a:t>
            </a:r>
            <a:endParaRPr lang="zh-CN" altLang="en-US" sz="32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41" name="文本框 10274"/>
          <p:cNvSpPr txBox="1"/>
          <p:nvPr/>
        </p:nvSpPr>
        <p:spPr>
          <a:xfrm>
            <a:off x="1104900" y="1383030"/>
            <a:ext cx="8518525" cy="1116781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第一次循环自然是找到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min[1]=0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最小的蓝点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。将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变为白点，接着枚举与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相连的所有蓝点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，修改它们与白点相连的最小边权。</a:t>
            </a:r>
          </a:p>
        </p:txBody>
      </p:sp>
      <p:sp>
        <p:nvSpPr>
          <p:cNvPr id="69" name="文本框 10302"/>
          <p:cNvSpPr txBox="1"/>
          <p:nvPr/>
        </p:nvSpPr>
        <p:spPr>
          <a:xfrm>
            <a:off x="6304924" y="3352322"/>
            <a:ext cx="2156134" cy="10079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/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min[2]=w[1][2]=2;</a:t>
            </a:r>
          </a:p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min[3]=w[1][3]=4;</a:t>
            </a:r>
          </a:p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min[4]=w[1][4]=7;</a:t>
            </a:r>
          </a:p>
          <a:p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组合 10248"/>
          <p:cNvGrpSpPr/>
          <p:nvPr/>
        </p:nvGrpSpPr>
        <p:grpSpPr>
          <a:xfrm>
            <a:off x="1493021" y="3066820"/>
            <a:ext cx="3871141" cy="2672539"/>
            <a:chOff x="0" y="0"/>
            <a:chExt cx="3852" cy="2637"/>
          </a:xfrm>
        </p:grpSpPr>
        <p:sp>
          <p:nvSpPr>
            <p:cNvPr id="4" name="椭圆 10249"/>
            <p:cNvSpPr/>
            <p:nvPr/>
          </p:nvSpPr>
          <p:spPr>
            <a:xfrm>
              <a:off x="0" y="625"/>
              <a:ext cx="541" cy="539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" name="椭圆 10250"/>
            <p:cNvSpPr/>
            <p:nvPr/>
          </p:nvSpPr>
          <p:spPr>
            <a:xfrm>
              <a:off x="1621" y="0"/>
              <a:ext cx="539" cy="540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" name="椭圆 10251"/>
            <p:cNvSpPr/>
            <p:nvPr/>
          </p:nvSpPr>
          <p:spPr>
            <a:xfrm>
              <a:off x="1617" y="2097"/>
              <a:ext cx="541" cy="540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" name="椭圆 10252"/>
            <p:cNvSpPr/>
            <p:nvPr/>
          </p:nvSpPr>
          <p:spPr>
            <a:xfrm>
              <a:off x="1621" y="936"/>
              <a:ext cx="539" cy="541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8" name="椭圆 10253"/>
            <p:cNvSpPr/>
            <p:nvPr/>
          </p:nvSpPr>
          <p:spPr>
            <a:xfrm>
              <a:off x="3241" y="469"/>
              <a:ext cx="539" cy="539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直接连接符 10254"/>
            <p:cNvSpPr/>
            <p:nvPr/>
          </p:nvSpPr>
          <p:spPr>
            <a:xfrm flipV="1">
              <a:off x="541" y="312"/>
              <a:ext cx="1080" cy="46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1" name="直接连接符 10255"/>
            <p:cNvSpPr/>
            <p:nvPr/>
          </p:nvSpPr>
          <p:spPr>
            <a:xfrm>
              <a:off x="420" y="1167"/>
              <a:ext cx="1220" cy="105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2" name="直接连接符 10256"/>
            <p:cNvSpPr/>
            <p:nvPr/>
          </p:nvSpPr>
          <p:spPr>
            <a:xfrm>
              <a:off x="541" y="936"/>
              <a:ext cx="1099" cy="23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" name="直接连接符 10257"/>
            <p:cNvSpPr/>
            <p:nvPr/>
          </p:nvSpPr>
          <p:spPr>
            <a:xfrm>
              <a:off x="1870" y="531"/>
              <a:ext cx="0" cy="41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4" name="直接连接符 10258"/>
            <p:cNvSpPr/>
            <p:nvPr/>
          </p:nvSpPr>
          <p:spPr>
            <a:xfrm>
              <a:off x="1863" y="1503"/>
              <a:ext cx="7" cy="624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5" name="直接连接符 10259"/>
            <p:cNvSpPr/>
            <p:nvPr/>
          </p:nvSpPr>
          <p:spPr>
            <a:xfrm flipV="1">
              <a:off x="2160" y="910"/>
              <a:ext cx="1153" cy="34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6" name="直接连接符 10260"/>
            <p:cNvSpPr/>
            <p:nvPr/>
          </p:nvSpPr>
          <p:spPr>
            <a:xfrm>
              <a:off x="2160" y="312"/>
              <a:ext cx="1081" cy="313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7" name="文本框 10261"/>
            <p:cNvSpPr txBox="1"/>
            <p:nvPr/>
          </p:nvSpPr>
          <p:spPr>
            <a:xfrm>
              <a:off x="77" y="649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文本框 10262"/>
            <p:cNvSpPr txBox="1"/>
            <p:nvPr/>
          </p:nvSpPr>
          <p:spPr>
            <a:xfrm>
              <a:off x="1693" y="35"/>
              <a:ext cx="539" cy="4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矩形 10263"/>
            <p:cNvSpPr/>
            <p:nvPr/>
          </p:nvSpPr>
          <p:spPr>
            <a:xfrm>
              <a:off x="1621" y="936"/>
              <a:ext cx="539" cy="7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0" name="文本框 10264"/>
            <p:cNvSpPr txBox="1"/>
            <p:nvPr/>
          </p:nvSpPr>
          <p:spPr>
            <a:xfrm>
              <a:off x="1693" y="970"/>
              <a:ext cx="539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文本框 10265"/>
            <p:cNvSpPr txBox="1"/>
            <p:nvPr/>
          </p:nvSpPr>
          <p:spPr>
            <a:xfrm>
              <a:off x="1680" y="2112"/>
              <a:ext cx="541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文本框 10266"/>
            <p:cNvSpPr txBox="1"/>
            <p:nvPr/>
          </p:nvSpPr>
          <p:spPr>
            <a:xfrm>
              <a:off x="3313" y="525"/>
              <a:ext cx="539" cy="6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文本框 10267"/>
            <p:cNvSpPr txBox="1"/>
            <p:nvPr/>
          </p:nvSpPr>
          <p:spPr>
            <a:xfrm>
              <a:off x="824" y="153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文本框 10268"/>
            <p:cNvSpPr txBox="1"/>
            <p:nvPr/>
          </p:nvSpPr>
          <p:spPr>
            <a:xfrm>
              <a:off x="1006" y="645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文本框 10269"/>
            <p:cNvSpPr txBox="1"/>
            <p:nvPr/>
          </p:nvSpPr>
          <p:spPr>
            <a:xfrm>
              <a:off x="905" y="1269"/>
              <a:ext cx="541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  <a:p>
              <a:endPara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文本框 10270"/>
            <p:cNvSpPr txBox="1"/>
            <p:nvPr/>
          </p:nvSpPr>
          <p:spPr>
            <a:xfrm>
              <a:off x="1819" y="504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文本框 10271"/>
            <p:cNvSpPr txBox="1"/>
            <p:nvPr/>
          </p:nvSpPr>
          <p:spPr>
            <a:xfrm>
              <a:off x="1872" y="1594"/>
              <a:ext cx="72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文本框 10272"/>
            <p:cNvSpPr txBox="1"/>
            <p:nvPr/>
          </p:nvSpPr>
          <p:spPr>
            <a:xfrm>
              <a:off x="2460" y="690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  <a:p>
              <a:endPara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文本框 10273"/>
            <p:cNvSpPr txBox="1"/>
            <p:nvPr/>
          </p:nvSpPr>
          <p:spPr>
            <a:xfrm>
              <a:off x="2540" y="45"/>
              <a:ext cx="360" cy="4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Prime</a:t>
            </a:r>
          </a:p>
        </p:txBody>
      </p:sp>
      <p:sp>
        <p:nvSpPr>
          <p:cNvPr id="10245" name="文本占位符 11268"/>
          <p:cNvSpPr/>
          <p:nvPr/>
        </p:nvSpPr>
        <p:spPr>
          <a:xfrm>
            <a:off x="1144588" y="1656715"/>
            <a:ext cx="8229600" cy="53276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zh-CN" altLang="en-US" dirty="0">
                <a:ea typeface="黑体" panose="02010609060101010101" pitchFamily="49" charset="-122"/>
              </a:rPr>
              <a:t>      </a:t>
            </a:r>
          </a:p>
          <a:p>
            <a:pPr>
              <a:buNone/>
            </a:pPr>
            <a:r>
              <a:rPr lang="zh-CN" altLang="en-US" dirty="0">
                <a:ea typeface="黑体" panose="02010609060101010101" pitchFamily="49" charset="-122"/>
              </a:rPr>
              <a:t>      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sp>
        <p:nvSpPr>
          <p:cNvPr id="4" name="文本框 11271"/>
          <p:cNvSpPr txBox="1"/>
          <p:nvPr/>
        </p:nvSpPr>
        <p:spPr>
          <a:xfrm>
            <a:off x="1104900" y="1370754"/>
            <a:ext cx="9640570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endParaRPr lang="en-US" altLang="zh-CN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第二次循环是找到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min[2]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最小的蓝点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。将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变为白点，接着枚举与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相连的所有蓝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，修改它们与白点相连的最小边权。</a:t>
            </a:r>
          </a:p>
        </p:txBody>
      </p:sp>
      <p:sp>
        <p:nvSpPr>
          <p:cNvPr id="10275" name="文本框 11298"/>
          <p:cNvSpPr txBox="1"/>
          <p:nvPr/>
        </p:nvSpPr>
        <p:spPr>
          <a:xfrm>
            <a:off x="6095241" y="3434625"/>
            <a:ext cx="2064700" cy="62034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min[3]=w[2][3]=1;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min[5]=w[2][5]=2;</a:t>
            </a:r>
          </a:p>
          <a:p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组合 10248"/>
          <p:cNvGrpSpPr/>
          <p:nvPr/>
        </p:nvGrpSpPr>
        <p:grpSpPr>
          <a:xfrm>
            <a:off x="1388247" y="2679127"/>
            <a:ext cx="3871141" cy="2672539"/>
            <a:chOff x="0" y="0"/>
            <a:chExt cx="3852" cy="2637"/>
          </a:xfrm>
        </p:grpSpPr>
        <p:sp>
          <p:nvSpPr>
            <p:cNvPr id="5" name="椭圆 10249"/>
            <p:cNvSpPr/>
            <p:nvPr/>
          </p:nvSpPr>
          <p:spPr>
            <a:xfrm>
              <a:off x="0" y="625"/>
              <a:ext cx="541" cy="539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" name="椭圆 10250"/>
            <p:cNvSpPr/>
            <p:nvPr/>
          </p:nvSpPr>
          <p:spPr>
            <a:xfrm>
              <a:off x="1621" y="0"/>
              <a:ext cx="539" cy="5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" name="椭圆 10251"/>
            <p:cNvSpPr/>
            <p:nvPr/>
          </p:nvSpPr>
          <p:spPr>
            <a:xfrm>
              <a:off x="1617" y="2097"/>
              <a:ext cx="541" cy="540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8" name="椭圆 10252"/>
            <p:cNvSpPr/>
            <p:nvPr/>
          </p:nvSpPr>
          <p:spPr>
            <a:xfrm>
              <a:off x="1621" y="936"/>
              <a:ext cx="539" cy="541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椭圆 10253"/>
            <p:cNvSpPr/>
            <p:nvPr/>
          </p:nvSpPr>
          <p:spPr>
            <a:xfrm>
              <a:off x="3241" y="469"/>
              <a:ext cx="539" cy="539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直接连接符 10254"/>
            <p:cNvSpPr/>
            <p:nvPr/>
          </p:nvSpPr>
          <p:spPr>
            <a:xfrm flipV="1">
              <a:off x="541" y="312"/>
              <a:ext cx="1080" cy="46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1" name="直接连接符 10255"/>
            <p:cNvSpPr/>
            <p:nvPr/>
          </p:nvSpPr>
          <p:spPr>
            <a:xfrm>
              <a:off x="420" y="1167"/>
              <a:ext cx="1220" cy="105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2" name="直接连接符 10256"/>
            <p:cNvSpPr/>
            <p:nvPr/>
          </p:nvSpPr>
          <p:spPr>
            <a:xfrm>
              <a:off x="541" y="936"/>
              <a:ext cx="1099" cy="23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" name="直接连接符 10257"/>
            <p:cNvSpPr/>
            <p:nvPr/>
          </p:nvSpPr>
          <p:spPr>
            <a:xfrm>
              <a:off x="1870" y="531"/>
              <a:ext cx="0" cy="41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4" name="直接连接符 10258"/>
            <p:cNvSpPr/>
            <p:nvPr/>
          </p:nvSpPr>
          <p:spPr>
            <a:xfrm>
              <a:off x="1863" y="1503"/>
              <a:ext cx="7" cy="624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5" name="直接连接符 10259"/>
            <p:cNvSpPr/>
            <p:nvPr/>
          </p:nvSpPr>
          <p:spPr>
            <a:xfrm flipV="1">
              <a:off x="2160" y="910"/>
              <a:ext cx="1153" cy="34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6" name="直接连接符 10260"/>
            <p:cNvSpPr/>
            <p:nvPr/>
          </p:nvSpPr>
          <p:spPr>
            <a:xfrm>
              <a:off x="2160" y="312"/>
              <a:ext cx="1081" cy="313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7" name="文本框 10261"/>
            <p:cNvSpPr txBox="1"/>
            <p:nvPr/>
          </p:nvSpPr>
          <p:spPr>
            <a:xfrm>
              <a:off x="77" y="649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文本框 10262"/>
            <p:cNvSpPr txBox="1"/>
            <p:nvPr/>
          </p:nvSpPr>
          <p:spPr>
            <a:xfrm>
              <a:off x="1693" y="35"/>
              <a:ext cx="539" cy="4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矩形 10263"/>
            <p:cNvSpPr/>
            <p:nvPr/>
          </p:nvSpPr>
          <p:spPr>
            <a:xfrm>
              <a:off x="1621" y="936"/>
              <a:ext cx="539" cy="7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0" name="文本框 10264"/>
            <p:cNvSpPr txBox="1"/>
            <p:nvPr/>
          </p:nvSpPr>
          <p:spPr>
            <a:xfrm>
              <a:off x="1693" y="970"/>
              <a:ext cx="539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文本框 10265"/>
            <p:cNvSpPr txBox="1"/>
            <p:nvPr/>
          </p:nvSpPr>
          <p:spPr>
            <a:xfrm>
              <a:off x="1680" y="2112"/>
              <a:ext cx="541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文本框 10266"/>
            <p:cNvSpPr txBox="1"/>
            <p:nvPr/>
          </p:nvSpPr>
          <p:spPr>
            <a:xfrm>
              <a:off x="3313" y="525"/>
              <a:ext cx="539" cy="6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文本框 10267"/>
            <p:cNvSpPr txBox="1"/>
            <p:nvPr/>
          </p:nvSpPr>
          <p:spPr>
            <a:xfrm>
              <a:off x="824" y="153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文本框 10268"/>
            <p:cNvSpPr txBox="1"/>
            <p:nvPr/>
          </p:nvSpPr>
          <p:spPr>
            <a:xfrm>
              <a:off x="1006" y="645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文本框 10269"/>
            <p:cNvSpPr txBox="1"/>
            <p:nvPr/>
          </p:nvSpPr>
          <p:spPr>
            <a:xfrm>
              <a:off x="905" y="1269"/>
              <a:ext cx="541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  <a:p>
              <a:endPara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文本框 10270"/>
            <p:cNvSpPr txBox="1"/>
            <p:nvPr/>
          </p:nvSpPr>
          <p:spPr>
            <a:xfrm>
              <a:off x="1819" y="504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文本框 10271"/>
            <p:cNvSpPr txBox="1"/>
            <p:nvPr/>
          </p:nvSpPr>
          <p:spPr>
            <a:xfrm>
              <a:off x="1872" y="1594"/>
              <a:ext cx="72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文本框 10272"/>
            <p:cNvSpPr txBox="1"/>
            <p:nvPr/>
          </p:nvSpPr>
          <p:spPr>
            <a:xfrm>
              <a:off x="2460" y="690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  <a:p>
              <a:endPara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文本框 10273"/>
            <p:cNvSpPr txBox="1"/>
            <p:nvPr/>
          </p:nvSpPr>
          <p:spPr>
            <a:xfrm>
              <a:off x="2540" y="45"/>
              <a:ext cx="360" cy="4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Prime</a:t>
            </a:r>
          </a:p>
        </p:txBody>
      </p:sp>
      <p:sp>
        <p:nvSpPr>
          <p:cNvPr id="10245" name="文本占位符 11268"/>
          <p:cNvSpPr/>
          <p:nvPr/>
        </p:nvSpPr>
        <p:spPr>
          <a:xfrm>
            <a:off x="1144588" y="1656715"/>
            <a:ext cx="8229600" cy="53276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zh-CN" altLang="en-US" dirty="0">
                <a:ea typeface="黑体" panose="02010609060101010101" pitchFamily="49" charset="-122"/>
              </a:rPr>
              <a:t>      </a:t>
            </a:r>
          </a:p>
          <a:p>
            <a:pPr>
              <a:buNone/>
            </a:pPr>
            <a:r>
              <a:rPr lang="zh-CN" altLang="en-US" dirty="0">
                <a:ea typeface="黑体" panose="02010609060101010101" pitchFamily="49" charset="-122"/>
              </a:rPr>
              <a:t>      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sp>
        <p:nvSpPr>
          <p:cNvPr id="10276" name="文本框 11299"/>
          <p:cNvSpPr txBox="1"/>
          <p:nvPr/>
        </p:nvSpPr>
        <p:spPr>
          <a:xfrm>
            <a:off x="1104900" y="1137708"/>
            <a:ext cx="8289925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</a:p>
          <a:p>
            <a:pPr fontAlgn="auto">
              <a:lnSpc>
                <a:spcPct val="20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第三次循环是找到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min[3]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最小的蓝点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。将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变为白点，接着枚举与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相连的所有蓝点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，修改它们与白点相连的最小边权。</a:t>
            </a: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3" name="文本框 11326"/>
          <p:cNvSpPr txBox="1"/>
          <p:nvPr/>
        </p:nvSpPr>
        <p:spPr>
          <a:xfrm>
            <a:off x="6070845" y="3423647"/>
            <a:ext cx="2806896" cy="93435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min[4]=w[3][4]=1;</a:t>
            </a:r>
          </a:p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min[5]=2 &lt; w[3][5]=6;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所以不修改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min[5]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的值。</a:t>
            </a:r>
          </a:p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组合 10248"/>
          <p:cNvGrpSpPr/>
          <p:nvPr/>
        </p:nvGrpSpPr>
        <p:grpSpPr>
          <a:xfrm>
            <a:off x="1388247" y="2984270"/>
            <a:ext cx="3871141" cy="2672539"/>
            <a:chOff x="0" y="0"/>
            <a:chExt cx="3852" cy="2637"/>
          </a:xfrm>
        </p:grpSpPr>
        <p:sp>
          <p:nvSpPr>
            <p:cNvPr id="4" name="椭圆 10249"/>
            <p:cNvSpPr/>
            <p:nvPr/>
          </p:nvSpPr>
          <p:spPr>
            <a:xfrm>
              <a:off x="0" y="625"/>
              <a:ext cx="541" cy="539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" name="椭圆 10250"/>
            <p:cNvSpPr/>
            <p:nvPr/>
          </p:nvSpPr>
          <p:spPr>
            <a:xfrm>
              <a:off x="1621" y="0"/>
              <a:ext cx="539" cy="5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" name="椭圆 10251"/>
            <p:cNvSpPr/>
            <p:nvPr/>
          </p:nvSpPr>
          <p:spPr>
            <a:xfrm>
              <a:off x="1617" y="2097"/>
              <a:ext cx="541" cy="540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" name="椭圆 10252"/>
            <p:cNvSpPr/>
            <p:nvPr/>
          </p:nvSpPr>
          <p:spPr>
            <a:xfrm>
              <a:off x="1621" y="936"/>
              <a:ext cx="539" cy="54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8" name="椭圆 10253"/>
            <p:cNvSpPr/>
            <p:nvPr/>
          </p:nvSpPr>
          <p:spPr>
            <a:xfrm>
              <a:off x="3241" y="469"/>
              <a:ext cx="539" cy="539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直接连接符 10254"/>
            <p:cNvSpPr/>
            <p:nvPr/>
          </p:nvSpPr>
          <p:spPr>
            <a:xfrm flipV="1">
              <a:off x="541" y="312"/>
              <a:ext cx="1080" cy="46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0" name="直接连接符 10255"/>
            <p:cNvSpPr/>
            <p:nvPr/>
          </p:nvSpPr>
          <p:spPr>
            <a:xfrm>
              <a:off x="420" y="1167"/>
              <a:ext cx="1220" cy="105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1" name="直接连接符 10256"/>
            <p:cNvSpPr/>
            <p:nvPr/>
          </p:nvSpPr>
          <p:spPr>
            <a:xfrm>
              <a:off x="541" y="936"/>
              <a:ext cx="1099" cy="23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2" name="直接连接符 10257"/>
            <p:cNvSpPr/>
            <p:nvPr/>
          </p:nvSpPr>
          <p:spPr>
            <a:xfrm>
              <a:off x="1870" y="531"/>
              <a:ext cx="0" cy="41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" name="直接连接符 10258"/>
            <p:cNvSpPr/>
            <p:nvPr/>
          </p:nvSpPr>
          <p:spPr>
            <a:xfrm>
              <a:off x="1863" y="1503"/>
              <a:ext cx="7" cy="624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4" name="直接连接符 10259"/>
            <p:cNvSpPr/>
            <p:nvPr/>
          </p:nvSpPr>
          <p:spPr>
            <a:xfrm flipV="1">
              <a:off x="2160" y="910"/>
              <a:ext cx="1153" cy="34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5" name="直接连接符 10260"/>
            <p:cNvSpPr/>
            <p:nvPr/>
          </p:nvSpPr>
          <p:spPr>
            <a:xfrm>
              <a:off x="2160" y="312"/>
              <a:ext cx="1081" cy="313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6" name="文本框 10261"/>
            <p:cNvSpPr txBox="1"/>
            <p:nvPr/>
          </p:nvSpPr>
          <p:spPr>
            <a:xfrm>
              <a:off x="77" y="649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文本框 10262"/>
            <p:cNvSpPr txBox="1"/>
            <p:nvPr/>
          </p:nvSpPr>
          <p:spPr>
            <a:xfrm>
              <a:off x="1693" y="35"/>
              <a:ext cx="539" cy="4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矩形 10263"/>
            <p:cNvSpPr/>
            <p:nvPr/>
          </p:nvSpPr>
          <p:spPr>
            <a:xfrm>
              <a:off x="1621" y="936"/>
              <a:ext cx="539" cy="7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9" name="文本框 10264"/>
            <p:cNvSpPr txBox="1"/>
            <p:nvPr/>
          </p:nvSpPr>
          <p:spPr>
            <a:xfrm>
              <a:off x="1693" y="970"/>
              <a:ext cx="539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文本框 10265"/>
            <p:cNvSpPr txBox="1"/>
            <p:nvPr/>
          </p:nvSpPr>
          <p:spPr>
            <a:xfrm>
              <a:off x="1680" y="2112"/>
              <a:ext cx="541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文本框 10266"/>
            <p:cNvSpPr txBox="1"/>
            <p:nvPr/>
          </p:nvSpPr>
          <p:spPr>
            <a:xfrm>
              <a:off x="3313" y="525"/>
              <a:ext cx="539" cy="6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文本框 10267"/>
            <p:cNvSpPr txBox="1"/>
            <p:nvPr/>
          </p:nvSpPr>
          <p:spPr>
            <a:xfrm>
              <a:off x="824" y="153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文本框 10268"/>
            <p:cNvSpPr txBox="1"/>
            <p:nvPr/>
          </p:nvSpPr>
          <p:spPr>
            <a:xfrm>
              <a:off x="1006" y="645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文本框 10269"/>
            <p:cNvSpPr txBox="1"/>
            <p:nvPr/>
          </p:nvSpPr>
          <p:spPr>
            <a:xfrm>
              <a:off x="905" y="1269"/>
              <a:ext cx="541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  <a:p>
              <a:endPara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文本框 10270"/>
            <p:cNvSpPr txBox="1"/>
            <p:nvPr/>
          </p:nvSpPr>
          <p:spPr>
            <a:xfrm>
              <a:off x="1819" y="504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文本框 10271"/>
            <p:cNvSpPr txBox="1"/>
            <p:nvPr/>
          </p:nvSpPr>
          <p:spPr>
            <a:xfrm>
              <a:off x="1872" y="1594"/>
              <a:ext cx="72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文本框 10272"/>
            <p:cNvSpPr txBox="1"/>
            <p:nvPr/>
          </p:nvSpPr>
          <p:spPr>
            <a:xfrm>
              <a:off x="2460" y="690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  <a:p>
              <a:endPara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文本框 10273"/>
            <p:cNvSpPr txBox="1"/>
            <p:nvPr/>
          </p:nvSpPr>
          <p:spPr>
            <a:xfrm>
              <a:off x="2540" y="45"/>
              <a:ext cx="360" cy="4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Prime</a:t>
            </a:r>
          </a:p>
        </p:txBody>
      </p:sp>
      <p:sp>
        <p:nvSpPr>
          <p:cNvPr id="11268" name="文本占位符 12291"/>
          <p:cNvSpPr>
            <a:spLocks noGrp="1"/>
          </p:cNvSpPr>
          <p:nvPr>
            <p:ph idx="1"/>
          </p:nvPr>
        </p:nvSpPr>
        <p:spPr>
          <a:xfrm>
            <a:off x="468313" y="908050"/>
            <a:ext cx="8229600" cy="5327650"/>
          </a:xfrm>
        </p:spPr>
        <p:txBody>
          <a:bodyPr anchor="t"/>
          <a:lstStyle/>
          <a:p>
            <a:pPr>
              <a:buNone/>
            </a:pPr>
            <a:r>
              <a:rPr lang="zh-CN" altLang="en-US" dirty="0">
                <a:ea typeface="黑体" panose="02010609060101010101" pitchFamily="49" charset="-122"/>
              </a:rPr>
              <a:t>      </a:t>
            </a:r>
          </a:p>
          <a:p>
            <a:pPr>
              <a:buNone/>
            </a:pPr>
            <a:r>
              <a:rPr lang="zh-CN" altLang="en-US" dirty="0">
                <a:ea typeface="黑体" panose="02010609060101010101" pitchFamily="49" charset="-122"/>
              </a:rPr>
              <a:t>      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sp>
        <p:nvSpPr>
          <p:cNvPr id="11271" name="文本框 12294"/>
          <p:cNvSpPr txBox="1"/>
          <p:nvPr/>
        </p:nvSpPr>
        <p:spPr>
          <a:xfrm>
            <a:off x="999509" y="1243478"/>
            <a:ext cx="8505825" cy="64516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最后两轮循环将点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以及边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w[2][5],w[3][4]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添加进最小生成树。</a:t>
            </a:r>
          </a:p>
        </p:txBody>
      </p:sp>
      <p:sp>
        <p:nvSpPr>
          <p:cNvPr id="30" name="文本框 12321"/>
          <p:cNvSpPr txBox="1"/>
          <p:nvPr/>
        </p:nvSpPr>
        <p:spPr>
          <a:xfrm>
            <a:off x="1208503" y="4874522"/>
            <a:ext cx="5485261" cy="9233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最后权值之和MST=6。</a:t>
            </a:r>
          </a:p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</a:p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算法时间复杂度：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 (N</a:t>
            </a:r>
            <a:r>
              <a:rPr lang="zh-CN" altLang="en-US" b="1" baseline="30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3" name="组合 10248"/>
          <p:cNvGrpSpPr/>
          <p:nvPr/>
        </p:nvGrpSpPr>
        <p:grpSpPr>
          <a:xfrm>
            <a:off x="2793608" y="2296824"/>
            <a:ext cx="3798783" cy="2672539"/>
            <a:chOff x="0" y="0"/>
            <a:chExt cx="3780" cy="2637"/>
          </a:xfrm>
        </p:grpSpPr>
        <p:sp>
          <p:nvSpPr>
            <p:cNvPr id="31" name="椭圆 10249"/>
            <p:cNvSpPr/>
            <p:nvPr/>
          </p:nvSpPr>
          <p:spPr>
            <a:xfrm>
              <a:off x="0" y="625"/>
              <a:ext cx="541" cy="539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1264" name="椭圆 10250"/>
            <p:cNvSpPr/>
            <p:nvPr/>
          </p:nvSpPr>
          <p:spPr>
            <a:xfrm>
              <a:off x="1621" y="0"/>
              <a:ext cx="539" cy="5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1265" name="椭圆 10251"/>
            <p:cNvSpPr/>
            <p:nvPr/>
          </p:nvSpPr>
          <p:spPr>
            <a:xfrm>
              <a:off x="1617" y="2097"/>
              <a:ext cx="541" cy="5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1266" name="椭圆 10252"/>
            <p:cNvSpPr/>
            <p:nvPr/>
          </p:nvSpPr>
          <p:spPr>
            <a:xfrm>
              <a:off x="1621" y="936"/>
              <a:ext cx="539" cy="54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1267" name="椭圆 10253"/>
            <p:cNvSpPr/>
            <p:nvPr/>
          </p:nvSpPr>
          <p:spPr>
            <a:xfrm>
              <a:off x="3241" y="469"/>
              <a:ext cx="539" cy="539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1269" name="直接连接符 10254"/>
            <p:cNvSpPr/>
            <p:nvPr/>
          </p:nvSpPr>
          <p:spPr>
            <a:xfrm flipV="1">
              <a:off x="541" y="312"/>
              <a:ext cx="1080" cy="46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1270" name="直接连接符 10255"/>
            <p:cNvSpPr/>
            <p:nvPr/>
          </p:nvSpPr>
          <p:spPr>
            <a:xfrm>
              <a:off x="420" y="1167"/>
              <a:ext cx="1220" cy="105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1272" name="直接连接符 10256"/>
            <p:cNvSpPr/>
            <p:nvPr/>
          </p:nvSpPr>
          <p:spPr>
            <a:xfrm>
              <a:off x="541" y="936"/>
              <a:ext cx="1099" cy="23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1273" name="直接连接符 10257"/>
            <p:cNvSpPr/>
            <p:nvPr/>
          </p:nvSpPr>
          <p:spPr>
            <a:xfrm>
              <a:off x="1870" y="531"/>
              <a:ext cx="0" cy="41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1274" name="直接连接符 10258"/>
            <p:cNvSpPr/>
            <p:nvPr/>
          </p:nvSpPr>
          <p:spPr>
            <a:xfrm>
              <a:off x="1863" y="1503"/>
              <a:ext cx="7" cy="624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1275" name="直接连接符 10259"/>
            <p:cNvSpPr/>
            <p:nvPr/>
          </p:nvSpPr>
          <p:spPr>
            <a:xfrm flipV="1">
              <a:off x="2160" y="910"/>
              <a:ext cx="1153" cy="34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1276" name="直接连接符 10260"/>
            <p:cNvSpPr/>
            <p:nvPr/>
          </p:nvSpPr>
          <p:spPr>
            <a:xfrm>
              <a:off x="2160" y="312"/>
              <a:ext cx="1081" cy="313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1277" name="文本框 10261"/>
            <p:cNvSpPr txBox="1"/>
            <p:nvPr/>
          </p:nvSpPr>
          <p:spPr>
            <a:xfrm>
              <a:off x="77" y="649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8" name="文本框 10262"/>
            <p:cNvSpPr txBox="1"/>
            <p:nvPr/>
          </p:nvSpPr>
          <p:spPr>
            <a:xfrm>
              <a:off x="1693" y="35"/>
              <a:ext cx="539" cy="4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9" name="矩形 10263"/>
            <p:cNvSpPr/>
            <p:nvPr/>
          </p:nvSpPr>
          <p:spPr>
            <a:xfrm>
              <a:off x="1621" y="936"/>
              <a:ext cx="539" cy="7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1280" name="文本框 10264"/>
            <p:cNvSpPr txBox="1"/>
            <p:nvPr/>
          </p:nvSpPr>
          <p:spPr>
            <a:xfrm>
              <a:off x="1693" y="970"/>
              <a:ext cx="539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1" name="文本框 10265"/>
            <p:cNvSpPr txBox="1"/>
            <p:nvPr/>
          </p:nvSpPr>
          <p:spPr>
            <a:xfrm>
              <a:off x="1680" y="2112"/>
              <a:ext cx="380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2" name="文本框 10266"/>
            <p:cNvSpPr txBox="1"/>
            <p:nvPr/>
          </p:nvSpPr>
          <p:spPr>
            <a:xfrm>
              <a:off x="3313" y="525"/>
              <a:ext cx="395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3" name="文本框 10267"/>
            <p:cNvSpPr txBox="1"/>
            <p:nvPr/>
          </p:nvSpPr>
          <p:spPr>
            <a:xfrm>
              <a:off x="824" y="153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4" name="文本框 10268"/>
            <p:cNvSpPr txBox="1"/>
            <p:nvPr/>
          </p:nvSpPr>
          <p:spPr>
            <a:xfrm>
              <a:off x="1006" y="645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5" name="文本框 10269"/>
            <p:cNvSpPr txBox="1"/>
            <p:nvPr/>
          </p:nvSpPr>
          <p:spPr>
            <a:xfrm>
              <a:off x="905" y="1269"/>
              <a:ext cx="541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  <a:p>
              <a:endPara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6" name="文本框 10270"/>
            <p:cNvSpPr txBox="1"/>
            <p:nvPr/>
          </p:nvSpPr>
          <p:spPr>
            <a:xfrm>
              <a:off x="1819" y="504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7" name="文本框 10271"/>
            <p:cNvSpPr txBox="1"/>
            <p:nvPr/>
          </p:nvSpPr>
          <p:spPr>
            <a:xfrm>
              <a:off x="1872" y="1594"/>
              <a:ext cx="72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8" name="文本框 10272"/>
            <p:cNvSpPr txBox="1"/>
            <p:nvPr/>
          </p:nvSpPr>
          <p:spPr>
            <a:xfrm>
              <a:off x="2460" y="690"/>
              <a:ext cx="36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  <a:p>
              <a:endPara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9" name="文本框 10273"/>
            <p:cNvSpPr txBox="1"/>
            <p:nvPr/>
          </p:nvSpPr>
          <p:spPr>
            <a:xfrm>
              <a:off x="2540" y="45"/>
              <a:ext cx="360" cy="4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  <a:p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Prime</a:t>
            </a:r>
          </a:p>
        </p:txBody>
      </p:sp>
      <p:sp>
        <p:nvSpPr>
          <p:cNvPr id="5" name="矩形 4"/>
          <p:cNvSpPr/>
          <p:nvPr/>
        </p:nvSpPr>
        <p:spPr>
          <a:xfrm>
            <a:off x="854957" y="1269906"/>
            <a:ext cx="7161580" cy="5511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】最优布线问题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问题描述】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　　学校有n台计算机，为了方便数据传输，现要将它们用数据线连接起来。两台计算机被连接是指它们间有数据线连接。由于计算机所处的位置不同，因此不同的两台计算机的连接费用往往是不同的。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    当然，如果将任意两台计算机都用数据线连接，费用将是相当庞大的。为了节省费用，我们采用数据的间接传输手段，即一台计算机可以间接的通过若干台计算机（作为中转）来实现与另一台计算机的连接。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　　现在由你负责连接这些计算机，任务是使任意两台计算机都连通（不管是直接的或间接的）。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【输入格式】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     第一行为整数n（2&lt;=n&lt;=100），表示计算机的数目。此后的n行，每行n个整数。第x+1行y列的整数表示直接连接第x台计算机和第y台计算机的费用。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【输出格式】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    一个整数，表示最小的连接费用。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452282" y="1541915"/>
            <a:ext cx="2349268" cy="2951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【输入样例】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  </a:t>
            </a: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3 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  0 1 2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  </a:t>
            </a: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1 0 1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  </a:t>
            </a: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2 1 0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【输出样例】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   2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8183361" y="1541915"/>
            <a:ext cx="0" cy="5109328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Prime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104900" y="1342889"/>
            <a:ext cx="659204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【</a:t>
            </a:r>
            <a:r>
              <a:rPr lang="zh-CN" altLang="en-US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参考代码</a:t>
            </a:r>
            <a:r>
              <a:rPr lang="en-US" altLang="zh-CN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】</a:t>
            </a:r>
            <a:endParaRPr lang="zh-CN" altLang="en-US" noProof="1"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#include &lt;bits/stdc++.h&gt;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using namespace std;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int a[3010][3010], d[3010];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bool v[3010];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int n, m, ans;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void prim() {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memset(d, 0x3f, sizeof(d));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memset(v, 0, sizeof(v));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d[1] = 0;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for (int i = 1; i &lt; n; i++) {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int x = 0;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for (int j = 1; j &lt;= n; j++)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	if (!v[j] &amp;&amp; (x == 0 || d[j] &lt; d[x])) x = j;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v[x] = 1;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for (int y = 1; y &lt;= n; y++)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	if (!v[y]) d[y] = min(d[y], a[x][y]);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}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}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Prime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007245" y="1414854"/>
            <a:ext cx="485201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【</a:t>
            </a:r>
            <a:r>
              <a:rPr lang="zh-CN" altLang="en-US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参考代码</a:t>
            </a:r>
            <a:r>
              <a:rPr lang="en-US" altLang="zh-CN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】</a:t>
            </a:r>
            <a:endParaRPr lang="zh-CN" altLang="en-US" noProof="1"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int main() {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cin &gt;&gt; n;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for (int i = 1; i &lt;= n; i++) 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for(int j=1;j&lt;=n;j++)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	cin&gt;&gt;a[i][j];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prim();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for (int i = 1; i &lt;= n; i++) ans += d[i];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cout &lt;&lt; ans &lt;&lt; endl;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return 0;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}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</a:p>
        </p:txBody>
      </p:sp>
      <p:sp>
        <p:nvSpPr>
          <p:cNvPr id="4" name="文本占位符 16386"/>
          <p:cNvSpPr txBox="1">
            <a:spLocks noChangeArrowheads="1"/>
          </p:cNvSpPr>
          <p:nvPr/>
        </p:nvSpPr>
        <p:spPr>
          <a:xfrm>
            <a:off x="1080873" y="1530350"/>
            <a:ext cx="8229600" cy="53276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  <a:endParaRPr lang="zh-CN" altLang="en-US" sz="3200"/>
          </a:p>
        </p:txBody>
      </p:sp>
      <p:sp>
        <p:nvSpPr>
          <p:cNvPr id="6" name="文本框 16389"/>
          <p:cNvSpPr txBox="1">
            <a:spLocks noChangeArrowheads="1"/>
          </p:cNvSpPr>
          <p:nvPr/>
        </p:nvSpPr>
        <p:spPr bwMode="auto">
          <a:xfrm>
            <a:off x="936410" y="1387475"/>
            <a:ext cx="850582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5000"/>
              </a:lnSpc>
            </a:pPr>
            <a:endParaRPr lang="zh-CN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16390"/>
          <p:cNvSpPr txBox="1">
            <a:spLocks noChangeArrowheads="1"/>
          </p:cNvSpPr>
          <p:nvPr/>
        </p:nvSpPr>
        <p:spPr bwMode="auto">
          <a:xfrm>
            <a:off x="865115" y="1316037"/>
            <a:ext cx="10246012" cy="4896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Kruskal（克鲁斯卡尔）算法是一种巧妙利用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并查集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来求最小生成树的算法。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首先我们把无向图中相互连通的一些点称为处于同一个连通块中。例如下图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图中有3个连通块。1、2处于一个连通块中，4、5、6也处于一个连通块中，孤立点3也称为一个连通块。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Kruskal算法将一个连通块当做一个集合。Kruskal首先将所有的边按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从小到大顺序排序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（一般使用快排），并认为每一个点都是孤立的，分属于n个独立的集合。然后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按顺序枚举每一条边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。如果这条边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连接着两个不同的集合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，那么就把这条边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加入最小生成树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，这两个不同的集合就合并成了一个集合；如果这条边连接的两个点属于同一集合，就跳过。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直到选取了n-1条边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为止。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1817060" y="2259806"/>
            <a:ext cx="2661768" cy="1934369"/>
            <a:chOff x="2962279" y="2259806"/>
            <a:chExt cx="2661768" cy="1934369"/>
          </a:xfrm>
        </p:grpSpPr>
        <p:sp>
          <p:nvSpPr>
            <p:cNvPr id="3" name="椭圆 2"/>
            <p:cNvSpPr/>
            <p:nvPr/>
          </p:nvSpPr>
          <p:spPr>
            <a:xfrm>
              <a:off x="3083718" y="2259806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5" name="椭圆 4"/>
            <p:cNvSpPr/>
            <p:nvPr/>
          </p:nvSpPr>
          <p:spPr>
            <a:xfrm>
              <a:off x="4319194" y="2259806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30" name="椭圆 29"/>
            <p:cNvSpPr/>
            <p:nvPr/>
          </p:nvSpPr>
          <p:spPr>
            <a:xfrm>
              <a:off x="3440044" y="3012082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31" name="椭圆 30"/>
            <p:cNvSpPr/>
            <p:nvPr/>
          </p:nvSpPr>
          <p:spPr>
            <a:xfrm>
              <a:off x="5195673" y="3000626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6</a:t>
              </a:r>
              <a:endParaRPr lang="zh-CN" altLang="en-US" dirty="0"/>
            </a:p>
          </p:txBody>
        </p:sp>
        <p:sp>
          <p:nvSpPr>
            <p:cNvPr id="32" name="椭圆 31"/>
            <p:cNvSpPr/>
            <p:nvPr/>
          </p:nvSpPr>
          <p:spPr>
            <a:xfrm>
              <a:off x="2962279" y="3741447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33" name="椭圆 32"/>
            <p:cNvSpPr/>
            <p:nvPr/>
          </p:nvSpPr>
          <p:spPr>
            <a:xfrm>
              <a:off x="4385153" y="3765801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35" name="直接连接符 34"/>
            <p:cNvCxnSpPr>
              <a:stCxn id="3" idx="6"/>
              <a:endCxn id="5" idx="2"/>
            </p:cNvCxnSpPr>
            <p:nvPr/>
          </p:nvCxnSpPr>
          <p:spPr>
            <a:xfrm>
              <a:off x="3512092" y="2473993"/>
              <a:ext cx="807102" cy="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>
              <a:stCxn id="30" idx="5"/>
              <a:endCxn id="33" idx="1"/>
            </p:cNvCxnSpPr>
            <p:nvPr/>
          </p:nvCxnSpPr>
          <p:spPr>
            <a:xfrm>
              <a:off x="3805684" y="3377722"/>
              <a:ext cx="642203" cy="450813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>
              <a:stCxn id="33" idx="7"/>
              <a:endCxn id="31" idx="3"/>
            </p:cNvCxnSpPr>
            <p:nvPr/>
          </p:nvCxnSpPr>
          <p:spPr>
            <a:xfrm flipV="1">
              <a:off x="4750793" y="3366266"/>
              <a:ext cx="507614" cy="462269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</a:p>
        </p:txBody>
      </p:sp>
      <p:sp>
        <p:nvSpPr>
          <p:cNvPr id="4" name="文本占位符 16386"/>
          <p:cNvSpPr txBox="1">
            <a:spLocks noChangeArrowheads="1"/>
          </p:cNvSpPr>
          <p:nvPr/>
        </p:nvSpPr>
        <p:spPr>
          <a:xfrm>
            <a:off x="1080873" y="1530350"/>
            <a:ext cx="8229600" cy="53276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  <a:endParaRPr lang="zh-CN" altLang="en-US" sz="3200"/>
          </a:p>
        </p:txBody>
      </p:sp>
      <p:sp>
        <p:nvSpPr>
          <p:cNvPr id="6" name="文本框 16389"/>
          <p:cNvSpPr txBox="1">
            <a:spLocks noChangeArrowheads="1"/>
          </p:cNvSpPr>
          <p:nvPr/>
        </p:nvSpPr>
        <p:spPr bwMode="auto">
          <a:xfrm>
            <a:off x="936410" y="1387475"/>
            <a:ext cx="850582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5000"/>
              </a:lnSpc>
            </a:pPr>
            <a:endParaRPr lang="zh-CN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17414"/>
          <p:cNvSpPr txBox="1">
            <a:spLocks noChangeArrowheads="1"/>
          </p:cNvSpPr>
          <p:nvPr/>
        </p:nvSpPr>
        <p:spPr bwMode="auto">
          <a:xfrm>
            <a:off x="1104900" y="1316037"/>
            <a:ext cx="10035063" cy="5398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算法描述:</a:t>
            </a:r>
          </a:p>
          <a:p>
            <a:pPr>
              <a:lnSpc>
                <a:spcPct val="150000"/>
              </a:lnSpc>
              <a:buSzPct val="100000"/>
              <a:buFont typeface="Arial" panose="020B0604020202020204" pitchFamily="34" charset="0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初始化并查集。father[x]=x。</a:t>
            </a:r>
          </a:p>
          <a:p>
            <a:pPr>
              <a:lnSpc>
                <a:spcPct val="150000"/>
              </a:lnSpc>
              <a:buSzPct val="100000"/>
              <a:buFont typeface="Arial" panose="020B0604020202020204" pitchFamily="34" charset="0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tot=0</a:t>
            </a:r>
          </a:p>
          <a:p>
            <a:pPr>
              <a:lnSpc>
                <a:spcPct val="150000"/>
              </a:lnSpc>
              <a:buSzPct val="100000"/>
              <a:buFont typeface="Arial" panose="020B0604020202020204" pitchFamily="34" charset="0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将所有边用快排从小到大排序。</a:t>
            </a:r>
          </a:p>
          <a:p>
            <a:pPr>
              <a:lnSpc>
                <a:spcPct val="150000"/>
              </a:lnSpc>
              <a:buSzPct val="100000"/>
              <a:buFont typeface="Arial" panose="020B0604020202020204" pitchFamily="34" charset="0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计数器 k=0;</a:t>
            </a:r>
          </a:p>
          <a:p>
            <a:pPr>
              <a:lnSpc>
                <a:spcPct val="150000"/>
              </a:lnSpc>
              <a:buSzPct val="100000"/>
              <a:buFont typeface="Arial" panose="020B0604020202020204" pitchFamily="34" charset="0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(i=1; i&lt;=M; i++)      //循环所有已从小到大排序的边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if  这是一条u,v不属于同一集合的边(u,v)(因为已经排序，所以必为最小)，</a:t>
            </a:r>
          </a:p>
          <a:p>
            <a:pPr>
              <a:lnSpc>
                <a:spcPct val="150000"/>
              </a:lnSpc>
              <a:buSzPct val="100000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begin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①合并u,v所在的集合，相当于把边(u,v)加入最小生成树。</a:t>
            </a:r>
          </a:p>
          <a:p>
            <a:pPr>
              <a:lnSpc>
                <a:spcPct val="150000"/>
              </a:lnSpc>
              <a:buSzPct val="100000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②tot=tot+W(u,v)</a:t>
            </a:r>
          </a:p>
          <a:p>
            <a:pPr>
              <a:lnSpc>
                <a:spcPct val="150000"/>
              </a:lnSpc>
              <a:buSzPct val="100000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③k+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④如果k=n-1,说明最小生成树已经生成，则break; </a:t>
            </a:r>
          </a:p>
          <a:p>
            <a:pPr>
              <a:lnSpc>
                <a:spcPct val="150000"/>
              </a:lnSpc>
              <a:buSzPct val="100000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end;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6.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结束，tot即为最小生成树的总权值之和。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</a:p>
        </p:txBody>
      </p:sp>
      <p:sp>
        <p:nvSpPr>
          <p:cNvPr id="4" name="文本占位符 16386"/>
          <p:cNvSpPr txBox="1">
            <a:spLocks noChangeArrowheads="1"/>
          </p:cNvSpPr>
          <p:nvPr/>
        </p:nvSpPr>
        <p:spPr>
          <a:xfrm>
            <a:off x="1080873" y="1530350"/>
            <a:ext cx="8229600" cy="53276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  <a:endParaRPr lang="zh-CN" altLang="en-US" sz="3200"/>
          </a:p>
        </p:txBody>
      </p:sp>
      <p:sp>
        <p:nvSpPr>
          <p:cNvPr id="6" name="文本框 16389"/>
          <p:cNvSpPr txBox="1">
            <a:spLocks noChangeArrowheads="1"/>
          </p:cNvSpPr>
          <p:nvPr/>
        </p:nvSpPr>
        <p:spPr bwMode="auto">
          <a:xfrm>
            <a:off x="936410" y="1387475"/>
            <a:ext cx="8505825" cy="30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5000"/>
              </a:lnSpc>
            </a:pP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18434"/>
          <p:cNvSpPr txBox="1">
            <a:spLocks noChangeArrowheads="1"/>
          </p:cNvSpPr>
          <p:nvPr/>
        </p:nvSpPr>
        <p:spPr>
          <a:xfrm>
            <a:off x="1212636" y="1106487"/>
            <a:ext cx="8229600" cy="53276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  <a:endParaRPr lang="zh-CN" altLang="en-US" sz="3200"/>
          </a:p>
        </p:txBody>
      </p:sp>
      <p:sp>
        <p:nvSpPr>
          <p:cNvPr id="8" name="文本框 18438"/>
          <p:cNvSpPr txBox="1">
            <a:spLocks noChangeArrowheads="1"/>
          </p:cNvSpPr>
          <p:nvPr/>
        </p:nvSpPr>
        <p:spPr bwMode="auto">
          <a:xfrm>
            <a:off x="1067857" y="1111197"/>
            <a:ext cx="9898491" cy="1151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思想讲解：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Kruskal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（克鲁斯卡尔）算法开始时，认为每一个点都是孤立的，分属于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个独立的集合。</a:t>
            </a:r>
          </a:p>
        </p:txBody>
      </p:sp>
      <p:sp>
        <p:nvSpPr>
          <p:cNvPr id="41" name="文本框 18471"/>
          <p:cNvSpPr txBox="1">
            <a:spLocks noChangeArrowheads="1"/>
          </p:cNvSpPr>
          <p:nvPr/>
        </p:nvSpPr>
        <p:spPr bwMode="auto">
          <a:xfrm>
            <a:off x="4095577" y="3122554"/>
            <a:ext cx="6870771" cy="874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个集合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{1}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{2}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{3}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{4}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{5} }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生成树中没有边</a:t>
            </a:r>
          </a:p>
        </p:txBody>
      </p:sp>
      <p:sp>
        <p:nvSpPr>
          <p:cNvPr id="42" name="文本框 18472"/>
          <p:cNvSpPr txBox="1">
            <a:spLocks noChangeArrowheads="1"/>
          </p:cNvSpPr>
          <p:nvPr/>
        </p:nvSpPr>
        <p:spPr bwMode="auto">
          <a:xfrm>
            <a:off x="1104900" y="4810369"/>
            <a:ext cx="8854226" cy="874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Kruskal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每次都选择一条最小的边，而且这条边的两个顶点分属于两个不同的集合。将选取的这条边加入最小生成树，并且合并集合。</a:t>
            </a:r>
          </a:p>
        </p:txBody>
      </p:sp>
      <p:grpSp>
        <p:nvGrpSpPr>
          <p:cNvPr id="87" name="组合 86"/>
          <p:cNvGrpSpPr/>
          <p:nvPr/>
        </p:nvGrpSpPr>
        <p:grpSpPr>
          <a:xfrm>
            <a:off x="1338103" y="2509688"/>
            <a:ext cx="2228256" cy="2100168"/>
            <a:chOff x="7785403" y="2335114"/>
            <a:chExt cx="2228256" cy="2100168"/>
          </a:xfrm>
        </p:grpSpPr>
        <p:sp>
          <p:nvSpPr>
            <p:cNvPr id="5" name="椭圆 4"/>
            <p:cNvSpPr/>
            <p:nvPr/>
          </p:nvSpPr>
          <p:spPr>
            <a:xfrm>
              <a:off x="7998977" y="2409730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43" name="椭圆 42"/>
            <p:cNvSpPr/>
            <p:nvPr/>
          </p:nvSpPr>
          <p:spPr>
            <a:xfrm>
              <a:off x="9341936" y="2421730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44" name="椭圆 43"/>
            <p:cNvSpPr/>
            <p:nvPr/>
          </p:nvSpPr>
          <p:spPr>
            <a:xfrm>
              <a:off x="8610199" y="3176773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46" name="椭圆 45"/>
            <p:cNvSpPr/>
            <p:nvPr/>
          </p:nvSpPr>
          <p:spPr>
            <a:xfrm>
              <a:off x="7998977" y="3843808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47" name="椭圆 46"/>
            <p:cNvSpPr/>
            <p:nvPr/>
          </p:nvSpPr>
          <p:spPr>
            <a:xfrm>
              <a:off x="9335785" y="3844993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48" name="直接连接符 47"/>
            <p:cNvCxnSpPr>
              <a:stCxn id="5" idx="6"/>
              <a:endCxn id="43" idx="2"/>
            </p:cNvCxnSpPr>
            <p:nvPr/>
          </p:nvCxnSpPr>
          <p:spPr>
            <a:xfrm>
              <a:off x="8427351" y="2623917"/>
              <a:ext cx="914585" cy="12000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>
              <a:stCxn id="44" idx="5"/>
              <a:endCxn id="47" idx="1"/>
            </p:cNvCxnSpPr>
            <p:nvPr/>
          </p:nvCxnSpPr>
          <p:spPr>
            <a:xfrm>
              <a:off x="8975839" y="3542413"/>
              <a:ext cx="422680" cy="365314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>
              <a:stCxn id="5" idx="5"/>
              <a:endCxn id="44" idx="1"/>
            </p:cNvCxnSpPr>
            <p:nvPr/>
          </p:nvCxnSpPr>
          <p:spPr>
            <a:xfrm>
              <a:off x="8364617" y="2775370"/>
              <a:ext cx="308316" cy="464137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>
              <a:stCxn id="46" idx="0"/>
              <a:endCxn id="5" idx="4"/>
            </p:cNvCxnSpPr>
            <p:nvPr/>
          </p:nvCxnSpPr>
          <p:spPr>
            <a:xfrm flipV="1">
              <a:off x="8213164" y="2838104"/>
              <a:ext cx="0" cy="1005704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>
              <a:stCxn id="46" idx="6"/>
              <a:endCxn id="47" idx="2"/>
            </p:cNvCxnSpPr>
            <p:nvPr/>
          </p:nvCxnSpPr>
          <p:spPr>
            <a:xfrm>
              <a:off x="8427351" y="4057995"/>
              <a:ext cx="908434" cy="1185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>
              <a:stCxn id="47" idx="0"/>
              <a:endCxn id="43" idx="4"/>
            </p:cNvCxnSpPr>
            <p:nvPr/>
          </p:nvCxnSpPr>
          <p:spPr>
            <a:xfrm flipV="1">
              <a:off x="9549972" y="2850104"/>
              <a:ext cx="6151" cy="994889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>
              <a:stCxn id="44" idx="7"/>
              <a:endCxn id="43" idx="3"/>
            </p:cNvCxnSpPr>
            <p:nvPr/>
          </p:nvCxnSpPr>
          <p:spPr>
            <a:xfrm flipV="1">
              <a:off x="8975839" y="2787370"/>
              <a:ext cx="428831" cy="452137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>
              <a:stCxn id="46" idx="7"/>
              <a:endCxn id="44" idx="3"/>
            </p:cNvCxnSpPr>
            <p:nvPr/>
          </p:nvCxnSpPr>
          <p:spPr>
            <a:xfrm flipV="1">
              <a:off x="8364617" y="3542413"/>
              <a:ext cx="308316" cy="364129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8" name="文本框 18463"/>
            <p:cNvSpPr txBox="1">
              <a:spLocks noChangeArrowheads="1"/>
            </p:cNvSpPr>
            <p:nvPr/>
          </p:nvSpPr>
          <p:spPr bwMode="auto">
            <a:xfrm>
              <a:off x="7785403" y="3098510"/>
              <a:ext cx="49437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文本框 18463"/>
            <p:cNvSpPr txBox="1">
              <a:spLocks noChangeArrowheads="1"/>
            </p:cNvSpPr>
            <p:nvPr/>
          </p:nvSpPr>
          <p:spPr bwMode="auto">
            <a:xfrm>
              <a:off x="8716300" y="2335114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文本框 18463"/>
            <p:cNvSpPr txBox="1">
              <a:spLocks noChangeArrowheads="1"/>
            </p:cNvSpPr>
            <p:nvPr/>
          </p:nvSpPr>
          <p:spPr bwMode="auto">
            <a:xfrm>
              <a:off x="8387512" y="2752910"/>
              <a:ext cx="53516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文本框 18463"/>
            <p:cNvSpPr txBox="1">
              <a:spLocks noChangeArrowheads="1"/>
            </p:cNvSpPr>
            <p:nvPr/>
          </p:nvSpPr>
          <p:spPr bwMode="auto">
            <a:xfrm>
              <a:off x="9566876" y="3202335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文本框 18463"/>
            <p:cNvSpPr txBox="1">
              <a:spLocks noChangeArrowheads="1"/>
            </p:cNvSpPr>
            <p:nvPr/>
          </p:nvSpPr>
          <p:spPr bwMode="auto">
            <a:xfrm>
              <a:off x="8672933" y="4081208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文本框 18463"/>
            <p:cNvSpPr txBox="1">
              <a:spLocks noChangeArrowheads="1"/>
            </p:cNvSpPr>
            <p:nvPr/>
          </p:nvSpPr>
          <p:spPr bwMode="auto">
            <a:xfrm>
              <a:off x="8288276" y="3418264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文本框 18463"/>
            <p:cNvSpPr txBox="1">
              <a:spLocks noChangeArrowheads="1"/>
            </p:cNvSpPr>
            <p:nvPr/>
          </p:nvSpPr>
          <p:spPr bwMode="auto">
            <a:xfrm>
              <a:off x="9087703" y="2948286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文本框 18463"/>
            <p:cNvSpPr txBox="1">
              <a:spLocks noChangeArrowheads="1"/>
            </p:cNvSpPr>
            <p:nvPr/>
          </p:nvSpPr>
          <p:spPr bwMode="auto">
            <a:xfrm>
              <a:off x="9116755" y="3463082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</a:p>
        </p:txBody>
      </p:sp>
      <p:sp>
        <p:nvSpPr>
          <p:cNvPr id="4" name="文本占位符 16386"/>
          <p:cNvSpPr txBox="1">
            <a:spLocks noChangeArrowheads="1"/>
          </p:cNvSpPr>
          <p:nvPr/>
        </p:nvSpPr>
        <p:spPr>
          <a:xfrm>
            <a:off x="1080873" y="1530350"/>
            <a:ext cx="8229600" cy="53276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  <a:endParaRPr lang="zh-CN" altLang="en-US" sz="3200"/>
          </a:p>
        </p:txBody>
      </p:sp>
      <p:sp>
        <p:nvSpPr>
          <p:cNvPr id="6" name="文本框 16389"/>
          <p:cNvSpPr txBox="1">
            <a:spLocks noChangeArrowheads="1"/>
          </p:cNvSpPr>
          <p:nvPr/>
        </p:nvSpPr>
        <p:spPr bwMode="auto">
          <a:xfrm>
            <a:off x="936410" y="1387475"/>
            <a:ext cx="8505825" cy="30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5000"/>
              </a:lnSpc>
            </a:pP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18434"/>
          <p:cNvSpPr txBox="1">
            <a:spLocks noChangeArrowheads="1"/>
          </p:cNvSpPr>
          <p:nvPr/>
        </p:nvSpPr>
        <p:spPr>
          <a:xfrm>
            <a:off x="1212636" y="1106487"/>
            <a:ext cx="8229600" cy="53276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  <a:endParaRPr lang="zh-CN" altLang="en-US" sz="3200"/>
          </a:p>
        </p:txBody>
      </p:sp>
      <p:sp>
        <p:nvSpPr>
          <p:cNvPr id="8" name="文本框 18438"/>
          <p:cNvSpPr txBox="1">
            <a:spLocks noChangeArrowheads="1"/>
          </p:cNvSpPr>
          <p:nvPr/>
        </p:nvSpPr>
        <p:spPr bwMode="auto">
          <a:xfrm>
            <a:off x="1067857" y="1111197"/>
            <a:ext cx="9898491" cy="735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思想讲解：</a:t>
            </a:r>
          </a:p>
        </p:txBody>
      </p:sp>
      <p:sp>
        <p:nvSpPr>
          <p:cNvPr id="44" name="文本框 19462"/>
          <p:cNvSpPr txBox="1">
            <a:spLocks noChangeArrowheads="1"/>
          </p:cNvSpPr>
          <p:nvPr/>
        </p:nvSpPr>
        <p:spPr bwMode="auto">
          <a:xfrm>
            <a:off x="1104900" y="1869683"/>
            <a:ext cx="9034908" cy="874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第一次选择的是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&lt;1,2&gt;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这条边，将这条边加入到生成树中，并且将它的两个顶点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合并成一个集合。</a:t>
            </a:r>
          </a:p>
        </p:txBody>
      </p:sp>
      <p:sp>
        <p:nvSpPr>
          <p:cNvPr id="77" name="文本框 19495"/>
          <p:cNvSpPr txBox="1">
            <a:spLocks noChangeArrowheads="1"/>
          </p:cNvSpPr>
          <p:nvPr/>
        </p:nvSpPr>
        <p:spPr bwMode="auto">
          <a:xfrm>
            <a:off x="4358726" y="3339679"/>
            <a:ext cx="4325937" cy="874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个集合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{1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{3}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{4}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{5} }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生成树中有一条边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&lt;1,2&gt; }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165934" y="3063827"/>
            <a:ext cx="2228256" cy="2100168"/>
            <a:chOff x="7785403" y="2335114"/>
            <a:chExt cx="2228256" cy="2100168"/>
          </a:xfrm>
        </p:grpSpPr>
        <p:sp>
          <p:nvSpPr>
            <p:cNvPr id="5" name="椭圆 4"/>
            <p:cNvSpPr/>
            <p:nvPr/>
          </p:nvSpPr>
          <p:spPr>
            <a:xfrm>
              <a:off x="7998977" y="2409730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9" name="椭圆 8"/>
            <p:cNvSpPr/>
            <p:nvPr/>
          </p:nvSpPr>
          <p:spPr>
            <a:xfrm>
              <a:off x="9341936" y="2421730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10" name="椭圆 9"/>
            <p:cNvSpPr/>
            <p:nvPr/>
          </p:nvSpPr>
          <p:spPr>
            <a:xfrm>
              <a:off x="8610199" y="3176773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11" name="椭圆 10"/>
            <p:cNvSpPr/>
            <p:nvPr/>
          </p:nvSpPr>
          <p:spPr>
            <a:xfrm>
              <a:off x="7998977" y="3843808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12" name="椭圆 11"/>
            <p:cNvSpPr/>
            <p:nvPr/>
          </p:nvSpPr>
          <p:spPr>
            <a:xfrm>
              <a:off x="9335785" y="3844993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13" name="直接连接符 12"/>
            <p:cNvCxnSpPr>
              <a:stCxn id="5" idx="6"/>
              <a:endCxn id="9" idx="2"/>
            </p:cNvCxnSpPr>
            <p:nvPr/>
          </p:nvCxnSpPr>
          <p:spPr>
            <a:xfrm>
              <a:off x="8427351" y="2623917"/>
              <a:ext cx="914585" cy="1200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10" idx="5"/>
              <a:endCxn id="12" idx="1"/>
            </p:cNvCxnSpPr>
            <p:nvPr/>
          </p:nvCxnSpPr>
          <p:spPr>
            <a:xfrm>
              <a:off x="8975839" y="3542413"/>
              <a:ext cx="422680" cy="365314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5" idx="5"/>
              <a:endCxn id="10" idx="1"/>
            </p:cNvCxnSpPr>
            <p:nvPr/>
          </p:nvCxnSpPr>
          <p:spPr>
            <a:xfrm>
              <a:off x="8364617" y="2775370"/>
              <a:ext cx="308316" cy="464137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11" idx="0"/>
              <a:endCxn id="5" idx="4"/>
            </p:cNvCxnSpPr>
            <p:nvPr/>
          </p:nvCxnSpPr>
          <p:spPr>
            <a:xfrm flipV="1">
              <a:off x="8213164" y="2838104"/>
              <a:ext cx="0" cy="1005704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11" idx="6"/>
              <a:endCxn id="12" idx="2"/>
            </p:cNvCxnSpPr>
            <p:nvPr/>
          </p:nvCxnSpPr>
          <p:spPr>
            <a:xfrm>
              <a:off x="8427351" y="4057995"/>
              <a:ext cx="908434" cy="1185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12" idx="0"/>
              <a:endCxn id="9" idx="4"/>
            </p:cNvCxnSpPr>
            <p:nvPr/>
          </p:nvCxnSpPr>
          <p:spPr>
            <a:xfrm flipV="1">
              <a:off x="9549972" y="2850104"/>
              <a:ext cx="6151" cy="994889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0" idx="7"/>
              <a:endCxn id="9" idx="3"/>
            </p:cNvCxnSpPr>
            <p:nvPr/>
          </p:nvCxnSpPr>
          <p:spPr>
            <a:xfrm flipV="1">
              <a:off x="8975839" y="2787370"/>
              <a:ext cx="428831" cy="452137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1" idx="7"/>
              <a:endCxn id="10" idx="3"/>
            </p:cNvCxnSpPr>
            <p:nvPr/>
          </p:nvCxnSpPr>
          <p:spPr>
            <a:xfrm flipV="1">
              <a:off x="8364617" y="3542413"/>
              <a:ext cx="308316" cy="364129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文本框 18463"/>
            <p:cNvSpPr txBox="1">
              <a:spLocks noChangeArrowheads="1"/>
            </p:cNvSpPr>
            <p:nvPr/>
          </p:nvSpPr>
          <p:spPr bwMode="auto">
            <a:xfrm>
              <a:off x="7785403" y="3098510"/>
              <a:ext cx="49437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18463"/>
            <p:cNvSpPr txBox="1">
              <a:spLocks noChangeArrowheads="1"/>
            </p:cNvSpPr>
            <p:nvPr/>
          </p:nvSpPr>
          <p:spPr bwMode="auto">
            <a:xfrm>
              <a:off x="8716300" y="2335114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18463"/>
            <p:cNvSpPr txBox="1">
              <a:spLocks noChangeArrowheads="1"/>
            </p:cNvSpPr>
            <p:nvPr/>
          </p:nvSpPr>
          <p:spPr bwMode="auto">
            <a:xfrm>
              <a:off x="8387512" y="2752910"/>
              <a:ext cx="53516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18463"/>
            <p:cNvSpPr txBox="1">
              <a:spLocks noChangeArrowheads="1"/>
            </p:cNvSpPr>
            <p:nvPr/>
          </p:nvSpPr>
          <p:spPr bwMode="auto">
            <a:xfrm>
              <a:off x="9566876" y="3202335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18463"/>
            <p:cNvSpPr txBox="1">
              <a:spLocks noChangeArrowheads="1"/>
            </p:cNvSpPr>
            <p:nvPr/>
          </p:nvSpPr>
          <p:spPr bwMode="auto">
            <a:xfrm>
              <a:off x="8672933" y="4081208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18463"/>
            <p:cNvSpPr txBox="1">
              <a:spLocks noChangeArrowheads="1"/>
            </p:cNvSpPr>
            <p:nvPr/>
          </p:nvSpPr>
          <p:spPr bwMode="auto">
            <a:xfrm>
              <a:off x="8288276" y="3418264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18463"/>
            <p:cNvSpPr txBox="1">
              <a:spLocks noChangeArrowheads="1"/>
            </p:cNvSpPr>
            <p:nvPr/>
          </p:nvSpPr>
          <p:spPr bwMode="auto">
            <a:xfrm>
              <a:off x="9087703" y="2948286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18463"/>
            <p:cNvSpPr txBox="1">
              <a:spLocks noChangeArrowheads="1"/>
            </p:cNvSpPr>
            <p:nvPr/>
          </p:nvSpPr>
          <p:spPr bwMode="auto">
            <a:xfrm>
              <a:off x="9116755" y="3463082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</a:p>
        </p:txBody>
      </p:sp>
      <p:sp>
        <p:nvSpPr>
          <p:cNvPr id="4" name="文本占位符 16386"/>
          <p:cNvSpPr txBox="1">
            <a:spLocks noChangeArrowheads="1"/>
          </p:cNvSpPr>
          <p:nvPr/>
        </p:nvSpPr>
        <p:spPr>
          <a:xfrm>
            <a:off x="1080873" y="1530350"/>
            <a:ext cx="8229600" cy="53276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  <a:endParaRPr lang="zh-CN" altLang="en-US" sz="3200"/>
          </a:p>
        </p:txBody>
      </p:sp>
      <p:sp>
        <p:nvSpPr>
          <p:cNvPr id="6" name="文本框 16389"/>
          <p:cNvSpPr txBox="1">
            <a:spLocks noChangeArrowheads="1"/>
          </p:cNvSpPr>
          <p:nvPr/>
        </p:nvSpPr>
        <p:spPr bwMode="auto">
          <a:xfrm>
            <a:off x="936410" y="1387475"/>
            <a:ext cx="8505825" cy="30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5000"/>
              </a:lnSpc>
            </a:pP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18434"/>
          <p:cNvSpPr txBox="1">
            <a:spLocks noChangeArrowheads="1"/>
          </p:cNvSpPr>
          <p:nvPr/>
        </p:nvSpPr>
        <p:spPr>
          <a:xfrm>
            <a:off x="1212636" y="1106487"/>
            <a:ext cx="8229600" cy="53276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  <a:endParaRPr lang="zh-CN" altLang="en-US" sz="3200"/>
          </a:p>
        </p:txBody>
      </p:sp>
      <p:sp>
        <p:nvSpPr>
          <p:cNvPr id="8" name="文本框 18438"/>
          <p:cNvSpPr txBox="1">
            <a:spLocks noChangeArrowheads="1"/>
          </p:cNvSpPr>
          <p:nvPr/>
        </p:nvSpPr>
        <p:spPr bwMode="auto">
          <a:xfrm>
            <a:off x="1067857" y="1111197"/>
            <a:ext cx="9898491" cy="1566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思想讲解：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第二次选择的是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&lt;4,5&gt;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这条边，将这条边加入到生成树中，并且将它的两个顶点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合并成一个集合。</a:t>
            </a:r>
          </a:p>
        </p:txBody>
      </p:sp>
      <p:sp>
        <p:nvSpPr>
          <p:cNvPr id="41" name="文本框 18471"/>
          <p:cNvSpPr txBox="1">
            <a:spLocks noChangeArrowheads="1"/>
          </p:cNvSpPr>
          <p:nvPr/>
        </p:nvSpPr>
        <p:spPr bwMode="auto">
          <a:xfrm>
            <a:off x="4155295" y="3195262"/>
            <a:ext cx="6870771" cy="874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个集合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{1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{3}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5} }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生成树中有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&lt;1,2&gt;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&lt;4,5&gt;}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104900" y="2954379"/>
            <a:ext cx="2228256" cy="2100168"/>
            <a:chOff x="7785403" y="2335114"/>
            <a:chExt cx="2228256" cy="2100168"/>
          </a:xfrm>
        </p:grpSpPr>
        <p:sp>
          <p:nvSpPr>
            <p:cNvPr id="5" name="椭圆 4"/>
            <p:cNvSpPr/>
            <p:nvPr/>
          </p:nvSpPr>
          <p:spPr>
            <a:xfrm>
              <a:off x="7998977" y="2409730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9" name="椭圆 8"/>
            <p:cNvSpPr/>
            <p:nvPr/>
          </p:nvSpPr>
          <p:spPr>
            <a:xfrm>
              <a:off x="9341936" y="2421730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10" name="椭圆 9"/>
            <p:cNvSpPr/>
            <p:nvPr/>
          </p:nvSpPr>
          <p:spPr>
            <a:xfrm>
              <a:off x="8610199" y="3176773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11" name="椭圆 10"/>
            <p:cNvSpPr/>
            <p:nvPr/>
          </p:nvSpPr>
          <p:spPr>
            <a:xfrm>
              <a:off x="7998977" y="3843808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12" name="椭圆 11"/>
            <p:cNvSpPr/>
            <p:nvPr/>
          </p:nvSpPr>
          <p:spPr>
            <a:xfrm>
              <a:off x="9335785" y="3844993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13" name="直接连接符 12"/>
            <p:cNvCxnSpPr>
              <a:stCxn id="5" idx="6"/>
              <a:endCxn id="9" idx="2"/>
            </p:cNvCxnSpPr>
            <p:nvPr/>
          </p:nvCxnSpPr>
          <p:spPr>
            <a:xfrm>
              <a:off x="8427351" y="2623917"/>
              <a:ext cx="914585" cy="1200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10" idx="5"/>
              <a:endCxn id="12" idx="1"/>
            </p:cNvCxnSpPr>
            <p:nvPr/>
          </p:nvCxnSpPr>
          <p:spPr>
            <a:xfrm>
              <a:off x="8975839" y="3542413"/>
              <a:ext cx="422680" cy="365314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5" idx="5"/>
              <a:endCxn id="10" idx="1"/>
            </p:cNvCxnSpPr>
            <p:nvPr/>
          </p:nvCxnSpPr>
          <p:spPr>
            <a:xfrm>
              <a:off x="8364617" y="2775370"/>
              <a:ext cx="308316" cy="464137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11" idx="0"/>
              <a:endCxn id="5" idx="4"/>
            </p:cNvCxnSpPr>
            <p:nvPr/>
          </p:nvCxnSpPr>
          <p:spPr>
            <a:xfrm flipV="1">
              <a:off x="8213164" y="2838104"/>
              <a:ext cx="0" cy="1005704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11" idx="6"/>
              <a:endCxn id="12" idx="2"/>
            </p:cNvCxnSpPr>
            <p:nvPr/>
          </p:nvCxnSpPr>
          <p:spPr>
            <a:xfrm>
              <a:off x="8427351" y="4057995"/>
              <a:ext cx="908434" cy="1185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12" idx="0"/>
              <a:endCxn id="9" idx="4"/>
            </p:cNvCxnSpPr>
            <p:nvPr/>
          </p:nvCxnSpPr>
          <p:spPr>
            <a:xfrm flipV="1">
              <a:off x="9549972" y="2850104"/>
              <a:ext cx="6151" cy="994889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0" idx="7"/>
              <a:endCxn id="9" idx="3"/>
            </p:cNvCxnSpPr>
            <p:nvPr/>
          </p:nvCxnSpPr>
          <p:spPr>
            <a:xfrm flipV="1">
              <a:off x="8975839" y="2787370"/>
              <a:ext cx="428831" cy="452137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1" idx="7"/>
              <a:endCxn id="10" idx="3"/>
            </p:cNvCxnSpPr>
            <p:nvPr/>
          </p:nvCxnSpPr>
          <p:spPr>
            <a:xfrm flipV="1">
              <a:off x="8364617" y="3542413"/>
              <a:ext cx="308316" cy="364129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文本框 18463"/>
            <p:cNvSpPr txBox="1">
              <a:spLocks noChangeArrowheads="1"/>
            </p:cNvSpPr>
            <p:nvPr/>
          </p:nvSpPr>
          <p:spPr bwMode="auto">
            <a:xfrm>
              <a:off x="7785403" y="3098510"/>
              <a:ext cx="49437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18463"/>
            <p:cNvSpPr txBox="1">
              <a:spLocks noChangeArrowheads="1"/>
            </p:cNvSpPr>
            <p:nvPr/>
          </p:nvSpPr>
          <p:spPr bwMode="auto">
            <a:xfrm>
              <a:off x="8716300" y="2335114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18463"/>
            <p:cNvSpPr txBox="1">
              <a:spLocks noChangeArrowheads="1"/>
            </p:cNvSpPr>
            <p:nvPr/>
          </p:nvSpPr>
          <p:spPr bwMode="auto">
            <a:xfrm>
              <a:off x="8387512" y="2752910"/>
              <a:ext cx="53516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18463"/>
            <p:cNvSpPr txBox="1">
              <a:spLocks noChangeArrowheads="1"/>
            </p:cNvSpPr>
            <p:nvPr/>
          </p:nvSpPr>
          <p:spPr bwMode="auto">
            <a:xfrm>
              <a:off x="9566876" y="3202335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18463"/>
            <p:cNvSpPr txBox="1">
              <a:spLocks noChangeArrowheads="1"/>
            </p:cNvSpPr>
            <p:nvPr/>
          </p:nvSpPr>
          <p:spPr bwMode="auto">
            <a:xfrm>
              <a:off x="8672933" y="4081208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18463"/>
            <p:cNvSpPr txBox="1">
              <a:spLocks noChangeArrowheads="1"/>
            </p:cNvSpPr>
            <p:nvPr/>
          </p:nvSpPr>
          <p:spPr bwMode="auto">
            <a:xfrm>
              <a:off x="8288276" y="3418264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18463"/>
            <p:cNvSpPr txBox="1">
              <a:spLocks noChangeArrowheads="1"/>
            </p:cNvSpPr>
            <p:nvPr/>
          </p:nvSpPr>
          <p:spPr bwMode="auto">
            <a:xfrm>
              <a:off x="9087703" y="2948286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18463"/>
            <p:cNvSpPr txBox="1">
              <a:spLocks noChangeArrowheads="1"/>
            </p:cNvSpPr>
            <p:nvPr/>
          </p:nvSpPr>
          <p:spPr bwMode="auto">
            <a:xfrm>
              <a:off x="9116755" y="3463082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</a:p>
        </p:txBody>
      </p:sp>
      <p:sp>
        <p:nvSpPr>
          <p:cNvPr id="4" name="文本占位符 16386"/>
          <p:cNvSpPr txBox="1">
            <a:spLocks noChangeArrowheads="1"/>
          </p:cNvSpPr>
          <p:nvPr/>
        </p:nvSpPr>
        <p:spPr>
          <a:xfrm>
            <a:off x="1080873" y="1530350"/>
            <a:ext cx="8229600" cy="53276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  <a:endParaRPr lang="zh-CN" altLang="en-US" sz="3200"/>
          </a:p>
        </p:txBody>
      </p:sp>
      <p:sp>
        <p:nvSpPr>
          <p:cNvPr id="6" name="文本框 16389"/>
          <p:cNvSpPr txBox="1">
            <a:spLocks noChangeArrowheads="1"/>
          </p:cNvSpPr>
          <p:nvPr/>
        </p:nvSpPr>
        <p:spPr bwMode="auto">
          <a:xfrm>
            <a:off x="936410" y="1387475"/>
            <a:ext cx="8505825" cy="30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5000"/>
              </a:lnSpc>
            </a:pP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18434"/>
          <p:cNvSpPr txBox="1">
            <a:spLocks noChangeArrowheads="1"/>
          </p:cNvSpPr>
          <p:nvPr/>
        </p:nvSpPr>
        <p:spPr>
          <a:xfrm>
            <a:off x="1212636" y="1106487"/>
            <a:ext cx="8229600" cy="53276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  <a:endParaRPr lang="zh-CN" altLang="en-US" sz="3200"/>
          </a:p>
        </p:txBody>
      </p:sp>
      <p:sp>
        <p:nvSpPr>
          <p:cNvPr id="8" name="文本框 18438"/>
          <p:cNvSpPr txBox="1">
            <a:spLocks noChangeArrowheads="1"/>
          </p:cNvSpPr>
          <p:nvPr/>
        </p:nvSpPr>
        <p:spPr bwMode="auto">
          <a:xfrm>
            <a:off x="1067857" y="1111197"/>
            <a:ext cx="9898491" cy="1566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思想讲解：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第三次选择的是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&lt;3,5&gt;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这条边，将这条边加入到生成树中，并且将它的两个顶点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所在的两个集合合并成一个集合</a:t>
            </a:r>
          </a:p>
        </p:txBody>
      </p:sp>
      <p:sp>
        <p:nvSpPr>
          <p:cNvPr id="41" name="文本框 18471"/>
          <p:cNvSpPr txBox="1">
            <a:spLocks noChangeArrowheads="1"/>
          </p:cNvSpPr>
          <p:nvPr/>
        </p:nvSpPr>
        <p:spPr bwMode="auto">
          <a:xfrm>
            <a:off x="3820363" y="3673696"/>
            <a:ext cx="6870771" cy="874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个集合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{1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5} }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生成树中有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&lt;1,2&gt;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&lt;4,5&gt;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5&gt;}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82453" y="2938349"/>
            <a:ext cx="2228256" cy="2100168"/>
            <a:chOff x="7785403" y="2335114"/>
            <a:chExt cx="2228256" cy="2100168"/>
          </a:xfrm>
        </p:grpSpPr>
        <p:sp>
          <p:nvSpPr>
            <p:cNvPr id="5" name="椭圆 4"/>
            <p:cNvSpPr/>
            <p:nvPr/>
          </p:nvSpPr>
          <p:spPr>
            <a:xfrm>
              <a:off x="7998977" y="2409730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9" name="椭圆 8"/>
            <p:cNvSpPr/>
            <p:nvPr/>
          </p:nvSpPr>
          <p:spPr>
            <a:xfrm>
              <a:off x="9341936" y="2421730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10" name="椭圆 9"/>
            <p:cNvSpPr/>
            <p:nvPr/>
          </p:nvSpPr>
          <p:spPr>
            <a:xfrm>
              <a:off x="8610199" y="3176773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11" name="椭圆 10"/>
            <p:cNvSpPr/>
            <p:nvPr/>
          </p:nvSpPr>
          <p:spPr>
            <a:xfrm>
              <a:off x="7998977" y="3843808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12" name="椭圆 11"/>
            <p:cNvSpPr/>
            <p:nvPr/>
          </p:nvSpPr>
          <p:spPr>
            <a:xfrm>
              <a:off x="9335785" y="3844993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13" name="直接连接符 12"/>
            <p:cNvCxnSpPr>
              <a:stCxn id="5" idx="6"/>
              <a:endCxn id="9" idx="2"/>
            </p:cNvCxnSpPr>
            <p:nvPr/>
          </p:nvCxnSpPr>
          <p:spPr>
            <a:xfrm>
              <a:off x="8427351" y="2623917"/>
              <a:ext cx="914585" cy="1200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10" idx="5"/>
              <a:endCxn id="12" idx="1"/>
            </p:cNvCxnSpPr>
            <p:nvPr/>
          </p:nvCxnSpPr>
          <p:spPr>
            <a:xfrm>
              <a:off x="8975839" y="3542413"/>
              <a:ext cx="422680" cy="365314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5" idx="5"/>
              <a:endCxn id="10" idx="1"/>
            </p:cNvCxnSpPr>
            <p:nvPr/>
          </p:nvCxnSpPr>
          <p:spPr>
            <a:xfrm>
              <a:off x="8364617" y="2775370"/>
              <a:ext cx="308316" cy="464137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11" idx="0"/>
              <a:endCxn id="5" idx="4"/>
            </p:cNvCxnSpPr>
            <p:nvPr/>
          </p:nvCxnSpPr>
          <p:spPr>
            <a:xfrm flipV="1">
              <a:off x="8213164" y="2838104"/>
              <a:ext cx="0" cy="1005704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11" idx="6"/>
              <a:endCxn id="12" idx="2"/>
            </p:cNvCxnSpPr>
            <p:nvPr/>
          </p:nvCxnSpPr>
          <p:spPr>
            <a:xfrm>
              <a:off x="8427351" y="4057995"/>
              <a:ext cx="908434" cy="1185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12" idx="0"/>
              <a:endCxn id="9" idx="4"/>
            </p:cNvCxnSpPr>
            <p:nvPr/>
          </p:nvCxnSpPr>
          <p:spPr>
            <a:xfrm flipV="1">
              <a:off x="9549972" y="2850104"/>
              <a:ext cx="6151" cy="994889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0" idx="7"/>
              <a:endCxn id="9" idx="3"/>
            </p:cNvCxnSpPr>
            <p:nvPr/>
          </p:nvCxnSpPr>
          <p:spPr>
            <a:xfrm flipV="1">
              <a:off x="8975839" y="2787370"/>
              <a:ext cx="428831" cy="452137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1" idx="7"/>
              <a:endCxn id="10" idx="3"/>
            </p:cNvCxnSpPr>
            <p:nvPr/>
          </p:nvCxnSpPr>
          <p:spPr>
            <a:xfrm flipV="1">
              <a:off x="8364617" y="3542413"/>
              <a:ext cx="308316" cy="36412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文本框 18463"/>
            <p:cNvSpPr txBox="1">
              <a:spLocks noChangeArrowheads="1"/>
            </p:cNvSpPr>
            <p:nvPr/>
          </p:nvSpPr>
          <p:spPr bwMode="auto">
            <a:xfrm>
              <a:off x="7785403" y="3098510"/>
              <a:ext cx="49437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18463"/>
            <p:cNvSpPr txBox="1">
              <a:spLocks noChangeArrowheads="1"/>
            </p:cNvSpPr>
            <p:nvPr/>
          </p:nvSpPr>
          <p:spPr bwMode="auto">
            <a:xfrm>
              <a:off x="8716300" y="2335114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18463"/>
            <p:cNvSpPr txBox="1">
              <a:spLocks noChangeArrowheads="1"/>
            </p:cNvSpPr>
            <p:nvPr/>
          </p:nvSpPr>
          <p:spPr bwMode="auto">
            <a:xfrm>
              <a:off x="8387512" y="2752910"/>
              <a:ext cx="53516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18463"/>
            <p:cNvSpPr txBox="1">
              <a:spLocks noChangeArrowheads="1"/>
            </p:cNvSpPr>
            <p:nvPr/>
          </p:nvSpPr>
          <p:spPr bwMode="auto">
            <a:xfrm>
              <a:off x="9566876" y="3202335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18463"/>
            <p:cNvSpPr txBox="1">
              <a:spLocks noChangeArrowheads="1"/>
            </p:cNvSpPr>
            <p:nvPr/>
          </p:nvSpPr>
          <p:spPr bwMode="auto">
            <a:xfrm>
              <a:off x="8672933" y="4081208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18463"/>
            <p:cNvSpPr txBox="1">
              <a:spLocks noChangeArrowheads="1"/>
            </p:cNvSpPr>
            <p:nvPr/>
          </p:nvSpPr>
          <p:spPr bwMode="auto">
            <a:xfrm>
              <a:off x="8288276" y="3418264"/>
              <a:ext cx="290529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18463"/>
            <p:cNvSpPr txBox="1">
              <a:spLocks noChangeArrowheads="1"/>
            </p:cNvSpPr>
            <p:nvPr/>
          </p:nvSpPr>
          <p:spPr bwMode="auto">
            <a:xfrm>
              <a:off x="9087703" y="2948286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18463"/>
            <p:cNvSpPr txBox="1">
              <a:spLocks noChangeArrowheads="1"/>
            </p:cNvSpPr>
            <p:nvPr/>
          </p:nvSpPr>
          <p:spPr bwMode="auto">
            <a:xfrm>
              <a:off x="9116755" y="3463082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</a:p>
        </p:txBody>
      </p:sp>
      <p:sp>
        <p:nvSpPr>
          <p:cNvPr id="4" name="文本占位符 16386"/>
          <p:cNvSpPr txBox="1">
            <a:spLocks noChangeArrowheads="1"/>
          </p:cNvSpPr>
          <p:nvPr/>
        </p:nvSpPr>
        <p:spPr>
          <a:xfrm>
            <a:off x="1080873" y="1530350"/>
            <a:ext cx="8229600" cy="53276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  <a:endParaRPr lang="zh-CN" altLang="en-US" sz="3200"/>
          </a:p>
        </p:txBody>
      </p:sp>
      <p:sp>
        <p:nvSpPr>
          <p:cNvPr id="6" name="文本框 16389"/>
          <p:cNvSpPr txBox="1">
            <a:spLocks noChangeArrowheads="1"/>
          </p:cNvSpPr>
          <p:nvPr/>
        </p:nvSpPr>
        <p:spPr bwMode="auto">
          <a:xfrm>
            <a:off x="936410" y="1387475"/>
            <a:ext cx="8505825" cy="30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5000"/>
              </a:lnSpc>
            </a:pP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18434"/>
          <p:cNvSpPr txBox="1">
            <a:spLocks noChangeArrowheads="1"/>
          </p:cNvSpPr>
          <p:nvPr/>
        </p:nvSpPr>
        <p:spPr>
          <a:xfrm>
            <a:off x="1212636" y="1106487"/>
            <a:ext cx="8229600" cy="53276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  <a:endParaRPr lang="zh-CN" altLang="en-US" sz="3200"/>
          </a:p>
        </p:txBody>
      </p:sp>
      <p:sp>
        <p:nvSpPr>
          <p:cNvPr id="8" name="文本框 18438"/>
          <p:cNvSpPr txBox="1">
            <a:spLocks noChangeArrowheads="1"/>
          </p:cNvSpPr>
          <p:nvPr/>
        </p:nvSpPr>
        <p:spPr bwMode="auto">
          <a:xfrm>
            <a:off x="1067857" y="1111197"/>
            <a:ext cx="9898491" cy="1566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思想讲解：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第四次选择的是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&lt;2,5&gt;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这条边，将这条边加入到生成树中，并且将它的两个顶点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所在的两个集合合并成一个集合。</a:t>
            </a:r>
          </a:p>
        </p:txBody>
      </p:sp>
      <p:sp>
        <p:nvSpPr>
          <p:cNvPr id="41" name="文本框 18471"/>
          <p:cNvSpPr txBox="1">
            <a:spLocks noChangeArrowheads="1"/>
          </p:cNvSpPr>
          <p:nvPr/>
        </p:nvSpPr>
        <p:spPr bwMode="auto">
          <a:xfrm>
            <a:off x="3820363" y="3673696"/>
            <a:ext cx="6870771" cy="874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个集合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{1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5} }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生成树中有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&lt;1,2&gt;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&lt;4,5&gt;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&lt;2,5&gt;}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309086" y="3144091"/>
            <a:ext cx="2228256" cy="2100168"/>
            <a:chOff x="7785403" y="2335114"/>
            <a:chExt cx="2228256" cy="2100168"/>
          </a:xfrm>
        </p:grpSpPr>
        <p:sp>
          <p:nvSpPr>
            <p:cNvPr id="5" name="椭圆 4"/>
            <p:cNvSpPr/>
            <p:nvPr/>
          </p:nvSpPr>
          <p:spPr>
            <a:xfrm>
              <a:off x="7998977" y="2409730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9" name="椭圆 8"/>
            <p:cNvSpPr/>
            <p:nvPr/>
          </p:nvSpPr>
          <p:spPr>
            <a:xfrm>
              <a:off x="9341936" y="2421730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10" name="椭圆 9"/>
            <p:cNvSpPr/>
            <p:nvPr/>
          </p:nvSpPr>
          <p:spPr>
            <a:xfrm>
              <a:off x="8610199" y="3176773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11" name="椭圆 10"/>
            <p:cNvSpPr/>
            <p:nvPr/>
          </p:nvSpPr>
          <p:spPr>
            <a:xfrm>
              <a:off x="7998977" y="3843808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12" name="椭圆 11"/>
            <p:cNvSpPr/>
            <p:nvPr/>
          </p:nvSpPr>
          <p:spPr>
            <a:xfrm>
              <a:off x="9335785" y="3844993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13" name="直接连接符 12"/>
            <p:cNvCxnSpPr>
              <a:stCxn id="5" idx="6"/>
              <a:endCxn id="9" idx="2"/>
            </p:cNvCxnSpPr>
            <p:nvPr/>
          </p:nvCxnSpPr>
          <p:spPr>
            <a:xfrm>
              <a:off x="8427351" y="2623917"/>
              <a:ext cx="914585" cy="1200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10" idx="5"/>
              <a:endCxn id="12" idx="1"/>
            </p:cNvCxnSpPr>
            <p:nvPr/>
          </p:nvCxnSpPr>
          <p:spPr>
            <a:xfrm>
              <a:off x="8975839" y="3542413"/>
              <a:ext cx="422680" cy="365314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5" idx="5"/>
              <a:endCxn id="10" idx="1"/>
            </p:cNvCxnSpPr>
            <p:nvPr/>
          </p:nvCxnSpPr>
          <p:spPr>
            <a:xfrm>
              <a:off x="8364617" y="2775370"/>
              <a:ext cx="308316" cy="464137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11" idx="0"/>
              <a:endCxn id="5" idx="4"/>
            </p:cNvCxnSpPr>
            <p:nvPr/>
          </p:nvCxnSpPr>
          <p:spPr>
            <a:xfrm flipV="1">
              <a:off x="8213164" y="2838104"/>
              <a:ext cx="0" cy="1005704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11" idx="6"/>
              <a:endCxn id="12" idx="2"/>
            </p:cNvCxnSpPr>
            <p:nvPr/>
          </p:nvCxnSpPr>
          <p:spPr>
            <a:xfrm>
              <a:off x="8427351" y="4057995"/>
              <a:ext cx="908434" cy="1185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12" idx="0"/>
              <a:endCxn id="9" idx="4"/>
            </p:cNvCxnSpPr>
            <p:nvPr/>
          </p:nvCxnSpPr>
          <p:spPr>
            <a:xfrm flipV="1">
              <a:off x="9549972" y="2850104"/>
              <a:ext cx="6151" cy="994889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0" idx="7"/>
              <a:endCxn id="9" idx="3"/>
            </p:cNvCxnSpPr>
            <p:nvPr/>
          </p:nvCxnSpPr>
          <p:spPr>
            <a:xfrm flipV="1">
              <a:off x="8975839" y="2787370"/>
              <a:ext cx="428831" cy="45213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1" idx="7"/>
              <a:endCxn id="10" idx="3"/>
            </p:cNvCxnSpPr>
            <p:nvPr/>
          </p:nvCxnSpPr>
          <p:spPr>
            <a:xfrm flipV="1">
              <a:off x="8364617" y="3542413"/>
              <a:ext cx="308316" cy="36412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文本框 18463"/>
            <p:cNvSpPr txBox="1">
              <a:spLocks noChangeArrowheads="1"/>
            </p:cNvSpPr>
            <p:nvPr/>
          </p:nvSpPr>
          <p:spPr bwMode="auto">
            <a:xfrm>
              <a:off x="7785403" y="3098510"/>
              <a:ext cx="49437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18463"/>
            <p:cNvSpPr txBox="1">
              <a:spLocks noChangeArrowheads="1"/>
            </p:cNvSpPr>
            <p:nvPr/>
          </p:nvSpPr>
          <p:spPr bwMode="auto">
            <a:xfrm>
              <a:off x="8716300" y="2335114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18463"/>
            <p:cNvSpPr txBox="1">
              <a:spLocks noChangeArrowheads="1"/>
            </p:cNvSpPr>
            <p:nvPr/>
          </p:nvSpPr>
          <p:spPr bwMode="auto">
            <a:xfrm>
              <a:off x="8387512" y="2752910"/>
              <a:ext cx="53516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18463"/>
            <p:cNvSpPr txBox="1">
              <a:spLocks noChangeArrowheads="1"/>
            </p:cNvSpPr>
            <p:nvPr/>
          </p:nvSpPr>
          <p:spPr bwMode="auto">
            <a:xfrm>
              <a:off x="9566876" y="3202335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18463"/>
            <p:cNvSpPr txBox="1">
              <a:spLocks noChangeArrowheads="1"/>
            </p:cNvSpPr>
            <p:nvPr/>
          </p:nvSpPr>
          <p:spPr bwMode="auto">
            <a:xfrm>
              <a:off x="8672933" y="4081208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18463"/>
            <p:cNvSpPr txBox="1">
              <a:spLocks noChangeArrowheads="1"/>
            </p:cNvSpPr>
            <p:nvPr/>
          </p:nvSpPr>
          <p:spPr bwMode="auto">
            <a:xfrm>
              <a:off x="8288276" y="3418264"/>
              <a:ext cx="290529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18463"/>
            <p:cNvSpPr txBox="1">
              <a:spLocks noChangeArrowheads="1"/>
            </p:cNvSpPr>
            <p:nvPr/>
          </p:nvSpPr>
          <p:spPr bwMode="auto">
            <a:xfrm>
              <a:off x="9087703" y="2948286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18463"/>
            <p:cNvSpPr txBox="1">
              <a:spLocks noChangeArrowheads="1"/>
            </p:cNvSpPr>
            <p:nvPr/>
          </p:nvSpPr>
          <p:spPr bwMode="auto">
            <a:xfrm>
              <a:off x="9116755" y="3463082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</a:p>
        </p:txBody>
      </p:sp>
      <p:sp>
        <p:nvSpPr>
          <p:cNvPr id="4" name="文本占位符 16386"/>
          <p:cNvSpPr txBox="1">
            <a:spLocks noChangeArrowheads="1"/>
          </p:cNvSpPr>
          <p:nvPr/>
        </p:nvSpPr>
        <p:spPr>
          <a:xfrm>
            <a:off x="1080873" y="1530350"/>
            <a:ext cx="8229600" cy="53276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/>
              <a:t>      </a:t>
            </a:r>
            <a:endParaRPr lang="zh-CN" altLang="en-US" sz="3200"/>
          </a:p>
        </p:txBody>
      </p:sp>
      <p:sp>
        <p:nvSpPr>
          <p:cNvPr id="6" name="文本框 16389"/>
          <p:cNvSpPr txBox="1">
            <a:spLocks noChangeArrowheads="1"/>
          </p:cNvSpPr>
          <p:nvPr/>
        </p:nvSpPr>
        <p:spPr bwMode="auto">
          <a:xfrm>
            <a:off x="936410" y="1387475"/>
            <a:ext cx="850582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5000"/>
              </a:lnSpc>
            </a:pPr>
            <a:endParaRPr lang="zh-CN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16390"/>
          <p:cNvSpPr txBox="1">
            <a:spLocks noChangeArrowheads="1"/>
          </p:cNvSpPr>
          <p:nvPr/>
        </p:nvSpPr>
        <p:spPr bwMode="auto">
          <a:xfrm>
            <a:off x="865115" y="1316037"/>
            <a:ext cx="10246012" cy="4773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算法结束，最小生成树权值为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19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通过上面的模拟能够看到，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Kruskal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算法每次都选择一条最小的，且能合并两个不同集合的边，一张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个点的图总共选取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n-1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次边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。因为每次我们选的都是最小的边，所以最后的生成树一定是最小生成树。每次我们选的边都能够合并两个集合，最后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个点一定会合并成一个集合。通过这样的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贪心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策略，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Kruskal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算法就能得到一棵有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n-1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条边，连接着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个点的最小生成树。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Kruskal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算法的时间复杂度为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O(E*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logE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为边数。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742220" y="3863182"/>
            <a:ext cx="2228256" cy="2100168"/>
            <a:chOff x="7785403" y="2335114"/>
            <a:chExt cx="2228256" cy="2100168"/>
          </a:xfrm>
        </p:grpSpPr>
        <p:sp>
          <p:nvSpPr>
            <p:cNvPr id="5" name="椭圆 4"/>
            <p:cNvSpPr/>
            <p:nvPr/>
          </p:nvSpPr>
          <p:spPr>
            <a:xfrm>
              <a:off x="7998977" y="2409730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8" name="椭圆 7"/>
            <p:cNvSpPr/>
            <p:nvPr/>
          </p:nvSpPr>
          <p:spPr>
            <a:xfrm>
              <a:off x="9341936" y="2421730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9" name="椭圆 8"/>
            <p:cNvSpPr/>
            <p:nvPr/>
          </p:nvSpPr>
          <p:spPr>
            <a:xfrm>
              <a:off x="8610199" y="3176773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10" name="椭圆 9"/>
            <p:cNvSpPr/>
            <p:nvPr/>
          </p:nvSpPr>
          <p:spPr>
            <a:xfrm>
              <a:off x="7998977" y="3843808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11" name="椭圆 10"/>
            <p:cNvSpPr/>
            <p:nvPr/>
          </p:nvSpPr>
          <p:spPr>
            <a:xfrm>
              <a:off x="9335785" y="3844993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12" name="直接连接符 11"/>
            <p:cNvCxnSpPr>
              <a:stCxn id="5" idx="6"/>
              <a:endCxn id="8" idx="2"/>
            </p:cNvCxnSpPr>
            <p:nvPr/>
          </p:nvCxnSpPr>
          <p:spPr>
            <a:xfrm>
              <a:off x="8427351" y="2623917"/>
              <a:ext cx="914585" cy="1200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9" idx="5"/>
              <a:endCxn id="11" idx="1"/>
            </p:cNvCxnSpPr>
            <p:nvPr/>
          </p:nvCxnSpPr>
          <p:spPr>
            <a:xfrm>
              <a:off x="8975839" y="3542413"/>
              <a:ext cx="422680" cy="365314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5" idx="5"/>
              <a:endCxn id="9" idx="1"/>
            </p:cNvCxnSpPr>
            <p:nvPr/>
          </p:nvCxnSpPr>
          <p:spPr>
            <a:xfrm>
              <a:off x="8364617" y="2775370"/>
              <a:ext cx="308316" cy="464137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10" idx="0"/>
              <a:endCxn id="5" idx="4"/>
            </p:cNvCxnSpPr>
            <p:nvPr/>
          </p:nvCxnSpPr>
          <p:spPr>
            <a:xfrm flipV="1">
              <a:off x="8213164" y="2838104"/>
              <a:ext cx="0" cy="1005704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10" idx="6"/>
              <a:endCxn id="11" idx="2"/>
            </p:cNvCxnSpPr>
            <p:nvPr/>
          </p:nvCxnSpPr>
          <p:spPr>
            <a:xfrm>
              <a:off x="8427351" y="4057995"/>
              <a:ext cx="908434" cy="1185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11" idx="0"/>
              <a:endCxn id="8" idx="4"/>
            </p:cNvCxnSpPr>
            <p:nvPr/>
          </p:nvCxnSpPr>
          <p:spPr>
            <a:xfrm flipV="1">
              <a:off x="9549972" y="2850104"/>
              <a:ext cx="6151" cy="994889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9" idx="7"/>
              <a:endCxn id="8" idx="3"/>
            </p:cNvCxnSpPr>
            <p:nvPr/>
          </p:nvCxnSpPr>
          <p:spPr>
            <a:xfrm flipV="1">
              <a:off x="8975839" y="2787370"/>
              <a:ext cx="428831" cy="45213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0" idx="7"/>
              <a:endCxn id="9" idx="3"/>
            </p:cNvCxnSpPr>
            <p:nvPr/>
          </p:nvCxnSpPr>
          <p:spPr>
            <a:xfrm flipV="1">
              <a:off x="8364617" y="3542413"/>
              <a:ext cx="308316" cy="36412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文本框 18463"/>
            <p:cNvSpPr txBox="1">
              <a:spLocks noChangeArrowheads="1"/>
            </p:cNvSpPr>
            <p:nvPr/>
          </p:nvSpPr>
          <p:spPr bwMode="auto">
            <a:xfrm>
              <a:off x="7785403" y="3098510"/>
              <a:ext cx="49437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18463"/>
            <p:cNvSpPr txBox="1">
              <a:spLocks noChangeArrowheads="1"/>
            </p:cNvSpPr>
            <p:nvPr/>
          </p:nvSpPr>
          <p:spPr bwMode="auto">
            <a:xfrm>
              <a:off x="8716300" y="2335114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18463"/>
            <p:cNvSpPr txBox="1">
              <a:spLocks noChangeArrowheads="1"/>
            </p:cNvSpPr>
            <p:nvPr/>
          </p:nvSpPr>
          <p:spPr bwMode="auto">
            <a:xfrm>
              <a:off x="8387512" y="2752910"/>
              <a:ext cx="53516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18463"/>
            <p:cNvSpPr txBox="1">
              <a:spLocks noChangeArrowheads="1"/>
            </p:cNvSpPr>
            <p:nvPr/>
          </p:nvSpPr>
          <p:spPr bwMode="auto">
            <a:xfrm>
              <a:off x="9566876" y="3202335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18463"/>
            <p:cNvSpPr txBox="1">
              <a:spLocks noChangeArrowheads="1"/>
            </p:cNvSpPr>
            <p:nvPr/>
          </p:nvSpPr>
          <p:spPr bwMode="auto">
            <a:xfrm>
              <a:off x="8672933" y="4081208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18463"/>
            <p:cNvSpPr txBox="1">
              <a:spLocks noChangeArrowheads="1"/>
            </p:cNvSpPr>
            <p:nvPr/>
          </p:nvSpPr>
          <p:spPr bwMode="auto">
            <a:xfrm>
              <a:off x="8288276" y="3418264"/>
              <a:ext cx="290529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18463"/>
            <p:cNvSpPr txBox="1">
              <a:spLocks noChangeArrowheads="1"/>
            </p:cNvSpPr>
            <p:nvPr/>
          </p:nvSpPr>
          <p:spPr bwMode="auto">
            <a:xfrm>
              <a:off x="9087703" y="2948286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18463"/>
            <p:cNvSpPr txBox="1">
              <a:spLocks noChangeArrowheads="1"/>
            </p:cNvSpPr>
            <p:nvPr/>
          </p:nvSpPr>
          <p:spPr bwMode="auto">
            <a:xfrm>
              <a:off x="9116755" y="3463082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</a:p>
        </p:txBody>
      </p:sp>
      <p:sp>
        <p:nvSpPr>
          <p:cNvPr id="5" name="矩形 4"/>
          <p:cNvSpPr/>
          <p:nvPr/>
        </p:nvSpPr>
        <p:spPr>
          <a:xfrm>
            <a:off x="854956" y="1269906"/>
            <a:ext cx="10230626" cy="26803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3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最短网络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Agri-Net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     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问题描述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　　农民约翰被选为他们镇的镇长！他其中一个竞选承诺就是在镇上建立起互联网，并连接到所有的农场。当然，他需要你的帮助。约翰已经给他的农场安排了一条高速的网络线路，他想把这条线路共享给其他农场。为了用最小的消费，他想铺设最短的光纤去连接所有的农场。你将得到一份各农场之间连接费用的列表，你必须找出能连接所有农场并所用光纤最短的方案。每两个农场间的距离不会超过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100000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输入格式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</a:p>
        </p:txBody>
      </p:sp>
      <p:graphicFrame>
        <p:nvGraphicFramePr>
          <p:cNvPr id="3" name="表格 2"/>
          <p:cNvGraphicFramePr/>
          <p:nvPr/>
        </p:nvGraphicFramePr>
        <p:xfrm>
          <a:off x="1027251" y="4046999"/>
          <a:ext cx="6572034" cy="1842293"/>
        </p:xfrm>
        <a:graphic>
          <a:graphicData uri="http://schemas.openxmlformats.org/drawingml/2006/table">
            <a:tbl>
              <a:tblPr/>
              <a:tblGrid>
                <a:gridCol w="914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376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lvl="1" indent="-285750">
                        <a:defRPr sz="20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2000" kern="1200"/>
                      </a:lvl4pPr>
                      <a:lvl5pPr marL="2057400" lvl="4" indent="-228600">
                        <a:defRPr sz="2000" kern="1200"/>
                      </a:lvl5pPr>
                    </a:lstStyle>
                    <a:p>
                      <a:pPr marL="0" lvl="0" indent="0" algn="l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Times New Roman" panose="02020603050405020304" pitchFamily="18" charset="0"/>
                        </a:rPr>
                        <a:t>第一行：</a:t>
                      </a:r>
                    </a:p>
                  </a:txBody>
                  <a:tcPr marT="45965" marB="45965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lvl="1" indent="-285750">
                        <a:defRPr sz="20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2000" kern="1200"/>
                      </a:lvl4pPr>
                      <a:lvl5pPr marL="2057400" lvl="4" indent="-228600">
                        <a:defRPr sz="2000" kern="1200"/>
                      </a:lvl5pPr>
                    </a:lstStyle>
                    <a:p>
                      <a:pPr marL="0" lvl="0" indent="0" algn="l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b="0" i="0" u="none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Times New Roman" panose="02020603050405020304" pitchFamily="18" charset="0"/>
                        </a:rPr>
                        <a:t>农场的个数，</a:t>
                      </a:r>
                      <a:r>
                        <a:rPr lang="en-US" altLang="zh-CN" sz="1600" b="0" i="0" u="none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Times New Roman" panose="02020603050405020304" pitchFamily="18" charset="0"/>
                        </a:rPr>
                        <a:t>N</a:t>
                      </a:r>
                      <a:r>
                        <a:rPr lang="zh-CN" altLang="en-US" sz="1600" b="0" i="0" u="none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="0" i="0" u="none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Times New Roman" panose="02020603050405020304" pitchFamily="18" charset="0"/>
                        </a:rPr>
                        <a:t>3&lt;=N&lt;=100</a:t>
                      </a:r>
                      <a:r>
                        <a:rPr lang="zh-CN" altLang="en-US" sz="1600" b="0" i="0" u="none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宋体" panose="02010600030101010101" pitchFamily="2" charset="-122"/>
                        </a:rPr>
                        <a:t>）。</a:t>
                      </a:r>
                      <a:endParaRPr lang="zh-CN" altLang="en-US" sz="1600" b="0" i="0" u="none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T="45965" marB="45965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71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lvl="1" indent="-285750">
                        <a:defRPr sz="20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2000" kern="1200"/>
                      </a:lvl4pPr>
                      <a:lvl5pPr marL="2057400" lvl="4" indent="-228600">
                        <a:defRPr sz="2000" kern="1200"/>
                      </a:lvl5pPr>
                    </a:lstStyle>
                    <a:p>
                      <a:pPr marL="0" lvl="0" indent="0" algn="l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Times New Roman" panose="02020603050405020304" pitchFamily="18" charset="0"/>
                        </a:rPr>
                        <a:t>第二行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Times New Roman" panose="02020603050405020304" pitchFamily="18" charset="0"/>
                        </a:rPr>
                        <a:t>..</a:t>
                      </a:r>
                      <a:r>
                        <a:rPr lang="zh-CN" altLang="en-US" sz="1600" b="0" i="0" u="none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宋体" panose="02010600030101010101" pitchFamily="2" charset="-122"/>
                        </a:rPr>
                        <a:t>结尾</a:t>
                      </a:r>
                      <a:endParaRPr lang="zh-CN" altLang="en-US" sz="1600" b="0" i="0" u="none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T="45965" marB="45965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lvl="1" indent="-285750">
                        <a:defRPr sz="20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2000" kern="1200"/>
                      </a:lvl4pPr>
                      <a:lvl5pPr marL="2057400" lvl="4" indent="-228600">
                        <a:defRPr sz="2000" kern="1200"/>
                      </a:lvl5pPr>
                    </a:lstStyle>
                    <a:p>
                      <a:pPr marL="0" lvl="0"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Times New Roman" panose="02020603050405020304" pitchFamily="18" charset="0"/>
                        </a:rPr>
                        <a:t>后来的行包含了一个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Times New Roman" panose="02020603050405020304" pitchFamily="18" charset="0"/>
                        </a:rPr>
                        <a:t>N*N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宋体" panose="02010600030101010101" pitchFamily="2" charset="-122"/>
                        </a:rPr>
                        <a:t>的矩阵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宋体" panose="02010600030101010101" pitchFamily="2" charset="-122"/>
                        </a:rPr>
                        <a:t>表示每个农场之间的距离。理论上，他们是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Times New Roman" panose="02020603050405020304" pitchFamily="18" charset="0"/>
                        </a:rPr>
                        <a:t>N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宋体" panose="02010600030101010101" pitchFamily="2" charset="-122"/>
                        </a:rPr>
                        <a:t>行，每行由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Times New Roman" panose="02020603050405020304" pitchFamily="18" charset="0"/>
                        </a:rPr>
                        <a:t>N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宋体" panose="02010600030101010101" pitchFamily="2" charset="-122"/>
                        </a:rPr>
                        <a:t>个用空格分隔的数组成，实际上，他们限制在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Times New Roman" panose="02020603050405020304" pitchFamily="18" charset="0"/>
                        </a:rPr>
                        <a:t>80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宋体" panose="02010600030101010101" pitchFamily="2" charset="-122"/>
                        </a:rPr>
                        <a:t>个字符，因此，某些行会紧接着另一些行。当然，对角线将会是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宋体" panose="02010600030101010101" pitchFamily="2" charset="-122"/>
                        </a:rPr>
                        <a:t>，因为不会有线路从第</a:t>
                      </a:r>
                      <a:r>
                        <a:rPr lang="en-US" altLang="zh-CN" sz="160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Times New Roman" panose="02020603050405020304" pitchFamily="18" charset="0"/>
                        </a:rPr>
                        <a:t>i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宋体" panose="02010600030101010101" pitchFamily="2" charset="-122"/>
                        </a:rPr>
                        <a:t>个农场到它本身。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T="45965" marB="45965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22552"/>
          <p:cNvSpPr txBox="1">
            <a:spLocks noChangeArrowheads="1"/>
          </p:cNvSpPr>
          <p:nvPr/>
        </p:nvSpPr>
        <p:spPr bwMode="auto">
          <a:xfrm>
            <a:off x="8149336" y="3653028"/>
            <a:ext cx="3871030" cy="3003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【输入样例】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0  4  9  21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4  0  8  17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9  8  0  16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21 17 16  0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【输出样例】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　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28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54956" y="5889292"/>
            <a:ext cx="7612380" cy="82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【输出格式】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只有一个输出，其中包含连接到每个农场的光纤的最小长度。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7952541" y="3658328"/>
            <a:ext cx="0" cy="2998215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80612" y="1299444"/>
            <a:ext cx="1064913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【</a:t>
            </a:r>
            <a:r>
              <a:rPr lang="zh-CN" altLang="en-US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参考代码</a:t>
            </a:r>
            <a:r>
              <a:rPr lang="en-US" altLang="zh-CN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】</a:t>
            </a:r>
            <a:endParaRPr lang="zh-CN" altLang="en-US" noProof="1"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#include&lt;bits/stdc++.h&gt;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using namespace std;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struct point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{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   int x,y,v;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};                                            //</a:t>
            </a:r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定义结构类型，表示边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point a[9901];                                //</a:t>
            </a:r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存边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int fat[101],n,i,j,x,m,tot,k;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int father(int x)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{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if (fat[x] != x) fat[x] = father(fat[x]);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return fat[x];   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}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void unionn(int x,int y)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{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int fa = father(x);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int fb = father(y);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if (fa != fb) fat[fa] = fb;  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}</a:t>
            </a:r>
          </a:p>
          <a:p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45102" y="1290566"/>
            <a:ext cx="489640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【</a:t>
            </a:r>
            <a:r>
              <a:rPr lang="zh-CN" altLang="en-US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参考代码</a:t>
            </a:r>
            <a:r>
              <a:rPr lang="en-US" altLang="zh-CN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】</a:t>
            </a:r>
            <a:endParaRPr lang="zh-CN" altLang="en-US" noProof="1"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int cmp(const point &amp;a,const point &amp;b)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{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if (a.v &lt; b.v) return 1;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else return 0; 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}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int main()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{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cin &gt;&gt; n;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for (i = 1; i &lt;= n; i++)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 for (j = 1; j &lt;= n; j++)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 {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     cin &gt;&gt; x;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     if (x != 0)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     {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         m++; a[m].x = i; a[m].y = j; a[m].v = x;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      }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 }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for (i = 1; i &lt;= n; i++) fat[i] = i;</a:t>
            </a: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　</a:t>
            </a:r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sort(a+1,a+m+1,cmp); 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95982" y="1515282"/>
            <a:ext cx="4188040" cy="333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for (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= 1;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&lt;= m;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++)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{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 if (father(a[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].x) != father(a[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].y))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 {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    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unionn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(a[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].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x,a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].y);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     tot += a[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].v;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     k++;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 }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    if (k == n-1) break;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}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&lt;&lt; tot;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chemeClr val="bg1"/>
                </a:solidFill>
                <a:ea typeface="黑体" panose="02010609060101010101" pitchFamily="49" charset="-122"/>
              </a:rPr>
              <a:t>    return 0;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chemeClr val="bg1"/>
                </a:solidFill>
                <a:ea typeface="黑体" panose="02010609060101010101" pitchFamily="49" charset="-122"/>
              </a:rPr>
              <a:t>}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6203640" y="1515282"/>
            <a:ext cx="0" cy="5109328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</a:p>
        </p:txBody>
      </p:sp>
      <p:sp>
        <p:nvSpPr>
          <p:cNvPr id="5" name="矩形 4"/>
          <p:cNvSpPr/>
          <p:nvPr/>
        </p:nvSpPr>
        <p:spPr>
          <a:xfrm>
            <a:off x="854956" y="1252151"/>
            <a:ext cx="6850855" cy="5588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3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走廊泼水节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问题描述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1600" noProof="1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一共有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N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个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OIER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打算参加泼水节，同时很凑巧的是正好有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N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个水龙头。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N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个水龙头之间正好有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N-1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条小道，并且每个水龙头都可以经过小道到达其他水龙头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(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这是一棵树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。但是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OIER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门为了迎接中中的挑战，决定修建一个道路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,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使得每个水龙头到每个水龙头之间都有一条直接的道路连接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(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构成一个完全图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。但是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OIER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门很懒，并且记性也不好，他们只会去走那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N-1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条小道，并且希望所有水龙头之间修建的道路，都要大于两个水龙头之前连接的所有小道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(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小道当然要是最短的了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。所以神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COW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们，帮那些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OIER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们计算一下吧，修建的那些道路总长度最短是多少，毕竟修建道路是要破费的。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输入格式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本题为多组数据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~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第一行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，表示有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组测试数据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对于每组数据， 第一行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N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，表示水龙头的个数；第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N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行，每行三个整数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X,Y,Z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；表示水龙头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和水龙头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有一条长度为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Z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的小道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4" name="文本框 22552"/>
          <p:cNvSpPr txBox="1">
            <a:spLocks noChangeArrowheads="1"/>
          </p:cNvSpPr>
          <p:nvPr/>
        </p:nvSpPr>
        <p:spPr bwMode="auto">
          <a:xfrm>
            <a:off x="7931607" y="2389630"/>
            <a:ext cx="2803437" cy="4480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【输入样例】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1 2 2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1 3 3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1 2 3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2 3 4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3 4 5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【输出样例】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17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831326" y="1292774"/>
            <a:ext cx="3254256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【输出格式】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对于每组数据，输出一个整数，表示修建的所有道路总长度的最短值。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7705811" y="1491449"/>
            <a:ext cx="0" cy="5349540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549348" y="2395199"/>
            <a:ext cx="1938357" cy="2264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数据范围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每个测试点最多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组测试数据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 n&lt;=1500;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 n&lt;=6000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 z&lt;=100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854956" y="1252151"/>
                <a:ext cx="5241044" cy="3440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  <a:buFontTx/>
                </a:pPr>
                <a:r>
                  <a:rPr lang="zh-CN" altLang="en-US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【例</a:t>
                </a:r>
                <a:r>
                  <a:rPr lang="en-US" altLang="zh-CN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3</a:t>
                </a:r>
                <a:r>
                  <a:rPr lang="zh-CN" altLang="en-US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】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走廊泼水节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endParaRPr>
              </a:p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  <a:buFontTx/>
                </a:pP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【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思路分析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】</a:t>
                </a:r>
              </a:p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  <a:buFontTx/>
                </a:pP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       N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个节点的树有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N-1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条边，把这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N-1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条边按照权值从小到大排序，依次扫描每条边，执行一个类似于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Kruskal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算法的过程。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      设当前扫描到边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(x,y,z)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，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x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所在的并查集为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x</m:t>
                        </m:r>
                      </m:sub>
                    </m:sSub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，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y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所在的并查集为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y</m:t>
                        </m:r>
                      </m:sub>
                    </m:sSub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，此时应该合并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x</m:t>
                        </m:r>
                      </m:sub>
                    </m:sSub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y</m:t>
                        </m:r>
                      </m:sub>
                    </m:sSub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。合并后的集合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x</m:t>
                        </m:r>
                      </m:sub>
                    </m:sSub>
                    <m:r>
                      <a:rPr lang="en-US" altLang="zh-CN" sz="160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ea"/>
                        <a:sym typeface="+mn-ea"/>
                      </a:rPr>
                      <m:t>∪</m:t>
                    </m:r>
                  </m:oMath>
                </a14:m>
                <a:r>
                  <a:rPr lang="en-US" altLang="zh-CN" sz="1600" noProof="1">
                    <a:ea typeface="微软雅黑" panose="020B0503020204020204" pitchFamily="34" charset="-122"/>
                    <a:cs typeface="+mn-ea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y</m:t>
                        </m:r>
                      </m:sub>
                    </m:sSub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，构成一棵树的结构。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600" noProof="1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956" y="1252151"/>
                <a:ext cx="5241044" cy="3440814"/>
              </a:xfrm>
              <a:prstGeom prst="rect">
                <a:avLst/>
              </a:prstGeom>
              <a:blipFill rotWithShape="1">
                <a:blip r:embed="rId2"/>
                <a:stretch>
                  <a:fillRect l="-5" t="-16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组合 78"/>
          <p:cNvGrpSpPr/>
          <p:nvPr/>
        </p:nvGrpSpPr>
        <p:grpSpPr>
          <a:xfrm>
            <a:off x="6515261" y="2511275"/>
            <a:ext cx="4813287" cy="2392135"/>
            <a:chOff x="1167493" y="3788229"/>
            <a:chExt cx="4813287" cy="2392135"/>
          </a:xfrm>
        </p:grpSpPr>
        <p:sp>
          <p:nvSpPr>
            <p:cNvPr id="6" name="椭圆 5"/>
            <p:cNvSpPr/>
            <p:nvPr/>
          </p:nvSpPr>
          <p:spPr>
            <a:xfrm>
              <a:off x="1787801" y="4033290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椭圆 6"/>
            <p:cNvSpPr/>
            <p:nvPr/>
          </p:nvSpPr>
          <p:spPr>
            <a:xfrm>
              <a:off x="2777224" y="4439854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椭圆 7"/>
            <p:cNvSpPr/>
            <p:nvPr/>
          </p:nvSpPr>
          <p:spPr>
            <a:xfrm>
              <a:off x="1359427" y="4854636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椭圆 8"/>
            <p:cNvSpPr/>
            <p:nvPr/>
          </p:nvSpPr>
          <p:spPr>
            <a:xfrm>
              <a:off x="1942922" y="5516353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椭圆 9"/>
            <p:cNvSpPr/>
            <p:nvPr/>
          </p:nvSpPr>
          <p:spPr>
            <a:xfrm>
              <a:off x="4602345" y="5470455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4" name="直接连接符 13"/>
            <p:cNvCxnSpPr>
              <a:stCxn id="6" idx="6"/>
              <a:endCxn id="7" idx="1"/>
            </p:cNvCxnSpPr>
            <p:nvPr/>
          </p:nvCxnSpPr>
          <p:spPr>
            <a:xfrm>
              <a:off x="2216175" y="4247477"/>
              <a:ext cx="623783" cy="25511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6" idx="3"/>
              <a:endCxn id="8" idx="0"/>
            </p:cNvCxnSpPr>
            <p:nvPr/>
          </p:nvCxnSpPr>
          <p:spPr>
            <a:xfrm flipH="1">
              <a:off x="1573614" y="4398930"/>
              <a:ext cx="276921" cy="45570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9" idx="6"/>
              <a:endCxn id="10" idx="2"/>
            </p:cNvCxnSpPr>
            <p:nvPr/>
          </p:nvCxnSpPr>
          <p:spPr>
            <a:xfrm flipV="1">
              <a:off x="2371296" y="5684642"/>
              <a:ext cx="2231049" cy="45898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9" idx="1"/>
              <a:endCxn id="8" idx="5"/>
            </p:cNvCxnSpPr>
            <p:nvPr/>
          </p:nvCxnSpPr>
          <p:spPr>
            <a:xfrm flipH="1" flipV="1">
              <a:off x="1725067" y="5220276"/>
              <a:ext cx="280589" cy="35881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50" name="椭圆 49"/>
            <p:cNvSpPr/>
            <p:nvPr/>
          </p:nvSpPr>
          <p:spPr>
            <a:xfrm>
              <a:off x="4033043" y="4666628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椭圆 50"/>
            <p:cNvSpPr/>
            <p:nvPr/>
          </p:nvSpPr>
          <p:spPr>
            <a:xfrm>
              <a:off x="4602345" y="4063655"/>
              <a:ext cx="428374" cy="42837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2" name="直接连接符 51"/>
            <p:cNvCxnSpPr>
              <a:stCxn id="7" idx="6"/>
              <a:endCxn id="50" idx="1"/>
            </p:cNvCxnSpPr>
            <p:nvPr/>
          </p:nvCxnSpPr>
          <p:spPr>
            <a:xfrm>
              <a:off x="3205598" y="4654041"/>
              <a:ext cx="890179" cy="7532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>
              <a:stCxn id="50" idx="7"/>
              <a:endCxn id="51" idx="3"/>
            </p:cNvCxnSpPr>
            <p:nvPr/>
          </p:nvCxnSpPr>
          <p:spPr>
            <a:xfrm flipV="1">
              <a:off x="4398683" y="4429295"/>
              <a:ext cx="266396" cy="30006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67" name="矩形 66"/>
            <p:cNvSpPr/>
            <p:nvPr/>
          </p:nvSpPr>
          <p:spPr>
            <a:xfrm>
              <a:off x="1167493" y="3788229"/>
              <a:ext cx="2179864" cy="2392135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/>
            <p:cNvSpPr/>
            <p:nvPr/>
          </p:nvSpPr>
          <p:spPr>
            <a:xfrm>
              <a:off x="3800916" y="3788229"/>
              <a:ext cx="2179864" cy="2392135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9" name="直接连接符 68"/>
            <p:cNvCxnSpPr>
              <a:stCxn id="50" idx="5"/>
              <a:endCxn id="10" idx="1"/>
            </p:cNvCxnSpPr>
            <p:nvPr/>
          </p:nvCxnSpPr>
          <p:spPr>
            <a:xfrm>
              <a:off x="4398683" y="5032268"/>
              <a:ext cx="266396" cy="50092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73" name="文本框 18463"/>
            <p:cNvSpPr txBox="1">
              <a:spLocks noChangeArrowheads="1"/>
            </p:cNvSpPr>
            <p:nvPr/>
          </p:nvSpPr>
          <p:spPr bwMode="auto">
            <a:xfrm>
              <a:off x="2831858" y="4094528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74" name="文本框 18463"/>
            <p:cNvSpPr txBox="1">
              <a:spLocks noChangeArrowheads="1"/>
            </p:cNvSpPr>
            <p:nvPr/>
          </p:nvSpPr>
          <p:spPr bwMode="auto">
            <a:xfrm>
              <a:off x="4050654" y="4288401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文本框 18463"/>
            <p:cNvSpPr txBox="1">
              <a:spLocks noChangeArrowheads="1"/>
            </p:cNvSpPr>
            <p:nvPr/>
          </p:nvSpPr>
          <p:spPr bwMode="auto">
            <a:xfrm>
              <a:off x="2058414" y="5163806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文本框 18463"/>
            <p:cNvSpPr txBox="1">
              <a:spLocks noChangeArrowheads="1"/>
            </p:cNvSpPr>
            <p:nvPr/>
          </p:nvSpPr>
          <p:spPr bwMode="auto">
            <a:xfrm>
              <a:off x="4678781" y="5128597"/>
              <a:ext cx="446783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文本框 18463"/>
            <p:cNvSpPr txBox="1">
              <a:spLocks noChangeArrowheads="1"/>
            </p:cNvSpPr>
            <p:nvPr/>
          </p:nvSpPr>
          <p:spPr bwMode="auto">
            <a:xfrm>
              <a:off x="3392886" y="4339536"/>
              <a:ext cx="446783" cy="351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z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文本框 18463"/>
            <p:cNvSpPr txBox="1">
              <a:spLocks noChangeArrowheads="1"/>
            </p:cNvSpPr>
            <p:nvPr/>
          </p:nvSpPr>
          <p:spPr bwMode="auto">
            <a:xfrm>
              <a:off x="2755133" y="5390931"/>
              <a:ext cx="695662" cy="354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z+1</a:t>
              </a:r>
            </a:p>
            <a:p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/>
              <p:cNvSpPr txBox="1"/>
              <p:nvPr/>
            </p:nvSpPr>
            <p:spPr>
              <a:xfrm>
                <a:off x="7092482" y="2065469"/>
                <a:ext cx="8442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noProof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ea"/>
                              <a:sym typeface="+mn-ea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800" i="1" noProof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ea"/>
                              <a:sym typeface="+mn-ea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800" i="1" noProof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ea"/>
                              <a:sym typeface="+mn-ea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" name="文本框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482" y="2065469"/>
                <a:ext cx="844201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0" t="-122" r="54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/>
              <p:cNvSpPr txBox="1"/>
              <p:nvPr/>
            </p:nvSpPr>
            <p:spPr>
              <a:xfrm>
                <a:off x="9742199" y="2043604"/>
                <a:ext cx="844201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noProof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ea"/>
                              <a:sym typeface="+mn-ea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800" i="1" noProof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ea"/>
                              <a:sym typeface="+mn-ea"/>
                            </a:rPr>
                            <m:t>S</m:t>
                          </m:r>
                        </m:e>
                        <m:sub>
                          <m:r>
                            <a:rPr lang="en-US" altLang="zh-CN" sz="1800" b="0" i="1" noProof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ea"/>
                              <a:sym typeface="+mn-ea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2" name="文本框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199" y="2043604"/>
                <a:ext cx="844201" cy="391261"/>
              </a:xfrm>
              <a:prstGeom prst="rect">
                <a:avLst/>
              </a:prstGeom>
              <a:blipFill rotWithShape="1">
                <a:blip r:embed="rId4"/>
                <a:stretch>
                  <a:fillRect l="-3" t="-44" r="37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/>
              <p:cNvSpPr txBox="1"/>
              <p:nvPr/>
            </p:nvSpPr>
            <p:spPr>
              <a:xfrm>
                <a:off x="854956" y="4302000"/>
                <a:ext cx="5276468" cy="2419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       为了保证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(x,y)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一定在最小生成树中，就必须让（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x,y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）是连接集合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x</m:t>
                        </m:r>
                      </m:sub>
                    </m:sSub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y</m:t>
                        </m:r>
                      </m:sub>
                    </m:sSub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的权值最小的边（否则就用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(u,v)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替换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(x,y)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的方案）。因此，（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u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，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v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）的边权定位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z+1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noProof="1">
                    <a:ea typeface="微软雅黑" panose="020B0503020204020204" pitchFamily="34" charset="-122"/>
                    <a:cs typeface="+mn-ea"/>
                    <a:sym typeface="+mn-ea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x</m:t>
                        </m:r>
                      </m:sub>
                    </m:sSub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y</m:t>
                        </m:r>
                      </m:sub>
                    </m:sSub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之间一共会增加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ea"/>
                                <a:sym typeface="+mn-ea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ea"/>
                                <a:sym typeface="+mn-ea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ea"/>
                                <a:sym typeface="+mn-ea"/>
                              </a:rPr>
                              <m:t>x</m:t>
                            </m:r>
                          </m:sub>
                        </m:sSub>
                      </m:e>
                    </m:d>
                    <m:r>
                      <a:rPr lang="en-US" altLang="zh-CN" sz="160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ea"/>
                        <a:sym typeface="+mn-ea"/>
                      </a:rPr>
                      <m:t>∗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ea"/>
                                <a:sym typeface="+mn-ea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ea"/>
                                <a:sym typeface="+mn-ea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ea"/>
                                <a:sym typeface="+mn-ea"/>
                              </a:rPr>
                              <m:t>y</m:t>
                            </m:r>
                          </m:sub>
                        </m:sSub>
                      </m:e>
                    </m:d>
                    <m:r>
                      <a:rPr lang="en-US" altLang="zh-CN" sz="160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ea"/>
                      </a:rPr>
                      <m:t>−</m:t>
                    </m:r>
                    <m:r>
                      <a:rPr lang="en-US" altLang="zh-CN" sz="1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ea"/>
                      </a:rPr>
                      <m:t>1</m:t>
                    </m:r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条边，所以把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z</m:t>
                        </m:r>
                        <m:r>
                          <a:rPr lang="en-US" altLang="zh-CN" sz="1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+1</m:t>
                        </m:r>
                      </m:e>
                    </m:d>
                    <m:r>
                      <a:rPr lang="en-US" altLang="zh-CN" sz="160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ea"/>
                        <a:sym typeface="+mn-ea"/>
                      </a:rPr>
                      <m:t>∗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ea"/>
                                <a:sym typeface="+mn-ea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ea"/>
                                <a:sym typeface="+mn-ea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ea"/>
                                <a:sym typeface="+mn-ea"/>
                              </a:rPr>
                              <m:t>x</m:t>
                            </m:r>
                          </m:sub>
                        </m:sSub>
                      </m:e>
                    </m:d>
                    <m:r>
                      <a:rPr lang="en-US" altLang="zh-CN" sz="1600" i="1" noProof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ea"/>
                        <a:sym typeface="+mn-ea"/>
                      </a:rPr>
                      <m:t>∗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ea"/>
                                <a:sym typeface="+mn-ea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ea"/>
                                <a:sym typeface="+mn-ea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ea"/>
                                <a:sym typeface="+mn-ea"/>
                              </a:rPr>
                              <m:t>y</m:t>
                            </m:r>
                          </m:sub>
                        </m:sSub>
                      </m:e>
                    </m:d>
                    <m:r>
                      <a:rPr lang="en-US" altLang="zh-CN" sz="160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ea"/>
                      </a:rPr>
                      <m:t>−1</m:t>
                    </m:r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累加答案中即可。算法时间复杂度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ea"/>
                      </a:rPr>
                      <m:t>O</m:t>
                    </m:r>
                    <m:d>
                      <m:dPr>
                        <m:ctrlPr>
                          <a:rPr lang="en-US" altLang="zh-CN" sz="160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ea"/>
                          </a:rPr>
                          <m:t>n</m:t>
                        </m:r>
                        <m:func>
                          <m:funcPr>
                            <m:ctrlPr>
                              <a:rPr lang="en-US" altLang="zh-CN" sz="1600" i="1" noProof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ea"/>
                                <a:sym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 i="0" noProof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ea"/>
                                <a:sym typeface="+mn-ea"/>
                              </a:rPr>
                              <m:t>log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ea"/>
                                <a:sym typeface="+mn-ea"/>
                              </a:rPr>
                              <m:t>n</m:t>
                            </m:r>
                          </m:e>
                        </m:func>
                      </m:e>
                    </m:d>
                  </m:oMath>
                </a14:m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endParaRPr>
              </a:p>
            </p:txBody>
          </p:sp>
        </mc:Choice>
        <mc:Fallback xmlns="">
          <p:sp>
            <p:nvSpPr>
              <p:cNvPr id="84" name="文本框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956" y="4302000"/>
                <a:ext cx="5276468" cy="2419637"/>
              </a:xfrm>
              <a:prstGeom prst="rect">
                <a:avLst/>
              </a:prstGeom>
              <a:blipFill rotWithShape="1">
                <a:blip r:embed="rId5"/>
                <a:stretch>
                  <a:fillRect l="-5" t="-21" r="9" b="-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直接连接符 84"/>
          <p:cNvCxnSpPr/>
          <p:nvPr/>
        </p:nvCxnSpPr>
        <p:spPr>
          <a:xfrm>
            <a:off x="6265784" y="1559313"/>
            <a:ext cx="0" cy="5109328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45102" y="1290566"/>
            <a:ext cx="489640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【</a:t>
            </a:r>
            <a:r>
              <a:rPr lang="zh-CN" altLang="en-US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参考代码</a:t>
            </a:r>
            <a:r>
              <a:rPr lang="en-US" altLang="zh-CN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】</a:t>
            </a:r>
            <a:endParaRPr lang="zh-CN" altLang="en-US" noProof="1"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5575" y="1685290"/>
            <a:ext cx="9361805" cy="4818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while (T--) {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cin &gt;&gt; n;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for (int i = 1; i &lt; n; i++)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	scanf("%d%d%d", &amp;edge[i].x, &amp;edge[i].y, &amp;edge[i].z);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sort(edge + 1, edge + n);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for (int i = 1; i &lt;= n; i++)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	fa[i] = i, s[i] = 1;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ans = 0;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for (int i = 1; i &lt; n; i++) {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	int x = get(edge[i].x);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	int y = get(edge[i].y);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	if (x == y) continue;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	ans += (long long)(edge[i].z + 1) * (s[x] * s[y] - 1);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	fa[x] = y;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	s[y] += s[x];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}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	cout &lt;&lt; ans &lt;&lt; endl;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	}</a:t>
            </a:r>
            <a:r>
              <a:rPr lang="en-US" altLang="zh-CN" dirty="0">
                <a:solidFill>
                  <a:schemeClr val="bg1"/>
                </a:solidFill>
                <a:ea typeface="黑体" panose="02010609060101010101" pitchFamily="49" charset="-122"/>
              </a:rPr>
              <a:t>    return 0;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chemeClr val="bg1"/>
                </a:solidFill>
                <a:ea typeface="黑体" panose="02010609060101010101" pitchFamily="49" charset="-122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习题练习</a:t>
            </a:r>
          </a:p>
        </p:txBody>
      </p:sp>
      <p:sp>
        <p:nvSpPr>
          <p:cNvPr id="5" name="矩形 4"/>
          <p:cNvSpPr/>
          <p:nvPr/>
        </p:nvSpPr>
        <p:spPr>
          <a:xfrm>
            <a:off x="964399" y="1342208"/>
            <a:ext cx="10121183" cy="9721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93793" y="1435446"/>
            <a:ext cx="6096000" cy="3878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P3366</a:t>
            </a:r>
          </a:p>
          <a:p>
            <a:pPr>
              <a:lnSpc>
                <a:spcPct val="200000"/>
              </a:lnSpc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P2872</a:t>
            </a:r>
          </a:p>
          <a:p>
            <a:pPr>
              <a:lnSpc>
                <a:spcPct val="200000"/>
              </a:lnSpc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P1195</a:t>
            </a:r>
          </a:p>
          <a:p>
            <a:pPr>
              <a:lnSpc>
                <a:spcPct val="200000"/>
              </a:lnSpc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P1194</a:t>
            </a:r>
          </a:p>
          <a:p>
            <a:pPr>
              <a:lnSpc>
                <a:spcPct val="200000"/>
              </a:lnSpc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P1396</a:t>
            </a:r>
          </a:p>
          <a:p>
            <a:pPr>
              <a:lnSpc>
                <a:spcPct val="200000"/>
              </a:lnSpc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P1991</a:t>
            </a:r>
          </a:p>
          <a:p>
            <a:pPr>
              <a:lnSpc>
                <a:spcPct val="200000"/>
              </a:lnSpc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6a4f077-5a85-4dfb-ad7a-1a61e183e73e"/>
  <p:tag name="COMMONDATA" val="eyJoZGlkIjoiZjJkYzAxNWFhNGMyMzRjOTg1M2QzZmI2YjFkOWYwMTcifQ=="/>
</p:tagLst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3974</Words>
  <Application>Microsoft Office PowerPoint</Application>
  <PresentationFormat>宽屏</PresentationFormat>
  <Paragraphs>511</Paragraphs>
  <Slides>31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黑体</vt:lpstr>
      <vt:lpstr>微软雅黑</vt:lpstr>
      <vt:lpstr>Arial</vt:lpstr>
      <vt:lpstr>Cambria Math</vt:lpstr>
      <vt:lpstr>Euphemia</vt:lpstr>
      <vt:lpstr>Times New Roman</vt:lpstr>
      <vt:lpstr>Wingdings</vt:lpstr>
      <vt:lpstr>学术文献 16x9</vt:lpstr>
      <vt:lpstr>最小生成树</vt:lpstr>
      <vt:lpstr>学习目标</vt:lpstr>
      <vt:lpstr>最小生成树</vt:lpstr>
      <vt:lpstr>最小生成树</vt:lpstr>
      <vt:lpstr>最小生成树</vt:lpstr>
      <vt:lpstr>最小生成树</vt:lpstr>
      <vt:lpstr>Prime</vt:lpstr>
      <vt:lpstr>Prime</vt:lpstr>
      <vt:lpstr>Prime</vt:lpstr>
      <vt:lpstr>Prime</vt:lpstr>
      <vt:lpstr>Prime</vt:lpstr>
      <vt:lpstr>Prime</vt:lpstr>
      <vt:lpstr>Prime</vt:lpstr>
      <vt:lpstr>Prime</vt:lpstr>
      <vt:lpstr>Prime</vt:lpstr>
      <vt:lpstr>Kruskal</vt:lpstr>
      <vt:lpstr>Kruskal</vt:lpstr>
      <vt:lpstr>Kruskal</vt:lpstr>
      <vt:lpstr>Kruskal</vt:lpstr>
      <vt:lpstr>Kruskal</vt:lpstr>
      <vt:lpstr>Kruskal</vt:lpstr>
      <vt:lpstr>Kruskal</vt:lpstr>
      <vt:lpstr>Kruskal</vt:lpstr>
      <vt:lpstr>Kruskal</vt:lpstr>
      <vt:lpstr>Kruskal</vt:lpstr>
      <vt:lpstr>Kruskal</vt:lpstr>
      <vt:lpstr>Kruskal</vt:lpstr>
      <vt:lpstr>Kruskal</vt:lpstr>
      <vt:lpstr>Kruskal</vt:lpstr>
      <vt:lpstr>习题练习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</cp:revision>
  <dcterms:created xsi:type="dcterms:W3CDTF">2017-11-04T04:56:00Z</dcterms:created>
  <dcterms:modified xsi:type="dcterms:W3CDTF">2023-05-03T03:46:25Z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2052-11.1.0.14036</vt:lpwstr>
  </property>
  <property fmtid="{D5CDD505-2E9C-101B-9397-08002B2CF9AE}" pid="9" name="ICV">
    <vt:lpwstr>573B868469A94EE797E8C550749361C9_12</vt:lpwstr>
  </property>
</Properties>
</file>