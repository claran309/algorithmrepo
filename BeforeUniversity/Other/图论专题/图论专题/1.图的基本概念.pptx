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612" r:id="rId3"/>
    <p:sldId id="668" r:id="rId4"/>
    <p:sldId id="676" r:id="rId5"/>
    <p:sldId id="736" r:id="rId6"/>
    <p:sldId id="678" r:id="rId7"/>
    <p:sldId id="680" r:id="rId8"/>
    <p:sldId id="679" r:id="rId9"/>
    <p:sldId id="681" r:id="rId10"/>
    <p:sldId id="682" r:id="rId11"/>
    <p:sldId id="683" r:id="rId12"/>
    <p:sldId id="684" r:id="rId13"/>
    <p:sldId id="691" r:id="rId14"/>
    <p:sldId id="685" r:id="rId15"/>
    <p:sldId id="701" r:id="rId16"/>
    <p:sldId id="702" r:id="rId17"/>
    <p:sldId id="704" r:id="rId18"/>
    <p:sldId id="705" r:id="rId19"/>
    <p:sldId id="708" r:id="rId20"/>
    <p:sldId id="706" r:id="rId21"/>
    <p:sldId id="707" r:id="rId22"/>
    <p:sldId id="710" r:id="rId23"/>
    <p:sldId id="711" r:id="rId24"/>
    <p:sldId id="709" r:id="rId25"/>
    <p:sldId id="652" r:id="rId26"/>
    <p:sldId id="654" r:id="rId27"/>
    <p:sldId id="725" r:id="rId28"/>
    <p:sldId id="733" r:id="rId29"/>
    <p:sldId id="734" r:id="rId30"/>
    <p:sldId id="735" r:id="rId31"/>
    <p:sldId id="502" r:id="rId3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2023/4/2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2023/4/2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2023/4/2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2023/4/2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2023/4/2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857653" y="2119856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图的基本概念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78345" y="3853591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理解数据结构</a:t>
            </a:r>
            <a:r>
              <a:rPr lang="en-US" altLang="zh-CN" sz="2000" dirty="0"/>
              <a:t>——</a:t>
            </a:r>
            <a:r>
              <a:rPr lang="zh-CN" altLang="en-US" sz="2000" dirty="0"/>
              <a:t>图的内涵。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掌握图的基本存储方式及遍历方式。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61797"/>
            <a:ext cx="10060582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七桥问题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世纪初普鲁士的哥尼斯堡，有一条河穿过，河上有两个小岛，有七座桥把两个岛与河岸联系起来。有个人提出一个问题：一个步行者怎样才能不重复、不遗漏地一次走完七座桥，最后回到出发点。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317" y="2787124"/>
            <a:ext cx="4178821" cy="3595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35164"/>
            <a:ext cx="10060582" cy="1987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数学家欧拉把它转化成一个几何问题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一笔画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问题。他不仅解决了此问题，且给出了连通图可以一笔画的充要条件是：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的数目不是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个就是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个（连到一点的数目如是奇数条，就称为奇点，如果是偶数条就称为偶点，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要想一笔画成，必须中间点均是偶点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，也就是有来路必有另一条去路，奇点只可能在两端，因此任何图能一笔画成，奇点要么没有要么在两端）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61" y="3524314"/>
            <a:ext cx="3555936" cy="287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350" y="3534985"/>
            <a:ext cx="3555935" cy="290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86085"/>
            <a:ext cx="100605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：存在欧拉路的条件：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图是连通的，有且只有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个奇点，以一个奇点出发，另一个奇点结束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：存在欧拉回路的条件：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图是连通的，有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个奇点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031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35024"/>
            <a:ext cx="10060582" cy="1178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是由顶点V的集合和边E的集合组成的二元组记G=（V，E）,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分为有向图和无向图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38836BC-AFE1-DE3B-8A30-5BCD39E1C633}"/>
              </a:ext>
            </a:extLst>
          </p:cNvPr>
          <p:cNvGrpSpPr/>
          <p:nvPr/>
        </p:nvGrpSpPr>
        <p:grpSpPr>
          <a:xfrm>
            <a:off x="1919056" y="2675222"/>
            <a:ext cx="2618912" cy="2425084"/>
            <a:chOff x="2540492" y="2513360"/>
            <a:chExt cx="2618912" cy="24250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475643BA-BF9C-3396-9C41-58FA331EAFA7}"/>
                    </a:ext>
                  </a:extLst>
                </p:cNvPr>
                <p:cNvSpPr/>
                <p:nvPr/>
              </p:nvSpPr>
              <p:spPr>
                <a:xfrm>
                  <a:off x="3391269" y="2513360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475643BA-BF9C-3396-9C41-58FA331EAF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1269" y="2513360"/>
                  <a:ext cx="390618" cy="390618"/>
                </a:xfrm>
                <a:prstGeom prst="ellipse">
                  <a:avLst/>
                </a:prstGeom>
                <a:blipFill>
                  <a:blip r:embed="rId2"/>
                  <a:stretch>
                    <a:fillRect l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B1B44662-78C5-1D3F-95EA-9F69AE987D01}"/>
                    </a:ext>
                  </a:extLst>
                </p:cNvPr>
                <p:cNvSpPr/>
                <p:nvPr/>
              </p:nvSpPr>
              <p:spPr>
                <a:xfrm>
                  <a:off x="4768786" y="294466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B1B44662-78C5-1D3F-95EA-9F69AE987D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786" y="2944666"/>
                  <a:ext cx="390618" cy="390618"/>
                </a:xfrm>
                <a:prstGeom prst="ellipse">
                  <a:avLst/>
                </a:prstGeom>
                <a:blipFill>
                  <a:blip r:embed="rId3"/>
                  <a:stretch>
                    <a:fillRect l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81DC8C4D-9A2B-2A3E-1E17-7E1C64824771}"/>
                    </a:ext>
                  </a:extLst>
                </p:cNvPr>
                <p:cNvSpPr/>
                <p:nvPr/>
              </p:nvSpPr>
              <p:spPr>
                <a:xfrm>
                  <a:off x="2540492" y="3429000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81DC8C4D-9A2B-2A3E-1E17-7E1C64824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0492" y="3429000"/>
                  <a:ext cx="390618" cy="390618"/>
                </a:xfrm>
                <a:prstGeom prst="ellipse">
                  <a:avLst/>
                </a:prstGeom>
                <a:blipFill>
                  <a:blip r:embed="rId4"/>
                  <a:stretch>
                    <a:fillRect l="-13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0D8375E3-21C8-47C8-0C9D-01BAABCDF946}"/>
                    </a:ext>
                  </a:extLst>
                </p:cNvPr>
                <p:cNvSpPr/>
                <p:nvPr/>
              </p:nvSpPr>
              <p:spPr>
                <a:xfrm>
                  <a:off x="3329124" y="454782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0D8375E3-21C8-47C8-0C9D-01BAABCDF9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124" y="4547826"/>
                  <a:ext cx="390618" cy="39061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AD8E9B9C-3E8E-B0B6-6CD1-4D236DED3542}"/>
                    </a:ext>
                  </a:extLst>
                </p:cNvPr>
                <p:cNvSpPr/>
                <p:nvPr/>
              </p:nvSpPr>
              <p:spPr>
                <a:xfrm>
                  <a:off x="4768786" y="4124486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AD8E9B9C-3E8E-B0B6-6CD1-4D236DED35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786" y="4124486"/>
                  <a:ext cx="390618" cy="390618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107CB19-39A3-E335-0E18-CC1253E2B5A0}"/>
                </a:ext>
              </a:extLst>
            </p:cNvPr>
            <p:cNvCxnSpPr>
              <a:stCxn id="32" idx="7"/>
              <a:endCxn id="30" idx="3"/>
            </p:cNvCxnSpPr>
            <p:nvPr/>
          </p:nvCxnSpPr>
          <p:spPr>
            <a:xfrm flipV="1">
              <a:off x="2873905" y="2846773"/>
              <a:ext cx="574569" cy="63943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94832CD4-960A-2367-C9D2-EECEA6A58DB2}"/>
                </a:ext>
              </a:extLst>
            </p:cNvPr>
            <p:cNvCxnSpPr>
              <a:stCxn id="32" idx="4"/>
              <a:endCxn id="33" idx="1"/>
            </p:cNvCxnSpPr>
            <p:nvPr/>
          </p:nvCxnSpPr>
          <p:spPr>
            <a:xfrm>
              <a:off x="2735801" y="3819618"/>
              <a:ext cx="650528" cy="78541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DF146C1-9A21-E5BC-241C-182C3A4C3219}"/>
                </a:ext>
              </a:extLst>
            </p:cNvPr>
            <p:cNvCxnSpPr>
              <a:stCxn id="33" idx="6"/>
              <a:endCxn id="34" idx="3"/>
            </p:cNvCxnSpPr>
            <p:nvPr/>
          </p:nvCxnSpPr>
          <p:spPr>
            <a:xfrm flipV="1">
              <a:off x="3719742" y="4457899"/>
              <a:ext cx="1106249" cy="2852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666486C-E1FC-FB2C-0C05-1159E32955B2}"/>
                </a:ext>
              </a:extLst>
            </p:cNvPr>
            <p:cNvCxnSpPr>
              <a:stCxn id="34" idx="0"/>
              <a:endCxn id="31" idx="4"/>
            </p:cNvCxnSpPr>
            <p:nvPr/>
          </p:nvCxnSpPr>
          <p:spPr>
            <a:xfrm flipV="1">
              <a:off x="4964095" y="3335284"/>
              <a:ext cx="0" cy="78920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CB78A03-8737-ADF7-DEF7-CD7E7751CB2E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>
            <a:xfrm>
              <a:off x="3781887" y="2708669"/>
              <a:ext cx="986899" cy="43130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0CC0D70C-F248-D4F2-FF2F-65A9CA813191}"/>
                </a:ext>
              </a:extLst>
            </p:cNvPr>
            <p:cNvCxnSpPr>
              <a:stCxn id="32" idx="6"/>
              <a:endCxn id="31" idx="3"/>
            </p:cNvCxnSpPr>
            <p:nvPr/>
          </p:nvCxnSpPr>
          <p:spPr>
            <a:xfrm flipV="1">
              <a:off x="2931110" y="3278079"/>
              <a:ext cx="1894881" cy="34623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239463"/>
            <a:ext cx="10060582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无向图：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图的边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没有方向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，可以双向。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在一无向图中用不带箭头的边连接两个有关联的结点。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在具有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个结点的无向图中，边的最大数目为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n*(n-1)/2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。而边数达到最大值的图称为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无向完全图。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在无向图中一个结点相连的边数称为该结点的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，无向完全图中，每一个顶点的度为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839037" y="4753952"/>
            <a:ext cx="41419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无向完全图。结点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的度分别为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l"/>
            <a:endParaRPr kumimoji="0"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CA3F550-FCD7-DBAF-B26F-1524AAB29C6C}"/>
              </a:ext>
            </a:extLst>
          </p:cNvPr>
          <p:cNvGrpSpPr/>
          <p:nvPr/>
        </p:nvGrpSpPr>
        <p:grpSpPr>
          <a:xfrm>
            <a:off x="1127496" y="4249867"/>
            <a:ext cx="2107762" cy="2048522"/>
            <a:chOff x="1127496" y="4249867"/>
            <a:chExt cx="2107762" cy="20485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84154B03-A689-A86B-C904-1DAD716BE49F}"/>
                    </a:ext>
                  </a:extLst>
                </p:cNvPr>
                <p:cNvSpPr/>
                <p:nvPr/>
              </p:nvSpPr>
              <p:spPr>
                <a:xfrm>
                  <a:off x="1968438" y="4249867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84154B03-A689-A86B-C904-1DAD716BE4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8438" y="4249867"/>
                  <a:ext cx="390618" cy="390618"/>
                </a:xfrm>
                <a:prstGeom prst="ellipse">
                  <a:avLst/>
                </a:prstGeom>
                <a:blipFill>
                  <a:blip r:embed="rId2"/>
                  <a:stretch>
                    <a:fillRect l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1B2B0B31-57E4-25A3-3E1A-E9344BD554CE}"/>
                    </a:ext>
                  </a:extLst>
                </p:cNvPr>
                <p:cNvSpPr/>
                <p:nvPr/>
              </p:nvSpPr>
              <p:spPr>
                <a:xfrm>
                  <a:off x="2844640" y="5058458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1B2B0B31-57E4-25A3-3E1A-E9344BD554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640" y="5058458"/>
                  <a:ext cx="390618" cy="390618"/>
                </a:xfrm>
                <a:prstGeom prst="ellipse">
                  <a:avLst/>
                </a:prstGeom>
                <a:blipFill>
                  <a:blip r:embed="rId3"/>
                  <a:stretch>
                    <a:fillRect l="-69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60D23B8C-BE56-6EAE-9B60-6805E0EE9ABD}"/>
                    </a:ext>
                  </a:extLst>
                </p:cNvPr>
                <p:cNvSpPr/>
                <p:nvPr/>
              </p:nvSpPr>
              <p:spPr>
                <a:xfrm>
                  <a:off x="1127496" y="5058458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60D23B8C-BE56-6EAE-9B60-6805E0EE9A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496" y="5058458"/>
                  <a:ext cx="390618" cy="39061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E2C1BC08-345C-4286-B503-BC0FBD30F91B}"/>
                    </a:ext>
                  </a:extLst>
                </p:cNvPr>
                <p:cNvSpPr/>
                <p:nvPr/>
              </p:nvSpPr>
              <p:spPr>
                <a:xfrm>
                  <a:off x="1926584" y="5907771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E2C1BC08-345C-4286-B503-BC0FBD30F9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584" y="5907771"/>
                  <a:ext cx="390618" cy="39061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6C01268-A195-0758-78C5-D5FF9800BD82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1460909" y="5391871"/>
              <a:ext cx="522880" cy="57310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1789E33-7E02-DEF8-7710-0FD134B83DCB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2259997" y="5391871"/>
              <a:ext cx="641848" cy="57310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877120C-1D08-A29C-7BE7-7A7ED6E353C1}"/>
                </a:ext>
              </a:extLst>
            </p:cNvPr>
            <p:cNvCxnSpPr>
              <a:cxnSpLocks/>
              <a:stCxn id="6" idx="5"/>
              <a:endCxn id="7" idx="1"/>
            </p:cNvCxnSpPr>
            <p:nvPr/>
          </p:nvCxnSpPr>
          <p:spPr>
            <a:xfrm>
              <a:off x="2301851" y="4583280"/>
              <a:ext cx="599994" cy="53238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12F9E4B-A38D-22F0-A821-C0AD10B47B94}"/>
                </a:ext>
              </a:extLst>
            </p:cNvPr>
            <p:cNvCxnSpPr>
              <a:stCxn id="6" idx="3"/>
              <a:endCxn id="10" idx="7"/>
            </p:cNvCxnSpPr>
            <p:nvPr/>
          </p:nvCxnSpPr>
          <p:spPr>
            <a:xfrm flipH="1">
              <a:off x="1460909" y="4583280"/>
              <a:ext cx="564734" cy="53238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E8716A57-2D67-B68F-3563-AB514A1AE507}"/>
                </a:ext>
              </a:extLst>
            </p:cNvPr>
            <p:cNvCxnSpPr>
              <a:stCxn id="10" idx="6"/>
              <a:endCxn id="7" idx="2"/>
            </p:cNvCxnSpPr>
            <p:nvPr/>
          </p:nvCxnSpPr>
          <p:spPr>
            <a:xfrm>
              <a:off x="1518114" y="5253767"/>
              <a:ext cx="1326526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77207"/>
            <a:ext cx="1006058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有向图：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图的边有方向，只能按箭头方向从一点到另一点。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24890" y="2277745"/>
            <a:ext cx="9925050" cy="11167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pitchFamily="2" charset="2"/>
              <a:buChar char="n"/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在有向图中,通常用带箭头的边连接两个有关联的结点(方向由前件指向后件)。有向图中一个结点的后件个数称为该结点的</a:t>
            </a:r>
            <a:r>
              <a:rPr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出度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,其前件个数称为该结点的</a:t>
            </a:r>
            <a:r>
              <a:rPr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入度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922494" y="3549904"/>
            <a:ext cx="3211214" cy="31481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200000"/>
              </a:lnSpc>
              <a:buClrTx/>
              <a:buSzTx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  <a:buClrTx/>
              <a:buSzTx/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结点1的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，出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度为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的入度为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，出度为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的入度为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，出度为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的入度为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，出度为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A752525-AD30-A0FE-DBCC-CA2B1BB0D05E}"/>
              </a:ext>
            </a:extLst>
          </p:cNvPr>
          <p:cNvGrpSpPr/>
          <p:nvPr/>
        </p:nvGrpSpPr>
        <p:grpSpPr>
          <a:xfrm>
            <a:off x="1296172" y="4099696"/>
            <a:ext cx="2107762" cy="2048522"/>
            <a:chOff x="1127496" y="4249867"/>
            <a:chExt cx="2107762" cy="20485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id="{E21E372F-B296-8193-A0E2-149C708107F5}"/>
                    </a:ext>
                  </a:extLst>
                </p:cNvPr>
                <p:cNvSpPr/>
                <p:nvPr/>
              </p:nvSpPr>
              <p:spPr>
                <a:xfrm>
                  <a:off x="1968438" y="4249867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椭圆 3">
                  <a:extLst>
                    <a:ext uri="{FF2B5EF4-FFF2-40B4-BE49-F238E27FC236}">
                      <a16:creationId xmlns:a16="http://schemas.microsoft.com/office/drawing/2014/main" id="{E21E372F-B296-8193-A0E2-149C708107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8438" y="4249867"/>
                  <a:ext cx="390618" cy="390618"/>
                </a:xfrm>
                <a:prstGeom prst="ellipse">
                  <a:avLst/>
                </a:prstGeom>
                <a:blipFill>
                  <a:blip r:embed="rId2"/>
                  <a:stretch>
                    <a:fillRect l="-69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777636D3-B96D-8EAB-B662-CF4B19EE7599}"/>
                    </a:ext>
                  </a:extLst>
                </p:cNvPr>
                <p:cNvSpPr/>
                <p:nvPr/>
              </p:nvSpPr>
              <p:spPr>
                <a:xfrm>
                  <a:off x="2844640" y="5058458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777636D3-B96D-8EAB-B662-CF4B19EE75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640" y="5058458"/>
                  <a:ext cx="390618" cy="390618"/>
                </a:xfrm>
                <a:prstGeom prst="ellipse">
                  <a:avLst/>
                </a:prstGeom>
                <a:blipFill>
                  <a:blip r:embed="rId3"/>
                  <a:stretch>
                    <a:fillRect l="-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7FDC49B6-B725-C685-28E2-CF7E474C447D}"/>
                    </a:ext>
                  </a:extLst>
                </p:cNvPr>
                <p:cNvSpPr/>
                <p:nvPr/>
              </p:nvSpPr>
              <p:spPr>
                <a:xfrm>
                  <a:off x="1127496" y="5058458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7FDC49B6-B725-C685-28E2-CF7E474C44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496" y="5058458"/>
                  <a:ext cx="390618" cy="390618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96259C21-7CBD-C9A4-8331-41A7D9899B90}"/>
                    </a:ext>
                  </a:extLst>
                </p:cNvPr>
                <p:cNvSpPr/>
                <p:nvPr/>
              </p:nvSpPr>
              <p:spPr>
                <a:xfrm>
                  <a:off x="1926584" y="5907771"/>
                  <a:ext cx="390618" cy="39061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96259C21-7CBD-C9A4-8331-41A7D9899B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584" y="5907771"/>
                  <a:ext cx="390618" cy="390618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477F123-E66C-F7F2-4B19-CFEF0F6ADA7F}"/>
                </a:ext>
              </a:extLst>
            </p:cNvPr>
            <p:cNvCxnSpPr>
              <a:cxnSpLocks/>
              <a:stCxn id="7" idx="5"/>
              <a:endCxn id="11" idx="1"/>
            </p:cNvCxnSpPr>
            <p:nvPr/>
          </p:nvCxnSpPr>
          <p:spPr>
            <a:xfrm>
              <a:off x="1460909" y="5391871"/>
              <a:ext cx="522880" cy="573105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B282492-73EA-A81B-3474-8C49636F76B6}"/>
                </a:ext>
              </a:extLst>
            </p:cNvPr>
            <p:cNvCxnSpPr>
              <a:cxnSpLocks/>
              <a:stCxn id="11" idx="7"/>
              <a:endCxn id="6" idx="3"/>
            </p:cNvCxnSpPr>
            <p:nvPr/>
          </p:nvCxnSpPr>
          <p:spPr>
            <a:xfrm flipV="1">
              <a:off x="2259997" y="5391871"/>
              <a:ext cx="641848" cy="573105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E6D3BF14-776A-D7AC-C00F-7A72DEE4EDE1}"/>
                </a:ext>
              </a:extLst>
            </p:cNvPr>
            <p:cNvCxnSpPr>
              <a:stCxn id="4" idx="3"/>
              <a:endCxn id="7" idx="7"/>
            </p:cNvCxnSpPr>
            <p:nvPr/>
          </p:nvCxnSpPr>
          <p:spPr>
            <a:xfrm flipH="1">
              <a:off x="1460909" y="4583280"/>
              <a:ext cx="564734" cy="532383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4EB4A64-75CA-ADC1-7BC2-7A2E0E66B6B9}"/>
                </a:ext>
              </a:extLst>
            </p:cNvPr>
            <p:cNvCxnSpPr>
              <a:stCxn id="7" idx="6"/>
              <a:endCxn id="6" idx="2"/>
            </p:cNvCxnSpPr>
            <p:nvPr/>
          </p:nvCxnSpPr>
          <p:spPr>
            <a:xfrm>
              <a:off x="1518114" y="5253767"/>
              <a:ext cx="1326526" cy="0"/>
            </a:xfrm>
            <a:prstGeom prst="line">
              <a:avLst/>
            </a:prstGeom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309237"/>
            <a:ext cx="10322704" cy="5548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权值：边的“费用”，可以形象地理解为边的长度。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连通：如果图中结点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之间存在一条从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通过若干条边、点到达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的通路，则称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是连通的。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回路：起点和终点相同的路径，称为回路，或“环”。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完全图：一个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阶的完全无向图含有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n*(n-1)/2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条边；一个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阶的完全有向图含有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n*(n-1)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条边；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稠密图：一个边数接近完全图的图。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稀疏图：一个边数远远少于完全图的图。　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强连通分量：有向图中任意两点都连通的最大子图。右图中，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1-2-5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构成一个强连通分量。特殊地，单个点也算一个强连通分量，所以右图有三个强连通分量：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1-2-5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51"/>
          <p:cNvGrpSpPr/>
          <p:nvPr/>
        </p:nvGrpSpPr>
        <p:grpSpPr bwMode="auto">
          <a:xfrm>
            <a:off x="6385483" y="3502152"/>
            <a:ext cx="1519270" cy="1756405"/>
            <a:chOff x="0" y="0"/>
            <a:chExt cx="1890" cy="2184"/>
          </a:xfrm>
        </p:grpSpPr>
        <p:grpSp>
          <p:nvGrpSpPr>
            <p:cNvPr id="7" name="Group 52"/>
            <p:cNvGrpSpPr/>
            <p:nvPr/>
          </p:nvGrpSpPr>
          <p:grpSpPr bwMode="auto">
            <a:xfrm>
              <a:off x="0" y="0"/>
              <a:ext cx="1890" cy="2184"/>
              <a:chOff x="0" y="0"/>
              <a:chExt cx="1890" cy="2184"/>
            </a:xfrm>
          </p:grpSpPr>
          <p:grpSp>
            <p:nvGrpSpPr>
              <p:cNvPr id="9" name="Group 53"/>
              <p:cNvGrpSpPr/>
              <p:nvPr/>
            </p:nvGrpSpPr>
            <p:grpSpPr bwMode="auto">
              <a:xfrm>
                <a:off x="0" y="0"/>
                <a:ext cx="1890" cy="1653"/>
                <a:chOff x="0" y="0"/>
                <a:chExt cx="1890" cy="1653"/>
              </a:xfrm>
            </p:grpSpPr>
            <p:grpSp>
              <p:nvGrpSpPr>
                <p:cNvPr id="11" name="Group 54"/>
                <p:cNvGrpSpPr/>
                <p:nvPr/>
              </p:nvGrpSpPr>
              <p:grpSpPr bwMode="auto">
                <a:xfrm>
                  <a:off x="735" y="0"/>
                  <a:ext cx="435" cy="360"/>
                  <a:chOff x="0" y="0"/>
                  <a:chExt cx="435" cy="360"/>
                </a:xfrm>
              </p:grpSpPr>
              <p:sp>
                <p:nvSpPr>
                  <p:cNvPr id="29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75" y="0"/>
                    <a:ext cx="360" cy="36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5"/>
                    <a:ext cx="36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r>
                      <a:rPr lang="zh-CN" altLang="en-US" dirty="0"/>
                      <a:t> 1  </a:t>
                    </a:r>
                  </a:p>
                  <a:p>
                    <a:endParaRPr lang="zh-CN" altLang="en-US" dirty="0"/>
                  </a:p>
                </p:txBody>
              </p:sp>
            </p:grpSp>
            <p:grpSp>
              <p:nvGrpSpPr>
                <p:cNvPr id="12" name="Group 57"/>
                <p:cNvGrpSpPr/>
                <p:nvPr/>
              </p:nvGrpSpPr>
              <p:grpSpPr bwMode="auto">
                <a:xfrm>
                  <a:off x="1455" y="624"/>
                  <a:ext cx="435" cy="360"/>
                  <a:chOff x="0" y="0"/>
                  <a:chExt cx="435" cy="360"/>
                </a:xfrm>
              </p:grpSpPr>
              <p:sp>
                <p:nvSpPr>
                  <p:cNvPr id="27" name="Oval 58"/>
                  <p:cNvSpPr>
                    <a:spLocks noChangeArrowheads="1"/>
                  </p:cNvSpPr>
                  <p:nvPr/>
                </p:nvSpPr>
                <p:spPr bwMode="auto">
                  <a:xfrm>
                    <a:off x="75" y="0"/>
                    <a:ext cx="360" cy="36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5"/>
                    <a:ext cx="36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r>
                      <a:rPr lang="zh-CN" altLang="en-US"/>
                      <a:t> 2  </a:t>
                    </a:r>
                  </a:p>
                  <a:p>
                    <a:endParaRPr lang="zh-CN" altLang="en-US"/>
                  </a:p>
                </p:txBody>
              </p:sp>
            </p:grpSp>
            <p:grpSp>
              <p:nvGrpSpPr>
                <p:cNvPr id="13" name="Group 60"/>
                <p:cNvGrpSpPr/>
                <p:nvPr/>
              </p:nvGrpSpPr>
              <p:grpSpPr bwMode="auto">
                <a:xfrm>
                  <a:off x="1155" y="1293"/>
                  <a:ext cx="435" cy="360"/>
                  <a:chOff x="0" y="0"/>
                  <a:chExt cx="435" cy="360"/>
                </a:xfrm>
              </p:grpSpPr>
              <p:sp>
                <p:nvSpPr>
                  <p:cNvPr id="25" name="Oval 61"/>
                  <p:cNvSpPr>
                    <a:spLocks noChangeArrowheads="1"/>
                  </p:cNvSpPr>
                  <p:nvPr/>
                </p:nvSpPr>
                <p:spPr bwMode="auto">
                  <a:xfrm>
                    <a:off x="75" y="0"/>
                    <a:ext cx="360" cy="36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5"/>
                    <a:ext cx="36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r>
                      <a:rPr lang="zh-CN" altLang="en-US"/>
                      <a:t> 3  </a:t>
                    </a:r>
                  </a:p>
                  <a:p>
                    <a:endParaRPr lang="zh-CN" altLang="en-US"/>
                  </a:p>
                </p:txBody>
              </p:sp>
            </p:grpSp>
            <p:grpSp>
              <p:nvGrpSpPr>
                <p:cNvPr id="14" name="Group 63"/>
                <p:cNvGrpSpPr/>
                <p:nvPr/>
              </p:nvGrpSpPr>
              <p:grpSpPr bwMode="auto">
                <a:xfrm>
                  <a:off x="375" y="1281"/>
                  <a:ext cx="435" cy="360"/>
                  <a:chOff x="0" y="0"/>
                  <a:chExt cx="435" cy="360"/>
                </a:xfrm>
              </p:grpSpPr>
              <p:sp>
                <p:nvSpPr>
                  <p:cNvPr id="23" name="Oval 64"/>
                  <p:cNvSpPr>
                    <a:spLocks noChangeArrowheads="1"/>
                  </p:cNvSpPr>
                  <p:nvPr/>
                </p:nvSpPr>
                <p:spPr bwMode="auto">
                  <a:xfrm>
                    <a:off x="75" y="0"/>
                    <a:ext cx="360" cy="36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5"/>
                    <a:ext cx="36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r>
                      <a:rPr lang="zh-CN" altLang="en-US"/>
                      <a:t> 4  </a:t>
                    </a:r>
                  </a:p>
                  <a:p>
                    <a:endParaRPr lang="zh-CN" altLang="en-US"/>
                  </a:p>
                </p:txBody>
              </p:sp>
            </p:grpSp>
            <p:grpSp>
              <p:nvGrpSpPr>
                <p:cNvPr id="15" name="Group 66"/>
                <p:cNvGrpSpPr/>
                <p:nvPr/>
              </p:nvGrpSpPr>
              <p:grpSpPr bwMode="auto">
                <a:xfrm>
                  <a:off x="0" y="645"/>
                  <a:ext cx="435" cy="360"/>
                  <a:chOff x="0" y="0"/>
                  <a:chExt cx="435" cy="360"/>
                </a:xfrm>
              </p:grpSpPr>
              <p:sp>
                <p:nvSpPr>
                  <p:cNvPr id="21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75" y="0"/>
                    <a:ext cx="360" cy="360"/>
                  </a:xfrm>
                  <a:prstGeom prst="ellipse">
                    <a:avLst/>
                  </a:prstGeom>
                  <a:solidFill>
                    <a:srgbClr val="99CCFF"/>
                  </a:solidFill>
                  <a:ln w="952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5"/>
                    <a:ext cx="36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r>
                      <a:rPr lang="zh-CN" altLang="en-US" dirty="0"/>
                      <a:t> 5  </a:t>
                    </a:r>
                  </a:p>
                  <a:p>
                    <a:endParaRPr lang="zh-CN" altLang="en-US" dirty="0"/>
                  </a:p>
                </p:txBody>
              </p:sp>
            </p:grpSp>
            <p:sp>
              <p:nvSpPr>
                <p:cNvPr id="1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420" y="333"/>
                  <a:ext cx="480" cy="4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70"/>
                <p:cNvSpPr>
                  <a:spLocks noChangeShapeType="1"/>
                </p:cNvSpPr>
                <p:nvPr/>
              </p:nvSpPr>
              <p:spPr bwMode="auto">
                <a:xfrm>
                  <a:off x="1095" y="312"/>
                  <a:ext cx="450" cy="38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510" y="780"/>
                  <a:ext cx="945" cy="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735" y="387"/>
                  <a:ext cx="210" cy="93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Line 73"/>
                <p:cNvSpPr>
                  <a:spLocks noChangeShapeType="1"/>
                </p:cNvSpPr>
                <p:nvPr/>
              </p:nvSpPr>
              <p:spPr bwMode="auto">
                <a:xfrm>
                  <a:off x="1020" y="396"/>
                  <a:ext cx="285" cy="88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" name="Text Box 74"/>
              <p:cNvSpPr txBox="1">
                <a:spLocks noChangeArrowheads="1"/>
              </p:cNvSpPr>
              <p:nvPr/>
            </p:nvSpPr>
            <p:spPr bwMode="auto">
              <a:xfrm>
                <a:off x="540" y="1872"/>
                <a:ext cx="1080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zh-CN" altLang="en-US"/>
                  <a:t>     </a:t>
                </a:r>
              </a:p>
              <a:p>
                <a:endParaRPr lang="zh-CN" altLang="en-US"/>
              </a:p>
            </p:txBody>
          </p:sp>
        </p:grpSp>
        <p:sp>
          <p:nvSpPr>
            <p:cNvPr id="8" name="Line 75"/>
            <p:cNvSpPr>
              <a:spLocks noChangeShapeType="1"/>
            </p:cNvSpPr>
            <p:nvPr/>
          </p:nvSpPr>
          <p:spPr bwMode="auto">
            <a:xfrm flipH="1">
              <a:off x="1512" y="1014"/>
              <a:ext cx="18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513009"/>
            <a:ext cx="100605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：表示结点间相邻关系的矩阵。若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）是一个具有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个结点的图，则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的相邻矩阵是如下定义的二维数组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，其规模为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n*n;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9CCA1666-FD8A-4537-AD7C-491EAD4ED8B4}"/>
              </a:ext>
            </a:extLst>
          </p:cNvPr>
          <p:cNvSpPr/>
          <p:nvPr/>
        </p:nvSpPr>
        <p:spPr>
          <a:xfrm>
            <a:off x="2228295" y="3339769"/>
            <a:ext cx="97654" cy="878889"/>
          </a:xfrm>
          <a:prstGeom prst="leftBrac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80066F-F088-A5A3-AF65-8CF5B3ACCBD8}"/>
              </a:ext>
            </a:extLst>
          </p:cNvPr>
          <p:cNvSpPr txBox="1"/>
          <p:nvPr/>
        </p:nvSpPr>
        <p:spPr>
          <a:xfrm>
            <a:off x="1251751" y="3489548"/>
            <a:ext cx="97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0D4303-B89E-BAC5-A2F1-DB6F43C68796}"/>
              </a:ext>
            </a:extLst>
          </p:cNvPr>
          <p:cNvSpPr txBox="1"/>
          <p:nvPr/>
        </p:nvSpPr>
        <p:spPr>
          <a:xfrm>
            <a:off x="2618913" y="3154302"/>
            <a:ext cx="5104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或权值 表示顶点</a:t>
            </a:r>
            <a:r>
              <a:rPr lang="en-US" altLang="zh-CN" dirty="0" err="1"/>
              <a:t>i</a:t>
            </a:r>
            <a:r>
              <a:rPr lang="zh-CN" altLang="en-US" dirty="0"/>
              <a:t>和顶点</a:t>
            </a:r>
            <a:r>
              <a:rPr lang="en-US" altLang="zh-CN" dirty="0"/>
              <a:t>j</a:t>
            </a:r>
            <a:r>
              <a:rPr lang="zh-CN" altLang="en-US" dirty="0"/>
              <a:t>有边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的路程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37D2E7-1AD0-6FDD-5F85-C1C4D7BCDEB1}"/>
                  </a:ext>
                </a:extLst>
              </p:cNvPr>
              <p:cNvSpPr txBox="1"/>
              <p:nvPr/>
            </p:nvSpPr>
            <p:spPr>
              <a:xfrm>
                <a:off x="2618913" y="4033992"/>
                <a:ext cx="51046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0</a:t>
                </a:r>
                <a:r>
                  <a:rPr lang="zh-CN" altLang="en-US" dirty="0"/>
                  <a:t>或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  表示顶点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和顶点</a:t>
                </a:r>
                <a:r>
                  <a:rPr lang="en-US" altLang="zh-CN" dirty="0"/>
                  <a:t>j</a:t>
                </a:r>
                <a:r>
                  <a:rPr lang="zh-CN" altLang="en-US" dirty="0"/>
                  <a:t>无边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37D2E7-1AD0-6FDD-5F85-C1C4D7BCD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913" y="4033992"/>
                <a:ext cx="5104660" cy="369332"/>
              </a:xfrm>
              <a:prstGeom prst="rect">
                <a:avLst/>
              </a:prstGeom>
              <a:blipFill>
                <a:blip r:embed="rId2"/>
                <a:stretch>
                  <a:fillRect l="-1075" t="-13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278636" y="3891223"/>
                <a:ext cx="10060582" cy="2224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空间复杂度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直观，容易理解，可以直接查看任意两点的关系。</a:t>
                </a: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缺点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对于稀疏图，会有很多空间根本没有利用。对于带权图，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不能处理重边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要查询某一个顶点的所有边，要枚举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次。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636" y="3891223"/>
                <a:ext cx="10060582" cy="2224776"/>
              </a:xfrm>
              <a:prstGeom prst="rect">
                <a:avLst/>
              </a:prstGeom>
              <a:blipFill>
                <a:blip r:embed="rId2"/>
                <a:stretch>
                  <a:fillRect l="-424" b="-35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667636"/>
            <a:ext cx="3703026" cy="2003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634" y="1571841"/>
            <a:ext cx="3631832" cy="2194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04900" y="1361681"/>
            <a:ext cx="9548304" cy="4751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二维数组实现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endParaRPr lang="en-US" altLang="zh-C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w,g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[101][101];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memset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(g,0x3f,sizeof(g));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e;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k = 1; k &lt;= e; k++)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j &gt;&gt; w;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读入两个顶点序号及权值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 = w;      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对于不带权的图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g[j][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w;         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无向图的对称性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如果是有向图则不要有这句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04900" y="1389912"/>
            <a:ext cx="9639300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E4EAF2-F89A-443A-22F3-2D6227BEC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46" y="1810512"/>
            <a:ext cx="5130185" cy="4728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242703"/>
            <a:ext cx="100605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图的存储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对图的每个顶点建立一个单链表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个顶点建立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个单链表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个单链表中的结点包含顶点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的所有邻接顶点。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19614"/>
          <a:stretch/>
        </p:blipFill>
        <p:spPr>
          <a:xfrm>
            <a:off x="1104900" y="3035601"/>
            <a:ext cx="4723049" cy="200691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25000" y="5093616"/>
            <a:ext cx="8960248" cy="222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O(V+E) 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O(V+2*E)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节省空间，能快速找到某个顶点所有相连的顶点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，而无需访问无关顶点。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5" name="矩形 4"/>
          <p:cNvSpPr/>
          <p:nvPr/>
        </p:nvSpPr>
        <p:spPr>
          <a:xfrm>
            <a:off x="1053706" y="1192465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5896" y="1731990"/>
            <a:ext cx="10238690" cy="1546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链式前向星其实就是静态建立的邻接表，时间效率为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），空间效率也为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）。遍历效率也为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对于下面的数据，第一行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个顶点，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条边。接下来是边的起点，终点和权值。也就是边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1 -&gt; 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权值为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eaLnBrk="0" hangingPunct="0">
              <a:lnSpc>
                <a:spcPct val="200000"/>
              </a:lnSpc>
              <a:buClr>
                <a:srgbClr val="000000"/>
              </a:buClr>
            </a:pPr>
            <a:endParaRPr lang="zh-CN" altLang="en-US" noProof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3" y="2943952"/>
            <a:ext cx="1967399" cy="208635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901" y="2943952"/>
            <a:ext cx="3029657" cy="3789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376116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04900" y="2162627"/>
            <a:ext cx="6096000" cy="25327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Edge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next;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to;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w;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}edge[105];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记录边信息 </a:t>
            </a:r>
          </a:p>
        </p:txBody>
      </p:sp>
      <p:sp>
        <p:nvSpPr>
          <p:cNvPr id="8" name="矩形 7"/>
          <p:cNvSpPr/>
          <p:nvPr/>
        </p:nvSpPr>
        <p:spPr>
          <a:xfrm>
            <a:off x="5803260" y="1952105"/>
            <a:ext cx="5577913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add(int u, int v, int w)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添加边信息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].w = w;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边权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 = v;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条边的终点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].next = head[u];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与第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条边同起点的下一条边的存储位置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head[u]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  //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为起点第一条边存储的位置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34144" y="1580225"/>
            <a:ext cx="0" cy="459863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376116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7" y="1938899"/>
            <a:ext cx="5117589" cy="301084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08002" y="5165973"/>
            <a:ext cx="1001543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保存的是以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为起点的所有边中编号最大的那个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而把这个当作顶点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的第一条起始边的位置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这样在遍历时是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倒着遍历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也就是说与输入顺序是相反的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不过这样不影响结果的正确性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比如以上图为例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以节点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为起点的边有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它们的编号分别是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0,3,5  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head[1] = 5</a:t>
            </a:r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264893" y="1938899"/>
            <a:ext cx="6096000" cy="29510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1 5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4 5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376116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链式前向星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7" y="1938899"/>
            <a:ext cx="5117589" cy="301084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08002" y="5165973"/>
            <a:ext cx="10195617" cy="1289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遍历以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节点为起始位置的所有边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=head[u];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!=-1;i=edge[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].next)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先遍历编号为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head[1],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然后就是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edge[5].next,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也就是编号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然后继续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edge[3].next,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也就是编号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可以看出是逆序的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矩形 5"/>
          <p:cNvSpPr/>
          <p:nvPr/>
        </p:nvSpPr>
        <p:spPr>
          <a:xfrm>
            <a:off x="7264893" y="1938899"/>
            <a:ext cx="6096000" cy="29510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3 4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1 3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1 5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4 5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图的存储</a:t>
            </a:r>
          </a:p>
        </p:txBody>
      </p:sp>
      <p:sp>
        <p:nvSpPr>
          <p:cNvPr id="5" name="矩形 4"/>
          <p:cNvSpPr/>
          <p:nvPr/>
        </p:nvSpPr>
        <p:spPr>
          <a:xfrm>
            <a:off x="1070148" y="1173162"/>
            <a:ext cx="10015434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程序实现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8" y="1863711"/>
            <a:ext cx="4117383" cy="416909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683" y="1863711"/>
            <a:ext cx="6387551" cy="4232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25583"/>
            <a:ext cx="1006058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给出一个图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和其中任意一个结点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V0,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出发系统地访问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中所有结点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每一个结点被访问一次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这就叫图的遍历。遍历图的结果是按访问顺序将结点排成一个线性序列。遍历图的算法是求解图的连通性问题、拓朴排序和求关键路径等算法的基础。通常有两种遍历方法：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深度优先搜索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广度优先搜索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5" name="矩形 4"/>
          <p:cNvSpPr/>
          <p:nvPr/>
        </p:nvSpPr>
        <p:spPr>
          <a:xfrm>
            <a:off x="5227638" y="2855157"/>
            <a:ext cx="4480496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出发，按深度优先搜索的顺序遍历，得到的结点序列是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v3→v2→v1→v5→v4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104900" y="2692372"/>
          <a:ext cx="333057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2828571" imgH="2038095" progId="PBrush">
                  <p:embed/>
                </p:oleObj>
              </mc:Choice>
              <mc:Fallback>
                <p:oleObj name="位图图像" r:id="rId2" imgW="2828571" imgH="2038095" progId="PBrush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692372"/>
                        <a:ext cx="3330575" cy="240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7"/>
          <p:cNvSpPr>
            <a:spLocks noChangeShapeType="1"/>
          </p:cNvSpPr>
          <p:nvPr/>
        </p:nvSpPr>
        <p:spPr bwMode="auto">
          <a:xfrm flipH="1" flipV="1">
            <a:off x="3049588" y="3157510"/>
            <a:ext cx="863600" cy="6477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 flipV="1">
            <a:off x="1897063" y="3013047"/>
            <a:ext cx="1008062" cy="730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1392238" y="3373410"/>
            <a:ext cx="1296987" cy="108108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1465263" y="4525935"/>
            <a:ext cx="13684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56894" y="151548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深度优先搜索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04900" y="136273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深度优先搜索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3878" y="1863636"/>
            <a:ext cx="3818961" cy="382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邻接矩阵初始化；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深搜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访问处理结点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]=true;//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置结点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为已访问标记</a:t>
            </a:r>
          </a:p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j=1;j&lt;=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(!f[j]&amp;&amp;a[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][j]==1)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(j);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>
              <a:lnSpc>
                <a:spcPct val="150000"/>
              </a:lnSpc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37718" y="1762842"/>
            <a:ext cx="609452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travel()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memset(f,0,sizeof(f));   //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置所有结点未访问标志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if(!f[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//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深度优先搜索每一个未访问的结点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495278" y="1600200"/>
            <a:ext cx="0" cy="459863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76856" y="144903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广度优先搜索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634800" y="4329467"/>
            <a:ext cx="9533969" cy="2159000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出发按广度优先搜索的顺序遍历，得到的结点序列是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v3→v2→v4→v1→v5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由于队列“先进先出”的存取规则与广度优先搜索的遍历顺序相吻合，因此使用了一个工作队列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，按访问的先后顺序存储被访问过的结点序号。 </a:t>
            </a:r>
          </a:p>
          <a:p>
            <a:pPr>
              <a:buFontTx/>
              <a:buNone/>
            </a:pP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1186612" y="2026837"/>
          <a:ext cx="2827338" cy="203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2828571" imgH="2038095" progId="PBrush">
                  <p:embed/>
                </p:oleObj>
              </mc:Choice>
              <mc:Fallback>
                <p:oleObj name="位图图像" r:id="rId2" imgW="2828571" imgH="2038095" progId="PBrush">
                  <p:embed/>
                  <p:pic>
                    <p:nvPicPr>
                      <p:cNvPr id="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612" y="2026837"/>
                        <a:ext cx="2827338" cy="2036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4"/>
          <p:cNvSpPr>
            <a:spLocks noChangeShapeType="1"/>
          </p:cNvSpPr>
          <p:nvPr/>
        </p:nvSpPr>
        <p:spPr bwMode="auto">
          <a:xfrm flipH="1" flipV="1">
            <a:off x="3140825" y="2502763"/>
            <a:ext cx="719137" cy="5048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 flipH="1">
            <a:off x="3140825" y="3150463"/>
            <a:ext cx="719137" cy="5048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6"/>
          <p:cNvSpPr>
            <a:spLocks noChangeShapeType="1"/>
          </p:cNvSpPr>
          <p:nvPr/>
        </p:nvSpPr>
        <p:spPr bwMode="auto">
          <a:xfrm flipH="1">
            <a:off x="2204200" y="2431326"/>
            <a:ext cx="7921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 flipH="1">
            <a:off x="1627937" y="2574201"/>
            <a:ext cx="1439863" cy="108108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24957" y="13094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广度优先搜索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D7A9CC-B398-4CF9-8E7D-830353521F0A}"/>
              </a:ext>
            </a:extLst>
          </p:cNvPr>
          <p:cNvSpPr txBox="1"/>
          <p:nvPr/>
        </p:nvSpPr>
        <p:spPr>
          <a:xfrm>
            <a:off x="1024957" y="1629676"/>
            <a:ext cx="985906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u)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q.push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vis[u]=1;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while(!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q.empty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int f=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q.front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q.pop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=0;i&lt;g[f].size();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int v=g[f][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if(!vis[v])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q.push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vis[v]=1;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964399" y="1342208"/>
                <a:ext cx="10121183" cy="9954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1】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输入下图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按深度优先遍历和广度优先遍历输出图的结点。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n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99" y="1342208"/>
                <a:ext cx="10121183" cy="995401"/>
              </a:xfrm>
              <a:prstGeom prst="rect">
                <a:avLst/>
              </a:prstGeom>
              <a:blipFill>
                <a:blip r:embed="rId2"/>
                <a:stretch>
                  <a:fillRect l="-482" b="-5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4"/>
          <p:cNvGrpSpPr/>
          <p:nvPr/>
        </p:nvGrpSpPr>
        <p:grpSpPr bwMode="auto">
          <a:xfrm>
            <a:off x="3601385" y="2389094"/>
            <a:ext cx="4038600" cy="3581400"/>
            <a:chOff x="2736" y="1673"/>
            <a:chExt cx="2544" cy="2256"/>
          </a:xfrm>
        </p:grpSpPr>
        <p:sp>
          <p:nvSpPr>
            <p:cNvPr id="6" name="Oval 3"/>
            <p:cNvSpPr>
              <a:spLocks noChangeArrowheads="1"/>
            </p:cNvSpPr>
            <p:nvPr/>
          </p:nvSpPr>
          <p:spPr bwMode="auto">
            <a:xfrm>
              <a:off x="3696" y="1673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7" name="Oval 4"/>
            <p:cNvSpPr>
              <a:spLocks noChangeArrowheads="1"/>
            </p:cNvSpPr>
            <p:nvPr/>
          </p:nvSpPr>
          <p:spPr bwMode="auto">
            <a:xfrm>
              <a:off x="2736" y="2441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3024" y="3353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3787" y="2387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4944" y="2057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4032" y="3593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4332" y="2750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848" y="3161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H="1">
              <a:off x="3024" y="1952"/>
              <a:ext cx="711" cy="5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3936" y="2009"/>
              <a:ext cx="33" cy="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4032" y="1913"/>
              <a:ext cx="91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2928" y="2777"/>
              <a:ext cx="19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3360" y="3641"/>
              <a:ext cx="67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V="1">
              <a:off x="4368" y="3449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 flipH="1">
              <a:off x="5040" y="2393"/>
              <a:ext cx="9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4128" y="2633"/>
              <a:ext cx="249" cy="2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3360" y="2704"/>
              <a:ext cx="518" cy="7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4059" y="2704"/>
              <a:ext cx="165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1300209" y="2288765"/>
            <a:ext cx="2667000" cy="441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2 6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2 7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3 5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3 4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3 7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5 7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9112" y="1632426"/>
            <a:ext cx="3633908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#include&lt;bits/stdc++.h&gt;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using namespace std;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n,m,v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[100005],vis[100005];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vector&lt;int&gt; g[100005];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 u)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&lt;&lt;u&lt;&lt;" ";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v[u]=1;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for(int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=0;i&lt;g[u].size();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int k=g[u][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if(!v[k])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33237" y="1485133"/>
            <a:ext cx="587049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bfs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 u)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queue&lt;int&gt; q;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q.push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vis[u]=1;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while(!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q.empty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int f=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&lt;&lt;f&lt;&lt;" 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q.pop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for(int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=0;i&lt;g[f].size();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int v=g[f][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if(!vis[v])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q.push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(v);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vis[v]=1;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188128" y="1739006"/>
            <a:ext cx="0" cy="459863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994978" y="1699063"/>
            <a:ext cx="4562443" cy="4301819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main()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&gt;&gt;n&gt;&gt;m;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int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for(int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m;i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&gt;&gt;a&gt;&gt;b;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g[a].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push_back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g[b].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push_back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bfs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0;</a:t>
            </a:r>
          </a:p>
          <a:p>
            <a:pPr fontAlgn="base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5" name="矩形 4"/>
          <p:cNvSpPr/>
          <p:nvPr/>
        </p:nvSpPr>
        <p:spPr>
          <a:xfrm>
            <a:off x="975323" y="1471481"/>
            <a:ext cx="53501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警察抓到了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n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个罪犯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警察根据经验知道他们属于不同的犯罪团伙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却不能判断有多少个团伙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但通过警察的审讯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知道其中的一些罪犯之间相互认识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已知同一犯罪团伙的成员之间直接或间接认识。有可能一个犯罪团伙只有一个人。请你根据已知罪犯之间的关系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确定犯罪团伙的数量。已知罪犯的编号从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1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至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n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输入：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第一行：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n(&lt;=1000,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罪犯数量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),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第二行：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m(&lt;5000,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关系数量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以下若干行：每行两个数：</a:t>
            </a:r>
            <a:r>
              <a:rPr lang="en-US" altLang="zh-CN" sz="1600" dirty="0" err="1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i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和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j,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中间一个空格隔开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表示罪犯</a:t>
            </a:r>
            <a:r>
              <a:rPr lang="en-US" altLang="zh-CN" sz="16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i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和罪犯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j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相互认识。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输出：一个整数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,</a:t>
            </a: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sym typeface="+mn-ea"/>
              </a:rPr>
              <a:t>犯罪团伙的数量。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241018" y="1525345"/>
            <a:ext cx="2540000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样例输入：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11 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8 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1 2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4 3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5 4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1 3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5 6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7 10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5 10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8 9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8952753" y="1514587"/>
            <a:ext cx="254000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输出：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说明：共三个犯罪团伙。</a:t>
            </a:r>
            <a:endParaRPr lang="zh-CN" altLang="en-US" dirty="0"/>
          </a:p>
        </p:txBody>
      </p:sp>
      <p:cxnSp>
        <p:nvCxnSpPr>
          <p:cNvPr id="26" name="直接连接符 25"/>
          <p:cNvCxnSpPr/>
          <p:nvPr/>
        </p:nvCxnSpPr>
        <p:spPr>
          <a:xfrm>
            <a:off x="6662793" y="1503829"/>
            <a:ext cx="4445" cy="5044440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020092" y="1720426"/>
            <a:ext cx="4423278" cy="4236481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#include &lt;bits/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stdc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++.h&gt;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using namespace 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std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int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a[1001][1001],visited[1001],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n,m,i,s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=0;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void 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dfs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(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int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)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{ 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visited[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]=1;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for(int j=1;j&lt;=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n;j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++)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    if((a[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][j]==1)&amp;&amp;(visited[j]==0)) </a:t>
            </a:r>
            <a:r>
              <a:rPr lang="en-US" altLang="zh-CN" noProof="0" dirty="0" err="1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dfs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(j);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}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15517" y="1492661"/>
            <a:ext cx="5480012" cy="4662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int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main()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{ 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int 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x,y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;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</a:t>
            </a:r>
            <a:r>
              <a:rPr lang="da-DK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cin&gt;&gt;n&gt;&gt;m;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da-DK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for(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int </a:t>
            </a:r>
            <a:r>
              <a:rPr lang="da-DK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i=1;i&lt;=m;i++){cin&gt;&gt;x&gt;&gt;y;a[x][y]=1;a[y][x]=1;}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da-DK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for(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int </a:t>
            </a:r>
            <a:r>
              <a:rPr lang="da-DK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i=1;i&lt;=n;i++)   visited[i]=0;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da-DK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for(int 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=1;i&lt;=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n;i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++)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     if(visited[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]==0){ 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dfs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);   s++;}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cout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&lt;&lt;s&lt;&lt;</a:t>
            </a: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endl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;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  return 0;</a:t>
            </a:r>
          </a:p>
          <a:p>
            <a:pPr marL="0" marR="0" lvl="0" indent="0" algn="l" defTabSz="9144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+mn-ea"/>
              </a:rPr>
              <a:t>}</a:t>
            </a:r>
            <a:endParaRPr lang="zh-CN" altLang="en-US" dirty="0">
              <a:solidFill>
                <a:prstClr val="black"/>
              </a:solidFill>
              <a:latin typeface="Times New Roman" pitchFamily="18" charset="0"/>
              <a:ea typeface="宋体" panose="02010600030101010101" pitchFamily="2" charset="-122"/>
              <a:cs typeface="Times New Roman" pitchFamily="18" charset="0"/>
              <a:sym typeface="+mn-ea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5470151" y="1456839"/>
            <a:ext cx="4445" cy="5044440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习题练习</a:t>
            </a:r>
          </a:p>
        </p:txBody>
      </p:sp>
      <p:sp>
        <p:nvSpPr>
          <p:cNvPr id="5" name="矩形 4"/>
          <p:cNvSpPr/>
          <p:nvPr/>
        </p:nvSpPr>
        <p:spPr>
          <a:xfrm>
            <a:off x="964399" y="1342208"/>
            <a:ext cx="101211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P5318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P3916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P2853</a:t>
            </a: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2691</Words>
  <Application>Microsoft Office PowerPoint</Application>
  <PresentationFormat>宽屏</PresentationFormat>
  <Paragraphs>307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华文楷体</vt:lpstr>
      <vt:lpstr>楷体_GB2312</vt:lpstr>
      <vt:lpstr>微软雅黑</vt:lpstr>
      <vt:lpstr>Arial</vt:lpstr>
      <vt:lpstr>Cambria Math</vt:lpstr>
      <vt:lpstr>consolas</vt:lpstr>
      <vt:lpstr>Euphemia</vt:lpstr>
      <vt:lpstr>Times New Roman</vt:lpstr>
      <vt:lpstr>Wingdings</vt:lpstr>
      <vt:lpstr>学术文献 16x9</vt:lpstr>
      <vt:lpstr>位图图像</vt:lpstr>
      <vt:lpstr>图的基本概念</vt:lpstr>
      <vt:lpstr>学习目标</vt:lpstr>
      <vt:lpstr>图的基本概念</vt:lpstr>
      <vt:lpstr>图的基本概念</vt:lpstr>
      <vt:lpstr>图的基本概念</vt:lpstr>
      <vt:lpstr>图的基本概念</vt:lpstr>
      <vt:lpstr>图的基本概念</vt:lpstr>
      <vt:lpstr>图的基本概念</vt:lpstr>
      <vt:lpstr>图的基本概念</vt:lpstr>
      <vt:lpstr>图的存储</vt:lpstr>
      <vt:lpstr>图的存储</vt:lpstr>
      <vt:lpstr>图的存储</vt:lpstr>
      <vt:lpstr>图的存储</vt:lpstr>
      <vt:lpstr>图的存储</vt:lpstr>
      <vt:lpstr>图的存储</vt:lpstr>
      <vt:lpstr>图的存储</vt:lpstr>
      <vt:lpstr>图的存储</vt:lpstr>
      <vt:lpstr>图的存储</vt:lpstr>
      <vt:lpstr>图的存储</vt:lpstr>
      <vt:lpstr>图的遍历</vt:lpstr>
      <vt:lpstr>图的遍历</vt:lpstr>
      <vt:lpstr>图的遍历</vt:lpstr>
      <vt:lpstr>图的遍历</vt:lpstr>
      <vt:lpstr>图的遍历</vt:lpstr>
      <vt:lpstr>图的遍历</vt:lpstr>
      <vt:lpstr>图的遍历</vt:lpstr>
      <vt:lpstr>图的遍历</vt:lpstr>
      <vt:lpstr>图的遍历</vt:lpstr>
      <vt:lpstr>图的遍历</vt:lpstr>
      <vt:lpstr>习题练习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2017-11-04T04:56:00Z</dcterms:created>
  <dcterms:modified xsi:type="dcterms:W3CDTF">2023-04-02T02:01:51Z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2052-11.1.0.9440</vt:lpwstr>
  </property>
</Properties>
</file>