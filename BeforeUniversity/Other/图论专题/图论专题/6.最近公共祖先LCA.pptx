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Lst>
  <p:notesMasterIdLst>
    <p:notesMasterId r:id="rId36"/>
  </p:notesMasterIdLst>
  <p:handoutMasterIdLst>
    <p:handoutMasterId r:id="rId37"/>
  </p:handoutMasterIdLst>
  <p:sldIdLst>
    <p:sldId id="256" r:id="rId2"/>
    <p:sldId id="612" r:id="rId3"/>
    <p:sldId id="668" r:id="rId4"/>
    <p:sldId id="754" r:id="rId5"/>
    <p:sldId id="755" r:id="rId6"/>
    <p:sldId id="757" r:id="rId7"/>
    <p:sldId id="758" r:id="rId8"/>
    <p:sldId id="760" r:id="rId9"/>
    <p:sldId id="761" r:id="rId10"/>
    <p:sldId id="759" r:id="rId11"/>
    <p:sldId id="701" r:id="rId12"/>
    <p:sldId id="762" r:id="rId13"/>
    <p:sldId id="763" r:id="rId14"/>
    <p:sldId id="764" r:id="rId15"/>
    <p:sldId id="765" r:id="rId16"/>
    <p:sldId id="766" r:id="rId17"/>
    <p:sldId id="767" r:id="rId18"/>
    <p:sldId id="768" r:id="rId19"/>
    <p:sldId id="769" r:id="rId20"/>
    <p:sldId id="770" r:id="rId21"/>
    <p:sldId id="771" r:id="rId22"/>
    <p:sldId id="773" r:id="rId23"/>
    <p:sldId id="772" r:id="rId24"/>
    <p:sldId id="774" r:id="rId25"/>
    <p:sldId id="775" r:id="rId26"/>
    <p:sldId id="777" r:id="rId27"/>
    <p:sldId id="776" r:id="rId28"/>
    <p:sldId id="778" r:id="rId29"/>
    <p:sldId id="779" r:id="rId30"/>
    <p:sldId id="780" r:id="rId31"/>
    <p:sldId id="781" r:id="rId32"/>
    <p:sldId id="782" r:id="rId33"/>
    <p:sldId id="753" r:id="rId34"/>
    <p:sldId id="502" r:id="rId35"/>
  </p:sldIdLst>
  <p:sldSz cx="12192000" cy="6858000"/>
  <p:notesSz cx="6858000" cy="9144000"/>
  <p:defaultTextStyle>
    <a:defPPr rtl="0">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2">
          <p15:clr>
            <a:srgbClr val="A4A3A4"/>
          </p15:clr>
        </p15:guide>
        <p15:guide id="2" pos="3839">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9E9"/>
    <a:srgbClr val="FFFF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CAF9ED-07DC-4A11-8D7F-57B35C25682E}" styleName="中度样式 1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897" autoAdjust="0"/>
    <p:restoredTop sz="94660" autoAdjust="0"/>
  </p:normalViewPr>
  <p:slideViewPr>
    <p:cSldViewPr snapToGrid="0" showGuides="1">
      <p:cViewPr varScale="1">
        <p:scale>
          <a:sx n="104" d="100"/>
          <a:sy n="104" d="100"/>
        </p:scale>
        <p:origin x="150" y="228"/>
      </p:cViewPr>
      <p:guideLst>
        <p:guide orient="horz" pos="2162"/>
        <p:guide pos="3839"/>
      </p:guideLst>
    </p:cSldViewPr>
  </p:slideViewPr>
  <p:outlineViewPr>
    <p:cViewPr>
      <p:scale>
        <a:sx n="33" d="100"/>
        <a:sy n="33" d="100"/>
      </p:scale>
      <p:origin x="0" y="0"/>
    </p:cViewPr>
  </p:outlineViewPr>
  <p:notesTextViewPr>
    <p:cViewPr>
      <p:scale>
        <a:sx n="1" d="1"/>
        <a:sy n="1" d="1"/>
      </p:scale>
      <p:origin x="0" y="0"/>
    </p:cViewPr>
  </p:notesTextViewPr>
  <p:sorterViewPr>
    <p:cViewPr>
      <p:scale>
        <a:sx n="20" d="100"/>
        <a:sy n="20" d="100"/>
      </p:scale>
      <p:origin x="0" y="0"/>
    </p:cViewPr>
  </p:sorterViewPr>
  <p:notesViewPr>
    <p:cSldViewPr snapToGrid="0">
      <p:cViewPr varScale="1">
        <p:scale>
          <a:sx n="99" d="100"/>
          <a:sy n="99" d="100"/>
        </p:scale>
        <p:origin x="3570"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vl1pPr>
          </a:lstStyle>
          <a:p>
            <a:pPr rtl="0"/>
            <a:endParaRPr lang="zh-CN" altLang="en-US" dirty="0">
              <a:latin typeface="微软雅黑" panose="020B0503020204020204" pitchFamily="34" charset="-122"/>
              <a:ea typeface="微软雅黑"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l" rtl="0">
              <a:defRPr sz="1200"/>
            </a:lvl1pPr>
          </a:lstStyle>
          <a:p>
            <a:pPr algn="r" rtl="0"/>
            <a:fld id="{91C0301E-2321-4F52-B85E-5901506D265C}" type="datetime1">
              <a:rPr lang="zh-CN" altLang="en-US" smtClean="0">
                <a:latin typeface="微软雅黑" panose="020B0503020204020204" pitchFamily="34" charset="-122"/>
                <a:ea typeface="微软雅黑" panose="020B0503020204020204" pitchFamily="34" charset="-122"/>
              </a:rPr>
              <a:pPr algn="r" rtl="0"/>
              <a:t>2022/7/29</a:t>
            </a:fld>
            <a:endParaRPr lang="zh-CN" altLang="en-US" dirty="0">
              <a:latin typeface="微软雅黑" panose="020B0503020204020204" pitchFamily="34" charset="-122"/>
              <a:ea typeface="微软雅黑"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rtl="0">
              <a:defRPr sz="1200"/>
            </a:lvl1pPr>
          </a:lstStyle>
          <a:p>
            <a:pPr rtl="0"/>
            <a:endParaRPr lang="zh-CN" altLang="en-US"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l" rtl="0">
              <a:defRPr sz="1200"/>
            </a:lvl1pPr>
          </a:lstStyle>
          <a:p>
            <a:pPr algn="r" rtl="0"/>
            <a:fld id="{06834459-7356-44BF-850D-8B30C4FB3B6B}" type="slidenum">
              <a:rPr lang="en-US" altLang="zh-CN" smtClean="0">
                <a:latin typeface="微软雅黑" panose="020B0503020204020204" pitchFamily="34" charset="-122"/>
                <a:ea typeface="微软雅黑" panose="020B0503020204020204" pitchFamily="34" charset="-122"/>
              </a:rPr>
              <a:pPr algn="r" rtl="0"/>
              <a:t>‹#›</a:t>
            </a:fld>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atin typeface="微软雅黑" panose="020B0503020204020204" pitchFamily="34" charset="-122"/>
                <a:ea typeface="微软雅黑" panose="020B0503020204020204"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rtl="0">
              <a:defRPr sz="1200">
                <a:latin typeface="微软雅黑" panose="020B0503020204020204" pitchFamily="34" charset="-122"/>
                <a:ea typeface="微软雅黑" panose="020B0503020204020204" pitchFamily="34" charset="-122"/>
              </a:defRPr>
            </a:lvl1pPr>
          </a:lstStyle>
          <a:p>
            <a:fld id="{229B22C3-6CB1-491B-AD00-E0837F23A3F3}" type="datetime1">
              <a:rPr lang="zh-CN" altLang="en-US" smtClean="0"/>
              <a:pPr/>
              <a:t>2022/7/29</a:t>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zh-CN" altLang="en-US" noProof="0"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zh-CN" altLang="en-US" noProof="0" dirty="0"/>
              <a:t>单击此处编辑母版文本样式</a:t>
            </a:r>
          </a:p>
          <a:p>
            <a:pPr lvl="1" rtl="0"/>
            <a:r>
              <a:rPr lang="zh-CN" altLang="en-US" noProof="0" dirty="0"/>
              <a:t>第二级</a:t>
            </a:r>
          </a:p>
          <a:p>
            <a:pPr lvl="2" rtl="0"/>
            <a:r>
              <a:rPr lang="zh-CN" altLang="en-US" noProof="0" dirty="0"/>
              <a:t>第三级</a:t>
            </a:r>
          </a:p>
          <a:p>
            <a:pPr lvl="3" rtl="0"/>
            <a:r>
              <a:rPr lang="zh-CN" altLang="en-US" noProof="0" dirty="0"/>
              <a:t>第四级</a:t>
            </a:r>
          </a:p>
          <a:p>
            <a:pPr lvl="4" rtl="0"/>
            <a:r>
              <a:rPr lang="zh-CN" altLang="en-US" noProof="0"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rtl="0">
              <a:defRPr sz="1200">
                <a:latin typeface="微软雅黑" panose="020B0503020204020204" pitchFamily="34" charset="-122"/>
                <a:ea typeface="微软雅黑" panose="020B0503020204020204"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rtl="0">
              <a:defRPr sz="1200">
                <a:latin typeface="微软雅黑" panose="020B0503020204020204" pitchFamily="34" charset="-122"/>
                <a:ea typeface="微软雅黑" panose="020B0503020204020204" pitchFamily="34" charset="-122"/>
              </a:defRPr>
            </a:lvl1pPr>
          </a:lstStyle>
          <a:p>
            <a:fld id="{0A3C37BE-C303-496D-B5CD-85F2937540FC}" type="slidenum">
              <a:rPr lang="en-US" altLang="zh-CN" smtClean="0"/>
              <a:pPr/>
              <a:t>‹#›</a:t>
            </a:fld>
            <a:endParaRPr lang="en-US" altLang="zh-CN"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2pPr>
    <a:lvl3pPr marL="9144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3pPr>
    <a:lvl4pPr marL="13716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4pPr>
    <a:lvl5pPr marL="18288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A3C37BE-C303-496D-B5CD-85F2937540FC}" type="slidenum">
              <a:rPr lang="en-US" altLang="zh-CN" smtClean="0"/>
              <a:pPr/>
              <a:t>1</a:t>
            </a:fld>
            <a:endParaRPr lang="en-US" altLang="zh-CN"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矩形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p>
        </p:txBody>
      </p:sp>
      <p:sp>
        <p:nvSpPr>
          <p:cNvPr id="8" name="矩形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p>
        </p:txBody>
      </p:sp>
      <p:sp>
        <p:nvSpPr>
          <p:cNvPr id="2" name="标题 1"/>
          <p:cNvSpPr>
            <a:spLocks noGrp="1"/>
          </p:cNvSpPr>
          <p:nvPr>
            <p:ph type="ctrTitle"/>
          </p:nvPr>
        </p:nvSpPr>
        <p:spPr>
          <a:xfrm>
            <a:off x="1104900" y="2292094"/>
            <a:ext cx="10096500" cy="2219691"/>
          </a:xfrm>
        </p:spPr>
        <p:txBody>
          <a:bodyPr rtlCol="0" anchor="ctr">
            <a:normAutofit/>
          </a:bodyPr>
          <a:lstStyle>
            <a:lvl1pPr algn="l" rtl="0">
              <a:defRPr sz="4400" cap="all" baseline="0"/>
            </a:lvl1pPr>
          </a:lstStyle>
          <a:p>
            <a:pPr rtl="0"/>
            <a:r>
              <a:rPr lang="zh-CN" altLang="en-US" noProof="0"/>
              <a:t>单击此处编辑母版标题样式</a:t>
            </a:r>
            <a:endParaRPr lang="zh-CN" altLang="en-US" noProof="0" dirty="0"/>
          </a:p>
        </p:txBody>
      </p:sp>
      <p:sp>
        <p:nvSpPr>
          <p:cNvPr id="3" name="副标题 2"/>
          <p:cNvSpPr>
            <a:spLocks noGrp="1"/>
          </p:cNvSpPr>
          <p:nvPr>
            <p:ph type="subTitle" idx="1"/>
          </p:nvPr>
        </p:nvSpPr>
        <p:spPr>
          <a:xfrm>
            <a:off x="1104898" y="4511784"/>
            <a:ext cx="10096501" cy="955565"/>
          </a:xfrm>
        </p:spPr>
        <p:txBody>
          <a:bodyPr rtlCol="0">
            <a:normAutofit/>
          </a:bodyPr>
          <a:lstStyle>
            <a:lvl1pPr marL="0" indent="0" algn="l" rtl="0">
              <a:spcBef>
                <a:spcPts val="0"/>
              </a:spcBef>
              <a:buNone/>
              <a:defRPr sz="1800"/>
            </a:lvl1pPr>
            <a:lvl2pPr marL="457200" indent="0" algn="ctr" rtl="0">
              <a:buNone/>
              <a:defRPr sz="2000"/>
            </a:lvl2pPr>
            <a:lvl3pPr marL="914400" indent="0" algn="ctr" rtl="0">
              <a:buNone/>
              <a:defRPr sz="1800"/>
            </a:lvl3pPr>
            <a:lvl4pPr marL="1371600" indent="0" algn="ctr" rtl="0">
              <a:buNone/>
              <a:defRPr sz="1600"/>
            </a:lvl4pPr>
            <a:lvl5pPr marL="1828800" indent="0" algn="ctr" rtl="0">
              <a:buNone/>
              <a:defRPr sz="1600"/>
            </a:lvl5pPr>
            <a:lvl6pPr marL="2286000" indent="0" algn="ctr" rtl="0">
              <a:buNone/>
              <a:defRPr sz="1600"/>
            </a:lvl6pPr>
            <a:lvl7pPr marL="2743200" indent="0" algn="ctr" rtl="0">
              <a:buNone/>
              <a:defRPr sz="1600"/>
            </a:lvl7pPr>
            <a:lvl8pPr marL="3200400" indent="0" algn="ctr" rtl="0">
              <a:buNone/>
              <a:defRPr sz="1600"/>
            </a:lvl8pPr>
            <a:lvl9pPr marL="3657600" indent="0" algn="ctr" rtl="0">
              <a:buNone/>
              <a:defRPr sz="1600"/>
            </a:lvl9pPr>
          </a:lstStyle>
          <a:p>
            <a:pPr rtl="0"/>
            <a:r>
              <a:rPr lang="zh-CN" altLang="en-US" noProof="0"/>
              <a:t>单击此处编辑母版副标题样式</a:t>
            </a:r>
            <a:endParaRPr lang="zh-CN" altLang="en-US" noProof="0" dirty="0"/>
          </a:p>
        </p:txBody>
      </p:sp>
      <p:sp>
        <p:nvSpPr>
          <p:cNvPr id="4" name="日期占位符 3"/>
          <p:cNvSpPr>
            <a:spLocks noGrp="1"/>
          </p:cNvSpPr>
          <p:nvPr>
            <p:ph type="dt" sz="half" idx="10"/>
          </p:nvPr>
        </p:nvSpPr>
        <p:spPr/>
        <p:txBody>
          <a:bodyPr rtlCol="0"/>
          <a:lstStyle>
            <a:lvl1pPr>
              <a:defRPr/>
            </a:lvl1pPr>
          </a:lstStyle>
          <a:p>
            <a:fld id="{A7392AAC-879E-4B39-8824-AF6B730A809E}" type="datetime1">
              <a:rPr lang="zh-CN" altLang="en-US" smtClean="0"/>
              <a:pPr/>
              <a:t>2022/7/29</a:t>
            </a:fld>
            <a:endParaRPr lang="zh-CN" alt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pic>
        <p:nvPicPr>
          <p:cNvPr id="11" name="图 10"/>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a:fillRect/>
          </a:stretch>
        </p:blipFill>
        <p:spPr>
          <a:xfrm>
            <a:off x="1324445" y="0"/>
            <a:ext cx="1747524" cy="2292094"/>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rgbClr val="FFFFF3"/>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内容占位符 2"/>
          <p:cNvSpPr>
            <a:spLocks noGrp="1"/>
          </p:cNvSpPr>
          <p:nvPr>
            <p:ph idx="1"/>
          </p:nvPr>
        </p:nvSpPr>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9BA78444-6099-4C0A-A3A9-C6F3C5D7F289}" type="datetime1">
              <a:rPr lang="zh-CN" altLang="en-US" smtClean="0"/>
              <a:pPr/>
              <a:t>2022/7/29</a:t>
            </a:fld>
            <a:endParaRPr lang="zh-CN" altLang="en-US" dirty="0"/>
          </a:p>
        </p:txBody>
      </p:sp>
      <p:sp>
        <p:nvSpPr>
          <p:cNvPr id="5" name="页脚占位符 4"/>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6" name="灯片编号占位符 5"/>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包含图片的标题幻灯片">
    <p:spTree>
      <p:nvGrpSpPr>
        <p:cNvPr id="1" name=""/>
        <p:cNvGrpSpPr/>
        <p:nvPr/>
      </p:nvGrpSpPr>
      <p:grpSpPr>
        <a:xfrm>
          <a:off x="0" y="0"/>
          <a:ext cx="0" cy="0"/>
          <a:chOff x="0" y="0"/>
          <a:chExt cx="0" cy="0"/>
        </a:xfrm>
      </p:grpSpPr>
      <p:grpSp>
        <p:nvGrpSpPr>
          <p:cNvPr id="13" name="组 12"/>
          <p:cNvGrpSpPr/>
          <p:nvPr/>
        </p:nvGrpSpPr>
        <p:grpSpPr>
          <a:xfrm rot="10800000">
            <a:off x="0" y="5645510"/>
            <a:ext cx="12192000" cy="63125"/>
            <a:chOff x="507492" y="1501519"/>
            <a:chExt cx="8129016" cy="63125"/>
          </a:xfrm>
        </p:grpSpPr>
        <p:cxnSp>
          <p:nvCxnSpPr>
            <p:cNvPr id="17" name="直接连接符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nvGrpSpPr>
          <p:cNvPr id="14" name="组 13"/>
          <p:cNvGrpSpPr/>
          <p:nvPr/>
        </p:nvGrpSpPr>
        <p:grpSpPr>
          <a:xfrm>
            <a:off x="0" y="1143000"/>
            <a:ext cx="12192000" cy="63125"/>
            <a:chOff x="507492" y="1501519"/>
            <a:chExt cx="8129016" cy="63125"/>
          </a:xfrm>
        </p:grpSpPr>
        <p:cxnSp>
          <p:nvCxnSpPr>
            <p:cNvPr id="15" name="直接连接符​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矩形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微软雅黑" panose="020B0503020204020204" pitchFamily="34" charset="-122"/>
              <a:ea typeface="微软雅黑" panose="020B0503020204020204" pitchFamily="34" charset="-122"/>
            </a:endParaRPr>
          </a:p>
        </p:txBody>
      </p:sp>
      <p:sp>
        <p:nvSpPr>
          <p:cNvPr id="8" name="矩形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微软雅黑" panose="020B0503020204020204" pitchFamily="34" charset="-122"/>
              <a:ea typeface="微软雅黑" panose="020B0503020204020204" pitchFamily="34" charset="-122"/>
            </a:endParaRPr>
          </a:p>
        </p:txBody>
      </p:sp>
      <p:sp>
        <p:nvSpPr>
          <p:cNvPr id="2" name="标题 1"/>
          <p:cNvSpPr>
            <a:spLocks noGrp="1"/>
          </p:cNvSpPr>
          <p:nvPr>
            <p:ph type="ctrTitle"/>
          </p:nvPr>
        </p:nvSpPr>
        <p:spPr>
          <a:xfrm>
            <a:off x="1104900" y="2292094"/>
            <a:ext cx="5734050" cy="2219691"/>
          </a:xfrm>
        </p:spPr>
        <p:txBody>
          <a:bodyPr rtlCol="0" anchor="ctr">
            <a:normAutofit/>
          </a:bodyPr>
          <a:lstStyle>
            <a:lvl1pPr algn="l" rtl="0">
              <a:defRPr sz="4400" cap="all" baseline="0">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副标题 2"/>
          <p:cNvSpPr>
            <a:spLocks noGrp="1"/>
          </p:cNvSpPr>
          <p:nvPr>
            <p:ph type="subTitle" idx="1"/>
          </p:nvPr>
        </p:nvSpPr>
        <p:spPr>
          <a:xfrm>
            <a:off x="1104900" y="4511784"/>
            <a:ext cx="5734050" cy="955565"/>
          </a:xfrm>
        </p:spPr>
        <p:txBody>
          <a:bodyPr rtlCol="0">
            <a:normAutofit/>
          </a:bodyPr>
          <a:lstStyle>
            <a:lvl1pPr marL="0" indent="0" algn="l" rtl="0">
              <a:spcBef>
                <a:spcPts val="0"/>
              </a:spcBef>
              <a:buNone/>
              <a:defRPr sz="1800">
                <a:latin typeface="微软雅黑" panose="020B0503020204020204" pitchFamily="34" charset="-122"/>
                <a:ea typeface="微软雅黑" panose="020B0503020204020204" pitchFamily="34" charset="-122"/>
              </a:defRPr>
            </a:lvl1pPr>
            <a:lvl2pPr marL="457200" indent="0" algn="ctr" rtl="0">
              <a:buNone/>
              <a:defRPr sz="2000"/>
            </a:lvl2pPr>
            <a:lvl3pPr marL="914400" indent="0" algn="ctr" rtl="0">
              <a:buNone/>
              <a:defRPr sz="1800"/>
            </a:lvl3pPr>
            <a:lvl4pPr marL="1371600" indent="0" algn="ctr" rtl="0">
              <a:buNone/>
              <a:defRPr sz="1600"/>
            </a:lvl4pPr>
            <a:lvl5pPr marL="1828800" indent="0" algn="ctr" rtl="0">
              <a:buNone/>
              <a:defRPr sz="1600"/>
            </a:lvl5pPr>
            <a:lvl6pPr marL="2286000" indent="0" algn="ctr" rtl="0">
              <a:buNone/>
              <a:defRPr sz="1600"/>
            </a:lvl6pPr>
            <a:lvl7pPr marL="2743200" indent="0" algn="ctr" rtl="0">
              <a:buNone/>
              <a:defRPr sz="1600"/>
            </a:lvl7pPr>
            <a:lvl8pPr marL="3200400" indent="0" algn="ctr" rtl="0">
              <a:buNone/>
              <a:defRPr sz="1600"/>
            </a:lvl8pPr>
            <a:lvl9pPr marL="3657600" indent="0" algn="ctr" rtl="0">
              <a:buNone/>
              <a:defRPr sz="1600"/>
            </a:lvl9pPr>
          </a:lstStyle>
          <a:p>
            <a:pPr rtl="0"/>
            <a:r>
              <a:rPr lang="zh-CN" altLang="en-US" noProof="0"/>
              <a:t>单击此处编辑母版副标题样式</a:t>
            </a:r>
            <a:endParaRPr lang="zh-CN" altLang="en-US" noProof="0" dirty="0"/>
          </a:p>
        </p:txBody>
      </p:sp>
      <p:pic>
        <p:nvPicPr>
          <p:cNvPr id="10" name="图 9"/>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a:fillRect/>
          </a:stretch>
        </p:blipFill>
        <p:spPr>
          <a:xfrm>
            <a:off x="1325880" y="0"/>
            <a:ext cx="1747524" cy="2292094"/>
          </a:xfrm>
          <a:prstGeom prst="rect">
            <a:avLst/>
          </a:prstGeom>
        </p:spPr>
      </p:pic>
      <p:sp>
        <p:nvSpPr>
          <p:cNvPr id="11" name="图片占位符 10"/>
          <p:cNvSpPr>
            <a:spLocks noGrp="1"/>
          </p:cNvSpPr>
          <p:nvPr>
            <p:ph type="pic" sz="quarter" idx="13"/>
          </p:nvPr>
        </p:nvSpPr>
        <p:spPr>
          <a:xfrm>
            <a:off x="6981063" y="1310656"/>
            <a:ext cx="5210937" cy="4208604"/>
          </a:xfrm>
          <a:solidFill>
            <a:schemeClr val="tx1">
              <a:lumMod val="20000"/>
              <a:lumOff val="80000"/>
            </a:schemeClr>
          </a:solidFill>
        </p:spPr>
        <p:txBody>
          <a:bodyPr tIns="1005840" rtlCol="0"/>
          <a:lstStyle>
            <a:lvl1pPr marL="0" indent="0" algn="ctr" rtl="0">
              <a:buNone/>
              <a:defRPr>
                <a:latin typeface="微软雅黑" panose="020B0503020204020204" pitchFamily="34" charset="-122"/>
                <a:ea typeface="微软雅黑" panose="020B0503020204020204" pitchFamily="34" charset="-122"/>
              </a:defRPr>
            </a:lvl1pPr>
          </a:lstStyle>
          <a:p>
            <a:pPr rtl="0"/>
            <a:r>
              <a:rPr lang="zh-CN" altLang="en-US" noProof="0"/>
              <a:t>单击图标添加图片</a:t>
            </a:r>
            <a:endParaRPr lang="zh-CN" altLang="en-US" noProof="0" dirty="0"/>
          </a:p>
        </p:txBody>
      </p:sp>
      <p:sp>
        <p:nvSpPr>
          <p:cNvPr id="19" name="说明文字"/>
          <p:cNvSpPr/>
          <p:nvPr/>
        </p:nvSpPr>
        <p:spPr>
          <a:xfrm>
            <a:off x="12344400" y="0"/>
            <a:ext cx="1295400" cy="6858000"/>
          </a:xfrm>
          <a:prstGeom prst="roundRect">
            <a:avLst>
              <a:gd name="adj" fmla="val 9717"/>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noAutofit/>
          </a:bodyPr>
          <a:lstStyle/>
          <a:p>
            <a:pPr rtl="0"/>
            <a:r>
              <a:rPr lang="zh-CN" altLang="en-US" sz="1200" b="1" i="1" noProof="0" dirty="0">
                <a:latin typeface="微软雅黑" panose="020B0503020204020204" pitchFamily="34" charset="-122"/>
                <a:ea typeface="微软雅黑" panose="020B0503020204020204" pitchFamily="34" charset="-122"/>
                <a:cs typeface="Arial" panose="020B0604020202020204" pitchFamily="34" charset="0"/>
              </a:rPr>
              <a:t>注意：</a:t>
            </a:r>
          </a:p>
          <a:p>
            <a:pPr rtl="0"/>
            <a:r>
              <a:rPr lang="zh-CN" altLang="en-US" sz="1200" i="1" noProof="0" dirty="0">
                <a:latin typeface="微软雅黑" panose="020B0503020204020204" pitchFamily="34" charset="-122"/>
                <a:ea typeface="微软雅黑" panose="020B0503020204020204" pitchFamily="34" charset="-122"/>
                <a:cs typeface="Arial" panose="020B0604020202020204" pitchFamily="34" charset="0"/>
              </a:rPr>
              <a:t>若要更改此幻灯片上的图像，请选择该图片，并将其删除。然后单击占位符中的图片图标以插入自己的图像。</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grpSp>
        <p:nvGrpSpPr>
          <p:cNvPr id="8" name="组 7"/>
          <p:cNvGrpSpPr/>
          <p:nvPr/>
        </p:nvGrpSpPr>
        <p:grpSpPr>
          <a:xfrm>
            <a:off x="0" y="2514600"/>
            <a:ext cx="12192000" cy="3194035"/>
            <a:chOff x="647402" y="2514600"/>
            <a:chExt cx="10838688" cy="3194035"/>
          </a:xfrm>
        </p:grpSpPr>
        <p:grpSp>
          <p:nvGrpSpPr>
            <p:cNvPr id="9" name="组 8"/>
            <p:cNvGrpSpPr/>
            <p:nvPr/>
          </p:nvGrpSpPr>
          <p:grpSpPr>
            <a:xfrm>
              <a:off x="647402" y="2514600"/>
              <a:ext cx="10838688" cy="63125"/>
              <a:chOff x="507492" y="1501519"/>
              <a:chExt cx="8129016" cy="63125"/>
            </a:xfrm>
          </p:grpSpPr>
          <p:cxnSp>
            <p:nvCxnSpPr>
              <p:cNvPr id="14" name="直接连接符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矩形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微软雅黑" panose="020B0503020204020204" pitchFamily="34" charset="-122"/>
                <a:ea typeface="微软雅黑" panose="020B0503020204020204" pitchFamily="34" charset="-122"/>
              </a:endParaRPr>
            </a:p>
          </p:txBody>
        </p:sp>
        <p:grpSp>
          <p:nvGrpSpPr>
            <p:cNvPr id="11" name="组 10"/>
            <p:cNvGrpSpPr/>
            <p:nvPr/>
          </p:nvGrpSpPr>
          <p:grpSpPr>
            <a:xfrm rot="10800000">
              <a:off x="647402" y="5645510"/>
              <a:ext cx="10838688" cy="63125"/>
              <a:chOff x="507492" y="1501519"/>
              <a:chExt cx="8129016" cy="63125"/>
            </a:xfrm>
          </p:grpSpPr>
          <p:cxnSp>
            <p:nvCxnSpPr>
              <p:cNvPr id="12" name="直接连接符​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sp>
        <p:nvSpPr>
          <p:cNvPr id="2" name="标题 1"/>
          <p:cNvSpPr>
            <a:spLocks noGrp="1"/>
          </p:cNvSpPr>
          <p:nvPr>
            <p:ph type="title"/>
          </p:nvPr>
        </p:nvSpPr>
        <p:spPr>
          <a:xfrm>
            <a:off x="1104899" y="2971806"/>
            <a:ext cx="10071099" cy="1684150"/>
          </a:xfrm>
        </p:spPr>
        <p:txBody>
          <a:bodyPr rtlCol="0" anchor="ctr">
            <a:normAutofit/>
          </a:bodyPr>
          <a:lstStyle>
            <a:lvl1pPr algn="l" rtl="0">
              <a:defRPr sz="4400" cap="all" baseline="0">
                <a:solidFill>
                  <a:schemeClr val="bg1"/>
                </a:solidFill>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文本占位符 2"/>
          <p:cNvSpPr>
            <a:spLocks noGrp="1"/>
          </p:cNvSpPr>
          <p:nvPr>
            <p:ph type="body" idx="1"/>
          </p:nvPr>
        </p:nvSpPr>
        <p:spPr>
          <a:xfrm>
            <a:off x="1104899" y="4655956"/>
            <a:ext cx="10071099" cy="509750"/>
          </a:xfrm>
        </p:spPr>
        <p:txBody>
          <a:bodyPr rtlCol="0">
            <a:normAutofit/>
          </a:bodyPr>
          <a:lstStyle>
            <a:lvl1pPr marL="0" indent="0" algn="l" rtl="0">
              <a:spcBef>
                <a:spcPts val="0"/>
              </a:spcBef>
              <a:buNone/>
              <a:defRPr sz="1600">
                <a:solidFill>
                  <a:schemeClr val="bg1"/>
                </a:solidFill>
                <a:latin typeface="微软雅黑" panose="020B0503020204020204" pitchFamily="34" charset="-122"/>
                <a:ea typeface="微软雅黑" panose="020B0503020204020204" pitchFamily="34" charset="-122"/>
              </a:defRPr>
            </a:lvl1pPr>
            <a:lvl2pPr marL="457200" indent="0" algn="l" rtl="0">
              <a:buNone/>
              <a:defRPr sz="2000">
                <a:solidFill>
                  <a:schemeClr val="tx1">
                    <a:tint val="75000"/>
                  </a:schemeClr>
                </a:solidFill>
              </a:defRPr>
            </a:lvl2pPr>
            <a:lvl3pPr marL="914400" indent="0" algn="l" rtl="0">
              <a:buNone/>
              <a:defRPr sz="1800">
                <a:solidFill>
                  <a:schemeClr val="tx1">
                    <a:tint val="75000"/>
                  </a:schemeClr>
                </a:solidFill>
              </a:defRPr>
            </a:lvl3pPr>
            <a:lvl4pPr marL="1371600" indent="0" algn="l" rtl="0">
              <a:buNone/>
              <a:defRPr sz="1600">
                <a:solidFill>
                  <a:schemeClr val="tx1">
                    <a:tint val="75000"/>
                  </a:schemeClr>
                </a:solidFill>
              </a:defRPr>
            </a:lvl4pPr>
            <a:lvl5pPr marL="1828800" indent="0" algn="l" rtl="0">
              <a:buNone/>
              <a:defRPr sz="1600">
                <a:solidFill>
                  <a:schemeClr val="tx1">
                    <a:tint val="75000"/>
                  </a:schemeClr>
                </a:solidFill>
              </a:defRPr>
            </a:lvl5pPr>
            <a:lvl6pPr marL="2286000" indent="0" algn="l" rtl="0">
              <a:buNone/>
              <a:defRPr sz="1600">
                <a:solidFill>
                  <a:schemeClr val="tx1">
                    <a:tint val="75000"/>
                  </a:schemeClr>
                </a:solidFill>
              </a:defRPr>
            </a:lvl6pPr>
            <a:lvl7pPr marL="2743200" indent="0" algn="l" rtl="0">
              <a:buNone/>
              <a:defRPr sz="1600">
                <a:solidFill>
                  <a:schemeClr val="tx1">
                    <a:tint val="75000"/>
                  </a:schemeClr>
                </a:solidFill>
              </a:defRPr>
            </a:lvl7pPr>
            <a:lvl8pPr marL="3200400" indent="0" algn="l" rtl="0">
              <a:buNone/>
              <a:defRPr sz="1600">
                <a:solidFill>
                  <a:schemeClr val="tx1">
                    <a:tint val="75000"/>
                  </a:schemeClr>
                </a:solidFill>
              </a:defRPr>
            </a:lvl8pPr>
            <a:lvl9pPr marL="3657600" indent="0" algn="l" rtl="0">
              <a:buNone/>
              <a:defRPr sz="1600">
                <a:solidFill>
                  <a:schemeClr val="tx1">
                    <a:tint val="75000"/>
                  </a:schemeClr>
                </a:solidFill>
              </a:defRPr>
            </a:lvl9pPr>
          </a:lstStyle>
          <a:p>
            <a:pPr lvl="0" rtl="0"/>
            <a:r>
              <a:rPr lang="zh-CN" altLang="en-US" noProof="0"/>
              <a:t>单击此处编辑母版文本样式</a:t>
            </a:r>
          </a:p>
        </p:txBody>
      </p:sp>
      <p:sp>
        <p:nvSpPr>
          <p:cNvPr id="4" name="日期占位符 3"/>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AF5F6A19-70BF-4380-9A40-68C9536408C6}" type="datetime1">
              <a:rPr lang="zh-CN" altLang="en-US" smtClean="0"/>
              <a:pPr/>
              <a:t>2022/7/29</a:t>
            </a:fld>
            <a:endParaRPr lang="zh-CN" altLang="en-US" dirty="0"/>
          </a:p>
        </p:txBody>
      </p:sp>
      <p:sp>
        <p:nvSpPr>
          <p:cNvPr id="5" name="页脚占位符 4"/>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6" name="灯片编号占位符 5"/>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pic>
        <p:nvPicPr>
          <p:cNvPr id="7" name="图 6"/>
          <p:cNvPicPr>
            <a:picLocks noChangeAspect="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325880" y="0"/>
            <a:ext cx="1783188" cy="2971806"/>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内容占位符 2"/>
          <p:cNvSpPr>
            <a:spLocks noGrp="1"/>
          </p:cNvSpPr>
          <p:nvPr>
            <p:ph sz="half" idx="1"/>
          </p:nvPr>
        </p:nvSpPr>
        <p:spPr>
          <a:xfrm>
            <a:off x="1104900" y="1600200"/>
            <a:ext cx="4914900" cy="4571999"/>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lgn="l" rtl="0">
              <a:defRPr>
                <a:latin typeface="微软雅黑" panose="020B0503020204020204" pitchFamily="34" charset="-122"/>
                <a:ea typeface="微软雅黑" panose="020B0503020204020204" pitchFamily="34" charset="-122"/>
              </a:defRPr>
            </a:lvl5pPr>
            <a:lvl6pPr algn="l" rtl="0">
              <a:defRPr/>
            </a:lvl6pPr>
            <a:lvl7pPr algn="l" rtl="0">
              <a:defRPr/>
            </a:lvl7pPr>
            <a:lvl8pPr algn="l" rtl="0">
              <a:defRPr/>
            </a:lvl8pPr>
            <a:lvl9pPr algn="l" rtl="0">
              <a:defRPr/>
            </a:lvl9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内容占位符 3"/>
          <p:cNvSpPr>
            <a:spLocks noGrp="1"/>
          </p:cNvSpPr>
          <p:nvPr>
            <p:ph sz="half" idx="2"/>
          </p:nvPr>
        </p:nvSpPr>
        <p:spPr>
          <a:xfrm>
            <a:off x="6172200" y="1600200"/>
            <a:ext cx="4914900" cy="4571999"/>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lgn="l" rtl="0">
              <a:defRPr>
                <a:latin typeface="微软雅黑" panose="020B0503020204020204" pitchFamily="34" charset="-122"/>
                <a:ea typeface="微软雅黑" panose="020B0503020204020204" pitchFamily="34" charset="-122"/>
              </a:defRPr>
            </a:lvl5pPr>
            <a:lvl6pPr algn="l" rtl="0">
              <a:defRPr/>
            </a:lvl6pPr>
            <a:lvl7pPr algn="l" rtl="0">
              <a:defRPr/>
            </a:lvl7pPr>
            <a:lvl8pPr algn="l" rtl="0">
              <a:defRPr/>
            </a:lvl8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5" name="日期占位符 4"/>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r>
              <a:rPr lang="zh-CN" altLang="en-US" dirty="0"/>
              <a:t>​</a:t>
            </a:r>
            <a:fld id="{6017EB90-196C-4C15-BD31-13E0E0436C73}" type="datetime1">
              <a:rPr lang="zh-CN" altLang="en-US" dirty="0" smtClean="0"/>
              <a:pPr/>
              <a:t>2022/7/29</a:t>
            </a:fld>
            <a:r>
              <a:rPr lang="zh-CN" altLang="en-US" dirty="0"/>
              <a:t>​</a:t>
            </a:r>
          </a:p>
        </p:txBody>
      </p:sp>
      <p:sp>
        <p:nvSpPr>
          <p:cNvPr id="6" name="页脚占位符 5"/>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7" name="灯片编号占位符 6"/>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文本占位符 2"/>
          <p:cNvSpPr>
            <a:spLocks noGrp="1"/>
          </p:cNvSpPr>
          <p:nvPr>
            <p:ph type="body" idx="1"/>
          </p:nvPr>
        </p:nvSpPr>
        <p:spPr>
          <a:xfrm>
            <a:off x="1104900" y="1600200"/>
            <a:ext cx="4919472" cy="823911"/>
          </a:xfrm>
        </p:spPr>
        <p:txBody>
          <a:bodyPr rtlCol="0" anchor="ctr"/>
          <a:lstStyle>
            <a:lvl1pPr marL="0" indent="0" algn="l" rtl="0">
              <a:spcBef>
                <a:spcPts val="0"/>
              </a:spcBef>
              <a:buNone/>
              <a:defRPr sz="2400" b="1">
                <a:latin typeface="微软雅黑" panose="020B0503020204020204" pitchFamily="34" charset="-122"/>
                <a:ea typeface="微软雅黑" panose="020B0503020204020204" pitchFamily="34" charset="-122"/>
              </a:defRPr>
            </a:lvl1pPr>
            <a:lvl2pPr marL="457200" indent="0" algn="l" rtl="0">
              <a:buNone/>
              <a:defRPr sz="2000" b="1"/>
            </a:lvl2pPr>
            <a:lvl3pPr marL="914400" indent="0" algn="l" rtl="0">
              <a:buNone/>
              <a:defRPr sz="1800" b="1"/>
            </a:lvl3pPr>
            <a:lvl4pPr marL="1371600" indent="0" algn="l" rtl="0">
              <a:buNone/>
              <a:defRPr sz="1600" b="1"/>
            </a:lvl4pPr>
            <a:lvl5pPr marL="1828800" indent="0" algn="l" rtl="0">
              <a:buNone/>
              <a:defRPr sz="1600" b="1"/>
            </a:lvl5pPr>
            <a:lvl6pPr marL="2286000" indent="0" algn="l" rtl="0">
              <a:buNone/>
              <a:defRPr sz="1600" b="1"/>
            </a:lvl6pPr>
            <a:lvl7pPr marL="2743200" indent="0" algn="l" rtl="0">
              <a:buNone/>
              <a:defRPr sz="1600" b="1"/>
            </a:lvl7pPr>
            <a:lvl8pPr marL="3200400" indent="0" algn="l" rtl="0">
              <a:buNone/>
              <a:defRPr sz="1600" b="1"/>
            </a:lvl8pPr>
            <a:lvl9pPr marL="3657600" indent="0" algn="l" rtl="0">
              <a:buNone/>
              <a:defRPr sz="1600" b="1"/>
            </a:lvl9pPr>
          </a:lstStyle>
          <a:p>
            <a:pPr lvl="0" rtl="0"/>
            <a:r>
              <a:rPr lang="zh-CN" altLang="en-US" noProof="0"/>
              <a:t>单击此处编辑母版文本样式</a:t>
            </a:r>
          </a:p>
        </p:txBody>
      </p:sp>
      <p:sp>
        <p:nvSpPr>
          <p:cNvPr id="4" name="内容占位符 3"/>
          <p:cNvSpPr>
            <a:spLocks noGrp="1"/>
          </p:cNvSpPr>
          <p:nvPr>
            <p:ph sz="half" idx="2"/>
          </p:nvPr>
        </p:nvSpPr>
        <p:spPr>
          <a:xfrm>
            <a:off x="1104900" y="2424112"/>
            <a:ext cx="4919472" cy="3748088"/>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5" name="文本占位符 4"/>
          <p:cNvSpPr>
            <a:spLocks noGrp="1"/>
          </p:cNvSpPr>
          <p:nvPr>
            <p:ph type="body" sz="quarter" idx="3"/>
          </p:nvPr>
        </p:nvSpPr>
        <p:spPr>
          <a:xfrm>
            <a:off x="6166110" y="1600200"/>
            <a:ext cx="4919472" cy="823911"/>
          </a:xfrm>
        </p:spPr>
        <p:txBody>
          <a:bodyPr rtlCol="0" anchor="ctr"/>
          <a:lstStyle>
            <a:lvl1pPr marL="0" indent="0" algn="l" rtl="0">
              <a:spcBef>
                <a:spcPts val="0"/>
              </a:spcBef>
              <a:buNone/>
              <a:defRPr sz="2400" b="1">
                <a:latin typeface="微软雅黑" panose="020B0503020204020204" pitchFamily="34" charset="-122"/>
                <a:ea typeface="微软雅黑" panose="020B0503020204020204" pitchFamily="34" charset="-122"/>
              </a:defRPr>
            </a:lvl1pPr>
            <a:lvl2pPr marL="457200" indent="0" algn="l" rtl="0">
              <a:buNone/>
              <a:defRPr sz="2000" b="1"/>
            </a:lvl2pPr>
            <a:lvl3pPr marL="914400" indent="0" algn="l" rtl="0">
              <a:buNone/>
              <a:defRPr sz="1800" b="1"/>
            </a:lvl3pPr>
            <a:lvl4pPr marL="1371600" indent="0" algn="l" rtl="0">
              <a:buNone/>
              <a:defRPr sz="1600" b="1"/>
            </a:lvl4pPr>
            <a:lvl5pPr marL="1828800" indent="0" algn="l" rtl="0">
              <a:buNone/>
              <a:defRPr sz="1600" b="1"/>
            </a:lvl5pPr>
            <a:lvl6pPr marL="2286000" indent="0" algn="l" rtl="0">
              <a:buNone/>
              <a:defRPr sz="1600" b="1"/>
            </a:lvl6pPr>
            <a:lvl7pPr marL="2743200" indent="0" algn="l" rtl="0">
              <a:buNone/>
              <a:defRPr sz="1600" b="1"/>
            </a:lvl7pPr>
            <a:lvl8pPr marL="3200400" indent="0" algn="l" rtl="0">
              <a:buNone/>
              <a:defRPr sz="1600" b="1"/>
            </a:lvl8pPr>
            <a:lvl9pPr marL="3657600" indent="0" algn="l" rtl="0">
              <a:buNone/>
              <a:defRPr sz="1600" b="1"/>
            </a:lvl9pPr>
          </a:lstStyle>
          <a:p>
            <a:pPr lvl="0" rtl="0"/>
            <a:r>
              <a:rPr lang="zh-CN" altLang="en-US" noProof="0"/>
              <a:t>单击此处编辑母版文本样式</a:t>
            </a:r>
          </a:p>
        </p:txBody>
      </p:sp>
      <p:sp>
        <p:nvSpPr>
          <p:cNvPr id="6" name="内容占位符 5"/>
          <p:cNvSpPr>
            <a:spLocks noGrp="1"/>
          </p:cNvSpPr>
          <p:nvPr>
            <p:ph sz="quarter" idx="4"/>
          </p:nvPr>
        </p:nvSpPr>
        <p:spPr>
          <a:xfrm>
            <a:off x="6166110" y="2424112"/>
            <a:ext cx="4919472" cy="3748088"/>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7" name="日期占位符 6"/>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C2EC0F41-B48F-4298-A7F6-618EB9D22195}" type="datetime1">
              <a:rPr lang="zh-CN" altLang="en-US" smtClean="0"/>
              <a:pPr/>
              <a:t>2022/7/29</a:t>
            </a:fld>
            <a:endParaRPr lang="zh-CN" altLang="en-US" dirty="0"/>
          </a:p>
        </p:txBody>
      </p:sp>
      <p:sp>
        <p:nvSpPr>
          <p:cNvPr id="8" name="页脚占位符 7"/>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9" name="灯片编号占位符 8"/>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noProof="0"/>
              <a:t>单击此处编辑母版标题样式</a:t>
            </a:r>
            <a:endParaRPr lang="zh-CN" altLang="en-US" noProof="0" dirty="0"/>
          </a:p>
        </p:txBody>
      </p:sp>
      <p:sp>
        <p:nvSpPr>
          <p:cNvPr id="3" name="日期占位符 2"/>
          <p:cNvSpPr>
            <a:spLocks noGrp="1"/>
          </p:cNvSpPr>
          <p:nvPr>
            <p:ph type="dt" sz="half" idx="10"/>
          </p:nvPr>
        </p:nvSpPr>
        <p:spPr/>
        <p:txBody>
          <a:bodyPr rtlCol="0"/>
          <a:lstStyle>
            <a:lvl1pPr>
              <a:defRPr/>
            </a:lvl1pPr>
          </a:lstStyle>
          <a:p>
            <a:fld id="{7DB2D836-56E8-4B15-857C-14B1A5B3B67B}" type="datetime1">
              <a:rPr lang="zh-CN" altLang="en-US" smtClean="0"/>
              <a:pPr/>
              <a:t>2022/7/29</a:t>
            </a:fld>
            <a:endParaRPr lang="zh-CN" altLang="en-US" dirty="0"/>
          </a:p>
        </p:txBody>
      </p:sp>
      <p:sp>
        <p:nvSpPr>
          <p:cNvPr id="4" name="页脚占位符 3"/>
          <p:cNvSpPr>
            <a:spLocks noGrp="1"/>
          </p:cNvSpPr>
          <p:nvPr>
            <p:ph type="ftr" sz="quarter" idx="11"/>
          </p:nvPr>
        </p:nvSpPr>
        <p:spPr/>
        <p:txBody>
          <a:bodyPr rtlCol="0"/>
          <a:lstStyle/>
          <a:p>
            <a:pPr rtl="0"/>
            <a:endParaRPr lang="zh-CN" altLang="en-US" noProof="0" dirty="0"/>
          </a:p>
        </p:txBody>
      </p:sp>
      <p:sp>
        <p:nvSpPr>
          <p:cNvPr id="5" name="灯片编号占位符 4"/>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rtlCol="0"/>
          <a:lstStyle>
            <a:lvl1pPr>
              <a:defRPr/>
            </a:lvl1pPr>
          </a:lstStyle>
          <a:p>
            <a:fld id="{038D929F-7D8C-4CC3-8AC7-BB9B8FE2DEBF}" type="datetime1">
              <a:rPr lang="zh-CN" altLang="en-US" smtClean="0"/>
              <a:pPr/>
              <a:t>2022/7/29</a:t>
            </a:fld>
            <a:endParaRPr lang="zh-CN" altLang="en-US" dirty="0"/>
          </a:p>
        </p:txBody>
      </p:sp>
      <p:sp>
        <p:nvSpPr>
          <p:cNvPr id="3" name="页脚占位符 2"/>
          <p:cNvSpPr>
            <a:spLocks noGrp="1"/>
          </p:cNvSpPr>
          <p:nvPr>
            <p:ph type="ftr" sz="quarter" idx="11"/>
          </p:nvPr>
        </p:nvSpPr>
        <p:spPr/>
        <p:txBody>
          <a:bodyPr rtlCol="0"/>
          <a:lstStyle/>
          <a:p>
            <a:pPr rtl="0"/>
            <a:endParaRPr lang="zh-CN" altLang="en-US" noProof="0" dirty="0"/>
          </a:p>
        </p:txBody>
      </p:sp>
      <p:sp>
        <p:nvSpPr>
          <p:cNvPr id="4" name="灯片编号占位符 3"/>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带题注的内容">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chor="b"/>
          <a:lstStyle>
            <a:lvl1pPr algn="l" rtl="0">
              <a:defRPr sz="3200"/>
            </a:lvl1pPr>
          </a:lstStyle>
          <a:p>
            <a:pPr rtl="0"/>
            <a:r>
              <a:rPr lang="zh-CN" altLang="en-US" noProof="0"/>
              <a:t>单击此处编辑母版标题样式</a:t>
            </a:r>
            <a:endParaRPr lang="zh-CN" altLang="en-US" noProof="0" dirty="0"/>
          </a:p>
        </p:txBody>
      </p:sp>
      <p:sp>
        <p:nvSpPr>
          <p:cNvPr id="3" name="内容占位符 2"/>
          <p:cNvSpPr>
            <a:spLocks noGrp="1"/>
          </p:cNvSpPr>
          <p:nvPr>
            <p:ph idx="1"/>
          </p:nvPr>
        </p:nvSpPr>
        <p:spPr>
          <a:xfrm>
            <a:off x="5641848" y="1600199"/>
            <a:ext cx="5445252" cy="4572001"/>
          </a:xfrm>
        </p:spPr>
        <p:txBody>
          <a:bodyPr rtlCol="0">
            <a:normAutofit/>
          </a:bodyPr>
          <a:lstStyle>
            <a:lvl1pPr algn="l" rtl="0">
              <a:defRPr sz="2000"/>
            </a:lvl1pPr>
            <a:lvl2pPr algn="l" rtl="0">
              <a:defRPr sz="1600"/>
            </a:lvl2pPr>
            <a:lvl3pPr algn="l" rtl="0">
              <a:defRPr sz="1600"/>
            </a:lvl3pPr>
            <a:lvl4pPr algn="l" rtl="0">
              <a:defRPr sz="1400"/>
            </a:lvl4pPr>
            <a:lvl5pPr algn="l" rtl="0">
              <a:defRPr sz="1400"/>
            </a:lvl5pPr>
            <a:lvl6pPr algn="l" rtl="0">
              <a:defRPr sz="1400"/>
            </a:lvl6pPr>
            <a:lvl7pPr algn="l" rtl="0">
              <a:defRPr sz="1400"/>
            </a:lvl7pPr>
            <a:lvl8pPr algn="l" rtl="0">
              <a:defRPr sz="1400"/>
            </a:lvl8pPr>
            <a:lvl9pPr algn="l" rtl="0">
              <a:defRPr sz="1400"/>
            </a:lvl9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文本占位符 3"/>
          <p:cNvSpPr>
            <a:spLocks noGrp="1"/>
          </p:cNvSpPr>
          <p:nvPr>
            <p:ph type="body" sz="half" idx="2"/>
          </p:nvPr>
        </p:nvSpPr>
        <p:spPr>
          <a:xfrm>
            <a:off x="1104900" y="1600200"/>
            <a:ext cx="4384548" cy="4572000"/>
          </a:xfrm>
        </p:spPr>
        <p:txBody>
          <a:bodyPr rtlCol="0">
            <a:normAutofit/>
          </a:bodyPr>
          <a:lstStyle>
            <a:lvl1pPr marL="0" indent="0" algn="l" rtl="0">
              <a:spcBef>
                <a:spcPts val="1200"/>
              </a:spcBef>
              <a:buNone/>
              <a:defRPr sz="1800"/>
            </a:lvl1pPr>
            <a:lvl2pPr marL="457200" indent="0" algn="l" rtl="0">
              <a:buNone/>
              <a:defRPr sz="1400"/>
            </a:lvl2pPr>
            <a:lvl3pPr marL="914400" indent="0" algn="l" rtl="0">
              <a:buNone/>
              <a:defRPr sz="1200"/>
            </a:lvl3pPr>
            <a:lvl4pPr marL="1371600" indent="0" algn="l" rtl="0">
              <a:buNone/>
              <a:defRPr sz="1000"/>
            </a:lvl4pPr>
            <a:lvl5pPr marL="1828800" indent="0" algn="l" rtl="0">
              <a:buNone/>
              <a:defRPr sz="1000"/>
            </a:lvl5pPr>
            <a:lvl6pPr marL="2286000" indent="0" algn="l" rtl="0">
              <a:buNone/>
              <a:defRPr sz="1000"/>
            </a:lvl6pPr>
            <a:lvl7pPr marL="2743200" indent="0" algn="l" rtl="0">
              <a:buNone/>
              <a:defRPr sz="1000"/>
            </a:lvl7pPr>
            <a:lvl8pPr marL="3200400" indent="0" algn="l" rtl="0">
              <a:buNone/>
              <a:defRPr sz="1000"/>
            </a:lvl8pPr>
            <a:lvl9pPr marL="3657600" indent="0" algn="l" rtl="0">
              <a:buNone/>
              <a:defRPr sz="1000"/>
            </a:lvl9pPr>
          </a:lstStyle>
          <a:p>
            <a:pPr lvl="0" rtl="0"/>
            <a:r>
              <a:rPr lang="zh-CN" altLang="en-US" noProof="0"/>
              <a:t>单击此处编辑母版文本样式</a:t>
            </a:r>
          </a:p>
        </p:txBody>
      </p:sp>
      <p:sp>
        <p:nvSpPr>
          <p:cNvPr id="5" name="日期占位符 4"/>
          <p:cNvSpPr>
            <a:spLocks noGrp="1"/>
          </p:cNvSpPr>
          <p:nvPr>
            <p:ph type="dt" sz="half" idx="10"/>
          </p:nvPr>
        </p:nvSpPr>
        <p:spPr/>
        <p:txBody>
          <a:bodyPr rtlCol="0"/>
          <a:lstStyle>
            <a:lvl1pPr>
              <a:defRPr/>
            </a:lvl1pPr>
          </a:lstStyle>
          <a:p>
            <a:fld id="{F7892ACC-8BC8-4C9E-9D2B-0669DA5038B6}" type="datetime1">
              <a:rPr lang="zh-CN" altLang="en-US" smtClean="0"/>
              <a:pPr/>
              <a:t>2022/7/29</a:t>
            </a:fld>
            <a:endParaRPr lang="zh-CN" altLang="en-US" dirty="0"/>
          </a:p>
        </p:txBody>
      </p:sp>
      <p:sp>
        <p:nvSpPr>
          <p:cNvPr id="6" name="页脚占位符 5"/>
          <p:cNvSpPr>
            <a:spLocks noGrp="1"/>
          </p:cNvSpPr>
          <p:nvPr>
            <p:ph type="ftr" sz="quarter" idx="11"/>
          </p:nvPr>
        </p:nvSpPr>
        <p:spPr/>
        <p:txBody>
          <a:bodyPr rtlCol="0"/>
          <a:lstStyle/>
          <a:p>
            <a:pPr rtl="0"/>
            <a:endParaRPr lang="zh-CN" altLang="en-US" noProof="0" dirty="0"/>
          </a:p>
        </p:txBody>
      </p:sp>
      <p:sp>
        <p:nvSpPr>
          <p:cNvPr id="7" name="灯片编号占位符 6"/>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带题注的图片">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chor="b"/>
          <a:lstStyle>
            <a:lvl1pPr algn="l" rtl="0">
              <a:defRPr sz="3200">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图片占位符 2"/>
          <p:cNvSpPr>
            <a:spLocks noGrp="1"/>
          </p:cNvSpPr>
          <p:nvPr>
            <p:ph type="pic" idx="1"/>
          </p:nvPr>
        </p:nvSpPr>
        <p:spPr>
          <a:xfrm>
            <a:off x="4654671" y="1600199"/>
            <a:ext cx="6430912" cy="4572001"/>
          </a:xfrm>
        </p:spPr>
        <p:txBody>
          <a:bodyPr tIns="1188720" rtlCol="0">
            <a:normAutofit/>
          </a:bodyPr>
          <a:lstStyle>
            <a:lvl1pPr marL="0" indent="0" algn="ctr" rtl="0">
              <a:buNone/>
              <a:defRPr sz="2000">
                <a:latin typeface="微软雅黑" panose="020B0503020204020204" pitchFamily="34" charset="-122"/>
                <a:ea typeface="微软雅黑" panose="020B0503020204020204" pitchFamily="34" charset="-122"/>
              </a:defRPr>
            </a:lvl1pPr>
            <a:lvl2pPr marL="457200" indent="0" algn="l" rtl="0">
              <a:buNone/>
              <a:defRPr sz="2800"/>
            </a:lvl2pPr>
            <a:lvl3pPr marL="914400" indent="0" algn="l" rtl="0">
              <a:buNone/>
              <a:defRPr sz="2400"/>
            </a:lvl3pPr>
            <a:lvl4pPr marL="1371600" indent="0" algn="l" rtl="0">
              <a:buNone/>
              <a:defRPr sz="2000"/>
            </a:lvl4pPr>
            <a:lvl5pPr marL="1828800" indent="0" algn="l" rtl="0">
              <a:buNone/>
              <a:defRPr sz="2000"/>
            </a:lvl5pPr>
            <a:lvl6pPr marL="2286000" indent="0" algn="l" rtl="0">
              <a:buNone/>
              <a:defRPr sz="2000"/>
            </a:lvl6pPr>
            <a:lvl7pPr marL="2743200" indent="0" algn="l" rtl="0">
              <a:buNone/>
              <a:defRPr sz="2000"/>
            </a:lvl7pPr>
            <a:lvl8pPr marL="3200400" indent="0" algn="l" rtl="0">
              <a:buNone/>
              <a:defRPr sz="2000"/>
            </a:lvl8pPr>
            <a:lvl9pPr marL="3657600" indent="0" algn="l" rtl="0">
              <a:buNone/>
              <a:defRPr sz="2000"/>
            </a:lvl9pPr>
          </a:lstStyle>
          <a:p>
            <a:pPr rtl="0"/>
            <a:r>
              <a:rPr lang="zh-CN" altLang="en-US" noProof="0"/>
              <a:t>单击图标添加图片</a:t>
            </a:r>
            <a:endParaRPr lang="zh-CN" altLang="en-US" noProof="0" dirty="0"/>
          </a:p>
        </p:txBody>
      </p:sp>
      <p:sp>
        <p:nvSpPr>
          <p:cNvPr id="4" name="文本占位符 3"/>
          <p:cNvSpPr>
            <a:spLocks noGrp="1"/>
          </p:cNvSpPr>
          <p:nvPr>
            <p:ph type="body" sz="half" idx="2"/>
          </p:nvPr>
        </p:nvSpPr>
        <p:spPr>
          <a:xfrm>
            <a:off x="1104900" y="1600200"/>
            <a:ext cx="3396996" cy="4572000"/>
          </a:xfrm>
        </p:spPr>
        <p:txBody>
          <a:bodyPr rtlCol="0">
            <a:normAutofit/>
          </a:bodyPr>
          <a:lstStyle>
            <a:lvl1pPr marL="0" indent="0" algn="l" rtl="0">
              <a:spcBef>
                <a:spcPts val="1200"/>
              </a:spcBef>
              <a:buNone/>
              <a:defRPr sz="1800">
                <a:latin typeface="微软雅黑" panose="020B0503020204020204" pitchFamily="34" charset="-122"/>
                <a:ea typeface="微软雅黑" panose="020B0503020204020204" pitchFamily="34" charset="-122"/>
              </a:defRPr>
            </a:lvl1pPr>
            <a:lvl2pPr marL="457200" indent="0" algn="l" rtl="0">
              <a:buNone/>
              <a:defRPr sz="1400"/>
            </a:lvl2pPr>
            <a:lvl3pPr marL="914400" indent="0" algn="l" rtl="0">
              <a:buNone/>
              <a:defRPr sz="1200"/>
            </a:lvl3pPr>
            <a:lvl4pPr marL="1371600" indent="0" algn="l" rtl="0">
              <a:buNone/>
              <a:defRPr sz="1000"/>
            </a:lvl4pPr>
            <a:lvl5pPr marL="1828800" indent="0" algn="l" rtl="0">
              <a:buNone/>
              <a:defRPr sz="1000"/>
            </a:lvl5pPr>
            <a:lvl6pPr marL="2286000" indent="0" algn="l" rtl="0">
              <a:buNone/>
              <a:defRPr sz="1000"/>
            </a:lvl6pPr>
            <a:lvl7pPr marL="2743200" indent="0" algn="l" rtl="0">
              <a:buNone/>
              <a:defRPr sz="1000"/>
            </a:lvl7pPr>
            <a:lvl8pPr marL="3200400" indent="0" algn="l" rtl="0">
              <a:buNone/>
              <a:defRPr sz="1000"/>
            </a:lvl8pPr>
            <a:lvl9pPr marL="3657600" indent="0" algn="l" rtl="0">
              <a:buNone/>
              <a:defRPr sz="1000"/>
            </a:lvl9pPr>
          </a:lstStyle>
          <a:p>
            <a:pPr lvl="0" rtl="0"/>
            <a:r>
              <a:rPr lang="zh-CN" altLang="en-US" noProof="0"/>
              <a:t>单击此处编辑母版文本样式</a:t>
            </a:r>
          </a:p>
        </p:txBody>
      </p:sp>
      <p:sp>
        <p:nvSpPr>
          <p:cNvPr id="5" name="日期占位符 4"/>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7118C275-B304-48F5-8C4F-015CBCF4E7C1}" type="datetime1">
              <a:rPr lang="zh-CN" altLang="en-US" smtClean="0"/>
              <a:pPr/>
              <a:t>2022/7/29</a:t>
            </a:fld>
            <a:r>
              <a:rPr lang="zh-CN" altLang="en-US" dirty="0"/>
              <a:t>​</a:t>
            </a:r>
          </a:p>
        </p:txBody>
      </p:sp>
      <p:sp>
        <p:nvSpPr>
          <p:cNvPr id="6" name="页脚占位符 5"/>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7" name="灯片编号占位符 6"/>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noProof="0"/>
              <a:t>单击此处编辑母版标题样式</a:t>
            </a:r>
            <a:endParaRPr lang="zh-CN" altLang="en-US" noProof="0" dirty="0"/>
          </a:p>
        </p:txBody>
      </p:sp>
      <p:sp>
        <p:nvSpPr>
          <p:cNvPr id="3" name="竖排文字占位符 2"/>
          <p:cNvSpPr>
            <a:spLocks noGrp="1"/>
          </p:cNvSpPr>
          <p:nvPr>
            <p:ph type="body" orient="vert" idx="1"/>
          </p:nvPr>
        </p:nvSpPr>
        <p:spPr/>
        <p:txBody>
          <a:bodyPr vert="eaVert" rtlCol="0"/>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vl1pPr>
          </a:lstStyle>
          <a:p>
            <a:fld id="{98791AA9-DDCB-4BA8-AD1D-963A3AA00622}" type="datetime1">
              <a:rPr lang="zh-CN" altLang="en-US" smtClean="0"/>
              <a:pPr/>
              <a:t>2022/7/29</a:t>
            </a:fld>
            <a:endParaRPr lang="zh-CN" alt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垂直标题 1"/>
          <p:cNvSpPr>
            <a:spLocks noGrp="1"/>
          </p:cNvSpPr>
          <p:nvPr>
            <p:ph type="title" orient="vert"/>
          </p:nvPr>
        </p:nvSpPr>
        <p:spPr>
          <a:xfrm>
            <a:off x="9372600" y="365125"/>
            <a:ext cx="1714500" cy="5811838"/>
          </a:xfrm>
        </p:spPr>
        <p:txBody>
          <a:bodyPr vert="eaVert" rtlCol="0"/>
          <a:lstStyle/>
          <a:p>
            <a:pPr rtl="0"/>
            <a:r>
              <a:rPr lang="zh-CN" altLang="en-US" noProof="0"/>
              <a:t>单击此处编辑母版标题样式</a:t>
            </a:r>
            <a:endParaRPr lang="zh-CN" altLang="en-US" noProof="0" dirty="0"/>
          </a:p>
        </p:txBody>
      </p:sp>
      <p:sp>
        <p:nvSpPr>
          <p:cNvPr id="3" name="竖排文字占位符 2"/>
          <p:cNvSpPr>
            <a:spLocks noGrp="1"/>
          </p:cNvSpPr>
          <p:nvPr>
            <p:ph type="body" orient="vert" idx="1"/>
          </p:nvPr>
        </p:nvSpPr>
        <p:spPr>
          <a:xfrm>
            <a:off x="1104900" y="365125"/>
            <a:ext cx="8098896" cy="5811838"/>
          </a:xfrm>
        </p:spPr>
        <p:txBody>
          <a:bodyPr vert="eaVert" rtlCol="0"/>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vl1pPr>
          </a:lstStyle>
          <a:p>
            <a:fld id="{9170426F-E661-472B-BE42-25E072CD46D9}" type="datetime1">
              <a:rPr lang="zh-CN" altLang="en-US" smtClean="0"/>
              <a:pPr/>
              <a:t>2022/7/29</a:t>
            </a:fld>
            <a:endParaRPr lang="zh-CN" alt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grpSp>
        <p:nvGrpSpPr>
          <p:cNvPr id="7" name="组 6"/>
          <p:cNvGrpSpPr/>
          <p:nvPr/>
        </p:nvGrpSpPr>
        <p:grpSpPr>
          <a:xfrm rot="5400000">
            <a:off x="6514047" y="3228843"/>
            <a:ext cx="5632704" cy="84403"/>
            <a:chOff x="1073150" y="1219201"/>
            <a:chExt cx="10058400" cy="63125"/>
          </a:xfrm>
        </p:grpSpPr>
        <p:cxnSp>
          <p:nvCxnSpPr>
            <p:cNvPr id="8" name="直接连接符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3"/>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1104900" y="76200"/>
            <a:ext cx="9980682" cy="1096962"/>
          </a:xfrm>
          <a:prstGeom prst="rect">
            <a:avLst/>
          </a:prstGeom>
        </p:spPr>
        <p:txBody>
          <a:bodyPr vert="horz" lIns="0" tIns="45720" rIns="0" bIns="45720" rtlCol="0" anchor="b">
            <a:normAutofit/>
          </a:bodyPr>
          <a:lstStyle/>
          <a:p>
            <a:pPr rtl="0"/>
            <a:r>
              <a:rPr lang="zh-CN" altLang="en-US" noProof="0" dirty="0"/>
              <a:t>单击此处编辑母版标题样式</a:t>
            </a:r>
          </a:p>
        </p:txBody>
      </p:sp>
      <p:sp>
        <p:nvSpPr>
          <p:cNvPr id="3" name="文本占位符 2"/>
          <p:cNvSpPr>
            <a:spLocks noGrp="1"/>
          </p:cNvSpPr>
          <p:nvPr>
            <p:ph type="body" idx="1"/>
          </p:nvPr>
        </p:nvSpPr>
        <p:spPr>
          <a:xfrm>
            <a:off x="1104900" y="1600200"/>
            <a:ext cx="9982200" cy="4572000"/>
          </a:xfrm>
          <a:prstGeom prst="rect">
            <a:avLst/>
          </a:prstGeom>
        </p:spPr>
        <p:txBody>
          <a:bodyPr vert="horz" lIns="0" tIns="45720" rIns="0" bIns="45720" rtlCol="0">
            <a:normAutofit/>
          </a:bodyPr>
          <a:lstStyle/>
          <a:p>
            <a:pPr lvl="0" rtl="0"/>
            <a:r>
              <a:rPr lang="zh-CN" altLang="en-US" noProof="0" dirty="0"/>
              <a:t>单击此处编辑母版文本样式</a:t>
            </a:r>
          </a:p>
          <a:p>
            <a:pPr lvl="1" rtl="0"/>
            <a:r>
              <a:rPr lang="zh-CN" altLang="en-US" noProof="0" dirty="0"/>
              <a:t>第二级</a:t>
            </a:r>
          </a:p>
          <a:p>
            <a:pPr lvl="2" rtl="0"/>
            <a:r>
              <a:rPr lang="zh-CN" altLang="en-US" noProof="0" dirty="0"/>
              <a:t>第三级</a:t>
            </a:r>
          </a:p>
          <a:p>
            <a:pPr lvl="3" rtl="0"/>
            <a:r>
              <a:rPr lang="zh-CN" altLang="en-US" noProof="0" dirty="0"/>
              <a:t>第四级</a:t>
            </a:r>
          </a:p>
          <a:p>
            <a:pPr lvl="4" rtl="0"/>
            <a:r>
              <a:rPr lang="zh-CN" altLang="en-US" noProof="0" dirty="0"/>
              <a:t>第五级</a:t>
            </a:r>
          </a:p>
          <a:p>
            <a:pPr lvl="5" rtl="0"/>
            <a:r>
              <a:rPr lang="zh-CN" altLang="en-US" noProof="0" dirty="0"/>
              <a:t>第六级</a:t>
            </a:r>
          </a:p>
          <a:p>
            <a:pPr lvl="6" rtl="0"/>
            <a:r>
              <a:rPr lang="zh-CN" altLang="en-US" noProof="0" dirty="0"/>
              <a:t>第七级</a:t>
            </a:r>
          </a:p>
          <a:p>
            <a:pPr lvl="7" rtl="0"/>
            <a:r>
              <a:rPr lang="zh-CN" altLang="en-US" noProof="0" dirty="0"/>
              <a:t>第八级</a:t>
            </a:r>
          </a:p>
          <a:p>
            <a:pPr lvl="8" rtl="0"/>
            <a:r>
              <a:rPr lang="zh-CN" altLang="en-US" noProof="0" dirty="0"/>
              <a:t>第九级</a:t>
            </a:r>
          </a:p>
        </p:txBody>
      </p:sp>
      <p:sp>
        <p:nvSpPr>
          <p:cNvPr id="4" name="日期占位符 3"/>
          <p:cNvSpPr>
            <a:spLocks noGrp="1"/>
          </p:cNvSpPr>
          <p:nvPr>
            <p:ph type="dt" sz="half" idx="2"/>
          </p:nvPr>
        </p:nvSpPr>
        <p:spPr>
          <a:xfrm>
            <a:off x="1104899" y="6356351"/>
            <a:ext cx="1829559" cy="365125"/>
          </a:xfrm>
          <a:prstGeom prst="rect">
            <a:avLst/>
          </a:prstGeom>
        </p:spPr>
        <p:txBody>
          <a:bodyPr vert="horz" lIns="0" tIns="45720" rIns="0" bIns="45720" rtlCol="0" anchor="ctr"/>
          <a:lstStyle>
            <a:lvl1pPr algn="l" rtl="0">
              <a:defRPr sz="1200">
                <a:solidFill>
                  <a:schemeClr val="tx1">
                    <a:lumMod val="60000"/>
                    <a:lumOff val="40000"/>
                  </a:schemeClr>
                </a:solidFill>
                <a:latin typeface="微软雅黑" panose="020B0503020204020204" pitchFamily="34" charset="-122"/>
                <a:ea typeface="微软雅黑" panose="020B0503020204020204" pitchFamily="34" charset="-122"/>
              </a:defRPr>
            </a:lvl1pPr>
          </a:lstStyle>
          <a:p>
            <a:r>
              <a:rPr lang="zh-CN" altLang="en-US" dirty="0"/>
              <a:t>​</a:t>
            </a:r>
            <a:fld id="{660B6A15-7713-4A08-BBFD-F297CCC2B976}" type="datetime1">
              <a:rPr lang="zh-CN" altLang="en-US" dirty="0" smtClean="0"/>
              <a:pPr/>
              <a:t>2022/7/29</a:t>
            </a:fld>
            <a:r>
              <a:rPr lang="zh-CN" altLang="en-US" dirty="0"/>
              <a:t>​</a:t>
            </a:r>
          </a:p>
        </p:txBody>
      </p:sp>
      <p:sp>
        <p:nvSpPr>
          <p:cNvPr id="5" name="页脚占位符 4"/>
          <p:cNvSpPr>
            <a:spLocks noGrp="1"/>
          </p:cNvSpPr>
          <p:nvPr>
            <p:ph type="ftr" sz="quarter" idx="3"/>
          </p:nvPr>
        </p:nvSpPr>
        <p:spPr>
          <a:xfrm>
            <a:off x="2934459" y="6356350"/>
            <a:ext cx="6323082" cy="365126"/>
          </a:xfrm>
          <a:prstGeom prst="rect">
            <a:avLst/>
          </a:prstGeom>
        </p:spPr>
        <p:txBody>
          <a:bodyPr vert="horz" lIns="0" tIns="45720" rIns="0" bIns="45720" rtlCol="0" anchor="ctr"/>
          <a:lstStyle>
            <a:lvl1pPr algn="ctr" rtl="0">
              <a:defRPr sz="1200">
                <a:solidFill>
                  <a:schemeClr val="tx1">
                    <a:lumMod val="60000"/>
                    <a:lumOff val="40000"/>
                  </a:schemeClr>
                </a:solidFill>
                <a:latin typeface="微软雅黑" panose="020B0503020204020204" pitchFamily="34" charset="-122"/>
                <a:ea typeface="微软雅黑" panose="020B0503020204020204" pitchFamily="34" charset="-122"/>
              </a:defRPr>
            </a:lvl1pPr>
          </a:lstStyle>
          <a:p>
            <a:endParaRPr lang="zh-CN" altLang="en-US" noProof="0" dirty="0"/>
          </a:p>
        </p:txBody>
      </p:sp>
      <p:sp>
        <p:nvSpPr>
          <p:cNvPr id="6" name="幻灯片编号占位符 5"/>
          <p:cNvSpPr>
            <a:spLocks noGrp="1"/>
          </p:cNvSpPr>
          <p:nvPr>
            <p:ph type="sldNum" sz="quarter" idx="4"/>
          </p:nvPr>
        </p:nvSpPr>
        <p:spPr>
          <a:xfrm>
            <a:off x="9256782" y="6356351"/>
            <a:ext cx="1828800" cy="365125"/>
          </a:xfrm>
          <a:prstGeom prst="rect">
            <a:avLst/>
          </a:prstGeom>
        </p:spPr>
        <p:txBody>
          <a:bodyPr vert="horz" lIns="0" tIns="45720" rIns="0" bIns="45720" rtlCol="0" anchor="ctr"/>
          <a:lstStyle>
            <a:lvl1pPr algn="l" rtl="0">
              <a:defRPr sz="1200">
                <a:solidFill>
                  <a:schemeClr val="tx1">
                    <a:lumMod val="60000"/>
                    <a:lumOff val="40000"/>
                  </a:schemeClr>
                </a:solidFill>
                <a:latin typeface="微软雅黑" panose="020B0503020204020204" pitchFamily="34" charset="-122"/>
                <a:ea typeface="微软雅黑" panose="020B0503020204020204" pitchFamily="34" charset="-122"/>
              </a:defRPr>
            </a:lvl1pPr>
          </a:lstStyle>
          <a:p>
            <a:pPr algn="r"/>
            <a:fld id="{0FF54DE5-C571-48E8-A5BC-B369434E2F44}" type="slidenum">
              <a:rPr lang="en-US" altLang="zh-CN" noProof="0" smtClean="0"/>
              <a:pPr algn="r"/>
              <a:t>‹#›</a:t>
            </a:fld>
            <a:endParaRPr lang="zh-CN" altLang="en-US" noProof="0" dirty="0"/>
          </a:p>
        </p:txBody>
      </p:sp>
      <p:grpSp>
        <p:nvGrpSpPr>
          <p:cNvPr id="15" name="组 14"/>
          <p:cNvGrpSpPr/>
          <p:nvPr/>
        </p:nvGrpSpPr>
        <p:grpSpPr>
          <a:xfrm>
            <a:off x="1103376" y="1219201"/>
            <a:ext cx="9985248" cy="84403"/>
            <a:chOff x="1073150" y="1219201"/>
            <a:chExt cx="10058400" cy="63125"/>
          </a:xfrm>
        </p:grpSpPr>
        <p:cxnSp>
          <p:nvCxnSpPr>
            <p:cNvPr id="13" name="直接连接符​​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28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ctrTitle"/>
          </p:nvPr>
        </p:nvSpPr>
        <p:spPr>
          <a:xfrm>
            <a:off x="1225118" y="2093223"/>
            <a:ext cx="4982593" cy="1954514"/>
          </a:xfrm>
        </p:spPr>
        <p:txBody>
          <a:bodyPr rtlCol="0" anchor="ctr"/>
          <a:lstStyle/>
          <a:p>
            <a:pPr rtl="0"/>
            <a:r>
              <a:rPr lang="zh-CN" altLang="en-US" dirty="0">
                <a:latin typeface="微软雅黑" panose="020B0503020204020204" pitchFamily="34" charset="-122"/>
                <a:ea typeface="微软雅黑" panose="020B0503020204020204" pitchFamily="34" charset="-122"/>
              </a:rPr>
              <a:t>最近公共祖先</a:t>
            </a:r>
            <a:r>
              <a:rPr lang="en-US" altLang="zh-CN" dirty="0">
                <a:latin typeface="微软雅黑" panose="020B0503020204020204" pitchFamily="34" charset="-122"/>
                <a:ea typeface="微软雅黑" panose="020B0503020204020204" pitchFamily="34" charset="-122"/>
              </a:rPr>
              <a:t>LCA</a:t>
            </a:r>
            <a:endParaRPr lang="en-US" dirty="0">
              <a:latin typeface="微软雅黑" panose="020B0503020204020204" pitchFamily="34" charset="-122"/>
              <a:ea typeface="微软雅黑" panose="020B0503020204020204" pitchFamily="34" charset="-122"/>
            </a:endParaRPr>
          </a:p>
        </p:txBody>
      </p:sp>
      <p:sp>
        <p:nvSpPr>
          <p:cNvPr id="7" name="副标题 6"/>
          <p:cNvSpPr>
            <a:spLocks noGrp="1"/>
          </p:cNvSpPr>
          <p:nvPr>
            <p:ph type="subTitle" idx="1"/>
          </p:nvPr>
        </p:nvSpPr>
        <p:spPr>
          <a:xfrm>
            <a:off x="473661" y="3844714"/>
            <a:ext cx="5734050" cy="955565"/>
          </a:xfrm>
        </p:spPr>
        <p:txBody>
          <a:bodyPr rtlCol="0">
            <a:normAutofit/>
          </a:bodyPr>
          <a:lstStyle/>
          <a:p>
            <a:pPr algn="ctr" rtl="0">
              <a:lnSpc>
                <a:spcPct val="150000"/>
              </a:lnSpc>
            </a:pPr>
            <a:r>
              <a:rPr lang="zh-CN" altLang="en-US" sz="2400" dirty="0"/>
              <a:t>代伟</a:t>
            </a:r>
            <a:endParaRPr lang="en-US" altLang="zh-CN" sz="2400" dirty="0">
              <a:latin typeface="微软雅黑" panose="020B0503020204020204" pitchFamily="34" charset="-122"/>
              <a:ea typeface="微软雅黑" panose="020B0503020204020204" pitchFamily="34" charset="-122"/>
            </a:endParaRPr>
          </a:p>
          <a:p>
            <a:pPr algn="ctr">
              <a:lnSpc>
                <a:spcPct val="150000"/>
              </a:lnSpc>
            </a:pPr>
            <a:endParaRPr lang="en-US" sz="2400" dirty="0">
              <a:latin typeface="微软雅黑" panose="020B0503020204020204" pitchFamily="34" charset="-122"/>
              <a:ea typeface="微软雅黑" panose="020B0503020204020204" pitchFamily="34" charset="-122"/>
            </a:endParaRPr>
          </a:p>
        </p:txBody>
      </p:sp>
      <p:pic>
        <p:nvPicPr>
          <p:cNvPr id="4" name="图片占位符 3" descr="桌上一本打开的书，书架在背景中模糊显示"/>
          <p:cNvPicPr>
            <a:picLocks noGrp="1" noChangeAspect="1"/>
          </p:cNvPicPr>
          <p:nvPr>
            <p:ph type="pic" sz="quarter" idx="13"/>
          </p:nvPr>
        </p:nvPicPr>
        <p:blipFill>
          <a:blip r:embed="rId3" cstate="print">
            <a:extLst>
              <a:ext uri="{28A0092B-C50C-407E-A947-70E740481C1C}">
                <a14:useLocalDpi xmlns:a14="http://schemas.microsoft.com/office/drawing/2010/main" val="0"/>
              </a:ext>
            </a:extLst>
          </a:blip>
          <a:srcRect l="8890" r="8890"/>
          <a:stretch>
            <a:fillRect/>
          </a:stretch>
        </p:blipFill>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p:cNvSpPr>
            <a:spLocks noGrp="1"/>
          </p:cNvSpPr>
          <p:nvPr>
            <p:ph type="title"/>
          </p:nvPr>
        </p:nvSpPr>
        <p:spPr/>
        <p:txBody>
          <a:bodyPr rtlCol="0"/>
          <a:lstStyle/>
          <a:p>
            <a:pPr rtl="0"/>
            <a:r>
              <a:rPr lang="zh-CN" altLang="en-US" dirty="0">
                <a:latin typeface="微软雅黑" panose="020B0503020204020204" pitchFamily="34" charset="-122"/>
                <a:ea typeface="微软雅黑" panose="020B0503020204020204" pitchFamily="34" charset="-122"/>
              </a:rPr>
              <a:t>学习目标</a:t>
            </a:r>
            <a:endParaRPr lang="en-US" dirty="0">
              <a:latin typeface="微软雅黑" panose="020B0503020204020204" pitchFamily="34" charset="-122"/>
              <a:ea typeface="微软雅黑" panose="020B0503020204020204" pitchFamily="34" charset="-122"/>
            </a:endParaRPr>
          </a:p>
        </p:txBody>
      </p:sp>
      <p:sp>
        <p:nvSpPr>
          <p:cNvPr id="6" name="矩形 5"/>
          <p:cNvSpPr/>
          <p:nvPr/>
        </p:nvSpPr>
        <p:spPr>
          <a:xfrm>
            <a:off x="423124" y="1582702"/>
            <a:ext cx="9999260" cy="1023614"/>
          </a:xfrm>
          <a:prstGeom prst="rect">
            <a:avLst/>
          </a:prstGeom>
        </p:spPr>
        <p:txBody>
          <a:bodyPr wrap="square">
            <a:spAutoFit/>
          </a:bodyPr>
          <a:lstStyle/>
          <a:p>
            <a:pPr indent="574675">
              <a:lnSpc>
                <a:spcPts val="3200"/>
              </a:lnSpc>
              <a:spcAft>
                <a:spcPts val="1200"/>
              </a:spcAft>
              <a:buClr>
                <a:schemeClr val="accent2"/>
              </a:buClr>
              <a:buSzPct val="80000"/>
            </a:pPr>
            <a:r>
              <a:rPr lang="en-US" altLang="zh-CN" sz="2000" dirty="0"/>
              <a:t>1. </a:t>
            </a:r>
            <a:r>
              <a:rPr lang="zh-CN" altLang="en-US" sz="2000" dirty="0"/>
              <a:t>理解</a:t>
            </a:r>
            <a:r>
              <a:rPr lang="en-US" altLang="zh-CN" sz="2000" dirty="0"/>
              <a:t>LCA</a:t>
            </a:r>
            <a:r>
              <a:rPr lang="zh-CN" altLang="en-US" sz="2000" dirty="0"/>
              <a:t>的含义。</a:t>
            </a:r>
          </a:p>
          <a:p>
            <a:pPr indent="574675">
              <a:lnSpc>
                <a:spcPts val="3200"/>
              </a:lnSpc>
              <a:spcAft>
                <a:spcPts val="1200"/>
              </a:spcAft>
              <a:buClr>
                <a:schemeClr val="accent2"/>
              </a:buClr>
              <a:buSzPct val="80000"/>
            </a:pPr>
            <a:r>
              <a:rPr lang="en-US" altLang="zh-CN" sz="2000" dirty="0"/>
              <a:t>2. </a:t>
            </a:r>
            <a:r>
              <a:rPr lang="zh-CN" altLang="en-US" sz="2000" dirty="0"/>
              <a:t>掌握求</a:t>
            </a:r>
            <a:r>
              <a:rPr lang="en-US" altLang="zh-CN" sz="2000" dirty="0"/>
              <a:t>LCA</a:t>
            </a:r>
            <a:r>
              <a:rPr lang="zh-CN" altLang="en-US" sz="2000" dirty="0"/>
              <a:t>的三种算法思想：向上标记法、树上倍增法、</a:t>
            </a:r>
            <a:r>
              <a:rPr lang="en-US" altLang="zh-CN" sz="2000" dirty="0" err="1"/>
              <a:t>Tarjan</a:t>
            </a:r>
            <a:r>
              <a:rPr lang="zh-CN" altLang="en-US" sz="2000" dirty="0"/>
              <a: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最近公共祖先</a:t>
            </a:r>
            <a:r>
              <a:rPr lang="en-US" altLang="zh-CN" dirty="0"/>
              <a:t>LCA</a:t>
            </a:r>
            <a:endParaRPr lang="zh-CN" altLang="en-US" dirty="0"/>
          </a:p>
        </p:txBody>
      </p:sp>
      <p:sp>
        <p:nvSpPr>
          <p:cNvPr id="5" name="矩形 4"/>
          <p:cNvSpPr/>
          <p:nvPr/>
        </p:nvSpPr>
        <p:spPr>
          <a:xfrm>
            <a:off x="1025000" y="1361797"/>
            <a:ext cx="10060582" cy="1116781"/>
          </a:xfrm>
          <a:prstGeom prst="rect">
            <a:avLst/>
          </a:prstGeom>
        </p:spPr>
        <p:txBody>
          <a:bodyPr wrap="square">
            <a:spAutoFit/>
          </a:bodyPr>
          <a:lstStyle/>
          <a:p>
            <a:pPr>
              <a:lnSpc>
                <a:spcPct val="200000"/>
              </a:lnSpc>
              <a:spcBef>
                <a:spcPct val="50000"/>
              </a:spcBef>
            </a:pPr>
            <a:r>
              <a:rPr lang="zh-CN" altLang="en-US" noProof="1">
                <a:latin typeface="微软雅黑" panose="020B0503020204020204" pitchFamily="34" charset="-122"/>
                <a:ea typeface="微软雅黑" panose="020B0503020204020204" pitchFamily="34" charset="-122"/>
                <a:sym typeface="+mn-ea"/>
              </a:rPr>
              <a:t>给定一颗有根数，若节点</a:t>
            </a:r>
            <a:r>
              <a:rPr lang="en-US" altLang="zh-CN" noProof="1">
                <a:latin typeface="微软雅黑" panose="020B0503020204020204" pitchFamily="34" charset="-122"/>
                <a:ea typeface="微软雅黑" panose="020B0503020204020204" pitchFamily="34" charset="-122"/>
                <a:sym typeface="+mn-ea"/>
              </a:rPr>
              <a:t>z</a:t>
            </a:r>
            <a:r>
              <a:rPr lang="zh-CN" altLang="en-US" noProof="1">
                <a:latin typeface="微软雅黑" panose="020B0503020204020204" pitchFamily="34" charset="-122"/>
                <a:ea typeface="微软雅黑" panose="020B0503020204020204" pitchFamily="34" charset="-122"/>
                <a:sym typeface="+mn-ea"/>
              </a:rPr>
              <a:t>既是节点</a:t>
            </a:r>
            <a:r>
              <a:rPr lang="en-US" altLang="zh-CN" noProof="1">
                <a:latin typeface="微软雅黑" panose="020B0503020204020204" pitchFamily="34" charset="-122"/>
                <a:ea typeface="微软雅黑" panose="020B0503020204020204" pitchFamily="34" charset="-122"/>
                <a:sym typeface="+mn-ea"/>
              </a:rPr>
              <a:t>x</a:t>
            </a:r>
            <a:r>
              <a:rPr lang="zh-CN" altLang="en-US" noProof="1">
                <a:latin typeface="微软雅黑" panose="020B0503020204020204" pitchFamily="34" charset="-122"/>
                <a:ea typeface="微软雅黑" panose="020B0503020204020204" pitchFamily="34" charset="-122"/>
                <a:sym typeface="+mn-ea"/>
              </a:rPr>
              <a:t>的祖先，又是节点</a:t>
            </a:r>
            <a:r>
              <a:rPr lang="en-US" altLang="zh-CN" noProof="1">
                <a:latin typeface="微软雅黑" panose="020B0503020204020204" pitchFamily="34" charset="-122"/>
                <a:ea typeface="微软雅黑" panose="020B0503020204020204" pitchFamily="34" charset="-122"/>
                <a:sym typeface="+mn-ea"/>
              </a:rPr>
              <a:t>y</a:t>
            </a:r>
            <a:r>
              <a:rPr lang="zh-CN" altLang="en-US" noProof="1">
                <a:latin typeface="微软雅黑" panose="020B0503020204020204" pitchFamily="34" charset="-122"/>
                <a:ea typeface="微软雅黑" panose="020B0503020204020204" pitchFamily="34" charset="-122"/>
                <a:sym typeface="+mn-ea"/>
              </a:rPr>
              <a:t>的祖先。在</a:t>
            </a:r>
            <a:r>
              <a:rPr lang="en-US" altLang="zh-CN" noProof="1">
                <a:latin typeface="微软雅黑" panose="020B0503020204020204" pitchFamily="34" charset="-122"/>
                <a:ea typeface="微软雅黑" panose="020B0503020204020204" pitchFamily="34" charset="-122"/>
                <a:sym typeface="+mn-ea"/>
              </a:rPr>
              <a:t>x</a:t>
            </a:r>
            <a:r>
              <a:rPr lang="zh-CN" altLang="en-US" noProof="1">
                <a:latin typeface="微软雅黑" panose="020B0503020204020204" pitchFamily="34" charset="-122"/>
                <a:ea typeface="微软雅黑" panose="020B0503020204020204" pitchFamily="34" charset="-122"/>
                <a:sym typeface="+mn-ea"/>
              </a:rPr>
              <a:t>，</a:t>
            </a:r>
            <a:r>
              <a:rPr lang="en-US" altLang="zh-CN" noProof="1">
                <a:latin typeface="微软雅黑" panose="020B0503020204020204" pitchFamily="34" charset="-122"/>
                <a:ea typeface="微软雅黑" panose="020B0503020204020204" pitchFamily="34" charset="-122"/>
                <a:sym typeface="+mn-ea"/>
              </a:rPr>
              <a:t>y</a:t>
            </a:r>
            <a:r>
              <a:rPr lang="zh-CN" altLang="en-US" noProof="1">
                <a:latin typeface="微软雅黑" panose="020B0503020204020204" pitchFamily="34" charset="-122"/>
                <a:ea typeface="微软雅黑" panose="020B0503020204020204" pitchFamily="34" charset="-122"/>
                <a:sym typeface="+mn-ea"/>
              </a:rPr>
              <a:t>的所有公共祖先中，</a:t>
            </a:r>
            <a:r>
              <a:rPr lang="zh-CN" altLang="en-US" b="1" noProof="1">
                <a:solidFill>
                  <a:schemeClr val="accent2"/>
                </a:solidFill>
                <a:latin typeface="微软雅黑" panose="020B0503020204020204" pitchFamily="34" charset="-122"/>
                <a:ea typeface="微软雅黑" panose="020B0503020204020204" pitchFamily="34" charset="-122"/>
                <a:sym typeface="+mn-ea"/>
              </a:rPr>
              <a:t>深度最大</a:t>
            </a:r>
            <a:r>
              <a:rPr lang="zh-CN" altLang="en-US" noProof="1">
                <a:latin typeface="微软雅黑" panose="020B0503020204020204" pitchFamily="34" charset="-122"/>
                <a:ea typeface="微软雅黑" panose="020B0503020204020204" pitchFamily="34" charset="-122"/>
                <a:sym typeface="+mn-ea"/>
              </a:rPr>
              <a:t>的一个称为</a:t>
            </a:r>
            <a:r>
              <a:rPr lang="en-US" altLang="zh-CN" noProof="1">
                <a:latin typeface="微软雅黑" panose="020B0503020204020204" pitchFamily="34" charset="-122"/>
                <a:ea typeface="微软雅黑" panose="020B0503020204020204" pitchFamily="34" charset="-122"/>
                <a:sym typeface="+mn-ea"/>
              </a:rPr>
              <a:t>x,y</a:t>
            </a:r>
            <a:r>
              <a:rPr lang="zh-CN" altLang="en-US" noProof="1">
                <a:latin typeface="微软雅黑" panose="020B0503020204020204" pitchFamily="34" charset="-122"/>
                <a:ea typeface="微软雅黑" panose="020B0503020204020204" pitchFamily="34" charset="-122"/>
                <a:sym typeface="+mn-ea"/>
              </a:rPr>
              <a:t>的</a:t>
            </a:r>
            <a:r>
              <a:rPr lang="zh-CN" altLang="en-US" b="1" noProof="1">
                <a:solidFill>
                  <a:schemeClr val="accent2"/>
                </a:solidFill>
                <a:latin typeface="微软雅黑" panose="020B0503020204020204" pitchFamily="34" charset="-122"/>
                <a:ea typeface="微软雅黑" panose="020B0503020204020204" pitchFamily="34" charset="-122"/>
                <a:sym typeface="+mn-ea"/>
              </a:rPr>
              <a:t>最近公共祖先</a:t>
            </a:r>
            <a:r>
              <a:rPr lang="zh-CN" altLang="en-US" noProof="1">
                <a:latin typeface="微软雅黑" panose="020B0503020204020204" pitchFamily="34" charset="-122"/>
                <a:ea typeface="微软雅黑" panose="020B0503020204020204" pitchFamily="34" charset="-122"/>
                <a:sym typeface="+mn-ea"/>
              </a:rPr>
              <a:t>，记为</a:t>
            </a:r>
            <a:r>
              <a:rPr lang="en-US" altLang="zh-CN" b="1" noProof="1">
                <a:solidFill>
                  <a:schemeClr val="accent2"/>
                </a:solidFill>
                <a:latin typeface="微软雅黑" panose="020B0503020204020204" pitchFamily="34" charset="-122"/>
                <a:ea typeface="微软雅黑" panose="020B0503020204020204" pitchFamily="34" charset="-122"/>
                <a:sym typeface="+mn-ea"/>
              </a:rPr>
              <a:t>LCA(x,y)</a:t>
            </a:r>
            <a:r>
              <a:rPr lang="en-US" altLang="zh-CN" noProof="1">
                <a:latin typeface="微软雅黑" panose="020B0503020204020204" pitchFamily="34" charset="-122"/>
                <a:ea typeface="微软雅黑" panose="020B0503020204020204" pitchFamily="34" charset="-122"/>
                <a:sym typeface="+mn-ea"/>
              </a:rPr>
              <a:t>;</a:t>
            </a:r>
            <a:endParaRPr lang="zh-CN" altLang="en-US" noProof="1">
              <a:latin typeface="微软雅黑" panose="020B0503020204020204" pitchFamily="34" charset="-122"/>
              <a:ea typeface="微软雅黑" panose="020B0503020204020204" pitchFamily="34" charset="-122"/>
            </a:endParaRPr>
          </a:p>
        </p:txBody>
      </p:sp>
      <p:grpSp>
        <p:nvGrpSpPr>
          <p:cNvPr id="81" name="组合 80">
            <a:extLst>
              <a:ext uri="{FF2B5EF4-FFF2-40B4-BE49-F238E27FC236}">
                <a16:creationId xmlns:a16="http://schemas.microsoft.com/office/drawing/2014/main" id="{A658906C-022F-AB28-E126-1708124D1582}"/>
              </a:ext>
            </a:extLst>
          </p:cNvPr>
          <p:cNvGrpSpPr/>
          <p:nvPr/>
        </p:nvGrpSpPr>
        <p:grpSpPr>
          <a:xfrm>
            <a:off x="1244467" y="2815650"/>
            <a:ext cx="2802408" cy="3127545"/>
            <a:chOff x="933749" y="2722052"/>
            <a:chExt cx="2802408" cy="3127545"/>
          </a:xfrm>
        </p:grpSpPr>
        <p:sp>
          <p:nvSpPr>
            <p:cNvPr id="21" name="椭圆 20">
              <a:extLst>
                <a:ext uri="{FF2B5EF4-FFF2-40B4-BE49-F238E27FC236}">
                  <a16:creationId xmlns:a16="http://schemas.microsoft.com/office/drawing/2014/main" id="{DACF756F-E412-CE44-3151-F3A4FBA48679}"/>
                </a:ext>
              </a:extLst>
            </p:cNvPr>
            <p:cNvSpPr/>
            <p:nvPr/>
          </p:nvSpPr>
          <p:spPr>
            <a:xfrm>
              <a:off x="1921977" y="2736673"/>
              <a:ext cx="471633" cy="471633"/>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38302EC6-2A90-C26F-1252-C7CE8B7FB178}"/>
                </a:ext>
              </a:extLst>
            </p:cNvPr>
            <p:cNvSpPr/>
            <p:nvPr/>
          </p:nvSpPr>
          <p:spPr>
            <a:xfrm>
              <a:off x="1569529" y="4518866"/>
              <a:ext cx="471633" cy="471633"/>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CN" altLang="en-US"/>
            </a:p>
          </p:txBody>
        </p:sp>
        <p:sp>
          <p:nvSpPr>
            <p:cNvPr id="23" name="椭圆 22">
              <a:extLst>
                <a:ext uri="{FF2B5EF4-FFF2-40B4-BE49-F238E27FC236}">
                  <a16:creationId xmlns:a16="http://schemas.microsoft.com/office/drawing/2014/main" id="{0C38F75A-D386-1B6F-AB9C-8DBC9745ABF6}"/>
                </a:ext>
              </a:extLst>
            </p:cNvPr>
            <p:cNvSpPr/>
            <p:nvPr/>
          </p:nvSpPr>
          <p:spPr>
            <a:xfrm>
              <a:off x="933749" y="4565818"/>
              <a:ext cx="471633" cy="471633"/>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24" name="椭圆 23">
              <a:extLst>
                <a:ext uri="{FF2B5EF4-FFF2-40B4-BE49-F238E27FC236}">
                  <a16:creationId xmlns:a16="http://schemas.microsoft.com/office/drawing/2014/main" id="{2E55CFBB-856D-4991-E269-BC4A98FD3D2E}"/>
                </a:ext>
              </a:extLst>
            </p:cNvPr>
            <p:cNvSpPr/>
            <p:nvPr/>
          </p:nvSpPr>
          <p:spPr>
            <a:xfrm>
              <a:off x="1839997" y="5377964"/>
              <a:ext cx="471633" cy="471633"/>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CN" altLang="en-US"/>
            </a:p>
          </p:txBody>
        </p:sp>
        <p:cxnSp>
          <p:nvCxnSpPr>
            <p:cNvPr id="25" name="直接连接符 24">
              <a:extLst>
                <a:ext uri="{FF2B5EF4-FFF2-40B4-BE49-F238E27FC236}">
                  <a16:creationId xmlns:a16="http://schemas.microsoft.com/office/drawing/2014/main" id="{9CA78521-82DD-7859-3DDD-B5B6B914A292}"/>
                </a:ext>
              </a:extLst>
            </p:cNvPr>
            <p:cNvCxnSpPr>
              <a:cxnSpLocks/>
              <a:endCxn id="36" idx="0"/>
            </p:cNvCxnSpPr>
            <p:nvPr/>
          </p:nvCxnSpPr>
          <p:spPr>
            <a:xfrm flipH="1">
              <a:off x="2560358" y="4098950"/>
              <a:ext cx="420787" cy="416166"/>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3C6E69B0-65B8-EA0D-BC77-4FFE41F25867}"/>
                </a:ext>
              </a:extLst>
            </p:cNvPr>
            <p:cNvCxnSpPr>
              <a:cxnSpLocks/>
              <a:stCxn id="21" idx="3"/>
              <a:endCxn id="31" idx="0"/>
            </p:cNvCxnSpPr>
            <p:nvPr/>
          </p:nvCxnSpPr>
          <p:spPr>
            <a:xfrm flipH="1">
              <a:off x="1514185" y="3139237"/>
              <a:ext cx="476861" cy="524939"/>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EF5F56A4-5869-E5E1-4330-006AE39702EE}"/>
                </a:ext>
              </a:extLst>
            </p:cNvPr>
            <p:cNvCxnSpPr>
              <a:cxnSpLocks/>
              <a:stCxn id="24" idx="0"/>
            </p:cNvCxnSpPr>
            <p:nvPr/>
          </p:nvCxnSpPr>
          <p:spPr>
            <a:xfrm flipV="1">
              <a:off x="2075814" y="4983477"/>
              <a:ext cx="458082" cy="39448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9" name="椭圆 28">
              <a:extLst>
                <a:ext uri="{FF2B5EF4-FFF2-40B4-BE49-F238E27FC236}">
                  <a16:creationId xmlns:a16="http://schemas.microsoft.com/office/drawing/2014/main" id="{290E6C86-F575-94D6-016B-487C6F5AC575}"/>
                </a:ext>
              </a:extLst>
            </p:cNvPr>
            <p:cNvSpPr/>
            <p:nvPr/>
          </p:nvSpPr>
          <p:spPr>
            <a:xfrm>
              <a:off x="3264524" y="4515116"/>
              <a:ext cx="471633" cy="471633"/>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cxnSp>
          <p:nvCxnSpPr>
            <p:cNvPr id="30" name="直接连接符 29">
              <a:extLst>
                <a:ext uri="{FF2B5EF4-FFF2-40B4-BE49-F238E27FC236}">
                  <a16:creationId xmlns:a16="http://schemas.microsoft.com/office/drawing/2014/main" id="{B4CF33D1-9E3D-A383-32B7-1C987A93E4E3}"/>
                </a:ext>
              </a:extLst>
            </p:cNvPr>
            <p:cNvCxnSpPr>
              <a:cxnSpLocks/>
              <a:endCxn id="29" idx="0"/>
            </p:cNvCxnSpPr>
            <p:nvPr/>
          </p:nvCxnSpPr>
          <p:spPr>
            <a:xfrm>
              <a:off x="3108439" y="4124379"/>
              <a:ext cx="391902" cy="39073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椭圆 30">
              <a:extLst>
                <a:ext uri="{FF2B5EF4-FFF2-40B4-BE49-F238E27FC236}">
                  <a16:creationId xmlns:a16="http://schemas.microsoft.com/office/drawing/2014/main" id="{4DEB28A8-E6CC-3058-21E7-284C22583329}"/>
                </a:ext>
              </a:extLst>
            </p:cNvPr>
            <p:cNvSpPr/>
            <p:nvPr/>
          </p:nvSpPr>
          <p:spPr>
            <a:xfrm>
              <a:off x="1278368" y="3664176"/>
              <a:ext cx="471633" cy="471633"/>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dirty="0"/>
            </a:p>
          </p:txBody>
        </p:sp>
        <p:cxnSp>
          <p:nvCxnSpPr>
            <p:cNvPr id="32" name="直接连接符 31">
              <a:extLst>
                <a:ext uri="{FF2B5EF4-FFF2-40B4-BE49-F238E27FC236}">
                  <a16:creationId xmlns:a16="http://schemas.microsoft.com/office/drawing/2014/main" id="{9BDB8B94-EF9E-14A3-5718-0F8ACBD4894E}"/>
                </a:ext>
              </a:extLst>
            </p:cNvPr>
            <p:cNvCxnSpPr>
              <a:cxnSpLocks/>
            </p:cNvCxnSpPr>
            <p:nvPr/>
          </p:nvCxnSpPr>
          <p:spPr>
            <a:xfrm>
              <a:off x="2173095" y="3231586"/>
              <a:ext cx="6690" cy="42911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33" name="椭圆 32">
              <a:extLst>
                <a:ext uri="{FF2B5EF4-FFF2-40B4-BE49-F238E27FC236}">
                  <a16:creationId xmlns:a16="http://schemas.microsoft.com/office/drawing/2014/main" id="{5F0A5449-D046-5B6D-7E3F-7162B431C9A4}"/>
                </a:ext>
              </a:extLst>
            </p:cNvPr>
            <p:cNvSpPr/>
            <p:nvPr/>
          </p:nvSpPr>
          <p:spPr>
            <a:xfrm>
              <a:off x="2771788" y="3660698"/>
              <a:ext cx="471633" cy="471633"/>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cxnSp>
          <p:nvCxnSpPr>
            <p:cNvPr id="34" name="直接连接符 33">
              <a:extLst>
                <a:ext uri="{FF2B5EF4-FFF2-40B4-BE49-F238E27FC236}">
                  <a16:creationId xmlns:a16="http://schemas.microsoft.com/office/drawing/2014/main" id="{2414C276-6FE1-9A8C-4550-42BF6FCF72CB}"/>
                </a:ext>
              </a:extLst>
            </p:cNvPr>
            <p:cNvCxnSpPr>
              <a:cxnSpLocks/>
              <a:stCxn id="21" idx="5"/>
              <a:endCxn id="33" idx="1"/>
            </p:cNvCxnSpPr>
            <p:nvPr/>
          </p:nvCxnSpPr>
          <p:spPr>
            <a:xfrm>
              <a:off x="2324541" y="3139237"/>
              <a:ext cx="516316" cy="59053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36" name="椭圆 35">
              <a:extLst>
                <a:ext uri="{FF2B5EF4-FFF2-40B4-BE49-F238E27FC236}">
                  <a16:creationId xmlns:a16="http://schemas.microsoft.com/office/drawing/2014/main" id="{D4A87955-4853-01DE-ABD2-F5C6178BAC82}"/>
                </a:ext>
              </a:extLst>
            </p:cNvPr>
            <p:cNvSpPr/>
            <p:nvPr/>
          </p:nvSpPr>
          <p:spPr>
            <a:xfrm>
              <a:off x="2324541" y="4515116"/>
              <a:ext cx="471633" cy="471633"/>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37" name="椭圆 36">
              <a:extLst>
                <a:ext uri="{FF2B5EF4-FFF2-40B4-BE49-F238E27FC236}">
                  <a16:creationId xmlns:a16="http://schemas.microsoft.com/office/drawing/2014/main" id="{C7EF83A9-6477-84C9-F913-C9943E0CE81D}"/>
                </a:ext>
              </a:extLst>
            </p:cNvPr>
            <p:cNvSpPr/>
            <p:nvPr/>
          </p:nvSpPr>
          <p:spPr>
            <a:xfrm>
              <a:off x="1961431" y="3652746"/>
              <a:ext cx="471633" cy="471633"/>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cxnSp>
          <p:nvCxnSpPr>
            <p:cNvPr id="38" name="直接连接符 37">
              <a:extLst>
                <a:ext uri="{FF2B5EF4-FFF2-40B4-BE49-F238E27FC236}">
                  <a16:creationId xmlns:a16="http://schemas.microsoft.com/office/drawing/2014/main" id="{EBA164EC-0521-73B8-E5A0-16BE535E1EA3}"/>
                </a:ext>
              </a:extLst>
            </p:cNvPr>
            <p:cNvCxnSpPr>
              <a:cxnSpLocks/>
              <a:endCxn id="22" idx="0"/>
            </p:cNvCxnSpPr>
            <p:nvPr/>
          </p:nvCxnSpPr>
          <p:spPr>
            <a:xfrm>
              <a:off x="1500226" y="4151492"/>
              <a:ext cx="305120" cy="367374"/>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66F21BB0-DA88-E453-F6C1-FC5690F9E952}"/>
                </a:ext>
              </a:extLst>
            </p:cNvPr>
            <p:cNvCxnSpPr>
              <a:cxnSpLocks/>
            </p:cNvCxnSpPr>
            <p:nvPr/>
          </p:nvCxnSpPr>
          <p:spPr>
            <a:xfrm flipH="1">
              <a:off x="1194793" y="4129626"/>
              <a:ext cx="305433" cy="442375"/>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77" name="文本框 76">
              <a:extLst>
                <a:ext uri="{FF2B5EF4-FFF2-40B4-BE49-F238E27FC236}">
                  <a16:creationId xmlns:a16="http://schemas.microsoft.com/office/drawing/2014/main" id="{E286320B-7F91-F92B-67EB-6D1A7591FE5C}"/>
                </a:ext>
              </a:extLst>
            </p:cNvPr>
            <p:cNvSpPr txBox="1"/>
            <p:nvPr/>
          </p:nvSpPr>
          <p:spPr>
            <a:xfrm>
              <a:off x="2433064" y="5429114"/>
              <a:ext cx="420787" cy="369332"/>
            </a:xfrm>
            <a:prstGeom prst="rect">
              <a:avLst/>
            </a:prstGeom>
            <a:noFill/>
          </p:spPr>
          <p:txBody>
            <a:bodyPr wrap="square" rtlCol="0">
              <a:spAutoFit/>
            </a:bodyPr>
            <a:lstStyle/>
            <a:p>
              <a:r>
                <a:rPr lang="en-US" altLang="zh-CN" b="1" dirty="0">
                  <a:solidFill>
                    <a:schemeClr val="accent2"/>
                  </a:solidFill>
                  <a:latin typeface="Times New Roman" panose="02020603050405020304" pitchFamily="18" charset="0"/>
                  <a:cs typeface="Times New Roman" panose="02020603050405020304" pitchFamily="18" charset="0"/>
                </a:rPr>
                <a:t>y</a:t>
              </a:r>
              <a:endParaRPr lang="zh-CN" altLang="en-US" b="1" dirty="0">
                <a:solidFill>
                  <a:schemeClr val="accent2"/>
                </a:solidFill>
                <a:latin typeface="Times New Roman" panose="02020603050405020304" pitchFamily="18" charset="0"/>
                <a:cs typeface="Times New Roman" panose="02020603050405020304" pitchFamily="18" charset="0"/>
              </a:endParaRPr>
            </a:p>
          </p:txBody>
        </p:sp>
        <p:sp>
          <p:nvSpPr>
            <p:cNvPr id="78" name="文本框 77">
              <a:extLst>
                <a:ext uri="{FF2B5EF4-FFF2-40B4-BE49-F238E27FC236}">
                  <a16:creationId xmlns:a16="http://schemas.microsoft.com/office/drawing/2014/main" id="{C9F2960E-9B0D-6A16-24A6-A03CE8F2B54A}"/>
                </a:ext>
              </a:extLst>
            </p:cNvPr>
            <p:cNvSpPr txBox="1"/>
            <p:nvPr/>
          </p:nvSpPr>
          <p:spPr>
            <a:xfrm>
              <a:off x="1935224" y="4205760"/>
              <a:ext cx="420787" cy="369332"/>
            </a:xfrm>
            <a:prstGeom prst="rect">
              <a:avLst/>
            </a:prstGeom>
            <a:noFill/>
          </p:spPr>
          <p:txBody>
            <a:bodyPr wrap="square" rtlCol="0">
              <a:spAutoFit/>
            </a:bodyPr>
            <a:lstStyle/>
            <a:p>
              <a:r>
                <a:rPr lang="en-US" altLang="zh-CN" b="1" dirty="0">
                  <a:solidFill>
                    <a:schemeClr val="accent2"/>
                  </a:solidFill>
                  <a:latin typeface="Times New Roman" panose="02020603050405020304" pitchFamily="18" charset="0"/>
                  <a:cs typeface="Times New Roman" panose="02020603050405020304" pitchFamily="18" charset="0"/>
                </a:rPr>
                <a:t>x</a:t>
              </a:r>
              <a:endParaRPr lang="zh-CN" altLang="en-US" b="1" dirty="0">
                <a:solidFill>
                  <a:schemeClr val="accent2"/>
                </a:solidFill>
                <a:latin typeface="Times New Roman" panose="02020603050405020304" pitchFamily="18" charset="0"/>
                <a:cs typeface="Times New Roman" panose="02020603050405020304" pitchFamily="18" charset="0"/>
              </a:endParaRPr>
            </a:p>
          </p:txBody>
        </p:sp>
        <p:sp>
          <p:nvSpPr>
            <p:cNvPr id="80" name="文本框 79">
              <a:extLst>
                <a:ext uri="{FF2B5EF4-FFF2-40B4-BE49-F238E27FC236}">
                  <a16:creationId xmlns:a16="http://schemas.microsoft.com/office/drawing/2014/main" id="{E95B701E-0C31-C294-DAE0-64552A3E8399}"/>
                </a:ext>
              </a:extLst>
            </p:cNvPr>
            <p:cNvSpPr txBox="1"/>
            <p:nvPr/>
          </p:nvSpPr>
          <p:spPr>
            <a:xfrm>
              <a:off x="2433064" y="2722052"/>
              <a:ext cx="1189025" cy="369332"/>
            </a:xfrm>
            <a:prstGeom prst="rect">
              <a:avLst/>
            </a:prstGeom>
            <a:noFill/>
          </p:spPr>
          <p:txBody>
            <a:bodyPr wrap="square">
              <a:spAutoFit/>
            </a:bodyPr>
            <a:lstStyle/>
            <a:p>
              <a:r>
                <a:rPr lang="en-US" altLang="zh-CN" b="1" dirty="0">
                  <a:solidFill>
                    <a:schemeClr val="accent2"/>
                  </a:solidFill>
                  <a:latin typeface="Times New Roman" panose="02020603050405020304" pitchFamily="18" charset="0"/>
                  <a:cs typeface="Times New Roman" panose="02020603050405020304" pitchFamily="18" charset="0"/>
                </a:rPr>
                <a:t>LCA(</a:t>
              </a:r>
              <a:r>
                <a:rPr lang="en-US" altLang="zh-CN" b="1" dirty="0" err="1">
                  <a:solidFill>
                    <a:schemeClr val="accent2"/>
                  </a:solidFill>
                  <a:latin typeface="Times New Roman" panose="02020603050405020304" pitchFamily="18" charset="0"/>
                  <a:cs typeface="Times New Roman" panose="02020603050405020304" pitchFamily="18" charset="0"/>
                </a:rPr>
                <a:t>x,y</a:t>
              </a:r>
              <a:r>
                <a:rPr lang="en-US" altLang="zh-CN" b="1" dirty="0">
                  <a:solidFill>
                    <a:schemeClr val="accent2"/>
                  </a:solidFill>
                  <a:latin typeface="Times New Roman" panose="02020603050405020304" pitchFamily="18" charset="0"/>
                  <a:cs typeface="Times New Roman" panose="02020603050405020304" pitchFamily="18" charset="0"/>
                </a:rPr>
                <a:t>)</a:t>
              </a:r>
              <a:endParaRPr lang="zh-CN" altLang="en-US" b="1" dirty="0">
                <a:solidFill>
                  <a:schemeClr val="accent2"/>
                </a:solidFill>
                <a:latin typeface="Times New Roman" panose="02020603050405020304" pitchFamily="18" charset="0"/>
                <a:cs typeface="Times New Roman" panose="02020603050405020304" pitchFamily="18" charset="0"/>
              </a:endParaRPr>
            </a:p>
          </p:txBody>
        </p:sp>
      </p:grpSp>
      <p:grpSp>
        <p:nvGrpSpPr>
          <p:cNvPr id="82" name="组合 81">
            <a:extLst>
              <a:ext uri="{FF2B5EF4-FFF2-40B4-BE49-F238E27FC236}">
                <a16:creationId xmlns:a16="http://schemas.microsoft.com/office/drawing/2014/main" id="{810370A4-E7B5-2634-E3B2-997BDC5B0EF7}"/>
              </a:ext>
            </a:extLst>
          </p:cNvPr>
          <p:cNvGrpSpPr/>
          <p:nvPr/>
        </p:nvGrpSpPr>
        <p:grpSpPr>
          <a:xfrm>
            <a:off x="4652151" y="2742896"/>
            <a:ext cx="2925287" cy="3112924"/>
            <a:chOff x="933749" y="2736673"/>
            <a:chExt cx="2925287" cy="3112924"/>
          </a:xfrm>
        </p:grpSpPr>
        <p:sp>
          <p:nvSpPr>
            <p:cNvPr id="83" name="椭圆 82">
              <a:extLst>
                <a:ext uri="{FF2B5EF4-FFF2-40B4-BE49-F238E27FC236}">
                  <a16:creationId xmlns:a16="http://schemas.microsoft.com/office/drawing/2014/main" id="{C915A3E9-C28C-0F1E-B92E-D091188948CB}"/>
                </a:ext>
              </a:extLst>
            </p:cNvPr>
            <p:cNvSpPr/>
            <p:nvPr/>
          </p:nvSpPr>
          <p:spPr>
            <a:xfrm>
              <a:off x="1921977" y="2736673"/>
              <a:ext cx="471633" cy="471633"/>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84" name="椭圆 83">
              <a:extLst>
                <a:ext uri="{FF2B5EF4-FFF2-40B4-BE49-F238E27FC236}">
                  <a16:creationId xmlns:a16="http://schemas.microsoft.com/office/drawing/2014/main" id="{C20296A1-B794-A7F0-5276-72AB843A2594}"/>
                </a:ext>
              </a:extLst>
            </p:cNvPr>
            <p:cNvSpPr/>
            <p:nvPr/>
          </p:nvSpPr>
          <p:spPr>
            <a:xfrm>
              <a:off x="1569529" y="4518866"/>
              <a:ext cx="471633" cy="471633"/>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85" name="椭圆 84">
              <a:extLst>
                <a:ext uri="{FF2B5EF4-FFF2-40B4-BE49-F238E27FC236}">
                  <a16:creationId xmlns:a16="http://schemas.microsoft.com/office/drawing/2014/main" id="{1FD8F6B8-56D7-8A5A-BA8B-33D8018E5485}"/>
                </a:ext>
              </a:extLst>
            </p:cNvPr>
            <p:cNvSpPr/>
            <p:nvPr/>
          </p:nvSpPr>
          <p:spPr>
            <a:xfrm>
              <a:off x="933749" y="4565818"/>
              <a:ext cx="471633" cy="471633"/>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86" name="椭圆 85">
              <a:extLst>
                <a:ext uri="{FF2B5EF4-FFF2-40B4-BE49-F238E27FC236}">
                  <a16:creationId xmlns:a16="http://schemas.microsoft.com/office/drawing/2014/main" id="{FDB1D313-ABC2-FBE3-5C0F-B8A75F4C5BFD}"/>
                </a:ext>
              </a:extLst>
            </p:cNvPr>
            <p:cNvSpPr/>
            <p:nvPr/>
          </p:nvSpPr>
          <p:spPr>
            <a:xfrm>
              <a:off x="1839997" y="5377964"/>
              <a:ext cx="471633" cy="471633"/>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CN" altLang="en-US"/>
            </a:p>
          </p:txBody>
        </p:sp>
        <p:cxnSp>
          <p:nvCxnSpPr>
            <p:cNvPr id="87" name="直接连接符 86">
              <a:extLst>
                <a:ext uri="{FF2B5EF4-FFF2-40B4-BE49-F238E27FC236}">
                  <a16:creationId xmlns:a16="http://schemas.microsoft.com/office/drawing/2014/main" id="{4FD80F43-1F56-9923-D2E9-E72A71DF4F9C}"/>
                </a:ext>
              </a:extLst>
            </p:cNvPr>
            <p:cNvCxnSpPr>
              <a:cxnSpLocks/>
              <a:endCxn id="96" idx="0"/>
            </p:cNvCxnSpPr>
            <p:nvPr/>
          </p:nvCxnSpPr>
          <p:spPr>
            <a:xfrm flipH="1">
              <a:off x="2560358" y="4098950"/>
              <a:ext cx="420787" cy="416166"/>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8" name="直接连接符 87">
              <a:extLst>
                <a:ext uri="{FF2B5EF4-FFF2-40B4-BE49-F238E27FC236}">
                  <a16:creationId xmlns:a16="http://schemas.microsoft.com/office/drawing/2014/main" id="{16F0D7B3-2406-EFC2-94F8-3CE16A583B4A}"/>
                </a:ext>
              </a:extLst>
            </p:cNvPr>
            <p:cNvCxnSpPr>
              <a:cxnSpLocks/>
              <a:stCxn id="83" idx="3"/>
              <a:endCxn id="92" idx="0"/>
            </p:cNvCxnSpPr>
            <p:nvPr/>
          </p:nvCxnSpPr>
          <p:spPr>
            <a:xfrm flipH="1">
              <a:off x="1514185" y="3139237"/>
              <a:ext cx="476861" cy="524939"/>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9" name="直接连接符 88">
              <a:extLst>
                <a:ext uri="{FF2B5EF4-FFF2-40B4-BE49-F238E27FC236}">
                  <a16:creationId xmlns:a16="http://schemas.microsoft.com/office/drawing/2014/main" id="{EF384652-932E-C5D8-BEE2-43A0A9F0B741}"/>
                </a:ext>
              </a:extLst>
            </p:cNvPr>
            <p:cNvCxnSpPr>
              <a:cxnSpLocks/>
              <a:stCxn id="86" idx="0"/>
            </p:cNvCxnSpPr>
            <p:nvPr/>
          </p:nvCxnSpPr>
          <p:spPr>
            <a:xfrm flipV="1">
              <a:off x="2075814" y="4983477"/>
              <a:ext cx="458082" cy="39448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90" name="椭圆 89">
              <a:extLst>
                <a:ext uri="{FF2B5EF4-FFF2-40B4-BE49-F238E27FC236}">
                  <a16:creationId xmlns:a16="http://schemas.microsoft.com/office/drawing/2014/main" id="{0FA9FC60-A41F-0E6F-3D3B-9E22C88C0781}"/>
                </a:ext>
              </a:extLst>
            </p:cNvPr>
            <p:cNvSpPr/>
            <p:nvPr/>
          </p:nvSpPr>
          <p:spPr>
            <a:xfrm>
              <a:off x="3264524" y="4515116"/>
              <a:ext cx="471633" cy="47163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cxnSp>
          <p:nvCxnSpPr>
            <p:cNvPr id="91" name="直接连接符 90">
              <a:extLst>
                <a:ext uri="{FF2B5EF4-FFF2-40B4-BE49-F238E27FC236}">
                  <a16:creationId xmlns:a16="http://schemas.microsoft.com/office/drawing/2014/main" id="{D33C2813-EF5B-DD2D-F57A-D254743B5054}"/>
                </a:ext>
              </a:extLst>
            </p:cNvPr>
            <p:cNvCxnSpPr>
              <a:cxnSpLocks/>
              <a:endCxn id="90" idx="0"/>
            </p:cNvCxnSpPr>
            <p:nvPr/>
          </p:nvCxnSpPr>
          <p:spPr>
            <a:xfrm>
              <a:off x="3108439" y="4124379"/>
              <a:ext cx="391902" cy="39073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92" name="椭圆 91">
              <a:extLst>
                <a:ext uri="{FF2B5EF4-FFF2-40B4-BE49-F238E27FC236}">
                  <a16:creationId xmlns:a16="http://schemas.microsoft.com/office/drawing/2014/main" id="{96CFDF84-0507-5189-CF30-E27959AD9332}"/>
                </a:ext>
              </a:extLst>
            </p:cNvPr>
            <p:cNvSpPr/>
            <p:nvPr/>
          </p:nvSpPr>
          <p:spPr>
            <a:xfrm>
              <a:off x="1278368" y="3664176"/>
              <a:ext cx="471633" cy="471633"/>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dirty="0"/>
            </a:p>
          </p:txBody>
        </p:sp>
        <p:cxnSp>
          <p:nvCxnSpPr>
            <p:cNvPr id="93" name="直接连接符 92">
              <a:extLst>
                <a:ext uri="{FF2B5EF4-FFF2-40B4-BE49-F238E27FC236}">
                  <a16:creationId xmlns:a16="http://schemas.microsoft.com/office/drawing/2014/main" id="{9121A66D-72AA-8859-68BC-A4FF35AD495C}"/>
                </a:ext>
              </a:extLst>
            </p:cNvPr>
            <p:cNvCxnSpPr>
              <a:cxnSpLocks/>
            </p:cNvCxnSpPr>
            <p:nvPr/>
          </p:nvCxnSpPr>
          <p:spPr>
            <a:xfrm>
              <a:off x="2173095" y="3231586"/>
              <a:ext cx="6690" cy="42911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94" name="椭圆 93">
              <a:extLst>
                <a:ext uri="{FF2B5EF4-FFF2-40B4-BE49-F238E27FC236}">
                  <a16:creationId xmlns:a16="http://schemas.microsoft.com/office/drawing/2014/main" id="{9462BAAB-3373-631B-BA91-C502FD074324}"/>
                </a:ext>
              </a:extLst>
            </p:cNvPr>
            <p:cNvSpPr/>
            <p:nvPr/>
          </p:nvSpPr>
          <p:spPr>
            <a:xfrm>
              <a:off x="2771788" y="3660698"/>
              <a:ext cx="471633" cy="47163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cxnSp>
          <p:nvCxnSpPr>
            <p:cNvPr id="95" name="直接连接符 94">
              <a:extLst>
                <a:ext uri="{FF2B5EF4-FFF2-40B4-BE49-F238E27FC236}">
                  <a16:creationId xmlns:a16="http://schemas.microsoft.com/office/drawing/2014/main" id="{1BCA0081-B6DC-F38F-FCFD-61197D89D556}"/>
                </a:ext>
              </a:extLst>
            </p:cNvPr>
            <p:cNvCxnSpPr>
              <a:cxnSpLocks/>
              <a:stCxn id="83" idx="5"/>
              <a:endCxn id="94" idx="1"/>
            </p:cNvCxnSpPr>
            <p:nvPr/>
          </p:nvCxnSpPr>
          <p:spPr>
            <a:xfrm>
              <a:off x="2324541" y="3139237"/>
              <a:ext cx="516316" cy="59053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96" name="椭圆 95">
              <a:extLst>
                <a:ext uri="{FF2B5EF4-FFF2-40B4-BE49-F238E27FC236}">
                  <a16:creationId xmlns:a16="http://schemas.microsoft.com/office/drawing/2014/main" id="{C1BC8BCB-F054-CDD3-CBA2-0536EB997152}"/>
                </a:ext>
              </a:extLst>
            </p:cNvPr>
            <p:cNvSpPr/>
            <p:nvPr/>
          </p:nvSpPr>
          <p:spPr>
            <a:xfrm>
              <a:off x="2324541" y="4515116"/>
              <a:ext cx="471633" cy="471633"/>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97" name="椭圆 96">
              <a:extLst>
                <a:ext uri="{FF2B5EF4-FFF2-40B4-BE49-F238E27FC236}">
                  <a16:creationId xmlns:a16="http://schemas.microsoft.com/office/drawing/2014/main" id="{353D02A9-2EE0-89AC-EC17-BD1FCB6D1261}"/>
                </a:ext>
              </a:extLst>
            </p:cNvPr>
            <p:cNvSpPr/>
            <p:nvPr/>
          </p:nvSpPr>
          <p:spPr>
            <a:xfrm>
              <a:off x="1961431" y="3652746"/>
              <a:ext cx="471633" cy="471633"/>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cxnSp>
          <p:nvCxnSpPr>
            <p:cNvPr id="98" name="直接连接符 97">
              <a:extLst>
                <a:ext uri="{FF2B5EF4-FFF2-40B4-BE49-F238E27FC236}">
                  <a16:creationId xmlns:a16="http://schemas.microsoft.com/office/drawing/2014/main" id="{AF7076F2-4CD8-C765-7F0E-083A887EB8E9}"/>
                </a:ext>
              </a:extLst>
            </p:cNvPr>
            <p:cNvCxnSpPr>
              <a:cxnSpLocks/>
              <a:endCxn id="84" idx="0"/>
            </p:cNvCxnSpPr>
            <p:nvPr/>
          </p:nvCxnSpPr>
          <p:spPr>
            <a:xfrm>
              <a:off x="1500226" y="4151492"/>
              <a:ext cx="305120" cy="367374"/>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2CB881CC-F77A-AB9E-A302-6B9F15707822}"/>
                </a:ext>
              </a:extLst>
            </p:cNvPr>
            <p:cNvCxnSpPr>
              <a:cxnSpLocks/>
            </p:cNvCxnSpPr>
            <p:nvPr/>
          </p:nvCxnSpPr>
          <p:spPr>
            <a:xfrm flipH="1">
              <a:off x="1194793" y="4129626"/>
              <a:ext cx="305433" cy="442375"/>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00" name="文本框 99">
              <a:extLst>
                <a:ext uri="{FF2B5EF4-FFF2-40B4-BE49-F238E27FC236}">
                  <a16:creationId xmlns:a16="http://schemas.microsoft.com/office/drawing/2014/main" id="{6755D634-CEAB-82B5-991C-8C0A456B487F}"/>
                </a:ext>
              </a:extLst>
            </p:cNvPr>
            <p:cNvSpPr txBox="1"/>
            <p:nvPr/>
          </p:nvSpPr>
          <p:spPr>
            <a:xfrm>
              <a:off x="2984573" y="4409213"/>
              <a:ext cx="420787" cy="369332"/>
            </a:xfrm>
            <a:prstGeom prst="rect">
              <a:avLst/>
            </a:prstGeom>
            <a:noFill/>
          </p:spPr>
          <p:txBody>
            <a:bodyPr wrap="square" rtlCol="0">
              <a:spAutoFit/>
            </a:bodyPr>
            <a:lstStyle/>
            <a:p>
              <a:r>
                <a:rPr lang="en-US" altLang="zh-CN" b="1" dirty="0">
                  <a:solidFill>
                    <a:schemeClr val="accent2"/>
                  </a:solidFill>
                  <a:latin typeface="Times New Roman" panose="02020603050405020304" pitchFamily="18" charset="0"/>
                  <a:cs typeface="Times New Roman" panose="02020603050405020304" pitchFamily="18" charset="0"/>
                </a:rPr>
                <a:t>y</a:t>
              </a:r>
              <a:endParaRPr lang="zh-CN" altLang="en-US" b="1" dirty="0">
                <a:solidFill>
                  <a:schemeClr val="accent2"/>
                </a:solidFill>
                <a:latin typeface="Times New Roman" panose="02020603050405020304" pitchFamily="18" charset="0"/>
                <a:cs typeface="Times New Roman" panose="02020603050405020304" pitchFamily="18" charset="0"/>
              </a:endParaRPr>
            </a:p>
          </p:txBody>
        </p:sp>
        <p:sp>
          <p:nvSpPr>
            <p:cNvPr id="101" name="文本框 100">
              <a:extLst>
                <a:ext uri="{FF2B5EF4-FFF2-40B4-BE49-F238E27FC236}">
                  <a16:creationId xmlns:a16="http://schemas.microsoft.com/office/drawing/2014/main" id="{A0C991CD-7D4D-68CE-CDC0-EF2A307D94CD}"/>
                </a:ext>
              </a:extLst>
            </p:cNvPr>
            <p:cNvSpPr txBox="1"/>
            <p:nvPr/>
          </p:nvSpPr>
          <p:spPr>
            <a:xfrm>
              <a:off x="1514189" y="5403119"/>
              <a:ext cx="420787" cy="369332"/>
            </a:xfrm>
            <a:prstGeom prst="rect">
              <a:avLst/>
            </a:prstGeom>
            <a:noFill/>
          </p:spPr>
          <p:txBody>
            <a:bodyPr wrap="square" rtlCol="0">
              <a:spAutoFit/>
            </a:bodyPr>
            <a:lstStyle/>
            <a:p>
              <a:r>
                <a:rPr lang="en-US" altLang="zh-CN" b="1" dirty="0">
                  <a:solidFill>
                    <a:schemeClr val="accent2"/>
                  </a:solidFill>
                  <a:latin typeface="Times New Roman" panose="02020603050405020304" pitchFamily="18" charset="0"/>
                  <a:cs typeface="Times New Roman" panose="02020603050405020304" pitchFamily="18" charset="0"/>
                </a:rPr>
                <a:t>x</a:t>
              </a:r>
              <a:endParaRPr lang="zh-CN" altLang="en-US" b="1" dirty="0">
                <a:solidFill>
                  <a:schemeClr val="accent2"/>
                </a:solidFill>
                <a:latin typeface="Times New Roman" panose="02020603050405020304" pitchFamily="18" charset="0"/>
                <a:cs typeface="Times New Roman" panose="02020603050405020304" pitchFamily="18" charset="0"/>
              </a:endParaRPr>
            </a:p>
          </p:txBody>
        </p:sp>
        <p:sp>
          <p:nvSpPr>
            <p:cNvPr id="102" name="文本框 101">
              <a:extLst>
                <a:ext uri="{FF2B5EF4-FFF2-40B4-BE49-F238E27FC236}">
                  <a16:creationId xmlns:a16="http://schemas.microsoft.com/office/drawing/2014/main" id="{D3750BBD-D7C9-47D3-82B4-0A578BA434BC}"/>
                </a:ext>
              </a:extLst>
            </p:cNvPr>
            <p:cNvSpPr txBox="1"/>
            <p:nvPr/>
          </p:nvSpPr>
          <p:spPr>
            <a:xfrm>
              <a:off x="2670011" y="3265688"/>
              <a:ext cx="1189025" cy="369332"/>
            </a:xfrm>
            <a:prstGeom prst="rect">
              <a:avLst/>
            </a:prstGeom>
            <a:noFill/>
          </p:spPr>
          <p:txBody>
            <a:bodyPr wrap="square">
              <a:spAutoFit/>
            </a:bodyPr>
            <a:lstStyle/>
            <a:p>
              <a:r>
                <a:rPr lang="en-US" altLang="zh-CN" b="1" dirty="0">
                  <a:solidFill>
                    <a:schemeClr val="accent2"/>
                  </a:solidFill>
                  <a:latin typeface="Times New Roman" panose="02020603050405020304" pitchFamily="18" charset="0"/>
                  <a:cs typeface="Times New Roman" panose="02020603050405020304" pitchFamily="18" charset="0"/>
                </a:rPr>
                <a:t>LCA(</a:t>
              </a:r>
              <a:r>
                <a:rPr lang="en-US" altLang="zh-CN" b="1" dirty="0" err="1">
                  <a:solidFill>
                    <a:schemeClr val="accent2"/>
                  </a:solidFill>
                  <a:latin typeface="Times New Roman" panose="02020603050405020304" pitchFamily="18" charset="0"/>
                  <a:cs typeface="Times New Roman" panose="02020603050405020304" pitchFamily="18" charset="0"/>
                </a:rPr>
                <a:t>x,y</a:t>
              </a:r>
              <a:r>
                <a:rPr lang="en-US" altLang="zh-CN" b="1" dirty="0">
                  <a:solidFill>
                    <a:schemeClr val="accent2"/>
                  </a:solidFill>
                  <a:latin typeface="Times New Roman" panose="02020603050405020304" pitchFamily="18" charset="0"/>
                  <a:cs typeface="Times New Roman" panose="02020603050405020304" pitchFamily="18" charset="0"/>
                </a:rPr>
                <a:t>)</a:t>
              </a:r>
              <a:endParaRPr lang="zh-CN" altLang="en-US" b="1" dirty="0">
                <a:solidFill>
                  <a:schemeClr val="accent2"/>
                </a:solidFill>
                <a:latin typeface="Times New Roman" panose="02020603050405020304" pitchFamily="18" charset="0"/>
                <a:cs typeface="Times New Roman" panose="02020603050405020304" pitchFamily="18" charset="0"/>
              </a:endParaRPr>
            </a:p>
          </p:txBody>
        </p:sp>
      </p:grpSp>
      <p:grpSp>
        <p:nvGrpSpPr>
          <p:cNvPr id="103" name="组合 102">
            <a:extLst>
              <a:ext uri="{FF2B5EF4-FFF2-40B4-BE49-F238E27FC236}">
                <a16:creationId xmlns:a16="http://schemas.microsoft.com/office/drawing/2014/main" id="{D02A40B3-0FEF-F7D2-8B36-E5683AFC63EA}"/>
              </a:ext>
            </a:extLst>
          </p:cNvPr>
          <p:cNvGrpSpPr/>
          <p:nvPr/>
        </p:nvGrpSpPr>
        <p:grpSpPr>
          <a:xfrm>
            <a:off x="8130368" y="2636086"/>
            <a:ext cx="2802408" cy="3112924"/>
            <a:chOff x="933749" y="2736673"/>
            <a:chExt cx="2802408" cy="3112924"/>
          </a:xfrm>
        </p:grpSpPr>
        <p:sp>
          <p:nvSpPr>
            <p:cNvPr id="104" name="椭圆 103">
              <a:extLst>
                <a:ext uri="{FF2B5EF4-FFF2-40B4-BE49-F238E27FC236}">
                  <a16:creationId xmlns:a16="http://schemas.microsoft.com/office/drawing/2014/main" id="{A408DDD1-C60A-69D8-D6C1-D5853298A23D}"/>
                </a:ext>
              </a:extLst>
            </p:cNvPr>
            <p:cNvSpPr/>
            <p:nvPr/>
          </p:nvSpPr>
          <p:spPr>
            <a:xfrm>
              <a:off x="1921977" y="2736673"/>
              <a:ext cx="471633" cy="471633"/>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105" name="椭圆 104">
              <a:extLst>
                <a:ext uri="{FF2B5EF4-FFF2-40B4-BE49-F238E27FC236}">
                  <a16:creationId xmlns:a16="http://schemas.microsoft.com/office/drawing/2014/main" id="{13D0C5F4-46D8-C7E7-C25C-9D9E90603957}"/>
                </a:ext>
              </a:extLst>
            </p:cNvPr>
            <p:cNvSpPr/>
            <p:nvPr/>
          </p:nvSpPr>
          <p:spPr>
            <a:xfrm>
              <a:off x="1569529" y="4518866"/>
              <a:ext cx="471633" cy="471633"/>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106" name="椭圆 105">
              <a:extLst>
                <a:ext uri="{FF2B5EF4-FFF2-40B4-BE49-F238E27FC236}">
                  <a16:creationId xmlns:a16="http://schemas.microsoft.com/office/drawing/2014/main" id="{C8712F3C-14B2-04E4-B151-7AB8C7BE9315}"/>
                </a:ext>
              </a:extLst>
            </p:cNvPr>
            <p:cNvSpPr/>
            <p:nvPr/>
          </p:nvSpPr>
          <p:spPr>
            <a:xfrm>
              <a:off x="933749" y="4565818"/>
              <a:ext cx="471633" cy="471633"/>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107" name="椭圆 106">
              <a:extLst>
                <a:ext uri="{FF2B5EF4-FFF2-40B4-BE49-F238E27FC236}">
                  <a16:creationId xmlns:a16="http://schemas.microsoft.com/office/drawing/2014/main" id="{D04D4302-5D4F-2BD4-7B2F-9AD470BA281E}"/>
                </a:ext>
              </a:extLst>
            </p:cNvPr>
            <p:cNvSpPr/>
            <p:nvPr/>
          </p:nvSpPr>
          <p:spPr>
            <a:xfrm>
              <a:off x="1839997" y="5377964"/>
              <a:ext cx="471633" cy="471633"/>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CN" altLang="en-US"/>
            </a:p>
          </p:txBody>
        </p:sp>
        <p:cxnSp>
          <p:nvCxnSpPr>
            <p:cNvPr id="108" name="直接连接符 107">
              <a:extLst>
                <a:ext uri="{FF2B5EF4-FFF2-40B4-BE49-F238E27FC236}">
                  <a16:creationId xmlns:a16="http://schemas.microsoft.com/office/drawing/2014/main" id="{9B9946AC-DB54-2B21-9EB9-3A158EBC94CF}"/>
                </a:ext>
              </a:extLst>
            </p:cNvPr>
            <p:cNvCxnSpPr>
              <a:cxnSpLocks/>
              <a:endCxn id="117" idx="0"/>
            </p:cNvCxnSpPr>
            <p:nvPr/>
          </p:nvCxnSpPr>
          <p:spPr>
            <a:xfrm flipH="1">
              <a:off x="2560358" y="4098950"/>
              <a:ext cx="420787" cy="416166"/>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9" name="直接连接符 108">
              <a:extLst>
                <a:ext uri="{FF2B5EF4-FFF2-40B4-BE49-F238E27FC236}">
                  <a16:creationId xmlns:a16="http://schemas.microsoft.com/office/drawing/2014/main" id="{223C9C9D-F499-4997-09CA-1E518D83CE0A}"/>
                </a:ext>
              </a:extLst>
            </p:cNvPr>
            <p:cNvCxnSpPr>
              <a:cxnSpLocks/>
              <a:stCxn id="104" idx="3"/>
              <a:endCxn id="113" idx="0"/>
            </p:cNvCxnSpPr>
            <p:nvPr/>
          </p:nvCxnSpPr>
          <p:spPr>
            <a:xfrm flipH="1">
              <a:off x="1514185" y="3139237"/>
              <a:ext cx="476861" cy="524939"/>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781D2E79-03CC-BB2D-E6DC-7141B0BFF682}"/>
                </a:ext>
              </a:extLst>
            </p:cNvPr>
            <p:cNvCxnSpPr>
              <a:cxnSpLocks/>
              <a:stCxn id="107" idx="0"/>
            </p:cNvCxnSpPr>
            <p:nvPr/>
          </p:nvCxnSpPr>
          <p:spPr>
            <a:xfrm flipV="1">
              <a:off x="2075814" y="4983477"/>
              <a:ext cx="458082" cy="39448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11" name="椭圆 110">
              <a:extLst>
                <a:ext uri="{FF2B5EF4-FFF2-40B4-BE49-F238E27FC236}">
                  <a16:creationId xmlns:a16="http://schemas.microsoft.com/office/drawing/2014/main" id="{367F81B9-7B44-71AF-9F20-5BCC2028B2FC}"/>
                </a:ext>
              </a:extLst>
            </p:cNvPr>
            <p:cNvSpPr/>
            <p:nvPr/>
          </p:nvSpPr>
          <p:spPr>
            <a:xfrm>
              <a:off x="3264524" y="4515116"/>
              <a:ext cx="471633" cy="471633"/>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cxnSp>
          <p:nvCxnSpPr>
            <p:cNvPr id="112" name="直接连接符 111">
              <a:extLst>
                <a:ext uri="{FF2B5EF4-FFF2-40B4-BE49-F238E27FC236}">
                  <a16:creationId xmlns:a16="http://schemas.microsoft.com/office/drawing/2014/main" id="{D94BDB40-BE46-909C-6578-853462197FE8}"/>
                </a:ext>
              </a:extLst>
            </p:cNvPr>
            <p:cNvCxnSpPr>
              <a:cxnSpLocks/>
              <a:endCxn id="111" idx="0"/>
            </p:cNvCxnSpPr>
            <p:nvPr/>
          </p:nvCxnSpPr>
          <p:spPr>
            <a:xfrm>
              <a:off x="3108439" y="4124379"/>
              <a:ext cx="391902" cy="39073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13" name="椭圆 112">
              <a:extLst>
                <a:ext uri="{FF2B5EF4-FFF2-40B4-BE49-F238E27FC236}">
                  <a16:creationId xmlns:a16="http://schemas.microsoft.com/office/drawing/2014/main" id="{FEFFFBDB-A260-41EE-CD89-F2EDBC1D0988}"/>
                </a:ext>
              </a:extLst>
            </p:cNvPr>
            <p:cNvSpPr/>
            <p:nvPr/>
          </p:nvSpPr>
          <p:spPr>
            <a:xfrm>
              <a:off x="1278368" y="3664176"/>
              <a:ext cx="471633" cy="471633"/>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dirty="0"/>
            </a:p>
          </p:txBody>
        </p:sp>
        <p:cxnSp>
          <p:nvCxnSpPr>
            <p:cNvPr id="114" name="直接连接符 113">
              <a:extLst>
                <a:ext uri="{FF2B5EF4-FFF2-40B4-BE49-F238E27FC236}">
                  <a16:creationId xmlns:a16="http://schemas.microsoft.com/office/drawing/2014/main" id="{5BFEA7EB-021C-9E99-1AB7-540AFFC6F8B9}"/>
                </a:ext>
              </a:extLst>
            </p:cNvPr>
            <p:cNvCxnSpPr>
              <a:cxnSpLocks/>
            </p:cNvCxnSpPr>
            <p:nvPr/>
          </p:nvCxnSpPr>
          <p:spPr>
            <a:xfrm>
              <a:off x="2173095" y="3231586"/>
              <a:ext cx="6690" cy="42911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15" name="椭圆 114">
              <a:extLst>
                <a:ext uri="{FF2B5EF4-FFF2-40B4-BE49-F238E27FC236}">
                  <a16:creationId xmlns:a16="http://schemas.microsoft.com/office/drawing/2014/main" id="{BDD61524-5389-6DE9-6B57-2042299B6D3F}"/>
                </a:ext>
              </a:extLst>
            </p:cNvPr>
            <p:cNvSpPr/>
            <p:nvPr/>
          </p:nvSpPr>
          <p:spPr>
            <a:xfrm>
              <a:off x="2771788" y="3660698"/>
              <a:ext cx="471633" cy="471633"/>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cxnSp>
          <p:nvCxnSpPr>
            <p:cNvPr id="116" name="直接连接符 115">
              <a:extLst>
                <a:ext uri="{FF2B5EF4-FFF2-40B4-BE49-F238E27FC236}">
                  <a16:creationId xmlns:a16="http://schemas.microsoft.com/office/drawing/2014/main" id="{C6E2D673-1B9E-40DF-2E92-251A6DBDD8F4}"/>
                </a:ext>
              </a:extLst>
            </p:cNvPr>
            <p:cNvCxnSpPr>
              <a:cxnSpLocks/>
              <a:stCxn id="104" idx="5"/>
              <a:endCxn id="115" idx="1"/>
            </p:cNvCxnSpPr>
            <p:nvPr/>
          </p:nvCxnSpPr>
          <p:spPr>
            <a:xfrm>
              <a:off x="2324541" y="3139237"/>
              <a:ext cx="516316" cy="59053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17" name="椭圆 116">
              <a:extLst>
                <a:ext uri="{FF2B5EF4-FFF2-40B4-BE49-F238E27FC236}">
                  <a16:creationId xmlns:a16="http://schemas.microsoft.com/office/drawing/2014/main" id="{FDB7D459-C2ED-92A9-2114-78A688B6753A}"/>
                </a:ext>
              </a:extLst>
            </p:cNvPr>
            <p:cNvSpPr/>
            <p:nvPr/>
          </p:nvSpPr>
          <p:spPr>
            <a:xfrm>
              <a:off x="2324541" y="4515116"/>
              <a:ext cx="471633" cy="47163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18" name="椭圆 117">
              <a:extLst>
                <a:ext uri="{FF2B5EF4-FFF2-40B4-BE49-F238E27FC236}">
                  <a16:creationId xmlns:a16="http://schemas.microsoft.com/office/drawing/2014/main" id="{D3D6FC9D-187C-5986-C279-2AF6AD9D6717}"/>
                </a:ext>
              </a:extLst>
            </p:cNvPr>
            <p:cNvSpPr/>
            <p:nvPr/>
          </p:nvSpPr>
          <p:spPr>
            <a:xfrm>
              <a:off x="1961431" y="3652746"/>
              <a:ext cx="471633" cy="471633"/>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cxnSp>
          <p:nvCxnSpPr>
            <p:cNvPr id="119" name="直接连接符 118">
              <a:extLst>
                <a:ext uri="{FF2B5EF4-FFF2-40B4-BE49-F238E27FC236}">
                  <a16:creationId xmlns:a16="http://schemas.microsoft.com/office/drawing/2014/main" id="{D5A36A0F-C130-3639-912F-D067D2CDCBE5}"/>
                </a:ext>
              </a:extLst>
            </p:cNvPr>
            <p:cNvCxnSpPr>
              <a:cxnSpLocks/>
              <a:endCxn id="105" idx="0"/>
            </p:cNvCxnSpPr>
            <p:nvPr/>
          </p:nvCxnSpPr>
          <p:spPr>
            <a:xfrm>
              <a:off x="1500226" y="4151492"/>
              <a:ext cx="305120" cy="367374"/>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0" name="直接连接符 119">
              <a:extLst>
                <a:ext uri="{FF2B5EF4-FFF2-40B4-BE49-F238E27FC236}">
                  <a16:creationId xmlns:a16="http://schemas.microsoft.com/office/drawing/2014/main" id="{DA8E2B07-D531-3346-AE25-4D59ACA5556E}"/>
                </a:ext>
              </a:extLst>
            </p:cNvPr>
            <p:cNvCxnSpPr>
              <a:cxnSpLocks/>
            </p:cNvCxnSpPr>
            <p:nvPr/>
          </p:nvCxnSpPr>
          <p:spPr>
            <a:xfrm flipH="1">
              <a:off x="1194793" y="4129626"/>
              <a:ext cx="305433" cy="442375"/>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21" name="文本框 120">
              <a:extLst>
                <a:ext uri="{FF2B5EF4-FFF2-40B4-BE49-F238E27FC236}">
                  <a16:creationId xmlns:a16="http://schemas.microsoft.com/office/drawing/2014/main" id="{66F86FBC-83D6-876E-858E-FEBFF6088018}"/>
                </a:ext>
              </a:extLst>
            </p:cNvPr>
            <p:cNvSpPr txBox="1"/>
            <p:nvPr/>
          </p:nvSpPr>
          <p:spPr>
            <a:xfrm>
              <a:off x="2114147" y="4254646"/>
              <a:ext cx="420787" cy="369332"/>
            </a:xfrm>
            <a:prstGeom prst="rect">
              <a:avLst/>
            </a:prstGeom>
            <a:noFill/>
          </p:spPr>
          <p:txBody>
            <a:bodyPr wrap="square" rtlCol="0">
              <a:spAutoFit/>
            </a:bodyPr>
            <a:lstStyle/>
            <a:p>
              <a:r>
                <a:rPr lang="en-US" altLang="zh-CN" b="1" dirty="0">
                  <a:solidFill>
                    <a:schemeClr val="accent2"/>
                  </a:solidFill>
                  <a:latin typeface="Times New Roman" panose="02020603050405020304" pitchFamily="18" charset="0"/>
                  <a:cs typeface="Times New Roman" panose="02020603050405020304" pitchFamily="18" charset="0"/>
                </a:rPr>
                <a:t>y</a:t>
              </a:r>
              <a:endParaRPr lang="zh-CN" altLang="en-US" b="1" dirty="0">
                <a:solidFill>
                  <a:schemeClr val="accent2"/>
                </a:solidFill>
                <a:latin typeface="Times New Roman" panose="02020603050405020304" pitchFamily="18" charset="0"/>
                <a:cs typeface="Times New Roman" panose="02020603050405020304" pitchFamily="18" charset="0"/>
              </a:endParaRPr>
            </a:p>
          </p:txBody>
        </p:sp>
        <p:sp>
          <p:nvSpPr>
            <p:cNvPr id="122" name="文本框 121">
              <a:extLst>
                <a:ext uri="{FF2B5EF4-FFF2-40B4-BE49-F238E27FC236}">
                  <a16:creationId xmlns:a16="http://schemas.microsoft.com/office/drawing/2014/main" id="{2C0522D8-3FED-F43E-3181-146E0EBC0F8B}"/>
                </a:ext>
              </a:extLst>
            </p:cNvPr>
            <p:cNvSpPr txBox="1"/>
            <p:nvPr/>
          </p:nvSpPr>
          <p:spPr>
            <a:xfrm>
              <a:off x="2325896" y="5428496"/>
              <a:ext cx="420787" cy="369332"/>
            </a:xfrm>
            <a:prstGeom prst="rect">
              <a:avLst/>
            </a:prstGeom>
            <a:noFill/>
          </p:spPr>
          <p:txBody>
            <a:bodyPr wrap="square" rtlCol="0">
              <a:spAutoFit/>
            </a:bodyPr>
            <a:lstStyle/>
            <a:p>
              <a:r>
                <a:rPr lang="en-US" altLang="zh-CN" b="1" dirty="0">
                  <a:solidFill>
                    <a:schemeClr val="accent2"/>
                  </a:solidFill>
                  <a:latin typeface="Times New Roman" panose="02020603050405020304" pitchFamily="18" charset="0"/>
                  <a:cs typeface="Times New Roman" panose="02020603050405020304" pitchFamily="18" charset="0"/>
                </a:rPr>
                <a:t>x</a:t>
              </a:r>
              <a:endParaRPr lang="zh-CN" altLang="en-US" b="1" dirty="0">
                <a:solidFill>
                  <a:schemeClr val="accent2"/>
                </a:solidFill>
                <a:latin typeface="Times New Roman" panose="02020603050405020304" pitchFamily="18" charset="0"/>
                <a:cs typeface="Times New Roman" panose="02020603050405020304" pitchFamily="18" charset="0"/>
              </a:endParaRPr>
            </a:p>
          </p:txBody>
        </p:sp>
        <p:sp>
          <p:nvSpPr>
            <p:cNvPr id="123" name="文本框 122">
              <a:extLst>
                <a:ext uri="{FF2B5EF4-FFF2-40B4-BE49-F238E27FC236}">
                  <a16:creationId xmlns:a16="http://schemas.microsoft.com/office/drawing/2014/main" id="{81441E31-E909-64A4-908F-40295AB1C388}"/>
                </a:ext>
              </a:extLst>
            </p:cNvPr>
            <p:cNvSpPr txBox="1"/>
            <p:nvPr/>
          </p:nvSpPr>
          <p:spPr>
            <a:xfrm>
              <a:off x="2455306" y="4981761"/>
              <a:ext cx="1189025" cy="369332"/>
            </a:xfrm>
            <a:prstGeom prst="rect">
              <a:avLst/>
            </a:prstGeom>
            <a:noFill/>
          </p:spPr>
          <p:txBody>
            <a:bodyPr wrap="square">
              <a:spAutoFit/>
            </a:bodyPr>
            <a:lstStyle/>
            <a:p>
              <a:r>
                <a:rPr lang="en-US" altLang="zh-CN" b="1" dirty="0">
                  <a:solidFill>
                    <a:schemeClr val="accent2"/>
                  </a:solidFill>
                  <a:latin typeface="Times New Roman" panose="02020603050405020304" pitchFamily="18" charset="0"/>
                  <a:cs typeface="Times New Roman" panose="02020603050405020304" pitchFamily="18" charset="0"/>
                </a:rPr>
                <a:t>LCA(</a:t>
              </a:r>
              <a:r>
                <a:rPr lang="en-US" altLang="zh-CN" b="1" dirty="0" err="1">
                  <a:solidFill>
                    <a:schemeClr val="accent2"/>
                  </a:solidFill>
                  <a:latin typeface="Times New Roman" panose="02020603050405020304" pitchFamily="18" charset="0"/>
                  <a:cs typeface="Times New Roman" panose="02020603050405020304" pitchFamily="18" charset="0"/>
                </a:rPr>
                <a:t>x,y</a:t>
              </a:r>
              <a:r>
                <a:rPr lang="en-US" altLang="zh-CN" b="1" dirty="0">
                  <a:solidFill>
                    <a:schemeClr val="accent2"/>
                  </a:solidFill>
                  <a:latin typeface="Times New Roman" panose="02020603050405020304" pitchFamily="18" charset="0"/>
                  <a:cs typeface="Times New Roman" panose="02020603050405020304" pitchFamily="18" charset="0"/>
                </a:rPr>
                <a:t>)</a:t>
              </a:r>
              <a:endParaRPr lang="zh-CN" altLang="en-US" b="1" dirty="0">
                <a:solidFill>
                  <a:schemeClr val="accent2"/>
                </a:solidFill>
                <a:latin typeface="Times New Roman" panose="02020603050405020304" pitchFamily="18" charset="0"/>
                <a:cs typeface="Times New Roman" panose="02020603050405020304" pitchFamily="18" charset="0"/>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最近公共祖先</a:t>
            </a:r>
            <a:r>
              <a:rPr lang="en-US" altLang="zh-CN" dirty="0"/>
              <a:t>LCA</a:t>
            </a:r>
            <a:endParaRPr lang="zh-CN" altLang="en-US" dirty="0"/>
          </a:p>
        </p:txBody>
      </p:sp>
      <p:sp>
        <p:nvSpPr>
          <p:cNvPr id="5" name="矩形 4"/>
          <p:cNvSpPr/>
          <p:nvPr/>
        </p:nvSpPr>
        <p:spPr>
          <a:xfrm>
            <a:off x="1025000" y="1361797"/>
            <a:ext cx="10060582" cy="3886770"/>
          </a:xfrm>
          <a:prstGeom prst="rect">
            <a:avLst/>
          </a:prstGeom>
        </p:spPr>
        <p:txBody>
          <a:bodyPr wrap="square">
            <a:spAutoFit/>
          </a:bodyPr>
          <a:lstStyle/>
          <a:p>
            <a:pPr>
              <a:lnSpc>
                <a:spcPct val="200000"/>
              </a:lnSpc>
              <a:spcBef>
                <a:spcPct val="50000"/>
              </a:spcBef>
            </a:pPr>
            <a:r>
              <a:rPr lang="en-US" altLang="zh-CN" noProof="1">
                <a:latin typeface="微软雅黑" panose="020B0503020204020204" pitchFamily="34" charset="-122"/>
                <a:ea typeface="微软雅黑" panose="020B0503020204020204" pitchFamily="34" charset="-122"/>
                <a:sym typeface="+mn-ea"/>
              </a:rPr>
              <a:t>LCA(x,y)</a:t>
            </a:r>
            <a:r>
              <a:rPr lang="zh-CN" altLang="en-US" noProof="1">
                <a:latin typeface="微软雅黑" panose="020B0503020204020204" pitchFamily="34" charset="-122"/>
                <a:ea typeface="微软雅黑" panose="020B0503020204020204" pitchFamily="34" charset="-122"/>
                <a:sym typeface="+mn-ea"/>
              </a:rPr>
              <a:t>是</a:t>
            </a:r>
            <a:r>
              <a:rPr lang="en-US" altLang="zh-CN" noProof="1">
                <a:latin typeface="微软雅黑" panose="020B0503020204020204" pitchFamily="34" charset="-122"/>
                <a:ea typeface="微软雅黑" panose="020B0503020204020204" pitchFamily="34" charset="-122"/>
                <a:sym typeface="+mn-ea"/>
              </a:rPr>
              <a:t>x</a:t>
            </a:r>
            <a:r>
              <a:rPr lang="zh-CN" altLang="en-US" noProof="1">
                <a:latin typeface="微软雅黑" panose="020B0503020204020204" pitchFamily="34" charset="-122"/>
                <a:ea typeface="微软雅黑" panose="020B0503020204020204" pitchFamily="34" charset="-122"/>
                <a:sym typeface="+mn-ea"/>
              </a:rPr>
              <a:t>到根的路径与</a:t>
            </a:r>
            <a:r>
              <a:rPr lang="en-US" altLang="zh-CN" noProof="1">
                <a:latin typeface="微软雅黑" panose="020B0503020204020204" pitchFamily="34" charset="-122"/>
                <a:ea typeface="微软雅黑" panose="020B0503020204020204" pitchFamily="34" charset="-122"/>
                <a:sym typeface="+mn-ea"/>
              </a:rPr>
              <a:t>y</a:t>
            </a:r>
            <a:r>
              <a:rPr lang="zh-CN" altLang="en-US" noProof="1">
                <a:latin typeface="微软雅黑" panose="020B0503020204020204" pitchFamily="34" charset="-122"/>
                <a:ea typeface="微软雅黑" panose="020B0503020204020204" pitchFamily="34" charset="-122"/>
                <a:sym typeface="+mn-ea"/>
              </a:rPr>
              <a:t>到根的路径的交会点。它也是</a:t>
            </a:r>
            <a:r>
              <a:rPr lang="en-US" altLang="zh-CN" noProof="1">
                <a:latin typeface="微软雅黑" panose="020B0503020204020204" pitchFamily="34" charset="-122"/>
                <a:ea typeface="微软雅黑" panose="020B0503020204020204" pitchFamily="34" charset="-122"/>
                <a:sym typeface="+mn-ea"/>
              </a:rPr>
              <a:t>x</a:t>
            </a:r>
            <a:r>
              <a:rPr lang="zh-CN" altLang="en-US" noProof="1">
                <a:latin typeface="微软雅黑" panose="020B0503020204020204" pitchFamily="34" charset="-122"/>
                <a:ea typeface="微软雅黑" panose="020B0503020204020204" pitchFamily="34" charset="-122"/>
                <a:sym typeface="+mn-ea"/>
              </a:rPr>
              <a:t>与</a:t>
            </a:r>
            <a:r>
              <a:rPr lang="en-US" altLang="zh-CN" noProof="1">
                <a:latin typeface="微软雅黑" panose="020B0503020204020204" pitchFamily="34" charset="-122"/>
                <a:ea typeface="微软雅黑" panose="020B0503020204020204" pitchFamily="34" charset="-122"/>
                <a:sym typeface="+mn-ea"/>
              </a:rPr>
              <a:t>y</a:t>
            </a:r>
            <a:r>
              <a:rPr lang="zh-CN" altLang="en-US" noProof="1">
                <a:latin typeface="微软雅黑" panose="020B0503020204020204" pitchFamily="34" charset="-122"/>
                <a:ea typeface="微软雅黑" panose="020B0503020204020204" pitchFamily="34" charset="-122"/>
                <a:sym typeface="+mn-ea"/>
              </a:rPr>
              <a:t>之间的路径上深度最小的节点。求最近公共祖先的方法通常有三种：</a:t>
            </a:r>
            <a:endParaRPr lang="en-US" altLang="zh-CN" noProof="1">
              <a:latin typeface="微软雅黑" panose="020B0503020204020204" pitchFamily="34" charset="-122"/>
              <a:ea typeface="微软雅黑" panose="020B0503020204020204" pitchFamily="34" charset="-122"/>
              <a:sym typeface="+mn-ea"/>
            </a:endParaRPr>
          </a:p>
          <a:p>
            <a:pPr>
              <a:lnSpc>
                <a:spcPct val="200000"/>
              </a:lnSpc>
              <a:spcBef>
                <a:spcPct val="50000"/>
              </a:spcBef>
            </a:pPr>
            <a:r>
              <a:rPr lang="en-US" altLang="zh-CN" b="1" noProof="1">
                <a:solidFill>
                  <a:schemeClr val="accent2"/>
                </a:solidFill>
                <a:latin typeface="微软雅黑" panose="020B0503020204020204" pitchFamily="34" charset="-122"/>
                <a:ea typeface="微软雅黑" panose="020B0503020204020204" pitchFamily="34" charset="-122"/>
              </a:rPr>
              <a:t>1.</a:t>
            </a:r>
            <a:r>
              <a:rPr lang="zh-CN" altLang="en-US" b="1" noProof="1">
                <a:solidFill>
                  <a:schemeClr val="accent2"/>
                </a:solidFill>
                <a:latin typeface="微软雅黑" panose="020B0503020204020204" pitchFamily="34" charset="-122"/>
                <a:ea typeface="微软雅黑" panose="020B0503020204020204" pitchFamily="34" charset="-122"/>
              </a:rPr>
              <a:t>向上标记法</a:t>
            </a:r>
            <a:endParaRPr lang="en-US" altLang="zh-CN" b="1" noProof="1">
              <a:solidFill>
                <a:schemeClr val="accent2"/>
              </a:solidFill>
              <a:latin typeface="微软雅黑" panose="020B0503020204020204" pitchFamily="34" charset="-122"/>
              <a:ea typeface="微软雅黑" panose="020B0503020204020204" pitchFamily="34" charset="-122"/>
            </a:endParaRPr>
          </a:p>
          <a:p>
            <a:pPr>
              <a:lnSpc>
                <a:spcPct val="200000"/>
              </a:lnSpc>
              <a:spcBef>
                <a:spcPct val="50000"/>
              </a:spcBef>
            </a:pPr>
            <a:r>
              <a:rPr lang="zh-CN" altLang="en-US" noProof="1">
                <a:latin typeface="微软雅黑" panose="020B0503020204020204" pitchFamily="34" charset="-122"/>
                <a:ea typeface="微软雅黑" panose="020B0503020204020204" pitchFamily="34" charset="-122"/>
              </a:rPr>
              <a:t>从</a:t>
            </a:r>
            <a:r>
              <a:rPr lang="en-US" altLang="zh-CN" noProof="1">
                <a:latin typeface="微软雅黑" panose="020B0503020204020204" pitchFamily="34" charset="-122"/>
                <a:ea typeface="微软雅黑" panose="020B0503020204020204" pitchFamily="34" charset="-122"/>
              </a:rPr>
              <a:t>x</a:t>
            </a:r>
            <a:r>
              <a:rPr lang="zh-CN" altLang="en-US" noProof="1">
                <a:latin typeface="微软雅黑" panose="020B0503020204020204" pitchFamily="34" charset="-122"/>
                <a:ea typeface="微软雅黑" panose="020B0503020204020204" pitchFamily="34" charset="-122"/>
              </a:rPr>
              <a:t>向上走到根节点，并标记所有经过的节点。</a:t>
            </a:r>
            <a:endParaRPr lang="en-US" altLang="zh-CN" noProof="1">
              <a:latin typeface="微软雅黑" panose="020B0503020204020204" pitchFamily="34" charset="-122"/>
              <a:ea typeface="微软雅黑" panose="020B0503020204020204" pitchFamily="34" charset="-122"/>
            </a:endParaRPr>
          </a:p>
          <a:p>
            <a:pPr>
              <a:lnSpc>
                <a:spcPct val="200000"/>
              </a:lnSpc>
              <a:spcBef>
                <a:spcPct val="50000"/>
              </a:spcBef>
            </a:pPr>
            <a:r>
              <a:rPr lang="zh-CN" altLang="en-US" noProof="1">
                <a:latin typeface="微软雅黑" panose="020B0503020204020204" pitchFamily="34" charset="-122"/>
                <a:ea typeface="微软雅黑" panose="020B0503020204020204" pitchFamily="34" charset="-122"/>
              </a:rPr>
              <a:t>从</a:t>
            </a:r>
            <a:r>
              <a:rPr lang="en-US" altLang="zh-CN" noProof="1">
                <a:latin typeface="微软雅黑" panose="020B0503020204020204" pitchFamily="34" charset="-122"/>
                <a:ea typeface="微软雅黑" panose="020B0503020204020204" pitchFamily="34" charset="-122"/>
              </a:rPr>
              <a:t>y</a:t>
            </a:r>
            <a:r>
              <a:rPr lang="zh-CN" altLang="en-US" noProof="1">
                <a:latin typeface="微软雅黑" panose="020B0503020204020204" pitchFamily="34" charset="-122"/>
                <a:ea typeface="微软雅黑" panose="020B0503020204020204" pitchFamily="34" charset="-122"/>
              </a:rPr>
              <a:t>向上走到根节点，当第一次遇到已标记的节点时，就找到了</a:t>
            </a:r>
            <a:r>
              <a:rPr lang="en-US" altLang="zh-CN" noProof="1">
                <a:latin typeface="微软雅黑" panose="020B0503020204020204" pitchFamily="34" charset="-122"/>
                <a:ea typeface="微软雅黑" panose="020B0503020204020204" pitchFamily="34" charset="-122"/>
                <a:sym typeface="+mn-ea"/>
              </a:rPr>
              <a:t>LCA(x,y)</a:t>
            </a:r>
            <a:r>
              <a:rPr lang="zh-CN" altLang="en-US" noProof="1">
                <a:latin typeface="微软雅黑" panose="020B0503020204020204" pitchFamily="34" charset="-122"/>
                <a:ea typeface="微软雅黑" panose="020B0503020204020204" pitchFamily="34" charset="-122"/>
                <a:sym typeface="+mn-ea"/>
              </a:rPr>
              <a:t>。</a:t>
            </a:r>
            <a:endParaRPr lang="en-US" altLang="zh-CN" noProof="1">
              <a:latin typeface="微软雅黑" panose="020B0503020204020204" pitchFamily="34" charset="-122"/>
              <a:ea typeface="微软雅黑" panose="020B0503020204020204" pitchFamily="34" charset="-122"/>
              <a:sym typeface="+mn-ea"/>
            </a:endParaRPr>
          </a:p>
          <a:p>
            <a:pPr>
              <a:lnSpc>
                <a:spcPct val="200000"/>
              </a:lnSpc>
              <a:spcBef>
                <a:spcPct val="50000"/>
              </a:spcBef>
            </a:pPr>
            <a:r>
              <a:rPr lang="zh-CN" altLang="en-US" noProof="1">
                <a:latin typeface="微软雅黑" panose="020B0503020204020204" pitchFamily="34" charset="-122"/>
                <a:ea typeface="微软雅黑" panose="020B0503020204020204" pitchFamily="34" charset="-122"/>
              </a:rPr>
              <a:t>对于每个询问，向上标记法的时间复杂度最坏为</a:t>
            </a:r>
            <a:r>
              <a:rPr lang="en-US" altLang="zh-CN" b="1" noProof="1">
                <a:solidFill>
                  <a:schemeClr val="accent2"/>
                </a:solidFill>
                <a:latin typeface="微软雅黑" panose="020B0503020204020204" pitchFamily="34" charset="-122"/>
                <a:ea typeface="微软雅黑" panose="020B0503020204020204" pitchFamily="34" charset="-122"/>
              </a:rPr>
              <a:t>O(n)</a:t>
            </a:r>
            <a:r>
              <a:rPr lang="zh-CN" altLang="en-US" noProof="1">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3414427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最近公共祖先</a:t>
            </a:r>
            <a:r>
              <a:rPr lang="en-US" altLang="zh-CN" dirty="0"/>
              <a:t>LCA</a:t>
            </a:r>
            <a:endParaRPr lang="zh-CN" altLang="en-US" dirty="0"/>
          </a:p>
        </p:txBody>
      </p:sp>
      <mc:AlternateContent xmlns:mc="http://schemas.openxmlformats.org/markup-compatibility/2006" xmlns:a14="http://schemas.microsoft.com/office/drawing/2010/main">
        <mc:Choice Requires="a14">
          <p:sp>
            <p:nvSpPr>
              <p:cNvPr id="5" name="矩形 4"/>
              <p:cNvSpPr/>
              <p:nvPr/>
            </p:nvSpPr>
            <p:spPr>
              <a:xfrm>
                <a:off x="1025000" y="1361797"/>
                <a:ext cx="10060582" cy="4333046"/>
              </a:xfrm>
              <a:prstGeom prst="rect">
                <a:avLst/>
              </a:prstGeom>
            </p:spPr>
            <p:txBody>
              <a:bodyPr wrap="square">
                <a:spAutoFit/>
              </a:bodyPr>
              <a:lstStyle/>
              <a:p>
                <a:pPr>
                  <a:lnSpc>
                    <a:spcPct val="200000"/>
                  </a:lnSpc>
                  <a:spcBef>
                    <a:spcPct val="50000"/>
                  </a:spcBef>
                </a:pPr>
                <a:r>
                  <a:rPr lang="en-US" altLang="zh-CN" b="1" noProof="1">
                    <a:solidFill>
                      <a:schemeClr val="accent2"/>
                    </a:solidFill>
                    <a:latin typeface="微软雅黑" panose="020B0503020204020204" pitchFamily="34" charset="-122"/>
                    <a:ea typeface="微软雅黑" panose="020B0503020204020204" pitchFamily="34" charset="-122"/>
                  </a:rPr>
                  <a:t>2.</a:t>
                </a:r>
                <a:r>
                  <a:rPr lang="zh-CN" altLang="en-US" b="1" noProof="1">
                    <a:solidFill>
                      <a:schemeClr val="accent2"/>
                    </a:solidFill>
                    <a:latin typeface="微软雅黑" panose="020B0503020204020204" pitchFamily="34" charset="-122"/>
                    <a:ea typeface="微软雅黑" panose="020B0503020204020204" pitchFamily="34" charset="-122"/>
                  </a:rPr>
                  <a:t>树上倍增法</a:t>
                </a:r>
                <a:endParaRPr lang="en-US" altLang="zh-CN" b="1" noProof="1">
                  <a:solidFill>
                    <a:schemeClr val="accent2"/>
                  </a:solidFill>
                  <a:latin typeface="微软雅黑" panose="020B0503020204020204" pitchFamily="34" charset="-122"/>
                  <a:ea typeface="微软雅黑" panose="020B0503020204020204" pitchFamily="34" charset="-122"/>
                </a:endParaRPr>
              </a:p>
              <a:p>
                <a:pPr>
                  <a:lnSpc>
                    <a:spcPct val="200000"/>
                  </a:lnSpc>
                  <a:spcBef>
                    <a:spcPct val="50000"/>
                  </a:spcBef>
                </a:pPr>
                <a:r>
                  <a:rPr lang="zh-CN" altLang="en-US" noProof="1">
                    <a:latin typeface="微软雅黑" panose="020B0503020204020204" pitchFamily="34" charset="-122"/>
                    <a:ea typeface="微软雅黑" panose="020B0503020204020204" pitchFamily="34" charset="-122"/>
                  </a:rPr>
                  <a:t>设</a:t>
                </a:r>
                <a:r>
                  <a:rPr lang="en-US" altLang="zh-CN" noProof="1">
                    <a:latin typeface="微软雅黑" panose="020B0503020204020204" pitchFamily="34" charset="-122"/>
                    <a:ea typeface="微软雅黑" panose="020B0503020204020204" pitchFamily="34" charset="-122"/>
                  </a:rPr>
                  <a:t>F[x][k]</a:t>
                </a:r>
                <a:r>
                  <a:rPr lang="zh-CN" altLang="en-US" noProof="1">
                    <a:latin typeface="微软雅黑" panose="020B0503020204020204" pitchFamily="34" charset="-122"/>
                    <a:ea typeface="微软雅黑" panose="020B0503020204020204" pitchFamily="34" charset="-122"/>
                  </a:rPr>
                  <a:t>表示</a:t>
                </a:r>
                <a:r>
                  <a:rPr lang="en-US" altLang="zh-CN" noProof="1">
                    <a:latin typeface="微软雅黑" panose="020B0503020204020204" pitchFamily="34" charset="-122"/>
                    <a:ea typeface="微软雅黑" panose="020B0503020204020204" pitchFamily="34" charset="-122"/>
                  </a:rPr>
                  <a:t>x</a:t>
                </a:r>
                <a:r>
                  <a:rPr lang="zh-CN" altLang="en-US" noProof="1">
                    <a:latin typeface="微软雅黑" panose="020B0503020204020204" pitchFamily="34" charset="-122"/>
                    <a:ea typeface="微软雅黑" panose="020B0503020204020204" pitchFamily="34" charset="-122"/>
                  </a:rPr>
                  <a:t>的</a:t>
                </a:r>
                <a14:m>
                  <m:oMath xmlns:m="http://schemas.openxmlformats.org/officeDocument/2006/math">
                    <m:sSup>
                      <m:sSupPr>
                        <m:ctrlPr>
                          <a:rPr lang="en-US" altLang="zh-CN" i="1" noProof="1" smtClean="0">
                            <a:latin typeface="Cambria Math" panose="02040503050406030204" pitchFamily="18" charset="0"/>
                            <a:ea typeface="微软雅黑" panose="020B0503020204020204" pitchFamily="34" charset="-122"/>
                          </a:rPr>
                        </m:ctrlPr>
                      </m:sSupPr>
                      <m:e>
                        <m:r>
                          <a:rPr lang="en-US" altLang="zh-CN" b="0" i="1" noProof="1" smtClean="0">
                            <a:latin typeface="Cambria Math" panose="02040503050406030204" pitchFamily="18" charset="0"/>
                            <a:ea typeface="微软雅黑" panose="020B0503020204020204" pitchFamily="34" charset="-122"/>
                          </a:rPr>
                          <m:t>2</m:t>
                        </m:r>
                      </m:e>
                      <m:sup>
                        <m:r>
                          <m:rPr>
                            <m:sty m:val="p"/>
                          </m:rPr>
                          <a:rPr lang="en-US" altLang="zh-CN" i="1" noProof="1">
                            <a:latin typeface="Cambria Math" panose="02040503050406030204" pitchFamily="18" charset="0"/>
                            <a:ea typeface="微软雅黑" panose="020B0503020204020204" pitchFamily="34" charset="-122"/>
                          </a:rPr>
                          <m:t>k</m:t>
                        </m:r>
                      </m:sup>
                    </m:sSup>
                  </m:oMath>
                </a14:m>
                <a:r>
                  <a:rPr lang="zh-CN" altLang="en-US" noProof="1">
                    <a:latin typeface="微软雅黑" panose="020B0503020204020204" pitchFamily="34" charset="-122"/>
                    <a:ea typeface="微软雅黑" panose="020B0503020204020204" pitchFamily="34" charset="-122"/>
                  </a:rPr>
                  <a:t>辈祖先，即从</a:t>
                </a:r>
                <a:r>
                  <a:rPr lang="en-US" altLang="zh-CN" noProof="1">
                    <a:latin typeface="微软雅黑" panose="020B0503020204020204" pitchFamily="34" charset="-122"/>
                    <a:ea typeface="微软雅黑" panose="020B0503020204020204" pitchFamily="34" charset="-122"/>
                  </a:rPr>
                  <a:t>x</a:t>
                </a:r>
                <a:r>
                  <a:rPr lang="zh-CN" altLang="en-US" noProof="1">
                    <a:latin typeface="微软雅黑" panose="020B0503020204020204" pitchFamily="34" charset="-122"/>
                    <a:ea typeface="微软雅黑" panose="020B0503020204020204" pitchFamily="34" charset="-122"/>
                  </a:rPr>
                  <a:t>向根节点走</a:t>
                </a:r>
                <a14:m>
                  <m:oMath xmlns:m="http://schemas.openxmlformats.org/officeDocument/2006/math">
                    <m:sSup>
                      <m:sSupPr>
                        <m:ctrlPr>
                          <a:rPr lang="en-US" altLang="zh-CN" i="1" noProof="1">
                            <a:latin typeface="Cambria Math" panose="02040503050406030204" pitchFamily="18" charset="0"/>
                            <a:ea typeface="微软雅黑" panose="020B0503020204020204" pitchFamily="34" charset="-122"/>
                          </a:rPr>
                        </m:ctrlPr>
                      </m:sSupPr>
                      <m:e>
                        <m:r>
                          <a:rPr lang="en-US" altLang="zh-CN" i="1" noProof="1">
                            <a:latin typeface="Cambria Math" panose="02040503050406030204" pitchFamily="18" charset="0"/>
                            <a:ea typeface="微软雅黑" panose="020B0503020204020204" pitchFamily="34" charset="-122"/>
                          </a:rPr>
                          <m:t>2</m:t>
                        </m:r>
                      </m:e>
                      <m:sup>
                        <m:r>
                          <m:rPr>
                            <m:sty m:val="p"/>
                          </m:rPr>
                          <a:rPr lang="en-US" altLang="zh-CN" i="1" noProof="1">
                            <a:latin typeface="Cambria Math" panose="02040503050406030204" pitchFamily="18" charset="0"/>
                            <a:ea typeface="微软雅黑" panose="020B0503020204020204" pitchFamily="34" charset="-122"/>
                          </a:rPr>
                          <m:t>k</m:t>
                        </m:r>
                      </m:sup>
                    </m:sSup>
                  </m:oMath>
                </a14:m>
                <a:r>
                  <a:rPr lang="zh-CN" altLang="en-US" noProof="1">
                    <a:latin typeface="微软雅黑" panose="020B0503020204020204" pitchFamily="34" charset="-122"/>
                    <a:ea typeface="微软雅黑" panose="020B0503020204020204" pitchFamily="34" charset="-122"/>
                  </a:rPr>
                  <a:t>步到达的节点。特别地，若该节点不存在，则令</a:t>
                </a:r>
                <a:r>
                  <a:rPr lang="en-US" altLang="zh-CN" noProof="1">
                    <a:latin typeface="微软雅黑" panose="020B0503020204020204" pitchFamily="34" charset="-122"/>
                    <a:ea typeface="微软雅黑" panose="020B0503020204020204" pitchFamily="34" charset="-122"/>
                  </a:rPr>
                  <a:t>F[x][k]=0</a:t>
                </a:r>
                <a:r>
                  <a:rPr lang="zh-CN" altLang="en-US" noProof="1">
                    <a:latin typeface="微软雅黑" panose="020B0503020204020204" pitchFamily="34" charset="-122"/>
                    <a:ea typeface="微软雅黑" panose="020B0503020204020204" pitchFamily="34" charset="-122"/>
                  </a:rPr>
                  <a:t>。</a:t>
                </a:r>
                <a:r>
                  <a:rPr lang="en-US" altLang="zh-CN" noProof="1">
                    <a:latin typeface="微软雅黑" panose="020B0503020204020204" pitchFamily="34" charset="-122"/>
                    <a:ea typeface="微软雅黑" panose="020B0503020204020204" pitchFamily="34" charset="-122"/>
                  </a:rPr>
                  <a:t> F[x][0]</a:t>
                </a:r>
                <a:r>
                  <a:rPr lang="zh-CN" altLang="en-US" noProof="1">
                    <a:latin typeface="微软雅黑" panose="020B0503020204020204" pitchFamily="34" charset="-122"/>
                    <a:ea typeface="微软雅黑" panose="020B0503020204020204" pitchFamily="34" charset="-122"/>
                  </a:rPr>
                  <a:t>就是</a:t>
                </a:r>
                <a:r>
                  <a:rPr lang="en-US" altLang="zh-CN" noProof="1">
                    <a:latin typeface="微软雅黑" panose="020B0503020204020204" pitchFamily="34" charset="-122"/>
                    <a:ea typeface="微软雅黑" panose="020B0503020204020204" pitchFamily="34" charset="-122"/>
                  </a:rPr>
                  <a:t>x</a:t>
                </a:r>
                <a:r>
                  <a:rPr lang="zh-CN" altLang="en-US" noProof="1">
                    <a:latin typeface="微软雅黑" panose="020B0503020204020204" pitchFamily="34" charset="-122"/>
                    <a:ea typeface="微软雅黑" panose="020B0503020204020204" pitchFamily="34" charset="-122"/>
                  </a:rPr>
                  <a:t>的父节点。除此之外，</a:t>
                </a:r>
                <a14:m>
                  <m:oMath xmlns:m="http://schemas.openxmlformats.org/officeDocument/2006/math">
                    <m:r>
                      <a:rPr lang="en-US" altLang="zh-CN" b="0" i="0" noProof="1" smtClean="0">
                        <a:latin typeface="Cambria Math" panose="02040503050406030204" pitchFamily="18" charset="0"/>
                        <a:ea typeface="微软雅黑" panose="020B0503020204020204" pitchFamily="34" charset="-122"/>
                      </a:rPr>
                      <m:t>1</m:t>
                    </m:r>
                    <m:r>
                      <a:rPr lang="zh-CN" altLang="en-US" i="1" noProof="1" smtClean="0">
                        <a:latin typeface="Cambria Math" panose="02040503050406030204" pitchFamily="18" charset="0"/>
                        <a:ea typeface="微软雅黑" panose="020B0503020204020204" pitchFamily="34" charset="-122"/>
                      </a:rPr>
                      <m:t>≤</m:t>
                    </m:r>
                  </m:oMath>
                </a14:m>
                <a:r>
                  <a:rPr lang="en-US" altLang="zh-CN" noProof="1">
                    <a:latin typeface="微软雅黑" panose="020B0503020204020204" pitchFamily="34" charset="-122"/>
                    <a:ea typeface="微软雅黑" panose="020B0503020204020204" pitchFamily="34" charset="-122"/>
                  </a:rPr>
                  <a:t>k</a:t>
                </a:r>
                <a14:m>
                  <m:oMath xmlns:m="http://schemas.openxmlformats.org/officeDocument/2006/math">
                    <m:r>
                      <a:rPr lang="en-US" altLang="zh-CN" i="1" noProof="1" smtClean="0">
                        <a:latin typeface="Cambria Math" panose="02040503050406030204" pitchFamily="18" charset="0"/>
                        <a:ea typeface="Cambria Math" panose="02040503050406030204" pitchFamily="18" charset="0"/>
                      </a:rPr>
                      <m:t>≤</m:t>
                    </m:r>
                    <m:func>
                      <m:funcPr>
                        <m:ctrlPr>
                          <a:rPr lang="en-US" altLang="zh-CN" i="1" noProof="1" smtClean="0">
                            <a:latin typeface="Cambria Math" panose="02040503050406030204" pitchFamily="18" charset="0"/>
                            <a:ea typeface="Cambria Math" panose="02040503050406030204" pitchFamily="18" charset="0"/>
                          </a:rPr>
                        </m:ctrlPr>
                      </m:funcPr>
                      <m:fName>
                        <m:r>
                          <m:rPr>
                            <m:sty m:val="p"/>
                          </m:rPr>
                          <a:rPr lang="en-US" altLang="zh-CN" i="0" noProof="1" smtClean="0">
                            <a:latin typeface="Cambria Math" panose="02040503050406030204" pitchFamily="18" charset="0"/>
                            <a:ea typeface="Cambria Math" panose="02040503050406030204" pitchFamily="18" charset="0"/>
                          </a:rPr>
                          <m:t>log</m:t>
                        </m:r>
                      </m:fName>
                      <m:e>
                        <m:r>
                          <a:rPr lang="en-US" altLang="zh-CN" b="0" i="1" noProof="1" smtClean="0">
                            <a:latin typeface="Cambria Math" panose="02040503050406030204" pitchFamily="18" charset="0"/>
                            <a:ea typeface="Cambria Math" panose="02040503050406030204" pitchFamily="18" charset="0"/>
                          </a:rPr>
                          <m:t>𝑛</m:t>
                        </m:r>
                      </m:e>
                    </m:func>
                  </m:oMath>
                </a14:m>
                <a:endParaRPr lang="en-US" altLang="zh-CN" noProof="1">
                  <a:latin typeface="微软雅黑" panose="020B0503020204020204" pitchFamily="34" charset="-122"/>
                  <a:ea typeface="微软雅黑" panose="020B0503020204020204" pitchFamily="34" charset="-122"/>
                </a:endParaRPr>
              </a:p>
              <a:p>
                <a:pPr>
                  <a:lnSpc>
                    <a:spcPct val="200000"/>
                  </a:lnSpc>
                  <a:spcBef>
                    <a:spcPct val="50000"/>
                  </a:spcBef>
                </a:pPr>
                <a:r>
                  <a:rPr lang="zh-CN" altLang="en-US" b="1" noProof="1">
                    <a:solidFill>
                      <a:schemeClr val="accent2"/>
                    </a:solidFill>
                    <a:latin typeface="微软雅黑" panose="020B0503020204020204" pitchFamily="34" charset="-122"/>
                    <a:ea typeface="微软雅黑" panose="020B0503020204020204" pitchFamily="34" charset="-122"/>
                  </a:rPr>
                  <a:t>倍增式子：</a:t>
                </a:r>
                <a:r>
                  <a:rPr lang="en-US" altLang="zh-CN" b="1" noProof="1">
                    <a:solidFill>
                      <a:schemeClr val="accent2"/>
                    </a:solidFill>
                    <a:latin typeface="微软雅黑" panose="020B0503020204020204" pitchFamily="34" charset="-122"/>
                    <a:ea typeface="微软雅黑" panose="020B0503020204020204" pitchFamily="34" charset="-122"/>
                  </a:rPr>
                  <a:t>F[x][k]=F[F[x][k-1]][k-1]</a:t>
                </a:r>
              </a:p>
              <a:p>
                <a:pPr>
                  <a:lnSpc>
                    <a:spcPct val="200000"/>
                  </a:lnSpc>
                  <a:spcBef>
                    <a:spcPct val="50000"/>
                  </a:spcBef>
                </a:pPr>
                <a:r>
                  <a:rPr lang="zh-CN" altLang="en-US" noProof="1">
                    <a:latin typeface="微软雅黑" panose="020B0503020204020204" pitchFamily="34" charset="-122"/>
                    <a:ea typeface="微软雅黑" panose="020B0503020204020204" pitchFamily="34" charset="-122"/>
                  </a:rPr>
                  <a:t>这是一个动态规划转移方程，阶段是节点的深度。因此，可以对树进行广度优先遍历，按照层次顺序，在节点入队前，预处理</a:t>
                </a:r>
                <a:r>
                  <a:rPr lang="en-US" altLang="zh-CN" noProof="1">
                    <a:latin typeface="微软雅黑" panose="020B0503020204020204" pitchFamily="34" charset="-122"/>
                    <a:ea typeface="微软雅黑" panose="020B0503020204020204" pitchFamily="34" charset="-122"/>
                  </a:rPr>
                  <a:t>F</a:t>
                </a:r>
                <a:r>
                  <a:rPr lang="zh-CN" altLang="en-US" noProof="1">
                    <a:latin typeface="微软雅黑" panose="020B0503020204020204" pitchFamily="34" charset="-122"/>
                    <a:ea typeface="微软雅黑" panose="020B0503020204020204" pitchFamily="34" charset="-122"/>
                  </a:rPr>
                  <a:t>数组的值，时间复杂度为</a:t>
                </a:r>
                <a:r>
                  <a:rPr lang="en-US" altLang="zh-CN" noProof="1">
                    <a:latin typeface="微软雅黑" panose="020B0503020204020204" pitchFamily="34" charset="-122"/>
                    <a:ea typeface="微软雅黑" panose="020B0503020204020204" pitchFamily="34" charset="-122"/>
                  </a:rPr>
                  <a:t>O</a:t>
                </a:r>
                <a:r>
                  <a:rPr lang="zh-CN" altLang="en-US" noProof="1">
                    <a:latin typeface="微软雅黑" panose="020B0503020204020204" pitchFamily="34" charset="-122"/>
                    <a:ea typeface="微软雅黑" panose="020B0503020204020204" pitchFamily="34" charset="-122"/>
                  </a:rPr>
                  <a:t>（</a:t>
                </a:r>
                <a:r>
                  <a:rPr lang="en-US" altLang="zh-CN" noProof="1">
                    <a:ea typeface="Cambria Math" panose="02040503050406030204" pitchFamily="18" charset="0"/>
                  </a:rPr>
                  <a:t> </a:t>
                </a:r>
                <a14:m>
                  <m:oMath xmlns:m="http://schemas.openxmlformats.org/officeDocument/2006/math">
                    <m:func>
                      <m:funcPr>
                        <m:ctrlPr>
                          <a:rPr lang="en-US" altLang="zh-CN" i="1" noProof="1" smtClean="0">
                            <a:latin typeface="Cambria Math" panose="02040503050406030204" pitchFamily="18" charset="0"/>
                            <a:ea typeface="Cambria Math" panose="02040503050406030204" pitchFamily="18" charset="0"/>
                          </a:rPr>
                        </m:ctrlPr>
                      </m:funcPr>
                      <m:fName>
                        <m:r>
                          <m:rPr>
                            <m:sty m:val="p"/>
                          </m:rPr>
                          <a:rPr lang="en-US" altLang="zh-CN" i="0" noProof="1" smtClean="0">
                            <a:latin typeface="Cambria Math" panose="02040503050406030204" pitchFamily="18" charset="0"/>
                            <a:ea typeface="Cambria Math" panose="02040503050406030204" pitchFamily="18" charset="0"/>
                          </a:rPr>
                          <m:t>log</m:t>
                        </m:r>
                      </m:fName>
                      <m:e>
                        <m:r>
                          <a:rPr lang="en-US" altLang="zh-CN" b="0" i="1" noProof="1" smtClean="0">
                            <a:latin typeface="Cambria Math" panose="02040503050406030204" pitchFamily="18" charset="0"/>
                            <a:ea typeface="Cambria Math" panose="02040503050406030204" pitchFamily="18" charset="0"/>
                          </a:rPr>
                          <m:t>𝑛</m:t>
                        </m:r>
                      </m:e>
                    </m:func>
                    <m:r>
                      <a:rPr lang="en-US" altLang="zh-CN" b="0" i="1" noProof="1" smtClean="0">
                        <a:latin typeface="Cambria Math" panose="02040503050406030204" pitchFamily="18" charset="0"/>
                        <a:ea typeface="Cambria Math" panose="02040503050406030204" pitchFamily="18" charset="0"/>
                      </a:rPr>
                      <m:t> </m:t>
                    </m:r>
                  </m:oMath>
                </a14:m>
                <a:r>
                  <a:rPr lang="zh-CN" altLang="en-US" noProof="1">
                    <a:latin typeface="微软雅黑" panose="020B0503020204020204" pitchFamily="34" charset="-122"/>
                    <a:ea typeface="微软雅黑" panose="020B0503020204020204" pitchFamily="34" charset="-122"/>
                  </a:rPr>
                  <a:t>）。之后可以多次对不同的</a:t>
                </a:r>
                <a:r>
                  <a:rPr lang="en-US" altLang="zh-CN" noProof="1">
                    <a:latin typeface="微软雅黑" panose="020B0503020204020204" pitchFamily="34" charset="-122"/>
                    <a:ea typeface="微软雅黑" panose="020B0503020204020204" pitchFamily="34" charset="-122"/>
                  </a:rPr>
                  <a:t>x</a:t>
                </a:r>
                <a:r>
                  <a:rPr lang="zh-CN" altLang="en-US" noProof="1">
                    <a:latin typeface="微软雅黑" panose="020B0503020204020204" pitchFamily="34" charset="-122"/>
                    <a:ea typeface="微软雅黑" panose="020B0503020204020204" pitchFamily="34" charset="-122"/>
                  </a:rPr>
                  <a:t>，</a:t>
                </a:r>
                <a:r>
                  <a:rPr lang="en-US" altLang="zh-CN" noProof="1">
                    <a:latin typeface="微软雅黑" panose="020B0503020204020204" pitchFamily="34" charset="-122"/>
                    <a:ea typeface="微软雅黑" panose="020B0503020204020204" pitchFamily="34" charset="-122"/>
                  </a:rPr>
                  <a:t>y</a:t>
                </a:r>
                <a:r>
                  <a:rPr lang="zh-CN" altLang="en-US" noProof="1">
                    <a:latin typeface="微软雅黑" panose="020B0503020204020204" pitchFamily="34" charset="-122"/>
                    <a:ea typeface="微软雅黑" panose="020B0503020204020204" pitchFamily="34" charset="-122"/>
                  </a:rPr>
                  <a:t>计算</a:t>
                </a:r>
                <a:r>
                  <a:rPr lang="en-US" altLang="zh-CN" noProof="1">
                    <a:latin typeface="微软雅黑" panose="020B0503020204020204" pitchFamily="34" charset="-122"/>
                    <a:ea typeface="微软雅黑" panose="020B0503020204020204" pitchFamily="34" charset="-122"/>
                  </a:rPr>
                  <a:t>LCA</a:t>
                </a:r>
                <a:r>
                  <a:rPr lang="zh-CN" altLang="en-US" noProof="1">
                    <a:latin typeface="微软雅黑" panose="020B0503020204020204" pitchFamily="34" charset="-122"/>
                    <a:ea typeface="微软雅黑" panose="020B0503020204020204" pitchFamily="34" charset="-122"/>
                  </a:rPr>
                  <a:t>，每次询问的时间复杂度为</a:t>
                </a:r>
                <a:r>
                  <a:rPr lang="en-US" altLang="zh-CN" noProof="1">
                    <a:latin typeface="微软雅黑" panose="020B0503020204020204" pitchFamily="34" charset="-122"/>
                    <a:ea typeface="微软雅黑" panose="020B0503020204020204" pitchFamily="34" charset="-122"/>
                  </a:rPr>
                  <a:t>O</a:t>
                </a:r>
                <a:r>
                  <a:rPr lang="zh-CN" altLang="en-US" noProof="1">
                    <a:latin typeface="微软雅黑" panose="020B0503020204020204" pitchFamily="34" charset="-122"/>
                    <a:ea typeface="微软雅黑" panose="020B0503020204020204" pitchFamily="34" charset="-122"/>
                  </a:rPr>
                  <a:t>（</a:t>
                </a:r>
                <a:r>
                  <a:rPr lang="en-US" altLang="zh-CN" noProof="1">
                    <a:ea typeface="Cambria Math" panose="02040503050406030204" pitchFamily="18" charset="0"/>
                  </a:rPr>
                  <a:t> </a:t>
                </a:r>
                <a14:m>
                  <m:oMath xmlns:m="http://schemas.openxmlformats.org/officeDocument/2006/math">
                    <m:func>
                      <m:funcPr>
                        <m:ctrlPr>
                          <a:rPr lang="en-US" altLang="zh-CN" i="1" noProof="1">
                            <a:latin typeface="Cambria Math" panose="02040503050406030204" pitchFamily="18" charset="0"/>
                            <a:ea typeface="Cambria Math" panose="02040503050406030204" pitchFamily="18" charset="0"/>
                          </a:rPr>
                        </m:ctrlPr>
                      </m:funcPr>
                      <m:fName>
                        <m:r>
                          <m:rPr>
                            <m:sty m:val="p"/>
                          </m:rPr>
                          <a:rPr lang="en-US" altLang="zh-CN" noProof="1">
                            <a:latin typeface="Cambria Math" panose="02040503050406030204" pitchFamily="18" charset="0"/>
                            <a:ea typeface="Cambria Math" panose="02040503050406030204" pitchFamily="18" charset="0"/>
                          </a:rPr>
                          <m:t>log</m:t>
                        </m:r>
                      </m:fName>
                      <m:e>
                        <m:r>
                          <a:rPr lang="en-US" altLang="zh-CN" i="1" noProof="1">
                            <a:latin typeface="Cambria Math" panose="02040503050406030204" pitchFamily="18" charset="0"/>
                            <a:ea typeface="Cambria Math" panose="02040503050406030204" pitchFamily="18" charset="0"/>
                          </a:rPr>
                          <m:t>𝑛</m:t>
                        </m:r>
                      </m:e>
                    </m:func>
                    <m:r>
                      <a:rPr lang="en-US" altLang="zh-CN" i="1" noProof="1">
                        <a:latin typeface="Cambria Math" panose="02040503050406030204" pitchFamily="18" charset="0"/>
                        <a:ea typeface="Cambria Math" panose="02040503050406030204" pitchFamily="18" charset="0"/>
                      </a:rPr>
                      <m:t> </m:t>
                    </m:r>
                  </m:oMath>
                </a14:m>
                <a:r>
                  <a:rPr lang="zh-CN" altLang="en-US" noProof="1">
                    <a:latin typeface="微软雅黑" panose="020B0503020204020204" pitchFamily="34" charset="-122"/>
                    <a:ea typeface="微软雅黑" panose="020B0503020204020204" pitchFamily="34" charset="-122"/>
                  </a:rPr>
                  <a:t>）。</a:t>
                </a:r>
                <a:endParaRPr lang="en-US" altLang="zh-CN" noProof="1">
                  <a:latin typeface="微软雅黑" panose="020B0503020204020204" pitchFamily="34" charset="-122"/>
                  <a:ea typeface="微软雅黑" panose="020B0503020204020204" pitchFamily="34" charset="-122"/>
                </a:endParaRPr>
              </a:p>
            </p:txBody>
          </p:sp>
        </mc:Choice>
        <mc:Fallback xmlns="">
          <p:sp>
            <p:nvSpPr>
              <p:cNvPr id="5" name="矩形 4"/>
              <p:cNvSpPr>
                <a:spLocks noRot="1" noChangeAspect="1" noMove="1" noResize="1" noEditPoints="1" noAdjustHandles="1" noChangeArrowheads="1" noChangeShapeType="1" noTextEdit="1"/>
              </p:cNvSpPr>
              <p:nvPr/>
            </p:nvSpPr>
            <p:spPr>
              <a:xfrm>
                <a:off x="1025000" y="1361797"/>
                <a:ext cx="10060582" cy="4333046"/>
              </a:xfrm>
              <a:prstGeom prst="rect">
                <a:avLst/>
              </a:prstGeom>
              <a:blipFill>
                <a:blip r:embed="rId2" cstate="print"/>
                <a:stretch>
                  <a:fillRect l="-485" r="-485" b="-126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403837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最近公共祖先</a:t>
            </a:r>
            <a:r>
              <a:rPr lang="en-US" altLang="zh-CN" dirty="0"/>
              <a:t>LCA</a:t>
            </a:r>
            <a:endParaRPr lang="zh-CN" altLang="en-US" dirty="0"/>
          </a:p>
        </p:txBody>
      </p:sp>
      <mc:AlternateContent xmlns:mc="http://schemas.openxmlformats.org/markup-compatibility/2006" xmlns:a14="http://schemas.microsoft.com/office/drawing/2010/main">
        <mc:Choice Requires="a14">
          <p:sp>
            <p:nvSpPr>
              <p:cNvPr id="5" name="矩形 4"/>
              <p:cNvSpPr/>
              <p:nvPr/>
            </p:nvSpPr>
            <p:spPr>
              <a:xfrm>
                <a:off x="1025000" y="1361797"/>
                <a:ext cx="7032238" cy="4610045"/>
              </a:xfrm>
              <a:prstGeom prst="rect">
                <a:avLst/>
              </a:prstGeom>
            </p:spPr>
            <p:txBody>
              <a:bodyPr wrap="square">
                <a:spAutoFit/>
              </a:bodyPr>
              <a:lstStyle/>
              <a:p>
                <a:pPr>
                  <a:lnSpc>
                    <a:spcPct val="200000"/>
                  </a:lnSpc>
                  <a:spcBef>
                    <a:spcPct val="50000"/>
                  </a:spcBef>
                </a:pPr>
                <a:r>
                  <a:rPr lang="en-US" altLang="zh-CN" b="1" noProof="1">
                    <a:solidFill>
                      <a:schemeClr val="accent2"/>
                    </a:solidFill>
                    <a:latin typeface="微软雅黑" panose="020B0503020204020204" pitchFamily="34" charset="-122"/>
                    <a:ea typeface="微软雅黑" panose="020B0503020204020204" pitchFamily="34" charset="-122"/>
                  </a:rPr>
                  <a:t>2.</a:t>
                </a:r>
                <a:r>
                  <a:rPr lang="zh-CN" altLang="en-US" b="1" noProof="1">
                    <a:solidFill>
                      <a:schemeClr val="accent2"/>
                    </a:solidFill>
                    <a:latin typeface="微软雅黑" panose="020B0503020204020204" pitchFamily="34" charset="-122"/>
                    <a:ea typeface="微软雅黑" panose="020B0503020204020204" pitchFamily="34" charset="-122"/>
                  </a:rPr>
                  <a:t>树上倍增法</a:t>
                </a:r>
                <a:endParaRPr lang="en-US" altLang="zh-CN" b="1" noProof="1">
                  <a:solidFill>
                    <a:schemeClr val="accent2"/>
                  </a:solidFill>
                  <a:latin typeface="微软雅黑" panose="020B0503020204020204" pitchFamily="34" charset="-122"/>
                  <a:ea typeface="微软雅黑" panose="020B0503020204020204" pitchFamily="34" charset="-122"/>
                </a:endParaRPr>
              </a:p>
              <a:p>
                <a:pPr>
                  <a:lnSpc>
                    <a:spcPct val="200000"/>
                  </a:lnSpc>
                  <a:spcBef>
                    <a:spcPct val="50000"/>
                  </a:spcBef>
                </a:pPr>
                <a:r>
                  <a:rPr lang="zh-CN" altLang="en-US" noProof="1">
                    <a:latin typeface="微软雅黑" panose="020B0503020204020204" pitchFamily="34" charset="-122"/>
                    <a:ea typeface="微软雅黑" panose="020B0503020204020204" pitchFamily="34" charset="-122"/>
                  </a:rPr>
                  <a:t>基于</a:t>
                </a:r>
                <a:r>
                  <a:rPr lang="en-US" altLang="zh-CN" noProof="1">
                    <a:latin typeface="微软雅黑" panose="020B0503020204020204" pitchFamily="34" charset="-122"/>
                    <a:ea typeface="微软雅黑" panose="020B0503020204020204" pitchFamily="34" charset="-122"/>
                  </a:rPr>
                  <a:t>F</a:t>
                </a:r>
                <a:r>
                  <a:rPr lang="zh-CN" altLang="en-US" noProof="1">
                    <a:latin typeface="微软雅黑" panose="020B0503020204020204" pitchFamily="34" charset="-122"/>
                    <a:ea typeface="微软雅黑" panose="020B0503020204020204" pitchFamily="34" charset="-122"/>
                  </a:rPr>
                  <a:t>数组计算</a:t>
                </a:r>
                <a:r>
                  <a:rPr lang="en-US" altLang="zh-CN" noProof="1">
                    <a:latin typeface="微软雅黑" panose="020B0503020204020204" pitchFamily="34" charset="-122"/>
                    <a:ea typeface="微软雅黑" panose="020B0503020204020204" pitchFamily="34" charset="-122"/>
                    <a:sym typeface="+mn-ea"/>
                  </a:rPr>
                  <a:t>LCA(x,y)</a:t>
                </a:r>
                <a:r>
                  <a:rPr lang="zh-CN" altLang="en-US" noProof="1">
                    <a:latin typeface="微软雅黑" panose="020B0503020204020204" pitchFamily="34" charset="-122"/>
                    <a:ea typeface="微软雅黑" panose="020B0503020204020204" pitchFamily="34" charset="-122"/>
                    <a:sym typeface="+mn-ea"/>
                  </a:rPr>
                  <a:t>分为以下几步：</a:t>
                </a:r>
                <a:endParaRPr lang="en-US" altLang="zh-CN" noProof="1">
                  <a:latin typeface="微软雅黑" panose="020B0503020204020204" pitchFamily="34" charset="-122"/>
                  <a:ea typeface="微软雅黑" panose="020B0503020204020204" pitchFamily="34" charset="-122"/>
                  <a:sym typeface="+mn-ea"/>
                </a:endParaRPr>
              </a:p>
              <a:p>
                <a:pPr marL="285750" indent="-285750">
                  <a:lnSpc>
                    <a:spcPct val="200000"/>
                  </a:lnSpc>
                  <a:spcBef>
                    <a:spcPct val="50000"/>
                  </a:spcBef>
                  <a:buFont typeface="Wingdings" panose="05000000000000000000" pitchFamily="2" charset="2"/>
                  <a:buChar char="l"/>
                </a:pPr>
                <a:r>
                  <a:rPr lang="zh-CN" altLang="en-US" noProof="1">
                    <a:latin typeface="微软雅黑" panose="020B0503020204020204" pitchFamily="34" charset="-122"/>
                    <a:ea typeface="微软雅黑" panose="020B0503020204020204" pitchFamily="34" charset="-122"/>
                  </a:rPr>
                  <a:t>设</a:t>
                </a:r>
                <a:r>
                  <a:rPr lang="en-US" altLang="zh-CN" noProof="1">
                    <a:latin typeface="微软雅黑" panose="020B0503020204020204" pitchFamily="34" charset="-122"/>
                    <a:ea typeface="微软雅黑" panose="020B0503020204020204" pitchFamily="34" charset="-122"/>
                  </a:rPr>
                  <a:t>d[x]</a:t>
                </a:r>
                <a:r>
                  <a:rPr lang="zh-CN" altLang="en-US" noProof="1">
                    <a:latin typeface="微软雅黑" panose="020B0503020204020204" pitchFamily="34" charset="-122"/>
                    <a:ea typeface="微软雅黑" panose="020B0503020204020204" pitchFamily="34" charset="-122"/>
                  </a:rPr>
                  <a:t>表示</a:t>
                </a:r>
                <a:r>
                  <a:rPr lang="en-US" altLang="zh-CN" noProof="1">
                    <a:latin typeface="微软雅黑" panose="020B0503020204020204" pitchFamily="34" charset="-122"/>
                    <a:ea typeface="微软雅黑" panose="020B0503020204020204" pitchFamily="34" charset="-122"/>
                  </a:rPr>
                  <a:t>x</a:t>
                </a:r>
                <a:r>
                  <a:rPr lang="zh-CN" altLang="en-US" noProof="1">
                    <a:latin typeface="微软雅黑" panose="020B0503020204020204" pitchFamily="34" charset="-122"/>
                    <a:ea typeface="微软雅黑" panose="020B0503020204020204" pitchFamily="34" charset="-122"/>
                  </a:rPr>
                  <a:t>的深度。不妨设</a:t>
                </a:r>
                <a14:m>
                  <m:oMath xmlns:m="http://schemas.openxmlformats.org/officeDocument/2006/math">
                    <m:r>
                      <m:rPr>
                        <m:sty m:val="p"/>
                      </m:rPr>
                      <a:rPr lang="en-US" altLang="zh-CN" i="1" noProof="1">
                        <a:latin typeface="Cambria Math" panose="02040503050406030204" pitchFamily="18" charset="0"/>
                        <a:ea typeface="Cambria Math" panose="02040503050406030204" pitchFamily="18" charset="0"/>
                      </a:rPr>
                      <m:t>d</m:t>
                    </m:r>
                    <m:r>
                      <a:rPr lang="en-US" altLang="zh-CN" b="0" i="1" noProof="1" smtClean="0">
                        <a:latin typeface="Cambria Math" panose="02040503050406030204" pitchFamily="18" charset="0"/>
                        <a:ea typeface="Cambria Math" panose="02040503050406030204" pitchFamily="18" charset="0"/>
                      </a:rPr>
                      <m:t>[</m:t>
                    </m:r>
                    <m:r>
                      <a:rPr lang="en-US" altLang="zh-CN" b="0" i="1" noProof="1" smtClean="0">
                        <a:latin typeface="Cambria Math" panose="02040503050406030204" pitchFamily="18" charset="0"/>
                        <a:ea typeface="Cambria Math" panose="02040503050406030204" pitchFamily="18" charset="0"/>
                      </a:rPr>
                      <m:t>𝑥</m:t>
                    </m:r>
                    <m:r>
                      <a:rPr lang="en-US" altLang="zh-CN" b="0" i="1" noProof="1" smtClean="0">
                        <a:latin typeface="Cambria Math" panose="02040503050406030204" pitchFamily="18" charset="0"/>
                        <a:ea typeface="Cambria Math" panose="02040503050406030204" pitchFamily="18" charset="0"/>
                      </a:rPr>
                      <m:t>]≥</m:t>
                    </m:r>
                    <m:r>
                      <a:rPr lang="en-US" altLang="zh-CN" b="0" i="1" noProof="1" smtClean="0">
                        <a:latin typeface="Cambria Math" panose="02040503050406030204" pitchFamily="18" charset="0"/>
                        <a:ea typeface="Cambria Math" panose="02040503050406030204" pitchFamily="18" charset="0"/>
                      </a:rPr>
                      <m:t>𝑑</m:t>
                    </m:r>
                    <m:r>
                      <a:rPr lang="en-US" altLang="zh-CN" b="0" i="1" noProof="1" smtClean="0">
                        <a:latin typeface="Cambria Math" panose="02040503050406030204" pitchFamily="18" charset="0"/>
                        <a:ea typeface="Cambria Math" panose="02040503050406030204" pitchFamily="18" charset="0"/>
                      </a:rPr>
                      <m:t>[</m:t>
                    </m:r>
                    <m:r>
                      <a:rPr lang="en-US" altLang="zh-CN" b="0" i="1" noProof="1" smtClean="0">
                        <a:latin typeface="Cambria Math" panose="02040503050406030204" pitchFamily="18" charset="0"/>
                        <a:ea typeface="Cambria Math" panose="02040503050406030204" pitchFamily="18" charset="0"/>
                      </a:rPr>
                      <m:t>𝑦</m:t>
                    </m:r>
                    <m:r>
                      <a:rPr lang="en-US" altLang="zh-CN" b="0" i="1" noProof="1" smtClean="0">
                        <a:latin typeface="Cambria Math" panose="02040503050406030204" pitchFamily="18" charset="0"/>
                        <a:ea typeface="Cambria Math" panose="02040503050406030204" pitchFamily="18" charset="0"/>
                      </a:rPr>
                      <m:t>]</m:t>
                    </m:r>
                  </m:oMath>
                </a14:m>
                <a:r>
                  <a:rPr lang="en-US" altLang="zh-CN" noProof="1">
                    <a:latin typeface="微软雅黑" panose="020B0503020204020204" pitchFamily="34" charset="-122"/>
                    <a:ea typeface="微软雅黑" panose="020B0503020204020204" pitchFamily="34" charset="-122"/>
                  </a:rPr>
                  <a:t>(</a:t>
                </a:r>
                <a:r>
                  <a:rPr lang="zh-CN" altLang="en-US" noProof="1">
                    <a:latin typeface="微软雅黑" panose="020B0503020204020204" pitchFamily="34" charset="-122"/>
                    <a:ea typeface="微软雅黑" panose="020B0503020204020204" pitchFamily="34" charset="-122"/>
                  </a:rPr>
                  <a:t>否则可交换</a:t>
                </a:r>
                <a:r>
                  <a:rPr lang="en-US" altLang="zh-CN" noProof="1">
                    <a:latin typeface="微软雅黑" panose="020B0503020204020204" pitchFamily="34" charset="-122"/>
                    <a:ea typeface="微软雅黑" panose="020B0503020204020204" pitchFamily="34" charset="-122"/>
                  </a:rPr>
                  <a:t>x,y)</a:t>
                </a:r>
              </a:p>
              <a:p>
                <a:pPr marL="285750" indent="-285750">
                  <a:lnSpc>
                    <a:spcPct val="200000"/>
                  </a:lnSpc>
                  <a:spcBef>
                    <a:spcPct val="50000"/>
                  </a:spcBef>
                  <a:buFont typeface="Wingdings" panose="05000000000000000000" pitchFamily="2" charset="2"/>
                  <a:buChar char="l"/>
                </a:pPr>
                <a:r>
                  <a:rPr lang="zh-CN" altLang="en-US" noProof="1">
                    <a:latin typeface="微软雅黑" panose="020B0503020204020204" pitchFamily="34" charset="-122"/>
                    <a:ea typeface="微软雅黑" panose="020B0503020204020204" pitchFamily="34" charset="-122"/>
                  </a:rPr>
                  <a:t>用</a:t>
                </a:r>
                <a:r>
                  <a:rPr lang="zh-CN" altLang="en-US" b="1" noProof="1">
                    <a:solidFill>
                      <a:schemeClr val="accent2"/>
                    </a:solidFill>
                    <a:latin typeface="微软雅黑" panose="020B0503020204020204" pitchFamily="34" charset="-122"/>
                    <a:ea typeface="微软雅黑" panose="020B0503020204020204" pitchFamily="34" charset="-122"/>
                  </a:rPr>
                  <a:t>二进制拆分</a:t>
                </a:r>
                <a:r>
                  <a:rPr lang="zh-CN" altLang="en-US" noProof="1">
                    <a:latin typeface="微软雅黑" panose="020B0503020204020204" pitchFamily="34" charset="-122"/>
                    <a:ea typeface="微软雅黑" panose="020B0503020204020204" pitchFamily="34" charset="-122"/>
                  </a:rPr>
                  <a:t>思想，把</a:t>
                </a:r>
                <a:r>
                  <a:rPr lang="en-US" altLang="zh-CN" noProof="1">
                    <a:latin typeface="微软雅黑" panose="020B0503020204020204" pitchFamily="34" charset="-122"/>
                    <a:ea typeface="微软雅黑" panose="020B0503020204020204" pitchFamily="34" charset="-122"/>
                  </a:rPr>
                  <a:t>x</a:t>
                </a:r>
                <a:r>
                  <a:rPr lang="zh-CN" altLang="en-US" noProof="1">
                    <a:latin typeface="微软雅黑" panose="020B0503020204020204" pitchFamily="34" charset="-122"/>
                    <a:ea typeface="微软雅黑" panose="020B0503020204020204" pitchFamily="34" charset="-122"/>
                  </a:rPr>
                  <a:t>向上调整到与</a:t>
                </a:r>
                <a:r>
                  <a:rPr lang="en-US" altLang="zh-CN" noProof="1">
                    <a:latin typeface="微软雅黑" panose="020B0503020204020204" pitchFamily="34" charset="-122"/>
                    <a:ea typeface="微软雅黑" panose="020B0503020204020204" pitchFamily="34" charset="-122"/>
                  </a:rPr>
                  <a:t>y</a:t>
                </a:r>
                <a:r>
                  <a:rPr lang="zh-CN" altLang="en-US" noProof="1">
                    <a:latin typeface="微软雅黑" panose="020B0503020204020204" pitchFamily="34" charset="-122"/>
                    <a:ea typeface="微软雅黑" panose="020B0503020204020204" pitchFamily="34" charset="-122"/>
                  </a:rPr>
                  <a:t>同一深度</a:t>
                </a:r>
                <a:endParaRPr lang="en-US" altLang="zh-CN" noProof="1">
                  <a:latin typeface="微软雅黑" panose="020B0503020204020204" pitchFamily="34" charset="-122"/>
                  <a:ea typeface="微软雅黑" panose="020B0503020204020204" pitchFamily="34" charset="-122"/>
                </a:endParaRPr>
              </a:p>
              <a:p>
                <a:pPr>
                  <a:lnSpc>
                    <a:spcPct val="200000"/>
                  </a:lnSpc>
                  <a:spcBef>
                    <a:spcPct val="50000"/>
                  </a:spcBef>
                </a:pPr>
                <a:r>
                  <a:rPr lang="zh-CN" altLang="en-US" noProof="1">
                    <a:latin typeface="微软雅黑" panose="020B0503020204020204" pitchFamily="34" charset="-122"/>
                    <a:ea typeface="微软雅黑" panose="020B0503020204020204" pitchFamily="34" charset="-122"/>
                  </a:rPr>
                  <a:t>具体来说，就是依次尝试从</a:t>
                </a:r>
                <a:r>
                  <a:rPr lang="en-US" altLang="zh-CN" noProof="1">
                    <a:latin typeface="微软雅黑" panose="020B0503020204020204" pitchFamily="34" charset="-122"/>
                    <a:ea typeface="微软雅黑" panose="020B0503020204020204" pitchFamily="34" charset="-122"/>
                  </a:rPr>
                  <a:t>x</a:t>
                </a:r>
                <a:r>
                  <a:rPr lang="zh-CN" altLang="en-US" noProof="1">
                    <a:latin typeface="微软雅黑" panose="020B0503020204020204" pitchFamily="34" charset="-122"/>
                    <a:ea typeface="微软雅黑" panose="020B0503020204020204" pitchFamily="34" charset="-122"/>
                  </a:rPr>
                  <a:t>向上走</a:t>
                </a:r>
                <a:r>
                  <a:rPr lang="en-US" altLang="zh-CN" noProof="1">
                    <a:latin typeface="微软雅黑" panose="020B0503020204020204" pitchFamily="34" charset="-122"/>
                    <a:ea typeface="微软雅黑" panose="020B0503020204020204" pitchFamily="34" charset="-122"/>
                  </a:rPr>
                  <a:t>k=</a:t>
                </a:r>
                <a14:m>
                  <m:oMath xmlns:m="http://schemas.openxmlformats.org/officeDocument/2006/math">
                    <m:sSup>
                      <m:sSupPr>
                        <m:ctrlPr>
                          <a:rPr lang="en-US" altLang="zh-CN" i="1" noProof="1" smtClean="0">
                            <a:latin typeface="Cambria Math" panose="02040503050406030204" pitchFamily="18" charset="0"/>
                            <a:ea typeface="微软雅黑" panose="020B0503020204020204" pitchFamily="34" charset="-122"/>
                          </a:rPr>
                        </m:ctrlPr>
                      </m:sSupPr>
                      <m:e>
                        <m:r>
                          <a:rPr lang="en-US" altLang="zh-CN" b="0" i="1" noProof="1" smtClean="0">
                            <a:latin typeface="Cambria Math" panose="02040503050406030204" pitchFamily="18" charset="0"/>
                            <a:ea typeface="微软雅黑" panose="020B0503020204020204" pitchFamily="34" charset="-122"/>
                          </a:rPr>
                          <m:t>2</m:t>
                        </m:r>
                      </m:e>
                      <m:sup>
                        <m:func>
                          <m:funcPr>
                            <m:ctrlPr>
                              <a:rPr lang="en-US" altLang="zh-CN" i="1" noProof="1" smtClean="0">
                                <a:latin typeface="Cambria Math" panose="02040503050406030204" pitchFamily="18" charset="0"/>
                                <a:ea typeface="微软雅黑" panose="020B0503020204020204" pitchFamily="34" charset="-122"/>
                              </a:rPr>
                            </m:ctrlPr>
                          </m:funcPr>
                          <m:fName>
                            <m:r>
                              <m:rPr>
                                <m:sty m:val="p"/>
                              </m:rPr>
                              <a:rPr lang="en-US" altLang="zh-CN" i="0" noProof="1" smtClean="0">
                                <a:latin typeface="Cambria Math" panose="02040503050406030204" pitchFamily="18" charset="0"/>
                                <a:ea typeface="微软雅黑" panose="020B0503020204020204" pitchFamily="34" charset="-122"/>
                              </a:rPr>
                              <m:t>log</m:t>
                            </m:r>
                          </m:fName>
                          <m:e>
                            <m:r>
                              <a:rPr lang="en-US" altLang="zh-CN" b="0" i="1" noProof="1" smtClean="0">
                                <a:latin typeface="Cambria Math" panose="02040503050406030204" pitchFamily="18" charset="0"/>
                                <a:ea typeface="微软雅黑" panose="020B0503020204020204" pitchFamily="34" charset="-122"/>
                              </a:rPr>
                              <m:t>𝑛</m:t>
                            </m:r>
                          </m:e>
                        </m:func>
                      </m:sup>
                    </m:sSup>
                  </m:oMath>
                </a14:m>
                <a:r>
                  <a:rPr lang="en-US" altLang="zh-CN" noProof="1">
                    <a:latin typeface="微软雅黑" panose="020B0503020204020204" pitchFamily="34" charset="-122"/>
                    <a:ea typeface="微软雅黑" panose="020B0503020204020204" pitchFamily="34" charset="-122"/>
                  </a:rPr>
                  <a:t>,…,</a:t>
                </a:r>
                <a14:m>
                  <m:oMath xmlns:m="http://schemas.openxmlformats.org/officeDocument/2006/math">
                    <m:sSup>
                      <m:sSupPr>
                        <m:ctrlPr>
                          <a:rPr lang="en-US" altLang="zh-CN" i="1" noProof="1" smtClean="0">
                            <a:latin typeface="Cambria Math" panose="02040503050406030204" pitchFamily="18" charset="0"/>
                            <a:ea typeface="微软雅黑" panose="020B0503020204020204" pitchFamily="34" charset="-122"/>
                          </a:rPr>
                        </m:ctrlPr>
                      </m:sSupPr>
                      <m:e>
                        <m:r>
                          <a:rPr lang="en-US" altLang="zh-CN" b="0" i="1" noProof="1" smtClean="0">
                            <a:latin typeface="Cambria Math" panose="02040503050406030204" pitchFamily="18" charset="0"/>
                            <a:ea typeface="微软雅黑" panose="020B0503020204020204" pitchFamily="34" charset="-122"/>
                          </a:rPr>
                          <m:t>2</m:t>
                        </m:r>
                      </m:e>
                      <m:sup>
                        <m:r>
                          <a:rPr lang="en-US" altLang="zh-CN" b="0" i="1" noProof="1" smtClean="0">
                            <a:latin typeface="Cambria Math" panose="02040503050406030204" pitchFamily="18" charset="0"/>
                            <a:ea typeface="微软雅黑" panose="020B0503020204020204" pitchFamily="34" charset="-122"/>
                          </a:rPr>
                          <m:t>1</m:t>
                        </m:r>
                      </m:sup>
                    </m:sSup>
                  </m:oMath>
                </a14:m>
                <a:r>
                  <a:rPr lang="en-US" altLang="zh-CN" noProof="1">
                    <a:latin typeface="微软雅黑" panose="020B0503020204020204" pitchFamily="34" charset="-122"/>
                    <a:ea typeface="微软雅黑" panose="020B0503020204020204" pitchFamily="34" charset="-122"/>
                  </a:rPr>
                  <a:t>,</a:t>
                </a:r>
                <a:r>
                  <a:rPr lang="en-US" altLang="zh-CN" noProof="1">
                    <a:ea typeface="微软雅黑" panose="020B0503020204020204" pitchFamily="34" charset="-122"/>
                  </a:rPr>
                  <a:t> </a:t>
                </a:r>
                <a14:m>
                  <m:oMath xmlns:m="http://schemas.openxmlformats.org/officeDocument/2006/math">
                    <m:sSup>
                      <m:sSupPr>
                        <m:ctrlPr>
                          <a:rPr lang="en-US" altLang="zh-CN" i="1" noProof="1">
                            <a:latin typeface="Cambria Math" panose="02040503050406030204" pitchFamily="18" charset="0"/>
                            <a:ea typeface="微软雅黑" panose="020B0503020204020204" pitchFamily="34" charset="-122"/>
                          </a:rPr>
                        </m:ctrlPr>
                      </m:sSupPr>
                      <m:e>
                        <m:r>
                          <a:rPr lang="en-US" altLang="zh-CN" i="1" noProof="1">
                            <a:latin typeface="Cambria Math" panose="02040503050406030204" pitchFamily="18" charset="0"/>
                            <a:ea typeface="微软雅黑" panose="020B0503020204020204" pitchFamily="34" charset="-122"/>
                          </a:rPr>
                          <m:t>2</m:t>
                        </m:r>
                      </m:e>
                      <m:sup>
                        <m:r>
                          <a:rPr lang="en-US" altLang="zh-CN" b="0" i="1" noProof="1" smtClean="0">
                            <a:latin typeface="Cambria Math" panose="02040503050406030204" pitchFamily="18" charset="0"/>
                            <a:ea typeface="微软雅黑" panose="020B0503020204020204" pitchFamily="34" charset="-122"/>
                          </a:rPr>
                          <m:t>0</m:t>
                        </m:r>
                      </m:sup>
                    </m:sSup>
                    <m:r>
                      <a:rPr lang="zh-CN" altLang="en-US" i="1" noProof="1" smtClean="0">
                        <a:latin typeface="Cambria Math" panose="02040503050406030204" pitchFamily="18" charset="0"/>
                        <a:ea typeface="微软雅黑" panose="020B0503020204020204" pitchFamily="34" charset="-122"/>
                      </a:rPr>
                      <m:t>步</m:t>
                    </m:r>
                  </m:oMath>
                </a14:m>
                <a:r>
                  <a:rPr lang="zh-CN" altLang="en-US" noProof="1">
                    <a:latin typeface="微软雅黑" panose="020B0503020204020204" pitchFamily="34" charset="-122"/>
                    <a:ea typeface="微软雅黑" panose="020B0503020204020204" pitchFamily="34" charset="-122"/>
                  </a:rPr>
                  <a:t>，检查到达的节点是否比</a:t>
                </a:r>
                <a:r>
                  <a:rPr lang="en-US" altLang="zh-CN" noProof="1">
                    <a:latin typeface="微软雅黑" panose="020B0503020204020204" pitchFamily="34" charset="-122"/>
                    <a:ea typeface="微软雅黑" panose="020B0503020204020204" pitchFamily="34" charset="-122"/>
                  </a:rPr>
                  <a:t>y</a:t>
                </a:r>
                <a:r>
                  <a:rPr lang="zh-CN" altLang="en-US" noProof="1">
                    <a:latin typeface="微软雅黑" panose="020B0503020204020204" pitchFamily="34" charset="-122"/>
                    <a:ea typeface="微软雅黑" panose="020B0503020204020204" pitchFamily="34" charset="-122"/>
                  </a:rPr>
                  <a:t>深。在每次检查中，若是，则令</a:t>
                </a:r>
                <a:r>
                  <a:rPr lang="en-US" altLang="zh-CN" noProof="1">
                    <a:latin typeface="微软雅黑" panose="020B0503020204020204" pitchFamily="34" charset="-122"/>
                    <a:ea typeface="微软雅黑" panose="020B0503020204020204" pitchFamily="34" charset="-122"/>
                  </a:rPr>
                  <a:t>x=F[x][k]</a:t>
                </a:r>
              </a:p>
              <a:p>
                <a:pPr marL="285750" indent="-285750">
                  <a:lnSpc>
                    <a:spcPct val="200000"/>
                  </a:lnSpc>
                  <a:spcBef>
                    <a:spcPct val="50000"/>
                  </a:spcBef>
                  <a:buFont typeface="Wingdings" panose="05000000000000000000" pitchFamily="2" charset="2"/>
                  <a:buChar char="l"/>
                </a:pPr>
                <a:r>
                  <a:rPr lang="zh-CN" altLang="en-US" noProof="1">
                    <a:latin typeface="微软雅黑" panose="020B0503020204020204" pitchFamily="34" charset="-122"/>
                    <a:ea typeface="微软雅黑" panose="020B0503020204020204" pitchFamily="34" charset="-122"/>
                  </a:rPr>
                  <a:t>若此时</a:t>
                </a:r>
                <a:r>
                  <a:rPr lang="en-US" altLang="zh-CN" noProof="1">
                    <a:latin typeface="微软雅黑" panose="020B0503020204020204" pitchFamily="34" charset="-122"/>
                    <a:ea typeface="微软雅黑" panose="020B0503020204020204" pitchFamily="34" charset="-122"/>
                  </a:rPr>
                  <a:t>x=y</a:t>
                </a:r>
                <a:r>
                  <a:rPr lang="zh-CN" altLang="en-US" noProof="1">
                    <a:latin typeface="微软雅黑" panose="020B0503020204020204" pitchFamily="34" charset="-122"/>
                    <a:ea typeface="微软雅黑" panose="020B0503020204020204" pitchFamily="34" charset="-122"/>
                  </a:rPr>
                  <a:t>，说明已经找到了</a:t>
                </a:r>
                <a:r>
                  <a:rPr lang="en-US" altLang="zh-CN" noProof="1">
                    <a:latin typeface="微软雅黑" panose="020B0503020204020204" pitchFamily="34" charset="-122"/>
                    <a:ea typeface="微软雅黑" panose="020B0503020204020204" pitchFamily="34" charset="-122"/>
                  </a:rPr>
                  <a:t>LCA</a:t>
                </a:r>
                <a:r>
                  <a:rPr lang="zh-CN" altLang="en-US" noProof="1">
                    <a:latin typeface="微软雅黑" panose="020B0503020204020204" pitchFamily="34" charset="-122"/>
                    <a:ea typeface="微软雅黑" panose="020B0503020204020204" pitchFamily="34" charset="-122"/>
                  </a:rPr>
                  <a:t>，</a:t>
                </a:r>
                <a:r>
                  <a:rPr lang="en-US" altLang="zh-CN" noProof="1">
                    <a:latin typeface="微软雅黑" panose="020B0503020204020204" pitchFamily="34" charset="-122"/>
                    <a:ea typeface="微软雅黑" panose="020B0503020204020204" pitchFamily="34" charset="-122"/>
                  </a:rPr>
                  <a:t>LCA</a:t>
                </a:r>
                <a:r>
                  <a:rPr lang="zh-CN" altLang="en-US" noProof="1">
                    <a:latin typeface="微软雅黑" panose="020B0503020204020204" pitchFamily="34" charset="-122"/>
                    <a:ea typeface="微软雅黑" panose="020B0503020204020204" pitchFamily="34" charset="-122"/>
                  </a:rPr>
                  <a:t>就等于</a:t>
                </a:r>
                <a:r>
                  <a:rPr lang="en-US" altLang="zh-CN" noProof="1">
                    <a:latin typeface="微软雅黑" panose="020B0503020204020204" pitchFamily="34" charset="-122"/>
                    <a:ea typeface="微软雅黑" panose="020B0503020204020204" pitchFamily="34" charset="-122"/>
                  </a:rPr>
                  <a:t>y</a:t>
                </a:r>
                <a:r>
                  <a:rPr lang="zh-CN" altLang="en-US" noProof="1">
                    <a:latin typeface="微软雅黑" panose="020B0503020204020204" pitchFamily="34" charset="-122"/>
                    <a:ea typeface="微软雅黑" panose="020B0503020204020204" pitchFamily="34" charset="-122"/>
                  </a:rPr>
                  <a:t>（如右图）</a:t>
                </a:r>
                <a:endParaRPr lang="en-US" altLang="zh-CN" noProof="1">
                  <a:latin typeface="微软雅黑" panose="020B0503020204020204" pitchFamily="34" charset="-122"/>
                  <a:ea typeface="微软雅黑" panose="020B0503020204020204" pitchFamily="34" charset="-122"/>
                </a:endParaRPr>
              </a:p>
            </p:txBody>
          </p:sp>
        </mc:Choice>
        <mc:Fallback xmlns="">
          <p:sp>
            <p:nvSpPr>
              <p:cNvPr id="5" name="矩形 4"/>
              <p:cNvSpPr>
                <a:spLocks noRot="1" noChangeAspect="1" noMove="1" noResize="1" noEditPoints="1" noAdjustHandles="1" noChangeArrowheads="1" noChangeShapeType="1" noTextEdit="1"/>
              </p:cNvSpPr>
              <p:nvPr/>
            </p:nvSpPr>
            <p:spPr>
              <a:xfrm>
                <a:off x="1025000" y="1361797"/>
                <a:ext cx="7032238" cy="4610045"/>
              </a:xfrm>
              <a:prstGeom prst="rect">
                <a:avLst/>
              </a:prstGeom>
              <a:blipFill>
                <a:blip r:embed="rId2" cstate="print"/>
                <a:stretch>
                  <a:fillRect l="-693" b="-1057"/>
                </a:stretch>
              </a:blipFill>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653724C0-EECA-32C8-DD94-137D85280B78}"/>
              </a:ext>
            </a:extLst>
          </p:cNvPr>
          <p:cNvPicPr>
            <a:picLocks noChangeAspect="1"/>
          </p:cNvPicPr>
          <p:nvPr/>
        </p:nvPicPr>
        <p:blipFill>
          <a:blip r:embed="rId3" cstate="print"/>
          <a:stretch>
            <a:fillRect/>
          </a:stretch>
        </p:blipFill>
        <p:spPr>
          <a:xfrm>
            <a:off x="8057238" y="2130236"/>
            <a:ext cx="3078354" cy="3480451"/>
          </a:xfrm>
          <a:prstGeom prst="rect">
            <a:avLst/>
          </a:prstGeom>
        </p:spPr>
      </p:pic>
    </p:spTree>
    <p:extLst>
      <p:ext uri="{BB962C8B-B14F-4D97-AF65-F5344CB8AC3E}">
        <p14:creationId xmlns:p14="http://schemas.microsoft.com/office/powerpoint/2010/main" val="31074823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最近公共祖先</a:t>
            </a:r>
            <a:r>
              <a:rPr lang="en-US" altLang="zh-CN" dirty="0"/>
              <a:t>LCA</a:t>
            </a:r>
            <a:endParaRPr lang="zh-CN" altLang="en-US" dirty="0"/>
          </a:p>
        </p:txBody>
      </p:sp>
      <mc:AlternateContent xmlns:mc="http://schemas.openxmlformats.org/markup-compatibility/2006" xmlns:a14="http://schemas.microsoft.com/office/drawing/2010/main">
        <mc:Choice Requires="a14">
          <p:sp>
            <p:nvSpPr>
              <p:cNvPr id="5" name="矩形 4"/>
              <p:cNvSpPr/>
              <p:nvPr/>
            </p:nvSpPr>
            <p:spPr>
              <a:xfrm>
                <a:off x="1025000" y="1361797"/>
                <a:ext cx="7032238" cy="3917547"/>
              </a:xfrm>
              <a:prstGeom prst="rect">
                <a:avLst/>
              </a:prstGeom>
            </p:spPr>
            <p:txBody>
              <a:bodyPr wrap="square">
                <a:spAutoFit/>
              </a:bodyPr>
              <a:lstStyle/>
              <a:p>
                <a:pPr>
                  <a:lnSpc>
                    <a:spcPct val="200000"/>
                  </a:lnSpc>
                  <a:spcBef>
                    <a:spcPct val="50000"/>
                  </a:spcBef>
                </a:pPr>
                <a:r>
                  <a:rPr lang="en-US" altLang="zh-CN" b="1" noProof="1">
                    <a:solidFill>
                      <a:schemeClr val="accent2"/>
                    </a:solidFill>
                    <a:latin typeface="微软雅黑" panose="020B0503020204020204" pitchFamily="34" charset="-122"/>
                    <a:ea typeface="微软雅黑" panose="020B0503020204020204" pitchFamily="34" charset="-122"/>
                  </a:rPr>
                  <a:t>2.</a:t>
                </a:r>
                <a:r>
                  <a:rPr lang="zh-CN" altLang="en-US" b="1" noProof="1">
                    <a:solidFill>
                      <a:schemeClr val="accent2"/>
                    </a:solidFill>
                    <a:latin typeface="微软雅黑" panose="020B0503020204020204" pitchFamily="34" charset="-122"/>
                    <a:ea typeface="微软雅黑" panose="020B0503020204020204" pitchFamily="34" charset="-122"/>
                  </a:rPr>
                  <a:t>树上倍增法</a:t>
                </a:r>
                <a:endParaRPr lang="en-US" altLang="zh-CN" b="1" noProof="1">
                  <a:solidFill>
                    <a:schemeClr val="accent2"/>
                  </a:solidFill>
                  <a:latin typeface="微软雅黑" panose="020B0503020204020204" pitchFamily="34" charset="-122"/>
                  <a:ea typeface="微软雅黑" panose="020B0503020204020204" pitchFamily="34" charset="-122"/>
                </a:endParaRPr>
              </a:p>
              <a:p>
                <a:pPr marL="285750" indent="-285750">
                  <a:lnSpc>
                    <a:spcPct val="200000"/>
                  </a:lnSpc>
                  <a:spcBef>
                    <a:spcPct val="50000"/>
                  </a:spcBef>
                  <a:buFont typeface="Wingdings" panose="05000000000000000000" pitchFamily="2" charset="2"/>
                  <a:buChar char="l"/>
                </a:pPr>
                <a:r>
                  <a:rPr lang="zh-CN" altLang="en-US" noProof="1">
                    <a:latin typeface="微软雅黑" panose="020B0503020204020204" pitchFamily="34" charset="-122"/>
                    <a:ea typeface="微软雅黑" panose="020B0503020204020204" pitchFamily="34" charset="-122"/>
                  </a:rPr>
                  <a:t>用二进制拆分思想，把</a:t>
                </a:r>
                <a:r>
                  <a:rPr lang="en-US" altLang="zh-CN" noProof="1">
                    <a:latin typeface="微软雅黑" panose="020B0503020204020204" pitchFamily="34" charset="-122"/>
                    <a:ea typeface="微软雅黑" panose="020B0503020204020204" pitchFamily="34" charset="-122"/>
                  </a:rPr>
                  <a:t>x,y</a:t>
                </a:r>
                <a:r>
                  <a:rPr lang="zh-CN" altLang="en-US" noProof="1">
                    <a:latin typeface="微软雅黑" panose="020B0503020204020204" pitchFamily="34" charset="-122"/>
                    <a:ea typeface="微软雅黑" panose="020B0503020204020204" pitchFamily="34" charset="-122"/>
                  </a:rPr>
                  <a:t>同时向上调整，并保持深度一致且二者不会相等</a:t>
                </a:r>
                <a:endParaRPr lang="en-US" altLang="zh-CN" noProof="1">
                  <a:latin typeface="微软雅黑" panose="020B0503020204020204" pitchFamily="34" charset="-122"/>
                  <a:ea typeface="微软雅黑" panose="020B0503020204020204" pitchFamily="34" charset="-122"/>
                </a:endParaRPr>
              </a:p>
              <a:p>
                <a:pPr>
                  <a:lnSpc>
                    <a:spcPct val="200000"/>
                  </a:lnSpc>
                  <a:spcBef>
                    <a:spcPct val="50000"/>
                  </a:spcBef>
                </a:pPr>
                <a:r>
                  <a:rPr kumimoji="0" lang="zh-CN" altLang="en-US" sz="1800" b="0" i="0" u="none" strike="noStrike" kern="1200" cap="none" spc="0" normalizeH="0" baseline="0" noProof="1">
                    <a:ln>
                      <a:noFill/>
                    </a:ln>
                    <a:solidFill>
                      <a:srgbClr val="514843"/>
                    </a:solidFill>
                    <a:effectLst/>
                    <a:uLnTx/>
                    <a:uFillTx/>
                    <a:latin typeface="微软雅黑" panose="020B0503020204020204" pitchFamily="34" charset="-122"/>
                    <a:ea typeface="微软雅黑" panose="020B0503020204020204" pitchFamily="34" charset="-122"/>
                    <a:cs typeface="+mn-cs"/>
                  </a:rPr>
                  <a:t>具体来说，就是依次尝试从</a:t>
                </a:r>
                <a:r>
                  <a:rPr kumimoji="0" lang="en-US" altLang="zh-CN" sz="1800" b="0" i="0" u="none" strike="noStrike" kern="1200" cap="none" spc="0" normalizeH="0" baseline="0" noProof="1">
                    <a:ln>
                      <a:noFill/>
                    </a:ln>
                    <a:solidFill>
                      <a:srgbClr val="514843"/>
                    </a:solidFill>
                    <a:effectLst/>
                    <a:uLnTx/>
                    <a:uFillTx/>
                    <a:latin typeface="微软雅黑" panose="020B0503020204020204" pitchFamily="34" charset="-122"/>
                    <a:ea typeface="微软雅黑" panose="020B0503020204020204" pitchFamily="34" charset="-122"/>
                    <a:cs typeface="+mn-cs"/>
                  </a:rPr>
                  <a:t>x</a:t>
                </a:r>
                <a:r>
                  <a:rPr kumimoji="0" lang="zh-CN" altLang="en-US" sz="1800" b="0" i="0" u="none" strike="noStrike" kern="1200" cap="none" spc="0" normalizeH="0" baseline="0" noProof="1">
                    <a:ln>
                      <a:noFill/>
                    </a:ln>
                    <a:solidFill>
                      <a:srgbClr val="514843"/>
                    </a:solidFill>
                    <a:effectLst/>
                    <a:uLnTx/>
                    <a:uFillTx/>
                    <a:latin typeface="微软雅黑" panose="020B0503020204020204" pitchFamily="34" charset="-122"/>
                    <a:ea typeface="微软雅黑" panose="020B0503020204020204" pitchFamily="34" charset="-122"/>
                    <a:cs typeface="+mn-cs"/>
                  </a:rPr>
                  <a:t>向上走</a:t>
                </a:r>
                <a:r>
                  <a:rPr kumimoji="0" lang="en-US" altLang="zh-CN" sz="1800" b="0" i="0" u="none" strike="noStrike" kern="1200" cap="none" spc="0" normalizeH="0" baseline="0" noProof="1">
                    <a:ln>
                      <a:noFill/>
                    </a:ln>
                    <a:solidFill>
                      <a:srgbClr val="514843"/>
                    </a:solidFill>
                    <a:effectLst/>
                    <a:uLnTx/>
                    <a:uFillTx/>
                    <a:latin typeface="微软雅黑" panose="020B0503020204020204" pitchFamily="34" charset="-122"/>
                    <a:ea typeface="微软雅黑" panose="020B0503020204020204" pitchFamily="34" charset="-122"/>
                    <a:cs typeface="+mn-cs"/>
                  </a:rPr>
                  <a:t>k=</a:t>
                </a:r>
                <a14:m>
                  <m:oMath xmlns:m="http://schemas.openxmlformats.org/officeDocument/2006/math">
                    <m:sSup>
                      <m:sSupPr>
                        <m:ctrlPr>
                          <a:rPr kumimoji="0" lang="en-US" altLang="zh-CN" sz="1800" b="0" i="1" u="none" strike="noStrike" kern="1200" cap="none" spc="0" normalizeH="0" baseline="0" noProof="1" smtClean="0">
                            <a:ln>
                              <a:noFill/>
                            </a:ln>
                            <a:solidFill>
                              <a:srgbClr val="514843"/>
                            </a:solidFill>
                            <a:effectLst/>
                            <a:uLnTx/>
                            <a:uFillTx/>
                            <a:latin typeface="Cambria Math" panose="02040503050406030204" pitchFamily="18" charset="0"/>
                            <a:ea typeface="微软雅黑" panose="020B0503020204020204" pitchFamily="34" charset="-122"/>
                            <a:cs typeface="+mn-cs"/>
                          </a:rPr>
                        </m:ctrlPr>
                      </m:sSupPr>
                      <m:e>
                        <m:r>
                          <a:rPr kumimoji="0" lang="en-US" altLang="zh-CN" sz="1800" b="0" i="1" u="none" strike="noStrike" kern="1200" cap="none" spc="0" normalizeH="0" baseline="0" noProof="1" smtClean="0">
                            <a:ln>
                              <a:noFill/>
                            </a:ln>
                            <a:solidFill>
                              <a:srgbClr val="514843"/>
                            </a:solidFill>
                            <a:effectLst/>
                            <a:uLnTx/>
                            <a:uFillTx/>
                            <a:latin typeface="Cambria Math" panose="02040503050406030204" pitchFamily="18" charset="0"/>
                            <a:ea typeface="微软雅黑" panose="020B0503020204020204" pitchFamily="34" charset="-122"/>
                            <a:cs typeface="+mn-cs"/>
                          </a:rPr>
                          <m:t>2</m:t>
                        </m:r>
                      </m:e>
                      <m:sup>
                        <m:func>
                          <m:funcPr>
                            <m:ctrlPr>
                              <a:rPr kumimoji="0" lang="en-US" altLang="zh-CN" sz="1800" b="0" i="1" u="none" strike="noStrike" kern="1200" cap="none" spc="0" normalizeH="0" baseline="0" noProof="1" smtClean="0">
                                <a:ln>
                                  <a:noFill/>
                                </a:ln>
                                <a:solidFill>
                                  <a:srgbClr val="514843"/>
                                </a:solidFill>
                                <a:effectLst/>
                                <a:uLnTx/>
                                <a:uFillTx/>
                                <a:latin typeface="Cambria Math" panose="02040503050406030204" pitchFamily="18" charset="0"/>
                                <a:ea typeface="微软雅黑" panose="020B0503020204020204" pitchFamily="34" charset="-122"/>
                                <a:cs typeface="+mn-cs"/>
                              </a:rPr>
                            </m:ctrlPr>
                          </m:funcPr>
                          <m:fName>
                            <m:r>
                              <m:rPr>
                                <m:sty m:val="p"/>
                              </m:rPr>
                              <a:rPr kumimoji="0" lang="en-US" altLang="zh-CN" sz="1800" b="0" i="0" u="none" strike="noStrike" kern="1200" cap="none" spc="0" normalizeH="0" baseline="0" noProof="1" smtClean="0">
                                <a:ln>
                                  <a:noFill/>
                                </a:ln>
                                <a:solidFill>
                                  <a:srgbClr val="514843"/>
                                </a:solidFill>
                                <a:effectLst/>
                                <a:uLnTx/>
                                <a:uFillTx/>
                                <a:latin typeface="Cambria Math" panose="02040503050406030204" pitchFamily="18" charset="0"/>
                                <a:ea typeface="微软雅黑" panose="020B0503020204020204" pitchFamily="34" charset="-122"/>
                                <a:cs typeface="+mn-cs"/>
                              </a:rPr>
                              <m:t>log</m:t>
                            </m:r>
                          </m:fName>
                          <m:e>
                            <m:r>
                              <a:rPr kumimoji="0" lang="en-US" altLang="zh-CN" sz="1800" b="0" i="1" u="none" strike="noStrike" kern="1200" cap="none" spc="0" normalizeH="0" baseline="0" noProof="1" smtClean="0">
                                <a:ln>
                                  <a:noFill/>
                                </a:ln>
                                <a:solidFill>
                                  <a:srgbClr val="514843"/>
                                </a:solidFill>
                                <a:effectLst/>
                                <a:uLnTx/>
                                <a:uFillTx/>
                                <a:latin typeface="Cambria Math" panose="02040503050406030204" pitchFamily="18" charset="0"/>
                                <a:ea typeface="微软雅黑" panose="020B0503020204020204" pitchFamily="34" charset="-122"/>
                                <a:cs typeface="+mn-cs"/>
                              </a:rPr>
                              <m:t>𝑛</m:t>
                            </m:r>
                          </m:e>
                        </m:func>
                      </m:sup>
                    </m:sSup>
                  </m:oMath>
                </a14:m>
                <a:r>
                  <a:rPr kumimoji="0" lang="en-US" altLang="zh-CN" sz="1800" b="0" i="0" u="none" strike="noStrike" kern="1200" cap="none" spc="0" normalizeH="0" baseline="0" noProof="1">
                    <a:ln>
                      <a:noFill/>
                    </a:ln>
                    <a:solidFill>
                      <a:srgbClr val="514843"/>
                    </a:solidFill>
                    <a:effectLst/>
                    <a:uLnTx/>
                    <a:uFillTx/>
                    <a:latin typeface="微软雅黑" panose="020B0503020204020204" pitchFamily="34" charset="-122"/>
                    <a:ea typeface="微软雅黑" panose="020B0503020204020204" pitchFamily="34" charset="-122"/>
                    <a:cs typeface="+mn-cs"/>
                  </a:rPr>
                  <a:t>,…,</a:t>
                </a:r>
                <a14:m>
                  <m:oMath xmlns:m="http://schemas.openxmlformats.org/officeDocument/2006/math">
                    <m:sSup>
                      <m:sSupPr>
                        <m:ctrlPr>
                          <a:rPr kumimoji="0" lang="en-US" altLang="zh-CN" sz="1800" b="0" i="1" u="none" strike="noStrike" kern="1200" cap="none" spc="0" normalizeH="0" baseline="0" noProof="1" smtClean="0">
                            <a:ln>
                              <a:noFill/>
                            </a:ln>
                            <a:solidFill>
                              <a:srgbClr val="514843"/>
                            </a:solidFill>
                            <a:effectLst/>
                            <a:uLnTx/>
                            <a:uFillTx/>
                            <a:latin typeface="Cambria Math" panose="02040503050406030204" pitchFamily="18" charset="0"/>
                            <a:ea typeface="微软雅黑" panose="020B0503020204020204" pitchFamily="34" charset="-122"/>
                            <a:cs typeface="+mn-cs"/>
                          </a:rPr>
                        </m:ctrlPr>
                      </m:sSupPr>
                      <m:e>
                        <m:r>
                          <a:rPr kumimoji="0" lang="en-US" altLang="zh-CN" sz="1800" b="0" i="1" u="none" strike="noStrike" kern="1200" cap="none" spc="0" normalizeH="0" baseline="0" noProof="1" smtClean="0">
                            <a:ln>
                              <a:noFill/>
                            </a:ln>
                            <a:solidFill>
                              <a:srgbClr val="514843"/>
                            </a:solidFill>
                            <a:effectLst/>
                            <a:uLnTx/>
                            <a:uFillTx/>
                            <a:latin typeface="Cambria Math" panose="02040503050406030204" pitchFamily="18" charset="0"/>
                            <a:ea typeface="微软雅黑" panose="020B0503020204020204" pitchFamily="34" charset="-122"/>
                            <a:cs typeface="+mn-cs"/>
                          </a:rPr>
                          <m:t>2</m:t>
                        </m:r>
                      </m:e>
                      <m:sup>
                        <m:r>
                          <a:rPr kumimoji="0" lang="en-US" altLang="zh-CN" sz="1800" b="0" i="1" u="none" strike="noStrike" kern="1200" cap="none" spc="0" normalizeH="0" baseline="0" noProof="1" smtClean="0">
                            <a:ln>
                              <a:noFill/>
                            </a:ln>
                            <a:solidFill>
                              <a:srgbClr val="514843"/>
                            </a:solidFill>
                            <a:effectLst/>
                            <a:uLnTx/>
                            <a:uFillTx/>
                            <a:latin typeface="Cambria Math" panose="02040503050406030204" pitchFamily="18" charset="0"/>
                            <a:ea typeface="微软雅黑" panose="020B0503020204020204" pitchFamily="34" charset="-122"/>
                            <a:cs typeface="+mn-cs"/>
                          </a:rPr>
                          <m:t>1</m:t>
                        </m:r>
                      </m:sup>
                    </m:sSup>
                  </m:oMath>
                </a14:m>
                <a:r>
                  <a:rPr kumimoji="0" lang="en-US" altLang="zh-CN" sz="1800" b="0" i="0" u="none" strike="noStrike" kern="1200" cap="none" spc="0" normalizeH="0" baseline="0" noProof="1">
                    <a:ln>
                      <a:noFill/>
                    </a:ln>
                    <a:solidFill>
                      <a:srgbClr val="514843"/>
                    </a:solidFill>
                    <a:effectLst/>
                    <a:uLnTx/>
                    <a:uFillTx/>
                    <a:latin typeface="微软雅黑" panose="020B0503020204020204" pitchFamily="34" charset="-122"/>
                    <a:ea typeface="微软雅黑" panose="020B0503020204020204" pitchFamily="34" charset="-122"/>
                    <a:cs typeface="+mn-cs"/>
                  </a:rPr>
                  <a:t>,</a:t>
                </a:r>
                <a:r>
                  <a:rPr kumimoji="0" lang="en-US" altLang="zh-CN" sz="1800" b="0" i="0" u="none" strike="noStrike" kern="1200" cap="none" spc="0" normalizeH="0" baseline="0" noProof="1">
                    <a:ln>
                      <a:noFill/>
                    </a:ln>
                    <a:solidFill>
                      <a:srgbClr val="514843"/>
                    </a:solidFill>
                    <a:effectLst/>
                    <a:uLnTx/>
                    <a:uFillTx/>
                    <a:latin typeface="Euphemia"/>
                    <a:ea typeface="微软雅黑" panose="020B0503020204020204" pitchFamily="34" charset="-122"/>
                    <a:cs typeface="+mn-cs"/>
                  </a:rPr>
                  <a:t> </a:t>
                </a:r>
                <a14:m>
                  <m:oMath xmlns:m="http://schemas.openxmlformats.org/officeDocument/2006/math">
                    <m:sSup>
                      <m:sSupPr>
                        <m:ctrlPr>
                          <a:rPr kumimoji="0" lang="en-US" altLang="zh-CN" sz="1800" b="0" i="1" u="none" strike="noStrike" kern="1200" cap="none" spc="0" normalizeH="0" baseline="0" noProof="1">
                            <a:ln>
                              <a:noFill/>
                            </a:ln>
                            <a:solidFill>
                              <a:srgbClr val="514843"/>
                            </a:solidFill>
                            <a:effectLst/>
                            <a:uLnTx/>
                            <a:uFillTx/>
                            <a:latin typeface="Cambria Math" panose="02040503050406030204" pitchFamily="18" charset="0"/>
                            <a:ea typeface="微软雅黑" panose="020B0503020204020204" pitchFamily="34" charset="-122"/>
                            <a:cs typeface="+mn-cs"/>
                          </a:rPr>
                        </m:ctrlPr>
                      </m:sSupPr>
                      <m:e>
                        <m:r>
                          <a:rPr kumimoji="0" lang="en-US" altLang="zh-CN" sz="1800" b="0" i="1" u="none" strike="noStrike" kern="1200" cap="none" spc="0" normalizeH="0" baseline="0" noProof="1">
                            <a:ln>
                              <a:noFill/>
                            </a:ln>
                            <a:solidFill>
                              <a:srgbClr val="514843"/>
                            </a:solidFill>
                            <a:effectLst/>
                            <a:uLnTx/>
                            <a:uFillTx/>
                            <a:latin typeface="Cambria Math" panose="02040503050406030204" pitchFamily="18" charset="0"/>
                            <a:ea typeface="微软雅黑" panose="020B0503020204020204" pitchFamily="34" charset="-122"/>
                            <a:cs typeface="+mn-cs"/>
                          </a:rPr>
                          <m:t>2</m:t>
                        </m:r>
                      </m:e>
                      <m:sup>
                        <m:r>
                          <a:rPr kumimoji="0" lang="en-US" altLang="zh-CN" sz="1800" b="0" i="1" u="none" strike="noStrike" kern="1200" cap="none" spc="0" normalizeH="0" baseline="0" noProof="1" smtClean="0">
                            <a:ln>
                              <a:noFill/>
                            </a:ln>
                            <a:solidFill>
                              <a:srgbClr val="514843"/>
                            </a:solidFill>
                            <a:effectLst/>
                            <a:uLnTx/>
                            <a:uFillTx/>
                            <a:latin typeface="Cambria Math" panose="02040503050406030204" pitchFamily="18" charset="0"/>
                            <a:ea typeface="微软雅黑" panose="020B0503020204020204" pitchFamily="34" charset="-122"/>
                            <a:cs typeface="+mn-cs"/>
                          </a:rPr>
                          <m:t>0</m:t>
                        </m:r>
                      </m:sup>
                    </m:sSup>
                    <m:r>
                      <a:rPr kumimoji="0" lang="zh-CN" altLang="en-US" sz="1800" b="0" i="1" u="none" strike="noStrike" kern="1200" cap="none" spc="0" normalizeH="0" baseline="0" noProof="1" smtClean="0">
                        <a:ln>
                          <a:noFill/>
                        </a:ln>
                        <a:solidFill>
                          <a:srgbClr val="514843"/>
                        </a:solidFill>
                        <a:effectLst/>
                        <a:uLnTx/>
                        <a:uFillTx/>
                        <a:latin typeface="Cambria Math" panose="02040503050406030204" pitchFamily="18" charset="0"/>
                        <a:ea typeface="微软雅黑" panose="020B0503020204020204" pitchFamily="34" charset="-122"/>
                        <a:cs typeface="+mn-cs"/>
                      </a:rPr>
                      <m:t>步</m:t>
                    </m:r>
                  </m:oMath>
                </a14:m>
                <a:r>
                  <a:rPr kumimoji="0" lang="zh-CN" altLang="en-US" sz="1800" b="0" i="0" u="none" strike="noStrike" kern="1200" cap="none" spc="0" normalizeH="0" baseline="0" noProof="1">
                    <a:ln>
                      <a:noFill/>
                    </a:ln>
                    <a:solidFill>
                      <a:srgbClr val="514843"/>
                    </a:solidFill>
                    <a:effectLst/>
                    <a:uLnTx/>
                    <a:uFillTx/>
                    <a:latin typeface="微软雅黑" panose="020B0503020204020204" pitchFamily="34" charset="-122"/>
                    <a:ea typeface="微软雅黑" panose="020B0503020204020204" pitchFamily="34" charset="-122"/>
                    <a:cs typeface="+mn-cs"/>
                  </a:rPr>
                  <a:t>，若</a:t>
                </a:r>
                <a:r>
                  <a:rPr lang="en-US" altLang="zh-CN" noProof="1">
                    <a:latin typeface="微软雅黑" panose="020B0503020204020204" pitchFamily="34" charset="-122"/>
                    <a:ea typeface="微软雅黑" panose="020B0503020204020204" pitchFamily="34" charset="-122"/>
                  </a:rPr>
                  <a:t>F[x][k]</a:t>
                </a:r>
              </a:p>
              <a:p>
                <a:pPr>
                  <a:lnSpc>
                    <a:spcPct val="200000"/>
                  </a:lnSpc>
                  <a:spcBef>
                    <a:spcPct val="50000"/>
                  </a:spcBef>
                </a:pPr>
                <a14:m>
                  <m:oMath xmlns:m="http://schemas.openxmlformats.org/officeDocument/2006/math">
                    <m:r>
                      <a:rPr lang="en-US" altLang="zh-CN" i="1" noProof="1" smtClean="0">
                        <a:latin typeface="Cambria Math" panose="02040503050406030204" pitchFamily="18" charset="0"/>
                        <a:ea typeface="Cambria Math" panose="02040503050406030204" pitchFamily="18" charset="0"/>
                      </a:rPr>
                      <m:t>≠</m:t>
                    </m:r>
                  </m:oMath>
                </a14:m>
                <a:r>
                  <a:rPr lang="en-US" altLang="zh-CN" noProof="1">
                    <a:latin typeface="微软雅黑" panose="020B0503020204020204" pitchFamily="34" charset="-122"/>
                    <a:ea typeface="微软雅黑" panose="020B0503020204020204" pitchFamily="34" charset="-122"/>
                  </a:rPr>
                  <a:t>F[y][k]</a:t>
                </a:r>
                <a:r>
                  <a:rPr lang="zh-CN" altLang="en-US" noProof="1">
                    <a:latin typeface="微软雅黑" panose="020B0503020204020204" pitchFamily="34" charset="-122"/>
                    <a:ea typeface="微软雅黑" panose="020B0503020204020204" pitchFamily="34" charset="-122"/>
                  </a:rPr>
                  <a:t>（即仍未相会），则令</a:t>
                </a:r>
                <a:r>
                  <a:rPr lang="en-US" altLang="zh-CN" noProof="1">
                    <a:latin typeface="微软雅黑" panose="020B0503020204020204" pitchFamily="34" charset="-122"/>
                    <a:ea typeface="微软雅黑" panose="020B0503020204020204" pitchFamily="34" charset="-122"/>
                  </a:rPr>
                  <a:t>x=F[x][k]</a:t>
                </a:r>
                <a:r>
                  <a:rPr lang="zh-CN" altLang="en-US" noProof="1">
                    <a:latin typeface="微软雅黑" panose="020B0503020204020204" pitchFamily="34" charset="-122"/>
                    <a:ea typeface="微软雅黑" panose="020B0503020204020204" pitchFamily="34" charset="-122"/>
                  </a:rPr>
                  <a:t>，</a:t>
                </a:r>
                <a:r>
                  <a:rPr lang="en-US" altLang="zh-CN" noProof="1">
                    <a:latin typeface="微软雅黑" panose="020B0503020204020204" pitchFamily="34" charset="-122"/>
                    <a:ea typeface="微软雅黑" panose="020B0503020204020204" pitchFamily="34" charset="-122"/>
                  </a:rPr>
                  <a:t>y= F[y][k]</a:t>
                </a:r>
              </a:p>
              <a:p>
                <a:pPr marL="285750" indent="-285750">
                  <a:lnSpc>
                    <a:spcPct val="200000"/>
                  </a:lnSpc>
                  <a:spcBef>
                    <a:spcPct val="50000"/>
                  </a:spcBef>
                  <a:buFont typeface="Wingdings" panose="05000000000000000000" pitchFamily="2" charset="2"/>
                  <a:buChar char="l"/>
                </a:pPr>
                <a:r>
                  <a:rPr lang="zh-CN" altLang="en-US" noProof="1">
                    <a:latin typeface="微软雅黑" panose="020B0503020204020204" pitchFamily="34" charset="-122"/>
                    <a:ea typeface="微软雅黑" panose="020B0503020204020204" pitchFamily="34" charset="-122"/>
                  </a:rPr>
                  <a:t>此时</a:t>
                </a:r>
                <a:r>
                  <a:rPr lang="en-US" altLang="zh-CN" noProof="1">
                    <a:latin typeface="微软雅黑" panose="020B0503020204020204" pitchFamily="34" charset="-122"/>
                    <a:ea typeface="微软雅黑" panose="020B0503020204020204" pitchFamily="34" charset="-122"/>
                  </a:rPr>
                  <a:t>x,y</a:t>
                </a:r>
                <a:r>
                  <a:rPr lang="zh-CN" altLang="en-US" noProof="1">
                    <a:latin typeface="微软雅黑" panose="020B0503020204020204" pitchFamily="34" charset="-122"/>
                    <a:ea typeface="微软雅黑" panose="020B0503020204020204" pitchFamily="34" charset="-122"/>
                  </a:rPr>
                  <a:t>必定只差一步就会相会，他们的父节点</a:t>
                </a:r>
                <a:r>
                  <a:rPr lang="en-US" altLang="zh-CN" noProof="1">
                    <a:latin typeface="微软雅黑" panose="020B0503020204020204" pitchFamily="34" charset="-122"/>
                    <a:ea typeface="微软雅黑" panose="020B0503020204020204" pitchFamily="34" charset="-122"/>
                  </a:rPr>
                  <a:t>F[x][0]</a:t>
                </a:r>
                <a:r>
                  <a:rPr lang="zh-CN" altLang="en-US" noProof="1">
                    <a:latin typeface="微软雅黑" panose="020B0503020204020204" pitchFamily="34" charset="-122"/>
                    <a:ea typeface="微软雅黑" panose="020B0503020204020204" pitchFamily="34" charset="-122"/>
                  </a:rPr>
                  <a:t>就是</a:t>
                </a:r>
                <a:r>
                  <a:rPr lang="en-US" altLang="zh-CN" noProof="1">
                    <a:latin typeface="微软雅黑" panose="020B0503020204020204" pitchFamily="34" charset="-122"/>
                    <a:ea typeface="微软雅黑" panose="020B0503020204020204" pitchFamily="34" charset="-122"/>
                  </a:rPr>
                  <a:t>LCA</a:t>
                </a:r>
              </a:p>
            </p:txBody>
          </p:sp>
        </mc:Choice>
        <mc:Fallback xmlns="">
          <p:sp>
            <p:nvSpPr>
              <p:cNvPr id="5" name="矩形 4"/>
              <p:cNvSpPr>
                <a:spLocks noRot="1" noChangeAspect="1" noMove="1" noResize="1" noEditPoints="1" noAdjustHandles="1" noChangeArrowheads="1" noChangeShapeType="1" noTextEdit="1"/>
              </p:cNvSpPr>
              <p:nvPr/>
            </p:nvSpPr>
            <p:spPr>
              <a:xfrm>
                <a:off x="1025000" y="1361797"/>
                <a:ext cx="7032238" cy="3917547"/>
              </a:xfrm>
              <a:prstGeom prst="rect">
                <a:avLst/>
              </a:prstGeom>
              <a:blipFill>
                <a:blip r:embed="rId2" cstate="print"/>
                <a:stretch>
                  <a:fillRect l="-693" b="-1555"/>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FC5B3267-6C97-764E-13EE-A19DCD5516FD}"/>
              </a:ext>
            </a:extLst>
          </p:cNvPr>
          <p:cNvPicPr>
            <a:picLocks noChangeAspect="1"/>
          </p:cNvPicPr>
          <p:nvPr/>
        </p:nvPicPr>
        <p:blipFill>
          <a:blip r:embed="rId3" cstate="print"/>
          <a:stretch>
            <a:fillRect/>
          </a:stretch>
        </p:blipFill>
        <p:spPr>
          <a:xfrm>
            <a:off x="8232407" y="2268962"/>
            <a:ext cx="2853175" cy="3243353"/>
          </a:xfrm>
          <a:prstGeom prst="rect">
            <a:avLst/>
          </a:prstGeom>
        </p:spPr>
      </p:pic>
    </p:spTree>
    <p:extLst>
      <p:ext uri="{BB962C8B-B14F-4D97-AF65-F5344CB8AC3E}">
        <p14:creationId xmlns:p14="http://schemas.microsoft.com/office/powerpoint/2010/main" val="1375320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最近公共祖先</a:t>
            </a:r>
            <a:r>
              <a:rPr lang="en-US" altLang="zh-CN" dirty="0"/>
              <a:t>LCA</a:t>
            </a:r>
            <a:endParaRPr lang="zh-CN" altLang="en-US" dirty="0"/>
          </a:p>
        </p:txBody>
      </p:sp>
      <p:sp>
        <p:nvSpPr>
          <p:cNvPr id="8" name="文本框 7"/>
          <p:cNvSpPr txBox="1"/>
          <p:nvPr/>
        </p:nvSpPr>
        <p:spPr>
          <a:xfrm>
            <a:off x="953982" y="1414854"/>
            <a:ext cx="2117694" cy="369332"/>
          </a:xfrm>
          <a:prstGeom prst="rect">
            <a:avLst/>
          </a:prstGeom>
          <a:noFill/>
        </p:spPr>
        <p:txBody>
          <a:bodyPr wrap="square">
            <a:spAutoFit/>
          </a:bodyPr>
          <a:lstStyle/>
          <a:p>
            <a:r>
              <a:rPr lang="en-US" altLang="zh-CN" b="1" noProof="1">
                <a:solidFill>
                  <a:schemeClr val="accent2"/>
                </a:solidFill>
                <a:latin typeface="微软雅黑" panose="020B0503020204020204" pitchFamily="34" charset="-122"/>
                <a:ea typeface="微软雅黑" panose="020B0503020204020204" pitchFamily="34" charset="-122"/>
              </a:rPr>
              <a:t>【</a:t>
            </a:r>
            <a:r>
              <a:rPr lang="zh-CN" altLang="en-US" b="1" noProof="1">
                <a:solidFill>
                  <a:schemeClr val="accent2"/>
                </a:solidFill>
                <a:latin typeface="微软雅黑" panose="020B0503020204020204" pitchFamily="34" charset="-122"/>
                <a:ea typeface="微软雅黑" panose="020B0503020204020204" pitchFamily="34" charset="-122"/>
              </a:rPr>
              <a:t>参考程序</a:t>
            </a:r>
            <a:r>
              <a:rPr lang="en-US" altLang="zh-CN" b="1" noProof="1">
                <a:solidFill>
                  <a:schemeClr val="accent2"/>
                </a:solidFill>
                <a:latin typeface="微软雅黑" panose="020B0503020204020204" pitchFamily="34" charset="-122"/>
                <a:ea typeface="微软雅黑" panose="020B0503020204020204" pitchFamily="34" charset="-122"/>
              </a:rPr>
              <a:t>】</a:t>
            </a:r>
            <a:endParaRPr lang="zh-CN" altLang="en-US" b="1" noProof="1">
              <a:solidFill>
                <a:schemeClr val="accent2"/>
              </a:solidFill>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4596E2C4-4213-E452-29DF-6018BA6B0300}"/>
              </a:ext>
            </a:extLst>
          </p:cNvPr>
          <p:cNvPicPr>
            <a:picLocks noChangeAspect="1"/>
          </p:cNvPicPr>
          <p:nvPr/>
        </p:nvPicPr>
        <p:blipFill>
          <a:blip r:embed="rId2" cstate="print"/>
          <a:stretch>
            <a:fillRect/>
          </a:stretch>
        </p:blipFill>
        <p:spPr>
          <a:xfrm>
            <a:off x="2512381" y="1441778"/>
            <a:ext cx="7534552" cy="5340022"/>
          </a:xfrm>
          <a:prstGeom prst="rect">
            <a:avLst/>
          </a:prstGeom>
        </p:spPr>
      </p:pic>
    </p:spTree>
    <p:extLst>
      <p:ext uri="{BB962C8B-B14F-4D97-AF65-F5344CB8AC3E}">
        <p14:creationId xmlns:p14="http://schemas.microsoft.com/office/powerpoint/2010/main" val="3672281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最近公共祖先</a:t>
            </a:r>
            <a:r>
              <a:rPr lang="en-US" altLang="zh-CN" dirty="0"/>
              <a:t>LCA</a:t>
            </a:r>
            <a:endParaRPr lang="zh-CN" altLang="en-US" dirty="0"/>
          </a:p>
        </p:txBody>
      </p:sp>
      <p:sp>
        <p:nvSpPr>
          <p:cNvPr id="8" name="文本框 7"/>
          <p:cNvSpPr txBox="1"/>
          <p:nvPr/>
        </p:nvSpPr>
        <p:spPr>
          <a:xfrm>
            <a:off x="953982" y="1414854"/>
            <a:ext cx="2117694" cy="369332"/>
          </a:xfrm>
          <a:prstGeom prst="rect">
            <a:avLst/>
          </a:prstGeom>
          <a:noFill/>
        </p:spPr>
        <p:txBody>
          <a:bodyPr wrap="square">
            <a:spAutoFit/>
          </a:bodyPr>
          <a:lstStyle/>
          <a:p>
            <a:r>
              <a:rPr lang="en-US" altLang="zh-CN" b="1" noProof="1">
                <a:solidFill>
                  <a:schemeClr val="accent2"/>
                </a:solidFill>
                <a:latin typeface="微软雅黑" panose="020B0503020204020204" pitchFamily="34" charset="-122"/>
                <a:ea typeface="微软雅黑" panose="020B0503020204020204" pitchFamily="34" charset="-122"/>
              </a:rPr>
              <a:t>【</a:t>
            </a:r>
            <a:r>
              <a:rPr lang="zh-CN" altLang="en-US" b="1" noProof="1">
                <a:solidFill>
                  <a:schemeClr val="accent2"/>
                </a:solidFill>
                <a:latin typeface="微软雅黑" panose="020B0503020204020204" pitchFamily="34" charset="-122"/>
                <a:ea typeface="微软雅黑" panose="020B0503020204020204" pitchFamily="34" charset="-122"/>
              </a:rPr>
              <a:t>参考程序</a:t>
            </a:r>
            <a:r>
              <a:rPr lang="en-US" altLang="zh-CN" b="1" noProof="1">
                <a:solidFill>
                  <a:schemeClr val="accent2"/>
                </a:solidFill>
                <a:latin typeface="微软雅黑" panose="020B0503020204020204" pitchFamily="34" charset="-122"/>
                <a:ea typeface="微软雅黑" panose="020B0503020204020204" pitchFamily="34" charset="-122"/>
              </a:rPr>
              <a:t>】</a:t>
            </a:r>
            <a:endParaRPr lang="zh-CN" altLang="en-US" b="1" noProof="1">
              <a:solidFill>
                <a:schemeClr val="accent2"/>
              </a:solidFill>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AE2DFFE3-E5AA-A2AD-2197-B8092ACD2CB9}"/>
              </a:ext>
            </a:extLst>
          </p:cNvPr>
          <p:cNvPicPr>
            <a:picLocks noChangeAspect="1"/>
          </p:cNvPicPr>
          <p:nvPr/>
        </p:nvPicPr>
        <p:blipFill>
          <a:blip r:embed="rId2" cstate="print"/>
          <a:stretch>
            <a:fillRect/>
          </a:stretch>
        </p:blipFill>
        <p:spPr>
          <a:xfrm>
            <a:off x="1203524" y="2025878"/>
            <a:ext cx="9360816" cy="3047937"/>
          </a:xfrm>
          <a:prstGeom prst="rect">
            <a:avLst/>
          </a:prstGeom>
        </p:spPr>
      </p:pic>
    </p:spTree>
    <p:extLst>
      <p:ext uri="{BB962C8B-B14F-4D97-AF65-F5344CB8AC3E}">
        <p14:creationId xmlns:p14="http://schemas.microsoft.com/office/powerpoint/2010/main" val="804797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最近公共祖先</a:t>
            </a:r>
            <a:r>
              <a:rPr lang="en-US" altLang="zh-CN" dirty="0"/>
              <a:t>LCA</a:t>
            </a:r>
            <a:endParaRPr lang="zh-CN" altLang="en-US" dirty="0"/>
          </a:p>
        </p:txBody>
      </p:sp>
      <p:sp>
        <p:nvSpPr>
          <p:cNvPr id="5" name="矩形 4"/>
          <p:cNvSpPr/>
          <p:nvPr/>
        </p:nvSpPr>
        <p:spPr>
          <a:xfrm>
            <a:off x="1025000" y="1173162"/>
            <a:ext cx="10060582" cy="1947777"/>
          </a:xfrm>
          <a:prstGeom prst="rect">
            <a:avLst/>
          </a:prstGeom>
        </p:spPr>
        <p:txBody>
          <a:bodyPr wrap="square">
            <a:spAutoFit/>
          </a:bodyPr>
          <a:lstStyle/>
          <a:p>
            <a:pPr>
              <a:lnSpc>
                <a:spcPct val="200000"/>
              </a:lnSpc>
              <a:spcBef>
                <a:spcPct val="50000"/>
              </a:spcBef>
            </a:pPr>
            <a:r>
              <a:rPr lang="zh-CN" altLang="en-US" b="1" noProof="1">
                <a:solidFill>
                  <a:schemeClr val="accent2"/>
                </a:solidFill>
                <a:latin typeface="微软雅黑" panose="020B0503020204020204" pitchFamily="34" charset="-122"/>
                <a:ea typeface="微软雅黑" panose="020B0503020204020204" pitchFamily="34" charset="-122"/>
              </a:rPr>
              <a:t>例</a:t>
            </a:r>
            <a:r>
              <a:rPr lang="en-US" altLang="zh-CN" b="1" noProof="1">
                <a:solidFill>
                  <a:schemeClr val="accent2"/>
                </a:solidFill>
                <a:latin typeface="微软雅黑" panose="020B0503020204020204" pitchFamily="34" charset="-122"/>
                <a:ea typeface="微软雅黑" panose="020B0503020204020204" pitchFamily="34" charset="-122"/>
              </a:rPr>
              <a:t>1</a:t>
            </a:r>
            <a:r>
              <a:rPr lang="zh-CN" altLang="en-US" b="1" noProof="1">
                <a:solidFill>
                  <a:schemeClr val="accent2"/>
                </a:solidFill>
                <a:latin typeface="微软雅黑" panose="020B0503020204020204" pitchFamily="34" charset="-122"/>
                <a:ea typeface="微软雅黑" panose="020B0503020204020204" pitchFamily="34" charset="-122"/>
              </a:rPr>
              <a:t>：</a:t>
            </a:r>
            <a:r>
              <a:rPr lang="en-US" altLang="zh-CN" b="1" noProof="1">
                <a:solidFill>
                  <a:schemeClr val="accent2"/>
                </a:solidFill>
                <a:latin typeface="微软雅黑" panose="020B0503020204020204" pitchFamily="34" charset="-122"/>
                <a:ea typeface="微软雅黑" panose="020B0503020204020204" pitchFamily="34" charset="-122"/>
              </a:rPr>
              <a:t>HDOJ2586 How far away</a:t>
            </a:r>
          </a:p>
          <a:p>
            <a:pPr>
              <a:lnSpc>
                <a:spcPct val="200000"/>
              </a:lnSpc>
              <a:spcBef>
                <a:spcPct val="50000"/>
              </a:spcBef>
            </a:pPr>
            <a:r>
              <a:rPr lang="zh-CN" altLang="en-US" noProof="1">
                <a:latin typeface="微软雅黑" panose="020B0503020204020204" pitchFamily="34" charset="-122"/>
                <a:ea typeface="微软雅黑" panose="020B0503020204020204" pitchFamily="34" charset="-122"/>
              </a:rPr>
              <a:t>多组数据，给一个</a:t>
            </a:r>
            <a:r>
              <a:rPr lang="en-US" altLang="zh-CN" noProof="1">
                <a:latin typeface="微软雅黑" panose="020B0503020204020204" pitchFamily="34" charset="-122"/>
                <a:ea typeface="微软雅黑" panose="020B0503020204020204" pitchFamily="34" charset="-122"/>
              </a:rPr>
              <a:t>n</a:t>
            </a:r>
            <a:r>
              <a:rPr lang="zh-CN" altLang="en-US" noProof="1">
                <a:latin typeface="微软雅黑" panose="020B0503020204020204" pitchFamily="34" charset="-122"/>
                <a:ea typeface="微软雅黑" panose="020B0503020204020204" pitchFamily="34" charset="-122"/>
              </a:rPr>
              <a:t>个点的树，有</a:t>
            </a:r>
            <a:r>
              <a:rPr lang="en-US" altLang="zh-CN" noProof="1">
                <a:latin typeface="微软雅黑" panose="020B0503020204020204" pitchFamily="34" charset="-122"/>
                <a:ea typeface="微软雅黑" panose="020B0503020204020204" pitchFamily="34" charset="-122"/>
              </a:rPr>
              <a:t>m</a:t>
            </a:r>
            <a:r>
              <a:rPr lang="zh-CN" altLang="en-US" noProof="1">
                <a:latin typeface="微软雅黑" panose="020B0503020204020204" pitchFamily="34" charset="-122"/>
                <a:ea typeface="微软雅黑" panose="020B0503020204020204" pitchFamily="34" charset="-122"/>
              </a:rPr>
              <a:t>次查询，每次给两个点</a:t>
            </a:r>
            <a:r>
              <a:rPr lang="en-US" altLang="zh-CN" noProof="1">
                <a:latin typeface="微软雅黑" panose="020B0503020204020204" pitchFamily="34" charset="-122"/>
                <a:ea typeface="微软雅黑" panose="020B0503020204020204" pitchFamily="34" charset="-122"/>
              </a:rPr>
              <a:t>x,y</a:t>
            </a:r>
            <a:r>
              <a:rPr lang="zh-CN" altLang="en-US" noProof="1">
                <a:latin typeface="微软雅黑" panose="020B0503020204020204" pitchFamily="34" charset="-122"/>
                <a:ea typeface="微软雅黑" panose="020B0503020204020204" pitchFamily="34" charset="-122"/>
              </a:rPr>
              <a:t>，求</a:t>
            </a:r>
            <a:r>
              <a:rPr lang="en-US" altLang="zh-CN" noProof="1">
                <a:latin typeface="微软雅黑" panose="020B0503020204020204" pitchFamily="34" charset="-122"/>
                <a:ea typeface="微软雅黑" panose="020B0503020204020204" pitchFamily="34" charset="-122"/>
              </a:rPr>
              <a:t>x,y</a:t>
            </a:r>
            <a:r>
              <a:rPr lang="zh-CN" altLang="en-US" noProof="1">
                <a:latin typeface="微软雅黑" panose="020B0503020204020204" pitchFamily="34" charset="-122"/>
                <a:ea typeface="微软雅黑" panose="020B0503020204020204" pitchFamily="34" charset="-122"/>
              </a:rPr>
              <a:t>之间的距离</a:t>
            </a:r>
          </a:p>
          <a:p>
            <a:pPr>
              <a:lnSpc>
                <a:spcPct val="200000"/>
              </a:lnSpc>
              <a:spcBef>
                <a:spcPct val="50000"/>
              </a:spcBef>
            </a:pPr>
            <a:endParaRPr lang="en-US" altLang="zh-CN" b="1" noProof="1">
              <a:solidFill>
                <a:schemeClr val="accent2"/>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79AB2F04-1D00-7F26-D046-7B116AE3BCDE}"/>
              </a:ext>
            </a:extLst>
          </p:cNvPr>
          <p:cNvSpPr txBox="1"/>
          <p:nvPr/>
        </p:nvSpPr>
        <p:spPr>
          <a:xfrm>
            <a:off x="1025000" y="2598405"/>
            <a:ext cx="6094520" cy="3554819"/>
          </a:xfrm>
          <a:prstGeom prst="rect">
            <a:avLst/>
          </a:prstGeom>
          <a:noFill/>
        </p:spPr>
        <p:txBody>
          <a:bodyPr wrap="square">
            <a:spAutoFit/>
          </a:bodyPr>
          <a:lstStyle/>
          <a:p>
            <a:pPr>
              <a:lnSpc>
                <a:spcPct val="150000"/>
              </a:lnSpc>
            </a:pPr>
            <a:r>
              <a:rPr lang="en-US" altLang="zh-CN" dirty="0"/>
              <a:t>【</a:t>
            </a:r>
            <a:r>
              <a:rPr lang="zh-CN" altLang="en-US" dirty="0"/>
              <a:t>样例输入</a:t>
            </a:r>
            <a:r>
              <a:rPr lang="en-US" altLang="zh-CN" dirty="0"/>
              <a:t>】</a:t>
            </a:r>
          </a:p>
          <a:p>
            <a:r>
              <a:rPr lang="en-US" altLang="zh-CN" dirty="0"/>
              <a:t>2</a:t>
            </a:r>
          </a:p>
          <a:p>
            <a:r>
              <a:rPr lang="en-US" altLang="zh-CN" dirty="0"/>
              <a:t>3 2</a:t>
            </a:r>
          </a:p>
          <a:p>
            <a:r>
              <a:rPr lang="en-US" altLang="zh-CN" dirty="0"/>
              <a:t>1 2 10</a:t>
            </a:r>
          </a:p>
          <a:p>
            <a:r>
              <a:rPr lang="en-US" altLang="zh-CN" dirty="0"/>
              <a:t>3 1 15</a:t>
            </a:r>
          </a:p>
          <a:p>
            <a:r>
              <a:rPr lang="en-US" altLang="zh-CN" dirty="0"/>
              <a:t>1 2</a:t>
            </a:r>
          </a:p>
          <a:p>
            <a:r>
              <a:rPr lang="en-US" altLang="zh-CN" dirty="0"/>
              <a:t>2 3</a:t>
            </a:r>
          </a:p>
          <a:p>
            <a:endParaRPr lang="en-US" altLang="zh-CN" dirty="0"/>
          </a:p>
          <a:p>
            <a:r>
              <a:rPr lang="en-US" altLang="zh-CN" dirty="0"/>
              <a:t>2 2</a:t>
            </a:r>
          </a:p>
          <a:p>
            <a:r>
              <a:rPr lang="en-US" altLang="zh-CN" dirty="0"/>
              <a:t>1 2 100</a:t>
            </a:r>
          </a:p>
          <a:p>
            <a:r>
              <a:rPr lang="en-US" altLang="zh-CN" dirty="0"/>
              <a:t>1 2</a:t>
            </a:r>
          </a:p>
          <a:p>
            <a:r>
              <a:rPr lang="en-US" altLang="zh-CN" dirty="0"/>
              <a:t>2 1</a:t>
            </a:r>
            <a:endParaRPr lang="zh-CN" altLang="en-US" dirty="0"/>
          </a:p>
        </p:txBody>
      </p:sp>
      <p:sp>
        <p:nvSpPr>
          <p:cNvPr id="8" name="文本框 7">
            <a:extLst>
              <a:ext uri="{FF2B5EF4-FFF2-40B4-BE49-F238E27FC236}">
                <a16:creationId xmlns:a16="http://schemas.microsoft.com/office/drawing/2014/main" id="{373BA9BF-6EA6-E829-F33C-E07514E063D2}"/>
              </a:ext>
            </a:extLst>
          </p:cNvPr>
          <p:cNvSpPr txBox="1"/>
          <p:nvPr/>
        </p:nvSpPr>
        <p:spPr>
          <a:xfrm>
            <a:off x="3713085" y="2598405"/>
            <a:ext cx="6094520" cy="2528064"/>
          </a:xfrm>
          <a:prstGeom prst="rect">
            <a:avLst/>
          </a:prstGeom>
          <a:noFill/>
        </p:spPr>
        <p:txBody>
          <a:bodyPr wrap="square">
            <a:spAutoFit/>
          </a:bodyPr>
          <a:lstStyle/>
          <a:p>
            <a:pPr>
              <a:lnSpc>
                <a:spcPct val="150000"/>
              </a:lnSpc>
            </a:pPr>
            <a:r>
              <a:rPr lang="en-US" altLang="zh-CN" dirty="0"/>
              <a:t>【</a:t>
            </a:r>
            <a:r>
              <a:rPr lang="zh-CN" altLang="en-US" dirty="0"/>
              <a:t>样例输出</a:t>
            </a:r>
            <a:r>
              <a:rPr lang="en-US" altLang="zh-CN" dirty="0"/>
              <a:t>】</a:t>
            </a:r>
          </a:p>
          <a:p>
            <a:pPr>
              <a:lnSpc>
                <a:spcPct val="150000"/>
              </a:lnSpc>
            </a:pPr>
            <a:r>
              <a:rPr lang="en-US" altLang="zh-CN" dirty="0"/>
              <a:t>10</a:t>
            </a:r>
          </a:p>
          <a:p>
            <a:pPr>
              <a:lnSpc>
                <a:spcPct val="150000"/>
              </a:lnSpc>
            </a:pPr>
            <a:r>
              <a:rPr lang="en-US" altLang="zh-CN" dirty="0"/>
              <a:t>25</a:t>
            </a:r>
          </a:p>
          <a:p>
            <a:pPr>
              <a:lnSpc>
                <a:spcPct val="150000"/>
              </a:lnSpc>
            </a:pPr>
            <a:endParaRPr lang="en-US" altLang="zh-CN" dirty="0"/>
          </a:p>
          <a:p>
            <a:pPr>
              <a:lnSpc>
                <a:spcPct val="150000"/>
              </a:lnSpc>
            </a:pPr>
            <a:r>
              <a:rPr lang="en-US" altLang="zh-CN" dirty="0"/>
              <a:t>100</a:t>
            </a:r>
          </a:p>
          <a:p>
            <a:pPr>
              <a:lnSpc>
                <a:spcPct val="150000"/>
              </a:lnSpc>
            </a:pPr>
            <a:r>
              <a:rPr lang="en-US" altLang="zh-CN" dirty="0"/>
              <a:t>100</a:t>
            </a:r>
            <a:endParaRPr lang="zh-CN" altLang="en-US" dirty="0"/>
          </a:p>
        </p:txBody>
      </p:sp>
    </p:spTree>
    <p:extLst>
      <p:ext uri="{BB962C8B-B14F-4D97-AF65-F5344CB8AC3E}">
        <p14:creationId xmlns:p14="http://schemas.microsoft.com/office/powerpoint/2010/main" val="2756386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最近公共祖先</a:t>
            </a:r>
            <a:r>
              <a:rPr lang="en-US" altLang="zh-CN" dirty="0"/>
              <a:t>LCA</a:t>
            </a:r>
            <a:endParaRPr lang="zh-CN" altLang="en-US" dirty="0"/>
          </a:p>
        </p:txBody>
      </p:sp>
      <p:sp>
        <p:nvSpPr>
          <p:cNvPr id="8" name="文本框 7"/>
          <p:cNvSpPr txBox="1"/>
          <p:nvPr/>
        </p:nvSpPr>
        <p:spPr>
          <a:xfrm>
            <a:off x="953982" y="1414854"/>
            <a:ext cx="2117694" cy="369332"/>
          </a:xfrm>
          <a:prstGeom prst="rect">
            <a:avLst/>
          </a:prstGeom>
          <a:noFill/>
        </p:spPr>
        <p:txBody>
          <a:bodyPr wrap="square">
            <a:spAutoFit/>
          </a:bodyPr>
          <a:lstStyle/>
          <a:p>
            <a:r>
              <a:rPr lang="en-US" altLang="zh-CN" b="1" noProof="1">
                <a:solidFill>
                  <a:schemeClr val="accent2"/>
                </a:solidFill>
                <a:latin typeface="微软雅黑" panose="020B0503020204020204" pitchFamily="34" charset="-122"/>
                <a:ea typeface="微软雅黑" panose="020B0503020204020204" pitchFamily="34" charset="-122"/>
              </a:rPr>
              <a:t>【</a:t>
            </a:r>
            <a:r>
              <a:rPr lang="zh-CN" altLang="en-US" b="1" noProof="1">
                <a:solidFill>
                  <a:schemeClr val="accent2"/>
                </a:solidFill>
                <a:latin typeface="微软雅黑" panose="020B0503020204020204" pitchFamily="34" charset="-122"/>
                <a:ea typeface="微软雅黑" panose="020B0503020204020204" pitchFamily="34" charset="-122"/>
              </a:rPr>
              <a:t>题意分析</a:t>
            </a:r>
            <a:r>
              <a:rPr lang="en-US" altLang="zh-CN" b="1" noProof="1">
                <a:solidFill>
                  <a:schemeClr val="accent2"/>
                </a:solidFill>
                <a:latin typeface="微软雅黑" panose="020B0503020204020204" pitchFamily="34" charset="-122"/>
                <a:ea typeface="微软雅黑" panose="020B0503020204020204" pitchFamily="34" charset="-122"/>
              </a:rPr>
              <a:t>】</a:t>
            </a:r>
            <a:endParaRPr lang="zh-CN" altLang="en-US" b="1" noProof="1">
              <a:solidFill>
                <a:schemeClr val="accent2"/>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D2A6064E-6F71-6C87-A49A-E690AAB70EA3}"/>
                  </a:ext>
                </a:extLst>
              </p:cNvPr>
              <p:cNvSpPr txBox="1"/>
              <p:nvPr/>
            </p:nvSpPr>
            <p:spPr>
              <a:xfrm>
                <a:off x="1104900" y="1919346"/>
                <a:ext cx="8971255" cy="3290131"/>
              </a:xfrm>
              <a:prstGeom prst="rect">
                <a:avLst/>
              </a:prstGeom>
              <a:noFill/>
            </p:spPr>
            <p:txBody>
              <a:bodyPr wrap="square">
                <a:spAutoFit/>
              </a:bodyPr>
              <a:lstStyle/>
              <a:p>
                <a:pPr marL="228600" marR="0" lvl="0" indent="-228600" algn="l" defTabSz="914400" rtl="0" eaLnBrk="1" fontAlgn="auto" latinLnBrk="0" hangingPunct="1">
                  <a:lnSpc>
                    <a:spcPct val="200000"/>
                  </a:lnSpc>
                  <a:spcBef>
                    <a:spcPts val="1000"/>
                  </a:spcBef>
                  <a:spcAft>
                    <a:spcPts val="0"/>
                  </a:spcAft>
                  <a:buClrTx/>
                  <a:buSzTx/>
                  <a:buFont typeface="Arial" panose="020B0604020202020204" pitchFamily="34" charset="0"/>
                  <a:buChar char="•"/>
                  <a:tabLst/>
                  <a:defRPr/>
                </a:pPr>
                <a:r>
                  <a:rPr lang="zh-CN" altLang="en-US" dirty="0">
                    <a:latin typeface="微软雅黑" panose="020B0503020204020204" pitchFamily="34" charset="-122"/>
                    <a:ea typeface="微软雅黑" panose="020B0503020204020204" pitchFamily="34" charset="-122"/>
                  </a:rPr>
                  <a:t>考虑预处理</a:t>
                </a:r>
                <a:r>
                  <a:rPr lang="en-US" altLang="zh-CN" dirty="0">
                    <a:latin typeface="微软雅黑" panose="020B0503020204020204" pitchFamily="34" charset="-122"/>
                    <a:ea typeface="微软雅黑" panose="020B0503020204020204" pitchFamily="34" charset="-122"/>
                  </a:rPr>
                  <a:t>dep[x]</a:t>
                </a:r>
                <a:r>
                  <a:rPr lang="zh-CN" altLang="en-US" dirty="0">
                    <a:latin typeface="微软雅黑" panose="020B0503020204020204" pitchFamily="34" charset="-122"/>
                    <a:ea typeface="微软雅黑" panose="020B0503020204020204" pitchFamily="34" charset="-122"/>
                  </a:rPr>
                  <a:t>：表示</a:t>
                </a:r>
                <a:r>
                  <a:rPr lang="en-US" altLang="zh-CN" dirty="0">
                    <a:latin typeface="微软雅黑" panose="020B0503020204020204" pitchFamily="34" charset="-122"/>
                    <a:ea typeface="微软雅黑" panose="020B0503020204020204" pitchFamily="34" charset="-122"/>
                  </a:rPr>
                  <a:t>x</a:t>
                </a:r>
                <a:r>
                  <a:rPr lang="zh-CN" altLang="en-US" dirty="0">
                    <a:latin typeface="微软雅黑" panose="020B0503020204020204" pitchFamily="34" charset="-122"/>
                    <a:ea typeface="微软雅黑" panose="020B0503020204020204" pitchFamily="34" charset="-122"/>
                  </a:rPr>
                  <a:t>到根的距离</a:t>
                </a:r>
                <a:endParaRPr lang="en-US" altLang="zh-CN" dirty="0">
                  <a:latin typeface="微软雅黑" panose="020B0503020204020204" pitchFamily="34" charset="-122"/>
                  <a:ea typeface="微软雅黑" panose="020B0503020204020204" pitchFamily="34" charset="-122"/>
                </a:endParaRPr>
              </a:p>
              <a:p>
                <a:pPr marL="228600" marR="0" lvl="0" indent="-228600" algn="l" defTabSz="914400" rtl="0" eaLnBrk="1" fontAlgn="auto" latinLnBrk="0" hangingPunct="1">
                  <a:lnSpc>
                    <a:spcPct val="200000"/>
                  </a:lnSpc>
                  <a:spcBef>
                    <a:spcPts val="1000"/>
                  </a:spcBef>
                  <a:spcAft>
                    <a:spcPts val="0"/>
                  </a:spcAft>
                  <a:buClrTx/>
                  <a:buSzTx/>
                  <a:buFont typeface="Arial" panose="020B0604020202020204" pitchFamily="34" charset="0"/>
                  <a:buChar char="•"/>
                  <a:tabLst/>
                  <a:defRPr/>
                </a:pPr>
                <a:r>
                  <a:rPr lang="en-US" altLang="zh-CN" dirty="0">
                    <a:latin typeface="微软雅黑" panose="020B0503020204020204" pitchFamily="34" charset="-122"/>
                    <a:ea typeface="微软雅黑" panose="020B0503020204020204" pitchFamily="34" charset="-122"/>
                  </a:rPr>
                  <a:t>x</a:t>
                </a:r>
                <a:r>
                  <a:rPr lang="zh-CN" altLang="en-US" dirty="0">
                    <a:latin typeface="微软雅黑" panose="020B0503020204020204" pitchFamily="34" charset="-122"/>
                    <a:ea typeface="微软雅黑" panose="020B0503020204020204" pitchFamily="34" charset="-122"/>
                  </a:rPr>
                  <a:t>到</a:t>
                </a:r>
                <a:r>
                  <a:rPr lang="en-US" altLang="zh-CN" dirty="0">
                    <a:latin typeface="微软雅黑" panose="020B0503020204020204" pitchFamily="34" charset="-122"/>
                    <a:ea typeface="微软雅黑" panose="020B0503020204020204" pitchFamily="34" charset="-122"/>
                  </a:rPr>
                  <a:t>y</a:t>
                </a:r>
                <a:r>
                  <a:rPr lang="zh-CN" altLang="en-US" dirty="0">
                    <a:latin typeface="微软雅黑" panose="020B0503020204020204" pitchFamily="34" charset="-122"/>
                    <a:ea typeface="微软雅黑" panose="020B0503020204020204" pitchFamily="34" charset="-122"/>
                  </a:rPr>
                  <a:t>的距离可以拆成</a:t>
                </a:r>
                <a:r>
                  <a:rPr lang="en-US" altLang="zh-CN" dirty="0">
                    <a:latin typeface="微软雅黑" panose="020B0503020204020204" pitchFamily="34" charset="-122"/>
                    <a:ea typeface="微软雅黑" panose="020B0503020204020204" pitchFamily="34" charset="-122"/>
                  </a:rPr>
                  <a:t>x</a:t>
                </a:r>
                <a:r>
                  <a:rPr lang="zh-CN" altLang="en-US" dirty="0">
                    <a:latin typeface="微软雅黑" panose="020B0503020204020204" pitchFamily="34" charset="-122"/>
                    <a:ea typeface="微软雅黑" panose="020B0503020204020204" pitchFamily="34" charset="-122"/>
                  </a:rPr>
                  <a:t>到</a:t>
                </a:r>
                <a:r>
                  <a:rPr lang="en-US" altLang="zh-CN" dirty="0" err="1">
                    <a:latin typeface="微软雅黑" panose="020B0503020204020204" pitchFamily="34" charset="-122"/>
                    <a:ea typeface="微软雅黑" panose="020B0503020204020204" pitchFamily="34" charset="-122"/>
                  </a:rPr>
                  <a:t>lca</a:t>
                </a:r>
                <a:r>
                  <a:rPr lang="zh-CN" altLang="en-US" dirty="0">
                    <a:latin typeface="微软雅黑" panose="020B0503020204020204" pitchFamily="34" charset="-122"/>
                    <a:ea typeface="微软雅黑" panose="020B0503020204020204" pitchFamily="34" charset="-122"/>
                  </a:rPr>
                  <a:t>的距离加上</a:t>
                </a:r>
                <a:r>
                  <a:rPr lang="en-US" altLang="zh-CN" dirty="0">
                    <a:latin typeface="微软雅黑" panose="020B0503020204020204" pitchFamily="34" charset="-122"/>
                    <a:ea typeface="微软雅黑" panose="020B0503020204020204" pitchFamily="34" charset="-122"/>
                  </a:rPr>
                  <a:t>y</a:t>
                </a:r>
                <a:r>
                  <a:rPr lang="zh-CN" altLang="en-US" dirty="0">
                    <a:latin typeface="微软雅黑" panose="020B0503020204020204" pitchFamily="34" charset="-122"/>
                    <a:ea typeface="微软雅黑" panose="020B0503020204020204" pitchFamily="34" charset="-122"/>
                  </a:rPr>
                  <a:t>到</a:t>
                </a:r>
                <a:r>
                  <a:rPr lang="en-US" altLang="zh-CN" dirty="0" err="1">
                    <a:latin typeface="微软雅黑" panose="020B0503020204020204" pitchFamily="34" charset="-122"/>
                    <a:ea typeface="微软雅黑" panose="020B0503020204020204" pitchFamily="34" charset="-122"/>
                  </a:rPr>
                  <a:t>lca</a:t>
                </a:r>
                <a:r>
                  <a:rPr lang="zh-CN" altLang="en-US" dirty="0">
                    <a:latin typeface="微软雅黑" panose="020B0503020204020204" pitchFamily="34" charset="-122"/>
                    <a:ea typeface="微软雅黑" panose="020B0503020204020204" pitchFamily="34" charset="-122"/>
                  </a:rPr>
                  <a:t>的距离</a:t>
                </a:r>
                <a:endParaRPr lang="en-US" altLang="zh-CN" dirty="0">
                  <a:latin typeface="微软雅黑" panose="020B0503020204020204" pitchFamily="34" charset="-122"/>
                  <a:ea typeface="微软雅黑" panose="020B0503020204020204" pitchFamily="34" charset="-122"/>
                </a:endParaRPr>
              </a:p>
              <a:p>
                <a:pPr marL="228600" marR="0" lvl="0" indent="-228600" algn="l" defTabSz="914400" rtl="0" eaLnBrk="1" fontAlgn="auto" latinLnBrk="0" hangingPunct="1">
                  <a:lnSpc>
                    <a:spcPct val="200000"/>
                  </a:lnSpc>
                  <a:spcBef>
                    <a:spcPts val="1000"/>
                  </a:spcBef>
                  <a:spcAft>
                    <a:spcPts val="0"/>
                  </a:spcAft>
                  <a:buClrTx/>
                  <a:buSzTx/>
                  <a:buFont typeface="Arial" panose="020B0604020202020204" pitchFamily="34" charset="0"/>
                  <a:buChar char="•"/>
                  <a:tabLst/>
                  <a:defRPr/>
                </a:pPr>
                <a:r>
                  <a:rPr lang="en-US" altLang="zh-CN" dirty="0">
                    <a:latin typeface="微软雅黑" panose="020B0503020204020204" pitchFamily="34" charset="-122"/>
                    <a:ea typeface="微软雅黑" panose="020B0503020204020204" pitchFamily="34" charset="-122"/>
                  </a:rPr>
                  <a:t>x</a:t>
                </a:r>
                <a:r>
                  <a:rPr lang="zh-CN" altLang="en-US" dirty="0">
                    <a:latin typeface="微软雅黑" panose="020B0503020204020204" pitchFamily="34" charset="-122"/>
                    <a:ea typeface="微软雅黑" panose="020B0503020204020204" pitchFamily="34" charset="-122"/>
                  </a:rPr>
                  <a:t>到</a:t>
                </a:r>
                <a:r>
                  <a:rPr lang="en-US" altLang="zh-CN" dirty="0" err="1">
                    <a:latin typeface="微软雅黑" panose="020B0503020204020204" pitchFamily="34" charset="-122"/>
                    <a:ea typeface="微软雅黑" panose="020B0503020204020204" pitchFamily="34" charset="-122"/>
                  </a:rPr>
                  <a:t>lca</a:t>
                </a:r>
                <a:r>
                  <a:rPr lang="zh-CN" altLang="en-US" dirty="0">
                    <a:latin typeface="微软雅黑" panose="020B0503020204020204" pitchFamily="34" charset="-122"/>
                    <a:ea typeface="微软雅黑" panose="020B0503020204020204" pitchFamily="34" charset="-122"/>
                  </a:rPr>
                  <a:t>的距离就是</a:t>
                </a:r>
                <a:r>
                  <a:rPr lang="en-US" altLang="zh-CN" dirty="0" err="1">
                    <a:latin typeface="微软雅黑" panose="020B0503020204020204" pitchFamily="34" charset="-122"/>
                    <a:ea typeface="微软雅黑" panose="020B0503020204020204" pitchFamily="34" charset="-122"/>
                  </a:rPr>
                  <a:t>dist</a:t>
                </a:r>
                <a:r>
                  <a:rPr lang="en-US" altLang="zh-CN" dirty="0">
                    <a:latin typeface="微软雅黑" panose="020B0503020204020204" pitchFamily="34" charset="-122"/>
                    <a:ea typeface="微软雅黑" panose="020B0503020204020204" pitchFamily="34" charset="-122"/>
                  </a:rPr>
                  <a:t>[x]-</a:t>
                </a:r>
                <a:r>
                  <a:rPr lang="en-US" altLang="zh-CN" dirty="0" err="1">
                    <a:latin typeface="微软雅黑" panose="020B0503020204020204" pitchFamily="34" charset="-122"/>
                    <a:ea typeface="微软雅黑" panose="020B0503020204020204" pitchFamily="34" charset="-122"/>
                  </a:rPr>
                  <a:t>dist</a:t>
                </a: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lca</a:t>
                </a: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x,y</a:t>
                </a:r>
                <a:r>
                  <a:rPr lang="en-US" altLang="zh-CN" dirty="0">
                    <a:latin typeface="微软雅黑" panose="020B0503020204020204" pitchFamily="34" charset="-122"/>
                    <a:ea typeface="微软雅黑" panose="020B0503020204020204" pitchFamily="34" charset="-122"/>
                  </a:rPr>
                  <a:t>)]</a:t>
                </a:r>
              </a:p>
              <a:p>
                <a:pPr marL="228600" marR="0" lvl="0" indent="-228600" algn="l" defTabSz="914400" rtl="0" eaLnBrk="1" fontAlgn="auto" latinLnBrk="0" hangingPunct="1">
                  <a:lnSpc>
                    <a:spcPct val="200000"/>
                  </a:lnSpc>
                  <a:spcBef>
                    <a:spcPts val="1000"/>
                  </a:spcBef>
                  <a:spcAft>
                    <a:spcPts val="0"/>
                  </a:spcAft>
                  <a:buClrTx/>
                  <a:buSzTx/>
                  <a:buFont typeface="Arial" panose="020B0604020202020204" pitchFamily="34" charset="0"/>
                  <a:buChar char="•"/>
                  <a:tabLst/>
                  <a:defRPr/>
                </a:pPr>
                <a:r>
                  <a:rPr lang="en-US" altLang="zh-CN" dirty="0">
                    <a:latin typeface="微软雅黑" panose="020B0503020204020204" pitchFamily="34" charset="-122"/>
                    <a:ea typeface="微软雅黑" panose="020B0503020204020204" pitchFamily="34" charset="-122"/>
                  </a:rPr>
                  <a:t>x</a:t>
                </a:r>
                <a:r>
                  <a:rPr lang="zh-CN" altLang="en-US" dirty="0">
                    <a:latin typeface="微软雅黑" panose="020B0503020204020204" pitchFamily="34" charset="-122"/>
                    <a:ea typeface="微软雅黑" panose="020B0503020204020204" pitchFamily="34" charset="-122"/>
                  </a:rPr>
                  <a:t>与</a:t>
                </a:r>
                <a:r>
                  <a:rPr lang="en-US" altLang="zh-CN" dirty="0">
                    <a:latin typeface="微软雅黑" panose="020B0503020204020204" pitchFamily="34" charset="-122"/>
                    <a:ea typeface="微软雅黑" panose="020B0503020204020204" pitchFamily="34" charset="-122"/>
                  </a:rPr>
                  <a:t>y</a:t>
                </a:r>
                <a:r>
                  <a:rPr lang="zh-CN" altLang="en-US" dirty="0">
                    <a:latin typeface="微软雅黑" panose="020B0503020204020204" pitchFamily="34" charset="-122"/>
                    <a:ea typeface="微软雅黑" panose="020B0503020204020204" pitchFamily="34" charset="-122"/>
                  </a:rPr>
                  <a:t>之间的距离为</a:t>
                </a:r>
                <a:r>
                  <a:rPr lang="es-ES" altLang="zh-CN" dirty="0">
                    <a:latin typeface="微软雅黑" panose="020B0503020204020204" pitchFamily="34" charset="-122"/>
                    <a:ea typeface="微软雅黑" panose="020B0503020204020204" pitchFamily="34" charset="-122"/>
                  </a:rPr>
                  <a:t>dist[x] + dist[y] - 2 * dist[lca(x, y)])</a:t>
                </a:r>
                <a:endParaRPr lang="en-US" altLang="zh-CN" dirty="0">
                  <a:latin typeface="微软雅黑" panose="020B0503020204020204" pitchFamily="34" charset="-122"/>
                  <a:ea typeface="微软雅黑" panose="020B0503020204020204" pitchFamily="34" charset="-122"/>
                </a:endParaRPr>
              </a:p>
              <a:p>
                <a:pPr marL="228600" marR="0" lvl="0" indent="-228600" algn="l" defTabSz="914400" rtl="0" eaLnBrk="1" fontAlgn="auto" latinLnBrk="0" hangingPunct="1">
                  <a:lnSpc>
                    <a:spcPct val="200000"/>
                  </a:lnSpc>
                  <a:spcBef>
                    <a:spcPts val="1000"/>
                  </a:spcBef>
                  <a:spcAft>
                    <a:spcPts val="0"/>
                  </a:spcAft>
                  <a:buClrTx/>
                  <a:buSzTx/>
                  <a:buFont typeface="Arial" panose="020B0604020202020204" pitchFamily="34" charset="0"/>
                  <a:buChar char="•"/>
                  <a:tabLst/>
                  <a:defRPr/>
                </a:pPr>
                <a:r>
                  <a:rPr lang="zh-CN" altLang="en-US" dirty="0">
                    <a:latin typeface="微软雅黑" panose="020B0503020204020204" pitchFamily="34" charset="-122"/>
                    <a:ea typeface="微软雅黑" panose="020B0503020204020204" pitchFamily="34" charset="-122"/>
                  </a:rPr>
                  <a:t>总时间复杂度</a:t>
                </a:r>
                <a:r>
                  <a:rPr lang="en-US" altLang="zh-CN" dirty="0">
                    <a:latin typeface="微软雅黑" panose="020B0503020204020204" pitchFamily="34" charset="-122"/>
                    <a:ea typeface="微软雅黑" panose="020B0503020204020204" pitchFamily="34" charset="-122"/>
                  </a:rPr>
                  <a:t>O((</a:t>
                </a:r>
                <a:r>
                  <a:rPr lang="en-US" altLang="zh-CN" dirty="0" err="1">
                    <a:latin typeface="微软雅黑" panose="020B0503020204020204" pitchFamily="34" charset="-122"/>
                    <a:ea typeface="微软雅黑" panose="020B0503020204020204" pitchFamily="34" charset="-122"/>
                  </a:rPr>
                  <a:t>n+m</a:t>
                </a:r>
                <a:r>
                  <a:rPr lang="en-US" altLang="zh-CN" dirty="0">
                    <a:latin typeface="微软雅黑" panose="020B0503020204020204" pitchFamily="34" charset="-122"/>
                    <a:ea typeface="微软雅黑" panose="020B0503020204020204" pitchFamily="34" charset="-122"/>
                  </a:rPr>
                  <a:t>)</a:t>
                </a:r>
                <a:r>
                  <a:rPr lang="en-US" altLang="zh-CN" noProof="1">
                    <a:ea typeface="Cambria Math" panose="02040503050406030204" pitchFamily="18" charset="0"/>
                  </a:rPr>
                  <a:t> </a:t>
                </a:r>
                <a14:m>
                  <m:oMath xmlns:m="http://schemas.openxmlformats.org/officeDocument/2006/math">
                    <m:func>
                      <m:funcPr>
                        <m:ctrlPr>
                          <a:rPr lang="en-US" altLang="zh-CN" i="1" noProof="1" smtClean="0">
                            <a:latin typeface="Cambria Math" panose="02040503050406030204" pitchFamily="18" charset="0"/>
                            <a:ea typeface="Cambria Math" panose="02040503050406030204" pitchFamily="18" charset="0"/>
                          </a:rPr>
                        </m:ctrlPr>
                      </m:funcPr>
                      <m:fName>
                        <m:r>
                          <m:rPr>
                            <m:sty m:val="p"/>
                          </m:rPr>
                          <a:rPr lang="en-US" altLang="zh-CN" i="0" noProof="1" smtClean="0">
                            <a:latin typeface="Cambria Math" panose="02040503050406030204" pitchFamily="18" charset="0"/>
                            <a:ea typeface="Cambria Math" panose="02040503050406030204" pitchFamily="18" charset="0"/>
                          </a:rPr>
                          <m:t>log</m:t>
                        </m:r>
                      </m:fName>
                      <m:e>
                        <m:r>
                          <a:rPr lang="en-US" altLang="zh-CN" b="0" i="1" noProof="1" smtClean="0">
                            <a:latin typeface="Cambria Math" panose="02040503050406030204" pitchFamily="18" charset="0"/>
                            <a:ea typeface="Cambria Math" panose="02040503050406030204" pitchFamily="18" charset="0"/>
                          </a:rPr>
                          <m:t>𝑛</m:t>
                        </m:r>
                      </m:e>
                    </m:func>
                  </m:oMath>
                </a14:m>
                <a:r>
                  <a:rPr lang="en-US" altLang="zh-CN"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p:txBody>
          </p:sp>
        </mc:Choice>
        <mc:Fallback xmlns="">
          <p:sp>
            <p:nvSpPr>
              <p:cNvPr id="5" name="文本框 4">
                <a:extLst>
                  <a:ext uri="{FF2B5EF4-FFF2-40B4-BE49-F238E27FC236}">
                    <a16:creationId xmlns="" xmlns:a16="http://schemas.microsoft.com/office/drawing/2014/main" xmlns:a14="http://schemas.microsoft.com/office/drawing/2010/main" id="{D2A6064E-6F71-6C87-A49A-E690AAB70EA3}"/>
                  </a:ext>
                </a:extLst>
              </p:cNvPr>
              <p:cNvSpPr txBox="1">
                <a:spLocks noRot="1" noChangeAspect="1" noMove="1" noResize="1" noEditPoints="1" noAdjustHandles="1" noChangeArrowheads="1" noChangeShapeType="1" noTextEdit="1"/>
              </p:cNvSpPr>
              <p:nvPr/>
            </p:nvSpPr>
            <p:spPr>
              <a:xfrm>
                <a:off x="1104900" y="1919346"/>
                <a:ext cx="8971255" cy="3290131"/>
              </a:xfrm>
              <a:prstGeom prst="rect">
                <a:avLst/>
              </a:prstGeom>
              <a:blipFill>
                <a:blip r:embed="rId2" cstate="print"/>
                <a:stretch>
                  <a:fillRect l="-408" b="-2037"/>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最近公共祖先</a:t>
            </a:r>
            <a:r>
              <a:rPr lang="en-US" altLang="zh-CN" dirty="0"/>
              <a:t>LCA</a:t>
            </a:r>
            <a:endParaRPr lang="zh-CN" altLang="en-US" dirty="0"/>
          </a:p>
        </p:txBody>
      </p:sp>
      <p:sp>
        <p:nvSpPr>
          <p:cNvPr id="5" name="矩形 4"/>
          <p:cNvSpPr/>
          <p:nvPr/>
        </p:nvSpPr>
        <p:spPr>
          <a:xfrm>
            <a:off x="1025000" y="1361797"/>
            <a:ext cx="10060582" cy="4579267"/>
          </a:xfrm>
          <a:prstGeom prst="rect">
            <a:avLst/>
          </a:prstGeom>
        </p:spPr>
        <p:txBody>
          <a:bodyPr wrap="square">
            <a:spAutoFit/>
          </a:bodyPr>
          <a:lstStyle/>
          <a:p>
            <a:pPr>
              <a:lnSpc>
                <a:spcPct val="200000"/>
              </a:lnSpc>
              <a:spcBef>
                <a:spcPct val="50000"/>
              </a:spcBef>
            </a:pPr>
            <a:r>
              <a:rPr lang="en-US" altLang="zh-CN" b="1" noProof="1">
                <a:solidFill>
                  <a:schemeClr val="accent2"/>
                </a:solidFill>
                <a:latin typeface="微软雅黑" panose="020B0503020204020204" pitchFamily="34" charset="-122"/>
                <a:ea typeface="微软雅黑" panose="020B0503020204020204" pitchFamily="34" charset="-122"/>
              </a:rPr>
              <a:t>3.LCA</a:t>
            </a:r>
            <a:r>
              <a:rPr lang="zh-CN" altLang="en-US" b="1" noProof="1">
                <a:solidFill>
                  <a:schemeClr val="accent2"/>
                </a:solidFill>
                <a:latin typeface="微软雅黑" panose="020B0503020204020204" pitchFamily="34" charset="-122"/>
                <a:ea typeface="微软雅黑" panose="020B0503020204020204" pitchFamily="34" charset="-122"/>
              </a:rPr>
              <a:t>的</a:t>
            </a:r>
            <a:r>
              <a:rPr lang="en-US" altLang="zh-CN" b="1" noProof="1">
                <a:solidFill>
                  <a:schemeClr val="accent2"/>
                </a:solidFill>
                <a:latin typeface="微软雅黑" panose="020B0503020204020204" pitchFamily="34" charset="-122"/>
                <a:ea typeface="微软雅黑" panose="020B0503020204020204" pitchFamily="34" charset="-122"/>
              </a:rPr>
              <a:t>Tarjan</a:t>
            </a:r>
            <a:r>
              <a:rPr lang="zh-CN" altLang="en-US" b="1" noProof="1">
                <a:solidFill>
                  <a:schemeClr val="accent2"/>
                </a:solidFill>
                <a:latin typeface="微软雅黑" panose="020B0503020204020204" pitchFamily="34" charset="-122"/>
                <a:ea typeface="微软雅黑" panose="020B0503020204020204" pitchFamily="34" charset="-122"/>
              </a:rPr>
              <a:t>算法</a:t>
            </a:r>
            <a:endParaRPr lang="en-US" altLang="zh-CN" b="1" noProof="1">
              <a:solidFill>
                <a:schemeClr val="accent2"/>
              </a:solidFill>
              <a:latin typeface="微软雅黑" panose="020B0503020204020204" pitchFamily="34" charset="-122"/>
              <a:ea typeface="微软雅黑" panose="020B0503020204020204" pitchFamily="34" charset="-122"/>
            </a:endParaRPr>
          </a:p>
          <a:p>
            <a:pPr>
              <a:lnSpc>
                <a:spcPct val="200000"/>
              </a:lnSpc>
              <a:spcBef>
                <a:spcPct val="50000"/>
              </a:spcBef>
            </a:pPr>
            <a:r>
              <a:rPr lang="en-US" altLang="zh-CN" noProof="1">
                <a:latin typeface="微软雅黑" panose="020B0503020204020204" pitchFamily="34" charset="-122"/>
                <a:ea typeface="微软雅黑" panose="020B0503020204020204" pitchFamily="34" charset="-122"/>
              </a:rPr>
              <a:t>Tarjan</a:t>
            </a:r>
            <a:r>
              <a:rPr lang="zh-CN" altLang="en-US" noProof="1">
                <a:latin typeface="微软雅黑" panose="020B0503020204020204" pitchFamily="34" charset="-122"/>
                <a:ea typeface="微软雅黑" panose="020B0503020204020204" pitchFamily="34" charset="-122"/>
              </a:rPr>
              <a:t>算法本质上是使用并查集对“向上标记法”的优化，是一个</a:t>
            </a:r>
            <a:r>
              <a:rPr lang="zh-CN" altLang="en-US" b="1" noProof="1">
                <a:solidFill>
                  <a:schemeClr val="accent2"/>
                </a:solidFill>
                <a:latin typeface="微软雅黑" panose="020B0503020204020204" pitchFamily="34" charset="-122"/>
                <a:ea typeface="微软雅黑" panose="020B0503020204020204" pitchFamily="34" charset="-122"/>
              </a:rPr>
              <a:t>离线算法</a:t>
            </a:r>
            <a:r>
              <a:rPr lang="zh-CN" altLang="en-US" noProof="1">
                <a:latin typeface="微软雅黑" panose="020B0503020204020204" pitchFamily="34" charset="-122"/>
                <a:ea typeface="微软雅黑" panose="020B0503020204020204" pitchFamily="34" charset="-122"/>
              </a:rPr>
              <a:t>，需要把</a:t>
            </a:r>
            <a:r>
              <a:rPr lang="en-US" altLang="zh-CN" noProof="1">
                <a:latin typeface="微软雅黑" panose="020B0503020204020204" pitchFamily="34" charset="-122"/>
                <a:ea typeface="微软雅黑" panose="020B0503020204020204" pitchFamily="34" charset="-122"/>
              </a:rPr>
              <a:t>m</a:t>
            </a:r>
            <a:r>
              <a:rPr lang="zh-CN" altLang="en-US" noProof="1">
                <a:latin typeface="微软雅黑" panose="020B0503020204020204" pitchFamily="34" charset="-122"/>
                <a:ea typeface="微软雅黑" panose="020B0503020204020204" pitchFamily="34" charset="-122"/>
              </a:rPr>
              <a:t>个询问一次性读入，统一计算，最后同一输出。时间复杂度为</a:t>
            </a:r>
            <a:r>
              <a:rPr lang="en-US" altLang="zh-CN" b="1" noProof="1">
                <a:solidFill>
                  <a:schemeClr val="accent2"/>
                </a:solidFill>
                <a:latin typeface="微软雅黑" panose="020B0503020204020204" pitchFamily="34" charset="-122"/>
                <a:ea typeface="微软雅黑" panose="020B0503020204020204" pitchFamily="34" charset="-122"/>
              </a:rPr>
              <a:t>O(n+m)</a:t>
            </a:r>
          </a:p>
          <a:p>
            <a:pPr>
              <a:lnSpc>
                <a:spcPct val="200000"/>
              </a:lnSpc>
              <a:spcBef>
                <a:spcPct val="50000"/>
              </a:spcBef>
            </a:pPr>
            <a:r>
              <a:rPr lang="zh-CN" altLang="en-US" noProof="1">
                <a:latin typeface="微软雅黑" panose="020B0503020204020204" pitchFamily="34" charset="-122"/>
                <a:ea typeface="微软雅黑" panose="020B0503020204020204" pitchFamily="34" charset="-122"/>
              </a:rPr>
              <a:t>在深度优先遍历的任意时刻，树中节点分为三类：</a:t>
            </a:r>
            <a:endParaRPr lang="en-US" altLang="zh-CN" noProof="1">
              <a:latin typeface="微软雅黑" panose="020B0503020204020204" pitchFamily="34" charset="-122"/>
              <a:ea typeface="微软雅黑" panose="020B0503020204020204" pitchFamily="34" charset="-122"/>
            </a:endParaRPr>
          </a:p>
          <a:p>
            <a:pPr marL="285750" indent="-285750">
              <a:lnSpc>
                <a:spcPct val="200000"/>
              </a:lnSpc>
              <a:spcBef>
                <a:spcPct val="50000"/>
              </a:spcBef>
              <a:buFont typeface="Arial" panose="020B0604020202020204" pitchFamily="34" charset="0"/>
              <a:buChar char="•"/>
            </a:pPr>
            <a:r>
              <a:rPr lang="zh-CN" altLang="en-US" noProof="1">
                <a:latin typeface="微软雅黑" panose="020B0503020204020204" pitchFamily="34" charset="-122"/>
                <a:ea typeface="微软雅黑" panose="020B0503020204020204" pitchFamily="34" charset="-122"/>
              </a:rPr>
              <a:t>已经访问完毕并且回溯的节点，标记为</a:t>
            </a:r>
            <a:r>
              <a:rPr lang="en-US" altLang="zh-CN" noProof="1">
                <a:latin typeface="微软雅黑" panose="020B0503020204020204" pitchFamily="34" charset="-122"/>
                <a:ea typeface="微软雅黑" panose="020B0503020204020204" pitchFamily="34" charset="-122"/>
              </a:rPr>
              <a:t>2</a:t>
            </a:r>
            <a:r>
              <a:rPr lang="zh-CN" altLang="en-US" noProof="1">
                <a:latin typeface="微软雅黑" panose="020B0503020204020204" pitchFamily="34" charset="-122"/>
                <a:ea typeface="微软雅黑" panose="020B0503020204020204" pitchFamily="34" charset="-122"/>
              </a:rPr>
              <a:t>；</a:t>
            </a:r>
            <a:endParaRPr lang="en-US" altLang="zh-CN" noProof="1">
              <a:latin typeface="微软雅黑" panose="020B0503020204020204" pitchFamily="34" charset="-122"/>
              <a:ea typeface="微软雅黑" panose="020B0503020204020204" pitchFamily="34" charset="-122"/>
            </a:endParaRPr>
          </a:p>
          <a:p>
            <a:pPr marL="285750" indent="-285750">
              <a:lnSpc>
                <a:spcPct val="200000"/>
              </a:lnSpc>
              <a:spcBef>
                <a:spcPct val="50000"/>
              </a:spcBef>
              <a:buFont typeface="Arial" panose="020B0604020202020204" pitchFamily="34" charset="0"/>
              <a:buChar char="•"/>
            </a:pPr>
            <a:r>
              <a:rPr lang="zh-CN" altLang="en-US" noProof="1">
                <a:latin typeface="微软雅黑" panose="020B0503020204020204" pitchFamily="34" charset="-122"/>
                <a:ea typeface="微软雅黑" panose="020B0503020204020204" pitchFamily="34" charset="-122"/>
              </a:rPr>
              <a:t>已经访问开始递归，但尚未回溯的节点，包含当前正在访问的节点</a:t>
            </a:r>
            <a:r>
              <a:rPr lang="en-US" altLang="zh-CN" noProof="1">
                <a:latin typeface="微软雅黑" panose="020B0503020204020204" pitchFamily="34" charset="-122"/>
                <a:ea typeface="微软雅黑" panose="020B0503020204020204" pitchFamily="34" charset="-122"/>
              </a:rPr>
              <a:t>x</a:t>
            </a:r>
            <a:r>
              <a:rPr lang="zh-CN" altLang="en-US" noProof="1">
                <a:latin typeface="微软雅黑" panose="020B0503020204020204" pitchFamily="34" charset="-122"/>
                <a:ea typeface="微软雅黑" panose="020B0503020204020204" pitchFamily="34" charset="-122"/>
              </a:rPr>
              <a:t>以及</a:t>
            </a:r>
            <a:r>
              <a:rPr lang="en-US" altLang="zh-CN" noProof="1">
                <a:latin typeface="微软雅黑" panose="020B0503020204020204" pitchFamily="34" charset="-122"/>
                <a:ea typeface="微软雅黑" panose="020B0503020204020204" pitchFamily="34" charset="-122"/>
              </a:rPr>
              <a:t>x</a:t>
            </a:r>
            <a:r>
              <a:rPr lang="zh-CN" altLang="en-US" noProof="1">
                <a:latin typeface="微软雅黑" panose="020B0503020204020204" pitchFamily="34" charset="-122"/>
                <a:ea typeface="微软雅黑" panose="020B0503020204020204" pitchFamily="34" charset="-122"/>
              </a:rPr>
              <a:t>的祖先，标记为</a:t>
            </a:r>
            <a:r>
              <a:rPr lang="en-US" altLang="zh-CN" noProof="1">
                <a:latin typeface="微软雅黑" panose="020B0503020204020204" pitchFamily="34" charset="-122"/>
                <a:ea typeface="微软雅黑" panose="020B0503020204020204" pitchFamily="34" charset="-122"/>
              </a:rPr>
              <a:t>1</a:t>
            </a:r>
            <a:r>
              <a:rPr lang="zh-CN" altLang="en-US" noProof="1">
                <a:latin typeface="微软雅黑" panose="020B0503020204020204" pitchFamily="34" charset="-122"/>
                <a:ea typeface="微软雅黑" panose="020B0503020204020204" pitchFamily="34" charset="-122"/>
              </a:rPr>
              <a:t>；</a:t>
            </a:r>
            <a:endParaRPr lang="en-US" altLang="zh-CN" noProof="1">
              <a:latin typeface="微软雅黑" panose="020B0503020204020204" pitchFamily="34" charset="-122"/>
              <a:ea typeface="微软雅黑" panose="020B0503020204020204" pitchFamily="34" charset="-122"/>
            </a:endParaRPr>
          </a:p>
          <a:p>
            <a:pPr marL="285750" indent="-285750">
              <a:lnSpc>
                <a:spcPct val="200000"/>
              </a:lnSpc>
              <a:spcBef>
                <a:spcPct val="50000"/>
              </a:spcBef>
              <a:buFont typeface="Arial" panose="020B0604020202020204" pitchFamily="34" charset="0"/>
              <a:buChar char="•"/>
            </a:pPr>
            <a:r>
              <a:rPr lang="zh-CN" altLang="en-US" noProof="1">
                <a:latin typeface="微软雅黑" panose="020B0503020204020204" pitchFamily="34" charset="-122"/>
                <a:ea typeface="微软雅黑" panose="020B0503020204020204" pitchFamily="34" charset="-122"/>
              </a:rPr>
              <a:t>尚未访问的节点，标记为</a:t>
            </a:r>
            <a:r>
              <a:rPr lang="en-US" altLang="zh-CN" noProof="1">
                <a:latin typeface="微软雅黑" panose="020B0503020204020204" pitchFamily="34" charset="-122"/>
                <a:ea typeface="微软雅黑" panose="020B0503020204020204" pitchFamily="34" charset="-122"/>
              </a:rPr>
              <a:t>0</a:t>
            </a:r>
            <a:r>
              <a:rPr lang="zh-CN" altLang="en-US" noProof="1">
                <a:latin typeface="微软雅黑" panose="020B0503020204020204" pitchFamily="34" charset="-122"/>
                <a:ea typeface="微软雅黑" panose="020B0503020204020204" pitchFamily="34" charset="-122"/>
              </a:rPr>
              <a:t>；</a:t>
            </a:r>
            <a:endParaRPr lang="en-US" altLang="zh-CN" noProof="1">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7981250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最近公共祖先</a:t>
            </a:r>
            <a:r>
              <a:rPr lang="en-US" altLang="zh-CN" dirty="0"/>
              <a:t>LCA</a:t>
            </a:r>
            <a:endParaRPr lang="zh-CN" altLang="en-US" dirty="0"/>
          </a:p>
        </p:txBody>
      </p:sp>
      <p:sp>
        <p:nvSpPr>
          <p:cNvPr id="5" name="矩形 4"/>
          <p:cNvSpPr/>
          <p:nvPr/>
        </p:nvSpPr>
        <p:spPr>
          <a:xfrm>
            <a:off x="1025000" y="1361797"/>
            <a:ext cx="10060582" cy="4856266"/>
          </a:xfrm>
          <a:prstGeom prst="rect">
            <a:avLst/>
          </a:prstGeom>
        </p:spPr>
        <p:txBody>
          <a:bodyPr wrap="square">
            <a:spAutoFit/>
          </a:bodyPr>
          <a:lstStyle/>
          <a:p>
            <a:pPr>
              <a:lnSpc>
                <a:spcPct val="200000"/>
              </a:lnSpc>
              <a:spcBef>
                <a:spcPct val="50000"/>
              </a:spcBef>
            </a:pPr>
            <a:r>
              <a:rPr lang="en-US" altLang="zh-CN" b="1" noProof="1">
                <a:solidFill>
                  <a:schemeClr val="accent2"/>
                </a:solidFill>
                <a:latin typeface="微软雅黑" panose="020B0503020204020204" pitchFamily="34" charset="-122"/>
                <a:ea typeface="微软雅黑" panose="020B0503020204020204" pitchFamily="34" charset="-122"/>
              </a:rPr>
              <a:t>3.LCA</a:t>
            </a:r>
            <a:r>
              <a:rPr lang="zh-CN" altLang="en-US" b="1" noProof="1">
                <a:solidFill>
                  <a:schemeClr val="accent2"/>
                </a:solidFill>
                <a:latin typeface="微软雅黑" panose="020B0503020204020204" pitchFamily="34" charset="-122"/>
                <a:ea typeface="微软雅黑" panose="020B0503020204020204" pitchFamily="34" charset="-122"/>
              </a:rPr>
              <a:t>的</a:t>
            </a:r>
            <a:r>
              <a:rPr lang="en-US" altLang="zh-CN" b="1" noProof="1">
                <a:solidFill>
                  <a:schemeClr val="accent2"/>
                </a:solidFill>
                <a:latin typeface="微软雅黑" panose="020B0503020204020204" pitchFamily="34" charset="-122"/>
                <a:ea typeface="微软雅黑" panose="020B0503020204020204" pitchFamily="34" charset="-122"/>
              </a:rPr>
              <a:t>Tarjan</a:t>
            </a:r>
            <a:r>
              <a:rPr lang="zh-CN" altLang="en-US" b="1" noProof="1">
                <a:solidFill>
                  <a:schemeClr val="accent2"/>
                </a:solidFill>
                <a:latin typeface="微软雅黑" panose="020B0503020204020204" pitchFamily="34" charset="-122"/>
                <a:ea typeface="微软雅黑" panose="020B0503020204020204" pitchFamily="34" charset="-122"/>
              </a:rPr>
              <a:t>算法</a:t>
            </a:r>
            <a:endParaRPr lang="en-US" altLang="zh-CN" b="1" noProof="1">
              <a:solidFill>
                <a:schemeClr val="accent2"/>
              </a:solidFill>
              <a:latin typeface="微软雅黑" panose="020B0503020204020204" pitchFamily="34" charset="-122"/>
              <a:ea typeface="微软雅黑" panose="020B0503020204020204" pitchFamily="34" charset="-122"/>
            </a:endParaRPr>
          </a:p>
          <a:p>
            <a:pPr marL="285750" indent="-285750">
              <a:lnSpc>
                <a:spcPct val="200000"/>
              </a:lnSpc>
              <a:spcBef>
                <a:spcPct val="50000"/>
              </a:spcBef>
              <a:buFont typeface="Arial" panose="020B0604020202020204" pitchFamily="34" charset="0"/>
              <a:buChar char="•"/>
            </a:pPr>
            <a:r>
              <a:rPr lang="zh-CN" altLang="en-US" noProof="1">
                <a:latin typeface="微软雅黑" panose="020B0503020204020204" pitchFamily="34" charset="-122"/>
                <a:ea typeface="微软雅黑" panose="020B0503020204020204" pitchFamily="34" charset="-122"/>
              </a:rPr>
              <a:t>对于正在访问的节点</a:t>
            </a:r>
            <a:r>
              <a:rPr lang="en-US" altLang="zh-CN" noProof="1">
                <a:latin typeface="微软雅黑" panose="020B0503020204020204" pitchFamily="34" charset="-122"/>
                <a:ea typeface="微软雅黑" panose="020B0503020204020204" pitchFamily="34" charset="-122"/>
              </a:rPr>
              <a:t>x</a:t>
            </a:r>
            <a:r>
              <a:rPr lang="zh-CN" altLang="en-US" noProof="1">
                <a:latin typeface="微软雅黑" panose="020B0503020204020204" pitchFamily="34" charset="-122"/>
                <a:ea typeface="微软雅黑" panose="020B0503020204020204" pitchFamily="34" charset="-122"/>
              </a:rPr>
              <a:t>，它到根节点的路径已经标记为</a:t>
            </a:r>
            <a:r>
              <a:rPr lang="en-US" altLang="zh-CN" noProof="1">
                <a:latin typeface="微软雅黑" panose="020B0503020204020204" pitchFamily="34" charset="-122"/>
                <a:ea typeface="微软雅黑" panose="020B0503020204020204" pitchFamily="34" charset="-122"/>
              </a:rPr>
              <a:t>1</a:t>
            </a:r>
            <a:r>
              <a:rPr lang="zh-CN" altLang="en-US" noProof="1">
                <a:latin typeface="微软雅黑" panose="020B0503020204020204" pitchFamily="34" charset="-122"/>
                <a:ea typeface="微软雅黑" panose="020B0503020204020204" pitchFamily="34" charset="-122"/>
              </a:rPr>
              <a:t>。若</a:t>
            </a:r>
            <a:r>
              <a:rPr lang="en-US" altLang="zh-CN" noProof="1">
                <a:latin typeface="微软雅黑" panose="020B0503020204020204" pitchFamily="34" charset="-122"/>
                <a:ea typeface="微软雅黑" panose="020B0503020204020204" pitchFamily="34" charset="-122"/>
              </a:rPr>
              <a:t>y</a:t>
            </a:r>
            <a:r>
              <a:rPr lang="zh-CN" altLang="en-US" noProof="1">
                <a:latin typeface="微软雅黑" panose="020B0503020204020204" pitchFamily="34" charset="-122"/>
                <a:ea typeface="微软雅黑" panose="020B0503020204020204" pitchFamily="34" charset="-122"/>
              </a:rPr>
              <a:t>是已经访问完毕并且回溯的点，则</a:t>
            </a:r>
            <a:r>
              <a:rPr lang="en-US" altLang="zh-CN" noProof="1">
                <a:latin typeface="微软雅黑" panose="020B0503020204020204" pitchFamily="34" charset="-122"/>
                <a:ea typeface="微软雅黑" panose="020B0503020204020204" pitchFamily="34" charset="-122"/>
              </a:rPr>
              <a:t>LCA(x,y)</a:t>
            </a:r>
            <a:r>
              <a:rPr lang="zh-CN" altLang="en-US" noProof="1">
                <a:latin typeface="微软雅黑" panose="020B0503020204020204" pitchFamily="34" charset="-122"/>
                <a:ea typeface="微软雅黑" panose="020B0503020204020204" pitchFamily="34" charset="-122"/>
              </a:rPr>
              <a:t>就是从</a:t>
            </a:r>
            <a:r>
              <a:rPr lang="en-US" altLang="zh-CN" noProof="1">
                <a:latin typeface="微软雅黑" panose="020B0503020204020204" pitchFamily="34" charset="-122"/>
                <a:ea typeface="微软雅黑" panose="020B0503020204020204" pitchFamily="34" charset="-122"/>
              </a:rPr>
              <a:t>y</a:t>
            </a:r>
            <a:r>
              <a:rPr lang="zh-CN" altLang="en-US" noProof="1">
                <a:latin typeface="微软雅黑" panose="020B0503020204020204" pitchFamily="34" charset="-122"/>
                <a:ea typeface="微软雅黑" panose="020B0503020204020204" pitchFamily="34" charset="-122"/>
              </a:rPr>
              <a:t>向上走到根，第一个遇到的标记为</a:t>
            </a:r>
            <a:r>
              <a:rPr lang="en-US" altLang="zh-CN" noProof="1">
                <a:latin typeface="微软雅黑" panose="020B0503020204020204" pitchFamily="34" charset="-122"/>
                <a:ea typeface="微软雅黑" panose="020B0503020204020204" pitchFamily="34" charset="-122"/>
              </a:rPr>
              <a:t>1</a:t>
            </a:r>
            <a:r>
              <a:rPr lang="zh-CN" altLang="en-US" noProof="1">
                <a:latin typeface="微软雅黑" panose="020B0503020204020204" pitchFamily="34" charset="-122"/>
                <a:ea typeface="微软雅黑" panose="020B0503020204020204" pitchFamily="34" charset="-122"/>
              </a:rPr>
              <a:t>的节点。</a:t>
            </a:r>
            <a:endParaRPr lang="en-US" altLang="zh-CN" noProof="1">
              <a:latin typeface="微软雅黑" panose="020B0503020204020204" pitchFamily="34" charset="-122"/>
              <a:ea typeface="微软雅黑" panose="020B0503020204020204" pitchFamily="34" charset="-122"/>
            </a:endParaRPr>
          </a:p>
          <a:p>
            <a:pPr marL="285750" indent="-285750">
              <a:lnSpc>
                <a:spcPct val="200000"/>
              </a:lnSpc>
              <a:spcBef>
                <a:spcPct val="50000"/>
              </a:spcBef>
              <a:buFont typeface="Arial" panose="020B0604020202020204" pitchFamily="34" charset="0"/>
              <a:buChar char="•"/>
            </a:pPr>
            <a:r>
              <a:rPr lang="zh-CN" altLang="en-US" noProof="1">
                <a:latin typeface="微软雅黑" panose="020B0503020204020204" pitchFamily="34" charset="-122"/>
                <a:ea typeface="微软雅黑" panose="020B0503020204020204" pitchFamily="34" charset="-122"/>
              </a:rPr>
              <a:t>可以利用并查集做优化，当一个节点获得整数</a:t>
            </a:r>
            <a:r>
              <a:rPr lang="en-US" altLang="zh-CN" noProof="1">
                <a:latin typeface="微软雅黑" panose="020B0503020204020204" pitchFamily="34" charset="-122"/>
                <a:ea typeface="微软雅黑" panose="020B0503020204020204" pitchFamily="34" charset="-122"/>
              </a:rPr>
              <a:t>2</a:t>
            </a:r>
            <a:r>
              <a:rPr lang="zh-CN" altLang="en-US" noProof="1">
                <a:latin typeface="微软雅黑" panose="020B0503020204020204" pitchFamily="34" charset="-122"/>
                <a:ea typeface="微软雅黑" panose="020B0503020204020204" pitchFamily="34" charset="-122"/>
              </a:rPr>
              <a:t>的标记时，把它所在的集合合并到它的父节点所在的集合中（合并时它的父节点标记一定为</a:t>
            </a:r>
            <a:r>
              <a:rPr lang="en-US" altLang="zh-CN" noProof="1">
                <a:latin typeface="微软雅黑" panose="020B0503020204020204" pitchFamily="34" charset="-122"/>
                <a:ea typeface="微软雅黑" panose="020B0503020204020204" pitchFamily="34" charset="-122"/>
              </a:rPr>
              <a:t>1</a:t>
            </a:r>
            <a:r>
              <a:rPr lang="zh-CN" altLang="en-US" noProof="1">
                <a:latin typeface="微软雅黑" panose="020B0503020204020204" pitchFamily="34" charset="-122"/>
                <a:ea typeface="微软雅黑" panose="020B0503020204020204" pitchFamily="34" charset="-122"/>
              </a:rPr>
              <a:t>，且单独构成一个集合）</a:t>
            </a:r>
            <a:endParaRPr lang="en-US" altLang="zh-CN" noProof="1">
              <a:latin typeface="微软雅黑" panose="020B0503020204020204" pitchFamily="34" charset="-122"/>
              <a:ea typeface="微软雅黑" panose="020B0503020204020204" pitchFamily="34" charset="-122"/>
            </a:endParaRPr>
          </a:p>
          <a:p>
            <a:pPr marL="285750" indent="-285750">
              <a:lnSpc>
                <a:spcPct val="200000"/>
              </a:lnSpc>
              <a:spcBef>
                <a:spcPct val="50000"/>
              </a:spcBef>
              <a:buFont typeface="Arial" panose="020B0604020202020204" pitchFamily="34" charset="0"/>
              <a:buChar char="•"/>
            </a:pPr>
            <a:r>
              <a:rPr lang="zh-CN" altLang="en-US" noProof="1">
                <a:latin typeface="微软雅黑" panose="020B0503020204020204" pitchFamily="34" charset="-122"/>
                <a:ea typeface="微软雅黑" panose="020B0503020204020204" pitchFamily="34" charset="-122"/>
              </a:rPr>
              <a:t>这相当于每个完成回溯的节点都有一个指针指向它的父节点，只须查找</a:t>
            </a:r>
            <a:r>
              <a:rPr lang="en-US" altLang="zh-CN" noProof="1">
                <a:latin typeface="微软雅黑" panose="020B0503020204020204" pitchFamily="34" charset="-122"/>
                <a:ea typeface="微软雅黑" panose="020B0503020204020204" pitchFamily="34" charset="-122"/>
              </a:rPr>
              <a:t>y</a:t>
            </a:r>
            <a:r>
              <a:rPr lang="zh-CN" altLang="en-US" noProof="1">
                <a:latin typeface="微软雅黑" panose="020B0503020204020204" pitchFamily="34" charset="-122"/>
                <a:ea typeface="微软雅黑" panose="020B0503020204020204" pitchFamily="34" charset="-122"/>
              </a:rPr>
              <a:t>所在集合的代表元素（并查集的</a:t>
            </a:r>
            <a:r>
              <a:rPr lang="en-US" altLang="zh-CN" noProof="1">
                <a:latin typeface="微软雅黑" panose="020B0503020204020204" pitchFamily="34" charset="-122"/>
                <a:ea typeface="微软雅黑" panose="020B0503020204020204" pitchFamily="34" charset="-122"/>
              </a:rPr>
              <a:t>get</a:t>
            </a:r>
            <a:r>
              <a:rPr lang="zh-CN" altLang="en-US" noProof="1">
                <a:latin typeface="微软雅黑" panose="020B0503020204020204" pitchFamily="34" charset="-122"/>
                <a:ea typeface="微软雅黑" panose="020B0503020204020204" pitchFamily="34" charset="-122"/>
              </a:rPr>
              <a:t>操作），就等价于从</a:t>
            </a:r>
            <a:r>
              <a:rPr lang="en-US" altLang="zh-CN" noProof="1">
                <a:latin typeface="微软雅黑" panose="020B0503020204020204" pitchFamily="34" charset="-122"/>
                <a:ea typeface="微软雅黑" panose="020B0503020204020204" pitchFamily="34" charset="-122"/>
              </a:rPr>
              <a:t>y</a:t>
            </a:r>
            <a:r>
              <a:rPr lang="zh-CN" altLang="en-US" noProof="1">
                <a:latin typeface="微软雅黑" panose="020B0503020204020204" pitchFamily="34" charset="-122"/>
                <a:ea typeface="微软雅黑" panose="020B0503020204020204" pitchFamily="34" charset="-122"/>
              </a:rPr>
              <a:t>向上一直走到一个开始递归但尚未回溯的节点（具有标记</a:t>
            </a:r>
            <a:r>
              <a:rPr lang="en-US" altLang="zh-CN" noProof="1">
                <a:latin typeface="微软雅黑" panose="020B0503020204020204" pitchFamily="34" charset="-122"/>
                <a:ea typeface="微软雅黑" panose="020B0503020204020204" pitchFamily="34" charset="-122"/>
              </a:rPr>
              <a:t>1</a:t>
            </a:r>
            <a:r>
              <a:rPr lang="zh-CN" altLang="en-US" noProof="1">
                <a:latin typeface="微软雅黑" panose="020B0503020204020204" pitchFamily="34" charset="-122"/>
                <a:ea typeface="微软雅黑" panose="020B0503020204020204" pitchFamily="34" charset="-122"/>
              </a:rPr>
              <a:t>），即</a:t>
            </a:r>
            <a:r>
              <a:rPr lang="en-US" altLang="zh-CN" noProof="1">
                <a:latin typeface="微软雅黑" panose="020B0503020204020204" pitchFamily="34" charset="-122"/>
                <a:ea typeface="微软雅黑" panose="020B0503020204020204" pitchFamily="34" charset="-122"/>
              </a:rPr>
              <a:t>LCA(x,y);</a:t>
            </a:r>
          </a:p>
        </p:txBody>
      </p:sp>
    </p:spTree>
    <p:extLst>
      <p:ext uri="{BB962C8B-B14F-4D97-AF65-F5344CB8AC3E}">
        <p14:creationId xmlns:p14="http://schemas.microsoft.com/office/powerpoint/2010/main" val="3921464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最近公共祖先</a:t>
            </a:r>
            <a:r>
              <a:rPr lang="en-US" altLang="zh-CN" dirty="0"/>
              <a:t>LCA</a:t>
            </a:r>
            <a:endParaRPr lang="zh-CN" altLang="en-US" dirty="0"/>
          </a:p>
        </p:txBody>
      </p:sp>
      <p:sp>
        <p:nvSpPr>
          <p:cNvPr id="5" name="矩形 4"/>
          <p:cNvSpPr/>
          <p:nvPr/>
        </p:nvSpPr>
        <p:spPr>
          <a:xfrm>
            <a:off x="1025000" y="1361797"/>
            <a:ext cx="10060582" cy="1255280"/>
          </a:xfrm>
          <a:prstGeom prst="rect">
            <a:avLst/>
          </a:prstGeom>
        </p:spPr>
        <p:txBody>
          <a:bodyPr wrap="square">
            <a:spAutoFit/>
          </a:bodyPr>
          <a:lstStyle/>
          <a:p>
            <a:pPr>
              <a:lnSpc>
                <a:spcPct val="200000"/>
              </a:lnSpc>
              <a:spcBef>
                <a:spcPct val="50000"/>
              </a:spcBef>
            </a:pPr>
            <a:r>
              <a:rPr lang="en-US" altLang="zh-CN" b="1" noProof="1">
                <a:solidFill>
                  <a:schemeClr val="accent2"/>
                </a:solidFill>
                <a:latin typeface="微软雅黑" panose="020B0503020204020204" pitchFamily="34" charset="-122"/>
                <a:ea typeface="微软雅黑" panose="020B0503020204020204" pitchFamily="34" charset="-122"/>
              </a:rPr>
              <a:t>3.LCA</a:t>
            </a:r>
            <a:r>
              <a:rPr lang="zh-CN" altLang="en-US" b="1" noProof="1">
                <a:solidFill>
                  <a:schemeClr val="accent2"/>
                </a:solidFill>
                <a:latin typeface="微软雅黑" panose="020B0503020204020204" pitchFamily="34" charset="-122"/>
                <a:ea typeface="微软雅黑" panose="020B0503020204020204" pitchFamily="34" charset="-122"/>
              </a:rPr>
              <a:t>的</a:t>
            </a:r>
            <a:r>
              <a:rPr lang="en-US" altLang="zh-CN" b="1" noProof="1">
                <a:solidFill>
                  <a:schemeClr val="accent2"/>
                </a:solidFill>
                <a:latin typeface="微软雅黑" panose="020B0503020204020204" pitchFamily="34" charset="-122"/>
                <a:ea typeface="微软雅黑" panose="020B0503020204020204" pitchFamily="34" charset="-122"/>
              </a:rPr>
              <a:t>Tarjan</a:t>
            </a:r>
            <a:r>
              <a:rPr lang="zh-CN" altLang="en-US" b="1" noProof="1">
                <a:solidFill>
                  <a:schemeClr val="accent2"/>
                </a:solidFill>
                <a:latin typeface="微软雅黑" panose="020B0503020204020204" pitchFamily="34" charset="-122"/>
                <a:ea typeface="微软雅黑" panose="020B0503020204020204" pitchFamily="34" charset="-122"/>
              </a:rPr>
              <a:t>算法</a:t>
            </a:r>
            <a:endParaRPr lang="en-US" altLang="zh-CN" b="1" noProof="1">
              <a:solidFill>
                <a:schemeClr val="accent2"/>
              </a:solidFill>
              <a:latin typeface="微软雅黑" panose="020B0503020204020204" pitchFamily="34" charset="-122"/>
              <a:ea typeface="微软雅黑" panose="020B0503020204020204" pitchFamily="34" charset="-122"/>
            </a:endParaRPr>
          </a:p>
          <a:p>
            <a:pPr>
              <a:lnSpc>
                <a:spcPct val="200000"/>
              </a:lnSpc>
              <a:spcBef>
                <a:spcPct val="50000"/>
              </a:spcBef>
            </a:pPr>
            <a:endParaRPr lang="en-US" altLang="zh-CN" b="1" noProof="1">
              <a:solidFill>
                <a:schemeClr val="accent2"/>
              </a:solidFill>
              <a:latin typeface="微软雅黑" panose="020B0503020204020204" pitchFamily="34" charset="-122"/>
              <a:ea typeface="微软雅黑" panose="020B0503020204020204" pitchFamily="34" charset="-122"/>
            </a:endParaRPr>
          </a:p>
        </p:txBody>
      </p:sp>
      <p:grpSp>
        <p:nvGrpSpPr>
          <p:cNvPr id="7" name="组合 6">
            <a:extLst>
              <a:ext uri="{FF2B5EF4-FFF2-40B4-BE49-F238E27FC236}">
                <a16:creationId xmlns:a16="http://schemas.microsoft.com/office/drawing/2014/main" id="{A252FFDC-633E-804F-42A7-D5B6496727F6}"/>
              </a:ext>
            </a:extLst>
          </p:cNvPr>
          <p:cNvGrpSpPr/>
          <p:nvPr/>
        </p:nvGrpSpPr>
        <p:grpSpPr>
          <a:xfrm>
            <a:off x="936224" y="2455443"/>
            <a:ext cx="2802408" cy="3112924"/>
            <a:chOff x="933749" y="2736673"/>
            <a:chExt cx="2802408" cy="3112924"/>
          </a:xfrm>
        </p:grpSpPr>
        <p:sp>
          <p:nvSpPr>
            <p:cNvPr id="8" name="椭圆 7">
              <a:extLst>
                <a:ext uri="{FF2B5EF4-FFF2-40B4-BE49-F238E27FC236}">
                  <a16:creationId xmlns:a16="http://schemas.microsoft.com/office/drawing/2014/main" id="{BE992AD4-2F96-3DF7-F18F-B6EA4CB42FBC}"/>
                </a:ext>
              </a:extLst>
            </p:cNvPr>
            <p:cNvSpPr/>
            <p:nvPr/>
          </p:nvSpPr>
          <p:spPr>
            <a:xfrm>
              <a:off x="1921977" y="2736673"/>
              <a:ext cx="471633" cy="471633"/>
            </a:xfrm>
            <a:prstGeom prst="ellipse">
              <a:avLst/>
            </a:prstGeom>
          </p:spPr>
          <p:style>
            <a:lnRef idx="2">
              <a:schemeClr val="dk1">
                <a:shade val="50000"/>
              </a:schemeClr>
            </a:lnRef>
            <a:fillRef idx="1001">
              <a:schemeClr val="dk2"/>
            </a:fillRef>
            <a:effectRef idx="0">
              <a:schemeClr val="dk1"/>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1294F0AF-988D-A2D7-4E90-37E0CBA00E1B}"/>
                </a:ext>
              </a:extLst>
            </p:cNvPr>
            <p:cNvSpPr/>
            <p:nvPr/>
          </p:nvSpPr>
          <p:spPr>
            <a:xfrm>
              <a:off x="1569529" y="4518866"/>
              <a:ext cx="471633" cy="47163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4F0BA2B1-BB03-8B60-6477-56FFB73B9D43}"/>
                </a:ext>
              </a:extLst>
            </p:cNvPr>
            <p:cNvSpPr/>
            <p:nvPr/>
          </p:nvSpPr>
          <p:spPr>
            <a:xfrm>
              <a:off x="933749" y="4565818"/>
              <a:ext cx="471633" cy="47163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1" name="椭圆 10">
              <a:extLst>
                <a:ext uri="{FF2B5EF4-FFF2-40B4-BE49-F238E27FC236}">
                  <a16:creationId xmlns:a16="http://schemas.microsoft.com/office/drawing/2014/main" id="{6E3E1FC0-256E-6035-C1F9-5616D0B5B512}"/>
                </a:ext>
              </a:extLst>
            </p:cNvPr>
            <p:cNvSpPr/>
            <p:nvPr/>
          </p:nvSpPr>
          <p:spPr>
            <a:xfrm>
              <a:off x="1839997" y="5377964"/>
              <a:ext cx="471633" cy="471633"/>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CN" altLang="en-US"/>
            </a:p>
          </p:txBody>
        </p:sp>
        <p:cxnSp>
          <p:nvCxnSpPr>
            <p:cNvPr id="12" name="直接连接符 11">
              <a:extLst>
                <a:ext uri="{FF2B5EF4-FFF2-40B4-BE49-F238E27FC236}">
                  <a16:creationId xmlns:a16="http://schemas.microsoft.com/office/drawing/2014/main" id="{B5B88D8F-9D6C-BDEA-6F22-65DC3E3A2278}"/>
                </a:ext>
              </a:extLst>
            </p:cNvPr>
            <p:cNvCxnSpPr>
              <a:cxnSpLocks/>
              <a:endCxn id="21" idx="0"/>
            </p:cNvCxnSpPr>
            <p:nvPr/>
          </p:nvCxnSpPr>
          <p:spPr>
            <a:xfrm flipH="1">
              <a:off x="2560358" y="4098950"/>
              <a:ext cx="420787" cy="416166"/>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椭圆 14">
              <a:extLst>
                <a:ext uri="{FF2B5EF4-FFF2-40B4-BE49-F238E27FC236}">
                  <a16:creationId xmlns:a16="http://schemas.microsoft.com/office/drawing/2014/main" id="{AE2B1EE1-1A7F-FD26-4BD9-FF01FF0C7E95}"/>
                </a:ext>
              </a:extLst>
            </p:cNvPr>
            <p:cNvSpPr/>
            <p:nvPr/>
          </p:nvSpPr>
          <p:spPr>
            <a:xfrm>
              <a:off x="3264524" y="4515116"/>
              <a:ext cx="471633" cy="471633"/>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cxnSp>
          <p:nvCxnSpPr>
            <p:cNvPr id="16" name="直接连接符 15">
              <a:extLst>
                <a:ext uri="{FF2B5EF4-FFF2-40B4-BE49-F238E27FC236}">
                  <a16:creationId xmlns:a16="http://schemas.microsoft.com/office/drawing/2014/main" id="{B393EAF2-950B-489F-C5EF-41F15233185E}"/>
                </a:ext>
              </a:extLst>
            </p:cNvPr>
            <p:cNvCxnSpPr>
              <a:cxnSpLocks/>
              <a:endCxn id="15" idx="0"/>
            </p:cNvCxnSpPr>
            <p:nvPr/>
          </p:nvCxnSpPr>
          <p:spPr>
            <a:xfrm>
              <a:off x="3108439" y="4124379"/>
              <a:ext cx="391902" cy="39073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椭圆 16">
              <a:extLst>
                <a:ext uri="{FF2B5EF4-FFF2-40B4-BE49-F238E27FC236}">
                  <a16:creationId xmlns:a16="http://schemas.microsoft.com/office/drawing/2014/main" id="{9ABCF588-8149-1EF7-B6E5-E81B320A93C8}"/>
                </a:ext>
              </a:extLst>
            </p:cNvPr>
            <p:cNvSpPr/>
            <p:nvPr/>
          </p:nvSpPr>
          <p:spPr>
            <a:xfrm>
              <a:off x="1278368" y="3664176"/>
              <a:ext cx="471633" cy="47163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dirty="0"/>
            </a:p>
          </p:txBody>
        </p:sp>
        <p:sp>
          <p:nvSpPr>
            <p:cNvPr id="19" name="椭圆 18">
              <a:extLst>
                <a:ext uri="{FF2B5EF4-FFF2-40B4-BE49-F238E27FC236}">
                  <a16:creationId xmlns:a16="http://schemas.microsoft.com/office/drawing/2014/main" id="{77C49967-37DC-401F-8529-3775FB3516F5}"/>
                </a:ext>
              </a:extLst>
            </p:cNvPr>
            <p:cNvSpPr/>
            <p:nvPr/>
          </p:nvSpPr>
          <p:spPr>
            <a:xfrm>
              <a:off x="2771788" y="3660698"/>
              <a:ext cx="471633" cy="471633"/>
            </a:xfrm>
            <a:prstGeom prst="ellipse">
              <a:avLst/>
            </a:prstGeom>
          </p:spPr>
          <p:style>
            <a:lnRef idx="2">
              <a:schemeClr val="accent2">
                <a:shade val="50000"/>
              </a:schemeClr>
            </a:lnRef>
            <a:fillRef idx="1001">
              <a:schemeClr val="dk2"/>
            </a:fillRef>
            <a:effectRef idx="0">
              <a:schemeClr val="accent2"/>
            </a:effectRef>
            <a:fontRef idx="minor">
              <a:schemeClr val="lt1"/>
            </a:fontRef>
          </p:style>
          <p:txBody>
            <a:bodyPr rtlCol="0" anchor="ctr"/>
            <a:lstStyle/>
            <a:p>
              <a:pPr algn="ctr"/>
              <a:endParaRPr lang="zh-CN" altLang="en-US"/>
            </a:p>
          </p:txBody>
        </p:sp>
        <p:cxnSp>
          <p:nvCxnSpPr>
            <p:cNvPr id="20" name="直接连接符 19">
              <a:extLst>
                <a:ext uri="{FF2B5EF4-FFF2-40B4-BE49-F238E27FC236}">
                  <a16:creationId xmlns:a16="http://schemas.microsoft.com/office/drawing/2014/main" id="{39801EEE-371D-60F5-DE7A-E1141378D61D}"/>
                </a:ext>
              </a:extLst>
            </p:cNvPr>
            <p:cNvCxnSpPr>
              <a:cxnSpLocks/>
              <a:stCxn id="8" idx="5"/>
              <a:endCxn id="19" idx="1"/>
            </p:cNvCxnSpPr>
            <p:nvPr/>
          </p:nvCxnSpPr>
          <p:spPr>
            <a:xfrm>
              <a:off x="2324541" y="3139237"/>
              <a:ext cx="516316" cy="59053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1" name="椭圆 20">
              <a:extLst>
                <a:ext uri="{FF2B5EF4-FFF2-40B4-BE49-F238E27FC236}">
                  <a16:creationId xmlns:a16="http://schemas.microsoft.com/office/drawing/2014/main" id="{17B18307-29E0-468B-08B7-5DF75F3C3F03}"/>
                </a:ext>
              </a:extLst>
            </p:cNvPr>
            <p:cNvSpPr/>
            <p:nvPr/>
          </p:nvSpPr>
          <p:spPr>
            <a:xfrm>
              <a:off x="2324541" y="4515116"/>
              <a:ext cx="471633" cy="471633"/>
            </a:xfrm>
            <a:prstGeom prst="ellipse">
              <a:avLst/>
            </a:prstGeom>
          </p:spPr>
          <p:style>
            <a:lnRef idx="2">
              <a:schemeClr val="accent2"/>
            </a:lnRef>
            <a:fillRef idx="1001">
              <a:schemeClr val="dk2"/>
            </a:fillRef>
            <a:effectRef idx="0">
              <a:schemeClr val="accent2"/>
            </a:effectRef>
            <a:fontRef idx="minor">
              <a:schemeClr val="dk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C0A34AE4-344F-A5BF-3318-172BE41E575D}"/>
                </a:ext>
              </a:extLst>
            </p:cNvPr>
            <p:cNvSpPr/>
            <p:nvPr/>
          </p:nvSpPr>
          <p:spPr>
            <a:xfrm>
              <a:off x="1961431" y="3652746"/>
              <a:ext cx="471633" cy="47163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5" name="文本框 24">
              <a:extLst>
                <a:ext uri="{FF2B5EF4-FFF2-40B4-BE49-F238E27FC236}">
                  <a16:creationId xmlns:a16="http://schemas.microsoft.com/office/drawing/2014/main" id="{A5B6C230-F45D-F5D1-FF1F-FE2E9F0C09D4}"/>
                </a:ext>
              </a:extLst>
            </p:cNvPr>
            <p:cNvSpPr txBox="1"/>
            <p:nvPr/>
          </p:nvSpPr>
          <p:spPr>
            <a:xfrm>
              <a:off x="1782850" y="4135081"/>
              <a:ext cx="420787" cy="369332"/>
            </a:xfrm>
            <a:prstGeom prst="rect">
              <a:avLst/>
            </a:prstGeom>
            <a:noFill/>
          </p:spPr>
          <p:txBody>
            <a:bodyPr wrap="square" rtlCol="0">
              <a:spAutoFit/>
            </a:bodyPr>
            <a:lstStyle/>
            <a:p>
              <a:r>
                <a:rPr lang="en-US" altLang="zh-CN" b="1" dirty="0">
                  <a:solidFill>
                    <a:schemeClr val="accent2"/>
                  </a:solidFill>
                  <a:latin typeface="Times New Roman" panose="02020603050405020304" pitchFamily="18" charset="0"/>
                  <a:cs typeface="Times New Roman" panose="02020603050405020304" pitchFamily="18" charset="0"/>
                </a:rPr>
                <a:t>y</a:t>
              </a:r>
              <a:endParaRPr lang="zh-CN" altLang="en-US" b="1" dirty="0">
                <a:solidFill>
                  <a:schemeClr val="accent2"/>
                </a:solidFill>
                <a:latin typeface="Times New Roman" panose="02020603050405020304" pitchFamily="18" charset="0"/>
                <a:cs typeface="Times New Roman" panose="02020603050405020304" pitchFamily="18" charset="0"/>
              </a:endParaRPr>
            </a:p>
          </p:txBody>
        </p:sp>
        <p:sp>
          <p:nvSpPr>
            <p:cNvPr id="26" name="文本框 25">
              <a:extLst>
                <a:ext uri="{FF2B5EF4-FFF2-40B4-BE49-F238E27FC236}">
                  <a16:creationId xmlns:a16="http://schemas.microsoft.com/office/drawing/2014/main" id="{64886478-1441-A667-FAF4-15A4CFC296D7}"/>
                </a:ext>
              </a:extLst>
            </p:cNvPr>
            <p:cNvSpPr txBox="1"/>
            <p:nvPr/>
          </p:nvSpPr>
          <p:spPr>
            <a:xfrm>
              <a:off x="2687652" y="4852785"/>
              <a:ext cx="420787" cy="369332"/>
            </a:xfrm>
            <a:prstGeom prst="rect">
              <a:avLst/>
            </a:prstGeom>
            <a:noFill/>
          </p:spPr>
          <p:txBody>
            <a:bodyPr wrap="square" rtlCol="0">
              <a:spAutoFit/>
            </a:bodyPr>
            <a:lstStyle/>
            <a:p>
              <a:r>
                <a:rPr lang="en-US" altLang="zh-CN" b="1" dirty="0">
                  <a:solidFill>
                    <a:schemeClr val="accent2"/>
                  </a:solidFill>
                  <a:latin typeface="Times New Roman" panose="02020603050405020304" pitchFamily="18" charset="0"/>
                  <a:cs typeface="Times New Roman" panose="02020603050405020304" pitchFamily="18" charset="0"/>
                </a:rPr>
                <a:t>x</a:t>
              </a:r>
              <a:endParaRPr lang="zh-CN" altLang="en-US" b="1" dirty="0">
                <a:solidFill>
                  <a:schemeClr val="accent2"/>
                </a:solidFill>
                <a:latin typeface="Times New Roman" panose="02020603050405020304" pitchFamily="18" charset="0"/>
                <a:cs typeface="Times New Roman" panose="02020603050405020304" pitchFamily="18" charset="0"/>
              </a:endParaRPr>
            </a:p>
          </p:txBody>
        </p:sp>
        <p:sp>
          <p:nvSpPr>
            <p:cNvPr id="27" name="文本框 26">
              <a:extLst>
                <a:ext uri="{FF2B5EF4-FFF2-40B4-BE49-F238E27FC236}">
                  <a16:creationId xmlns:a16="http://schemas.microsoft.com/office/drawing/2014/main" id="{72BDC583-88A8-F3F1-D5AC-147BB8DEA963}"/>
                </a:ext>
              </a:extLst>
            </p:cNvPr>
            <p:cNvSpPr txBox="1"/>
            <p:nvPr/>
          </p:nvSpPr>
          <p:spPr>
            <a:xfrm>
              <a:off x="2416677" y="2759810"/>
              <a:ext cx="1189025" cy="369332"/>
            </a:xfrm>
            <a:prstGeom prst="rect">
              <a:avLst/>
            </a:prstGeom>
            <a:noFill/>
          </p:spPr>
          <p:txBody>
            <a:bodyPr wrap="square">
              <a:spAutoFit/>
            </a:bodyPr>
            <a:lstStyle/>
            <a:p>
              <a:r>
                <a:rPr lang="en-US" altLang="zh-CN" b="1" dirty="0">
                  <a:solidFill>
                    <a:schemeClr val="accent2"/>
                  </a:solidFill>
                  <a:latin typeface="Times New Roman" panose="02020603050405020304" pitchFamily="18" charset="0"/>
                  <a:cs typeface="Times New Roman" panose="02020603050405020304" pitchFamily="18" charset="0"/>
                </a:rPr>
                <a:t>LCA(</a:t>
              </a:r>
              <a:r>
                <a:rPr lang="en-US" altLang="zh-CN" b="1" dirty="0" err="1">
                  <a:solidFill>
                    <a:schemeClr val="accent2"/>
                  </a:solidFill>
                  <a:latin typeface="Times New Roman" panose="02020603050405020304" pitchFamily="18" charset="0"/>
                  <a:cs typeface="Times New Roman" panose="02020603050405020304" pitchFamily="18" charset="0"/>
                </a:rPr>
                <a:t>x,y</a:t>
              </a:r>
              <a:r>
                <a:rPr lang="en-US" altLang="zh-CN" b="1" dirty="0">
                  <a:solidFill>
                    <a:schemeClr val="accent2"/>
                  </a:solidFill>
                  <a:latin typeface="Times New Roman" panose="02020603050405020304" pitchFamily="18" charset="0"/>
                  <a:cs typeface="Times New Roman" panose="02020603050405020304" pitchFamily="18" charset="0"/>
                </a:rPr>
                <a:t>)</a:t>
              </a:r>
              <a:endParaRPr lang="zh-CN" altLang="en-US" b="1" dirty="0">
                <a:solidFill>
                  <a:schemeClr val="accent2"/>
                </a:solidFill>
                <a:latin typeface="Times New Roman" panose="02020603050405020304" pitchFamily="18" charset="0"/>
                <a:cs typeface="Times New Roman" panose="02020603050405020304" pitchFamily="18" charset="0"/>
              </a:endParaRPr>
            </a:p>
          </p:txBody>
        </p:sp>
      </p:grpSp>
      <p:sp>
        <p:nvSpPr>
          <p:cNvPr id="28" name="文本框 27">
            <a:extLst>
              <a:ext uri="{FF2B5EF4-FFF2-40B4-BE49-F238E27FC236}">
                <a16:creationId xmlns:a16="http://schemas.microsoft.com/office/drawing/2014/main" id="{97A2219F-0151-8EF6-1CB5-BA070A2E383E}"/>
              </a:ext>
            </a:extLst>
          </p:cNvPr>
          <p:cNvSpPr txBox="1"/>
          <p:nvPr/>
        </p:nvSpPr>
        <p:spPr>
          <a:xfrm>
            <a:off x="4375658" y="2032086"/>
            <a:ext cx="6511186" cy="4801314"/>
          </a:xfrm>
          <a:prstGeom prst="rect">
            <a:avLst/>
          </a:prstGeom>
          <a:noFill/>
        </p:spPr>
        <p:txBody>
          <a:bodyPr wrap="square">
            <a:spAutoFit/>
          </a:bodyPr>
          <a:lstStyle/>
          <a:p>
            <a:pPr marL="285750" indent="-285750">
              <a:lnSpc>
                <a:spcPct val="200000"/>
              </a:lnSpc>
              <a:spcBef>
                <a:spcPct val="50000"/>
              </a:spcBef>
              <a:buFont typeface="Arial" panose="020B0604020202020204" pitchFamily="34" charset="0"/>
              <a:buChar char="•"/>
            </a:pPr>
            <a:r>
              <a:rPr lang="zh-CN" altLang="en-US" noProof="1">
                <a:latin typeface="微软雅黑" panose="020B0503020204020204" pitchFamily="34" charset="-122"/>
                <a:ea typeface="微软雅黑" panose="020B0503020204020204" pitchFamily="34" charset="-122"/>
              </a:rPr>
              <a:t>在</a:t>
            </a:r>
            <a:r>
              <a:rPr lang="en-US" altLang="zh-CN" noProof="1">
                <a:latin typeface="微软雅黑" panose="020B0503020204020204" pitchFamily="34" charset="-122"/>
                <a:ea typeface="微软雅黑" panose="020B0503020204020204" pitchFamily="34" charset="-122"/>
              </a:rPr>
              <a:t>x</a:t>
            </a:r>
            <a:r>
              <a:rPr lang="zh-CN" altLang="en-US" noProof="1">
                <a:latin typeface="微软雅黑" panose="020B0503020204020204" pitchFamily="34" charset="-122"/>
                <a:ea typeface="微软雅黑" panose="020B0503020204020204" pitchFamily="34" charset="-122"/>
              </a:rPr>
              <a:t>回溯之前，标记情况与合并情况如下图所示。黑色表示标记</a:t>
            </a:r>
            <a:r>
              <a:rPr lang="en-US" altLang="zh-CN" noProof="1">
                <a:latin typeface="微软雅黑" panose="020B0503020204020204" pitchFamily="34" charset="-122"/>
                <a:ea typeface="微软雅黑" panose="020B0503020204020204" pitchFamily="34" charset="-122"/>
              </a:rPr>
              <a:t>1</a:t>
            </a:r>
            <a:r>
              <a:rPr lang="zh-CN" altLang="en-US" noProof="1">
                <a:latin typeface="微软雅黑" panose="020B0503020204020204" pitchFamily="34" charset="-122"/>
                <a:ea typeface="微软雅黑" panose="020B0503020204020204" pitchFamily="34" charset="-122"/>
              </a:rPr>
              <a:t>，灰色表示标记</a:t>
            </a:r>
            <a:r>
              <a:rPr lang="en-US" altLang="zh-CN" noProof="1">
                <a:latin typeface="微软雅黑" panose="020B0503020204020204" pitchFamily="34" charset="-122"/>
                <a:ea typeface="微软雅黑" panose="020B0503020204020204" pitchFamily="34" charset="-122"/>
              </a:rPr>
              <a:t>2</a:t>
            </a:r>
            <a:r>
              <a:rPr lang="zh-CN" altLang="en-US" noProof="1">
                <a:latin typeface="微软雅黑" panose="020B0503020204020204" pitchFamily="34" charset="-122"/>
                <a:ea typeface="微软雅黑" panose="020B0503020204020204" pitchFamily="34" charset="-122"/>
              </a:rPr>
              <a:t>，白色表示没有标记，箭头表示执行了合并操作。</a:t>
            </a:r>
            <a:endParaRPr lang="en-US" altLang="zh-CN" noProof="1">
              <a:latin typeface="微软雅黑" panose="020B0503020204020204" pitchFamily="34" charset="-122"/>
              <a:ea typeface="微软雅黑" panose="020B0503020204020204" pitchFamily="34" charset="-122"/>
            </a:endParaRPr>
          </a:p>
          <a:p>
            <a:pPr marL="285750" indent="-285750">
              <a:lnSpc>
                <a:spcPct val="200000"/>
              </a:lnSpc>
              <a:spcBef>
                <a:spcPct val="50000"/>
              </a:spcBef>
              <a:buFont typeface="Arial" panose="020B0604020202020204" pitchFamily="34" charset="0"/>
              <a:buChar char="•"/>
            </a:pPr>
            <a:r>
              <a:rPr lang="zh-CN" altLang="en-US" noProof="1">
                <a:latin typeface="微软雅黑" panose="020B0503020204020204" pitchFamily="34" charset="-122"/>
                <a:ea typeface="微软雅黑" panose="020B0503020204020204" pitchFamily="34" charset="-122"/>
              </a:rPr>
              <a:t>此时扫描所有与</a:t>
            </a:r>
            <a:r>
              <a:rPr lang="en-US" altLang="zh-CN" noProof="1">
                <a:latin typeface="微软雅黑" panose="020B0503020204020204" pitchFamily="34" charset="-122"/>
                <a:ea typeface="微软雅黑" panose="020B0503020204020204" pitchFamily="34" charset="-122"/>
              </a:rPr>
              <a:t>x</a:t>
            </a:r>
            <a:r>
              <a:rPr lang="zh-CN" altLang="en-US" noProof="1">
                <a:latin typeface="微软雅黑" panose="020B0503020204020204" pitchFamily="34" charset="-122"/>
                <a:ea typeface="微软雅黑" panose="020B0503020204020204" pitchFamily="34" charset="-122"/>
              </a:rPr>
              <a:t>相关的所有询问，若询问当中的另外一个点</a:t>
            </a:r>
            <a:r>
              <a:rPr lang="en-US" altLang="zh-CN" noProof="1">
                <a:latin typeface="微软雅黑" panose="020B0503020204020204" pitchFamily="34" charset="-122"/>
                <a:ea typeface="微软雅黑" panose="020B0503020204020204" pitchFamily="34" charset="-122"/>
              </a:rPr>
              <a:t>y</a:t>
            </a:r>
            <a:r>
              <a:rPr lang="zh-CN" altLang="en-US" noProof="1">
                <a:latin typeface="微软雅黑" panose="020B0503020204020204" pitchFamily="34" charset="-122"/>
                <a:ea typeface="微软雅黑" panose="020B0503020204020204" pitchFamily="34" charset="-122"/>
              </a:rPr>
              <a:t>的标记为</a:t>
            </a:r>
            <a:r>
              <a:rPr lang="en-US" altLang="zh-CN" noProof="1">
                <a:latin typeface="微软雅黑" panose="020B0503020204020204" pitchFamily="34" charset="-122"/>
                <a:ea typeface="微软雅黑" panose="020B0503020204020204" pitchFamily="34" charset="-122"/>
              </a:rPr>
              <a:t>2</a:t>
            </a:r>
            <a:r>
              <a:rPr lang="zh-CN" altLang="en-US" noProof="1">
                <a:latin typeface="微软雅黑" panose="020B0503020204020204" pitchFamily="34" charset="-122"/>
                <a:ea typeface="微软雅黑" panose="020B0503020204020204" pitchFamily="34" charset="-122"/>
              </a:rPr>
              <a:t>，就知道了该询问的回答是</a:t>
            </a:r>
            <a:r>
              <a:rPr lang="en-US" altLang="zh-CN" noProof="1">
                <a:latin typeface="微软雅黑" panose="020B0503020204020204" pitchFamily="34" charset="-122"/>
                <a:ea typeface="微软雅黑" panose="020B0503020204020204" pitchFamily="34" charset="-122"/>
              </a:rPr>
              <a:t>y</a:t>
            </a:r>
            <a:r>
              <a:rPr lang="zh-CN" altLang="en-US" noProof="1">
                <a:latin typeface="微软雅黑" panose="020B0503020204020204" pitchFamily="34" charset="-122"/>
                <a:ea typeface="微软雅黑" panose="020B0503020204020204" pitchFamily="34" charset="-122"/>
              </a:rPr>
              <a:t>所在并查集中的代表元素（并查集当中</a:t>
            </a:r>
            <a:r>
              <a:rPr lang="en-US" altLang="zh-CN" noProof="1">
                <a:latin typeface="微软雅黑" panose="020B0503020204020204" pitchFamily="34" charset="-122"/>
                <a:ea typeface="微软雅黑" panose="020B0503020204020204" pitchFamily="34" charset="-122"/>
              </a:rPr>
              <a:t>get</a:t>
            </a:r>
            <a:r>
              <a:rPr lang="zh-CN" altLang="en-US" noProof="1">
                <a:latin typeface="微软雅黑" panose="020B0503020204020204" pitchFamily="34" charset="-122"/>
                <a:ea typeface="微软雅黑" panose="020B0503020204020204" pitchFamily="34" charset="-122"/>
              </a:rPr>
              <a:t>（</a:t>
            </a:r>
            <a:r>
              <a:rPr lang="en-US" altLang="zh-CN" noProof="1">
                <a:latin typeface="微软雅黑" panose="020B0503020204020204" pitchFamily="34" charset="-122"/>
                <a:ea typeface="微软雅黑" panose="020B0503020204020204" pitchFamily="34" charset="-122"/>
              </a:rPr>
              <a:t>y</a:t>
            </a:r>
            <a:r>
              <a:rPr lang="zh-CN" altLang="en-US" noProof="1">
                <a:latin typeface="微软雅黑" panose="020B0503020204020204" pitchFamily="34" charset="-122"/>
                <a:ea typeface="微软雅黑" panose="020B0503020204020204" pitchFamily="34" charset="-122"/>
              </a:rPr>
              <a:t>）函数的结果）（</a:t>
            </a:r>
            <a:r>
              <a:rPr lang="en-US" altLang="zh-CN" noProof="1">
                <a:latin typeface="微软雅黑" panose="020B0503020204020204" pitchFamily="34" charset="-122"/>
                <a:ea typeface="微软雅黑" panose="020B0503020204020204" pitchFamily="34" charset="-122"/>
              </a:rPr>
              <a:t>x=y</a:t>
            </a:r>
            <a:r>
              <a:rPr lang="zh-CN" altLang="en-US" noProof="1">
                <a:latin typeface="微软雅黑" panose="020B0503020204020204" pitchFamily="34" charset="-122"/>
                <a:ea typeface="微软雅黑" panose="020B0503020204020204" pitchFamily="34" charset="-122"/>
              </a:rPr>
              <a:t>需要做特判，直接返回</a:t>
            </a:r>
            <a:r>
              <a:rPr lang="en-US" altLang="zh-CN" noProof="1">
                <a:latin typeface="微软雅黑" panose="020B0503020204020204" pitchFamily="34" charset="-122"/>
                <a:ea typeface="微软雅黑" panose="020B0503020204020204" pitchFamily="34" charset="-122"/>
              </a:rPr>
              <a:t>x</a:t>
            </a:r>
            <a:r>
              <a:rPr lang="zh-CN" altLang="en-US" noProof="1">
                <a:latin typeface="微软雅黑" panose="020B0503020204020204" pitchFamily="34" charset="-122"/>
                <a:ea typeface="微软雅黑" panose="020B0503020204020204" pitchFamily="34" charset="-122"/>
              </a:rPr>
              <a:t>）</a:t>
            </a:r>
            <a:endParaRPr lang="en-US" altLang="zh-CN" noProof="1">
              <a:latin typeface="微软雅黑" panose="020B0503020204020204" pitchFamily="34" charset="-122"/>
              <a:ea typeface="微软雅黑" panose="020B0503020204020204" pitchFamily="34" charset="-122"/>
            </a:endParaRPr>
          </a:p>
          <a:p>
            <a:pPr marL="285750" indent="-285750">
              <a:lnSpc>
                <a:spcPct val="200000"/>
              </a:lnSpc>
              <a:spcBef>
                <a:spcPct val="50000"/>
              </a:spcBef>
              <a:buFont typeface="Arial" panose="020B0604020202020204" pitchFamily="34" charset="0"/>
              <a:buChar char="•"/>
            </a:pPr>
            <a:r>
              <a:rPr lang="zh-CN" altLang="en-US" noProof="1">
                <a:latin typeface="微软雅黑" panose="020B0503020204020204" pitchFamily="34" charset="-122"/>
                <a:ea typeface="微软雅黑" panose="020B0503020204020204" pitchFamily="34" charset="-122"/>
              </a:rPr>
              <a:t>多次查询树上两点之间的距离，时间复杂度为</a:t>
            </a:r>
            <a:r>
              <a:rPr lang="en-US" altLang="zh-CN" noProof="1">
                <a:latin typeface="微软雅黑" panose="020B0503020204020204" pitchFamily="34" charset="-122"/>
                <a:ea typeface="微软雅黑" panose="020B0503020204020204" pitchFamily="34" charset="-122"/>
              </a:rPr>
              <a:t>O</a:t>
            </a:r>
            <a:r>
              <a:rPr lang="zh-CN" altLang="en-US" noProof="1">
                <a:latin typeface="微软雅黑" panose="020B0503020204020204" pitchFamily="34" charset="-122"/>
                <a:ea typeface="微软雅黑" panose="020B0503020204020204" pitchFamily="34" charset="-122"/>
              </a:rPr>
              <a:t>（</a:t>
            </a:r>
            <a:r>
              <a:rPr lang="en-US" altLang="zh-CN" noProof="1">
                <a:latin typeface="微软雅黑" panose="020B0503020204020204" pitchFamily="34" charset="-122"/>
                <a:ea typeface="微软雅黑" panose="020B0503020204020204" pitchFamily="34" charset="-122"/>
              </a:rPr>
              <a:t>n+m</a:t>
            </a:r>
            <a:r>
              <a:rPr lang="zh-CN" altLang="en-US" noProof="1">
                <a:latin typeface="微软雅黑" panose="020B0503020204020204" pitchFamily="34" charset="-122"/>
                <a:ea typeface="微软雅黑" panose="020B0503020204020204" pitchFamily="34" charset="-122"/>
              </a:rPr>
              <a:t>）</a:t>
            </a:r>
            <a:endParaRPr lang="en-US" altLang="zh-CN" noProof="1">
              <a:latin typeface="微软雅黑" panose="020B0503020204020204" pitchFamily="34" charset="-122"/>
              <a:ea typeface="微软雅黑" panose="020B0503020204020204" pitchFamily="34" charset="-122"/>
            </a:endParaRPr>
          </a:p>
        </p:txBody>
      </p:sp>
      <p:cxnSp>
        <p:nvCxnSpPr>
          <p:cNvPr id="30" name="直接箭头连接符 29">
            <a:extLst>
              <a:ext uri="{FF2B5EF4-FFF2-40B4-BE49-F238E27FC236}">
                <a16:creationId xmlns:a16="http://schemas.microsoft.com/office/drawing/2014/main" id="{D555EE42-80B8-7B4C-B47B-BE4E64FCACFC}"/>
              </a:ext>
            </a:extLst>
          </p:cNvPr>
          <p:cNvCxnSpPr>
            <a:cxnSpLocks/>
          </p:cNvCxnSpPr>
          <p:nvPr/>
        </p:nvCxnSpPr>
        <p:spPr>
          <a:xfrm flipV="1">
            <a:off x="1161740" y="3850654"/>
            <a:ext cx="344619" cy="430009"/>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D7E2A288-037F-3980-D846-D0CE43874E7A}"/>
              </a:ext>
            </a:extLst>
          </p:cNvPr>
          <p:cNvCxnSpPr>
            <a:stCxn id="9" idx="0"/>
            <a:endCxn id="17" idx="4"/>
          </p:cNvCxnSpPr>
          <p:nvPr/>
        </p:nvCxnSpPr>
        <p:spPr>
          <a:xfrm flipH="1" flipV="1">
            <a:off x="1516660" y="3854579"/>
            <a:ext cx="291161" cy="383057"/>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接箭头连接符 33">
            <a:extLst>
              <a:ext uri="{FF2B5EF4-FFF2-40B4-BE49-F238E27FC236}">
                <a16:creationId xmlns:a16="http://schemas.microsoft.com/office/drawing/2014/main" id="{DCA2E78C-D3AB-F639-AB16-AD32ACC0AFF3}"/>
              </a:ext>
            </a:extLst>
          </p:cNvPr>
          <p:cNvCxnSpPr>
            <a:stCxn id="17" idx="0"/>
            <a:endCxn id="8" idx="4"/>
          </p:cNvCxnSpPr>
          <p:nvPr/>
        </p:nvCxnSpPr>
        <p:spPr>
          <a:xfrm flipV="1">
            <a:off x="1516660" y="2927076"/>
            <a:ext cx="643609" cy="45587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a:extLst>
              <a:ext uri="{FF2B5EF4-FFF2-40B4-BE49-F238E27FC236}">
                <a16:creationId xmlns:a16="http://schemas.microsoft.com/office/drawing/2014/main" id="{A9DE71B7-887C-BC2B-AD05-CD75A47DEABD}"/>
              </a:ext>
            </a:extLst>
          </p:cNvPr>
          <p:cNvCxnSpPr>
            <a:stCxn id="22" idx="0"/>
            <a:endCxn id="8" idx="4"/>
          </p:cNvCxnSpPr>
          <p:nvPr/>
        </p:nvCxnSpPr>
        <p:spPr>
          <a:xfrm flipH="1" flipV="1">
            <a:off x="2160269" y="2927076"/>
            <a:ext cx="39454" cy="44444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a:extLst>
              <a:ext uri="{FF2B5EF4-FFF2-40B4-BE49-F238E27FC236}">
                <a16:creationId xmlns:a16="http://schemas.microsoft.com/office/drawing/2014/main" id="{D1A7774A-4959-6B0F-F9DD-C6D79FAC7B53}"/>
              </a:ext>
            </a:extLst>
          </p:cNvPr>
          <p:cNvCxnSpPr>
            <a:stCxn id="11" idx="0"/>
            <a:endCxn id="21" idx="4"/>
          </p:cNvCxnSpPr>
          <p:nvPr/>
        </p:nvCxnSpPr>
        <p:spPr>
          <a:xfrm flipV="1">
            <a:off x="2078289" y="4705519"/>
            <a:ext cx="484544" cy="391215"/>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4987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最近公共祖先</a:t>
            </a:r>
            <a:r>
              <a:rPr lang="en-US" altLang="zh-CN" dirty="0"/>
              <a:t>LCA</a:t>
            </a:r>
            <a:endParaRPr lang="zh-CN" altLang="en-US" dirty="0"/>
          </a:p>
        </p:txBody>
      </p:sp>
      <p:sp>
        <p:nvSpPr>
          <p:cNvPr id="5" name="文本框 4">
            <a:extLst>
              <a:ext uri="{FF2B5EF4-FFF2-40B4-BE49-F238E27FC236}">
                <a16:creationId xmlns:a16="http://schemas.microsoft.com/office/drawing/2014/main" id="{5BD4960D-F8F3-C34B-0FDF-540E331018B9}"/>
              </a:ext>
            </a:extLst>
          </p:cNvPr>
          <p:cNvSpPr txBox="1"/>
          <p:nvPr/>
        </p:nvSpPr>
        <p:spPr>
          <a:xfrm>
            <a:off x="953982" y="1414854"/>
            <a:ext cx="2117694" cy="369332"/>
          </a:xfrm>
          <a:prstGeom prst="rect">
            <a:avLst/>
          </a:prstGeom>
          <a:noFill/>
        </p:spPr>
        <p:txBody>
          <a:bodyPr wrap="square">
            <a:spAutoFit/>
          </a:bodyPr>
          <a:lstStyle/>
          <a:p>
            <a:r>
              <a:rPr lang="en-US" altLang="zh-CN" b="1" noProof="1">
                <a:solidFill>
                  <a:schemeClr val="accent2"/>
                </a:solidFill>
                <a:latin typeface="微软雅黑" panose="020B0503020204020204" pitchFamily="34" charset="-122"/>
                <a:ea typeface="微软雅黑" panose="020B0503020204020204" pitchFamily="34" charset="-122"/>
              </a:rPr>
              <a:t>【</a:t>
            </a:r>
            <a:r>
              <a:rPr lang="zh-CN" altLang="en-US" b="1" noProof="1">
                <a:solidFill>
                  <a:schemeClr val="accent2"/>
                </a:solidFill>
                <a:latin typeface="微软雅黑" panose="020B0503020204020204" pitchFamily="34" charset="-122"/>
                <a:ea typeface="微软雅黑" panose="020B0503020204020204" pitchFamily="34" charset="-122"/>
              </a:rPr>
              <a:t>参考程序</a:t>
            </a:r>
            <a:r>
              <a:rPr lang="en-US" altLang="zh-CN" b="1" noProof="1">
                <a:solidFill>
                  <a:schemeClr val="accent2"/>
                </a:solidFill>
                <a:latin typeface="微软雅黑" panose="020B0503020204020204" pitchFamily="34" charset="-122"/>
                <a:ea typeface="微软雅黑" panose="020B0503020204020204" pitchFamily="34" charset="-122"/>
              </a:rPr>
              <a:t>】</a:t>
            </a:r>
            <a:endParaRPr lang="zh-CN" altLang="en-US" b="1" noProof="1">
              <a:solidFill>
                <a:schemeClr val="accent2"/>
              </a:solidFill>
              <a:latin typeface="微软雅黑" panose="020B0503020204020204" pitchFamily="34" charset="-122"/>
              <a:ea typeface="微软雅黑" panose="020B0503020204020204" pitchFamily="34" charset="-122"/>
            </a:endParaRPr>
          </a:p>
        </p:txBody>
      </p:sp>
      <p:pic>
        <p:nvPicPr>
          <p:cNvPr id="6" name="图片 5">
            <a:extLst>
              <a:ext uri="{FF2B5EF4-FFF2-40B4-BE49-F238E27FC236}">
                <a16:creationId xmlns:a16="http://schemas.microsoft.com/office/drawing/2014/main" id="{06B8BCE8-485B-8756-2652-5E529BEA8127}"/>
              </a:ext>
            </a:extLst>
          </p:cNvPr>
          <p:cNvPicPr>
            <a:picLocks noChangeAspect="1"/>
          </p:cNvPicPr>
          <p:nvPr/>
        </p:nvPicPr>
        <p:blipFill>
          <a:blip r:embed="rId2" cstate="print"/>
          <a:stretch>
            <a:fillRect/>
          </a:stretch>
        </p:blipFill>
        <p:spPr>
          <a:xfrm>
            <a:off x="1205004" y="2014146"/>
            <a:ext cx="8734425" cy="3429000"/>
          </a:xfrm>
          <a:prstGeom prst="rect">
            <a:avLst/>
          </a:prstGeom>
        </p:spPr>
      </p:pic>
    </p:spTree>
    <p:extLst>
      <p:ext uri="{BB962C8B-B14F-4D97-AF65-F5344CB8AC3E}">
        <p14:creationId xmlns:p14="http://schemas.microsoft.com/office/powerpoint/2010/main" val="85199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最近公共祖先</a:t>
            </a:r>
            <a:r>
              <a:rPr lang="en-US" altLang="zh-CN" dirty="0"/>
              <a:t>LCA</a:t>
            </a:r>
            <a:endParaRPr lang="zh-CN" altLang="en-US" dirty="0"/>
          </a:p>
        </p:txBody>
      </p:sp>
      <p:sp>
        <p:nvSpPr>
          <p:cNvPr id="5" name="文本框 4">
            <a:extLst>
              <a:ext uri="{FF2B5EF4-FFF2-40B4-BE49-F238E27FC236}">
                <a16:creationId xmlns:a16="http://schemas.microsoft.com/office/drawing/2014/main" id="{5BD4960D-F8F3-C34B-0FDF-540E331018B9}"/>
              </a:ext>
            </a:extLst>
          </p:cNvPr>
          <p:cNvSpPr txBox="1"/>
          <p:nvPr/>
        </p:nvSpPr>
        <p:spPr>
          <a:xfrm>
            <a:off x="953982" y="1414854"/>
            <a:ext cx="2117694" cy="369332"/>
          </a:xfrm>
          <a:prstGeom prst="rect">
            <a:avLst/>
          </a:prstGeom>
          <a:noFill/>
        </p:spPr>
        <p:txBody>
          <a:bodyPr wrap="square">
            <a:spAutoFit/>
          </a:bodyPr>
          <a:lstStyle/>
          <a:p>
            <a:r>
              <a:rPr lang="en-US" altLang="zh-CN" b="1" noProof="1">
                <a:solidFill>
                  <a:schemeClr val="accent2"/>
                </a:solidFill>
                <a:latin typeface="微软雅黑" panose="020B0503020204020204" pitchFamily="34" charset="-122"/>
                <a:ea typeface="微软雅黑" panose="020B0503020204020204" pitchFamily="34" charset="-122"/>
              </a:rPr>
              <a:t>【</a:t>
            </a:r>
            <a:r>
              <a:rPr lang="zh-CN" altLang="en-US" b="1" noProof="1">
                <a:solidFill>
                  <a:schemeClr val="accent2"/>
                </a:solidFill>
                <a:latin typeface="微软雅黑" panose="020B0503020204020204" pitchFamily="34" charset="-122"/>
                <a:ea typeface="微软雅黑" panose="020B0503020204020204" pitchFamily="34" charset="-122"/>
              </a:rPr>
              <a:t>参考程序</a:t>
            </a:r>
            <a:r>
              <a:rPr lang="en-US" altLang="zh-CN" b="1" noProof="1">
                <a:solidFill>
                  <a:schemeClr val="accent2"/>
                </a:solidFill>
                <a:latin typeface="微软雅黑" panose="020B0503020204020204" pitchFamily="34" charset="-122"/>
                <a:ea typeface="微软雅黑" panose="020B0503020204020204" pitchFamily="34" charset="-122"/>
              </a:rPr>
              <a:t>】</a:t>
            </a:r>
            <a:endParaRPr lang="zh-CN" altLang="en-US" b="1" noProof="1">
              <a:solidFill>
                <a:schemeClr val="accent2"/>
              </a:solidFill>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6281496E-51C5-E59D-9A22-AD543B81A5ED}"/>
              </a:ext>
            </a:extLst>
          </p:cNvPr>
          <p:cNvPicPr>
            <a:picLocks noChangeAspect="1"/>
          </p:cNvPicPr>
          <p:nvPr/>
        </p:nvPicPr>
        <p:blipFill>
          <a:blip r:embed="rId2" cstate="print"/>
          <a:stretch>
            <a:fillRect/>
          </a:stretch>
        </p:blipFill>
        <p:spPr>
          <a:xfrm>
            <a:off x="2405849" y="1414854"/>
            <a:ext cx="8136060" cy="5352462"/>
          </a:xfrm>
          <a:prstGeom prst="rect">
            <a:avLst/>
          </a:prstGeom>
        </p:spPr>
      </p:pic>
    </p:spTree>
    <p:extLst>
      <p:ext uri="{BB962C8B-B14F-4D97-AF65-F5344CB8AC3E}">
        <p14:creationId xmlns:p14="http://schemas.microsoft.com/office/powerpoint/2010/main" val="13424752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最近公共祖先</a:t>
            </a:r>
            <a:r>
              <a:rPr lang="en-US" altLang="zh-CN" dirty="0"/>
              <a:t>LCA</a:t>
            </a:r>
            <a:endParaRPr lang="zh-CN" altLang="en-US" dirty="0"/>
          </a:p>
        </p:txBody>
      </p:sp>
      <p:sp>
        <p:nvSpPr>
          <p:cNvPr id="5" name="矩形 4"/>
          <p:cNvSpPr/>
          <p:nvPr/>
        </p:nvSpPr>
        <p:spPr>
          <a:xfrm>
            <a:off x="1025000" y="1173162"/>
            <a:ext cx="10060582" cy="4757841"/>
          </a:xfrm>
          <a:prstGeom prst="rect">
            <a:avLst/>
          </a:prstGeom>
        </p:spPr>
        <p:txBody>
          <a:bodyPr wrap="square">
            <a:spAutoFit/>
          </a:bodyPr>
          <a:lstStyle/>
          <a:p>
            <a:pPr>
              <a:lnSpc>
                <a:spcPct val="200000"/>
              </a:lnSpc>
              <a:spcBef>
                <a:spcPct val="50000"/>
              </a:spcBef>
            </a:pPr>
            <a:r>
              <a:rPr lang="zh-CN" altLang="en-US" b="1" noProof="1">
                <a:solidFill>
                  <a:schemeClr val="accent2"/>
                </a:solidFill>
                <a:latin typeface="微软雅黑" panose="020B0503020204020204" pitchFamily="34" charset="-122"/>
                <a:ea typeface="微软雅黑" panose="020B0503020204020204" pitchFamily="34" charset="-122"/>
              </a:rPr>
              <a:t>例</a:t>
            </a:r>
            <a:r>
              <a:rPr lang="en-US" altLang="zh-CN" b="1" noProof="1">
                <a:solidFill>
                  <a:schemeClr val="accent2"/>
                </a:solidFill>
                <a:latin typeface="微软雅黑" panose="020B0503020204020204" pitchFamily="34" charset="-122"/>
                <a:ea typeface="微软雅黑" panose="020B0503020204020204" pitchFamily="34" charset="-122"/>
              </a:rPr>
              <a:t>2</a:t>
            </a:r>
            <a:r>
              <a:rPr lang="zh-CN" altLang="en-US" b="1" noProof="1">
                <a:solidFill>
                  <a:schemeClr val="accent2"/>
                </a:solidFill>
                <a:latin typeface="微软雅黑" panose="020B0503020204020204" pitchFamily="34" charset="-122"/>
                <a:ea typeface="微软雅黑" panose="020B0503020204020204" pitchFamily="34" charset="-122"/>
              </a:rPr>
              <a:t>：闇</a:t>
            </a:r>
            <a:r>
              <a:rPr lang="ja-JP" altLang="en-US" b="1" noProof="1">
                <a:solidFill>
                  <a:schemeClr val="accent2"/>
                </a:solidFill>
                <a:latin typeface="微软雅黑" panose="020B0503020204020204" pitchFamily="34" charset="-122"/>
                <a:ea typeface="微软雅黑" panose="020B0503020204020204" pitchFamily="34" charset="-122"/>
              </a:rPr>
              <a:t>の</a:t>
            </a:r>
            <a:r>
              <a:rPr lang="zh-CN" altLang="en-US" b="1" noProof="1">
                <a:solidFill>
                  <a:schemeClr val="accent2"/>
                </a:solidFill>
                <a:latin typeface="微软雅黑" panose="020B0503020204020204" pitchFamily="34" charset="-122"/>
                <a:ea typeface="微软雅黑" panose="020B0503020204020204" pitchFamily="34" charset="-122"/>
              </a:rPr>
              <a:t>連鎖</a:t>
            </a:r>
            <a:endParaRPr lang="en-US" altLang="zh-CN" b="1" noProof="1">
              <a:solidFill>
                <a:schemeClr val="accent2"/>
              </a:solidFill>
              <a:latin typeface="微软雅黑" panose="020B0503020204020204" pitchFamily="34" charset="-122"/>
              <a:ea typeface="微软雅黑" panose="020B0503020204020204" pitchFamily="34" charset="-122"/>
            </a:endParaRPr>
          </a:p>
          <a:p>
            <a:pPr>
              <a:lnSpc>
                <a:spcPct val="200000"/>
              </a:lnSpc>
              <a:spcBef>
                <a:spcPct val="50000"/>
              </a:spcBef>
            </a:pPr>
            <a:r>
              <a:rPr lang="zh-CN" altLang="en-US" sz="1600" noProof="1">
                <a:latin typeface="微软雅黑" panose="020B0503020204020204" pitchFamily="34" charset="-122"/>
                <a:ea typeface="微软雅黑" panose="020B0503020204020204" pitchFamily="34" charset="-122"/>
              </a:rPr>
              <a:t>传说中的暗之连锁被人们称为 </a:t>
            </a:r>
            <a:r>
              <a:rPr lang="en-US" altLang="zh-CN" sz="1600" noProof="1">
                <a:latin typeface="微软雅黑" panose="020B0503020204020204" pitchFamily="34" charset="-122"/>
                <a:ea typeface="微软雅黑" panose="020B0503020204020204" pitchFamily="34" charset="-122"/>
              </a:rPr>
              <a:t>Dark</a:t>
            </a:r>
            <a:r>
              <a:rPr lang="zh-CN" altLang="en-US" sz="1600" noProof="1">
                <a:latin typeface="微软雅黑" panose="020B0503020204020204" pitchFamily="34" charset="-122"/>
                <a:ea typeface="微软雅黑" panose="020B0503020204020204" pitchFamily="34" charset="-122"/>
              </a:rPr>
              <a:t>。</a:t>
            </a:r>
            <a:r>
              <a:rPr lang="en-US" altLang="zh-CN" sz="1600" noProof="1">
                <a:latin typeface="微软雅黑" panose="020B0503020204020204" pitchFamily="34" charset="-122"/>
                <a:ea typeface="微软雅黑" panose="020B0503020204020204" pitchFamily="34" charset="-122"/>
              </a:rPr>
              <a:t>Dark </a:t>
            </a:r>
            <a:r>
              <a:rPr lang="zh-CN" altLang="en-US" sz="1600" noProof="1">
                <a:latin typeface="微软雅黑" panose="020B0503020204020204" pitchFamily="34" charset="-122"/>
                <a:ea typeface="微软雅黑" panose="020B0503020204020204" pitchFamily="34" charset="-122"/>
              </a:rPr>
              <a:t>是人类内心的 黑暗的产物，古今中外的勇者们都试图打倒它。经过研究， 你发现 </a:t>
            </a:r>
            <a:r>
              <a:rPr lang="en-US" altLang="zh-CN" sz="1600" noProof="1">
                <a:latin typeface="微软雅黑" panose="020B0503020204020204" pitchFamily="34" charset="-122"/>
                <a:ea typeface="微软雅黑" panose="020B0503020204020204" pitchFamily="34" charset="-122"/>
              </a:rPr>
              <a:t>Dark </a:t>
            </a:r>
            <a:r>
              <a:rPr lang="zh-CN" altLang="en-US" sz="1600" noProof="1">
                <a:latin typeface="微软雅黑" panose="020B0503020204020204" pitchFamily="34" charset="-122"/>
                <a:ea typeface="微软雅黑" panose="020B0503020204020204" pitchFamily="34" charset="-122"/>
              </a:rPr>
              <a:t>呈现</a:t>
            </a:r>
            <a:r>
              <a:rPr lang="zh-CN" altLang="en-US" sz="1600" b="1" noProof="1">
                <a:solidFill>
                  <a:schemeClr val="accent2"/>
                </a:solidFill>
                <a:latin typeface="微软雅黑" panose="020B0503020204020204" pitchFamily="34" charset="-122"/>
                <a:ea typeface="微软雅黑" panose="020B0503020204020204" pitchFamily="34" charset="-122"/>
              </a:rPr>
              <a:t>无向图</a:t>
            </a:r>
            <a:r>
              <a:rPr lang="zh-CN" altLang="en-US" sz="1600" noProof="1">
                <a:latin typeface="微软雅黑" panose="020B0503020204020204" pitchFamily="34" charset="-122"/>
                <a:ea typeface="微软雅黑" panose="020B0503020204020204" pitchFamily="34" charset="-122"/>
              </a:rPr>
              <a:t>的结构，图中有 </a:t>
            </a:r>
            <a:r>
              <a:rPr lang="en-US" altLang="zh-CN" sz="1600" noProof="1">
                <a:latin typeface="微软雅黑" panose="020B0503020204020204" pitchFamily="34" charset="-122"/>
                <a:ea typeface="微软雅黑" panose="020B0503020204020204" pitchFamily="34" charset="-122"/>
              </a:rPr>
              <a:t>N </a:t>
            </a:r>
            <a:r>
              <a:rPr lang="zh-CN" altLang="en-US" sz="1600" noProof="1">
                <a:latin typeface="微软雅黑" panose="020B0503020204020204" pitchFamily="34" charset="-122"/>
                <a:ea typeface="微软雅黑" panose="020B0503020204020204" pitchFamily="34" charset="-122"/>
              </a:rPr>
              <a:t>个节点和两类边， 一类边被称为主要边，而另一类被称为附加边。</a:t>
            </a:r>
            <a:r>
              <a:rPr lang="en-US" altLang="zh-CN" sz="1600" noProof="1">
                <a:latin typeface="微软雅黑" panose="020B0503020204020204" pitchFamily="34" charset="-122"/>
                <a:ea typeface="微软雅黑" panose="020B0503020204020204" pitchFamily="34" charset="-122"/>
              </a:rPr>
              <a:t>Dark </a:t>
            </a:r>
            <a:r>
              <a:rPr lang="zh-CN" altLang="en-US" sz="1600" noProof="1">
                <a:latin typeface="微软雅黑" panose="020B0503020204020204" pitchFamily="34" charset="-122"/>
                <a:ea typeface="微软雅黑" panose="020B0503020204020204" pitchFamily="34" charset="-122"/>
              </a:rPr>
              <a:t>有 </a:t>
            </a:r>
            <a:r>
              <a:rPr lang="en-US" altLang="zh-CN" sz="1600" b="1" noProof="1">
                <a:solidFill>
                  <a:schemeClr val="accent2"/>
                </a:solidFill>
                <a:latin typeface="微软雅黑" panose="020B0503020204020204" pitchFamily="34" charset="-122"/>
                <a:ea typeface="微软雅黑" panose="020B0503020204020204" pitchFamily="34" charset="-122"/>
              </a:rPr>
              <a:t>N – 1 </a:t>
            </a:r>
            <a:r>
              <a:rPr lang="zh-CN" altLang="en-US" sz="1600" b="1" noProof="1">
                <a:solidFill>
                  <a:schemeClr val="accent2"/>
                </a:solidFill>
                <a:latin typeface="微软雅黑" panose="020B0503020204020204" pitchFamily="34" charset="-122"/>
                <a:ea typeface="微软雅黑" panose="020B0503020204020204" pitchFamily="34" charset="-122"/>
              </a:rPr>
              <a:t>条主要边</a:t>
            </a:r>
            <a:r>
              <a:rPr lang="zh-CN" altLang="en-US" sz="1600" noProof="1">
                <a:latin typeface="微软雅黑" panose="020B0503020204020204" pitchFamily="34" charset="-122"/>
                <a:ea typeface="微软雅黑" panose="020B0503020204020204" pitchFamily="34" charset="-122"/>
              </a:rPr>
              <a:t>，并且 </a:t>
            </a:r>
            <a:r>
              <a:rPr lang="en-US" altLang="zh-CN" sz="1600" noProof="1">
                <a:latin typeface="微软雅黑" panose="020B0503020204020204" pitchFamily="34" charset="-122"/>
                <a:ea typeface="微软雅黑" panose="020B0503020204020204" pitchFamily="34" charset="-122"/>
              </a:rPr>
              <a:t>Dark </a:t>
            </a:r>
            <a:r>
              <a:rPr lang="zh-CN" altLang="en-US" sz="1600" noProof="1">
                <a:latin typeface="微软雅黑" panose="020B0503020204020204" pitchFamily="34" charset="-122"/>
                <a:ea typeface="微软雅黑" panose="020B0503020204020204" pitchFamily="34" charset="-122"/>
              </a:rPr>
              <a:t>的任意两个节点之间都存在一条只由主要边构成的路径。另外，</a:t>
            </a:r>
            <a:r>
              <a:rPr lang="en-US" altLang="zh-CN" sz="1600" noProof="1">
                <a:latin typeface="微软雅黑" panose="020B0503020204020204" pitchFamily="34" charset="-122"/>
                <a:ea typeface="微软雅黑" panose="020B0503020204020204" pitchFamily="34" charset="-122"/>
              </a:rPr>
              <a:t>Dark </a:t>
            </a:r>
            <a:r>
              <a:rPr lang="zh-CN" altLang="en-US" sz="1600" noProof="1">
                <a:latin typeface="微软雅黑" panose="020B0503020204020204" pitchFamily="34" charset="-122"/>
                <a:ea typeface="微软雅黑" panose="020B0503020204020204" pitchFamily="34" charset="-122"/>
              </a:rPr>
              <a:t>还有 </a:t>
            </a:r>
            <a:r>
              <a:rPr lang="en-US" altLang="zh-CN" sz="1600" b="1" noProof="1">
                <a:solidFill>
                  <a:schemeClr val="accent2"/>
                </a:solidFill>
                <a:latin typeface="微软雅黑" panose="020B0503020204020204" pitchFamily="34" charset="-122"/>
                <a:ea typeface="微软雅黑" panose="020B0503020204020204" pitchFamily="34" charset="-122"/>
              </a:rPr>
              <a:t>M </a:t>
            </a:r>
            <a:r>
              <a:rPr lang="zh-CN" altLang="en-US" sz="1600" b="1" noProof="1">
                <a:solidFill>
                  <a:schemeClr val="accent2"/>
                </a:solidFill>
                <a:latin typeface="微软雅黑" panose="020B0503020204020204" pitchFamily="34" charset="-122"/>
                <a:ea typeface="微软雅黑" panose="020B0503020204020204" pitchFamily="34" charset="-122"/>
              </a:rPr>
              <a:t>条附加边</a:t>
            </a:r>
            <a:r>
              <a:rPr lang="zh-CN" altLang="en-US" sz="1600" noProof="1">
                <a:latin typeface="微软雅黑" panose="020B0503020204020204" pitchFamily="34" charset="-122"/>
                <a:ea typeface="微软雅黑" panose="020B0503020204020204" pitchFamily="34" charset="-122"/>
              </a:rPr>
              <a:t>。 </a:t>
            </a:r>
            <a:endParaRPr lang="en-US" altLang="zh-CN" sz="1600" noProof="1">
              <a:latin typeface="微软雅黑" panose="020B0503020204020204" pitchFamily="34" charset="-122"/>
              <a:ea typeface="微软雅黑" panose="020B0503020204020204" pitchFamily="34" charset="-122"/>
            </a:endParaRPr>
          </a:p>
          <a:p>
            <a:pPr>
              <a:lnSpc>
                <a:spcPct val="200000"/>
              </a:lnSpc>
              <a:spcBef>
                <a:spcPct val="50000"/>
              </a:spcBef>
            </a:pPr>
            <a:r>
              <a:rPr lang="zh-CN" altLang="en-US" sz="1600" noProof="1">
                <a:latin typeface="微软雅黑" panose="020B0503020204020204" pitchFamily="34" charset="-122"/>
                <a:ea typeface="微软雅黑" panose="020B0503020204020204" pitchFamily="34" charset="-122"/>
              </a:rPr>
              <a:t>你的任务是把 </a:t>
            </a:r>
            <a:r>
              <a:rPr lang="en-US" altLang="zh-CN" sz="1600" noProof="1">
                <a:latin typeface="微软雅黑" panose="020B0503020204020204" pitchFamily="34" charset="-122"/>
                <a:ea typeface="微软雅黑" panose="020B0503020204020204" pitchFamily="34" charset="-122"/>
              </a:rPr>
              <a:t>Dark </a:t>
            </a:r>
            <a:r>
              <a:rPr lang="zh-CN" altLang="en-US" sz="1600" noProof="1">
                <a:latin typeface="微软雅黑" panose="020B0503020204020204" pitchFamily="34" charset="-122"/>
                <a:ea typeface="微软雅黑" panose="020B0503020204020204" pitchFamily="34" charset="-122"/>
              </a:rPr>
              <a:t>斩为</a:t>
            </a:r>
            <a:r>
              <a:rPr lang="zh-CN" altLang="en-US" sz="1600" b="1" noProof="1">
                <a:solidFill>
                  <a:schemeClr val="accent2"/>
                </a:solidFill>
                <a:latin typeface="微软雅黑" panose="020B0503020204020204" pitchFamily="34" charset="-122"/>
                <a:ea typeface="微软雅黑" panose="020B0503020204020204" pitchFamily="34" charset="-122"/>
              </a:rPr>
              <a:t>不连通的两部分</a:t>
            </a:r>
            <a:r>
              <a:rPr lang="zh-CN" altLang="en-US" sz="1600" noProof="1">
                <a:latin typeface="微软雅黑" panose="020B0503020204020204" pitchFamily="34" charset="-122"/>
                <a:ea typeface="微软雅黑" panose="020B0503020204020204" pitchFamily="34" charset="-122"/>
              </a:rPr>
              <a:t>。一开始 </a:t>
            </a:r>
            <a:r>
              <a:rPr lang="en-US" altLang="zh-CN" sz="1600" noProof="1">
                <a:latin typeface="微软雅黑" panose="020B0503020204020204" pitchFamily="34" charset="-122"/>
                <a:ea typeface="微软雅黑" panose="020B0503020204020204" pitchFamily="34" charset="-122"/>
              </a:rPr>
              <a:t>Dark </a:t>
            </a:r>
            <a:r>
              <a:rPr lang="zh-CN" altLang="en-US" sz="1600" noProof="1">
                <a:latin typeface="微软雅黑" panose="020B0503020204020204" pitchFamily="34" charset="-122"/>
                <a:ea typeface="微软雅黑" panose="020B0503020204020204" pitchFamily="34" charset="-122"/>
              </a:rPr>
              <a:t>的附加边都处于无敌状态，你只能选择一条主要边切断。一 旦你切断了一条主要边，</a:t>
            </a:r>
            <a:r>
              <a:rPr lang="en-US" altLang="zh-CN" sz="1600" noProof="1">
                <a:latin typeface="微软雅黑" panose="020B0503020204020204" pitchFamily="34" charset="-122"/>
                <a:ea typeface="微软雅黑" panose="020B0503020204020204" pitchFamily="34" charset="-122"/>
              </a:rPr>
              <a:t>Dark </a:t>
            </a:r>
            <a:r>
              <a:rPr lang="zh-CN" altLang="en-US" sz="1600" noProof="1">
                <a:latin typeface="微软雅黑" panose="020B0503020204020204" pitchFamily="34" charset="-122"/>
                <a:ea typeface="微软雅黑" panose="020B0503020204020204" pitchFamily="34" charset="-122"/>
              </a:rPr>
              <a:t>就会进入防御模式，主要边会变为无敌的而附加边可以被切 断。但是你的能力只能再切断 </a:t>
            </a:r>
            <a:r>
              <a:rPr lang="en-US" altLang="zh-CN" sz="1600" noProof="1">
                <a:latin typeface="微软雅黑" panose="020B0503020204020204" pitchFamily="34" charset="-122"/>
                <a:ea typeface="微软雅黑" panose="020B0503020204020204" pitchFamily="34" charset="-122"/>
              </a:rPr>
              <a:t>Dark </a:t>
            </a:r>
            <a:r>
              <a:rPr lang="zh-CN" altLang="en-US" sz="1600" noProof="1">
                <a:latin typeface="微软雅黑" panose="020B0503020204020204" pitchFamily="34" charset="-122"/>
                <a:ea typeface="微软雅黑" panose="020B0503020204020204" pitchFamily="34" charset="-122"/>
              </a:rPr>
              <a:t>的一条附加边。现在你想要知道，一共有</a:t>
            </a:r>
            <a:r>
              <a:rPr lang="zh-CN" altLang="en-US" sz="1600" b="1" noProof="1">
                <a:solidFill>
                  <a:schemeClr val="accent2"/>
                </a:solidFill>
                <a:latin typeface="微软雅黑" panose="020B0503020204020204" pitchFamily="34" charset="-122"/>
                <a:ea typeface="微软雅黑" panose="020B0503020204020204" pitchFamily="34" charset="-122"/>
              </a:rPr>
              <a:t>多少种方案</a:t>
            </a:r>
            <a:r>
              <a:rPr lang="zh-CN" altLang="en-US" sz="1600" noProof="1">
                <a:latin typeface="微软雅黑" panose="020B0503020204020204" pitchFamily="34" charset="-122"/>
                <a:ea typeface="微软雅黑" panose="020B0503020204020204" pitchFamily="34" charset="-122"/>
              </a:rPr>
              <a:t>可 以击败 </a:t>
            </a:r>
            <a:r>
              <a:rPr lang="en-US" altLang="zh-CN" sz="1600" noProof="1">
                <a:latin typeface="微软雅黑" panose="020B0503020204020204" pitchFamily="34" charset="-122"/>
                <a:ea typeface="微软雅黑" panose="020B0503020204020204" pitchFamily="34" charset="-122"/>
              </a:rPr>
              <a:t>Dark</a:t>
            </a:r>
            <a:r>
              <a:rPr lang="zh-CN" altLang="en-US" sz="1600" noProof="1">
                <a:latin typeface="微软雅黑" panose="020B0503020204020204" pitchFamily="34" charset="-122"/>
                <a:ea typeface="微软雅黑" panose="020B0503020204020204" pitchFamily="34" charset="-122"/>
              </a:rPr>
              <a:t>。注意，就算你第一步切断主要边之后就已经把 </a:t>
            </a:r>
            <a:r>
              <a:rPr lang="en-US" altLang="zh-CN" sz="1600" noProof="1">
                <a:latin typeface="微软雅黑" panose="020B0503020204020204" pitchFamily="34" charset="-122"/>
                <a:ea typeface="微软雅黑" panose="020B0503020204020204" pitchFamily="34" charset="-122"/>
              </a:rPr>
              <a:t>Dark </a:t>
            </a:r>
            <a:r>
              <a:rPr lang="zh-CN" altLang="en-US" sz="1600" noProof="1">
                <a:latin typeface="微软雅黑" panose="020B0503020204020204" pitchFamily="34" charset="-122"/>
                <a:ea typeface="微软雅黑" panose="020B0503020204020204" pitchFamily="34" charset="-122"/>
              </a:rPr>
              <a:t>斩为两截，你也需要切断 一条附加边才算击败了 </a:t>
            </a:r>
            <a:r>
              <a:rPr lang="en-US" altLang="zh-CN" sz="1600" noProof="1">
                <a:latin typeface="微软雅黑" panose="020B0503020204020204" pitchFamily="34" charset="-122"/>
                <a:ea typeface="微软雅黑" panose="020B0503020204020204" pitchFamily="34" charset="-122"/>
              </a:rPr>
              <a:t>Dark</a:t>
            </a:r>
            <a:r>
              <a:rPr lang="zh-CN" altLang="en-US" sz="1600" noProof="1">
                <a:latin typeface="微软雅黑" panose="020B0503020204020204" pitchFamily="34" charset="-122"/>
                <a:ea typeface="微软雅黑" panose="020B0503020204020204" pitchFamily="34" charset="-122"/>
              </a:rPr>
              <a:t>。</a:t>
            </a:r>
            <a:endParaRPr lang="en-US" altLang="zh-CN" sz="1600" b="1" noProof="1">
              <a:solidFill>
                <a:schemeClr val="accent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2815325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最近公共祖先</a:t>
            </a:r>
            <a:r>
              <a:rPr lang="en-US" altLang="zh-CN" dirty="0"/>
              <a:t>LCA</a:t>
            </a:r>
            <a:endParaRPr lang="zh-CN" altLang="en-US" dirty="0"/>
          </a:p>
        </p:txBody>
      </p:sp>
      <p:sp>
        <p:nvSpPr>
          <p:cNvPr id="5" name="矩形 4"/>
          <p:cNvSpPr/>
          <p:nvPr/>
        </p:nvSpPr>
        <p:spPr>
          <a:xfrm>
            <a:off x="1025000" y="1099011"/>
            <a:ext cx="10060582" cy="561885"/>
          </a:xfrm>
          <a:prstGeom prst="rect">
            <a:avLst/>
          </a:prstGeom>
        </p:spPr>
        <p:txBody>
          <a:bodyPr wrap="square">
            <a:spAutoFit/>
          </a:bodyPr>
          <a:lstStyle/>
          <a:p>
            <a:pPr>
              <a:lnSpc>
                <a:spcPct val="200000"/>
              </a:lnSpc>
              <a:spcBef>
                <a:spcPct val="50000"/>
              </a:spcBef>
            </a:pPr>
            <a:r>
              <a:rPr lang="zh-CN" altLang="en-US" b="1" noProof="1">
                <a:solidFill>
                  <a:schemeClr val="accent2"/>
                </a:solidFill>
                <a:latin typeface="微软雅黑" panose="020B0503020204020204" pitchFamily="34" charset="-122"/>
                <a:ea typeface="微软雅黑" panose="020B0503020204020204" pitchFamily="34" charset="-122"/>
              </a:rPr>
              <a:t>例</a:t>
            </a:r>
            <a:r>
              <a:rPr lang="en-US" altLang="zh-CN" b="1" noProof="1">
                <a:solidFill>
                  <a:schemeClr val="accent2"/>
                </a:solidFill>
                <a:latin typeface="微软雅黑" panose="020B0503020204020204" pitchFamily="34" charset="-122"/>
                <a:ea typeface="微软雅黑" panose="020B0503020204020204" pitchFamily="34" charset="-122"/>
              </a:rPr>
              <a:t>2</a:t>
            </a:r>
            <a:r>
              <a:rPr lang="zh-CN" altLang="en-US" b="1" noProof="1">
                <a:solidFill>
                  <a:schemeClr val="accent2"/>
                </a:solidFill>
                <a:latin typeface="微软雅黑" panose="020B0503020204020204" pitchFamily="34" charset="-122"/>
                <a:ea typeface="微软雅黑" panose="020B0503020204020204" pitchFamily="34" charset="-122"/>
              </a:rPr>
              <a:t>：闇</a:t>
            </a:r>
            <a:r>
              <a:rPr lang="ja-JP" altLang="en-US" b="1" noProof="1">
                <a:solidFill>
                  <a:schemeClr val="accent2"/>
                </a:solidFill>
                <a:latin typeface="微软雅黑" panose="020B0503020204020204" pitchFamily="34" charset="-122"/>
                <a:ea typeface="微软雅黑" panose="020B0503020204020204" pitchFamily="34" charset="-122"/>
              </a:rPr>
              <a:t>の</a:t>
            </a:r>
            <a:r>
              <a:rPr lang="zh-CN" altLang="en-US" b="1" noProof="1">
                <a:solidFill>
                  <a:schemeClr val="accent2"/>
                </a:solidFill>
                <a:latin typeface="微软雅黑" panose="020B0503020204020204" pitchFamily="34" charset="-122"/>
                <a:ea typeface="微软雅黑" panose="020B0503020204020204" pitchFamily="34" charset="-122"/>
              </a:rPr>
              <a:t>連鎖</a:t>
            </a:r>
            <a:endParaRPr lang="en-US" altLang="zh-CN" b="1" noProof="1">
              <a:solidFill>
                <a:schemeClr val="accent2"/>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C51B12BF-FEAD-8EAA-966A-0CACB7D58CFC}"/>
              </a:ext>
            </a:extLst>
          </p:cNvPr>
          <p:cNvSpPr txBox="1"/>
          <p:nvPr/>
        </p:nvSpPr>
        <p:spPr>
          <a:xfrm>
            <a:off x="1025000" y="1513105"/>
            <a:ext cx="10060582" cy="5427896"/>
          </a:xfrm>
          <a:prstGeom prst="rect">
            <a:avLst/>
          </a:prstGeom>
          <a:noFill/>
        </p:spPr>
        <p:txBody>
          <a:bodyPr wrap="square">
            <a:spAutoFit/>
          </a:bodyPr>
          <a:lstStyle/>
          <a:p>
            <a:pPr>
              <a:lnSpc>
                <a:spcPct val="200000"/>
              </a:lnSpc>
            </a:pPr>
            <a:r>
              <a:rPr lang="zh-CN" altLang="en-US" sz="1600" dirty="0"/>
              <a:t>输入描述</a:t>
            </a:r>
            <a:r>
              <a:rPr lang="en-US" altLang="zh-CN" sz="1600" dirty="0"/>
              <a:t>:</a:t>
            </a:r>
            <a:r>
              <a:rPr lang="zh-CN" altLang="en-US" sz="1600" dirty="0"/>
              <a:t>第一行包含两个整数 </a:t>
            </a:r>
            <a:r>
              <a:rPr lang="en-US" altLang="zh-CN" sz="1600" dirty="0"/>
              <a:t>N </a:t>
            </a:r>
            <a:r>
              <a:rPr lang="zh-CN" altLang="en-US" sz="1600" dirty="0"/>
              <a:t>和 </a:t>
            </a:r>
            <a:r>
              <a:rPr lang="en-US" altLang="zh-CN" sz="1600" dirty="0"/>
              <a:t>M</a:t>
            </a:r>
            <a:r>
              <a:rPr lang="zh-CN" altLang="en-US" sz="1600" dirty="0"/>
              <a:t>。之后 </a:t>
            </a:r>
            <a:r>
              <a:rPr lang="en-US" altLang="zh-CN" sz="1600" dirty="0"/>
              <a:t>N – 1 </a:t>
            </a:r>
            <a:r>
              <a:rPr lang="zh-CN" altLang="en-US" sz="1600" dirty="0"/>
              <a:t>行，每行包括两个整数 </a:t>
            </a:r>
            <a:r>
              <a:rPr lang="en-US" altLang="zh-CN" sz="1600" dirty="0"/>
              <a:t>A </a:t>
            </a:r>
            <a:r>
              <a:rPr lang="zh-CN" altLang="en-US" sz="1600" dirty="0"/>
              <a:t>和 </a:t>
            </a:r>
            <a:r>
              <a:rPr lang="en-US" altLang="zh-CN" sz="1600" dirty="0"/>
              <a:t>B</a:t>
            </a:r>
            <a:r>
              <a:rPr lang="zh-CN" altLang="en-US" sz="1600" dirty="0"/>
              <a:t>，表示 </a:t>
            </a:r>
            <a:r>
              <a:rPr lang="en-US" altLang="zh-CN" sz="1600" dirty="0"/>
              <a:t>A </a:t>
            </a:r>
            <a:r>
              <a:rPr lang="zh-CN" altLang="en-US" sz="1600" dirty="0"/>
              <a:t>和 </a:t>
            </a:r>
            <a:r>
              <a:rPr lang="en-US" altLang="zh-CN" sz="1600" dirty="0"/>
              <a:t>B </a:t>
            </a:r>
            <a:r>
              <a:rPr lang="zh-CN" altLang="en-US" sz="1600" dirty="0"/>
              <a:t>之间有一条主要边。之后 </a:t>
            </a:r>
            <a:r>
              <a:rPr lang="en-US" altLang="zh-CN" sz="1600" dirty="0"/>
              <a:t>M </a:t>
            </a:r>
            <a:r>
              <a:rPr lang="zh-CN" altLang="en-US" sz="1600" dirty="0"/>
              <a:t>行以同样的格式给出附加边。</a:t>
            </a:r>
            <a:endParaRPr lang="en-US" altLang="zh-CN" sz="1600" dirty="0"/>
          </a:p>
          <a:p>
            <a:pPr>
              <a:lnSpc>
                <a:spcPct val="200000"/>
              </a:lnSpc>
            </a:pPr>
            <a:r>
              <a:rPr lang="zh-CN" altLang="en-US" sz="1600" dirty="0"/>
              <a:t>输出描述</a:t>
            </a:r>
            <a:r>
              <a:rPr lang="en-US" altLang="zh-CN" sz="1600" dirty="0"/>
              <a:t>:</a:t>
            </a:r>
            <a:r>
              <a:rPr lang="zh-CN" altLang="en-US" sz="1600" dirty="0"/>
              <a:t>输出一个整数表示答案。</a:t>
            </a:r>
            <a:endParaRPr lang="en-US" altLang="zh-CN" sz="1600" dirty="0"/>
          </a:p>
          <a:p>
            <a:pPr>
              <a:lnSpc>
                <a:spcPct val="200000"/>
              </a:lnSpc>
            </a:pPr>
            <a:r>
              <a:rPr lang="zh-CN" altLang="en-US" sz="1600" dirty="0"/>
              <a:t>输入：</a:t>
            </a:r>
            <a:endParaRPr lang="en-US" altLang="zh-CN" sz="1600" dirty="0"/>
          </a:p>
          <a:p>
            <a:pPr>
              <a:lnSpc>
                <a:spcPct val="150000"/>
              </a:lnSpc>
            </a:pPr>
            <a:r>
              <a:rPr lang="en-US" altLang="zh-CN" sz="1600" dirty="0"/>
              <a:t>4 1 </a:t>
            </a:r>
          </a:p>
          <a:p>
            <a:pPr>
              <a:lnSpc>
                <a:spcPct val="150000"/>
              </a:lnSpc>
            </a:pPr>
            <a:r>
              <a:rPr lang="en-US" altLang="zh-CN" sz="1600" dirty="0"/>
              <a:t>1 2 </a:t>
            </a:r>
          </a:p>
          <a:p>
            <a:pPr>
              <a:lnSpc>
                <a:spcPct val="150000"/>
              </a:lnSpc>
            </a:pPr>
            <a:r>
              <a:rPr lang="en-US" altLang="zh-CN" sz="1600" dirty="0"/>
              <a:t>2 3 </a:t>
            </a:r>
          </a:p>
          <a:p>
            <a:pPr>
              <a:lnSpc>
                <a:spcPct val="150000"/>
              </a:lnSpc>
            </a:pPr>
            <a:r>
              <a:rPr lang="en-US" altLang="zh-CN" sz="1600" dirty="0"/>
              <a:t>1 4 </a:t>
            </a:r>
          </a:p>
          <a:p>
            <a:pPr>
              <a:lnSpc>
                <a:spcPct val="150000"/>
              </a:lnSpc>
            </a:pPr>
            <a:r>
              <a:rPr lang="en-US" altLang="zh-CN" sz="1600" dirty="0"/>
              <a:t>3 4</a:t>
            </a:r>
          </a:p>
          <a:p>
            <a:pPr>
              <a:lnSpc>
                <a:spcPct val="150000"/>
              </a:lnSpc>
            </a:pPr>
            <a:r>
              <a:rPr lang="zh-CN" altLang="en-US" sz="1600" dirty="0"/>
              <a:t>输出</a:t>
            </a:r>
            <a:endParaRPr lang="en-US" altLang="zh-CN" sz="1600" dirty="0"/>
          </a:p>
          <a:p>
            <a:pPr>
              <a:lnSpc>
                <a:spcPct val="150000"/>
              </a:lnSpc>
            </a:pPr>
            <a:r>
              <a:rPr lang="en-US" altLang="zh-CN" sz="1600" dirty="0"/>
              <a:t>3</a:t>
            </a:r>
          </a:p>
          <a:p>
            <a:pPr>
              <a:lnSpc>
                <a:spcPct val="150000"/>
              </a:lnSpc>
            </a:pPr>
            <a:r>
              <a:rPr lang="zh-CN" altLang="en-US" sz="1600" dirty="0">
                <a:latin typeface="微软雅黑" panose="020B0503020204020204" pitchFamily="34" charset="-122"/>
                <a:ea typeface="微软雅黑" panose="020B0503020204020204" pitchFamily="34" charset="-122"/>
              </a:rPr>
              <a:t>对于 </a:t>
            </a:r>
            <a:r>
              <a:rPr lang="en-US" altLang="zh-CN" sz="1600" dirty="0">
                <a:latin typeface="微软雅黑" panose="020B0503020204020204" pitchFamily="34" charset="-122"/>
                <a:ea typeface="微软雅黑" panose="020B0503020204020204" pitchFamily="34" charset="-122"/>
              </a:rPr>
              <a:t>20% </a:t>
            </a:r>
            <a:r>
              <a:rPr lang="zh-CN" altLang="en-US" sz="1600" dirty="0">
                <a:latin typeface="微软雅黑" panose="020B0503020204020204" pitchFamily="34" charset="-122"/>
                <a:ea typeface="微软雅黑" panose="020B0503020204020204" pitchFamily="34" charset="-122"/>
              </a:rPr>
              <a:t>的数据，</a:t>
            </a:r>
            <a:r>
              <a:rPr lang="en-US" altLang="zh-CN" sz="1600" dirty="0">
                <a:latin typeface="微软雅黑" panose="020B0503020204020204" pitchFamily="34" charset="-122"/>
                <a:ea typeface="微软雅黑" panose="020B0503020204020204" pitchFamily="34" charset="-122"/>
              </a:rPr>
              <a:t>N≤100</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M≤100</a:t>
            </a:r>
          </a:p>
          <a:p>
            <a:pPr>
              <a:lnSpc>
                <a:spcPct val="150000"/>
              </a:lnSpc>
            </a:pPr>
            <a:r>
              <a:rPr lang="zh-CN" altLang="en-US" sz="1600" dirty="0">
                <a:latin typeface="微软雅黑" panose="020B0503020204020204" pitchFamily="34" charset="-122"/>
                <a:ea typeface="微软雅黑" panose="020B0503020204020204" pitchFamily="34" charset="-122"/>
              </a:rPr>
              <a:t>对于 </a:t>
            </a:r>
            <a:r>
              <a:rPr lang="en-US" altLang="zh-CN" sz="1600" dirty="0">
                <a:latin typeface="微软雅黑" panose="020B0503020204020204" pitchFamily="34" charset="-122"/>
                <a:ea typeface="微软雅黑" panose="020B0503020204020204" pitchFamily="34" charset="-122"/>
              </a:rPr>
              <a:t>100%</a:t>
            </a:r>
            <a:r>
              <a:rPr lang="zh-CN" altLang="en-US" sz="1600" dirty="0">
                <a:latin typeface="微软雅黑" panose="020B0503020204020204" pitchFamily="34" charset="-122"/>
                <a:ea typeface="微软雅黑" panose="020B0503020204020204" pitchFamily="34" charset="-122"/>
              </a:rPr>
              <a:t>的数据，</a:t>
            </a:r>
            <a:r>
              <a:rPr lang="en-US" altLang="zh-CN" sz="1600" dirty="0">
                <a:latin typeface="微软雅黑" panose="020B0503020204020204" pitchFamily="34" charset="-122"/>
                <a:ea typeface="微软雅黑" panose="020B0503020204020204" pitchFamily="34" charset="-122"/>
              </a:rPr>
              <a:t>N≤100000</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M≤200000</a:t>
            </a:r>
            <a:r>
              <a:rPr lang="zh-CN" altLang="en-US" sz="1600" dirty="0">
                <a:latin typeface="微软雅黑" panose="020B0503020204020204" pitchFamily="34" charset="-122"/>
                <a:ea typeface="微软雅黑" panose="020B0503020204020204" pitchFamily="34" charset="-122"/>
              </a:rPr>
              <a:t>。数据保证答案不超过</a:t>
            </a:r>
            <a:r>
              <a:rPr lang="en-US" altLang="zh-CN" sz="1600" dirty="0">
                <a:latin typeface="微软雅黑" panose="020B0503020204020204" pitchFamily="34" charset="-122"/>
                <a:ea typeface="微软雅黑" panose="020B0503020204020204" pitchFamily="34" charset="-122"/>
              </a:rPr>
              <a:t>2^31 –1</a:t>
            </a:r>
            <a:endParaRPr lang="zh-CN" altLang="en-US" sz="16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448032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最近公共祖先</a:t>
            </a:r>
            <a:r>
              <a:rPr lang="en-US" altLang="zh-CN" dirty="0"/>
              <a:t>LCA</a:t>
            </a:r>
            <a:endParaRPr lang="zh-CN" altLang="en-US" dirty="0"/>
          </a:p>
        </p:txBody>
      </p:sp>
      <p:sp>
        <p:nvSpPr>
          <p:cNvPr id="8" name="文本框 7"/>
          <p:cNvSpPr txBox="1"/>
          <p:nvPr/>
        </p:nvSpPr>
        <p:spPr>
          <a:xfrm>
            <a:off x="945219" y="1397458"/>
            <a:ext cx="2117694" cy="369332"/>
          </a:xfrm>
          <a:prstGeom prst="rect">
            <a:avLst/>
          </a:prstGeom>
          <a:noFill/>
        </p:spPr>
        <p:txBody>
          <a:bodyPr wrap="square">
            <a:spAutoFit/>
          </a:bodyPr>
          <a:lstStyle/>
          <a:p>
            <a:r>
              <a:rPr lang="en-US" altLang="zh-CN" b="1" noProof="1">
                <a:solidFill>
                  <a:schemeClr val="accent2"/>
                </a:solidFill>
                <a:latin typeface="微软雅黑" panose="020B0503020204020204" pitchFamily="34" charset="-122"/>
                <a:ea typeface="微软雅黑" panose="020B0503020204020204" pitchFamily="34" charset="-122"/>
              </a:rPr>
              <a:t>【</a:t>
            </a:r>
            <a:r>
              <a:rPr lang="zh-CN" altLang="en-US" b="1" noProof="1">
                <a:solidFill>
                  <a:schemeClr val="accent2"/>
                </a:solidFill>
                <a:latin typeface="微软雅黑" panose="020B0503020204020204" pitchFamily="34" charset="-122"/>
                <a:ea typeface="微软雅黑" panose="020B0503020204020204" pitchFamily="34" charset="-122"/>
              </a:rPr>
              <a:t>题意分析</a:t>
            </a:r>
            <a:r>
              <a:rPr lang="en-US" altLang="zh-CN" b="1" noProof="1">
                <a:solidFill>
                  <a:schemeClr val="accent2"/>
                </a:solidFill>
                <a:latin typeface="微软雅黑" panose="020B0503020204020204" pitchFamily="34" charset="-122"/>
                <a:ea typeface="微软雅黑" panose="020B0503020204020204" pitchFamily="34" charset="-122"/>
              </a:rPr>
              <a:t>】</a:t>
            </a:r>
            <a:endParaRPr lang="zh-CN" altLang="en-US" b="1" noProof="1">
              <a:solidFill>
                <a:schemeClr val="accent2"/>
              </a:solidFill>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D2A6064E-6F71-6C87-A49A-E690AAB70EA3}"/>
              </a:ext>
            </a:extLst>
          </p:cNvPr>
          <p:cNvSpPr txBox="1"/>
          <p:nvPr/>
        </p:nvSpPr>
        <p:spPr>
          <a:xfrm>
            <a:off x="982323" y="1725142"/>
            <a:ext cx="9980682" cy="1670778"/>
          </a:xfrm>
          <a:prstGeom prst="rect">
            <a:avLst/>
          </a:prstGeom>
          <a:noFill/>
        </p:spPr>
        <p:txBody>
          <a:bodyPr wrap="square">
            <a:spAutoFit/>
          </a:bodyPr>
          <a:lstStyle/>
          <a:p>
            <a:pPr marR="0" lvl="0" algn="l" defTabSz="914400" rtl="0" eaLnBrk="1" fontAlgn="auto" latinLnBrk="0" hangingPunct="1">
              <a:lnSpc>
                <a:spcPct val="200000"/>
              </a:lnSpc>
              <a:spcBef>
                <a:spcPts val="1000"/>
              </a:spcBef>
              <a:spcAft>
                <a:spcPts val="0"/>
              </a:spcAft>
              <a:buClrTx/>
              <a:buSzTx/>
              <a:tabLst/>
              <a:defRPr/>
            </a:pPr>
            <a:r>
              <a:rPr lang="zh-CN" altLang="en-US" dirty="0">
                <a:latin typeface="微软雅黑" panose="020B0503020204020204" pitchFamily="34" charset="-122"/>
                <a:ea typeface="微软雅黑" panose="020B0503020204020204" pitchFamily="34" charset="-122"/>
              </a:rPr>
              <a:t>根据题意，主要边构成一棵树，附加边是非树边。把一条附加边（</a:t>
            </a:r>
            <a:r>
              <a:rPr lang="en-US" altLang="zh-CN" dirty="0" err="1">
                <a:latin typeface="微软雅黑" panose="020B0503020204020204" pitchFamily="34" charset="-122"/>
                <a:ea typeface="微软雅黑" panose="020B0503020204020204" pitchFamily="34" charset="-122"/>
              </a:rPr>
              <a:t>x,y</a:t>
            </a:r>
            <a:r>
              <a:rPr lang="zh-CN" altLang="en-US" dirty="0">
                <a:latin typeface="微软雅黑" panose="020B0503020204020204" pitchFamily="34" charset="-122"/>
                <a:ea typeface="微软雅黑" panose="020B0503020204020204" pitchFamily="34" charset="-122"/>
              </a:rPr>
              <a:t>）添加到主要边构成的树中，会与树上</a:t>
            </a:r>
            <a:r>
              <a:rPr lang="en-US" altLang="zh-CN" dirty="0" err="1">
                <a:latin typeface="微软雅黑" panose="020B0503020204020204" pitchFamily="34" charset="-122"/>
                <a:ea typeface="微软雅黑" panose="020B0503020204020204" pitchFamily="34" charset="-122"/>
              </a:rPr>
              <a:t>x,y</a:t>
            </a:r>
            <a:r>
              <a:rPr lang="zh-CN" altLang="en-US" dirty="0">
                <a:latin typeface="微软雅黑" panose="020B0503020204020204" pitchFamily="34" charset="-122"/>
                <a:ea typeface="微软雅黑" panose="020B0503020204020204" pitchFamily="34" charset="-122"/>
              </a:rPr>
              <a:t>之间的路径一起形成一个</a:t>
            </a:r>
            <a:r>
              <a:rPr lang="zh-CN" altLang="en-US" b="1" dirty="0">
                <a:solidFill>
                  <a:schemeClr val="accent2"/>
                </a:solidFill>
                <a:latin typeface="微软雅黑" panose="020B0503020204020204" pitchFamily="34" charset="-122"/>
                <a:ea typeface="微软雅黑" panose="020B0503020204020204" pitchFamily="34" charset="-122"/>
              </a:rPr>
              <a:t>环</a:t>
            </a:r>
            <a:r>
              <a:rPr lang="zh-CN" altLang="en-US" dirty="0">
                <a:latin typeface="微软雅黑" panose="020B0503020204020204" pitchFamily="34" charset="-122"/>
                <a:ea typeface="微软雅黑" panose="020B0503020204020204" pitchFamily="34" charset="-122"/>
              </a:rPr>
              <a:t>。如果第一步选择切断</a:t>
            </a:r>
            <a:r>
              <a:rPr lang="en-US" altLang="zh-CN" dirty="0" err="1">
                <a:latin typeface="微软雅黑" panose="020B0503020204020204" pitchFamily="34" charset="-122"/>
                <a:ea typeface="微软雅黑" panose="020B0503020204020204" pitchFamily="34" charset="-122"/>
              </a:rPr>
              <a:t>x,y</a:t>
            </a:r>
            <a:r>
              <a:rPr lang="zh-CN" altLang="en-US" dirty="0">
                <a:latin typeface="微软雅黑" panose="020B0503020204020204" pitchFamily="34" charset="-122"/>
                <a:ea typeface="微软雅黑" panose="020B0503020204020204" pitchFamily="34" charset="-122"/>
              </a:rPr>
              <a:t>之间路径上的某条边，那么第二步必须切断附加边（</a:t>
            </a:r>
            <a:r>
              <a:rPr lang="en-US" altLang="zh-CN" dirty="0" err="1">
                <a:latin typeface="微软雅黑" panose="020B0503020204020204" pitchFamily="34" charset="-122"/>
                <a:ea typeface="微软雅黑" panose="020B0503020204020204" pitchFamily="34" charset="-122"/>
              </a:rPr>
              <a:t>x,y</a:t>
            </a:r>
            <a:r>
              <a:rPr lang="zh-CN" altLang="en-US" dirty="0">
                <a:latin typeface="微软雅黑" panose="020B0503020204020204" pitchFamily="34" charset="-122"/>
                <a:ea typeface="微软雅黑" panose="020B0503020204020204" pitchFamily="34" charset="-122"/>
              </a:rPr>
              <a:t>），才能令</a:t>
            </a:r>
            <a:r>
              <a:rPr lang="en-US" altLang="zh-CN" dirty="0">
                <a:latin typeface="微软雅黑" panose="020B0503020204020204" pitchFamily="34" charset="-122"/>
                <a:ea typeface="微软雅黑" panose="020B0503020204020204" pitchFamily="34" charset="-122"/>
              </a:rPr>
              <a:t>Dark</a:t>
            </a:r>
            <a:r>
              <a:rPr lang="zh-CN" altLang="en-US" dirty="0">
                <a:latin typeface="微软雅黑" panose="020B0503020204020204" pitchFamily="34" charset="-122"/>
                <a:ea typeface="微软雅黑" panose="020B0503020204020204" pitchFamily="34" charset="-122"/>
              </a:rPr>
              <a:t>被斩为不连通的两部分。</a:t>
            </a:r>
          </a:p>
        </p:txBody>
      </p:sp>
      <p:grpSp>
        <p:nvGrpSpPr>
          <p:cNvPr id="3" name="组合 2">
            <a:extLst>
              <a:ext uri="{FF2B5EF4-FFF2-40B4-BE49-F238E27FC236}">
                <a16:creationId xmlns:a16="http://schemas.microsoft.com/office/drawing/2014/main" id="{B7F01AB2-454D-E7FB-728A-00192D09A0BB}"/>
              </a:ext>
            </a:extLst>
          </p:cNvPr>
          <p:cNvGrpSpPr/>
          <p:nvPr/>
        </p:nvGrpSpPr>
        <p:grpSpPr>
          <a:xfrm>
            <a:off x="1860133" y="3538131"/>
            <a:ext cx="3012802" cy="3061773"/>
            <a:chOff x="1860133" y="3538131"/>
            <a:chExt cx="3012802" cy="3061773"/>
          </a:xfrm>
        </p:grpSpPr>
        <p:grpSp>
          <p:nvGrpSpPr>
            <p:cNvPr id="6" name="组合 5">
              <a:extLst>
                <a:ext uri="{FF2B5EF4-FFF2-40B4-BE49-F238E27FC236}">
                  <a16:creationId xmlns:a16="http://schemas.microsoft.com/office/drawing/2014/main" id="{6A49370E-A17D-6DDD-13B3-384479B24719}"/>
                </a:ext>
              </a:extLst>
            </p:cNvPr>
            <p:cNvGrpSpPr/>
            <p:nvPr/>
          </p:nvGrpSpPr>
          <p:grpSpPr>
            <a:xfrm>
              <a:off x="1860133" y="3538131"/>
              <a:ext cx="2802408" cy="3061773"/>
              <a:chOff x="933749" y="2736673"/>
              <a:chExt cx="2802408" cy="3061773"/>
            </a:xfrm>
          </p:grpSpPr>
          <p:sp>
            <p:nvSpPr>
              <p:cNvPr id="7" name="椭圆 6">
                <a:extLst>
                  <a:ext uri="{FF2B5EF4-FFF2-40B4-BE49-F238E27FC236}">
                    <a16:creationId xmlns:a16="http://schemas.microsoft.com/office/drawing/2014/main" id="{1CE51DBA-248C-0161-9D4D-4CDFAAADD683}"/>
                  </a:ext>
                </a:extLst>
              </p:cNvPr>
              <p:cNvSpPr/>
              <p:nvPr/>
            </p:nvSpPr>
            <p:spPr>
              <a:xfrm>
                <a:off x="1921977" y="2736673"/>
                <a:ext cx="471633" cy="47163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50D1DFB2-EC1D-6B9E-CACE-B103561090F4}"/>
                  </a:ext>
                </a:extLst>
              </p:cNvPr>
              <p:cNvSpPr/>
              <p:nvPr/>
            </p:nvSpPr>
            <p:spPr>
              <a:xfrm>
                <a:off x="1569529" y="4518866"/>
                <a:ext cx="471633" cy="471633"/>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3309932B-137D-5E44-6A24-CF282E69DBAC}"/>
                  </a:ext>
                </a:extLst>
              </p:cNvPr>
              <p:cNvSpPr/>
              <p:nvPr/>
            </p:nvSpPr>
            <p:spPr>
              <a:xfrm>
                <a:off x="933749" y="4565818"/>
                <a:ext cx="471633" cy="471633"/>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cxnSp>
            <p:nvCxnSpPr>
              <p:cNvPr id="12" name="直接连接符 11">
                <a:extLst>
                  <a:ext uri="{FF2B5EF4-FFF2-40B4-BE49-F238E27FC236}">
                    <a16:creationId xmlns:a16="http://schemas.microsoft.com/office/drawing/2014/main" id="{D2BCBC51-3400-7F91-AD20-D06445A7EA21}"/>
                  </a:ext>
                </a:extLst>
              </p:cNvPr>
              <p:cNvCxnSpPr>
                <a:cxnSpLocks/>
                <a:endCxn id="21" idx="0"/>
              </p:cNvCxnSpPr>
              <p:nvPr/>
            </p:nvCxnSpPr>
            <p:spPr>
              <a:xfrm flipH="1">
                <a:off x="2560358" y="4098950"/>
                <a:ext cx="420787" cy="416166"/>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CF057757-B024-26E0-4B18-AE64E7110496}"/>
                  </a:ext>
                </a:extLst>
              </p:cNvPr>
              <p:cNvCxnSpPr>
                <a:cxnSpLocks/>
                <a:stCxn id="7" idx="3"/>
                <a:endCxn id="17" idx="0"/>
              </p:cNvCxnSpPr>
              <p:nvPr/>
            </p:nvCxnSpPr>
            <p:spPr>
              <a:xfrm flipH="1">
                <a:off x="1514185" y="3139237"/>
                <a:ext cx="476861" cy="524939"/>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椭圆 14">
                <a:extLst>
                  <a:ext uri="{FF2B5EF4-FFF2-40B4-BE49-F238E27FC236}">
                    <a16:creationId xmlns:a16="http://schemas.microsoft.com/office/drawing/2014/main" id="{1D41177F-67F3-656D-3794-95E2554AD549}"/>
                  </a:ext>
                </a:extLst>
              </p:cNvPr>
              <p:cNvSpPr/>
              <p:nvPr/>
            </p:nvSpPr>
            <p:spPr>
              <a:xfrm>
                <a:off x="3264524" y="4515116"/>
                <a:ext cx="471633" cy="471633"/>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cxnSp>
            <p:nvCxnSpPr>
              <p:cNvPr id="16" name="直接连接符 15">
                <a:extLst>
                  <a:ext uri="{FF2B5EF4-FFF2-40B4-BE49-F238E27FC236}">
                    <a16:creationId xmlns:a16="http://schemas.microsoft.com/office/drawing/2014/main" id="{2E3C0944-B361-D3A8-6C3B-0777167F138B}"/>
                  </a:ext>
                </a:extLst>
              </p:cNvPr>
              <p:cNvCxnSpPr>
                <a:cxnSpLocks/>
                <a:endCxn id="15" idx="0"/>
              </p:cNvCxnSpPr>
              <p:nvPr/>
            </p:nvCxnSpPr>
            <p:spPr>
              <a:xfrm>
                <a:off x="3108439" y="4124379"/>
                <a:ext cx="391902" cy="39073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椭圆 16">
                <a:extLst>
                  <a:ext uri="{FF2B5EF4-FFF2-40B4-BE49-F238E27FC236}">
                    <a16:creationId xmlns:a16="http://schemas.microsoft.com/office/drawing/2014/main" id="{D6B635B9-2468-264B-5463-68A5F4D08720}"/>
                  </a:ext>
                </a:extLst>
              </p:cNvPr>
              <p:cNvSpPr/>
              <p:nvPr/>
            </p:nvSpPr>
            <p:spPr>
              <a:xfrm>
                <a:off x="1278368" y="3664176"/>
                <a:ext cx="471633" cy="471633"/>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dirty="0"/>
              </a:p>
            </p:txBody>
          </p:sp>
          <p:cxnSp>
            <p:nvCxnSpPr>
              <p:cNvPr id="18" name="直接连接符 17">
                <a:extLst>
                  <a:ext uri="{FF2B5EF4-FFF2-40B4-BE49-F238E27FC236}">
                    <a16:creationId xmlns:a16="http://schemas.microsoft.com/office/drawing/2014/main" id="{A4AD56DB-715F-6212-9A99-D11AE63C61AC}"/>
                  </a:ext>
                </a:extLst>
              </p:cNvPr>
              <p:cNvCxnSpPr>
                <a:cxnSpLocks/>
              </p:cNvCxnSpPr>
              <p:nvPr/>
            </p:nvCxnSpPr>
            <p:spPr>
              <a:xfrm>
                <a:off x="2173095" y="3231586"/>
                <a:ext cx="6690" cy="42911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椭圆 18">
                <a:extLst>
                  <a:ext uri="{FF2B5EF4-FFF2-40B4-BE49-F238E27FC236}">
                    <a16:creationId xmlns:a16="http://schemas.microsoft.com/office/drawing/2014/main" id="{991774B0-B360-7D06-D4C9-0F3EC433E267}"/>
                  </a:ext>
                </a:extLst>
              </p:cNvPr>
              <p:cNvSpPr/>
              <p:nvPr/>
            </p:nvSpPr>
            <p:spPr>
              <a:xfrm>
                <a:off x="2771788" y="3660698"/>
                <a:ext cx="471633" cy="471633"/>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cxnSp>
            <p:nvCxnSpPr>
              <p:cNvPr id="20" name="直接连接符 19">
                <a:extLst>
                  <a:ext uri="{FF2B5EF4-FFF2-40B4-BE49-F238E27FC236}">
                    <a16:creationId xmlns:a16="http://schemas.microsoft.com/office/drawing/2014/main" id="{F63143D5-4353-1CB5-E5BA-E9D62701C837}"/>
                  </a:ext>
                </a:extLst>
              </p:cNvPr>
              <p:cNvCxnSpPr>
                <a:cxnSpLocks/>
                <a:stCxn id="7" idx="5"/>
                <a:endCxn id="19" idx="1"/>
              </p:cNvCxnSpPr>
              <p:nvPr/>
            </p:nvCxnSpPr>
            <p:spPr>
              <a:xfrm>
                <a:off x="2324541" y="3139237"/>
                <a:ext cx="516316" cy="59053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1" name="椭圆 20">
                <a:extLst>
                  <a:ext uri="{FF2B5EF4-FFF2-40B4-BE49-F238E27FC236}">
                    <a16:creationId xmlns:a16="http://schemas.microsoft.com/office/drawing/2014/main" id="{B7EA5C25-6DBB-9CC9-75A9-4F41677AEB86}"/>
                  </a:ext>
                </a:extLst>
              </p:cNvPr>
              <p:cNvSpPr/>
              <p:nvPr/>
            </p:nvSpPr>
            <p:spPr>
              <a:xfrm>
                <a:off x="2324541" y="4515116"/>
                <a:ext cx="471633" cy="471633"/>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446CBCB0-F812-4602-29AE-8DFD8282F1E8}"/>
                  </a:ext>
                </a:extLst>
              </p:cNvPr>
              <p:cNvSpPr/>
              <p:nvPr/>
            </p:nvSpPr>
            <p:spPr>
              <a:xfrm>
                <a:off x="1961431" y="3652746"/>
                <a:ext cx="471633" cy="471633"/>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cxnSp>
            <p:nvCxnSpPr>
              <p:cNvPr id="23" name="直接连接符 22">
                <a:extLst>
                  <a:ext uri="{FF2B5EF4-FFF2-40B4-BE49-F238E27FC236}">
                    <a16:creationId xmlns:a16="http://schemas.microsoft.com/office/drawing/2014/main" id="{0AF0BDC4-5575-AAA9-FA19-000AE4369A6A}"/>
                  </a:ext>
                </a:extLst>
              </p:cNvPr>
              <p:cNvCxnSpPr>
                <a:cxnSpLocks/>
                <a:endCxn id="9" idx="0"/>
              </p:cNvCxnSpPr>
              <p:nvPr/>
            </p:nvCxnSpPr>
            <p:spPr>
              <a:xfrm>
                <a:off x="1500226" y="4151492"/>
                <a:ext cx="305120" cy="367374"/>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C37A647B-5E35-CA68-636C-52108644EFCC}"/>
                  </a:ext>
                </a:extLst>
              </p:cNvPr>
              <p:cNvCxnSpPr>
                <a:cxnSpLocks/>
              </p:cNvCxnSpPr>
              <p:nvPr/>
            </p:nvCxnSpPr>
            <p:spPr>
              <a:xfrm flipH="1">
                <a:off x="1194793" y="4129626"/>
                <a:ext cx="305433" cy="442375"/>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5" name="文本框 24">
                <a:extLst>
                  <a:ext uri="{FF2B5EF4-FFF2-40B4-BE49-F238E27FC236}">
                    <a16:creationId xmlns:a16="http://schemas.microsoft.com/office/drawing/2014/main" id="{8826B932-36A9-4F1C-3D2F-D442396E387F}"/>
                  </a:ext>
                </a:extLst>
              </p:cNvPr>
              <p:cNvSpPr txBox="1"/>
              <p:nvPr/>
            </p:nvSpPr>
            <p:spPr>
              <a:xfrm>
                <a:off x="2433064" y="5429114"/>
                <a:ext cx="420787" cy="369332"/>
              </a:xfrm>
              <a:prstGeom prst="rect">
                <a:avLst/>
              </a:prstGeom>
              <a:noFill/>
            </p:spPr>
            <p:txBody>
              <a:bodyPr wrap="square" rtlCol="0">
                <a:spAutoFit/>
              </a:bodyPr>
              <a:lstStyle/>
              <a:p>
                <a:endParaRPr lang="zh-CN" altLang="en-US" b="1" dirty="0">
                  <a:solidFill>
                    <a:schemeClr val="accent2"/>
                  </a:solidFill>
                  <a:latin typeface="Times New Roman" panose="02020603050405020304" pitchFamily="18" charset="0"/>
                  <a:cs typeface="Times New Roman" panose="02020603050405020304" pitchFamily="18" charset="0"/>
                </a:endParaRPr>
              </a:p>
            </p:txBody>
          </p:sp>
          <p:sp>
            <p:nvSpPr>
              <p:cNvPr id="26" name="文本框 25">
                <a:extLst>
                  <a:ext uri="{FF2B5EF4-FFF2-40B4-BE49-F238E27FC236}">
                    <a16:creationId xmlns:a16="http://schemas.microsoft.com/office/drawing/2014/main" id="{EC59FB1E-7EB1-08B6-E751-E8311BE5C3FD}"/>
                  </a:ext>
                </a:extLst>
              </p:cNvPr>
              <p:cNvSpPr txBox="1"/>
              <p:nvPr/>
            </p:nvSpPr>
            <p:spPr>
              <a:xfrm>
                <a:off x="2183216" y="4923061"/>
                <a:ext cx="420787" cy="369332"/>
              </a:xfrm>
              <a:prstGeom prst="rect">
                <a:avLst/>
              </a:prstGeom>
              <a:noFill/>
            </p:spPr>
            <p:txBody>
              <a:bodyPr wrap="square" rtlCol="0">
                <a:spAutoFit/>
              </a:bodyPr>
              <a:lstStyle/>
              <a:p>
                <a:r>
                  <a:rPr lang="en-US" altLang="zh-CN" b="1" dirty="0">
                    <a:solidFill>
                      <a:schemeClr val="accent2"/>
                    </a:solidFill>
                    <a:latin typeface="Times New Roman" panose="02020603050405020304" pitchFamily="18" charset="0"/>
                    <a:cs typeface="Times New Roman" panose="02020603050405020304" pitchFamily="18" charset="0"/>
                  </a:rPr>
                  <a:t>x</a:t>
                </a:r>
                <a:endParaRPr lang="zh-CN" altLang="en-US" b="1" dirty="0">
                  <a:solidFill>
                    <a:schemeClr val="accent2"/>
                  </a:solidFill>
                  <a:latin typeface="Times New Roman" panose="02020603050405020304" pitchFamily="18" charset="0"/>
                  <a:cs typeface="Times New Roman" panose="02020603050405020304" pitchFamily="18" charset="0"/>
                </a:endParaRPr>
              </a:p>
            </p:txBody>
          </p:sp>
        </p:grpSp>
        <p:sp>
          <p:nvSpPr>
            <p:cNvPr id="28" name="文本框 27">
              <a:extLst>
                <a:ext uri="{FF2B5EF4-FFF2-40B4-BE49-F238E27FC236}">
                  <a16:creationId xmlns:a16="http://schemas.microsoft.com/office/drawing/2014/main" id="{C4A176CC-E6A4-7335-6D97-3C50D7EB7B88}"/>
                </a:ext>
              </a:extLst>
            </p:cNvPr>
            <p:cNvSpPr txBox="1"/>
            <p:nvPr/>
          </p:nvSpPr>
          <p:spPr>
            <a:xfrm>
              <a:off x="4452148" y="4884352"/>
              <a:ext cx="420787" cy="369332"/>
            </a:xfrm>
            <a:prstGeom prst="rect">
              <a:avLst/>
            </a:prstGeom>
            <a:noFill/>
          </p:spPr>
          <p:txBody>
            <a:bodyPr wrap="square" rtlCol="0">
              <a:spAutoFit/>
            </a:bodyPr>
            <a:lstStyle/>
            <a:p>
              <a:r>
                <a:rPr lang="en-US" altLang="zh-CN" b="1" dirty="0">
                  <a:solidFill>
                    <a:schemeClr val="accent2"/>
                  </a:solidFill>
                  <a:latin typeface="Times New Roman" panose="02020603050405020304" pitchFamily="18" charset="0"/>
                  <a:cs typeface="Times New Roman" panose="02020603050405020304" pitchFamily="18" charset="0"/>
                </a:rPr>
                <a:t>y</a:t>
              </a:r>
              <a:endParaRPr lang="zh-CN" altLang="en-US" b="1" dirty="0">
                <a:solidFill>
                  <a:schemeClr val="accent2"/>
                </a:solidFill>
                <a:latin typeface="Times New Roman" panose="02020603050405020304" pitchFamily="18" charset="0"/>
                <a:cs typeface="Times New Roman" panose="02020603050405020304" pitchFamily="18" charset="0"/>
              </a:endParaRPr>
            </a:p>
          </p:txBody>
        </p:sp>
        <p:cxnSp>
          <p:nvCxnSpPr>
            <p:cNvPr id="4" name="直接连接符 3">
              <a:extLst>
                <a:ext uri="{FF2B5EF4-FFF2-40B4-BE49-F238E27FC236}">
                  <a16:creationId xmlns:a16="http://schemas.microsoft.com/office/drawing/2014/main" id="{02AD9CC1-C304-0F0D-5627-FBD2E0465B87}"/>
                </a:ext>
              </a:extLst>
            </p:cNvPr>
            <p:cNvCxnSpPr>
              <a:stCxn id="21" idx="6"/>
              <a:endCxn id="15" idx="2"/>
            </p:cNvCxnSpPr>
            <p:nvPr/>
          </p:nvCxnSpPr>
          <p:spPr>
            <a:xfrm>
              <a:off x="3722558" y="5552391"/>
              <a:ext cx="468350" cy="0"/>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spTree>
    <p:extLst>
      <p:ext uri="{BB962C8B-B14F-4D97-AF65-F5344CB8AC3E}">
        <p14:creationId xmlns:p14="http://schemas.microsoft.com/office/powerpoint/2010/main" val="9137329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最近公共祖先</a:t>
            </a:r>
            <a:r>
              <a:rPr lang="en-US" altLang="zh-CN" dirty="0"/>
              <a:t>LCA</a:t>
            </a:r>
            <a:endParaRPr lang="zh-CN" altLang="en-US" dirty="0"/>
          </a:p>
        </p:txBody>
      </p:sp>
      <p:sp>
        <p:nvSpPr>
          <p:cNvPr id="8" name="文本框 7"/>
          <p:cNvSpPr txBox="1"/>
          <p:nvPr/>
        </p:nvSpPr>
        <p:spPr>
          <a:xfrm>
            <a:off x="945219" y="1397458"/>
            <a:ext cx="2117694" cy="369332"/>
          </a:xfrm>
          <a:prstGeom prst="rect">
            <a:avLst/>
          </a:prstGeom>
          <a:noFill/>
        </p:spPr>
        <p:txBody>
          <a:bodyPr wrap="square">
            <a:spAutoFit/>
          </a:bodyPr>
          <a:lstStyle/>
          <a:p>
            <a:r>
              <a:rPr lang="en-US" altLang="zh-CN" b="1" noProof="1">
                <a:solidFill>
                  <a:schemeClr val="accent2"/>
                </a:solidFill>
                <a:latin typeface="微软雅黑" panose="020B0503020204020204" pitchFamily="34" charset="-122"/>
                <a:ea typeface="微软雅黑" panose="020B0503020204020204" pitchFamily="34" charset="-122"/>
              </a:rPr>
              <a:t>【</a:t>
            </a:r>
            <a:r>
              <a:rPr lang="zh-CN" altLang="en-US" b="1" noProof="1">
                <a:solidFill>
                  <a:schemeClr val="accent2"/>
                </a:solidFill>
                <a:latin typeface="微软雅黑" panose="020B0503020204020204" pitchFamily="34" charset="-122"/>
                <a:ea typeface="微软雅黑" panose="020B0503020204020204" pitchFamily="34" charset="-122"/>
              </a:rPr>
              <a:t>题意分析</a:t>
            </a:r>
            <a:r>
              <a:rPr lang="en-US" altLang="zh-CN" b="1" noProof="1">
                <a:solidFill>
                  <a:schemeClr val="accent2"/>
                </a:solidFill>
                <a:latin typeface="微软雅黑" panose="020B0503020204020204" pitchFamily="34" charset="-122"/>
                <a:ea typeface="微软雅黑" panose="020B0503020204020204" pitchFamily="34" charset="-122"/>
              </a:rPr>
              <a:t>】</a:t>
            </a:r>
            <a:endParaRPr lang="zh-CN" altLang="en-US" b="1" noProof="1">
              <a:solidFill>
                <a:schemeClr val="accent2"/>
              </a:solidFill>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D2A6064E-6F71-6C87-A49A-E690AAB70EA3}"/>
              </a:ext>
            </a:extLst>
          </p:cNvPr>
          <p:cNvSpPr txBox="1"/>
          <p:nvPr/>
        </p:nvSpPr>
        <p:spPr>
          <a:xfrm>
            <a:off x="1104900" y="1656130"/>
            <a:ext cx="9980682" cy="4052391"/>
          </a:xfrm>
          <a:prstGeom prst="rect">
            <a:avLst/>
          </a:prstGeom>
          <a:noFill/>
        </p:spPr>
        <p:txBody>
          <a:bodyPr wrap="square">
            <a:spAutoFit/>
          </a:bodyPr>
          <a:lstStyle/>
          <a:p>
            <a:pPr marR="0" lvl="0" algn="l" defTabSz="914400" rtl="0" eaLnBrk="1" fontAlgn="auto" latinLnBrk="0" hangingPunct="1">
              <a:lnSpc>
                <a:spcPct val="200000"/>
              </a:lnSpc>
              <a:spcBef>
                <a:spcPts val="1000"/>
              </a:spcBef>
              <a:spcAft>
                <a:spcPts val="0"/>
              </a:spcAft>
              <a:buClrTx/>
              <a:buSzTx/>
              <a:tabLst/>
              <a:defRPr/>
            </a:pPr>
            <a:r>
              <a:rPr lang="zh-CN" altLang="en-US" sz="1600" dirty="0">
                <a:latin typeface="微软雅黑" panose="020B0503020204020204" pitchFamily="34" charset="-122"/>
                <a:ea typeface="微软雅黑" panose="020B0503020204020204" pitchFamily="34" charset="-122"/>
              </a:rPr>
              <a:t>因此，我们称每条附加边</a:t>
            </a:r>
            <a:r>
              <a:rPr lang="en-US" altLang="zh-CN" sz="1600" dirty="0">
                <a:latin typeface="微软雅黑" panose="020B0503020204020204" pitchFamily="34" charset="-122"/>
                <a:ea typeface="微软雅黑" panose="020B0503020204020204" pitchFamily="34" charset="-122"/>
              </a:rPr>
              <a:t>(</a:t>
            </a:r>
            <a:r>
              <a:rPr lang="en-US" altLang="zh-CN" sz="1600" dirty="0" err="1">
                <a:latin typeface="微软雅黑" panose="020B0503020204020204" pitchFamily="34" charset="-122"/>
                <a:ea typeface="微软雅黑" panose="020B0503020204020204" pitchFamily="34" charset="-122"/>
              </a:rPr>
              <a:t>x,y</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都把树上</a:t>
            </a:r>
            <a:r>
              <a:rPr lang="en-US" altLang="zh-CN" sz="1600" dirty="0" err="1">
                <a:latin typeface="微软雅黑" panose="020B0503020204020204" pitchFamily="34" charset="-122"/>
                <a:ea typeface="微软雅黑" panose="020B0503020204020204" pitchFamily="34" charset="-122"/>
              </a:rPr>
              <a:t>x,y</a:t>
            </a:r>
            <a:r>
              <a:rPr lang="zh-CN" altLang="en-US" sz="1600" dirty="0">
                <a:latin typeface="微软雅黑" panose="020B0503020204020204" pitchFamily="34" charset="-122"/>
                <a:ea typeface="微软雅黑" panose="020B0503020204020204" pitchFamily="34" charset="-122"/>
              </a:rPr>
              <a:t>之间的路径上的每条边“覆盖了一次</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a:t>
            </a:r>
            <a:r>
              <a:rPr lang="zh-CN" altLang="en-US" sz="1600" b="1" dirty="0">
                <a:solidFill>
                  <a:schemeClr val="accent2"/>
                </a:solidFill>
                <a:latin typeface="微软雅黑" panose="020B0503020204020204" pitchFamily="34" charset="-122"/>
                <a:ea typeface="微软雅黑" panose="020B0503020204020204" pitchFamily="34" charset="-122"/>
              </a:rPr>
              <a:t>考虑枚举每一条非树边，我们可以将当前这条非树边和树边所构成的环上的每一条树边权值加</a:t>
            </a:r>
            <a:r>
              <a:rPr lang="en-US" altLang="zh-CN" sz="1600" b="1" dirty="0">
                <a:solidFill>
                  <a:schemeClr val="accent2"/>
                </a:solidFill>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，表示：斩取这条树边后，要图不连通，还需要多斩一条非树边。 每个点的父节点的边的权值等于以该点为根的所有子树的边权之和。</a:t>
            </a:r>
            <a:endParaRPr lang="en-US" altLang="zh-CN" sz="1600" dirty="0">
              <a:latin typeface="微软雅黑" panose="020B0503020204020204" pitchFamily="34" charset="-122"/>
              <a:ea typeface="微软雅黑" panose="020B0503020204020204" pitchFamily="34" charset="-122"/>
            </a:endParaRPr>
          </a:p>
          <a:p>
            <a:pPr marR="0" lvl="0" algn="l" defTabSz="914400" rtl="0" eaLnBrk="1" fontAlgn="auto" latinLnBrk="0" hangingPunct="1">
              <a:lnSpc>
                <a:spcPct val="200000"/>
              </a:lnSpc>
              <a:spcBef>
                <a:spcPts val="1000"/>
              </a:spcBef>
              <a:spcAft>
                <a:spcPts val="0"/>
              </a:spcAft>
              <a:buClrTx/>
              <a:buSzTx/>
              <a:tabLst/>
              <a:defRPr/>
            </a:pPr>
            <a:r>
              <a:rPr lang="zh-CN" altLang="en-US" sz="1600" dirty="0">
                <a:latin typeface="微软雅黑" panose="020B0503020204020204" pitchFamily="34" charset="-122"/>
                <a:ea typeface="微软雅黑" panose="020B0503020204020204" pitchFamily="34" charset="-122"/>
              </a:rPr>
              <a:t>枚举完每条非树边，并且给边赋权值后，对权值</a:t>
            </a:r>
            <a:r>
              <a:rPr lang="en-US" altLang="zh-CN" sz="1600" dirty="0">
                <a:latin typeface="微软雅黑" panose="020B0503020204020204" pitchFamily="34" charset="-122"/>
                <a:ea typeface="微软雅黑" panose="020B0503020204020204" pitchFamily="34" charset="-122"/>
              </a:rPr>
              <a:t>c</a:t>
            </a:r>
            <a:r>
              <a:rPr lang="zh-CN" altLang="en-US" sz="1600" dirty="0">
                <a:latin typeface="微软雅黑" panose="020B0503020204020204" pitchFamily="34" charset="-122"/>
                <a:ea typeface="微软雅黑" panose="020B0503020204020204" pitchFamily="34" charset="-122"/>
              </a:rPr>
              <a:t>分类讨论：</a:t>
            </a:r>
          </a:p>
          <a:p>
            <a:pPr marL="285750" marR="0" lvl="0" indent="-285750" algn="l" defTabSz="914400" rtl="0" eaLnBrk="1" fontAlgn="auto" latinLnBrk="0" hangingPunct="1">
              <a:lnSpc>
                <a:spcPct val="200000"/>
              </a:lnSpc>
              <a:spcBef>
                <a:spcPts val="1000"/>
              </a:spcBef>
              <a:spcAft>
                <a:spcPts val="0"/>
              </a:spcAft>
              <a:buClrTx/>
              <a:buSzTx/>
              <a:buFont typeface="Wingdings" panose="05000000000000000000" pitchFamily="2" charset="2"/>
              <a:buChar char="l"/>
              <a:tabLst/>
              <a:defRPr/>
            </a:pPr>
            <a:r>
              <a:rPr lang="en-US" altLang="zh-CN" sz="1600" dirty="0">
                <a:latin typeface="微软雅黑" panose="020B0503020204020204" pitchFamily="34" charset="-122"/>
                <a:ea typeface="微软雅黑" panose="020B0503020204020204" pitchFamily="34" charset="-122"/>
              </a:rPr>
              <a:t>C=0</a:t>
            </a:r>
            <a:r>
              <a:rPr lang="zh-CN" altLang="en-US" sz="1600" dirty="0">
                <a:latin typeface="微软雅黑" panose="020B0503020204020204" pitchFamily="34" charset="-122"/>
                <a:ea typeface="微软雅黑" panose="020B0503020204020204" pitchFamily="34" charset="-122"/>
              </a:rPr>
              <a:t>：表示斩完当前树边后，要图不连通，还需要多斩</a:t>
            </a:r>
            <a:r>
              <a:rPr lang="en-US" altLang="zh-CN" sz="1600" dirty="0">
                <a:latin typeface="微软雅黑" panose="020B0503020204020204" pitchFamily="34" charset="-122"/>
                <a:ea typeface="微软雅黑" panose="020B0503020204020204" pitchFamily="34" charset="-122"/>
              </a:rPr>
              <a:t>0</a:t>
            </a:r>
            <a:r>
              <a:rPr lang="zh-CN" altLang="en-US" sz="1600" dirty="0">
                <a:latin typeface="微软雅黑" panose="020B0503020204020204" pitchFamily="34" charset="-122"/>
                <a:ea typeface="微软雅黑" panose="020B0503020204020204" pitchFamily="34" charset="-122"/>
              </a:rPr>
              <a:t>条边，因此我们任选一条非树边即可。有</a:t>
            </a:r>
            <a:r>
              <a:rPr lang="en-US" altLang="zh-CN" sz="1600" dirty="0">
                <a:latin typeface="微软雅黑" panose="020B0503020204020204" pitchFamily="34" charset="-122"/>
                <a:ea typeface="微软雅黑" panose="020B0503020204020204" pitchFamily="34" charset="-122"/>
              </a:rPr>
              <a:t>m</a:t>
            </a:r>
            <a:r>
              <a:rPr lang="zh-CN" altLang="en-US" sz="1600" dirty="0">
                <a:latin typeface="微软雅黑" panose="020B0503020204020204" pitchFamily="34" charset="-122"/>
                <a:ea typeface="微软雅黑" panose="020B0503020204020204" pitchFamily="34" charset="-122"/>
              </a:rPr>
              <a:t>种选择。</a:t>
            </a:r>
          </a:p>
          <a:p>
            <a:pPr marL="285750" marR="0" lvl="0" indent="-285750" algn="l" defTabSz="914400" rtl="0" eaLnBrk="1" fontAlgn="auto" latinLnBrk="0" hangingPunct="1">
              <a:lnSpc>
                <a:spcPct val="200000"/>
              </a:lnSpc>
              <a:spcBef>
                <a:spcPts val="1000"/>
              </a:spcBef>
              <a:spcAft>
                <a:spcPts val="0"/>
              </a:spcAft>
              <a:buClrTx/>
              <a:buSzTx/>
              <a:buFont typeface="Wingdings" panose="05000000000000000000" pitchFamily="2" charset="2"/>
              <a:buChar char="l"/>
              <a:tabLst/>
              <a:defRPr/>
            </a:pPr>
            <a:r>
              <a:rPr lang="en-US" altLang="zh-CN" sz="1600" dirty="0">
                <a:latin typeface="微软雅黑" panose="020B0503020204020204" pitchFamily="34" charset="-122"/>
                <a:ea typeface="微软雅黑" panose="020B0503020204020204" pitchFamily="34" charset="-122"/>
              </a:rPr>
              <a:t>C=1</a:t>
            </a:r>
            <a:r>
              <a:rPr lang="zh-CN" altLang="en-US" sz="1600" dirty="0">
                <a:latin typeface="微软雅黑" panose="020B0503020204020204" pitchFamily="34" charset="-122"/>
                <a:ea typeface="微软雅黑" panose="020B0503020204020204" pitchFamily="34" charset="-122"/>
              </a:rPr>
              <a:t>：表示斩完当前树边后，要图不连通，还需要多斩</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条边，因此我们只有</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种选择。</a:t>
            </a:r>
          </a:p>
          <a:p>
            <a:pPr marL="285750" marR="0" lvl="0" indent="-285750" algn="l" defTabSz="914400" rtl="0" eaLnBrk="1" fontAlgn="auto" latinLnBrk="0" hangingPunct="1">
              <a:lnSpc>
                <a:spcPct val="200000"/>
              </a:lnSpc>
              <a:spcBef>
                <a:spcPts val="1000"/>
              </a:spcBef>
              <a:spcAft>
                <a:spcPts val="0"/>
              </a:spcAft>
              <a:buClrTx/>
              <a:buSzTx/>
              <a:buFont typeface="Wingdings" panose="05000000000000000000" pitchFamily="2" charset="2"/>
              <a:buChar char="l"/>
              <a:tabLst/>
              <a:defRPr/>
            </a:pPr>
            <a:r>
              <a:rPr lang="en-US" altLang="zh-CN" sz="1600" dirty="0">
                <a:latin typeface="微软雅黑" panose="020B0503020204020204" pitchFamily="34" charset="-122"/>
                <a:ea typeface="微软雅黑" panose="020B0503020204020204" pitchFamily="34" charset="-122"/>
              </a:rPr>
              <a:t>C=k</a:t>
            </a:r>
            <a:r>
              <a:rPr lang="zh-CN" altLang="en-US" sz="1600" dirty="0">
                <a:latin typeface="微软雅黑" panose="020B0503020204020204" pitchFamily="34" charset="-122"/>
                <a:ea typeface="微软雅黑" panose="020B0503020204020204" pitchFamily="34" charset="-122"/>
              </a:rPr>
              <a:t>：表示斩完当前树边后，要图不连通，还需要多斩</a:t>
            </a:r>
            <a:r>
              <a:rPr lang="en-US" altLang="zh-CN" sz="1600" dirty="0">
                <a:latin typeface="微软雅黑" panose="020B0503020204020204" pitchFamily="34" charset="-122"/>
                <a:ea typeface="微软雅黑" panose="020B0503020204020204" pitchFamily="34" charset="-122"/>
              </a:rPr>
              <a:t>k</a:t>
            </a:r>
            <a:r>
              <a:rPr lang="zh-CN" altLang="en-US" sz="1600" dirty="0">
                <a:latin typeface="微软雅黑" panose="020B0503020204020204" pitchFamily="34" charset="-122"/>
                <a:ea typeface="微软雅黑" panose="020B0503020204020204" pitchFamily="34" charset="-122"/>
              </a:rPr>
              <a:t>条边，不符合题意，该方案不合理。</a:t>
            </a:r>
          </a:p>
        </p:txBody>
      </p:sp>
    </p:spTree>
    <p:extLst>
      <p:ext uri="{BB962C8B-B14F-4D97-AF65-F5344CB8AC3E}">
        <p14:creationId xmlns:p14="http://schemas.microsoft.com/office/powerpoint/2010/main" val="1216295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最近公共祖先</a:t>
            </a:r>
            <a:r>
              <a:rPr lang="en-US" altLang="zh-CN" dirty="0"/>
              <a:t>LCA</a:t>
            </a:r>
            <a:endParaRPr lang="zh-CN" altLang="en-US" dirty="0"/>
          </a:p>
        </p:txBody>
      </p:sp>
      <p:sp>
        <p:nvSpPr>
          <p:cNvPr id="8" name="文本框 7"/>
          <p:cNvSpPr txBox="1"/>
          <p:nvPr/>
        </p:nvSpPr>
        <p:spPr>
          <a:xfrm>
            <a:off x="945219" y="1397458"/>
            <a:ext cx="2117694" cy="369332"/>
          </a:xfrm>
          <a:prstGeom prst="rect">
            <a:avLst/>
          </a:prstGeom>
          <a:noFill/>
        </p:spPr>
        <p:txBody>
          <a:bodyPr wrap="square">
            <a:spAutoFit/>
          </a:bodyPr>
          <a:lstStyle/>
          <a:p>
            <a:r>
              <a:rPr lang="en-US" altLang="zh-CN" b="1" noProof="1">
                <a:solidFill>
                  <a:schemeClr val="accent2"/>
                </a:solidFill>
                <a:latin typeface="微软雅黑" panose="020B0503020204020204" pitchFamily="34" charset="-122"/>
                <a:ea typeface="微软雅黑" panose="020B0503020204020204" pitchFamily="34" charset="-122"/>
              </a:rPr>
              <a:t>【</a:t>
            </a:r>
            <a:r>
              <a:rPr lang="zh-CN" altLang="en-US" b="1" noProof="1">
                <a:solidFill>
                  <a:schemeClr val="accent2"/>
                </a:solidFill>
                <a:latin typeface="微软雅黑" panose="020B0503020204020204" pitchFamily="34" charset="-122"/>
                <a:ea typeface="微软雅黑" panose="020B0503020204020204" pitchFamily="34" charset="-122"/>
              </a:rPr>
              <a:t>题意分析</a:t>
            </a:r>
            <a:r>
              <a:rPr lang="en-US" altLang="zh-CN" b="1" noProof="1">
                <a:solidFill>
                  <a:schemeClr val="accent2"/>
                </a:solidFill>
                <a:latin typeface="微软雅黑" panose="020B0503020204020204" pitchFamily="34" charset="-122"/>
                <a:ea typeface="微软雅黑" panose="020B0503020204020204" pitchFamily="34" charset="-122"/>
              </a:rPr>
              <a:t>】</a:t>
            </a:r>
            <a:endParaRPr lang="zh-CN" altLang="en-US" b="1" noProof="1">
              <a:solidFill>
                <a:schemeClr val="accent2"/>
              </a:solidFill>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D2A6064E-6F71-6C87-A49A-E690AAB70EA3}"/>
              </a:ext>
            </a:extLst>
          </p:cNvPr>
          <p:cNvSpPr txBox="1"/>
          <p:nvPr/>
        </p:nvSpPr>
        <p:spPr>
          <a:xfrm>
            <a:off x="1080948" y="1775801"/>
            <a:ext cx="6476630" cy="4160113"/>
          </a:xfrm>
          <a:prstGeom prst="rect">
            <a:avLst/>
          </a:prstGeom>
          <a:noFill/>
        </p:spPr>
        <p:txBody>
          <a:bodyPr wrap="square">
            <a:spAutoFit/>
          </a:bodyPr>
          <a:lstStyle/>
          <a:p>
            <a:pPr marR="0" lvl="0" algn="l" defTabSz="914400" rtl="0" eaLnBrk="1" fontAlgn="auto" latinLnBrk="0" hangingPunct="1">
              <a:lnSpc>
                <a:spcPct val="200000"/>
              </a:lnSpc>
              <a:spcBef>
                <a:spcPts val="1000"/>
              </a:spcBef>
              <a:spcAft>
                <a:spcPts val="0"/>
              </a:spcAft>
              <a:buClrTx/>
              <a:buSzTx/>
              <a:tabLst/>
              <a:defRPr/>
            </a:pPr>
            <a:r>
              <a:rPr lang="zh-CN" altLang="en-US" sz="1600" dirty="0">
                <a:latin typeface="微软雅黑" panose="020B0503020204020204" pitchFamily="34" charset="-122"/>
                <a:ea typeface="微软雅黑" panose="020B0503020204020204" pitchFamily="34" charset="-122"/>
              </a:rPr>
              <a:t>综上所述，问题简化为</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给定一张无向图和一颗生成树，求每条边“树边”被“非树边”覆盖多少次。</a:t>
            </a:r>
            <a:endParaRPr lang="en-US" altLang="zh-CN" sz="1600" dirty="0">
              <a:latin typeface="微软雅黑" panose="020B0503020204020204" pitchFamily="34" charset="-122"/>
              <a:ea typeface="微软雅黑" panose="020B0503020204020204" pitchFamily="34" charset="-122"/>
            </a:endParaRPr>
          </a:p>
          <a:p>
            <a:pPr marR="0" lvl="0" algn="l" defTabSz="914400" rtl="0" eaLnBrk="1" fontAlgn="auto" latinLnBrk="0" hangingPunct="1">
              <a:lnSpc>
                <a:spcPct val="200000"/>
              </a:lnSpc>
              <a:spcBef>
                <a:spcPts val="1000"/>
              </a:spcBef>
              <a:spcAft>
                <a:spcPts val="0"/>
              </a:spcAft>
              <a:buClrTx/>
              <a:buSzTx/>
              <a:tabLst/>
              <a:defRPr/>
            </a:pPr>
            <a:r>
              <a:rPr lang="zh-CN" altLang="en-US" sz="1600" dirty="0">
                <a:latin typeface="微软雅黑" panose="020B0503020204020204" pitchFamily="34" charset="-122"/>
                <a:ea typeface="微软雅黑" panose="020B0503020204020204" pitchFamily="34" charset="-122"/>
              </a:rPr>
              <a:t>可以利用</a:t>
            </a:r>
            <a:r>
              <a:rPr lang="zh-CN" altLang="en-US" sz="1600" b="1" dirty="0">
                <a:solidFill>
                  <a:schemeClr val="accent2"/>
                </a:solidFill>
                <a:latin typeface="微软雅黑" panose="020B0503020204020204" pitchFamily="34" charset="-122"/>
                <a:ea typeface="微软雅黑" panose="020B0503020204020204" pitchFamily="34" charset="-122"/>
              </a:rPr>
              <a:t>树上差分</a:t>
            </a:r>
            <a:r>
              <a:rPr lang="zh-CN" altLang="en-US" sz="1600" dirty="0">
                <a:latin typeface="微软雅黑" panose="020B0503020204020204" pitchFamily="34" charset="-122"/>
                <a:ea typeface="微软雅黑" panose="020B0503020204020204" pitchFamily="34" charset="-122"/>
              </a:rPr>
              <a:t>算法。类似于差分序列思想，把区间的增减转化为左端点加</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，右端点减</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对应在树上，给每个节点一个初始为</a:t>
            </a:r>
            <a:r>
              <a:rPr lang="en-US" altLang="zh-CN" sz="1600" dirty="0">
                <a:latin typeface="微软雅黑" panose="020B0503020204020204" pitchFamily="34" charset="-122"/>
                <a:ea typeface="微软雅黑" panose="020B0503020204020204" pitchFamily="34" charset="-122"/>
              </a:rPr>
              <a:t>0</a:t>
            </a:r>
            <a:r>
              <a:rPr lang="zh-CN" altLang="en-US" sz="1600" dirty="0">
                <a:latin typeface="微软雅黑" panose="020B0503020204020204" pitchFamily="34" charset="-122"/>
                <a:ea typeface="微软雅黑" panose="020B0503020204020204" pitchFamily="34" charset="-122"/>
              </a:rPr>
              <a:t>的权值，然后每条非树边</a:t>
            </a:r>
            <a:r>
              <a:rPr lang="en-US" altLang="zh-CN" sz="1600" dirty="0">
                <a:latin typeface="微软雅黑" panose="020B0503020204020204" pitchFamily="34" charset="-122"/>
                <a:ea typeface="微软雅黑" panose="020B0503020204020204" pitchFamily="34" charset="-122"/>
              </a:rPr>
              <a:t>(</a:t>
            </a:r>
            <a:r>
              <a:rPr lang="en-US" altLang="zh-CN" sz="1600" dirty="0" err="1">
                <a:latin typeface="微软雅黑" panose="020B0503020204020204" pitchFamily="34" charset="-122"/>
                <a:ea typeface="微软雅黑" panose="020B0503020204020204" pitchFamily="34" charset="-122"/>
              </a:rPr>
              <a:t>x,y</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令</a:t>
            </a:r>
            <a:r>
              <a:rPr lang="zh-CN" altLang="en-US" sz="1600" b="1" dirty="0">
                <a:solidFill>
                  <a:schemeClr val="accent2"/>
                </a:solidFill>
                <a:latin typeface="微软雅黑" panose="020B0503020204020204" pitchFamily="34" charset="-122"/>
                <a:ea typeface="微软雅黑" panose="020B0503020204020204" pitchFamily="34" charset="-122"/>
              </a:rPr>
              <a:t>节点</a:t>
            </a:r>
            <a:r>
              <a:rPr lang="en-US" altLang="zh-CN" sz="1600" b="1" dirty="0">
                <a:solidFill>
                  <a:schemeClr val="accent2"/>
                </a:solidFill>
                <a:latin typeface="微软雅黑" panose="020B0503020204020204" pitchFamily="34" charset="-122"/>
                <a:ea typeface="微软雅黑" panose="020B0503020204020204" pitchFamily="34" charset="-122"/>
              </a:rPr>
              <a:t>x</a:t>
            </a:r>
            <a:r>
              <a:rPr lang="zh-CN" altLang="en-US" sz="1600" b="1" dirty="0">
                <a:solidFill>
                  <a:schemeClr val="accent2"/>
                </a:solidFill>
                <a:latin typeface="微软雅黑" panose="020B0503020204020204" pitchFamily="34" charset="-122"/>
                <a:ea typeface="微软雅黑" panose="020B0503020204020204" pitchFamily="34" charset="-122"/>
              </a:rPr>
              <a:t>的权值加</a:t>
            </a:r>
            <a:r>
              <a:rPr lang="en-US" altLang="zh-CN" sz="1600" b="1" dirty="0">
                <a:solidFill>
                  <a:schemeClr val="accent2"/>
                </a:solidFill>
                <a:latin typeface="微软雅黑" panose="020B0503020204020204" pitchFamily="34" charset="-122"/>
                <a:ea typeface="微软雅黑" panose="020B0503020204020204" pitchFamily="34" charset="-122"/>
              </a:rPr>
              <a:t>1</a:t>
            </a:r>
            <a:r>
              <a:rPr lang="zh-CN" altLang="en-US" sz="1600" b="1" dirty="0">
                <a:solidFill>
                  <a:schemeClr val="accent2"/>
                </a:solidFill>
                <a:latin typeface="微软雅黑" panose="020B0503020204020204" pitchFamily="34" charset="-122"/>
                <a:ea typeface="微软雅黑" panose="020B0503020204020204" pitchFamily="34" charset="-122"/>
              </a:rPr>
              <a:t>，节点</a:t>
            </a:r>
            <a:r>
              <a:rPr lang="en-US" altLang="zh-CN" sz="1600" b="1" dirty="0">
                <a:solidFill>
                  <a:schemeClr val="accent2"/>
                </a:solidFill>
                <a:latin typeface="微软雅黑" panose="020B0503020204020204" pitchFamily="34" charset="-122"/>
                <a:ea typeface="微软雅黑" panose="020B0503020204020204" pitchFamily="34" charset="-122"/>
              </a:rPr>
              <a:t>y</a:t>
            </a:r>
            <a:r>
              <a:rPr lang="zh-CN" altLang="en-US" sz="1600" b="1" dirty="0">
                <a:solidFill>
                  <a:schemeClr val="accent2"/>
                </a:solidFill>
                <a:latin typeface="微软雅黑" panose="020B0503020204020204" pitchFamily="34" charset="-122"/>
                <a:ea typeface="微软雅黑" panose="020B0503020204020204" pitchFamily="34" charset="-122"/>
              </a:rPr>
              <a:t>的权值加</a:t>
            </a:r>
            <a:r>
              <a:rPr lang="en-US" altLang="zh-CN" sz="1600" b="1" dirty="0">
                <a:solidFill>
                  <a:schemeClr val="accent2"/>
                </a:solidFill>
                <a:latin typeface="微软雅黑" panose="020B0503020204020204" pitchFamily="34" charset="-122"/>
                <a:ea typeface="微软雅黑" panose="020B0503020204020204" pitchFamily="34" charset="-122"/>
              </a:rPr>
              <a:t>1</a:t>
            </a:r>
            <a:r>
              <a:rPr lang="zh-CN" altLang="en-US" sz="1600" b="1" dirty="0">
                <a:solidFill>
                  <a:schemeClr val="accent2"/>
                </a:solidFill>
                <a:latin typeface="微软雅黑" panose="020B0503020204020204" pitchFamily="34" charset="-122"/>
                <a:ea typeface="微软雅黑" panose="020B0503020204020204" pitchFamily="34" charset="-122"/>
              </a:rPr>
              <a:t>，节点</a:t>
            </a:r>
            <a:r>
              <a:rPr lang="en-US" altLang="zh-CN" sz="1600" b="1" dirty="0">
                <a:solidFill>
                  <a:schemeClr val="accent2"/>
                </a:solidFill>
                <a:latin typeface="微软雅黑" panose="020B0503020204020204" pitchFamily="34" charset="-122"/>
                <a:ea typeface="微软雅黑" panose="020B0503020204020204" pitchFamily="34" charset="-122"/>
              </a:rPr>
              <a:t>LCA(</a:t>
            </a:r>
            <a:r>
              <a:rPr lang="en-US" altLang="zh-CN" sz="1600" b="1" dirty="0" err="1">
                <a:solidFill>
                  <a:schemeClr val="accent2"/>
                </a:solidFill>
                <a:latin typeface="微软雅黑" panose="020B0503020204020204" pitchFamily="34" charset="-122"/>
                <a:ea typeface="微软雅黑" panose="020B0503020204020204" pitchFamily="34" charset="-122"/>
              </a:rPr>
              <a:t>x,y</a:t>
            </a:r>
            <a:r>
              <a:rPr lang="en-US" altLang="zh-CN" sz="1600" b="1" dirty="0">
                <a:solidFill>
                  <a:schemeClr val="accent2"/>
                </a:solidFill>
                <a:latin typeface="微软雅黑" panose="020B0503020204020204" pitchFamily="34" charset="-122"/>
                <a:ea typeface="微软雅黑" panose="020B0503020204020204" pitchFamily="34" charset="-122"/>
              </a:rPr>
              <a:t>)</a:t>
            </a:r>
            <a:r>
              <a:rPr lang="zh-CN" altLang="en-US" sz="1600" b="1" dirty="0">
                <a:solidFill>
                  <a:schemeClr val="accent2"/>
                </a:solidFill>
                <a:latin typeface="微软雅黑" panose="020B0503020204020204" pitchFamily="34" charset="-122"/>
                <a:ea typeface="微软雅黑" panose="020B0503020204020204" pitchFamily="34" charset="-122"/>
              </a:rPr>
              <a:t>的权值减</a:t>
            </a:r>
            <a:r>
              <a:rPr lang="en-US" altLang="zh-CN" sz="1600" b="1" dirty="0">
                <a:solidFill>
                  <a:schemeClr val="accent2"/>
                </a:solidFill>
                <a:latin typeface="微软雅黑" panose="020B0503020204020204" pitchFamily="34" charset="-122"/>
                <a:ea typeface="微软雅黑" panose="020B0503020204020204" pitchFamily="34" charset="-122"/>
              </a:rPr>
              <a:t>2</a:t>
            </a:r>
            <a:r>
              <a:rPr lang="zh-CN" altLang="en-US" sz="1600" dirty="0">
                <a:latin typeface="微软雅黑" panose="020B0503020204020204" pitchFamily="34" charset="-122"/>
                <a:ea typeface="微软雅黑" panose="020B0503020204020204" pitchFamily="34" charset="-122"/>
              </a:rPr>
              <a:t>。最后对这棵树进行一次深度优先遍历，求出</a:t>
            </a:r>
            <a:r>
              <a:rPr lang="en-US" altLang="zh-CN" sz="1600" dirty="0">
                <a:latin typeface="微软雅黑" panose="020B0503020204020204" pitchFamily="34" charset="-122"/>
                <a:ea typeface="微软雅黑" panose="020B0503020204020204" pitchFamily="34" charset="-122"/>
              </a:rPr>
              <a:t>F[x]</a:t>
            </a:r>
            <a:r>
              <a:rPr lang="zh-CN" altLang="en-US" sz="1600" dirty="0">
                <a:latin typeface="微软雅黑" panose="020B0503020204020204" pitchFamily="34" charset="-122"/>
                <a:ea typeface="微软雅黑" panose="020B0503020204020204" pitchFamily="34" charset="-122"/>
              </a:rPr>
              <a:t>表示以</a:t>
            </a:r>
            <a:r>
              <a:rPr lang="en-US" altLang="zh-CN" sz="1600" dirty="0">
                <a:latin typeface="微软雅黑" panose="020B0503020204020204" pitchFamily="34" charset="-122"/>
                <a:ea typeface="微软雅黑" panose="020B0503020204020204" pitchFamily="34" charset="-122"/>
              </a:rPr>
              <a:t>x</a:t>
            </a:r>
            <a:r>
              <a:rPr lang="zh-CN" altLang="en-US" sz="1600" dirty="0">
                <a:latin typeface="微软雅黑" panose="020B0503020204020204" pitchFamily="34" charset="-122"/>
                <a:ea typeface="微软雅黑" panose="020B0503020204020204" pitchFamily="34" charset="-122"/>
              </a:rPr>
              <a:t>为根的子树中各节点的权值之和。</a:t>
            </a:r>
            <a:r>
              <a:rPr lang="en-US" altLang="zh-CN" sz="1600" dirty="0">
                <a:latin typeface="微软雅黑" panose="020B0503020204020204" pitchFamily="34" charset="-122"/>
                <a:ea typeface="微软雅黑" panose="020B0503020204020204" pitchFamily="34" charset="-122"/>
              </a:rPr>
              <a:t>F[x]</a:t>
            </a:r>
            <a:r>
              <a:rPr lang="zh-CN" altLang="en-US" sz="1600" dirty="0">
                <a:latin typeface="微软雅黑" panose="020B0503020204020204" pitchFamily="34" charset="-122"/>
                <a:ea typeface="微软雅黑" panose="020B0503020204020204" pitchFamily="34" charset="-122"/>
              </a:rPr>
              <a:t>就是</a:t>
            </a:r>
            <a:r>
              <a:rPr lang="en-US" altLang="zh-CN" sz="1600" dirty="0">
                <a:latin typeface="微软雅黑" panose="020B0503020204020204" pitchFamily="34" charset="-122"/>
                <a:ea typeface="微软雅黑" panose="020B0503020204020204" pitchFamily="34" charset="-122"/>
              </a:rPr>
              <a:t>x</a:t>
            </a:r>
            <a:r>
              <a:rPr lang="zh-CN" altLang="en-US" sz="1600" dirty="0">
                <a:latin typeface="微软雅黑" panose="020B0503020204020204" pitchFamily="34" charset="-122"/>
                <a:ea typeface="微软雅黑" panose="020B0503020204020204" pitchFamily="34" charset="-122"/>
              </a:rPr>
              <a:t>与它的父节点之间的“树边”被覆盖法的次数。时间复杂度</a:t>
            </a:r>
            <a:r>
              <a:rPr lang="en-US" altLang="zh-CN" sz="1600" dirty="0">
                <a:latin typeface="微软雅黑" panose="020B0503020204020204" pitchFamily="34" charset="-122"/>
                <a:ea typeface="微软雅黑" panose="020B0503020204020204" pitchFamily="34" charset="-122"/>
              </a:rPr>
              <a:t>O(</a:t>
            </a:r>
            <a:r>
              <a:rPr lang="en-US" altLang="zh-CN" sz="1600" dirty="0" err="1">
                <a:latin typeface="微软雅黑" panose="020B0503020204020204" pitchFamily="34" charset="-122"/>
                <a:ea typeface="微软雅黑" panose="020B0503020204020204" pitchFamily="34" charset="-122"/>
              </a:rPr>
              <a:t>N+Mlogn</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a:t>
            </a:r>
          </a:p>
        </p:txBody>
      </p:sp>
      <p:grpSp>
        <p:nvGrpSpPr>
          <p:cNvPr id="39" name="组合 38">
            <a:extLst>
              <a:ext uri="{FF2B5EF4-FFF2-40B4-BE49-F238E27FC236}">
                <a16:creationId xmlns:a16="http://schemas.microsoft.com/office/drawing/2014/main" id="{862D5030-2B47-2B34-5CC5-BA2502284CF3}"/>
              </a:ext>
            </a:extLst>
          </p:cNvPr>
          <p:cNvGrpSpPr/>
          <p:nvPr/>
        </p:nvGrpSpPr>
        <p:grpSpPr>
          <a:xfrm>
            <a:off x="7905828" y="2171613"/>
            <a:ext cx="2802408" cy="3061773"/>
            <a:chOff x="7728274" y="3796227"/>
            <a:chExt cx="2802408" cy="3061773"/>
          </a:xfrm>
        </p:grpSpPr>
        <p:cxnSp>
          <p:nvCxnSpPr>
            <p:cNvPr id="27" name="直接连接符 26">
              <a:extLst>
                <a:ext uri="{FF2B5EF4-FFF2-40B4-BE49-F238E27FC236}">
                  <a16:creationId xmlns:a16="http://schemas.microsoft.com/office/drawing/2014/main" id="{6BB39237-76C6-E785-A9FE-583D98308146}"/>
                </a:ext>
              </a:extLst>
            </p:cNvPr>
            <p:cNvCxnSpPr>
              <a:cxnSpLocks/>
              <a:stCxn id="19" idx="4"/>
              <a:endCxn id="28" idx="0"/>
            </p:cNvCxnSpPr>
            <p:nvPr/>
          </p:nvCxnSpPr>
          <p:spPr>
            <a:xfrm flipH="1">
              <a:off x="9127960" y="6046303"/>
              <a:ext cx="226923" cy="23455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8" name="椭圆 27">
              <a:extLst>
                <a:ext uri="{FF2B5EF4-FFF2-40B4-BE49-F238E27FC236}">
                  <a16:creationId xmlns:a16="http://schemas.microsoft.com/office/drawing/2014/main" id="{B72BE01A-CD30-D23E-CAC6-93FFB653D599}"/>
                </a:ext>
              </a:extLst>
            </p:cNvPr>
            <p:cNvSpPr/>
            <p:nvPr/>
          </p:nvSpPr>
          <p:spPr>
            <a:xfrm>
              <a:off x="8892143" y="6280860"/>
              <a:ext cx="471633" cy="471633"/>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grpSp>
          <p:nvGrpSpPr>
            <p:cNvPr id="37" name="组合 36">
              <a:extLst>
                <a:ext uri="{FF2B5EF4-FFF2-40B4-BE49-F238E27FC236}">
                  <a16:creationId xmlns:a16="http://schemas.microsoft.com/office/drawing/2014/main" id="{DFBB5934-651F-BA9B-E1EB-7DC316CFA3B2}"/>
                </a:ext>
              </a:extLst>
            </p:cNvPr>
            <p:cNvGrpSpPr/>
            <p:nvPr/>
          </p:nvGrpSpPr>
          <p:grpSpPr>
            <a:xfrm>
              <a:off x="7728274" y="3796227"/>
              <a:ext cx="2802408" cy="3061773"/>
              <a:chOff x="7728274" y="3796227"/>
              <a:chExt cx="2802408" cy="3061773"/>
            </a:xfrm>
          </p:grpSpPr>
          <p:grpSp>
            <p:nvGrpSpPr>
              <p:cNvPr id="26" name="组合 25">
                <a:extLst>
                  <a:ext uri="{FF2B5EF4-FFF2-40B4-BE49-F238E27FC236}">
                    <a16:creationId xmlns:a16="http://schemas.microsoft.com/office/drawing/2014/main" id="{C4029F36-5E16-23E3-1E34-B83119DE6B05}"/>
                  </a:ext>
                </a:extLst>
              </p:cNvPr>
              <p:cNvGrpSpPr/>
              <p:nvPr/>
            </p:nvGrpSpPr>
            <p:grpSpPr>
              <a:xfrm>
                <a:off x="7728274" y="3796227"/>
                <a:ext cx="2802408" cy="3061773"/>
                <a:chOff x="7621741" y="4044158"/>
                <a:chExt cx="2802408" cy="3061773"/>
              </a:xfrm>
            </p:grpSpPr>
            <p:grpSp>
              <p:nvGrpSpPr>
                <p:cNvPr id="6" name="组合 5">
                  <a:extLst>
                    <a:ext uri="{FF2B5EF4-FFF2-40B4-BE49-F238E27FC236}">
                      <a16:creationId xmlns:a16="http://schemas.microsoft.com/office/drawing/2014/main" id="{BEDFC16C-62DE-4491-F68A-EF6DA58B99A7}"/>
                    </a:ext>
                  </a:extLst>
                </p:cNvPr>
                <p:cNvGrpSpPr/>
                <p:nvPr/>
              </p:nvGrpSpPr>
              <p:grpSpPr>
                <a:xfrm>
                  <a:off x="7621741" y="4044158"/>
                  <a:ext cx="2802408" cy="3061773"/>
                  <a:chOff x="933749" y="2736673"/>
                  <a:chExt cx="2802408" cy="3061773"/>
                </a:xfrm>
              </p:grpSpPr>
              <p:sp>
                <p:nvSpPr>
                  <p:cNvPr id="7" name="椭圆 6">
                    <a:extLst>
                      <a:ext uri="{FF2B5EF4-FFF2-40B4-BE49-F238E27FC236}">
                        <a16:creationId xmlns:a16="http://schemas.microsoft.com/office/drawing/2014/main" id="{F45468E7-810E-CCAA-DB08-890ACA5A5A90}"/>
                      </a:ext>
                    </a:extLst>
                  </p:cNvPr>
                  <p:cNvSpPr/>
                  <p:nvPr/>
                </p:nvSpPr>
                <p:spPr>
                  <a:xfrm>
                    <a:off x="1921977" y="2736673"/>
                    <a:ext cx="471633" cy="47163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5D4C2A36-75AD-B68C-E884-DD8F2F03539E}"/>
                      </a:ext>
                    </a:extLst>
                  </p:cNvPr>
                  <p:cNvSpPr/>
                  <p:nvPr/>
                </p:nvSpPr>
                <p:spPr>
                  <a:xfrm>
                    <a:off x="1569529" y="4518866"/>
                    <a:ext cx="471633" cy="471633"/>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82513E5A-AB87-96B7-1B78-8CCE4DEF3DE9}"/>
                      </a:ext>
                    </a:extLst>
                  </p:cNvPr>
                  <p:cNvSpPr/>
                  <p:nvPr/>
                </p:nvSpPr>
                <p:spPr>
                  <a:xfrm>
                    <a:off x="933749" y="4565818"/>
                    <a:ext cx="471633" cy="471633"/>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cxnSp>
                <p:nvCxnSpPr>
                  <p:cNvPr id="11" name="直接连接符 10">
                    <a:extLst>
                      <a:ext uri="{FF2B5EF4-FFF2-40B4-BE49-F238E27FC236}">
                        <a16:creationId xmlns:a16="http://schemas.microsoft.com/office/drawing/2014/main" id="{0C150795-6598-9D31-0753-576E636000B1}"/>
                      </a:ext>
                    </a:extLst>
                  </p:cNvPr>
                  <p:cNvCxnSpPr>
                    <a:cxnSpLocks/>
                    <a:endCxn id="19" idx="0"/>
                  </p:cNvCxnSpPr>
                  <p:nvPr/>
                </p:nvCxnSpPr>
                <p:spPr>
                  <a:xfrm flipH="1">
                    <a:off x="2560358" y="4098950"/>
                    <a:ext cx="420787" cy="416166"/>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44622EBC-5B00-0E80-8F8E-65057E02CF05}"/>
                      </a:ext>
                    </a:extLst>
                  </p:cNvPr>
                  <p:cNvCxnSpPr>
                    <a:cxnSpLocks/>
                    <a:stCxn id="7" idx="3"/>
                    <a:endCxn id="15" idx="0"/>
                  </p:cNvCxnSpPr>
                  <p:nvPr/>
                </p:nvCxnSpPr>
                <p:spPr>
                  <a:xfrm flipH="1">
                    <a:off x="1514185" y="3139237"/>
                    <a:ext cx="476861" cy="524939"/>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椭圆 12">
                    <a:extLst>
                      <a:ext uri="{FF2B5EF4-FFF2-40B4-BE49-F238E27FC236}">
                        <a16:creationId xmlns:a16="http://schemas.microsoft.com/office/drawing/2014/main" id="{DA423531-5FAA-D816-A5B6-7AFE44144189}"/>
                      </a:ext>
                    </a:extLst>
                  </p:cNvPr>
                  <p:cNvSpPr/>
                  <p:nvPr/>
                </p:nvSpPr>
                <p:spPr>
                  <a:xfrm>
                    <a:off x="3264524" y="4515116"/>
                    <a:ext cx="471633" cy="471633"/>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cxnSp>
                <p:nvCxnSpPr>
                  <p:cNvPr id="14" name="直接连接符 13">
                    <a:extLst>
                      <a:ext uri="{FF2B5EF4-FFF2-40B4-BE49-F238E27FC236}">
                        <a16:creationId xmlns:a16="http://schemas.microsoft.com/office/drawing/2014/main" id="{F0CC200E-E54E-4FFA-03C7-3D1D2CFA4605}"/>
                      </a:ext>
                    </a:extLst>
                  </p:cNvPr>
                  <p:cNvCxnSpPr>
                    <a:cxnSpLocks/>
                    <a:endCxn id="13" idx="0"/>
                  </p:cNvCxnSpPr>
                  <p:nvPr/>
                </p:nvCxnSpPr>
                <p:spPr>
                  <a:xfrm>
                    <a:off x="3108439" y="4124379"/>
                    <a:ext cx="391902" cy="39073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椭圆 14">
                    <a:extLst>
                      <a:ext uri="{FF2B5EF4-FFF2-40B4-BE49-F238E27FC236}">
                        <a16:creationId xmlns:a16="http://schemas.microsoft.com/office/drawing/2014/main" id="{DCCDF266-35E3-CF29-A00D-089D74C26808}"/>
                      </a:ext>
                    </a:extLst>
                  </p:cNvPr>
                  <p:cNvSpPr/>
                  <p:nvPr/>
                </p:nvSpPr>
                <p:spPr>
                  <a:xfrm>
                    <a:off x="1278368" y="3664176"/>
                    <a:ext cx="471633" cy="471633"/>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dirty="0"/>
                  </a:p>
                </p:txBody>
              </p:sp>
              <p:cxnSp>
                <p:nvCxnSpPr>
                  <p:cNvPr id="16" name="直接连接符 15">
                    <a:extLst>
                      <a:ext uri="{FF2B5EF4-FFF2-40B4-BE49-F238E27FC236}">
                        <a16:creationId xmlns:a16="http://schemas.microsoft.com/office/drawing/2014/main" id="{D47D6CBA-F783-94E4-6FC9-0B87FC54781A}"/>
                      </a:ext>
                    </a:extLst>
                  </p:cNvPr>
                  <p:cNvCxnSpPr>
                    <a:cxnSpLocks/>
                  </p:cNvCxnSpPr>
                  <p:nvPr/>
                </p:nvCxnSpPr>
                <p:spPr>
                  <a:xfrm>
                    <a:off x="2173095" y="3231586"/>
                    <a:ext cx="6690" cy="42911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椭圆 16">
                    <a:extLst>
                      <a:ext uri="{FF2B5EF4-FFF2-40B4-BE49-F238E27FC236}">
                        <a16:creationId xmlns:a16="http://schemas.microsoft.com/office/drawing/2014/main" id="{DCD5C01E-F188-ABA6-2733-AB14F1F6E1B2}"/>
                      </a:ext>
                    </a:extLst>
                  </p:cNvPr>
                  <p:cNvSpPr/>
                  <p:nvPr/>
                </p:nvSpPr>
                <p:spPr>
                  <a:xfrm>
                    <a:off x="2771788" y="3660698"/>
                    <a:ext cx="471633" cy="471633"/>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cxnSp>
                <p:nvCxnSpPr>
                  <p:cNvPr id="18" name="直接连接符 17">
                    <a:extLst>
                      <a:ext uri="{FF2B5EF4-FFF2-40B4-BE49-F238E27FC236}">
                        <a16:creationId xmlns:a16="http://schemas.microsoft.com/office/drawing/2014/main" id="{A09EA018-D2BE-42DB-2DA6-137F5871407F}"/>
                      </a:ext>
                    </a:extLst>
                  </p:cNvPr>
                  <p:cNvCxnSpPr>
                    <a:cxnSpLocks/>
                    <a:stCxn id="7" idx="5"/>
                    <a:endCxn id="17" idx="1"/>
                  </p:cNvCxnSpPr>
                  <p:nvPr/>
                </p:nvCxnSpPr>
                <p:spPr>
                  <a:xfrm>
                    <a:off x="2324541" y="3139237"/>
                    <a:ext cx="516316" cy="59053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椭圆 18">
                    <a:extLst>
                      <a:ext uri="{FF2B5EF4-FFF2-40B4-BE49-F238E27FC236}">
                        <a16:creationId xmlns:a16="http://schemas.microsoft.com/office/drawing/2014/main" id="{22A11E9B-2179-E115-07A7-027C7C3FA77C}"/>
                      </a:ext>
                    </a:extLst>
                  </p:cNvPr>
                  <p:cNvSpPr/>
                  <p:nvPr/>
                </p:nvSpPr>
                <p:spPr>
                  <a:xfrm>
                    <a:off x="2324541" y="4515116"/>
                    <a:ext cx="471633" cy="471633"/>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20" name="椭圆 19">
                    <a:extLst>
                      <a:ext uri="{FF2B5EF4-FFF2-40B4-BE49-F238E27FC236}">
                        <a16:creationId xmlns:a16="http://schemas.microsoft.com/office/drawing/2014/main" id="{2C7632F6-9F2F-0E84-DBDF-7AD76D354178}"/>
                      </a:ext>
                    </a:extLst>
                  </p:cNvPr>
                  <p:cNvSpPr/>
                  <p:nvPr/>
                </p:nvSpPr>
                <p:spPr>
                  <a:xfrm>
                    <a:off x="1961431" y="3652746"/>
                    <a:ext cx="471633" cy="471633"/>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cxnSp>
                <p:nvCxnSpPr>
                  <p:cNvPr id="21" name="直接连接符 20">
                    <a:extLst>
                      <a:ext uri="{FF2B5EF4-FFF2-40B4-BE49-F238E27FC236}">
                        <a16:creationId xmlns:a16="http://schemas.microsoft.com/office/drawing/2014/main" id="{B27F8848-D136-1F8A-600B-B9095ECBEF22}"/>
                      </a:ext>
                    </a:extLst>
                  </p:cNvPr>
                  <p:cNvCxnSpPr>
                    <a:cxnSpLocks/>
                    <a:endCxn id="9" idx="0"/>
                  </p:cNvCxnSpPr>
                  <p:nvPr/>
                </p:nvCxnSpPr>
                <p:spPr>
                  <a:xfrm>
                    <a:off x="1500226" y="4151492"/>
                    <a:ext cx="305120" cy="367374"/>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009C9BDD-24DA-5813-56A6-179F72F6D173}"/>
                      </a:ext>
                    </a:extLst>
                  </p:cNvPr>
                  <p:cNvCxnSpPr>
                    <a:cxnSpLocks/>
                  </p:cNvCxnSpPr>
                  <p:nvPr/>
                </p:nvCxnSpPr>
                <p:spPr>
                  <a:xfrm flipH="1">
                    <a:off x="1194793" y="4129626"/>
                    <a:ext cx="305433" cy="442375"/>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C052D22C-8FD0-A98C-5A24-01C141DA26E4}"/>
                      </a:ext>
                    </a:extLst>
                  </p:cNvPr>
                  <p:cNvSpPr txBox="1"/>
                  <p:nvPr/>
                </p:nvSpPr>
                <p:spPr>
                  <a:xfrm>
                    <a:off x="2433064" y="5429114"/>
                    <a:ext cx="420787" cy="369332"/>
                  </a:xfrm>
                  <a:prstGeom prst="rect">
                    <a:avLst/>
                  </a:prstGeom>
                  <a:noFill/>
                </p:spPr>
                <p:txBody>
                  <a:bodyPr wrap="square" rtlCol="0">
                    <a:spAutoFit/>
                  </a:bodyPr>
                  <a:lstStyle/>
                  <a:p>
                    <a:endParaRPr lang="zh-CN" altLang="en-US" b="1" dirty="0">
                      <a:solidFill>
                        <a:schemeClr val="accent2"/>
                      </a:solidFill>
                      <a:latin typeface="Times New Roman" panose="02020603050405020304" pitchFamily="18" charset="0"/>
                      <a:cs typeface="Times New Roman" panose="02020603050405020304" pitchFamily="18" charset="0"/>
                    </a:endParaRPr>
                  </a:p>
                </p:txBody>
              </p:sp>
            </p:grpSp>
            <p:cxnSp>
              <p:nvCxnSpPr>
                <p:cNvPr id="25" name="直接连接符 24">
                  <a:extLst>
                    <a:ext uri="{FF2B5EF4-FFF2-40B4-BE49-F238E27FC236}">
                      <a16:creationId xmlns:a16="http://schemas.microsoft.com/office/drawing/2014/main" id="{F8790165-E372-D2B6-3BA6-872B8C1F22C1}"/>
                    </a:ext>
                  </a:extLst>
                </p:cNvPr>
                <p:cNvCxnSpPr>
                  <a:cxnSpLocks/>
                  <a:stCxn id="9" idx="6"/>
                  <a:endCxn id="19" idx="2"/>
                </p:cNvCxnSpPr>
                <p:nvPr/>
              </p:nvCxnSpPr>
              <p:spPr>
                <a:xfrm flipV="1">
                  <a:off x="8729154" y="6058418"/>
                  <a:ext cx="283379" cy="3750"/>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cxnSp>
            <p:nvCxnSpPr>
              <p:cNvPr id="33" name="直接连接符 32">
                <a:extLst>
                  <a:ext uri="{FF2B5EF4-FFF2-40B4-BE49-F238E27FC236}">
                    <a16:creationId xmlns:a16="http://schemas.microsoft.com/office/drawing/2014/main" id="{5BA62947-4AFC-1215-C028-8E0E1BA2AD4C}"/>
                  </a:ext>
                </a:extLst>
              </p:cNvPr>
              <p:cNvCxnSpPr>
                <a:cxnSpLocks/>
                <a:stCxn id="28" idx="6"/>
                <a:endCxn id="13" idx="4"/>
              </p:cNvCxnSpPr>
              <p:nvPr/>
            </p:nvCxnSpPr>
            <p:spPr>
              <a:xfrm flipV="1">
                <a:off x="9363776" y="6046303"/>
                <a:ext cx="931090" cy="470374"/>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sp>
          <p:nvSpPr>
            <p:cNvPr id="38" name="文本框 37">
              <a:extLst>
                <a:ext uri="{FF2B5EF4-FFF2-40B4-BE49-F238E27FC236}">
                  <a16:creationId xmlns:a16="http://schemas.microsoft.com/office/drawing/2014/main" id="{A8568A07-ABB9-FC95-556D-A78C4FCA8988}"/>
                </a:ext>
              </a:extLst>
            </p:cNvPr>
            <p:cNvSpPr txBox="1"/>
            <p:nvPr/>
          </p:nvSpPr>
          <p:spPr>
            <a:xfrm>
              <a:off x="8701930" y="5256040"/>
              <a:ext cx="652952" cy="369332"/>
            </a:xfrm>
            <a:prstGeom prst="rect">
              <a:avLst/>
            </a:prstGeom>
            <a:noFill/>
          </p:spPr>
          <p:txBody>
            <a:bodyPr wrap="square" rtlCol="0">
              <a:spAutoFit/>
            </a:bodyPr>
            <a:lstStyle/>
            <a:p>
              <a:r>
                <a:rPr lang="en-US" altLang="zh-CN" b="1" dirty="0">
                  <a:solidFill>
                    <a:schemeClr val="accent2"/>
                  </a:solidFill>
                  <a:latin typeface="Times New Roman" panose="02020603050405020304" pitchFamily="18" charset="0"/>
                  <a:cs typeface="Times New Roman" panose="02020603050405020304" pitchFamily="18" charset="0"/>
                </a:rPr>
                <a:t>+1</a:t>
              </a:r>
              <a:endParaRPr lang="zh-CN" altLang="en-US" b="1" dirty="0">
                <a:solidFill>
                  <a:schemeClr val="accent2"/>
                </a:solidFill>
                <a:latin typeface="Times New Roman" panose="02020603050405020304" pitchFamily="18" charset="0"/>
                <a:cs typeface="Times New Roman" panose="02020603050405020304" pitchFamily="18" charset="0"/>
              </a:endParaRPr>
            </a:p>
          </p:txBody>
        </p:sp>
      </p:grpSp>
      <p:sp>
        <p:nvSpPr>
          <p:cNvPr id="40" name="文本框 39">
            <a:extLst>
              <a:ext uri="{FF2B5EF4-FFF2-40B4-BE49-F238E27FC236}">
                <a16:creationId xmlns:a16="http://schemas.microsoft.com/office/drawing/2014/main" id="{B25EEF46-343E-CACE-C6C9-CCE9066A2630}"/>
              </a:ext>
            </a:extLst>
          </p:cNvPr>
          <p:cNvSpPr txBox="1"/>
          <p:nvPr/>
        </p:nvSpPr>
        <p:spPr>
          <a:xfrm>
            <a:off x="9675952" y="3719400"/>
            <a:ext cx="652952" cy="369332"/>
          </a:xfrm>
          <a:prstGeom prst="rect">
            <a:avLst/>
          </a:prstGeom>
          <a:noFill/>
        </p:spPr>
        <p:txBody>
          <a:bodyPr wrap="square" rtlCol="0">
            <a:spAutoFit/>
          </a:bodyPr>
          <a:lstStyle/>
          <a:p>
            <a:r>
              <a:rPr lang="en-US" altLang="zh-CN" b="1" dirty="0">
                <a:solidFill>
                  <a:schemeClr val="accent2"/>
                </a:solidFill>
                <a:latin typeface="Times New Roman" panose="02020603050405020304" pitchFamily="18" charset="0"/>
                <a:cs typeface="Times New Roman" panose="02020603050405020304" pitchFamily="18" charset="0"/>
              </a:rPr>
              <a:t>+1</a:t>
            </a:r>
            <a:endParaRPr lang="zh-CN" altLang="en-US" b="1" dirty="0">
              <a:solidFill>
                <a:schemeClr val="accent2"/>
              </a:solidFill>
              <a:latin typeface="Times New Roman" panose="02020603050405020304" pitchFamily="18" charset="0"/>
              <a:cs typeface="Times New Roman" panose="02020603050405020304" pitchFamily="18" charset="0"/>
            </a:endParaRPr>
          </a:p>
        </p:txBody>
      </p:sp>
      <p:sp>
        <p:nvSpPr>
          <p:cNvPr id="41" name="文本框 40">
            <a:extLst>
              <a:ext uri="{FF2B5EF4-FFF2-40B4-BE49-F238E27FC236}">
                <a16:creationId xmlns:a16="http://schemas.microsoft.com/office/drawing/2014/main" id="{737A7028-3953-2A84-43E6-2800C5806881}"/>
              </a:ext>
            </a:extLst>
          </p:cNvPr>
          <p:cNvSpPr txBox="1"/>
          <p:nvPr/>
        </p:nvSpPr>
        <p:spPr>
          <a:xfrm>
            <a:off x="9205960" y="5071862"/>
            <a:ext cx="652952" cy="369332"/>
          </a:xfrm>
          <a:prstGeom prst="rect">
            <a:avLst/>
          </a:prstGeom>
          <a:noFill/>
        </p:spPr>
        <p:txBody>
          <a:bodyPr wrap="square" rtlCol="0">
            <a:spAutoFit/>
          </a:bodyPr>
          <a:lstStyle/>
          <a:p>
            <a:r>
              <a:rPr lang="en-US" altLang="zh-CN" b="1" dirty="0">
                <a:solidFill>
                  <a:schemeClr val="accent2"/>
                </a:solidFill>
                <a:latin typeface="Times New Roman" panose="02020603050405020304" pitchFamily="18" charset="0"/>
                <a:cs typeface="Times New Roman" panose="02020603050405020304" pitchFamily="18" charset="0"/>
              </a:rPr>
              <a:t>+1</a:t>
            </a:r>
            <a:endParaRPr lang="zh-CN" altLang="en-US" b="1" dirty="0">
              <a:solidFill>
                <a:schemeClr val="accent2"/>
              </a:solidFill>
              <a:latin typeface="Times New Roman" panose="02020603050405020304" pitchFamily="18" charset="0"/>
              <a:cs typeface="Times New Roman" panose="02020603050405020304" pitchFamily="18" charset="0"/>
            </a:endParaRPr>
          </a:p>
        </p:txBody>
      </p:sp>
      <p:sp>
        <p:nvSpPr>
          <p:cNvPr id="42" name="文本框 41">
            <a:extLst>
              <a:ext uri="{FF2B5EF4-FFF2-40B4-BE49-F238E27FC236}">
                <a16:creationId xmlns:a16="http://schemas.microsoft.com/office/drawing/2014/main" id="{E753DE5F-FB98-F50C-66FC-E6C426EF9484}"/>
              </a:ext>
            </a:extLst>
          </p:cNvPr>
          <p:cNvSpPr txBox="1"/>
          <p:nvPr/>
        </p:nvSpPr>
        <p:spPr>
          <a:xfrm>
            <a:off x="10328904" y="4421689"/>
            <a:ext cx="652952" cy="369332"/>
          </a:xfrm>
          <a:prstGeom prst="rect">
            <a:avLst/>
          </a:prstGeom>
          <a:noFill/>
        </p:spPr>
        <p:txBody>
          <a:bodyPr wrap="square" rtlCol="0">
            <a:spAutoFit/>
          </a:bodyPr>
          <a:lstStyle/>
          <a:p>
            <a:r>
              <a:rPr lang="en-US" altLang="zh-CN" b="1" dirty="0">
                <a:solidFill>
                  <a:schemeClr val="accent2"/>
                </a:solidFill>
                <a:latin typeface="Times New Roman" panose="02020603050405020304" pitchFamily="18" charset="0"/>
                <a:cs typeface="Times New Roman" panose="02020603050405020304" pitchFamily="18" charset="0"/>
              </a:rPr>
              <a:t>+1</a:t>
            </a:r>
            <a:endParaRPr lang="zh-CN" altLang="en-US" b="1" dirty="0">
              <a:solidFill>
                <a:schemeClr val="accent2"/>
              </a:solidFill>
              <a:latin typeface="Times New Roman" panose="02020603050405020304" pitchFamily="18" charset="0"/>
              <a:cs typeface="Times New Roman" panose="02020603050405020304" pitchFamily="18" charset="0"/>
            </a:endParaRPr>
          </a:p>
        </p:txBody>
      </p:sp>
      <p:sp>
        <p:nvSpPr>
          <p:cNvPr id="43" name="文本框 42">
            <a:extLst>
              <a:ext uri="{FF2B5EF4-FFF2-40B4-BE49-F238E27FC236}">
                <a16:creationId xmlns:a16="http://schemas.microsoft.com/office/drawing/2014/main" id="{149D5AA4-0924-8C12-0DC7-5C941F2C2679}"/>
              </a:ext>
            </a:extLst>
          </p:cNvPr>
          <p:cNvSpPr txBox="1"/>
          <p:nvPr/>
        </p:nvSpPr>
        <p:spPr>
          <a:xfrm>
            <a:off x="9754042" y="2771884"/>
            <a:ext cx="652952" cy="369332"/>
          </a:xfrm>
          <a:prstGeom prst="rect">
            <a:avLst/>
          </a:prstGeom>
          <a:noFill/>
        </p:spPr>
        <p:txBody>
          <a:bodyPr wrap="square" rtlCol="0">
            <a:spAutoFit/>
          </a:bodyPr>
          <a:lstStyle/>
          <a:p>
            <a:r>
              <a:rPr lang="en-US" altLang="zh-CN" b="1" dirty="0">
                <a:solidFill>
                  <a:schemeClr val="accent2"/>
                </a:solidFill>
                <a:latin typeface="Times New Roman" panose="02020603050405020304" pitchFamily="18" charset="0"/>
                <a:cs typeface="Times New Roman" panose="02020603050405020304" pitchFamily="18" charset="0"/>
              </a:rPr>
              <a:t>-2</a:t>
            </a:r>
            <a:endParaRPr lang="zh-CN" altLang="en-US" b="1" dirty="0">
              <a:solidFill>
                <a:schemeClr val="accent2"/>
              </a:solidFill>
              <a:latin typeface="Times New Roman" panose="02020603050405020304" pitchFamily="18" charset="0"/>
              <a:cs typeface="Times New Roman" panose="02020603050405020304" pitchFamily="18" charset="0"/>
            </a:endParaRPr>
          </a:p>
        </p:txBody>
      </p:sp>
      <p:sp>
        <p:nvSpPr>
          <p:cNvPr id="44" name="文本框 43">
            <a:extLst>
              <a:ext uri="{FF2B5EF4-FFF2-40B4-BE49-F238E27FC236}">
                <a16:creationId xmlns:a16="http://schemas.microsoft.com/office/drawing/2014/main" id="{572168B4-D8E7-B59C-CBFF-E7F7207F2069}"/>
              </a:ext>
            </a:extLst>
          </p:cNvPr>
          <p:cNvSpPr txBox="1"/>
          <p:nvPr/>
        </p:nvSpPr>
        <p:spPr>
          <a:xfrm>
            <a:off x="9349476" y="2169115"/>
            <a:ext cx="652952" cy="369332"/>
          </a:xfrm>
          <a:prstGeom prst="rect">
            <a:avLst/>
          </a:prstGeom>
          <a:noFill/>
        </p:spPr>
        <p:txBody>
          <a:bodyPr wrap="square" rtlCol="0">
            <a:spAutoFit/>
          </a:bodyPr>
          <a:lstStyle/>
          <a:p>
            <a:r>
              <a:rPr lang="en-US" altLang="zh-CN" b="1" dirty="0">
                <a:solidFill>
                  <a:schemeClr val="accent2"/>
                </a:solidFill>
                <a:latin typeface="Times New Roman" panose="02020603050405020304" pitchFamily="18" charset="0"/>
                <a:cs typeface="Times New Roman" panose="02020603050405020304" pitchFamily="18" charset="0"/>
              </a:rPr>
              <a:t>-2</a:t>
            </a:r>
            <a:endParaRPr lang="zh-CN" altLang="en-US" b="1" dirty="0">
              <a:solidFill>
                <a:schemeClr val="accent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01046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最近公共祖先</a:t>
            </a:r>
            <a:r>
              <a:rPr lang="en-US" altLang="zh-CN" dirty="0"/>
              <a:t>LCA</a:t>
            </a:r>
            <a:endParaRPr lang="zh-CN" altLang="en-US" dirty="0"/>
          </a:p>
        </p:txBody>
      </p:sp>
      <p:sp>
        <p:nvSpPr>
          <p:cNvPr id="5" name="文本框 4">
            <a:extLst>
              <a:ext uri="{FF2B5EF4-FFF2-40B4-BE49-F238E27FC236}">
                <a16:creationId xmlns:a16="http://schemas.microsoft.com/office/drawing/2014/main" id="{5BD4960D-F8F3-C34B-0FDF-540E331018B9}"/>
              </a:ext>
            </a:extLst>
          </p:cNvPr>
          <p:cNvSpPr txBox="1"/>
          <p:nvPr/>
        </p:nvSpPr>
        <p:spPr>
          <a:xfrm>
            <a:off x="953982" y="1414854"/>
            <a:ext cx="2117694" cy="369332"/>
          </a:xfrm>
          <a:prstGeom prst="rect">
            <a:avLst/>
          </a:prstGeom>
          <a:noFill/>
        </p:spPr>
        <p:txBody>
          <a:bodyPr wrap="square">
            <a:spAutoFit/>
          </a:bodyPr>
          <a:lstStyle/>
          <a:p>
            <a:r>
              <a:rPr lang="en-US" altLang="zh-CN" b="1" noProof="1">
                <a:solidFill>
                  <a:schemeClr val="accent2"/>
                </a:solidFill>
                <a:latin typeface="微软雅黑" panose="020B0503020204020204" pitchFamily="34" charset="-122"/>
                <a:ea typeface="微软雅黑" panose="020B0503020204020204" pitchFamily="34" charset="-122"/>
              </a:rPr>
              <a:t>【</a:t>
            </a:r>
            <a:r>
              <a:rPr lang="zh-CN" altLang="en-US" b="1" noProof="1">
                <a:solidFill>
                  <a:schemeClr val="accent2"/>
                </a:solidFill>
                <a:latin typeface="微软雅黑" panose="020B0503020204020204" pitchFamily="34" charset="-122"/>
                <a:ea typeface="微软雅黑" panose="020B0503020204020204" pitchFamily="34" charset="-122"/>
              </a:rPr>
              <a:t>参考程序</a:t>
            </a:r>
            <a:r>
              <a:rPr lang="en-US" altLang="zh-CN" b="1" noProof="1">
                <a:solidFill>
                  <a:schemeClr val="accent2"/>
                </a:solidFill>
                <a:latin typeface="微软雅黑" panose="020B0503020204020204" pitchFamily="34" charset="-122"/>
                <a:ea typeface="微软雅黑" panose="020B0503020204020204" pitchFamily="34" charset="-122"/>
              </a:rPr>
              <a:t>】</a:t>
            </a:r>
            <a:endParaRPr lang="zh-CN" altLang="en-US" b="1" noProof="1">
              <a:solidFill>
                <a:schemeClr val="accent2"/>
              </a:solidFill>
              <a:latin typeface="微软雅黑" panose="020B0503020204020204" pitchFamily="34" charset="-122"/>
              <a:ea typeface="微软雅黑" panose="020B0503020204020204" pitchFamily="34" charset="-122"/>
            </a:endParaRPr>
          </a:p>
        </p:txBody>
      </p:sp>
      <p:pic>
        <p:nvPicPr>
          <p:cNvPr id="6" name="图片 5">
            <a:extLst>
              <a:ext uri="{FF2B5EF4-FFF2-40B4-BE49-F238E27FC236}">
                <a16:creationId xmlns:a16="http://schemas.microsoft.com/office/drawing/2014/main" id="{00ABC0FA-2820-3556-3D1F-9A9047DCDC38}"/>
              </a:ext>
            </a:extLst>
          </p:cNvPr>
          <p:cNvPicPr>
            <a:picLocks noChangeAspect="1"/>
          </p:cNvPicPr>
          <p:nvPr/>
        </p:nvPicPr>
        <p:blipFill>
          <a:blip r:embed="rId2" cstate="print"/>
          <a:stretch>
            <a:fillRect/>
          </a:stretch>
        </p:blipFill>
        <p:spPr>
          <a:xfrm>
            <a:off x="1104900" y="2025878"/>
            <a:ext cx="5303930" cy="2924499"/>
          </a:xfrm>
          <a:prstGeom prst="rect">
            <a:avLst/>
          </a:prstGeom>
        </p:spPr>
      </p:pic>
      <p:sp>
        <p:nvSpPr>
          <p:cNvPr id="7" name="文本框 6">
            <a:extLst>
              <a:ext uri="{FF2B5EF4-FFF2-40B4-BE49-F238E27FC236}">
                <a16:creationId xmlns:a16="http://schemas.microsoft.com/office/drawing/2014/main" id="{F17E76B4-0CF7-DB7C-08BB-C85F06835770}"/>
              </a:ext>
            </a:extLst>
          </p:cNvPr>
          <p:cNvSpPr txBox="1"/>
          <p:nvPr/>
        </p:nvSpPr>
        <p:spPr>
          <a:xfrm>
            <a:off x="1104900" y="5258480"/>
            <a:ext cx="1638300" cy="369332"/>
          </a:xfrm>
          <a:prstGeom prst="rect">
            <a:avLst/>
          </a:prstGeom>
          <a:noFill/>
        </p:spPr>
        <p:txBody>
          <a:bodyPr wrap="square">
            <a:spAutoFit/>
          </a:bodyPr>
          <a:lstStyle/>
          <a:p>
            <a:r>
              <a:rPr lang="zh-CN" altLang="en-US" sz="1800" b="1" dirty="0">
                <a:solidFill>
                  <a:schemeClr val="accent2"/>
                </a:solidFill>
                <a:latin typeface="微软雅黑" panose="020B0503020204020204" pitchFamily="34" charset="-122"/>
                <a:ea typeface="微软雅黑" panose="020B0503020204020204" pitchFamily="34" charset="-122"/>
              </a:rPr>
              <a:t>树上差分</a:t>
            </a:r>
            <a:endParaRPr lang="zh-CN" altLang="en-US" dirty="0"/>
          </a:p>
        </p:txBody>
      </p:sp>
    </p:spTree>
    <p:extLst>
      <p:ext uri="{BB962C8B-B14F-4D97-AF65-F5344CB8AC3E}">
        <p14:creationId xmlns:p14="http://schemas.microsoft.com/office/powerpoint/2010/main" val="1440396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最近公共祖先</a:t>
            </a:r>
            <a:r>
              <a:rPr lang="en-US" altLang="zh-CN" dirty="0"/>
              <a:t>LCA</a:t>
            </a:r>
            <a:endParaRPr lang="zh-CN" altLang="en-US" dirty="0"/>
          </a:p>
        </p:txBody>
      </p:sp>
      <p:sp>
        <p:nvSpPr>
          <p:cNvPr id="5" name="文本框 4">
            <a:extLst>
              <a:ext uri="{FF2B5EF4-FFF2-40B4-BE49-F238E27FC236}">
                <a16:creationId xmlns:a16="http://schemas.microsoft.com/office/drawing/2014/main" id="{5BD4960D-F8F3-C34B-0FDF-540E331018B9}"/>
              </a:ext>
            </a:extLst>
          </p:cNvPr>
          <p:cNvSpPr txBox="1"/>
          <p:nvPr/>
        </p:nvSpPr>
        <p:spPr>
          <a:xfrm>
            <a:off x="953982" y="1414854"/>
            <a:ext cx="2117694" cy="369332"/>
          </a:xfrm>
          <a:prstGeom prst="rect">
            <a:avLst/>
          </a:prstGeom>
          <a:noFill/>
        </p:spPr>
        <p:txBody>
          <a:bodyPr wrap="square">
            <a:spAutoFit/>
          </a:bodyPr>
          <a:lstStyle/>
          <a:p>
            <a:r>
              <a:rPr lang="en-US" altLang="zh-CN" b="1" noProof="1">
                <a:solidFill>
                  <a:schemeClr val="accent2"/>
                </a:solidFill>
                <a:latin typeface="微软雅黑" panose="020B0503020204020204" pitchFamily="34" charset="-122"/>
                <a:ea typeface="微软雅黑" panose="020B0503020204020204" pitchFamily="34" charset="-122"/>
              </a:rPr>
              <a:t>【</a:t>
            </a:r>
            <a:r>
              <a:rPr lang="zh-CN" altLang="en-US" b="1" noProof="1">
                <a:solidFill>
                  <a:schemeClr val="accent2"/>
                </a:solidFill>
                <a:latin typeface="微软雅黑" panose="020B0503020204020204" pitchFamily="34" charset="-122"/>
                <a:ea typeface="微软雅黑" panose="020B0503020204020204" pitchFamily="34" charset="-122"/>
              </a:rPr>
              <a:t>参考程序</a:t>
            </a:r>
            <a:r>
              <a:rPr lang="en-US" altLang="zh-CN" b="1" noProof="1">
                <a:solidFill>
                  <a:schemeClr val="accent2"/>
                </a:solidFill>
                <a:latin typeface="微软雅黑" panose="020B0503020204020204" pitchFamily="34" charset="-122"/>
                <a:ea typeface="微软雅黑" panose="020B0503020204020204" pitchFamily="34" charset="-122"/>
              </a:rPr>
              <a:t>】</a:t>
            </a:r>
            <a:endParaRPr lang="zh-CN" altLang="en-US" b="1" noProof="1">
              <a:solidFill>
                <a:schemeClr val="accent2"/>
              </a:solidFill>
              <a:latin typeface="微软雅黑" panose="020B0503020204020204" pitchFamily="34" charset="-122"/>
              <a:ea typeface="微软雅黑" panose="020B0503020204020204" pitchFamily="34" charset="-122"/>
            </a:endParaRPr>
          </a:p>
        </p:txBody>
      </p:sp>
      <p:pic>
        <p:nvPicPr>
          <p:cNvPr id="8" name="图片 7">
            <a:extLst>
              <a:ext uri="{FF2B5EF4-FFF2-40B4-BE49-F238E27FC236}">
                <a16:creationId xmlns:a16="http://schemas.microsoft.com/office/drawing/2014/main" id="{037E724E-B3BA-AF80-6A2F-4CF207C5B477}"/>
              </a:ext>
            </a:extLst>
          </p:cNvPr>
          <p:cNvPicPr>
            <a:picLocks noChangeAspect="1"/>
          </p:cNvPicPr>
          <p:nvPr/>
        </p:nvPicPr>
        <p:blipFill>
          <a:blip r:embed="rId2" cstate="print"/>
          <a:stretch>
            <a:fillRect/>
          </a:stretch>
        </p:blipFill>
        <p:spPr>
          <a:xfrm>
            <a:off x="1104900" y="1933575"/>
            <a:ext cx="5715000" cy="2990850"/>
          </a:xfrm>
          <a:prstGeom prst="rect">
            <a:avLst/>
          </a:prstGeom>
        </p:spPr>
      </p:pic>
      <p:sp>
        <p:nvSpPr>
          <p:cNvPr id="9" name="文本框 8">
            <a:extLst>
              <a:ext uri="{FF2B5EF4-FFF2-40B4-BE49-F238E27FC236}">
                <a16:creationId xmlns:a16="http://schemas.microsoft.com/office/drawing/2014/main" id="{CB217E31-4575-5C38-0BDC-9312D37E778C}"/>
              </a:ext>
            </a:extLst>
          </p:cNvPr>
          <p:cNvSpPr txBox="1"/>
          <p:nvPr/>
        </p:nvSpPr>
        <p:spPr>
          <a:xfrm>
            <a:off x="953982" y="5151948"/>
            <a:ext cx="1638300" cy="369332"/>
          </a:xfrm>
          <a:prstGeom prst="rect">
            <a:avLst/>
          </a:prstGeom>
          <a:noFill/>
        </p:spPr>
        <p:txBody>
          <a:bodyPr wrap="square">
            <a:spAutoFit/>
          </a:bodyPr>
          <a:lstStyle/>
          <a:p>
            <a:r>
              <a:rPr lang="zh-CN" altLang="en-US" b="1" dirty="0">
                <a:solidFill>
                  <a:schemeClr val="accent2"/>
                </a:solidFill>
                <a:latin typeface="微软雅黑" panose="020B0503020204020204" pitchFamily="34" charset="-122"/>
                <a:ea typeface="微软雅黑" panose="020B0503020204020204" pitchFamily="34" charset="-122"/>
              </a:rPr>
              <a:t>统计</a:t>
            </a:r>
            <a:endParaRPr lang="zh-CN" altLang="en-US" dirty="0"/>
          </a:p>
        </p:txBody>
      </p:sp>
    </p:spTree>
    <p:extLst>
      <p:ext uri="{BB962C8B-B14F-4D97-AF65-F5344CB8AC3E}">
        <p14:creationId xmlns:p14="http://schemas.microsoft.com/office/powerpoint/2010/main" val="42668925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最近公共祖先</a:t>
            </a:r>
            <a:r>
              <a:rPr lang="en-US" altLang="zh-CN" dirty="0"/>
              <a:t>LCA</a:t>
            </a:r>
            <a:endParaRPr lang="zh-CN" altLang="en-US" dirty="0"/>
          </a:p>
        </p:txBody>
      </p:sp>
      <p:sp>
        <p:nvSpPr>
          <p:cNvPr id="5" name="矩形 4"/>
          <p:cNvSpPr/>
          <p:nvPr/>
        </p:nvSpPr>
        <p:spPr>
          <a:xfrm>
            <a:off x="1025000" y="1173162"/>
            <a:ext cx="10060582" cy="561885"/>
          </a:xfrm>
          <a:prstGeom prst="rect">
            <a:avLst/>
          </a:prstGeom>
        </p:spPr>
        <p:txBody>
          <a:bodyPr wrap="square">
            <a:spAutoFit/>
          </a:bodyPr>
          <a:lstStyle/>
          <a:p>
            <a:pPr>
              <a:lnSpc>
                <a:spcPct val="200000"/>
              </a:lnSpc>
              <a:spcBef>
                <a:spcPct val="50000"/>
              </a:spcBef>
            </a:pPr>
            <a:r>
              <a:rPr lang="zh-CN" altLang="en-US" b="1" noProof="1">
                <a:solidFill>
                  <a:schemeClr val="accent2"/>
                </a:solidFill>
                <a:latin typeface="微软雅黑" panose="020B0503020204020204" pitchFamily="34" charset="-122"/>
                <a:ea typeface="微软雅黑" panose="020B0503020204020204" pitchFamily="34" charset="-122"/>
              </a:rPr>
              <a:t>例</a:t>
            </a:r>
            <a:r>
              <a:rPr lang="en-US" altLang="zh-CN" b="1" noProof="1">
                <a:solidFill>
                  <a:schemeClr val="accent2"/>
                </a:solidFill>
                <a:latin typeface="微软雅黑" panose="020B0503020204020204" pitchFamily="34" charset="-122"/>
                <a:ea typeface="微软雅黑" panose="020B0503020204020204" pitchFamily="34" charset="-122"/>
              </a:rPr>
              <a:t>3</a:t>
            </a:r>
            <a:r>
              <a:rPr lang="zh-CN" altLang="en-US" b="1" noProof="1">
                <a:solidFill>
                  <a:schemeClr val="accent2"/>
                </a:solidFill>
                <a:latin typeface="微软雅黑" panose="020B0503020204020204" pitchFamily="34" charset="-122"/>
                <a:ea typeface="微软雅黑" panose="020B0503020204020204" pitchFamily="34" charset="-122"/>
              </a:rPr>
              <a:t>：次小生成树</a:t>
            </a:r>
            <a:endParaRPr lang="en-US" altLang="zh-CN" b="1" noProof="1">
              <a:solidFill>
                <a:schemeClr val="accent2"/>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C51B12BF-FEAD-8EAA-966A-0CACB7D58CFC}"/>
              </a:ext>
            </a:extLst>
          </p:cNvPr>
          <p:cNvSpPr txBox="1"/>
          <p:nvPr/>
        </p:nvSpPr>
        <p:spPr>
          <a:xfrm>
            <a:off x="1025000" y="1664026"/>
            <a:ext cx="5897008" cy="5920019"/>
          </a:xfrm>
          <a:prstGeom prst="rect">
            <a:avLst/>
          </a:prstGeom>
          <a:noFill/>
        </p:spPr>
        <p:txBody>
          <a:bodyPr wrap="square">
            <a:spAutoFit/>
          </a:bodyPr>
          <a:lstStyle/>
          <a:p>
            <a:pPr>
              <a:lnSpc>
                <a:spcPct val="200000"/>
              </a:lnSpc>
            </a:pPr>
            <a:r>
              <a:rPr lang="zh-CN" altLang="en-US" sz="1600" dirty="0"/>
              <a:t>给定一张 </a:t>
            </a:r>
            <a:r>
              <a:rPr lang="en-US" altLang="zh-CN" sz="1600" dirty="0"/>
              <a:t>N</a:t>
            </a:r>
            <a:r>
              <a:rPr lang="zh-CN" altLang="en-US" sz="1600" dirty="0"/>
              <a:t>个点 </a:t>
            </a:r>
            <a:r>
              <a:rPr lang="en-US" altLang="zh-CN" sz="1600" dirty="0"/>
              <a:t>M</a:t>
            </a:r>
            <a:r>
              <a:rPr lang="zh-CN" altLang="en-US" sz="1600" dirty="0"/>
              <a:t>条边的无向图，求无向图的严格次小生成树。</a:t>
            </a:r>
          </a:p>
          <a:p>
            <a:pPr>
              <a:lnSpc>
                <a:spcPct val="200000"/>
              </a:lnSpc>
            </a:pPr>
            <a:r>
              <a:rPr lang="zh-CN" altLang="en-US" sz="1600" dirty="0"/>
              <a:t>设最小生成树的边权之和为 </a:t>
            </a:r>
            <a:r>
              <a:rPr lang="en-US" altLang="zh-CN" sz="1600" dirty="0"/>
              <a:t>sum</a:t>
            </a:r>
            <a:r>
              <a:rPr lang="zh-CN" altLang="en-US" sz="1600" dirty="0"/>
              <a:t>，严格次小生成树就是指边权之和大于 </a:t>
            </a:r>
            <a:r>
              <a:rPr lang="en-US" altLang="zh-CN" sz="1600" dirty="0"/>
              <a:t>sum</a:t>
            </a:r>
            <a:r>
              <a:rPr lang="zh-CN" altLang="en-US" sz="1600" dirty="0"/>
              <a:t>的生成树中最小的一个。</a:t>
            </a:r>
            <a:endParaRPr lang="en-US" altLang="zh-CN" sz="1600" dirty="0"/>
          </a:p>
          <a:p>
            <a:pPr>
              <a:lnSpc>
                <a:spcPct val="200000"/>
              </a:lnSpc>
            </a:pPr>
            <a:r>
              <a:rPr lang="zh-CN" altLang="en-US" sz="1600" dirty="0"/>
              <a:t>输入格式</a:t>
            </a:r>
          </a:p>
          <a:p>
            <a:pPr>
              <a:lnSpc>
                <a:spcPct val="200000"/>
              </a:lnSpc>
            </a:pPr>
            <a:r>
              <a:rPr lang="zh-CN" altLang="en-US" sz="1600" dirty="0"/>
              <a:t>第一行包含两个整数 </a:t>
            </a:r>
            <a:r>
              <a:rPr lang="en-US" altLang="zh-CN" sz="1600" dirty="0"/>
              <a:t>N </a:t>
            </a:r>
            <a:r>
              <a:rPr lang="zh-CN" altLang="en-US" sz="1600" dirty="0"/>
              <a:t>和 </a:t>
            </a:r>
            <a:r>
              <a:rPr lang="en-US" altLang="zh-CN" sz="1600" dirty="0"/>
              <a:t>M</a:t>
            </a:r>
            <a:r>
              <a:rPr lang="zh-CN" altLang="en-US" sz="1600" dirty="0"/>
              <a:t>。</a:t>
            </a:r>
          </a:p>
          <a:p>
            <a:pPr>
              <a:lnSpc>
                <a:spcPct val="200000"/>
              </a:lnSpc>
            </a:pPr>
            <a:r>
              <a:rPr lang="zh-CN" altLang="en-US" sz="1600" dirty="0"/>
              <a:t>接下来 </a:t>
            </a:r>
            <a:r>
              <a:rPr lang="en-US" altLang="zh-CN" sz="1600" dirty="0"/>
              <a:t>M</a:t>
            </a:r>
            <a:r>
              <a:rPr lang="zh-CN" altLang="en-US" sz="1600" dirty="0"/>
              <a:t>行，每行包含三个整数 </a:t>
            </a:r>
            <a:r>
              <a:rPr lang="en-US" altLang="zh-CN" sz="1600" dirty="0" err="1"/>
              <a:t>x,y,z</a:t>
            </a:r>
            <a:r>
              <a:rPr lang="zh-CN" altLang="en-US" sz="1600" dirty="0"/>
              <a:t>，表示点 </a:t>
            </a:r>
            <a:r>
              <a:rPr lang="en-US" altLang="zh-CN" sz="1600" dirty="0"/>
              <a:t>x </a:t>
            </a:r>
            <a:r>
              <a:rPr lang="zh-CN" altLang="en-US" sz="1600" dirty="0"/>
              <a:t>和点 </a:t>
            </a:r>
            <a:r>
              <a:rPr lang="en-US" altLang="zh-CN" sz="1600" dirty="0"/>
              <a:t>y </a:t>
            </a:r>
            <a:r>
              <a:rPr lang="zh-CN" altLang="en-US" sz="1600" dirty="0"/>
              <a:t>之前存在一条边，边的权值为 </a:t>
            </a:r>
            <a:r>
              <a:rPr lang="en-US" altLang="zh-CN" sz="1600" dirty="0"/>
              <a:t>z</a:t>
            </a:r>
            <a:r>
              <a:rPr lang="zh-CN" altLang="en-US" sz="1600" dirty="0"/>
              <a:t>。</a:t>
            </a:r>
          </a:p>
          <a:p>
            <a:pPr>
              <a:lnSpc>
                <a:spcPct val="200000"/>
              </a:lnSpc>
            </a:pPr>
            <a:r>
              <a:rPr lang="zh-CN" altLang="en-US" sz="1600" dirty="0"/>
              <a:t>输出格式</a:t>
            </a:r>
          </a:p>
          <a:p>
            <a:pPr>
              <a:lnSpc>
                <a:spcPct val="200000"/>
              </a:lnSpc>
            </a:pPr>
            <a:r>
              <a:rPr lang="zh-CN" altLang="en-US" sz="1600" dirty="0"/>
              <a:t>包含一行，仅一个数，表示严格次小生成树的边权和。</a:t>
            </a:r>
            <a:r>
              <a:rPr lang="en-US" altLang="zh-CN" sz="1600" dirty="0"/>
              <a:t>(</a:t>
            </a:r>
            <a:r>
              <a:rPr lang="zh-CN" altLang="en-US" sz="1600" dirty="0"/>
              <a:t>数据保证必定存在严格次小生成树</a:t>
            </a:r>
            <a:r>
              <a:rPr lang="en-US" altLang="zh-CN" sz="1600" dirty="0"/>
              <a:t>)</a:t>
            </a:r>
          </a:p>
          <a:p>
            <a:pPr>
              <a:lnSpc>
                <a:spcPct val="200000"/>
              </a:lnSpc>
            </a:pPr>
            <a:endParaRPr lang="en-US" altLang="zh-CN" sz="1600" dirty="0"/>
          </a:p>
          <a:p>
            <a:pPr>
              <a:lnSpc>
                <a:spcPct val="200000"/>
              </a:lnSpc>
            </a:pPr>
            <a:endParaRPr lang="en-US" altLang="zh-CN" sz="1600" dirty="0"/>
          </a:p>
        </p:txBody>
      </p:sp>
      <p:pic>
        <p:nvPicPr>
          <p:cNvPr id="3" name="图片 2">
            <a:extLst>
              <a:ext uri="{FF2B5EF4-FFF2-40B4-BE49-F238E27FC236}">
                <a16:creationId xmlns:a16="http://schemas.microsoft.com/office/drawing/2014/main" id="{C44BBDFC-D6E3-583A-F859-45E38EE3935C}"/>
              </a:ext>
            </a:extLst>
          </p:cNvPr>
          <p:cNvPicPr>
            <a:picLocks noChangeAspect="1"/>
          </p:cNvPicPr>
          <p:nvPr/>
        </p:nvPicPr>
        <p:blipFill>
          <a:blip r:embed="rId2" cstate="print"/>
          <a:stretch>
            <a:fillRect/>
          </a:stretch>
        </p:blipFill>
        <p:spPr>
          <a:xfrm>
            <a:off x="7728858" y="2061826"/>
            <a:ext cx="1924050" cy="257175"/>
          </a:xfrm>
          <a:prstGeom prst="rect">
            <a:avLst/>
          </a:prstGeom>
        </p:spPr>
      </p:pic>
      <p:sp>
        <p:nvSpPr>
          <p:cNvPr id="7" name="文本框 6">
            <a:extLst>
              <a:ext uri="{FF2B5EF4-FFF2-40B4-BE49-F238E27FC236}">
                <a16:creationId xmlns:a16="http://schemas.microsoft.com/office/drawing/2014/main" id="{5AC6D6A5-9F69-BDBD-787F-A9A1D8E47F17}"/>
              </a:ext>
            </a:extLst>
          </p:cNvPr>
          <p:cNvSpPr txBox="1"/>
          <p:nvPr/>
        </p:nvSpPr>
        <p:spPr>
          <a:xfrm>
            <a:off x="7728858" y="2465717"/>
            <a:ext cx="2542605" cy="4190058"/>
          </a:xfrm>
          <a:prstGeom prst="rect">
            <a:avLst/>
          </a:prstGeom>
          <a:noFill/>
        </p:spPr>
        <p:txBody>
          <a:bodyPr wrap="square">
            <a:spAutoFit/>
          </a:bodyPr>
          <a:lstStyle/>
          <a:p>
            <a:pPr>
              <a:lnSpc>
                <a:spcPct val="150000"/>
              </a:lnSpc>
            </a:pPr>
            <a:r>
              <a:rPr lang="zh-CN" altLang="en-US" dirty="0"/>
              <a:t>输入样例：</a:t>
            </a:r>
          </a:p>
          <a:p>
            <a:pPr>
              <a:lnSpc>
                <a:spcPct val="150000"/>
              </a:lnSpc>
            </a:pPr>
            <a:r>
              <a:rPr lang="en-US" altLang="zh-CN" dirty="0"/>
              <a:t>5 6</a:t>
            </a:r>
          </a:p>
          <a:p>
            <a:pPr>
              <a:lnSpc>
                <a:spcPct val="150000"/>
              </a:lnSpc>
            </a:pPr>
            <a:r>
              <a:rPr lang="en-US" altLang="zh-CN" dirty="0"/>
              <a:t>1 2 1</a:t>
            </a:r>
          </a:p>
          <a:p>
            <a:pPr>
              <a:lnSpc>
                <a:spcPct val="150000"/>
              </a:lnSpc>
            </a:pPr>
            <a:r>
              <a:rPr lang="en-US" altLang="zh-CN" dirty="0"/>
              <a:t>1 3 2</a:t>
            </a:r>
          </a:p>
          <a:p>
            <a:pPr>
              <a:lnSpc>
                <a:spcPct val="150000"/>
              </a:lnSpc>
            </a:pPr>
            <a:r>
              <a:rPr lang="en-US" altLang="zh-CN" dirty="0"/>
              <a:t>2 4 3</a:t>
            </a:r>
          </a:p>
          <a:p>
            <a:pPr>
              <a:lnSpc>
                <a:spcPct val="150000"/>
              </a:lnSpc>
            </a:pPr>
            <a:r>
              <a:rPr lang="en-US" altLang="zh-CN" dirty="0"/>
              <a:t>3 5 4</a:t>
            </a:r>
          </a:p>
          <a:p>
            <a:pPr>
              <a:lnSpc>
                <a:spcPct val="150000"/>
              </a:lnSpc>
            </a:pPr>
            <a:r>
              <a:rPr lang="en-US" altLang="zh-CN" dirty="0"/>
              <a:t>3 4 3</a:t>
            </a:r>
          </a:p>
          <a:p>
            <a:pPr>
              <a:lnSpc>
                <a:spcPct val="150000"/>
              </a:lnSpc>
            </a:pPr>
            <a:r>
              <a:rPr lang="en-US" altLang="zh-CN" dirty="0"/>
              <a:t>4 5 6</a:t>
            </a:r>
          </a:p>
          <a:p>
            <a:pPr>
              <a:lnSpc>
                <a:spcPct val="150000"/>
              </a:lnSpc>
            </a:pPr>
            <a:r>
              <a:rPr lang="zh-CN" altLang="en-US" dirty="0"/>
              <a:t>输出样例：</a:t>
            </a:r>
          </a:p>
          <a:p>
            <a:pPr>
              <a:lnSpc>
                <a:spcPct val="150000"/>
              </a:lnSpc>
            </a:pPr>
            <a:r>
              <a:rPr lang="en-US" altLang="zh-CN" dirty="0"/>
              <a:t>11</a:t>
            </a:r>
            <a:endParaRPr lang="zh-CN" altLang="en-US" dirty="0"/>
          </a:p>
        </p:txBody>
      </p:sp>
      <p:cxnSp>
        <p:nvCxnSpPr>
          <p:cNvPr id="9" name="直接连接符 8">
            <a:extLst>
              <a:ext uri="{FF2B5EF4-FFF2-40B4-BE49-F238E27FC236}">
                <a16:creationId xmlns:a16="http://schemas.microsoft.com/office/drawing/2014/main" id="{FC71819E-8BC5-C458-00DC-EE6D1E28BF69}"/>
              </a:ext>
            </a:extLst>
          </p:cNvPr>
          <p:cNvCxnSpPr/>
          <p:nvPr/>
        </p:nvCxnSpPr>
        <p:spPr>
          <a:xfrm>
            <a:off x="7187184" y="1581912"/>
            <a:ext cx="0" cy="4928616"/>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1" name="文本框 10">
            <a:extLst>
              <a:ext uri="{FF2B5EF4-FFF2-40B4-BE49-F238E27FC236}">
                <a16:creationId xmlns:a16="http://schemas.microsoft.com/office/drawing/2014/main" id="{6C6EEF88-20FC-7D37-2843-90FA407A943F}"/>
              </a:ext>
            </a:extLst>
          </p:cNvPr>
          <p:cNvSpPr txBox="1"/>
          <p:nvPr/>
        </p:nvSpPr>
        <p:spPr>
          <a:xfrm>
            <a:off x="7576876" y="1534500"/>
            <a:ext cx="1294330" cy="369332"/>
          </a:xfrm>
          <a:prstGeom prst="rect">
            <a:avLst/>
          </a:prstGeom>
          <a:noFill/>
        </p:spPr>
        <p:txBody>
          <a:bodyPr wrap="square">
            <a:spAutoFit/>
          </a:bodyPr>
          <a:lstStyle/>
          <a:p>
            <a:r>
              <a:rPr lang="zh-CN" altLang="en-US" dirty="0"/>
              <a:t>数据范围：</a:t>
            </a:r>
          </a:p>
        </p:txBody>
      </p:sp>
    </p:spTree>
    <p:extLst>
      <p:ext uri="{BB962C8B-B14F-4D97-AF65-F5344CB8AC3E}">
        <p14:creationId xmlns:p14="http://schemas.microsoft.com/office/powerpoint/2010/main" val="25862677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最近公共祖先</a:t>
            </a:r>
            <a:r>
              <a:rPr lang="en-US" altLang="zh-CN" dirty="0"/>
              <a:t>LCA</a:t>
            </a:r>
            <a:endParaRPr lang="zh-CN" altLang="en-US" dirty="0"/>
          </a:p>
        </p:txBody>
      </p:sp>
      <p:sp>
        <p:nvSpPr>
          <p:cNvPr id="8" name="文本框 7"/>
          <p:cNvSpPr txBox="1"/>
          <p:nvPr/>
        </p:nvSpPr>
        <p:spPr>
          <a:xfrm>
            <a:off x="945219" y="1397458"/>
            <a:ext cx="2117694" cy="369332"/>
          </a:xfrm>
          <a:prstGeom prst="rect">
            <a:avLst/>
          </a:prstGeom>
          <a:noFill/>
        </p:spPr>
        <p:txBody>
          <a:bodyPr wrap="square">
            <a:spAutoFit/>
          </a:bodyPr>
          <a:lstStyle/>
          <a:p>
            <a:r>
              <a:rPr lang="en-US" altLang="zh-CN" b="1" noProof="1">
                <a:solidFill>
                  <a:schemeClr val="accent2"/>
                </a:solidFill>
                <a:latin typeface="微软雅黑" panose="020B0503020204020204" pitchFamily="34" charset="-122"/>
                <a:ea typeface="微软雅黑" panose="020B0503020204020204" pitchFamily="34" charset="-122"/>
              </a:rPr>
              <a:t>【</a:t>
            </a:r>
            <a:r>
              <a:rPr lang="zh-CN" altLang="en-US" b="1" noProof="1">
                <a:solidFill>
                  <a:schemeClr val="accent2"/>
                </a:solidFill>
                <a:latin typeface="微软雅黑" panose="020B0503020204020204" pitchFamily="34" charset="-122"/>
                <a:ea typeface="微软雅黑" panose="020B0503020204020204" pitchFamily="34" charset="-122"/>
              </a:rPr>
              <a:t>题意分析</a:t>
            </a:r>
            <a:r>
              <a:rPr lang="en-US" altLang="zh-CN" b="1" noProof="1">
                <a:solidFill>
                  <a:schemeClr val="accent2"/>
                </a:solidFill>
                <a:latin typeface="微软雅黑" panose="020B0503020204020204" pitchFamily="34" charset="-122"/>
                <a:ea typeface="微软雅黑" panose="020B0503020204020204" pitchFamily="34" charset="-122"/>
              </a:rPr>
              <a:t>】</a:t>
            </a:r>
            <a:endParaRPr lang="zh-CN" altLang="en-US" b="1" noProof="1">
              <a:solidFill>
                <a:schemeClr val="accent2"/>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6" name="文本框 5">
                <a:extLst>
                  <a:ext uri="{FF2B5EF4-FFF2-40B4-BE49-F238E27FC236}">
                    <a16:creationId xmlns:a16="http://schemas.microsoft.com/office/drawing/2014/main" id="{1E5017F1-3489-6BAE-9865-2476A2A44E20}"/>
                  </a:ext>
                </a:extLst>
              </p:cNvPr>
              <p:cNvSpPr txBox="1"/>
              <p:nvPr/>
            </p:nvSpPr>
            <p:spPr>
              <a:xfrm>
                <a:off x="1064950" y="1681781"/>
                <a:ext cx="10020632" cy="2224776"/>
              </a:xfrm>
              <a:prstGeom prst="rect">
                <a:avLst/>
              </a:prstGeom>
              <a:noFill/>
            </p:spPr>
            <p:txBody>
              <a:bodyPr wrap="square">
                <a:spAutoFit/>
              </a:bodyPr>
              <a:lstStyle/>
              <a:p>
                <a:pPr>
                  <a:lnSpc>
                    <a:spcPct val="200000"/>
                  </a:lnSpc>
                </a:pPr>
                <a:r>
                  <a:rPr lang="zh-CN" altLang="en-US" dirty="0">
                    <a:latin typeface="微软雅黑" panose="020B0503020204020204" pitchFamily="34" charset="-122"/>
                    <a:ea typeface="微软雅黑" panose="020B0503020204020204" pitchFamily="34" charset="-122"/>
                  </a:rPr>
                  <a:t>方法</a:t>
                </a:r>
                <a:r>
                  <a:rPr lang="en-US" altLang="zh-CN" dirty="0">
                    <a:latin typeface="微软雅黑" panose="020B0503020204020204" pitchFamily="34" charset="-122"/>
                    <a:ea typeface="微软雅黑" panose="020B0503020204020204" pitchFamily="34" charset="-122"/>
                  </a:rPr>
                  <a:t>1:</a:t>
                </a:r>
              </a:p>
              <a:p>
                <a:pPr>
                  <a:lnSpc>
                    <a:spcPct val="200000"/>
                  </a:lnSpc>
                </a:pPr>
                <a:r>
                  <a:rPr lang="zh-CN" altLang="en-US" dirty="0">
                    <a:latin typeface="微软雅黑" panose="020B0503020204020204" pitchFamily="34" charset="-122"/>
                    <a:ea typeface="微软雅黑" panose="020B0503020204020204" pitchFamily="34" charset="-122"/>
                  </a:rPr>
                  <a:t>最简单也最容易想到的是</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设</a:t>
                </a:r>
                <a:r>
                  <a:rPr lang="en-US" altLang="zh-CN" dirty="0">
                    <a:latin typeface="微软雅黑" panose="020B0503020204020204" pitchFamily="34" charset="-122"/>
                    <a:ea typeface="微软雅黑" panose="020B0503020204020204" pitchFamily="34" charset="-122"/>
                  </a:rPr>
                  <a:t>T</a:t>
                </a:r>
                <a:r>
                  <a:rPr lang="zh-CN" altLang="en-US" dirty="0">
                    <a:latin typeface="微软雅黑" panose="020B0503020204020204" pitchFamily="34" charset="-122"/>
                    <a:ea typeface="微软雅黑" panose="020B0503020204020204" pitchFamily="34" charset="-122"/>
                  </a:rPr>
                  <a:t>是</a:t>
                </a:r>
                <a:r>
                  <a:rPr lang="en-US" altLang="zh-CN" dirty="0">
                    <a:latin typeface="微软雅黑" panose="020B0503020204020204" pitchFamily="34" charset="-122"/>
                    <a:ea typeface="微软雅黑" panose="020B0503020204020204" pitchFamily="34" charset="-122"/>
                  </a:rPr>
                  <a:t>G</a:t>
                </a:r>
                <a:r>
                  <a:rPr lang="zh-CN" altLang="en-US" dirty="0">
                    <a:latin typeface="微软雅黑" panose="020B0503020204020204" pitchFamily="34" charset="-122"/>
                    <a:ea typeface="微软雅黑" panose="020B0503020204020204" pitchFamily="34" charset="-122"/>
                  </a:rPr>
                  <a:t>的最小生成树</a:t>
                </a:r>
                <a:r>
                  <a:rPr lang="en-US" altLang="zh-CN" dirty="0">
                    <a:latin typeface="微软雅黑" panose="020B0503020204020204" pitchFamily="34" charset="-122"/>
                    <a:ea typeface="微软雅黑" panose="020B0503020204020204" pitchFamily="34" charset="-122"/>
                  </a:rPr>
                  <a:t>,</a:t>
                </a:r>
                <a:r>
                  <a:rPr lang="zh-CN" altLang="en-US" b="1" dirty="0">
                    <a:solidFill>
                      <a:schemeClr val="accent2"/>
                    </a:solidFill>
                    <a:latin typeface="微软雅黑" panose="020B0503020204020204" pitchFamily="34" charset="-122"/>
                    <a:ea typeface="微软雅黑" panose="020B0503020204020204" pitchFamily="34" charset="-122"/>
                  </a:rPr>
                  <a:t>依次枚举</a:t>
                </a:r>
                <a:r>
                  <a:rPr lang="en-US" altLang="zh-CN" b="1" dirty="0">
                    <a:solidFill>
                      <a:schemeClr val="accent2"/>
                    </a:solidFill>
                    <a:latin typeface="微软雅黑" panose="020B0503020204020204" pitchFamily="34" charset="-122"/>
                    <a:ea typeface="微软雅黑" panose="020B0503020204020204" pitchFamily="34" charset="-122"/>
                  </a:rPr>
                  <a:t>T</a:t>
                </a:r>
                <a:r>
                  <a:rPr lang="zh-CN" altLang="en-US" b="1" dirty="0">
                    <a:solidFill>
                      <a:schemeClr val="accent2"/>
                    </a:solidFill>
                    <a:latin typeface="微软雅黑" panose="020B0503020204020204" pitchFamily="34" charset="-122"/>
                    <a:ea typeface="微软雅黑" panose="020B0503020204020204" pitchFamily="34" charset="-122"/>
                  </a:rPr>
                  <a:t>的边并去掉</a:t>
                </a:r>
                <a:r>
                  <a:rPr lang="en-US" altLang="zh-CN" b="1" dirty="0">
                    <a:solidFill>
                      <a:schemeClr val="accent2"/>
                    </a:solidFill>
                    <a:latin typeface="微软雅黑" panose="020B0503020204020204" pitchFamily="34" charset="-122"/>
                    <a:ea typeface="微软雅黑" panose="020B0503020204020204" pitchFamily="34" charset="-122"/>
                  </a:rPr>
                  <a:t>,</a:t>
                </a:r>
                <a:r>
                  <a:rPr lang="zh-CN" altLang="en-US" b="1" dirty="0">
                    <a:solidFill>
                      <a:schemeClr val="accent2"/>
                    </a:solidFill>
                    <a:latin typeface="微软雅黑" panose="020B0503020204020204" pitchFamily="34" charset="-122"/>
                    <a:ea typeface="微软雅黑" panose="020B0503020204020204" pitchFamily="34" charset="-122"/>
                  </a:rPr>
                  <a:t>再求最小生成树</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所得到的这些值的最小值就是次小生成树</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由于最小生成树有</a:t>
                </a:r>
                <a:r>
                  <a:rPr lang="en-US" altLang="zh-CN" dirty="0">
                    <a:latin typeface="微软雅黑" panose="020B0503020204020204" pitchFamily="34" charset="-122"/>
                    <a:ea typeface="微软雅黑" panose="020B0503020204020204" pitchFamily="34" charset="-122"/>
                  </a:rPr>
                  <a:t>N-1</a:t>
                </a:r>
                <a:r>
                  <a:rPr lang="zh-CN" altLang="en-US" dirty="0">
                    <a:latin typeface="微软雅黑" panose="020B0503020204020204" pitchFamily="34" charset="-122"/>
                    <a:ea typeface="微软雅黑" panose="020B0503020204020204" pitchFamily="34" charset="-122"/>
                  </a:rPr>
                  <a:t>条边</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这种方法就相当于运行了</a:t>
                </a:r>
                <a:r>
                  <a:rPr lang="en-US" altLang="zh-CN" dirty="0">
                    <a:latin typeface="微软雅黑" panose="020B0503020204020204" pitchFamily="34" charset="-122"/>
                    <a:ea typeface="微软雅黑" panose="020B0503020204020204" pitchFamily="34" charset="-122"/>
                  </a:rPr>
                  <a:t>N</a:t>
                </a:r>
                <a:r>
                  <a:rPr lang="zh-CN" altLang="en-US" dirty="0">
                    <a:latin typeface="微软雅黑" panose="020B0503020204020204" pitchFamily="34" charset="-122"/>
                    <a:ea typeface="微软雅黑" panose="020B0503020204020204" pitchFamily="34" charset="-122"/>
                  </a:rPr>
                  <a:t>次最小生成树的算法</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算法的时间复杂度比较高</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大约是</a:t>
                </a:r>
                <a:r>
                  <a:rPr lang="en-US" altLang="zh-CN" b="1" dirty="0">
                    <a:solidFill>
                      <a:schemeClr val="accent2"/>
                    </a:solidFill>
                    <a:latin typeface="微软雅黑" panose="020B0503020204020204" pitchFamily="34" charset="-122"/>
                    <a:ea typeface="微软雅黑" panose="020B0503020204020204" pitchFamily="34" charset="-122"/>
                  </a:rPr>
                  <a:t>O(nm</a:t>
                </a:r>
                <a14:m>
                  <m:oMath xmlns:m="http://schemas.openxmlformats.org/officeDocument/2006/math">
                    <m:func>
                      <m:funcPr>
                        <m:ctrlPr>
                          <a:rPr lang="en-US" altLang="zh-CN" b="1" i="1" smtClean="0">
                            <a:solidFill>
                              <a:schemeClr val="accent2"/>
                            </a:solidFill>
                            <a:latin typeface="Cambria Math" panose="02040503050406030204" pitchFamily="18" charset="0"/>
                            <a:ea typeface="微软雅黑" panose="020B0503020204020204" pitchFamily="34" charset="-122"/>
                          </a:rPr>
                        </m:ctrlPr>
                      </m:funcPr>
                      <m:fName>
                        <m:r>
                          <a:rPr lang="en-US" altLang="zh-CN" b="1" i="0" smtClean="0">
                            <a:solidFill>
                              <a:schemeClr val="accent2"/>
                            </a:solidFill>
                            <a:latin typeface="Cambria Math" panose="02040503050406030204" pitchFamily="18" charset="0"/>
                            <a:ea typeface="微软雅黑" panose="020B0503020204020204" pitchFamily="34" charset="-122"/>
                          </a:rPr>
                          <m:t>𝐥𝐨𝐠</m:t>
                        </m:r>
                      </m:fName>
                      <m:e>
                        <m:r>
                          <a:rPr lang="en-US" altLang="zh-CN" b="1" i="1" smtClean="0">
                            <a:solidFill>
                              <a:schemeClr val="accent2"/>
                            </a:solidFill>
                            <a:latin typeface="Cambria Math" panose="02040503050406030204" pitchFamily="18" charset="0"/>
                            <a:ea typeface="微软雅黑" panose="020B0503020204020204" pitchFamily="34" charset="-122"/>
                          </a:rPr>
                          <m:t>𝒎</m:t>
                        </m:r>
                      </m:e>
                    </m:func>
                  </m:oMath>
                </a14:m>
                <a:r>
                  <a:rPr lang="en-US" altLang="zh-CN" b="1" dirty="0">
                    <a:solidFill>
                      <a:schemeClr val="accent2"/>
                    </a:solidFill>
                    <a:latin typeface="微软雅黑" panose="020B0503020204020204" pitchFamily="34" charset="-122"/>
                    <a:ea typeface="微软雅黑" panose="020B0503020204020204" pitchFamily="34" charset="-122"/>
                  </a:rPr>
                  <a:t>)</a:t>
                </a:r>
                <a:endParaRPr lang="en-US" altLang="zh-CN" b="1" dirty="0">
                  <a:latin typeface="微软雅黑" panose="020B0503020204020204" pitchFamily="34" charset="-122"/>
                  <a:ea typeface="微软雅黑" panose="020B0503020204020204" pitchFamily="34" charset="-122"/>
                </a:endParaRPr>
              </a:p>
            </p:txBody>
          </p:sp>
        </mc:Choice>
        <mc:Fallback>
          <p:sp>
            <p:nvSpPr>
              <p:cNvPr id="6" name="文本框 5">
                <a:extLst>
                  <a:ext uri="{FF2B5EF4-FFF2-40B4-BE49-F238E27FC236}">
                    <a16:creationId xmlns:a16="http://schemas.microsoft.com/office/drawing/2014/main" id="{1E5017F1-3489-6BAE-9865-2476A2A44E20}"/>
                  </a:ext>
                </a:extLst>
              </p:cNvPr>
              <p:cNvSpPr txBox="1">
                <a:spLocks noRot="1" noChangeAspect="1" noMove="1" noResize="1" noEditPoints="1" noAdjustHandles="1" noChangeArrowheads="1" noChangeShapeType="1" noTextEdit="1"/>
              </p:cNvSpPr>
              <p:nvPr/>
            </p:nvSpPr>
            <p:spPr>
              <a:xfrm>
                <a:off x="1064950" y="1681781"/>
                <a:ext cx="10020632" cy="2224776"/>
              </a:xfrm>
              <a:prstGeom prst="rect">
                <a:avLst/>
              </a:prstGeom>
              <a:blipFill>
                <a:blip r:embed="rId2"/>
                <a:stretch>
                  <a:fillRect l="-547" r="-487" b="-356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13289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最近公共祖先</a:t>
            </a:r>
            <a:r>
              <a:rPr lang="en-US" altLang="zh-CN" dirty="0"/>
              <a:t>LCA</a:t>
            </a:r>
            <a:endParaRPr lang="zh-CN" altLang="en-US" dirty="0"/>
          </a:p>
        </p:txBody>
      </p:sp>
      <p:sp>
        <p:nvSpPr>
          <p:cNvPr id="8" name="文本框 7"/>
          <p:cNvSpPr txBox="1"/>
          <p:nvPr/>
        </p:nvSpPr>
        <p:spPr>
          <a:xfrm>
            <a:off x="945219" y="1397458"/>
            <a:ext cx="2117694" cy="369332"/>
          </a:xfrm>
          <a:prstGeom prst="rect">
            <a:avLst/>
          </a:prstGeom>
          <a:noFill/>
        </p:spPr>
        <p:txBody>
          <a:bodyPr wrap="square">
            <a:spAutoFit/>
          </a:bodyPr>
          <a:lstStyle/>
          <a:p>
            <a:r>
              <a:rPr lang="en-US" altLang="zh-CN" b="1" noProof="1">
                <a:solidFill>
                  <a:schemeClr val="accent2"/>
                </a:solidFill>
                <a:latin typeface="微软雅黑" panose="020B0503020204020204" pitchFamily="34" charset="-122"/>
                <a:ea typeface="微软雅黑" panose="020B0503020204020204" pitchFamily="34" charset="-122"/>
              </a:rPr>
              <a:t>【</a:t>
            </a:r>
            <a:r>
              <a:rPr lang="zh-CN" altLang="en-US" b="1" noProof="1">
                <a:solidFill>
                  <a:schemeClr val="accent2"/>
                </a:solidFill>
                <a:latin typeface="微软雅黑" panose="020B0503020204020204" pitchFamily="34" charset="-122"/>
                <a:ea typeface="微软雅黑" panose="020B0503020204020204" pitchFamily="34" charset="-122"/>
              </a:rPr>
              <a:t>题意分析</a:t>
            </a:r>
            <a:r>
              <a:rPr lang="en-US" altLang="zh-CN" b="1" noProof="1">
                <a:solidFill>
                  <a:schemeClr val="accent2"/>
                </a:solidFill>
                <a:latin typeface="微软雅黑" panose="020B0503020204020204" pitchFamily="34" charset="-122"/>
                <a:ea typeface="微软雅黑" panose="020B0503020204020204" pitchFamily="34" charset="-122"/>
              </a:rPr>
              <a:t>】</a:t>
            </a:r>
            <a:endParaRPr lang="zh-CN" altLang="en-US" b="1" noProof="1">
              <a:solidFill>
                <a:schemeClr val="accent2"/>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1E5017F1-3489-6BAE-9865-2476A2A44E20}"/>
              </a:ext>
            </a:extLst>
          </p:cNvPr>
          <p:cNvSpPr txBox="1"/>
          <p:nvPr/>
        </p:nvSpPr>
        <p:spPr>
          <a:xfrm>
            <a:off x="1064950" y="1681781"/>
            <a:ext cx="7003478" cy="4942507"/>
          </a:xfrm>
          <a:prstGeom prst="rect">
            <a:avLst/>
          </a:prstGeom>
          <a:noFill/>
        </p:spPr>
        <p:txBody>
          <a:bodyPr wrap="square">
            <a:spAutoFit/>
          </a:bodyPr>
          <a:lstStyle/>
          <a:p>
            <a:pPr>
              <a:lnSpc>
                <a:spcPct val="200000"/>
              </a:lnSpc>
            </a:pPr>
            <a:r>
              <a:rPr lang="zh-CN" altLang="en-US" sz="1600" dirty="0">
                <a:latin typeface="微软雅黑" panose="020B0503020204020204" pitchFamily="34" charset="-122"/>
                <a:ea typeface="微软雅黑" panose="020B0503020204020204" pitchFamily="34" charset="-122"/>
              </a:rPr>
              <a:t>方法二：考虑先用</a:t>
            </a:r>
            <a:r>
              <a:rPr lang="en-US" altLang="zh-CN" sz="1600" dirty="0">
                <a:latin typeface="微软雅黑" panose="020B0503020204020204" pitchFamily="34" charset="-122"/>
                <a:ea typeface="微软雅黑" panose="020B0503020204020204" pitchFamily="34" charset="-122"/>
              </a:rPr>
              <a:t>Kruskal</a:t>
            </a:r>
            <a:r>
              <a:rPr lang="zh-CN" altLang="en-US" sz="1600" dirty="0">
                <a:latin typeface="微软雅黑" panose="020B0503020204020204" pitchFamily="34" charset="-122"/>
                <a:ea typeface="微软雅黑" panose="020B0503020204020204" pitchFamily="34" charset="-122"/>
              </a:rPr>
              <a:t>算法求出最小生成树</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设边权之和为</a:t>
            </a:r>
            <a:r>
              <a:rPr lang="en-US" altLang="zh-CN" sz="1600" dirty="0">
                <a:latin typeface="微软雅黑" panose="020B0503020204020204" pitchFamily="34" charset="-122"/>
                <a:ea typeface="微软雅黑" panose="020B0503020204020204" pitchFamily="34" charset="-122"/>
              </a:rPr>
              <a:t>sum</a:t>
            </a:r>
            <a:r>
              <a:rPr lang="zh-CN" altLang="en-US" sz="1600" dirty="0">
                <a:latin typeface="微软雅黑" panose="020B0503020204020204" pitchFamily="34" charset="-122"/>
                <a:ea typeface="微软雅黑" panose="020B0503020204020204" pitchFamily="34" charset="-122"/>
              </a:rPr>
              <a:t>。我们称这颗最小生成树中的</a:t>
            </a:r>
            <a:r>
              <a:rPr lang="en-US" altLang="zh-CN" sz="1600" dirty="0">
                <a:latin typeface="微软雅黑" panose="020B0503020204020204" pitchFamily="34" charset="-122"/>
                <a:ea typeface="微软雅黑" panose="020B0503020204020204" pitchFamily="34" charset="-122"/>
              </a:rPr>
              <a:t>N-1</a:t>
            </a:r>
            <a:r>
              <a:rPr lang="zh-CN" altLang="en-US" sz="1600" dirty="0">
                <a:latin typeface="微软雅黑" panose="020B0503020204020204" pitchFamily="34" charset="-122"/>
                <a:ea typeface="微软雅黑" panose="020B0503020204020204" pitchFamily="34" charset="-122"/>
              </a:rPr>
              <a:t>条边为树边，其他</a:t>
            </a:r>
            <a:r>
              <a:rPr lang="en-US" altLang="zh-CN" sz="1600" dirty="0">
                <a:latin typeface="微软雅黑" panose="020B0503020204020204" pitchFamily="34" charset="-122"/>
                <a:ea typeface="微软雅黑" panose="020B0503020204020204" pitchFamily="34" charset="-122"/>
              </a:rPr>
              <a:t>M-N+1</a:t>
            </a:r>
            <a:r>
              <a:rPr lang="zh-CN" altLang="en-US" sz="1600" dirty="0">
                <a:latin typeface="微软雅黑" panose="020B0503020204020204" pitchFamily="34" charset="-122"/>
                <a:ea typeface="微软雅黑" panose="020B0503020204020204" pitchFamily="34" charset="-122"/>
              </a:rPr>
              <a:t>条边为非树边。</a:t>
            </a:r>
            <a:endParaRPr lang="en-US" altLang="zh-CN" sz="1600" dirty="0">
              <a:latin typeface="微软雅黑" panose="020B0503020204020204" pitchFamily="34" charset="-122"/>
              <a:ea typeface="微软雅黑" panose="020B0503020204020204" pitchFamily="34" charset="-122"/>
            </a:endParaRPr>
          </a:p>
          <a:p>
            <a:pPr>
              <a:lnSpc>
                <a:spcPct val="200000"/>
              </a:lnSpc>
            </a:pPr>
            <a:r>
              <a:rPr lang="zh-CN" altLang="en-US" sz="1600" dirty="0">
                <a:latin typeface="微软雅黑" panose="020B0503020204020204" pitchFamily="34" charset="-122"/>
                <a:ea typeface="微软雅黑" panose="020B0503020204020204" pitchFamily="34" charset="-122"/>
              </a:rPr>
              <a:t>把一条非树边</a:t>
            </a:r>
            <a:r>
              <a:rPr lang="en-US" altLang="zh-CN" sz="1600" dirty="0">
                <a:latin typeface="微软雅黑" panose="020B0503020204020204" pitchFamily="34" charset="-122"/>
                <a:ea typeface="微软雅黑" panose="020B0503020204020204" pitchFamily="34" charset="-122"/>
              </a:rPr>
              <a:t>(</a:t>
            </a:r>
            <a:r>
              <a:rPr lang="en-US" altLang="zh-CN" sz="1600" dirty="0" err="1">
                <a:latin typeface="微软雅黑" panose="020B0503020204020204" pitchFamily="34" charset="-122"/>
                <a:ea typeface="微软雅黑" panose="020B0503020204020204" pitchFamily="34" charset="-122"/>
              </a:rPr>
              <a:t>x,y,z</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添加到最小生成树中，会与树上</a:t>
            </a:r>
            <a:r>
              <a:rPr lang="en-US" altLang="zh-CN" sz="1600" dirty="0" err="1">
                <a:latin typeface="微软雅黑" panose="020B0503020204020204" pitchFamily="34" charset="-122"/>
                <a:ea typeface="微软雅黑" panose="020B0503020204020204" pitchFamily="34" charset="-122"/>
              </a:rPr>
              <a:t>x,y</a:t>
            </a:r>
            <a:r>
              <a:rPr lang="zh-CN" altLang="en-US" sz="1600" dirty="0">
                <a:latin typeface="微软雅黑" panose="020B0503020204020204" pitchFamily="34" charset="-122"/>
                <a:ea typeface="微软雅黑" panose="020B0503020204020204" pitchFamily="34" charset="-122"/>
              </a:rPr>
              <a:t>之间的路径一起形成一个环。设树上</a:t>
            </a:r>
            <a:r>
              <a:rPr lang="en-US" altLang="zh-CN" sz="1600" dirty="0" err="1">
                <a:latin typeface="微软雅黑" panose="020B0503020204020204" pitchFamily="34" charset="-122"/>
                <a:ea typeface="微软雅黑" panose="020B0503020204020204" pitchFamily="34" charset="-122"/>
              </a:rPr>
              <a:t>x,y</a:t>
            </a:r>
            <a:r>
              <a:rPr lang="zh-CN" altLang="en-US" sz="1600" dirty="0">
                <a:latin typeface="微软雅黑" panose="020B0503020204020204" pitchFamily="34" charset="-122"/>
                <a:ea typeface="微软雅黑" panose="020B0503020204020204" pitchFamily="34" charset="-122"/>
              </a:rPr>
              <a:t>之间的路径上的最大边权为</a:t>
            </a:r>
            <a:r>
              <a:rPr lang="en-US" altLang="zh-CN" sz="1600" dirty="0">
                <a:latin typeface="微软雅黑" panose="020B0503020204020204" pitchFamily="34" charset="-122"/>
                <a:ea typeface="微软雅黑" panose="020B0503020204020204" pitchFamily="34" charset="-122"/>
              </a:rPr>
              <a:t>val1</a:t>
            </a:r>
            <a:r>
              <a:rPr lang="zh-CN" altLang="en-US" sz="1600" dirty="0">
                <a:latin typeface="微软雅黑" panose="020B0503020204020204" pitchFamily="34" charset="-122"/>
                <a:ea typeface="微软雅黑" panose="020B0503020204020204" pitchFamily="34" charset="-122"/>
              </a:rPr>
              <a:t>，严格次大边权为</a:t>
            </a:r>
            <a:r>
              <a:rPr lang="en-US" altLang="zh-CN" sz="1600" dirty="0">
                <a:latin typeface="微软雅黑" panose="020B0503020204020204" pitchFamily="34" charset="-122"/>
                <a:ea typeface="微软雅黑" panose="020B0503020204020204" pitchFamily="34" charset="-122"/>
              </a:rPr>
              <a:t>val2</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val1&gt;val2</a:t>
            </a:r>
            <a:r>
              <a:rPr lang="zh-CN" altLang="en-US" sz="1600" dirty="0">
                <a:latin typeface="微软雅黑" panose="020B0503020204020204" pitchFamily="34" charset="-122"/>
                <a:ea typeface="微软雅黑" panose="020B0503020204020204" pitchFamily="34" charset="-122"/>
              </a:rPr>
              <a:t>）。</a:t>
            </a:r>
            <a:endParaRPr lang="en-US" altLang="zh-CN" sz="1600" dirty="0">
              <a:latin typeface="微软雅黑" panose="020B0503020204020204" pitchFamily="34" charset="-122"/>
              <a:ea typeface="微软雅黑" panose="020B0503020204020204" pitchFamily="34" charset="-122"/>
            </a:endParaRPr>
          </a:p>
          <a:p>
            <a:pPr marL="285750" indent="-285750">
              <a:lnSpc>
                <a:spcPct val="200000"/>
              </a:lnSpc>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rPr>
              <a:t>若</a:t>
            </a:r>
            <a:r>
              <a:rPr lang="en-US" altLang="zh-CN" sz="1600" dirty="0">
                <a:latin typeface="微软雅黑" panose="020B0503020204020204" pitchFamily="34" charset="-122"/>
                <a:ea typeface="微软雅黑" panose="020B0503020204020204" pitchFamily="34" charset="-122"/>
              </a:rPr>
              <a:t>z&gt;val1,</a:t>
            </a:r>
            <a:r>
              <a:rPr lang="zh-CN" altLang="en-US" sz="1600" dirty="0">
                <a:latin typeface="微软雅黑" panose="020B0503020204020204" pitchFamily="34" charset="-122"/>
                <a:ea typeface="微软雅黑" panose="020B0503020204020204" pitchFamily="34" charset="-122"/>
              </a:rPr>
              <a:t>则把</a:t>
            </a:r>
            <a:r>
              <a:rPr lang="en-US" altLang="zh-CN" sz="1600" dirty="0">
                <a:latin typeface="微软雅黑" panose="020B0503020204020204" pitchFamily="34" charset="-122"/>
                <a:ea typeface="微软雅黑" panose="020B0503020204020204" pitchFamily="34" charset="-122"/>
              </a:rPr>
              <a:t>val1</a:t>
            </a:r>
            <a:r>
              <a:rPr lang="zh-CN" altLang="en-US" sz="1600" dirty="0">
                <a:latin typeface="微软雅黑" panose="020B0503020204020204" pitchFamily="34" charset="-122"/>
                <a:ea typeface="微软雅黑" panose="020B0503020204020204" pitchFamily="34" charset="-122"/>
              </a:rPr>
              <a:t>对应的那条边替换成</a:t>
            </a:r>
            <a:r>
              <a:rPr lang="en-US" altLang="zh-CN" sz="1600" dirty="0">
                <a:latin typeface="微软雅黑" panose="020B0503020204020204" pitchFamily="34" charset="-122"/>
                <a:ea typeface="微软雅黑" panose="020B0503020204020204" pitchFamily="34" charset="-122"/>
              </a:rPr>
              <a:t>(</a:t>
            </a:r>
            <a:r>
              <a:rPr lang="en-US" altLang="zh-CN" sz="1600" dirty="0" err="1">
                <a:latin typeface="微软雅黑" panose="020B0503020204020204" pitchFamily="34" charset="-122"/>
                <a:ea typeface="微软雅黑" panose="020B0503020204020204" pitchFamily="34" charset="-122"/>
              </a:rPr>
              <a:t>x,y,z</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这条边，就得到了严格次小生成树的一个候选答案，边权之和为</a:t>
            </a:r>
            <a:r>
              <a:rPr lang="en-US" altLang="zh-CN" sz="1600" dirty="0">
                <a:latin typeface="微软雅黑" panose="020B0503020204020204" pitchFamily="34" charset="-122"/>
                <a:ea typeface="微软雅黑" panose="020B0503020204020204" pitchFamily="34" charset="-122"/>
              </a:rPr>
              <a:t>sum-val1+z;</a:t>
            </a:r>
          </a:p>
          <a:p>
            <a:pPr marL="285750" indent="-285750">
              <a:lnSpc>
                <a:spcPct val="200000"/>
              </a:lnSpc>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rPr>
              <a:t>若</a:t>
            </a:r>
            <a:r>
              <a:rPr lang="en-US" altLang="zh-CN" sz="1600" dirty="0">
                <a:latin typeface="微软雅黑" panose="020B0503020204020204" pitchFamily="34" charset="-122"/>
                <a:ea typeface="微软雅黑" panose="020B0503020204020204" pitchFamily="34" charset="-122"/>
              </a:rPr>
              <a:t>z=val1,</a:t>
            </a:r>
            <a:r>
              <a:rPr lang="zh-CN" altLang="en-US" sz="1600" dirty="0">
                <a:latin typeface="微软雅黑" panose="020B0503020204020204" pitchFamily="34" charset="-122"/>
                <a:ea typeface="微软雅黑" panose="020B0503020204020204" pitchFamily="34" charset="-122"/>
              </a:rPr>
              <a:t>则把</a:t>
            </a:r>
            <a:r>
              <a:rPr lang="en-US" altLang="zh-CN" sz="1600" dirty="0">
                <a:latin typeface="微软雅黑" panose="020B0503020204020204" pitchFamily="34" charset="-122"/>
                <a:ea typeface="微软雅黑" panose="020B0503020204020204" pitchFamily="34" charset="-122"/>
              </a:rPr>
              <a:t>val2</a:t>
            </a:r>
            <a:r>
              <a:rPr lang="zh-CN" altLang="en-US" sz="1600" dirty="0">
                <a:latin typeface="微软雅黑" panose="020B0503020204020204" pitchFamily="34" charset="-122"/>
                <a:ea typeface="微软雅黑" panose="020B0503020204020204" pitchFamily="34" charset="-122"/>
              </a:rPr>
              <a:t>对应的那条边替换成</a:t>
            </a:r>
            <a:r>
              <a:rPr lang="en-US" altLang="zh-CN" sz="1600" dirty="0">
                <a:latin typeface="微软雅黑" panose="020B0503020204020204" pitchFamily="34" charset="-122"/>
                <a:ea typeface="微软雅黑" panose="020B0503020204020204" pitchFamily="34" charset="-122"/>
              </a:rPr>
              <a:t>(</a:t>
            </a:r>
            <a:r>
              <a:rPr lang="en-US" altLang="zh-CN" sz="1600" dirty="0" err="1">
                <a:latin typeface="微软雅黑" panose="020B0503020204020204" pitchFamily="34" charset="-122"/>
                <a:ea typeface="微软雅黑" panose="020B0503020204020204" pitchFamily="34" charset="-122"/>
              </a:rPr>
              <a:t>x,y,z</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这条边，就得到了严格次小生成树的一个候选答案，边权之和为</a:t>
            </a:r>
            <a:r>
              <a:rPr lang="en-US" altLang="zh-CN" sz="1600" dirty="0">
                <a:latin typeface="微软雅黑" panose="020B0503020204020204" pitchFamily="34" charset="-122"/>
                <a:ea typeface="微软雅黑" panose="020B0503020204020204" pitchFamily="34" charset="-122"/>
              </a:rPr>
              <a:t>sum-val2+z;</a:t>
            </a:r>
          </a:p>
          <a:p>
            <a:pPr marL="285750" indent="-285750">
              <a:lnSpc>
                <a:spcPct val="200000"/>
              </a:lnSpc>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rPr>
              <a:t>不存在</a:t>
            </a:r>
            <a:r>
              <a:rPr lang="en-US" altLang="zh-CN" sz="1600" dirty="0">
                <a:latin typeface="微软雅黑" panose="020B0503020204020204" pitchFamily="34" charset="-122"/>
                <a:ea typeface="微软雅黑" panose="020B0503020204020204" pitchFamily="34" charset="-122"/>
              </a:rPr>
              <a:t>z&lt;val1</a:t>
            </a:r>
            <a:r>
              <a:rPr lang="zh-CN" altLang="en-US" sz="1600" dirty="0">
                <a:latin typeface="微软雅黑" panose="020B0503020204020204" pitchFamily="34" charset="-122"/>
                <a:ea typeface="微软雅黑" panose="020B0503020204020204" pitchFamily="34" charset="-122"/>
              </a:rPr>
              <a:t>，否则与最小生成树的前提矛盾</a:t>
            </a:r>
            <a:endParaRPr lang="en-US" altLang="zh-CN" sz="1600" dirty="0">
              <a:latin typeface="微软雅黑" panose="020B0503020204020204" pitchFamily="34" charset="-122"/>
              <a:ea typeface="微软雅黑" panose="020B0503020204020204" pitchFamily="34" charset="-122"/>
            </a:endParaRPr>
          </a:p>
        </p:txBody>
      </p:sp>
      <p:grpSp>
        <p:nvGrpSpPr>
          <p:cNvPr id="26" name="组合 25">
            <a:extLst>
              <a:ext uri="{FF2B5EF4-FFF2-40B4-BE49-F238E27FC236}">
                <a16:creationId xmlns:a16="http://schemas.microsoft.com/office/drawing/2014/main" id="{1D233DFC-C399-E4E5-2771-DBAF25E60E60}"/>
              </a:ext>
            </a:extLst>
          </p:cNvPr>
          <p:cNvGrpSpPr/>
          <p:nvPr/>
        </p:nvGrpSpPr>
        <p:grpSpPr>
          <a:xfrm>
            <a:off x="8562396" y="2622147"/>
            <a:ext cx="3012802" cy="3061773"/>
            <a:chOff x="1860133" y="3538131"/>
            <a:chExt cx="3012802" cy="3061773"/>
          </a:xfrm>
        </p:grpSpPr>
        <p:grpSp>
          <p:nvGrpSpPr>
            <p:cNvPr id="27" name="组合 26">
              <a:extLst>
                <a:ext uri="{FF2B5EF4-FFF2-40B4-BE49-F238E27FC236}">
                  <a16:creationId xmlns:a16="http://schemas.microsoft.com/office/drawing/2014/main" id="{45BBDC87-73BC-B6D9-CE41-A95C53184743}"/>
                </a:ext>
              </a:extLst>
            </p:cNvPr>
            <p:cNvGrpSpPr/>
            <p:nvPr/>
          </p:nvGrpSpPr>
          <p:grpSpPr>
            <a:xfrm>
              <a:off x="1860133" y="3538131"/>
              <a:ext cx="2802408" cy="3061773"/>
              <a:chOff x="933749" y="2736673"/>
              <a:chExt cx="2802408" cy="3061773"/>
            </a:xfrm>
          </p:grpSpPr>
          <p:sp>
            <p:nvSpPr>
              <p:cNvPr id="30" name="椭圆 29">
                <a:extLst>
                  <a:ext uri="{FF2B5EF4-FFF2-40B4-BE49-F238E27FC236}">
                    <a16:creationId xmlns:a16="http://schemas.microsoft.com/office/drawing/2014/main" id="{F3962B97-FEAA-F660-402E-3650D41ADE34}"/>
                  </a:ext>
                </a:extLst>
              </p:cNvPr>
              <p:cNvSpPr/>
              <p:nvPr/>
            </p:nvSpPr>
            <p:spPr>
              <a:xfrm>
                <a:off x="1921977" y="2736673"/>
                <a:ext cx="471633" cy="471633"/>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31" name="椭圆 30">
                <a:extLst>
                  <a:ext uri="{FF2B5EF4-FFF2-40B4-BE49-F238E27FC236}">
                    <a16:creationId xmlns:a16="http://schemas.microsoft.com/office/drawing/2014/main" id="{449DC522-713C-5F65-2E0C-41D29B31C947}"/>
                  </a:ext>
                </a:extLst>
              </p:cNvPr>
              <p:cNvSpPr/>
              <p:nvPr/>
            </p:nvSpPr>
            <p:spPr>
              <a:xfrm>
                <a:off x="1569529" y="4518866"/>
                <a:ext cx="471633" cy="471633"/>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32" name="椭圆 31">
                <a:extLst>
                  <a:ext uri="{FF2B5EF4-FFF2-40B4-BE49-F238E27FC236}">
                    <a16:creationId xmlns:a16="http://schemas.microsoft.com/office/drawing/2014/main" id="{611F5963-C5AA-40BB-B763-A8CEED452841}"/>
                  </a:ext>
                </a:extLst>
              </p:cNvPr>
              <p:cNvSpPr/>
              <p:nvPr/>
            </p:nvSpPr>
            <p:spPr>
              <a:xfrm>
                <a:off x="933749" y="4565818"/>
                <a:ext cx="471633" cy="471633"/>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cxnSp>
            <p:nvCxnSpPr>
              <p:cNvPr id="33" name="直接连接符 32">
                <a:extLst>
                  <a:ext uri="{FF2B5EF4-FFF2-40B4-BE49-F238E27FC236}">
                    <a16:creationId xmlns:a16="http://schemas.microsoft.com/office/drawing/2014/main" id="{E52F597A-4421-30AD-E17C-48A769F475A6}"/>
                  </a:ext>
                </a:extLst>
              </p:cNvPr>
              <p:cNvCxnSpPr>
                <a:cxnSpLocks/>
                <a:endCxn id="41" idx="0"/>
              </p:cNvCxnSpPr>
              <p:nvPr/>
            </p:nvCxnSpPr>
            <p:spPr>
              <a:xfrm flipH="1">
                <a:off x="2560358" y="4098950"/>
                <a:ext cx="420787" cy="416166"/>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325C576F-A8BC-8E59-3479-BF6A1E02E927}"/>
                  </a:ext>
                </a:extLst>
              </p:cNvPr>
              <p:cNvCxnSpPr>
                <a:cxnSpLocks/>
                <a:stCxn id="30" idx="3"/>
                <a:endCxn id="37" idx="0"/>
              </p:cNvCxnSpPr>
              <p:nvPr/>
            </p:nvCxnSpPr>
            <p:spPr>
              <a:xfrm flipH="1">
                <a:off x="1514185" y="3139237"/>
                <a:ext cx="476861" cy="524939"/>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35" name="椭圆 34">
                <a:extLst>
                  <a:ext uri="{FF2B5EF4-FFF2-40B4-BE49-F238E27FC236}">
                    <a16:creationId xmlns:a16="http://schemas.microsoft.com/office/drawing/2014/main" id="{3C4B7B21-CF60-48E5-9EAD-5C5CB147C3B6}"/>
                  </a:ext>
                </a:extLst>
              </p:cNvPr>
              <p:cNvSpPr/>
              <p:nvPr/>
            </p:nvSpPr>
            <p:spPr>
              <a:xfrm>
                <a:off x="3264524" y="4515116"/>
                <a:ext cx="471633" cy="471633"/>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cxnSp>
            <p:nvCxnSpPr>
              <p:cNvPr id="36" name="直接连接符 35">
                <a:extLst>
                  <a:ext uri="{FF2B5EF4-FFF2-40B4-BE49-F238E27FC236}">
                    <a16:creationId xmlns:a16="http://schemas.microsoft.com/office/drawing/2014/main" id="{D106F371-74C1-45E8-AE06-AB11E825E20D}"/>
                  </a:ext>
                </a:extLst>
              </p:cNvPr>
              <p:cNvCxnSpPr>
                <a:cxnSpLocks/>
                <a:endCxn id="35" idx="0"/>
              </p:cNvCxnSpPr>
              <p:nvPr/>
            </p:nvCxnSpPr>
            <p:spPr>
              <a:xfrm>
                <a:off x="3108439" y="4124379"/>
                <a:ext cx="391902" cy="39073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37" name="椭圆 36">
                <a:extLst>
                  <a:ext uri="{FF2B5EF4-FFF2-40B4-BE49-F238E27FC236}">
                    <a16:creationId xmlns:a16="http://schemas.microsoft.com/office/drawing/2014/main" id="{7436B862-34AC-1A17-F326-7A68BED229F3}"/>
                  </a:ext>
                </a:extLst>
              </p:cNvPr>
              <p:cNvSpPr/>
              <p:nvPr/>
            </p:nvSpPr>
            <p:spPr>
              <a:xfrm>
                <a:off x="1278368" y="3664176"/>
                <a:ext cx="471633" cy="471633"/>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dirty="0"/>
              </a:p>
            </p:txBody>
          </p:sp>
          <p:cxnSp>
            <p:nvCxnSpPr>
              <p:cNvPr id="38" name="直接连接符 37">
                <a:extLst>
                  <a:ext uri="{FF2B5EF4-FFF2-40B4-BE49-F238E27FC236}">
                    <a16:creationId xmlns:a16="http://schemas.microsoft.com/office/drawing/2014/main" id="{57AF35EF-8AB6-22FD-E9C5-0ABF54566CA4}"/>
                  </a:ext>
                </a:extLst>
              </p:cNvPr>
              <p:cNvCxnSpPr>
                <a:cxnSpLocks/>
              </p:cNvCxnSpPr>
              <p:nvPr/>
            </p:nvCxnSpPr>
            <p:spPr>
              <a:xfrm>
                <a:off x="2173095" y="3231586"/>
                <a:ext cx="6690" cy="42911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39" name="椭圆 38">
                <a:extLst>
                  <a:ext uri="{FF2B5EF4-FFF2-40B4-BE49-F238E27FC236}">
                    <a16:creationId xmlns:a16="http://schemas.microsoft.com/office/drawing/2014/main" id="{1CF05C82-0800-030A-B5EA-98AED9B350F9}"/>
                  </a:ext>
                </a:extLst>
              </p:cNvPr>
              <p:cNvSpPr/>
              <p:nvPr/>
            </p:nvSpPr>
            <p:spPr>
              <a:xfrm>
                <a:off x="2771788" y="3660698"/>
                <a:ext cx="471633" cy="471633"/>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cxnSp>
            <p:nvCxnSpPr>
              <p:cNvPr id="40" name="直接连接符 39">
                <a:extLst>
                  <a:ext uri="{FF2B5EF4-FFF2-40B4-BE49-F238E27FC236}">
                    <a16:creationId xmlns:a16="http://schemas.microsoft.com/office/drawing/2014/main" id="{85D43DA9-FEA4-DDA1-C5ED-2A531268E5FF}"/>
                  </a:ext>
                </a:extLst>
              </p:cNvPr>
              <p:cNvCxnSpPr>
                <a:cxnSpLocks/>
                <a:stCxn id="30" idx="5"/>
                <a:endCxn id="39" idx="1"/>
              </p:cNvCxnSpPr>
              <p:nvPr/>
            </p:nvCxnSpPr>
            <p:spPr>
              <a:xfrm>
                <a:off x="2324541" y="3139237"/>
                <a:ext cx="516316" cy="59053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41" name="椭圆 40">
                <a:extLst>
                  <a:ext uri="{FF2B5EF4-FFF2-40B4-BE49-F238E27FC236}">
                    <a16:creationId xmlns:a16="http://schemas.microsoft.com/office/drawing/2014/main" id="{EE79D394-5692-F426-7B7F-7683652A8AA2}"/>
                  </a:ext>
                </a:extLst>
              </p:cNvPr>
              <p:cNvSpPr/>
              <p:nvPr/>
            </p:nvSpPr>
            <p:spPr>
              <a:xfrm>
                <a:off x="2324541" y="4515116"/>
                <a:ext cx="471633" cy="471633"/>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42" name="椭圆 41">
                <a:extLst>
                  <a:ext uri="{FF2B5EF4-FFF2-40B4-BE49-F238E27FC236}">
                    <a16:creationId xmlns:a16="http://schemas.microsoft.com/office/drawing/2014/main" id="{E424ACC6-BE5B-DDAA-1236-1AC14E3FF902}"/>
                  </a:ext>
                </a:extLst>
              </p:cNvPr>
              <p:cNvSpPr/>
              <p:nvPr/>
            </p:nvSpPr>
            <p:spPr>
              <a:xfrm>
                <a:off x="1961431" y="3652746"/>
                <a:ext cx="471633" cy="471633"/>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cxnSp>
            <p:nvCxnSpPr>
              <p:cNvPr id="43" name="直接连接符 42">
                <a:extLst>
                  <a:ext uri="{FF2B5EF4-FFF2-40B4-BE49-F238E27FC236}">
                    <a16:creationId xmlns:a16="http://schemas.microsoft.com/office/drawing/2014/main" id="{A21A54D2-58B9-D580-2703-98E1304F102B}"/>
                  </a:ext>
                </a:extLst>
              </p:cNvPr>
              <p:cNvCxnSpPr>
                <a:cxnSpLocks/>
                <a:endCxn id="31" idx="0"/>
              </p:cNvCxnSpPr>
              <p:nvPr/>
            </p:nvCxnSpPr>
            <p:spPr>
              <a:xfrm>
                <a:off x="1500226" y="4151492"/>
                <a:ext cx="305120" cy="367374"/>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B112E657-03DD-A319-175C-FCCC6DF93639}"/>
                  </a:ext>
                </a:extLst>
              </p:cNvPr>
              <p:cNvCxnSpPr>
                <a:cxnSpLocks/>
              </p:cNvCxnSpPr>
              <p:nvPr/>
            </p:nvCxnSpPr>
            <p:spPr>
              <a:xfrm flipH="1">
                <a:off x="1194793" y="4129626"/>
                <a:ext cx="305433" cy="442375"/>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45" name="文本框 44">
                <a:extLst>
                  <a:ext uri="{FF2B5EF4-FFF2-40B4-BE49-F238E27FC236}">
                    <a16:creationId xmlns:a16="http://schemas.microsoft.com/office/drawing/2014/main" id="{8212B6C9-87E5-E51C-474F-0B3C3485565A}"/>
                  </a:ext>
                </a:extLst>
              </p:cNvPr>
              <p:cNvSpPr txBox="1"/>
              <p:nvPr/>
            </p:nvSpPr>
            <p:spPr>
              <a:xfrm>
                <a:off x="2433064" y="5429114"/>
                <a:ext cx="420787" cy="369332"/>
              </a:xfrm>
              <a:prstGeom prst="rect">
                <a:avLst/>
              </a:prstGeom>
              <a:noFill/>
            </p:spPr>
            <p:txBody>
              <a:bodyPr wrap="square" rtlCol="0">
                <a:spAutoFit/>
              </a:bodyPr>
              <a:lstStyle/>
              <a:p>
                <a:endParaRPr lang="zh-CN" altLang="en-US" b="1" dirty="0">
                  <a:solidFill>
                    <a:schemeClr val="accent2"/>
                  </a:solidFill>
                  <a:latin typeface="Times New Roman" panose="02020603050405020304" pitchFamily="18" charset="0"/>
                  <a:cs typeface="Times New Roman" panose="02020603050405020304" pitchFamily="18" charset="0"/>
                </a:endParaRPr>
              </a:p>
            </p:txBody>
          </p:sp>
          <p:sp>
            <p:nvSpPr>
              <p:cNvPr id="46" name="文本框 45">
                <a:extLst>
                  <a:ext uri="{FF2B5EF4-FFF2-40B4-BE49-F238E27FC236}">
                    <a16:creationId xmlns:a16="http://schemas.microsoft.com/office/drawing/2014/main" id="{3CD471CE-2A8B-F812-344A-FE84B12D822F}"/>
                  </a:ext>
                </a:extLst>
              </p:cNvPr>
              <p:cNvSpPr txBox="1"/>
              <p:nvPr/>
            </p:nvSpPr>
            <p:spPr>
              <a:xfrm>
                <a:off x="2183216" y="4923061"/>
                <a:ext cx="420787" cy="369332"/>
              </a:xfrm>
              <a:prstGeom prst="rect">
                <a:avLst/>
              </a:prstGeom>
              <a:noFill/>
            </p:spPr>
            <p:txBody>
              <a:bodyPr wrap="square" rtlCol="0">
                <a:spAutoFit/>
              </a:bodyPr>
              <a:lstStyle/>
              <a:p>
                <a:r>
                  <a:rPr lang="en-US" altLang="zh-CN" b="1" dirty="0">
                    <a:solidFill>
                      <a:schemeClr val="accent2"/>
                    </a:solidFill>
                    <a:latin typeface="Times New Roman" panose="02020603050405020304" pitchFamily="18" charset="0"/>
                    <a:cs typeface="Times New Roman" panose="02020603050405020304" pitchFamily="18" charset="0"/>
                  </a:rPr>
                  <a:t>x</a:t>
                </a:r>
                <a:endParaRPr lang="zh-CN" altLang="en-US" b="1" dirty="0">
                  <a:solidFill>
                    <a:schemeClr val="accent2"/>
                  </a:solidFill>
                  <a:latin typeface="Times New Roman" panose="02020603050405020304" pitchFamily="18" charset="0"/>
                  <a:cs typeface="Times New Roman" panose="02020603050405020304" pitchFamily="18" charset="0"/>
                </a:endParaRPr>
              </a:p>
            </p:txBody>
          </p:sp>
        </p:grpSp>
        <p:sp>
          <p:nvSpPr>
            <p:cNvPr id="28" name="文本框 27">
              <a:extLst>
                <a:ext uri="{FF2B5EF4-FFF2-40B4-BE49-F238E27FC236}">
                  <a16:creationId xmlns:a16="http://schemas.microsoft.com/office/drawing/2014/main" id="{67F9C267-ACAE-D5AD-0E22-B4286CF7897B}"/>
                </a:ext>
              </a:extLst>
            </p:cNvPr>
            <p:cNvSpPr txBox="1"/>
            <p:nvPr/>
          </p:nvSpPr>
          <p:spPr>
            <a:xfrm>
              <a:off x="4452148" y="4884352"/>
              <a:ext cx="420787" cy="369332"/>
            </a:xfrm>
            <a:prstGeom prst="rect">
              <a:avLst/>
            </a:prstGeom>
            <a:noFill/>
          </p:spPr>
          <p:txBody>
            <a:bodyPr wrap="square" rtlCol="0">
              <a:spAutoFit/>
            </a:bodyPr>
            <a:lstStyle/>
            <a:p>
              <a:r>
                <a:rPr lang="en-US" altLang="zh-CN" b="1" dirty="0">
                  <a:solidFill>
                    <a:schemeClr val="accent2"/>
                  </a:solidFill>
                  <a:latin typeface="Times New Roman" panose="02020603050405020304" pitchFamily="18" charset="0"/>
                  <a:cs typeface="Times New Roman" panose="02020603050405020304" pitchFamily="18" charset="0"/>
                </a:rPr>
                <a:t>y</a:t>
              </a:r>
              <a:endParaRPr lang="zh-CN" altLang="en-US" b="1" dirty="0">
                <a:solidFill>
                  <a:schemeClr val="accent2"/>
                </a:solidFill>
                <a:latin typeface="Times New Roman" panose="02020603050405020304" pitchFamily="18" charset="0"/>
                <a:cs typeface="Times New Roman" panose="02020603050405020304" pitchFamily="18" charset="0"/>
              </a:endParaRPr>
            </a:p>
          </p:txBody>
        </p:sp>
        <p:cxnSp>
          <p:nvCxnSpPr>
            <p:cNvPr id="29" name="直接连接符 28">
              <a:extLst>
                <a:ext uri="{FF2B5EF4-FFF2-40B4-BE49-F238E27FC236}">
                  <a16:creationId xmlns:a16="http://schemas.microsoft.com/office/drawing/2014/main" id="{A7EAFF86-35C2-FD78-90CA-23A3FCF359E2}"/>
                </a:ext>
              </a:extLst>
            </p:cNvPr>
            <p:cNvCxnSpPr>
              <a:stCxn id="41" idx="6"/>
              <a:endCxn id="35" idx="2"/>
            </p:cNvCxnSpPr>
            <p:nvPr/>
          </p:nvCxnSpPr>
          <p:spPr>
            <a:xfrm>
              <a:off x="3722558" y="5552391"/>
              <a:ext cx="468350" cy="0"/>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spTree>
    <p:extLst>
      <p:ext uri="{BB962C8B-B14F-4D97-AF65-F5344CB8AC3E}">
        <p14:creationId xmlns:p14="http://schemas.microsoft.com/office/powerpoint/2010/main" val="21527021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最近公共祖先</a:t>
            </a:r>
            <a:r>
              <a:rPr lang="en-US" altLang="zh-CN" dirty="0"/>
              <a:t>LCA</a:t>
            </a:r>
            <a:endParaRPr lang="zh-CN" altLang="en-US" dirty="0"/>
          </a:p>
        </p:txBody>
      </p:sp>
      <p:sp>
        <p:nvSpPr>
          <p:cNvPr id="8" name="文本框 7"/>
          <p:cNvSpPr txBox="1"/>
          <p:nvPr/>
        </p:nvSpPr>
        <p:spPr>
          <a:xfrm>
            <a:off x="945219" y="1397458"/>
            <a:ext cx="2117694" cy="369332"/>
          </a:xfrm>
          <a:prstGeom prst="rect">
            <a:avLst/>
          </a:prstGeom>
          <a:noFill/>
        </p:spPr>
        <p:txBody>
          <a:bodyPr wrap="square">
            <a:spAutoFit/>
          </a:bodyPr>
          <a:lstStyle/>
          <a:p>
            <a:r>
              <a:rPr lang="en-US" altLang="zh-CN" b="1" noProof="1">
                <a:solidFill>
                  <a:schemeClr val="accent2"/>
                </a:solidFill>
                <a:latin typeface="微软雅黑" panose="020B0503020204020204" pitchFamily="34" charset="-122"/>
                <a:ea typeface="微软雅黑" panose="020B0503020204020204" pitchFamily="34" charset="-122"/>
              </a:rPr>
              <a:t>【</a:t>
            </a:r>
            <a:r>
              <a:rPr lang="zh-CN" altLang="en-US" b="1" noProof="1">
                <a:solidFill>
                  <a:schemeClr val="accent2"/>
                </a:solidFill>
                <a:latin typeface="微软雅黑" panose="020B0503020204020204" pitchFamily="34" charset="-122"/>
                <a:ea typeface="微软雅黑" panose="020B0503020204020204" pitchFamily="34" charset="-122"/>
              </a:rPr>
              <a:t>题意分析</a:t>
            </a:r>
            <a:r>
              <a:rPr lang="en-US" altLang="zh-CN" b="1" noProof="1">
                <a:solidFill>
                  <a:schemeClr val="accent2"/>
                </a:solidFill>
                <a:latin typeface="微软雅黑" panose="020B0503020204020204" pitchFamily="34" charset="-122"/>
                <a:ea typeface="微软雅黑" panose="020B0503020204020204" pitchFamily="34" charset="-122"/>
              </a:rPr>
              <a:t>】</a:t>
            </a:r>
            <a:endParaRPr lang="zh-CN" altLang="en-US" b="1" noProof="1">
              <a:solidFill>
                <a:schemeClr val="accent2"/>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1E5017F1-3489-6BAE-9865-2476A2A44E20}"/>
                  </a:ext>
                </a:extLst>
              </p:cNvPr>
              <p:cNvSpPr txBox="1"/>
              <p:nvPr/>
            </p:nvSpPr>
            <p:spPr>
              <a:xfrm>
                <a:off x="1030444" y="1766790"/>
                <a:ext cx="9980682" cy="4472122"/>
              </a:xfrm>
              <a:prstGeom prst="rect">
                <a:avLst/>
              </a:prstGeom>
              <a:noFill/>
            </p:spPr>
            <p:txBody>
              <a:bodyPr wrap="square">
                <a:spAutoFit/>
              </a:bodyPr>
              <a:lstStyle/>
              <a:p>
                <a:pPr>
                  <a:lnSpc>
                    <a:spcPct val="200000"/>
                  </a:lnSpc>
                </a:pPr>
                <a:r>
                  <a:rPr lang="zh-CN" altLang="en-US" sz="1600" dirty="0">
                    <a:latin typeface="微软雅黑" panose="020B0503020204020204" pitchFamily="34" charset="-122"/>
                    <a:ea typeface="微软雅黑" panose="020B0503020204020204" pitchFamily="34" charset="-122"/>
                  </a:rPr>
                  <a:t>枚举每条非树边，添加到最小生成树中，</a:t>
                </a:r>
                <a:r>
                  <a:rPr lang="zh-CN" altLang="en-US" sz="1600" b="1" dirty="0">
                    <a:solidFill>
                      <a:schemeClr val="accent2"/>
                    </a:solidFill>
                    <a:latin typeface="微软雅黑" panose="020B0503020204020204" pitchFamily="34" charset="-122"/>
                    <a:ea typeface="微软雅黑" panose="020B0503020204020204" pitchFamily="34" charset="-122"/>
                  </a:rPr>
                  <a:t>循环</a:t>
                </a:r>
                <a:r>
                  <a:rPr lang="en-US" altLang="zh-CN" sz="1600" b="1" dirty="0" err="1">
                    <a:solidFill>
                      <a:schemeClr val="accent2"/>
                    </a:solidFill>
                    <a:latin typeface="微软雅黑" panose="020B0503020204020204" pitchFamily="34" charset="-122"/>
                    <a:ea typeface="微软雅黑" panose="020B0503020204020204" pitchFamily="34" charset="-122"/>
                  </a:rPr>
                  <a:t>dfs</a:t>
                </a:r>
                <a:r>
                  <a:rPr lang="zh-CN" altLang="en-US" sz="1600" dirty="0">
                    <a:latin typeface="微软雅黑" panose="020B0503020204020204" pitchFamily="34" charset="-122"/>
                    <a:ea typeface="微软雅黑" panose="020B0503020204020204" pitchFamily="34" charset="-122"/>
                  </a:rPr>
                  <a:t>求出任意两点间的最大边权和严格次大边权，计算出上述所有候选答案，在候选答案中取最小值就得到了整张无向图的严格次小生成树，时间复杂度为</a:t>
                </a:r>
                <a:endParaRPr lang="en-US" altLang="zh-CN" sz="1600" dirty="0">
                  <a:latin typeface="微软雅黑" panose="020B0503020204020204" pitchFamily="34" charset="-122"/>
                  <a:ea typeface="微软雅黑" panose="020B0503020204020204" pitchFamily="34" charset="-122"/>
                </a:endParaRPr>
              </a:p>
              <a:p>
                <a:pPr>
                  <a:lnSpc>
                    <a:spcPct val="200000"/>
                  </a:lnSpc>
                </a:pPr>
                <a:r>
                  <a:rPr lang="en-US" altLang="zh-CN" sz="1600" b="1" dirty="0">
                    <a:solidFill>
                      <a:schemeClr val="accent2"/>
                    </a:solidFill>
                    <a:latin typeface="微软雅黑" panose="020B0503020204020204" pitchFamily="34" charset="-122"/>
                    <a:ea typeface="微软雅黑" panose="020B0503020204020204" pitchFamily="34" charset="-122"/>
                  </a:rPr>
                  <a:t>O</a:t>
                </a:r>
                <a:r>
                  <a:rPr lang="zh-CN" altLang="en-US" sz="1600" b="1" dirty="0">
                    <a:solidFill>
                      <a:schemeClr val="accent2"/>
                    </a:solidFill>
                    <a:latin typeface="微软雅黑" panose="020B0503020204020204" pitchFamily="34" charset="-122"/>
                    <a:ea typeface="微软雅黑" panose="020B0503020204020204" pitchFamily="34" charset="-122"/>
                  </a:rPr>
                  <a:t>（</a:t>
                </a:r>
                <a:r>
                  <a:rPr lang="en-US" altLang="zh-CN" sz="1600" b="1" dirty="0">
                    <a:solidFill>
                      <a:schemeClr val="accent2"/>
                    </a:solidFill>
                    <a:latin typeface="微软雅黑" panose="020B0503020204020204" pitchFamily="34" charset="-122"/>
                    <a:ea typeface="微软雅黑" panose="020B0503020204020204" pitchFamily="34" charset="-122"/>
                  </a:rPr>
                  <a:t>m</a:t>
                </a:r>
                <a:r>
                  <a:rPr lang="en-US" altLang="zh-CN" sz="1600" b="1" dirty="0">
                    <a:solidFill>
                      <a:schemeClr val="accent2"/>
                    </a:solidFill>
                    <a:ea typeface="微软雅黑" panose="020B0503020204020204" pitchFamily="34" charset="-122"/>
                  </a:rPr>
                  <a:t> </a:t>
                </a:r>
                <a14:m>
                  <m:oMath xmlns:m="http://schemas.openxmlformats.org/officeDocument/2006/math">
                    <m:func>
                      <m:funcPr>
                        <m:ctrlPr>
                          <a:rPr lang="en-US" altLang="zh-CN" sz="1600" b="1" i="1" smtClean="0">
                            <a:solidFill>
                              <a:schemeClr val="accent2"/>
                            </a:solidFill>
                            <a:latin typeface="Cambria Math" panose="02040503050406030204" pitchFamily="18" charset="0"/>
                            <a:ea typeface="微软雅黑" panose="020B0503020204020204" pitchFamily="34" charset="-122"/>
                          </a:rPr>
                        </m:ctrlPr>
                      </m:funcPr>
                      <m:fName>
                        <m:r>
                          <a:rPr lang="en-US" altLang="zh-CN" sz="1600" b="1" i="0" smtClean="0">
                            <a:solidFill>
                              <a:schemeClr val="accent2"/>
                            </a:solidFill>
                            <a:latin typeface="Cambria Math" panose="02040503050406030204" pitchFamily="18" charset="0"/>
                            <a:ea typeface="微软雅黑" panose="020B0503020204020204" pitchFamily="34" charset="-122"/>
                          </a:rPr>
                          <m:t>𝐥𝐨𝐠</m:t>
                        </m:r>
                      </m:fName>
                      <m:e>
                        <m:r>
                          <a:rPr lang="en-US" altLang="zh-CN" sz="1600" b="1" i="1" smtClean="0">
                            <a:solidFill>
                              <a:schemeClr val="accent2"/>
                            </a:solidFill>
                            <a:latin typeface="Cambria Math" panose="02040503050406030204" pitchFamily="18" charset="0"/>
                            <a:ea typeface="微软雅黑" panose="020B0503020204020204" pitchFamily="34" charset="-122"/>
                          </a:rPr>
                          <m:t>𝒎</m:t>
                        </m:r>
                      </m:e>
                    </m:func>
                    <m:r>
                      <a:rPr lang="en-US" altLang="zh-CN" sz="1600" b="1" i="1" smtClean="0">
                        <a:solidFill>
                          <a:schemeClr val="accent2"/>
                        </a:solidFill>
                        <a:latin typeface="Cambria Math" panose="02040503050406030204" pitchFamily="18" charset="0"/>
                        <a:ea typeface="微软雅黑" panose="020B0503020204020204" pitchFamily="34" charset="-122"/>
                      </a:rPr>
                      <m:t> </m:t>
                    </m:r>
                  </m:oMath>
                </a14:m>
                <a:r>
                  <a:rPr lang="en-US" altLang="zh-CN" sz="1600" b="1" dirty="0">
                    <a:solidFill>
                      <a:schemeClr val="accent2"/>
                    </a:solidFill>
                    <a:latin typeface="微软雅黑" panose="020B0503020204020204" pitchFamily="34" charset="-122"/>
                    <a:ea typeface="微软雅黑" panose="020B0503020204020204" pitchFamily="34" charset="-122"/>
                  </a:rPr>
                  <a:t>+n*n</a:t>
                </a:r>
                <a:r>
                  <a:rPr lang="zh-CN" altLang="en-US" sz="1600" b="1" dirty="0">
                    <a:solidFill>
                      <a:schemeClr val="accent2"/>
                    </a:solidFill>
                    <a:latin typeface="微软雅黑" panose="020B0503020204020204" pitchFamily="34" charset="-122"/>
                    <a:ea typeface="微软雅黑" panose="020B0503020204020204" pitchFamily="34" charset="-122"/>
                  </a:rPr>
                  <a:t>）</a:t>
                </a:r>
                <a:endParaRPr lang="en-US" altLang="zh-CN" sz="1600" b="1" dirty="0">
                  <a:solidFill>
                    <a:schemeClr val="accent2"/>
                  </a:solidFill>
                  <a:latin typeface="微软雅黑" panose="020B0503020204020204" pitchFamily="34" charset="-122"/>
                  <a:ea typeface="微软雅黑" panose="020B0503020204020204" pitchFamily="34" charset="-122"/>
                </a:endParaRPr>
              </a:p>
              <a:p>
                <a:pPr>
                  <a:lnSpc>
                    <a:spcPct val="200000"/>
                  </a:lnSpc>
                </a:pPr>
                <a:r>
                  <a:rPr lang="zh-CN" altLang="en-US" sz="1600" b="1" dirty="0">
                    <a:solidFill>
                      <a:schemeClr val="accent2"/>
                    </a:solidFill>
                    <a:latin typeface="微软雅黑" panose="020B0503020204020204" pitchFamily="34" charset="-122"/>
                    <a:ea typeface="微软雅黑" panose="020B0503020204020204" pitchFamily="34" charset="-122"/>
                  </a:rPr>
                  <a:t>优化</a:t>
                </a:r>
                <a:r>
                  <a:rPr lang="en-US" altLang="zh-CN" sz="1600" b="1" dirty="0">
                    <a:solidFill>
                      <a:schemeClr val="accent2"/>
                    </a:solidFill>
                    <a:latin typeface="微软雅黑" panose="020B0503020204020204" pitchFamily="34" charset="-122"/>
                    <a:ea typeface="微软雅黑" panose="020B0503020204020204" pitchFamily="34" charset="-122"/>
                  </a:rPr>
                  <a:t>:</a:t>
                </a:r>
                <a:r>
                  <a:rPr lang="zh-CN" altLang="en-US" sz="1600" b="1" dirty="0">
                    <a:solidFill>
                      <a:schemeClr val="accent2"/>
                    </a:solidFill>
                    <a:latin typeface="微软雅黑" panose="020B0503020204020204" pitchFamily="34" charset="-122"/>
                    <a:ea typeface="微软雅黑" panose="020B0503020204020204" pitchFamily="34" charset="-122"/>
                  </a:rPr>
                  <a:t>如何快速求出路径上的最大边权与严格次大边权？</a:t>
                </a:r>
                <a:endParaRPr lang="en-US" altLang="zh-CN" sz="1600" b="1" dirty="0">
                  <a:solidFill>
                    <a:schemeClr val="accent2"/>
                  </a:solidFill>
                  <a:latin typeface="微软雅黑" panose="020B0503020204020204" pitchFamily="34" charset="-122"/>
                  <a:ea typeface="微软雅黑" panose="020B0503020204020204" pitchFamily="34" charset="-122"/>
                </a:endParaRPr>
              </a:p>
              <a:p>
                <a:pPr>
                  <a:lnSpc>
                    <a:spcPct val="200000"/>
                  </a:lnSpc>
                </a:pPr>
                <a:r>
                  <a:rPr lang="zh-CN" altLang="en-US" sz="1600" dirty="0">
                    <a:latin typeface="微软雅黑" panose="020B0503020204020204" pitchFamily="34" charset="-122"/>
                    <a:ea typeface="微软雅黑" panose="020B0503020204020204" pitchFamily="34" charset="-122"/>
                  </a:rPr>
                  <a:t>可以类似</a:t>
                </a:r>
                <a:r>
                  <a:rPr lang="en-US" altLang="zh-CN" sz="1600" dirty="0">
                    <a:latin typeface="微软雅黑" panose="020B0503020204020204" pitchFamily="34" charset="-122"/>
                    <a:ea typeface="微软雅黑" panose="020B0503020204020204" pitchFamily="34" charset="-122"/>
                  </a:rPr>
                  <a:t>LCA</a:t>
                </a:r>
                <a:r>
                  <a:rPr lang="zh-CN" altLang="en-US" sz="1600" dirty="0">
                    <a:latin typeface="微软雅黑" panose="020B0503020204020204" pitchFamily="34" charset="-122"/>
                    <a:ea typeface="微软雅黑" panose="020B0503020204020204" pitchFamily="34" charset="-122"/>
                  </a:rPr>
                  <a:t>，用</a:t>
                </a:r>
                <a:r>
                  <a:rPr lang="zh-CN" altLang="en-US" sz="1600" b="1" dirty="0">
                    <a:solidFill>
                      <a:schemeClr val="accent2"/>
                    </a:solidFill>
                    <a:latin typeface="微软雅黑" panose="020B0503020204020204" pitchFamily="34" charset="-122"/>
                    <a:ea typeface="微软雅黑" panose="020B0503020204020204" pitchFamily="34" charset="-122"/>
                  </a:rPr>
                  <a:t>倍增</a:t>
                </a:r>
                <a:r>
                  <a:rPr lang="zh-CN" altLang="en-US" sz="1600" dirty="0">
                    <a:latin typeface="微软雅黑" panose="020B0503020204020204" pitchFamily="34" charset="-122"/>
                    <a:ea typeface="微软雅黑" panose="020B0503020204020204" pitchFamily="34" charset="-122"/>
                  </a:rPr>
                  <a:t>维护相关信息。</a:t>
                </a:r>
                <a:endParaRPr lang="en-US" altLang="zh-CN" sz="1600" dirty="0">
                  <a:latin typeface="微软雅黑" panose="020B0503020204020204" pitchFamily="34" charset="-122"/>
                  <a:ea typeface="微软雅黑" panose="020B0503020204020204" pitchFamily="34" charset="-122"/>
                </a:endParaRPr>
              </a:p>
              <a:p>
                <a:pPr>
                  <a:lnSpc>
                    <a:spcPct val="200000"/>
                  </a:lnSpc>
                </a:pPr>
                <a:r>
                  <a:rPr lang="zh-CN" altLang="en-US" sz="1600" dirty="0">
                    <a:latin typeface="微软雅黑" panose="020B0503020204020204" pitchFamily="34" charset="-122"/>
                    <a:ea typeface="微软雅黑" panose="020B0503020204020204" pitchFamily="34" charset="-122"/>
                  </a:rPr>
                  <a:t>设</a:t>
                </a:r>
                <a:r>
                  <a:rPr lang="en-US" altLang="zh-CN" sz="1600" dirty="0">
                    <a:latin typeface="微软雅黑" panose="020B0503020204020204" pitchFamily="34" charset="-122"/>
                    <a:ea typeface="微软雅黑" panose="020B0503020204020204" pitchFamily="34" charset="-122"/>
                  </a:rPr>
                  <a:t>F[x][k]</a:t>
                </a:r>
                <a:r>
                  <a:rPr lang="zh-CN" altLang="en-US" sz="1600" dirty="0">
                    <a:latin typeface="微软雅黑" panose="020B0503020204020204" pitchFamily="34" charset="-122"/>
                    <a:ea typeface="微软雅黑" panose="020B0503020204020204" pitchFamily="34" charset="-122"/>
                  </a:rPr>
                  <a:t>表示</a:t>
                </a:r>
                <a:r>
                  <a:rPr lang="en-US" altLang="zh-CN" sz="1600" dirty="0">
                    <a:latin typeface="微软雅黑" panose="020B0503020204020204" pitchFamily="34" charset="-122"/>
                    <a:ea typeface="微软雅黑" panose="020B0503020204020204" pitchFamily="34" charset="-122"/>
                  </a:rPr>
                  <a:t>x</a:t>
                </a:r>
                <a:r>
                  <a:rPr lang="zh-CN" altLang="en-US" sz="1600" dirty="0">
                    <a:latin typeface="微软雅黑" panose="020B0503020204020204" pitchFamily="34" charset="-122"/>
                    <a:ea typeface="微软雅黑" panose="020B0503020204020204" pitchFamily="34" charset="-122"/>
                  </a:rPr>
                  <a:t>的</a:t>
                </a:r>
                <a14:m>
                  <m:oMath xmlns:m="http://schemas.openxmlformats.org/officeDocument/2006/math">
                    <m:sSup>
                      <m:sSupPr>
                        <m:ctrlPr>
                          <a:rPr lang="en-US" altLang="zh-CN" sz="1600" i="1" smtClean="0">
                            <a:latin typeface="Cambria Math" panose="02040503050406030204" pitchFamily="18" charset="0"/>
                            <a:ea typeface="微软雅黑" panose="020B0503020204020204" pitchFamily="34" charset="-122"/>
                          </a:rPr>
                        </m:ctrlPr>
                      </m:sSupPr>
                      <m:e>
                        <m:r>
                          <a:rPr lang="en-US" altLang="zh-CN" sz="1600" i="1">
                            <a:latin typeface="Cambria Math" panose="02040503050406030204" pitchFamily="18" charset="0"/>
                            <a:ea typeface="微软雅黑" panose="020B0503020204020204" pitchFamily="34" charset="-122"/>
                          </a:rPr>
                          <m:t>2</m:t>
                        </m:r>
                      </m:e>
                      <m:sup>
                        <m:r>
                          <m:rPr>
                            <m:sty m:val="p"/>
                          </m:rPr>
                          <a:rPr lang="en-US" altLang="zh-CN" sz="1600" i="1">
                            <a:latin typeface="Cambria Math" panose="02040503050406030204" pitchFamily="18" charset="0"/>
                            <a:ea typeface="微软雅黑" panose="020B0503020204020204" pitchFamily="34" charset="-122"/>
                          </a:rPr>
                          <m:t>k</m:t>
                        </m:r>
                      </m:sup>
                    </m:sSup>
                  </m:oMath>
                </a14:m>
                <a:r>
                  <a:rPr lang="zh-CN" altLang="en-US" sz="1600" dirty="0">
                    <a:latin typeface="微软雅黑" panose="020B0503020204020204" pitchFamily="34" charset="-122"/>
                    <a:ea typeface="微软雅黑" panose="020B0503020204020204" pitchFamily="34" charset="-122"/>
                  </a:rPr>
                  <a:t>辈祖先，</a:t>
                </a:r>
                <a:r>
                  <a:rPr lang="en-US" altLang="zh-CN" sz="1600" dirty="0">
                    <a:latin typeface="微软雅黑" panose="020B0503020204020204" pitchFamily="34" charset="-122"/>
                    <a:ea typeface="微软雅黑" panose="020B0503020204020204" pitchFamily="34" charset="-122"/>
                  </a:rPr>
                  <a:t>G[x,k,0]</a:t>
                </a:r>
                <a:r>
                  <a:rPr lang="zh-CN" altLang="en-US" sz="1600" dirty="0">
                    <a:latin typeface="微软雅黑" panose="020B0503020204020204" pitchFamily="34" charset="-122"/>
                    <a:ea typeface="微软雅黑" panose="020B0503020204020204" pitchFamily="34" charset="-122"/>
                  </a:rPr>
                  <a:t>与</a:t>
                </a:r>
                <a:r>
                  <a:rPr lang="en-US" altLang="zh-CN" sz="1600" dirty="0">
                    <a:latin typeface="微软雅黑" panose="020B0503020204020204" pitchFamily="34" charset="-122"/>
                    <a:ea typeface="微软雅黑" panose="020B0503020204020204" pitchFamily="34" charset="-122"/>
                  </a:rPr>
                  <a:t>G[x,k,1]</a:t>
                </a:r>
                <a:r>
                  <a:rPr lang="zh-CN" altLang="en-US" sz="1600" dirty="0">
                    <a:latin typeface="微软雅黑" panose="020B0503020204020204" pitchFamily="34" charset="-122"/>
                    <a:ea typeface="微软雅黑" panose="020B0503020204020204" pitchFamily="34" charset="-122"/>
                  </a:rPr>
                  <a:t>分别表示从</a:t>
                </a:r>
                <a:r>
                  <a:rPr lang="en-US" altLang="zh-CN" sz="1600" dirty="0">
                    <a:latin typeface="微软雅黑" panose="020B0503020204020204" pitchFamily="34" charset="-122"/>
                    <a:ea typeface="微软雅黑" panose="020B0503020204020204" pitchFamily="34" charset="-122"/>
                  </a:rPr>
                  <a:t>x</a:t>
                </a:r>
                <a:r>
                  <a:rPr lang="zh-CN" altLang="en-US" sz="1600" dirty="0">
                    <a:latin typeface="微软雅黑" panose="020B0503020204020204" pitchFamily="34" charset="-122"/>
                    <a:ea typeface="微软雅黑" panose="020B0503020204020204" pitchFamily="34" charset="-122"/>
                  </a:rPr>
                  <a:t>到</a:t>
                </a:r>
                <a:r>
                  <a:rPr lang="en-US" altLang="zh-CN" sz="1600" dirty="0">
                    <a:latin typeface="微软雅黑" panose="020B0503020204020204" pitchFamily="34" charset="-122"/>
                    <a:ea typeface="微软雅黑" panose="020B0503020204020204" pitchFamily="34" charset="-122"/>
                  </a:rPr>
                  <a:t>F[x][k]</a:t>
                </a:r>
                <a:r>
                  <a:rPr lang="zh-CN" altLang="en-US" sz="1600" dirty="0">
                    <a:latin typeface="微软雅黑" panose="020B0503020204020204" pitchFamily="34" charset="-122"/>
                    <a:ea typeface="微软雅黑" panose="020B0503020204020204" pitchFamily="34" charset="-122"/>
                  </a:rPr>
                  <a:t>的路径上的最大边权和严格次大边权（最大边权不等于次大边权）。于是对于</a:t>
                </a:r>
                <a14:m>
                  <m:oMath xmlns:m="http://schemas.openxmlformats.org/officeDocument/2006/math">
                    <m:r>
                      <a:rPr lang="en-US" altLang="zh-CN" sz="1600" i="1" dirty="0">
                        <a:latin typeface="Cambria Math" panose="02040503050406030204" pitchFamily="18" charset="0"/>
                        <a:ea typeface="微软雅黑" panose="020B0503020204020204" pitchFamily="34" charset="-122"/>
                      </a:rPr>
                      <m:t>1</m:t>
                    </m:r>
                    <m:r>
                      <a:rPr lang="zh-CN" altLang="en-US" sz="1600" i="1" smtClean="0">
                        <a:latin typeface="Cambria Math" panose="02040503050406030204" pitchFamily="18" charset="0"/>
                        <a:ea typeface="微软雅黑" panose="020B0503020204020204" pitchFamily="34" charset="-122"/>
                      </a:rPr>
                      <m:t>≤</m:t>
                    </m:r>
                  </m:oMath>
                </a14:m>
                <a:r>
                  <a:rPr lang="en-US" altLang="zh-CN" sz="1600" dirty="0">
                    <a:latin typeface="微软雅黑" panose="020B0503020204020204" pitchFamily="34" charset="-122"/>
                    <a:ea typeface="微软雅黑" panose="020B0503020204020204" pitchFamily="34" charset="-122"/>
                  </a:rPr>
                  <a:t>k</a:t>
                </a:r>
                <a14:m>
                  <m:oMath xmlns:m="http://schemas.openxmlformats.org/officeDocument/2006/math">
                    <m:r>
                      <a:rPr lang="en-US" altLang="zh-CN" sz="1600" i="1" dirty="0" smtClean="0">
                        <a:latin typeface="Cambria Math" panose="02040503050406030204" pitchFamily="18" charset="0"/>
                        <a:ea typeface="Cambria Math" panose="02040503050406030204" pitchFamily="18" charset="0"/>
                      </a:rPr>
                      <m:t>≤</m:t>
                    </m:r>
                    <m:func>
                      <m:funcPr>
                        <m:ctrlPr>
                          <a:rPr lang="en-US" altLang="zh-CN" sz="1600" i="1" dirty="0" smtClean="0">
                            <a:latin typeface="Cambria Math" panose="02040503050406030204" pitchFamily="18" charset="0"/>
                            <a:ea typeface="Cambria Math" panose="02040503050406030204" pitchFamily="18" charset="0"/>
                          </a:rPr>
                        </m:ctrlPr>
                      </m:funcPr>
                      <m:fName>
                        <m:r>
                          <m:rPr>
                            <m:sty m:val="p"/>
                          </m:rPr>
                          <a:rPr lang="en-US" altLang="zh-CN" sz="1600" i="0" dirty="0" smtClean="0">
                            <a:latin typeface="Cambria Math" panose="02040503050406030204" pitchFamily="18" charset="0"/>
                            <a:ea typeface="Cambria Math" panose="02040503050406030204" pitchFamily="18" charset="0"/>
                          </a:rPr>
                          <m:t>log</m:t>
                        </m:r>
                      </m:fName>
                      <m:e>
                        <m:r>
                          <m:rPr>
                            <m:sty m:val="p"/>
                          </m:rPr>
                          <a:rPr lang="en-US" altLang="zh-CN" sz="1600" i="1" dirty="0" smtClean="0">
                            <a:latin typeface="Cambria Math" panose="02040503050406030204" pitchFamily="18" charset="0"/>
                            <a:ea typeface="Cambria Math" panose="02040503050406030204" pitchFamily="18" charset="0"/>
                          </a:rPr>
                          <m:t>n</m:t>
                        </m:r>
                      </m:e>
                    </m:func>
                  </m:oMath>
                </a14:m>
                <a:r>
                  <a:rPr lang="zh-CN" altLang="en-US" sz="1600" dirty="0">
                    <a:latin typeface="微软雅黑" panose="020B0503020204020204" pitchFamily="34" charset="-122"/>
                    <a:ea typeface="微软雅黑" panose="020B0503020204020204" pitchFamily="34" charset="-122"/>
                  </a:rPr>
                  <a:t>，有</a:t>
                </a:r>
                <a:endParaRPr lang="en-US" altLang="zh-CN" sz="1600" dirty="0">
                  <a:latin typeface="微软雅黑" panose="020B0503020204020204" pitchFamily="34" charset="-122"/>
                  <a:ea typeface="微软雅黑" panose="020B0503020204020204" pitchFamily="34" charset="-122"/>
                </a:endParaRPr>
              </a:p>
              <a:p>
                <a:pPr>
                  <a:lnSpc>
                    <a:spcPct val="200000"/>
                  </a:lnSpc>
                </a:pPr>
                <a:r>
                  <a:rPr lang="en-US" altLang="zh-CN" sz="1600" b="1" noProof="1">
                    <a:solidFill>
                      <a:schemeClr val="accent2"/>
                    </a:solidFill>
                    <a:latin typeface="微软雅黑" panose="020B0503020204020204" pitchFamily="34" charset="-122"/>
                    <a:ea typeface="微软雅黑" panose="020B0503020204020204" pitchFamily="34" charset="-122"/>
                  </a:rPr>
                  <a:t>F[x][k]=F[F[x][k-1]][k-1]</a:t>
                </a:r>
              </a:p>
              <a:p>
                <a:pPr>
                  <a:lnSpc>
                    <a:spcPct val="200000"/>
                  </a:lnSpc>
                </a:pPr>
                <a:r>
                  <a:rPr lang="en-US" altLang="zh-CN" sz="1600" b="1" dirty="0">
                    <a:solidFill>
                      <a:schemeClr val="accent2"/>
                    </a:solidFill>
                    <a:latin typeface="微软雅黑" panose="020B0503020204020204" pitchFamily="34" charset="-122"/>
                    <a:ea typeface="微软雅黑" panose="020B0503020204020204" pitchFamily="34" charset="-122"/>
                  </a:rPr>
                  <a:t>G[x,k,0]=max(G[x,k-1,0],G[F[x,k-1],k-1,0])</a:t>
                </a:r>
              </a:p>
            </p:txBody>
          </p:sp>
        </mc:Choice>
        <mc:Fallback xmlns="">
          <p:sp>
            <p:nvSpPr>
              <p:cNvPr id="6" name="文本框 5">
                <a:extLst>
                  <a:ext uri="{FF2B5EF4-FFF2-40B4-BE49-F238E27FC236}">
                    <a16:creationId xmlns:a14="http://schemas.microsoft.com/office/drawing/2010/main" xmlns="" xmlns:a16="http://schemas.microsoft.com/office/drawing/2014/main" id="{1E5017F1-3489-6BAE-9865-2476A2A44E20}"/>
                  </a:ext>
                </a:extLst>
              </p:cNvPr>
              <p:cNvSpPr txBox="1">
                <a:spLocks noRot="1" noChangeAspect="1" noMove="1" noResize="1" noEditPoints="1" noAdjustHandles="1" noChangeArrowheads="1" noChangeShapeType="1" noTextEdit="1"/>
              </p:cNvSpPr>
              <p:nvPr/>
            </p:nvSpPr>
            <p:spPr>
              <a:xfrm>
                <a:off x="1030444" y="1766790"/>
                <a:ext cx="9980682" cy="4472122"/>
              </a:xfrm>
              <a:prstGeom prst="rect">
                <a:avLst/>
              </a:prstGeom>
              <a:blipFill>
                <a:blip r:embed="rId2" cstate="print"/>
                <a:stretch>
                  <a:fillRect l="-305" b="-95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4723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最近公共祖先</a:t>
            </a:r>
            <a:r>
              <a:rPr lang="en-US" altLang="zh-CN" dirty="0"/>
              <a:t>LCA</a:t>
            </a:r>
            <a:endParaRPr lang="zh-CN" altLang="en-US" dirty="0"/>
          </a:p>
        </p:txBody>
      </p:sp>
      <p:sp>
        <p:nvSpPr>
          <p:cNvPr id="8" name="文本框 7"/>
          <p:cNvSpPr txBox="1"/>
          <p:nvPr/>
        </p:nvSpPr>
        <p:spPr>
          <a:xfrm>
            <a:off x="945219" y="1397458"/>
            <a:ext cx="2117694" cy="369332"/>
          </a:xfrm>
          <a:prstGeom prst="rect">
            <a:avLst/>
          </a:prstGeom>
          <a:noFill/>
        </p:spPr>
        <p:txBody>
          <a:bodyPr wrap="square">
            <a:spAutoFit/>
          </a:bodyPr>
          <a:lstStyle/>
          <a:p>
            <a:r>
              <a:rPr lang="en-US" altLang="zh-CN" b="1" noProof="1">
                <a:solidFill>
                  <a:schemeClr val="accent2"/>
                </a:solidFill>
                <a:latin typeface="微软雅黑" panose="020B0503020204020204" pitchFamily="34" charset="-122"/>
                <a:ea typeface="微软雅黑" panose="020B0503020204020204" pitchFamily="34" charset="-122"/>
              </a:rPr>
              <a:t>【</a:t>
            </a:r>
            <a:r>
              <a:rPr lang="zh-CN" altLang="en-US" b="1" noProof="1">
                <a:solidFill>
                  <a:schemeClr val="accent2"/>
                </a:solidFill>
                <a:latin typeface="微软雅黑" panose="020B0503020204020204" pitchFamily="34" charset="-122"/>
                <a:ea typeface="微软雅黑" panose="020B0503020204020204" pitchFamily="34" charset="-122"/>
              </a:rPr>
              <a:t>题意分析</a:t>
            </a:r>
            <a:r>
              <a:rPr lang="en-US" altLang="zh-CN" b="1" noProof="1">
                <a:solidFill>
                  <a:schemeClr val="accent2"/>
                </a:solidFill>
                <a:latin typeface="微软雅黑" panose="020B0503020204020204" pitchFamily="34" charset="-122"/>
                <a:ea typeface="微软雅黑" panose="020B0503020204020204" pitchFamily="34" charset="-122"/>
              </a:rPr>
              <a:t>】</a:t>
            </a:r>
            <a:endParaRPr lang="zh-CN" altLang="en-US" b="1" noProof="1">
              <a:solidFill>
                <a:schemeClr val="accent2"/>
              </a:solidFill>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6" name="文本框 5">
                <a:extLst>
                  <a:ext uri="{FF2B5EF4-FFF2-40B4-BE49-F238E27FC236}">
                    <a16:creationId xmlns:a16="http://schemas.microsoft.com/office/drawing/2014/main" id="{1E5017F1-3489-6BAE-9865-2476A2A44E20}"/>
                  </a:ext>
                </a:extLst>
              </p:cNvPr>
              <p:cNvSpPr txBox="1"/>
              <p:nvPr/>
            </p:nvSpPr>
            <p:spPr>
              <a:xfrm>
                <a:off x="1104900" y="1173162"/>
                <a:ext cx="9980681" cy="1687898"/>
              </a:xfrm>
              <a:prstGeom prst="rect">
                <a:avLst/>
              </a:prstGeom>
              <a:noFill/>
            </p:spPr>
            <p:txBody>
              <a:bodyPr wrap="square">
                <a:spAutoFit/>
              </a:bodyPr>
              <a:lstStyle/>
              <a:p>
                <a:pPr>
                  <a:lnSpc>
                    <a:spcPct val="200000"/>
                  </a:lnSpc>
                </a:pPr>
                <a:r>
                  <a:rPr lang="en-US" altLang="zh-CN" sz="1600" b="1" dirty="0">
                    <a:solidFill>
                      <a:schemeClr val="accent2"/>
                    </a:solidFill>
                    <a:latin typeface="微软雅黑" panose="020B0503020204020204" pitchFamily="34" charset="-122"/>
                    <a:ea typeface="微软雅黑" panose="020B0503020204020204" pitchFamily="34" charset="-122"/>
                  </a:rPr>
                  <a:t>G[x,k,1]=</a:t>
                </a:r>
                <a14:m>
                  <m:oMath xmlns:m="http://schemas.openxmlformats.org/officeDocument/2006/math">
                    <m:d>
                      <m:dPr>
                        <m:begChr m:val="{"/>
                        <m:endChr m:val=""/>
                        <m:ctrlPr>
                          <a:rPr lang="en-US" altLang="zh-CN" sz="1600" b="1" i="1" smtClean="0">
                            <a:solidFill>
                              <a:schemeClr val="accent2"/>
                            </a:solidFill>
                            <a:latin typeface="Cambria Math" panose="02040503050406030204" pitchFamily="18" charset="0"/>
                            <a:ea typeface="微软雅黑" panose="020B0503020204020204" pitchFamily="34" charset="-122"/>
                          </a:rPr>
                        </m:ctrlPr>
                      </m:dPr>
                      <m:e>
                        <m:eqArr>
                          <m:eqArrPr>
                            <m:ctrlPr>
                              <a:rPr lang="en-US" altLang="zh-CN" sz="1600" b="1" i="1" smtClean="0">
                                <a:solidFill>
                                  <a:schemeClr val="accent2"/>
                                </a:solidFill>
                                <a:latin typeface="Cambria Math" panose="02040503050406030204" pitchFamily="18" charset="0"/>
                                <a:ea typeface="微软雅黑" panose="020B0503020204020204" pitchFamily="34" charset="-122"/>
                              </a:rPr>
                            </m:ctrlPr>
                          </m:eqArrPr>
                          <m:e>
                            <m:r>
                              <m:rPr>
                                <m:nor/>
                              </m:rPr>
                              <a:rPr lang="en-US" altLang="zh-CN" sz="1600" b="1" dirty="0">
                                <a:solidFill>
                                  <a:schemeClr val="accent2"/>
                                </a:solidFill>
                                <a:latin typeface="微软雅黑" panose="020B0503020204020204" pitchFamily="34" charset="-122"/>
                                <a:ea typeface="微软雅黑" panose="020B0503020204020204" pitchFamily="34" charset="-122"/>
                              </a:rPr>
                              <m:t>max</m:t>
                            </m:r>
                            <m:r>
                              <m:rPr>
                                <m:nor/>
                              </m:rPr>
                              <a:rPr lang="en-US" altLang="zh-CN" sz="1600" b="1" dirty="0">
                                <a:solidFill>
                                  <a:schemeClr val="accent2"/>
                                </a:solidFill>
                                <a:latin typeface="微软雅黑" panose="020B0503020204020204" pitchFamily="34" charset="-122"/>
                                <a:ea typeface="微软雅黑" panose="020B0503020204020204" pitchFamily="34" charset="-122"/>
                              </a:rPr>
                              <m:t>(</m:t>
                            </m:r>
                            <m:r>
                              <m:rPr>
                                <m:nor/>
                              </m:rPr>
                              <a:rPr lang="en-US" altLang="zh-CN" sz="1600" b="1" dirty="0">
                                <a:solidFill>
                                  <a:schemeClr val="accent2"/>
                                </a:solidFill>
                                <a:latin typeface="微软雅黑" panose="020B0503020204020204" pitchFamily="34" charset="-122"/>
                                <a:ea typeface="微软雅黑" panose="020B0503020204020204" pitchFamily="34" charset="-122"/>
                              </a:rPr>
                              <m:t>G</m:t>
                            </m:r>
                            <m:r>
                              <m:rPr>
                                <m:nor/>
                              </m:rPr>
                              <a:rPr lang="en-US" altLang="zh-CN" sz="1600" b="1" dirty="0">
                                <a:solidFill>
                                  <a:schemeClr val="accent2"/>
                                </a:solidFill>
                                <a:latin typeface="微软雅黑" panose="020B0503020204020204" pitchFamily="34" charset="-122"/>
                                <a:ea typeface="微软雅黑" panose="020B0503020204020204" pitchFamily="34" charset="-122"/>
                              </a:rPr>
                              <m:t>[</m:t>
                            </m:r>
                            <m:r>
                              <m:rPr>
                                <m:nor/>
                              </m:rPr>
                              <a:rPr lang="en-US" altLang="zh-CN" sz="1600" b="1" dirty="0">
                                <a:solidFill>
                                  <a:schemeClr val="accent2"/>
                                </a:solidFill>
                                <a:latin typeface="微软雅黑" panose="020B0503020204020204" pitchFamily="34" charset="-122"/>
                                <a:ea typeface="微软雅黑" panose="020B0503020204020204" pitchFamily="34" charset="-122"/>
                              </a:rPr>
                              <m:t>x</m:t>
                            </m:r>
                            <m:r>
                              <m:rPr>
                                <m:nor/>
                              </m:rPr>
                              <a:rPr lang="en-US" altLang="zh-CN" sz="1600" b="1" dirty="0">
                                <a:solidFill>
                                  <a:schemeClr val="accent2"/>
                                </a:solidFill>
                                <a:latin typeface="微软雅黑" panose="020B0503020204020204" pitchFamily="34" charset="-122"/>
                                <a:ea typeface="微软雅黑" panose="020B0503020204020204" pitchFamily="34" charset="-122"/>
                              </a:rPr>
                              <m:t>,</m:t>
                            </m:r>
                            <m:r>
                              <m:rPr>
                                <m:nor/>
                              </m:rPr>
                              <a:rPr lang="en-US" altLang="zh-CN" sz="1600" b="1" dirty="0">
                                <a:solidFill>
                                  <a:schemeClr val="accent2"/>
                                </a:solidFill>
                                <a:latin typeface="微软雅黑" panose="020B0503020204020204" pitchFamily="34" charset="-122"/>
                                <a:ea typeface="微软雅黑" panose="020B0503020204020204" pitchFamily="34" charset="-122"/>
                              </a:rPr>
                              <m:t>k</m:t>
                            </m:r>
                            <m:r>
                              <m:rPr>
                                <m:nor/>
                              </m:rPr>
                              <a:rPr lang="en-US" altLang="zh-CN" sz="1600" b="1" dirty="0">
                                <a:solidFill>
                                  <a:schemeClr val="accent2"/>
                                </a:solidFill>
                                <a:latin typeface="微软雅黑" panose="020B0503020204020204" pitchFamily="34" charset="-122"/>
                                <a:ea typeface="微软雅黑" panose="020B0503020204020204" pitchFamily="34" charset="-122"/>
                              </a:rPr>
                              <m:t>−1,1],</m:t>
                            </m:r>
                            <m:r>
                              <m:rPr>
                                <m:nor/>
                              </m:rPr>
                              <a:rPr lang="en-US" altLang="zh-CN" sz="1600" b="1" dirty="0">
                                <a:solidFill>
                                  <a:schemeClr val="accent2"/>
                                </a:solidFill>
                                <a:latin typeface="微软雅黑" panose="020B0503020204020204" pitchFamily="34" charset="-122"/>
                                <a:ea typeface="微软雅黑" panose="020B0503020204020204" pitchFamily="34" charset="-122"/>
                              </a:rPr>
                              <m:t>G</m:t>
                            </m:r>
                            <m:r>
                              <m:rPr>
                                <m:nor/>
                              </m:rPr>
                              <a:rPr lang="en-US" altLang="zh-CN" sz="1600" b="1" dirty="0">
                                <a:solidFill>
                                  <a:schemeClr val="accent2"/>
                                </a:solidFill>
                                <a:latin typeface="微软雅黑" panose="020B0503020204020204" pitchFamily="34" charset="-122"/>
                                <a:ea typeface="微软雅黑" panose="020B0503020204020204" pitchFamily="34" charset="-122"/>
                              </a:rPr>
                              <m:t>[</m:t>
                            </m:r>
                            <m:r>
                              <m:rPr>
                                <m:nor/>
                              </m:rPr>
                              <a:rPr lang="en-US" altLang="zh-CN" sz="1600" b="1" i="0" dirty="0" smtClean="0">
                                <a:solidFill>
                                  <a:schemeClr val="accent2"/>
                                </a:solidFill>
                                <a:latin typeface="微软雅黑" panose="020B0503020204020204" pitchFamily="34" charset="-122"/>
                                <a:ea typeface="微软雅黑" panose="020B0503020204020204" pitchFamily="34" charset="-122"/>
                              </a:rPr>
                              <m:t>F</m:t>
                            </m:r>
                            <m:r>
                              <m:rPr>
                                <m:nor/>
                              </m:rPr>
                              <a:rPr lang="en-US" altLang="zh-CN" sz="1600" b="1" dirty="0">
                                <a:solidFill>
                                  <a:schemeClr val="accent2"/>
                                </a:solidFill>
                                <a:latin typeface="微软雅黑" panose="020B0503020204020204" pitchFamily="34" charset="-122"/>
                                <a:ea typeface="微软雅黑" panose="020B0503020204020204" pitchFamily="34" charset="-122"/>
                              </a:rPr>
                              <m:t>[</m:t>
                            </m:r>
                            <m:r>
                              <m:rPr>
                                <m:nor/>
                              </m:rPr>
                              <a:rPr lang="en-US" altLang="zh-CN" sz="1600" b="1" dirty="0">
                                <a:solidFill>
                                  <a:schemeClr val="accent2"/>
                                </a:solidFill>
                                <a:latin typeface="微软雅黑" panose="020B0503020204020204" pitchFamily="34" charset="-122"/>
                                <a:ea typeface="微软雅黑" panose="020B0503020204020204" pitchFamily="34" charset="-122"/>
                              </a:rPr>
                              <m:t>x</m:t>
                            </m:r>
                            <m:r>
                              <m:rPr>
                                <m:nor/>
                              </m:rPr>
                              <a:rPr lang="en-US" altLang="zh-CN" sz="1600" b="1" dirty="0">
                                <a:solidFill>
                                  <a:schemeClr val="accent2"/>
                                </a:solidFill>
                                <a:latin typeface="微软雅黑" panose="020B0503020204020204" pitchFamily="34" charset="-122"/>
                                <a:ea typeface="微软雅黑" panose="020B0503020204020204" pitchFamily="34" charset="-122"/>
                              </a:rPr>
                              <m:t>,</m:t>
                            </m:r>
                            <m:r>
                              <m:rPr>
                                <m:nor/>
                              </m:rPr>
                              <a:rPr lang="en-US" altLang="zh-CN" sz="1600" b="1" dirty="0">
                                <a:solidFill>
                                  <a:schemeClr val="accent2"/>
                                </a:solidFill>
                                <a:latin typeface="微软雅黑" panose="020B0503020204020204" pitchFamily="34" charset="-122"/>
                                <a:ea typeface="微软雅黑" panose="020B0503020204020204" pitchFamily="34" charset="-122"/>
                              </a:rPr>
                              <m:t>k</m:t>
                            </m:r>
                            <m:r>
                              <m:rPr>
                                <m:nor/>
                              </m:rPr>
                              <a:rPr lang="en-US" altLang="zh-CN" sz="1600" b="1" dirty="0">
                                <a:solidFill>
                                  <a:schemeClr val="accent2"/>
                                </a:solidFill>
                                <a:latin typeface="微软雅黑" panose="020B0503020204020204" pitchFamily="34" charset="-122"/>
                                <a:ea typeface="微软雅黑" panose="020B0503020204020204" pitchFamily="34" charset="-122"/>
                              </a:rPr>
                              <m:t>−1],</m:t>
                            </m:r>
                            <m:r>
                              <m:rPr>
                                <m:nor/>
                              </m:rPr>
                              <a:rPr lang="en-US" altLang="zh-CN" sz="1600" b="1" dirty="0">
                                <a:solidFill>
                                  <a:schemeClr val="accent2"/>
                                </a:solidFill>
                                <a:latin typeface="微软雅黑" panose="020B0503020204020204" pitchFamily="34" charset="-122"/>
                                <a:ea typeface="微软雅黑" panose="020B0503020204020204" pitchFamily="34" charset="-122"/>
                              </a:rPr>
                              <m:t>k</m:t>
                            </m:r>
                            <m:r>
                              <m:rPr>
                                <m:nor/>
                              </m:rPr>
                              <a:rPr lang="en-US" altLang="zh-CN" sz="1600" b="1" dirty="0">
                                <a:solidFill>
                                  <a:schemeClr val="accent2"/>
                                </a:solidFill>
                                <a:latin typeface="微软雅黑" panose="020B0503020204020204" pitchFamily="34" charset="-122"/>
                                <a:ea typeface="微软雅黑" panose="020B0503020204020204" pitchFamily="34" charset="-122"/>
                              </a:rPr>
                              <m:t>−1,1])   </m:t>
                            </m:r>
                            <m:r>
                              <m:rPr>
                                <m:nor/>
                              </m:rPr>
                              <a:rPr lang="en-US" altLang="zh-CN" sz="1600" b="1" dirty="0">
                                <a:solidFill>
                                  <a:schemeClr val="accent2"/>
                                </a:solidFill>
                                <a:latin typeface="微软雅黑" panose="020B0503020204020204" pitchFamily="34" charset="-122"/>
                                <a:ea typeface="微软雅黑" panose="020B0503020204020204" pitchFamily="34" charset="-122"/>
                              </a:rPr>
                              <m:t>G</m:t>
                            </m:r>
                            <m:r>
                              <m:rPr>
                                <m:nor/>
                              </m:rPr>
                              <a:rPr lang="en-US" altLang="zh-CN" sz="1600" b="1" dirty="0">
                                <a:solidFill>
                                  <a:schemeClr val="accent2"/>
                                </a:solidFill>
                                <a:latin typeface="微软雅黑" panose="020B0503020204020204" pitchFamily="34" charset="-122"/>
                                <a:ea typeface="微软雅黑" panose="020B0503020204020204" pitchFamily="34" charset="-122"/>
                              </a:rPr>
                              <m:t>[</m:t>
                            </m:r>
                            <m:r>
                              <m:rPr>
                                <m:nor/>
                              </m:rPr>
                              <a:rPr lang="en-US" altLang="zh-CN" sz="1600" b="1" dirty="0">
                                <a:solidFill>
                                  <a:schemeClr val="accent2"/>
                                </a:solidFill>
                                <a:latin typeface="微软雅黑" panose="020B0503020204020204" pitchFamily="34" charset="-122"/>
                                <a:ea typeface="微软雅黑" panose="020B0503020204020204" pitchFamily="34" charset="-122"/>
                              </a:rPr>
                              <m:t>x</m:t>
                            </m:r>
                            <m:r>
                              <m:rPr>
                                <m:nor/>
                              </m:rPr>
                              <a:rPr lang="en-US" altLang="zh-CN" sz="1600" b="1" dirty="0">
                                <a:solidFill>
                                  <a:schemeClr val="accent2"/>
                                </a:solidFill>
                                <a:latin typeface="微软雅黑" panose="020B0503020204020204" pitchFamily="34" charset="-122"/>
                                <a:ea typeface="微软雅黑" panose="020B0503020204020204" pitchFamily="34" charset="-122"/>
                              </a:rPr>
                              <m:t>,</m:t>
                            </m:r>
                            <m:r>
                              <m:rPr>
                                <m:nor/>
                              </m:rPr>
                              <a:rPr lang="en-US" altLang="zh-CN" sz="1600" b="1" dirty="0">
                                <a:solidFill>
                                  <a:schemeClr val="accent2"/>
                                </a:solidFill>
                                <a:latin typeface="微软雅黑" panose="020B0503020204020204" pitchFamily="34" charset="-122"/>
                                <a:ea typeface="微软雅黑" panose="020B0503020204020204" pitchFamily="34" charset="-122"/>
                              </a:rPr>
                              <m:t>k</m:t>
                            </m:r>
                            <m:r>
                              <m:rPr>
                                <m:nor/>
                              </m:rPr>
                              <a:rPr lang="en-US" altLang="zh-CN" sz="1600" b="1" dirty="0">
                                <a:solidFill>
                                  <a:schemeClr val="accent2"/>
                                </a:solidFill>
                                <a:latin typeface="微软雅黑" panose="020B0503020204020204" pitchFamily="34" charset="-122"/>
                                <a:ea typeface="微软雅黑" panose="020B0503020204020204" pitchFamily="34" charset="-122"/>
                              </a:rPr>
                              <m:t>−1,0]=</m:t>
                            </m:r>
                            <m:r>
                              <m:rPr>
                                <m:nor/>
                              </m:rPr>
                              <a:rPr lang="en-US" altLang="zh-CN" sz="1600" b="1" dirty="0">
                                <a:solidFill>
                                  <a:schemeClr val="accent2"/>
                                </a:solidFill>
                                <a:latin typeface="微软雅黑" panose="020B0503020204020204" pitchFamily="34" charset="-122"/>
                                <a:ea typeface="微软雅黑" panose="020B0503020204020204" pitchFamily="34" charset="-122"/>
                              </a:rPr>
                              <m:t>G</m:t>
                            </m:r>
                            <m:r>
                              <m:rPr>
                                <m:nor/>
                              </m:rPr>
                              <a:rPr lang="en-US" altLang="zh-CN" sz="1600" b="1" dirty="0">
                                <a:solidFill>
                                  <a:schemeClr val="accent2"/>
                                </a:solidFill>
                                <a:latin typeface="微软雅黑" panose="020B0503020204020204" pitchFamily="34" charset="-122"/>
                                <a:ea typeface="微软雅黑" panose="020B0503020204020204" pitchFamily="34" charset="-122"/>
                              </a:rPr>
                              <m:t>[</m:t>
                            </m:r>
                            <m:r>
                              <m:rPr>
                                <m:nor/>
                              </m:rPr>
                              <a:rPr lang="en-US" altLang="zh-CN" sz="1600" b="1" dirty="0">
                                <a:solidFill>
                                  <a:schemeClr val="accent2"/>
                                </a:solidFill>
                                <a:latin typeface="微软雅黑" panose="020B0503020204020204" pitchFamily="34" charset="-122"/>
                                <a:ea typeface="微软雅黑" panose="020B0503020204020204" pitchFamily="34" charset="-122"/>
                              </a:rPr>
                              <m:t>F</m:t>
                            </m:r>
                            <m:r>
                              <m:rPr>
                                <m:nor/>
                              </m:rPr>
                              <a:rPr lang="en-US" altLang="zh-CN" sz="1600" b="1" dirty="0">
                                <a:solidFill>
                                  <a:schemeClr val="accent2"/>
                                </a:solidFill>
                                <a:latin typeface="微软雅黑" panose="020B0503020204020204" pitchFamily="34" charset="-122"/>
                                <a:ea typeface="微软雅黑" panose="020B0503020204020204" pitchFamily="34" charset="-122"/>
                              </a:rPr>
                              <m:t>[</m:t>
                            </m:r>
                            <m:r>
                              <m:rPr>
                                <m:nor/>
                              </m:rPr>
                              <a:rPr lang="en-US" altLang="zh-CN" sz="1600" b="1" dirty="0">
                                <a:solidFill>
                                  <a:schemeClr val="accent2"/>
                                </a:solidFill>
                                <a:latin typeface="微软雅黑" panose="020B0503020204020204" pitchFamily="34" charset="-122"/>
                                <a:ea typeface="微软雅黑" panose="020B0503020204020204" pitchFamily="34" charset="-122"/>
                              </a:rPr>
                              <m:t>x</m:t>
                            </m:r>
                            <m:r>
                              <m:rPr>
                                <m:nor/>
                              </m:rPr>
                              <a:rPr lang="en-US" altLang="zh-CN" sz="1600" b="1" dirty="0">
                                <a:solidFill>
                                  <a:schemeClr val="accent2"/>
                                </a:solidFill>
                                <a:latin typeface="微软雅黑" panose="020B0503020204020204" pitchFamily="34" charset="-122"/>
                                <a:ea typeface="微软雅黑" panose="020B0503020204020204" pitchFamily="34" charset="-122"/>
                              </a:rPr>
                              <m:t>,</m:t>
                            </m:r>
                            <m:r>
                              <m:rPr>
                                <m:nor/>
                              </m:rPr>
                              <a:rPr lang="en-US" altLang="zh-CN" sz="1600" b="1" dirty="0">
                                <a:solidFill>
                                  <a:schemeClr val="accent2"/>
                                </a:solidFill>
                                <a:latin typeface="微软雅黑" panose="020B0503020204020204" pitchFamily="34" charset="-122"/>
                                <a:ea typeface="微软雅黑" panose="020B0503020204020204" pitchFamily="34" charset="-122"/>
                              </a:rPr>
                              <m:t>k</m:t>
                            </m:r>
                            <m:r>
                              <m:rPr>
                                <m:nor/>
                              </m:rPr>
                              <a:rPr lang="en-US" altLang="zh-CN" sz="1600" b="1" dirty="0">
                                <a:solidFill>
                                  <a:schemeClr val="accent2"/>
                                </a:solidFill>
                                <a:latin typeface="微软雅黑" panose="020B0503020204020204" pitchFamily="34" charset="-122"/>
                                <a:ea typeface="微软雅黑" panose="020B0503020204020204" pitchFamily="34" charset="-122"/>
                              </a:rPr>
                              <m:t>−1],</m:t>
                            </m:r>
                            <m:r>
                              <m:rPr>
                                <m:nor/>
                              </m:rPr>
                              <a:rPr lang="en-US" altLang="zh-CN" sz="1600" b="1" dirty="0">
                                <a:solidFill>
                                  <a:schemeClr val="accent2"/>
                                </a:solidFill>
                                <a:latin typeface="微软雅黑" panose="020B0503020204020204" pitchFamily="34" charset="-122"/>
                                <a:ea typeface="微软雅黑" panose="020B0503020204020204" pitchFamily="34" charset="-122"/>
                              </a:rPr>
                              <m:t>k</m:t>
                            </m:r>
                            <m:r>
                              <m:rPr>
                                <m:nor/>
                              </m:rPr>
                              <a:rPr lang="en-US" altLang="zh-CN" sz="1600" b="1" dirty="0">
                                <a:solidFill>
                                  <a:schemeClr val="accent2"/>
                                </a:solidFill>
                                <a:latin typeface="微软雅黑" panose="020B0503020204020204" pitchFamily="34" charset="-122"/>
                                <a:ea typeface="微软雅黑" panose="020B0503020204020204" pitchFamily="34" charset="-122"/>
                              </a:rPr>
                              <m:t>−1,0]</m:t>
                            </m:r>
                          </m:e>
                          <m:e>
                            <m:r>
                              <m:rPr>
                                <m:nor/>
                              </m:rPr>
                              <a:rPr lang="en-US" altLang="zh-CN" sz="1600" b="1" dirty="0">
                                <a:solidFill>
                                  <a:schemeClr val="accent2"/>
                                </a:solidFill>
                                <a:latin typeface="微软雅黑" panose="020B0503020204020204" pitchFamily="34" charset="-122"/>
                                <a:ea typeface="微软雅黑" panose="020B0503020204020204" pitchFamily="34" charset="-122"/>
                              </a:rPr>
                              <m:t>max</m:t>
                            </m:r>
                            <m:r>
                              <m:rPr>
                                <m:nor/>
                              </m:rPr>
                              <a:rPr lang="en-US" altLang="zh-CN" sz="1600" b="1" dirty="0">
                                <a:solidFill>
                                  <a:schemeClr val="accent2"/>
                                </a:solidFill>
                                <a:latin typeface="微软雅黑" panose="020B0503020204020204" pitchFamily="34" charset="-122"/>
                                <a:ea typeface="微软雅黑" panose="020B0503020204020204" pitchFamily="34" charset="-122"/>
                              </a:rPr>
                              <m:t>(</m:t>
                            </m:r>
                            <m:r>
                              <m:rPr>
                                <m:nor/>
                              </m:rPr>
                              <a:rPr lang="en-US" altLang="zh-CN" sz="1600" b="1" dirty="0">
                                <a:solidFill>
                                  <a:schemeClr val="accent2"/>
                                </a:solidFill>
                                <a:latin typeface="微软雅黑" panose="020B0503020204020204" pitchFamily="34" charset="-122"/>
                                <a:ea typeface="微软雅黑" panose="020B0503020204020204" pitchFamily="34" charset="-122"/>
                              </a:rPr>
                              <m:t>G</m:t>
                            </m:r>
                            <m:r>
                              <m:rPr>
                                <m:nor/>
                              </m:rPr>
                              <a:rPr lang="en-US" altLang="zh-CN" sz="1600" b="1" dirty="0">
                                <a:solidFill>
                                  <a:schemeClr val="accent2"/>
                                </a:solidFill>
                                <a:latin typeface="微软雅黑" panose="020B0503020204020204" pitchFamily="34" charset="-122"/>
                                <a:ea typeface="微软雅黑" panose="020B0503020204020204" pitchFamily="34" charset="-122"/>
                              </a:rPr>
                              <m:t>[</m:t>
                            </m:r>
                            <m:r>
                              <m:rPr>
                                <m:nor/>
                              </m:rPr>
                              <a:rPr lang="en-US" altLang="zh-CN" sz="1600" b="1" dirty="0">
                                <a:solidFill>
                                  <a:schemeClr val="accent2"/>
                                </a:solidFill>
                                <a:latin typeface="微软雅黑" panose="020B0503020204020204" pitchFamily="34" charset="-122"/>
                                <a:ea typeface="微软雅黑" panose="020B0503020204020204" pitchFamily="34" charset="-122"/>
                              </a:rPr>
                              <m:t>x</m:t>
                            </m:r>
                            <m:r>
                              <m:rPr>
                                <m:nor/>
                              </m:rPr>
                              <a:rPr lang="en-US" altLang="zh-CN" sz="1600" b="1" dirty="0">
                                <a:solidFill>
                                  <a:schemeClr val="accent2"/>
                                </a:solidFill>
                                <a:latin typeface="微软雅黑" panose="020B0503020204020204" pitchFamily="34" charset="-122"/>
                                <a:ea typeface="微软雅黑" panose="020B0503020204020204" pitchFamily="34" charset="-122"/>
                              </a:rPr>
                              <m:t>,</m:t>
                            </m:r>
                            <m:r>
                              <m:rPr>
                                <m:nor/>
                              </m:rPr>
                              <a:rPr lang="en-US" altLang="zh-CN" sz="1600" b="1" dirty="0">
                                <a:solidFill>
                                  <a:schemeClr val="accent2"/>
                                </a:solidFill>
                                <a:latin typeface="微软雅黑" panose="020B0503020204020204" pitchFamily="34" charset="-122"/>
                                <a:ea typeface="微软雅黑" panose="020B0503020204020204" pitchFamily="34" charset="-122"/>
                              </a:rPr>
                              <m:t>k</m:t>
                            </m:r>
                            <m:r>
                              <m:rPr>
                                <m:nor/>
                              </m:rPr>
                              <a:rPr lang="en-US" altLang="zh-CN" sz="1600" b="1" dirty="0">
                                <a:solidFill>
                                  <a:schemeClr val="accent2"/>
                                </a:solidFill>
                                <a:latin typeface="微软雅黑" panose="020B0503020204020204" pitchFamily="34" charset="-122"/>
                                <a:ea typeface="微软雅黑" panose="020B0503020204020204" pitchFamily="34" charset="-122"/>
                              </a:rPr>
                              <m:t>−1,0],</m:t>
                            </m:r>
                            <m:r>
                              <m:rPr>
                                <m:nor/>
                              </m:rPr>
                              <a:rPr lang="en-US" altLang="zh-CN" sz="1600" b="1" dirty="0">
                                <a:solidFill>
                                  <a:schemeClr val="accent2"/>
                                </a:solidFill>
                                <a:latin typeface="微软雅黑" panose="020B0503020204020204" pitchFamily="34" charset="-122"/>
                                <a:ea typeface="微软雅黑" panose="020B0503020204020204" pitchFamily="34" charset="-122"/>
                              </a:rPr>
                              <m:t>G</m:t>
                            </m:r>
                            <m:r>
                              <m:rPr>
                                <m:nor/>
                              </m:rPr>
                              <a:rPr lang="en-US" altLang="zh-CN" sz="1600" b="1" dirty="0">
                                <a:solidFill>
                                  <a:schemeClr val="accent2"/>
                                </a:solidFill>
                                <a:latin typeface="微软雅黑" panose="020B0503020204020204" pitchFamily="34" charset="-122"/>
                                <a:ea typeface="微软雅黑" panose="020B0503020204020204" pitchFamily="34" charset="-122"/>
                              </a:rPr>
                              <m:t>[</m:t>
                            </m:r>
                            <m:r>
                              <m:rPr>
                                <m:nor/>
                              </m:rPr>
                              <a:rPr lang="en-US" altLang="zh-CN" sz="1600" b="1" i="0" dirty="0" smtClean="0">
                                <a:solidFill>
                                  <a:schemeClr val="accent2"/>
                                </a:solidFill>
                                <a:latin typeface="微软雅黑" panose="020B0503020204020204" pitchFamily="34" charset="-122"/>
                                <a:ea typeface="微软雅黑" panose="020B0503020204020204" pitchFamily="34" charset="-122"/>
                              </a:rPr>
                              <m:t>F</m:t>
                            </m:r>
                            <m:r>
                              <m:rPr>
                                <m:nor/>
                              </m:rPr>
                              <a:rPr lang="en-US" altLang="zh-CN" sz="1600" b="1" dirty="0">
                                <a:solidFill>
                                  <a:schemeClr val="accent2"/>
                                </a:solidFill>
                                <a:latin typeface="微软雅黑" panose="020B0503020204020204" pitchFamily="34" charset="-122"/>
                                <a:ea typeface="微软雅黑" panose="020B0503020204020204" pitchFamily="34" charset="-122"/>
                              </a:rPr>
                              <m:t>[</m:t>
                            </m:r>
                            <m:r>
                              <m:rPr>
                                <m:nor/>
                              </m:rPr>
                              <a:rPr lang="en-US" altLang="zh-CN" sz="1600" b="1" dirty="0">
                                <a:solidFill>
                                  <a:schemeClr val="accent2"/>
                                </a:solidFill>
                                <a:latin typeface="微软雅黑" panose="020B0503020204020204" pitchFamily="34" charset="-122"/>
                                <a:ea typeface="微软雅黑" panose="020B0503020204020204" pitchFamily="34" charset="-122"/>
                              </a:rPr>
                              <m:t>x</m:t>
                            </m:r>
                            <m:r>
                              <m:rPr>
                                <m:nor/>
                              </m:rPr>
                              <a:rPr lang="en-US" altLang="zh-CN" sz="1600" b="1" dirty="0">
                                <a:solidFill>
                                  <a:schemeClr val="accent2"/>
                                </a:solidFill>
                                <a:latin typeface="微软雅黑" panose="020B0503020204020204" pitchFamily="34" charset="-122"/>
                                <a:ea typeface="微软雅黑" panose="020B0503020204020204" pitchFamily="34" charset="-122"/>
                              </a:rPr>
                              <m:t>,</m:t>
                            </m:r>
                            <m:r>
                              <m:rPr>
                                <m:nor/>
                              </m:rPr>
                              <a:rPr lang="en-US" altLang="zh-CN" sz="1600" b="1" dirty="0">
                                <a:solidFill>
                                  <a:schemeClr val="accent2"/>
                                </a:solidFill>
                                <a:latin typeface="微软雅黑" panose="020B0503020204020204" pitchFamily="34" charset="-122"/>
                                <a:ea typeface="微软雅黑" panose="020B0503020204020204" pitchFamily="34" charset="-122"/>
                              </a:rPr>
                              <m:t>k</m:t>
                            </m:r>
                            <m:r>
                              <m:rPr>
                                <m:nor/>
                              </m:rPr>
                              <a:rPr lang="en-US" altLang="zh-CN" sz="1600" b="1" dirty="0">
                                <a:solidFill>
                                  <a:schemeClr val="accent2"/>
                                </a:solidFill>
                                <a:latin typeface="微软雅黑" panose="020B0503020204020204" pitchFamily="34" charset="-122"/>
                                <a:ea typeface="微软雅黑" panose="020B0503020204020204" pitchFamily="34" charset="-122"/>
                              </a:rPr>
                              <m:t>−1],</m:t>
                            </m:r>
                            <m:r>
                              <m:rPr>
                                <m:nor/>
                              </m:rPr>
                              <a:rPr lang="en-US" altLang="zh-CN" sz="1600" b="1" dirty="0">
                                <a:solidFill>
                                  <a:schemeClr val="accent2"/>
                                </a:solidFill>
                                <a:latin typeface="微软雅黑" panose="020B0503020204020204" pitchFamily="34" charset="-122"/>
                                <a:ea typeface="微软雅黑" panose="020B0503020204020204" pitchFamily="34" charset="-122"/>
                              </a:rPr>
                              <m:t>k</m:t>
                            </m:r>
                            <m:r>
                              <m:rPr>
                                <m:nor/>
                              </m:rPr>
                              <a:rPr lang="en-US" altLang="zh-CN" sz="1600" b="1" dirty="0">
                                <a:solidFill>
                                  <a:schemeClr val="accent2"/>
                                </a:solidFill>
                                <a:latin typeface="微软雅黑" panose="020B0503020204020204" pitchFamily="34" charset="-122"/>
                                <a:ea typeface="微软雅黑" panose="020B0503020204020204" pitchFamily="34" charset="-122"/>
                              </a:rPr>
                              <m:t>−1,1]) </m:t>
                            </m:r>
                            <m:r>
                              <m:rPr>
                                <m:nor/>
                              </m:rPr>
                              <a:rPr lang="en-US" altLang="zh-CN" sz="1600" b="1" dirty="0">
                                <a:solidFill>
                                  <a:schemeClr val="accent2"/>
                                </a:solidFill>
                                <a:latin typeface="微软雅黑" panose="020B0503020204020204" pitchFamily="34" charset="-122"/>
                                <a:ea typeface="微软雅黑" panose="020B0503020204020204" pitchFamily="34" charset="-122"/>
                              </a:rPr>
                              <m:t>G</m:t>
                            </m:r>
                            <m:r>
                              <m:rPr>
                                <m:nor/>
                              </m:rPr>
                              <a:rPr lang="en-US" altLang="zh-CN" sz="1600" b="1" dirty="0">
                                <a:solidFill>
                                  <a:schemeClr val="accent2"/>
                                </a:solidFill>
                                <a:latin typeface="微软雅黑" panose="020B0503020204020204" pitchFamily="34" charset="-122"/>
                                <a:ea typeface="微软雅黑" panose="020B0503020204020204" pitchFamily="34" charset="-122"/>
                              </a:rPr>
                              <m:t>[</m:t>
                            </m:r>
                            <m:r>
                              <m:rPr>
                                <m:nor/>
                              </m:rPr>
                              <a:rPr lang="en-US" altLang="zh-CN" sz="1600" b="1" dirty="0">
                                <a:solidFill>
                                  <a:schemeClr val="accent2"/>
                                </a:solidFill>
                                <a:latin typeface="微软雅黑" panose="020B0503020204020204" pitchFamily="34" charset="-122"/>
                                <a:ea typeface="微软雅黑" panose="020B0503020204020204" pitchFamily="34" charset="-122"/>
                              </a:rPr>
                              <m:t>x</m:t>
                            </m:r>
                            <m:r>
                              <m:rPr>
                                <m:nor/>
                              </m:rPr>
                              <a:rPr lang="en-US" altLang="zh-CN" sz="1600" b="1" dirty="0">
                                <a:solidFill>
                                  <a:schemeClr val="accent2"/>
                                </a:solidFill>
                                <a:latin typeface="微软雅黑" panose="020B0503020204020204" pitchFamily="34" charset="-122"/>
                                <a:ea typeface="微软雅黑" panose="020B0503020204020204" pitchFamily="34" charset="-122"/>
                              </a:rPr>
                              <m:t>,</m:t>
                            </m:r>
                            <m:r>
                              <m:rPr>
                                <m:nor/>
                              </m:rPr>
                              <a:rPr lang="en-US" altLang="zh-CN" sz="1600" b="1" dirty="0">
                                <a:solidFill>
                                  <a:schemeClr val="accent2"/>
                                </a:solidFill>
                                <a:latin typeface="微软雅黑" panose="020B0503020204020204" pitchFamily="34" charset="-122"/>
                                <a:ea typeface="微软雅黑" panose="020B0503020204020204" pitchFamily="34" charset="-122"/>
                              </a:rPr>
                              <m:t>k</m:t>
                            </m:r>
                            <m:r>
                              <m:rPr>
                                <m:nor/>
                              </m:rPr>
                              <a:rPr lang="en-US" altLang="zh-CN" sz="1600" b="1" dirty="0">
                                <a:solidFill>
                                  <a:schemeClr val="accent2"/>
                                </a:solidFill>
                                <a:latin typeface="微软雅黑" panose="020B0503020204020204" pitchFamily="34" charset="-122"/>
                                <a:ea typeface="微软雅黑" panose="020B0503020204020204" pitchFamily="34" charset="-122"/>
                              </a:rPr>
                              <m:t>−1,0]&lt;</m:t>
                            </m:r>
                            <m:r>
                              <m:rPr>
                                <m:nor/>
                              </m:rPr>
                              <a:rPr lang="en-US" altLang="zh-CN" sz="1600" b="1" dirty="0">
                                <a:solidFill>
                                  <a:schemeClr val="accent2"/>
                                </a:solidFill>
                                <a:latin typeface="微软雅黑" panose="020B0503020204020204" pitchFamily="34" charset="-122"/>
                                <a:ea typeface="微软雅黑" panose="020B0503020204020204" pitchFamily="34" charset="-122"/>
                              </a:rPr>
                              <m:t>G</m:t>
                            </m:r>
                            <m:r>
                              <m:rPr>
                                <m:nor/>
                              </m:rPr>
                              <a:rPr lang="en-US" altLang="zh-CN" sz="1600" b="1" dirty="0">
                                <a:solidFill>
                                  <a:schemeClr val="accent2"/>
                                </a:solidFill>
                                <a:latin typeface="微软雅黑" panose="020B0503020204020204" pitchFamily="34" charset="-122"/>
                                <a:ea typeface="微软雅黑" panose="020B0503020204020204" pitchFamily="34" charset="-122"/>
                              </a:rPr>
                              <m:t>[</m:t>
                            </m:r>
                            <m:r>
                              <m:rPr>
                                <m:nor/>
                              </m:rPr>
                              <a:rPr lang="en-US" altLang="zh-CN" sz="1600" b="1" dirty="0">
                                <a:solidFill>
                                  <a:schemeClr val="accent2"/>
                                </a:solidFill>
                                <a:latin typeface="微软雅黑" panose="020B0503020204020204" pitchFamily="34" charset="-122"/>
                                <a:ea typeface="微软雅黑" panose="020B0503020204020204" pitchFamily="34" charset="-122"/>
                              </a:rPr>
                              <m:t>F</m:t>
                            </m:r>
                            <m:r>
                              <m:rPr>
                                <m:nor/>
                              </m:rPr>
                              <a:rPr lang="en-US" altLang="zh-CN" sz="1600" b="1" dirty="0">
                                <a:solidFill>
                                  <a:schemeClr val="accent2"/>
                                </a:solidFill>
                                <a:latin typeface="微软雅黑" panose="020B0503020204020204" pitchFamily="34" charset="-122"/>
                                <a:ea typeface="微软雅黑" panose="020B0503020204020204" pitchFamily="34" charset="-122"/>
                              </a:rPr>
                              <m:t>[</m:t>
                            </m:r>
                            <m:r>
                              <m:rPr>
                                <m:nor/>
                              </m:rPr>
                              <a:rPr lang="en-US" altLang="zh-CN" sz="1600" b="1" dirty="0">
                                <a:solidFill>
                                  <a:schemeClr val="accent2"/>
                                </a:solidFill>
                                <a:latin typeface="微软雅黑" panose="020B0503020204020204" pitchFamily="34" charset="-122"/>
                                <a:ea typeface="微软雅黑" panose="020B0503020204020204" pitchFamily="34" charset="-122"/>
                              </a:rPr>
                              <m:t>x</m:t>
                            </m:r>
                            <m:r>
                              <m:rPr>
                                <m:nor/>
                              </m:rPr>
                              <a:rPr lang="en-US" altLang="zh-CN" sz="1600" b="1" dirty="0">
                                <a:solidFill>
                                  <a:schemeClr val="accent2"/>
                                </a:solidFill>
                                <a:latin typeface="微软雅黑" panose="020B0503020204020204" pitchFamily="34" charset="-122"/>
                                <a:ea typeface="微软雅黑" panose="020B0503020204020204" pitchFamily="34" charset="-122"/>
                              </a:rPr>
                              <m:t>,</m:t>
                            </m:r>
                            <m:r>
                              <m:rPr>
                                <m:nor/>
                              </m:rPr>
                              <a:rPr lang="en-US" altLang="zh-CN" sz="1600" b="1" dirty="0">
                                <a:solidFill>
                                  <a:schemeClr val="accent2"/>
                                </a:solidFill>
                                <a:latin typeface="微软雅黑" panose="020B0503020204020204" pitchFamily="34" charset="-122"/>
                                <a:ea typeface="微软雅黑" panose="020B0503020204020204" pitchFamily="34" charset="-122"/>
                              </a:rPr>
                              <m:t>k</m:t>
                            </m:r>
                            <m:r>
                              <m:rPr>
                                <m:nor/>
                              </m:rPr>
                              <a:rPr lang="en-US" altLang="zh-CN" sz="1600" b="1" dirty="0">
                                <a:solidFill>
                                  <a:schemeClr val="accent2"/>
                                </a:solidFill>
                                <a:latin typeface="微软雅黑" panose="020B0503020204020204" pitchFamily="34" charset="-122"/>
                                <a:ea typeface="微软雅黑" panose="020B0503020204020204" pitchFamily="34" charset="-122"/>
                              </a:rPr>
                              <m:t>−1],</m:t>
                            </m:r>
                            <m:r>
                              <m:rPr>
                                <m:nor/>
                              </m:rPr>
                              <a:rPr lang="en-US" altLang="zh-CN" sz="1600" b="1" dirty="0">
                                <a:solidFill>
                                  <a:schemeClr val="accent2"/>
                                </a:solidFill>
                                <a:latin typeface="微软雅黑" panose="020B0503020204020204" pitchFamily="34" charset="-122"/>
                                <a:ea typeface="微软雅黑" panose="020B0503020204020204" pitchFamily="34" charset="-122"/>
                              </a:rPr>
                              <m:t>k</m:t>
                            </m:r>
                            <m:r>
                              <m:rPr>
                                <m:nor/>
                              </m:rPr>
                              <a:rPr lang="en-US" altLang="zh-CN" sz="1600" b="1" dirty="0">
                                <a:solidFill>
                                  <a:schemeClr val="accent2"/>
                                </a:solidFill>
                                <a:latin typeface="微软雅黑" panose="020B0503020204020204" pitchFamily="34" charset="-122"/>
                                <a:ea typeface="微软雅黑" panose="020B0503020204020204" pitchFamily="34" charset="-122"/>
                              </a:rPr>
                              <m:t>−1,0)</m:t>
                            </m:r>
                          </m:e>
                          <m:e>
                            <m:r>
                              <m:rPr>
                                <m:nor/>
                              </m:rPr>
                              <a:rPr lang="en-US" altLang="zh-CN" sz="1600" b="1" dirty="0">
                                <a:solidFill>
                                  <a:schemeClr val="accent2"/>
                                </a:solidFill>
                                <a:latin typeface="微软雅黑" panose="020B0503020204020204" pitchFamily="34" charset="-122"/>
                                <a:ea typeface="微软雅黑" panose="020B0503020204020204" pitchFamily="34" charset="-122"/>
                              </a:rPr>
                              <m:t>max</m:t>
                            </m:r>
                            <m:r>
                              <m:rPr>
                                <m:nor/>
                              </m:rPr>
                              <a:rPr lang="en-US" altLang="zh-CN" sz="1600" b="1" dirty="0">
                                <a:solidFill>
                                  <a:schemeClr val="accent2"/>
                                </a:solidFill>
                                <a:latin typeface="微软雅黑" panose="020B0503020204020204" pitchFamily="34" charset="-122"/>
                                <a:ea typeface="微软雅黑" panose="020B0503020204020204" pitchFamily="34" charset="-122"/>
                              </a:rPr>
                              <m:t>(</m:t>
                            </m:r>
                            <m:r>
                              <m:rPr>
                                <m:nor/>
                              </m:rPr>
                              <a:rPr lang="en-US" altLang="zh-CN" sz="1600" b="1" dirty="0">
                                <a:solidFill>
                                  <a:schemeClr val="accent2"/>
                                </a:solidFill>
                                <a:latin typeface="微软雅黑" panose="020B0503020204020204" pitchFamily="34" charset="-122"/>
                                <a:ea typeface="微软雅黑" panose="020B0503020204020204" pitchFamily="34" charset="-122"/>
                              </a:rPr>
                              <m:t>G</m:t>
                            </m:r>
                            <m:r>
                              <m:rPr>
                                <m:nor/>
                              </m:rPr>
                              <a:rPr lang="en-US" altLang="zh-CN" sz="1600" b="1" dirty="0">
                                <a:solidFill>
                                  <a:schemeClr val="accent2"/>
                                </a:solidFill>
                                <a:latin typeface="微软雅黑" panose="020B0503020204020204" pitchFamily="34" charset="-122"/>
                                <a:ea typeface="微软雅黑" panose="020B0503020204020204" pitchFamily="34" charset="-122"/>
                              </a:rPr>
                              <m:t>[</m:t>
                            </m:r>
                            <m:r>
                              <m:rPr>
                                <m:nor/>
                              </m:rPr>
                              <a:rPr lang="en-US" altLang="zh-CN" sz="1600" b="1" dirty="0">
                                <a:solidFill>
                                  <a:schemeClr val="accent2"/>
                                </a:solidFill>
                                <a:latin typeface="微软雅黑" panose="020B0503020204020204" pitchFamily="34" charset="-122"/>
                                <a:ea typeface="微软雅黑" panose="020B0503020204020204" pitchFamily="34" charset="-122"/>
                              </a:rPr>
                              <m:t>x</m:t>
                            </m:r>
                            <m:r>
                              <m:rPr>
                                <m:nor/>
                              </m:rPr>
                              <a:rPr lang="en-US" altLang="zh-CN" sz="1600" b="1" dirty="0">
                                <a:solidFill>
                                  <a:schemeClr val="accent2"/>
                                </a:solidFill>
                                <a:latin typeface="微软雅黑" panose="020B0503020204020204" pitchFamily="34" charset="-122"/>
                                <a:ea typeface="微软雅黑" panose="020B0503020204020204" pitchFamily="34" charset="-122"/>
                              </a:rPr>
                              <m:t>,</m:t>
                            </m:r>
                            <m:r>
                              <m:rPr>
                                <m:nor/>
                              </m:rPr>
                              <a:rPr lang="en-US" altLang="zh-CN" sz="1600" b="1" dirty="0">
                                <a:solidFill>
                                  <a:schemeClr val="accent2"/>
                                </a:solidFill>
                                <a:latin typeface="微软雅黑" panose="020B0503020204020204" pitchFamily="34" charset="-122"/>
                                <a:ea typeface="微软雅黑" panose="020B0503020204020204" pitchFamily="34" charset="-122"/>
                              </a:rPr>
                              <m:t>k</m:t>
                            </m:r>
                            <m:r>
                              <m:rPr>
                                <m:nor/>
                              </m:rPr>
                              <a:rPr lang="en-US" altLang="zh-CN" sz="1600" b="1" dirty="0">
                                <a:solidFill>
                                  <a:schemeClr val="accent2"/>
                                </a:solidFill>
                                <a:latin typeface="微软雅黑" panose="020B0503020204020204" pitchFamily="34" charset="-122"/>
                                <a:ea typeface="微软雅黑" panose="020B0503020204020204" pitchFamily="34" charset="-122"/>
                              </a:rPr>
                              <m:t>−1,1],</m:t>
                            </m:r>
                            <m:r>
                              <m:rPr>
                                <m:nor/>
                              </m:rPr>
                              <a:rPr lang="en-US" altLang="zh-CN" sz="1600" b="1" dirty="0">
                                <a:solidFill>
                                  <a:schemeClr val="accent2"/>
                                </a:solidFill>
                                <a:latin typeface="微软雅黑" panose="020B0503020204020204" pitchFamily="34" charset="-122"/>
                                <a:ea typeface="微软雅黑" panose="020B0503020204020204" pitchFamily="34" charset="-122"/>
                              </a:rPr>
                              <m:t>G</m:t>
                            </m:r>
                            <m:r>
                              <m:rPr>
                                <m:nor/>
                              </m:rPr>
                              <a:rPr lang="en-US" altLang="zh-CN" sz="1600" b="1" dirty="0">
                                <a:solidFill>
                                  <a:schemeClr val="accent2"/>
                                </a:solidFill>
                                <a:latin typeface="微软雅黑" panose="020B0503020204020204" pitchFamily="34" charset="-122"/>
                                <a:ea typeface="微软雅黑" panose="020B0503020204020204" pitchFamily="34" charset="-122"/>
                              </a:rPr>
                              <m:t>[</m:t>
                            </m:r>
                            <m:r>
                              <m:rPr>
                                <m:nor/>
                              </m:rPr>
                              <a:rPr lang="en-US" altLang="zh-CN" sz="1600" b="1" i="0" dirty="0" smtClean="0">
                                <a:solidFill>
                                  <a:schemeClr val="accent2"/>
                                </a:solidFill>
                                <a:latin typeface="微软雅黑" panose="020B0503020204020204" pitchFamily="34" charset="-122"/>
                                <a:ea typeface="微软雅黑" panose="020B0503020204020204" pitchFamily="34" charset="-122"/>
                              </a:rPr>
                              <m:t>F</m:t>
                            </m:r>
                            <m:r>
                              <m:rPr>
                                <m:nor/>
                              </m:rPr>
                              <a:rPr lang="en-US" altLang="zh-CN" sz="1600" b="1" dirty="0">
                                <a:solidFill>
                                  <a:schemeClr val="accent2"/>
                                </a:solidFill>
                                <a:latin typeface="微软雅黑" panose="020B0503020204020204" pitchFamily="34" charset="-122"/>
                                <a:ea typeface="微软雅黑" panose="020B0503020204020204" pitchFamily="34" charset="-122"/>
                              </a:rPr>
                              <m:t>[</m:t>
                            </m:r>
                            <m:r>
                              <m:rPr>
                                <m:nor/>
                              </m:rPr>
                              <a:rPr lang="en-US" altLang="zh-CN" sz="1600" b="1" dirty="0">
                                <a:solidFill>
                                  <a:schemeClr val="accent2"/>
                                </a:solidFill>
                                <a:latin typeface="微软雅黑" panose="020B0503020204020204" pitchFamily="34" charset="-122"/>
                                <a:ea typeface="微软雅黑" panose="020B0503020204020204" pitchFamily="34" charset="-122"/>
                              </a:rPr>
                              <m:t>x</m:t>
                            </m:r>
                            <m:r>
                              <m:rPr>
                                <m:nor/>
                              </m:rPr>
                              <a:rPr lang="en-US" altLang="zh-CN" sz="1600" b="1" dirty="0">
                                <a:solidFill>
                                  <a:schemeClr val="accent2"/>
                                </a:solidFill>
                                <a:latin typeface="微软雅黑" panose="020B0503020204020204" pitchFamily="34" charset="-122"/>
                                <a:ea typeface="微软雅黑" panose="020B0503020204020204" pitchFamily="34" charset="-122"/>
                              </a:rPr>
                              <m:t>,</m:t>
                            </m:r>
                            <m:r>
                              <m:rPr>
                                <m:nor/>
                              </m:rPr>
                              <a:rPr lang="en-US" altLang="zh-CN" sz="1600" b="1" dirty="0">
                                <a:solidFill>
                                  <a:schemeClr val="accent2"/>
                                </a:solidFill>
                                <a:latin typeface="微软雅黑" panose="020B0503020204020204" pitchFamily="34" charset="-122"/>
                                <a:ea typeface="微软雅黑" panose="020B0503020204020204" pitchFamily="34" charset="-122"/>
                              </a:rPr>
                              <m:t>k</m:t>
                            </m:r>
                            <m:r>
                              <m:rPr>
                                <m:nor/>
                              </m:rPr>
                              <a:rPr lang="en-US" altLang="zh-CN" sz="1600" b="1" dirty="0">
                                <a:solidFill>
                                  <a:schemeClr val="accent2"/>
                                </a:solidFill>
                                <a:latin typeface="微软雅黑" panose="020B0503020204020204" pitchFamily="34" charset="-122"/>
                                <a:ea typeface="微软雅黑" panose="020B0503020204020204" pitchFamily="34" charset="-122"/>
                              </a:rPr>
                              <m:t>−1],</m:t>
                            </m:r>
                            <m:r>
                              <m:rPr>
                                <m:nor/>
                              </m:rPr>
                              <a:rPr lang="en-US" altLang="zh-CN" sz="1600" b="1" dirty="0">
                                <a:solidFill>
                                  <a:schemeClr val="accent2"/>
                                </a:solidFill>
                                <a:latin typeface="微软雅黑" panose="020B0503020204020204" pitchFamily="34" charset="-122"/>
                                <a:ea typeface="微软雅黑" panose="020B0503020204020204" pitchFamily="34" charset="-122"/>
                              </a:rPr>
                              <m:t>k</m:t>
                            </m:r>
                            <m:r>
                              <m:rPr>
                                <m:nor/>
                              </m:rPr>
                              <a:rPr lang="en-US" altLang="zh-CN" sz="1600" b="1" dirty="0">
                                <a:solidFill>
                                  <a:schemeClr val="accent2"/>
                                </a:solidFill>
                                <a:latin typeface="微软雅黑" panose="020B0503020204020204" pitchFamily="34" charset="-122"/>
                                <a:ea typeface="微软雅黑" panose="020B0503020204020204" pitchFamily="34" charset="-122"/>
                              </a:rPr>
                              <m:t>−1,0]) </m:t>
                            </m:r>
                            <m:r>
                              <m:rPr>
                                <m:nor/>
                              </m:rPr>
                              <a:rPr lang="en-US" altLang="zh-CN" sz="1600" b="1" dirty="0">
                                <a:solidFill>
                                  <a:schemeClr val="accent2"/>
                                </a:solidFill>
                                <a:latin typeface="微软雅黑" panose="020B0503020204020204" pitchFamily="34" charset="-122"/>
                                <a:ea typeface="微软雅黑" panose="020B0503020204020204" pitchFamily="34" charset="-122"/>
                              </a:rPr>
                              <m:t>G</m:t>
                            </m:r>
                            <m:r>
                              <m:rPr>
                                <m:nor/>
                              </m:rPr>
                              <a:rPr lang="en-US" altLang="zh-CN" sz="1600" b="1" dirty="0">
                                <a:solidFill>
                                  <a:schemeClr val="accent2"/>
                                </a:solidFill>
                                <a:latin typeface="微软雅黑" panose="020B0503020204020204" pitchFamily="34" charset="-122"/>
                                <a:ea typeface="微软雅黑" panose="020B0503020204020204" pitchFamily="34" charset="-122"/>
                              </a:rPr>
                              <m:t>[</m:t>
                            </m:r>
                            <m:r>
                              <m:rPr>
                                <m:nor/>
                              </m:rPr>
                              <a:rPr lang="en-US" altLang="zh-CN" sz="1600" b="1" dirty="0">
                                <a:solidFill>
                                  <a:schemeClr val="accent2"/>
                                </a:solidFill>
                                <a:latin typeface="微软雅黑" panose="020B0503020204020204" pitchFamily="34" charset="-122"/>
                                <a:ea typeface="微软雅黑" panose="020B0503020204020204" pitchFamily="34" charset="-122"/>
                              </a:rPr>
                              <m:t>x</m:t>
                            </m:r>
                            <m:r>
                              <m:rPr>
                                <m:nor/>
                              </m:rPr>
                              <a:rPr lang="en-US" altLang="zh-CN" sz="1600" b="1" dirty="0">
                                <a:solidFill>
                                  <a:schemeClr val="accent2"/>
                                </a:solidFill>
                                <a:latin typeface="微软雅黑" panose="020B0503020204020204" pitchFamily="34" charset="-122"/>
                                <a:ea typeface="微软雅黑" panose="020B0503020204020204" pitchFamily="34" charset="-122"/>
                              </a:rPr>
                              <m:t>,</m:t>
                            </m:r>
                            <m:r>
                              <m:rPr>
                                <m:nor/>
                              </m:rPr>
                              <a:rPr lang="en-US" altLang="zh-CN" sz="1600" b="1" dirty="0">
                                <a:solidFill>
                                  <a:schemeClr val="accent2"/>
                                </a:solidFill>
                                <a:latin typeface="微软雅黑" panose="020B0503020204020204" pitchFamily="34" charset="-122"/>
                                <a:ea typeface="微软雅黑" panose="020B0503020204020204" pitchFamily="34" charset="-122"/>
                              </a:rPr>
                              <m:t>k</m:t>
                            </m:r>
                            <m:r>
                              <m:rPr>
                                <m:nor/>
                              </m:rPr>
                              <a:rPr lang="en-US" altLang="zh-CN" sz="1600" b="1" dirty="0">
                                <a:solidFill>
                                  <a:schemeClr val="accent2"/>
                                </a:solidFill>
                                <a:latin typeface="微软雅黑" panose="020B0503020204020204" pitchFamily="34" charset="-122"/>
                                <a:ea typeface="微软雅黑" panose="020B0503020204020204" pitchFamily="34" charset="-122"/>
                              </a:rPr>
                              <m:t>−1,0]&gt;</m:t>
                            </m:r>
                            <m:r>
                              <m:rPr>
                                <m:nor/>
                              </m:rPr>
                              <a:rPr lang="en-US" altLang="zh-CN" sz="1600" b="1" dirty="0">
                                <a:solidFill>
                                  <a:schemeClr val="accent2"/>
                                </a:solidFill>
                                <a:latin typeface="微软雅黑" panose="020B0503020204020204" pitchFamily="34" charset="-122"/>
                                <a:ea typeface="微软雅黑" panose="020B0503020204020204" pitchFamily="34" charset="-122"/>
                              </a:rPr>
                              <m:t>G</m:t>
                            </m:r>
                            <m:r>
                              <m:rPr>
                                <m:nor/>
                              </m:rPr>
                              <a:rPr lang="en-US" altLang="zh-CN" sz="1600" b="1" dirty="0">
                                <a:solidFill>
                                  <a:schemeClr val="accent2"/>
                                </a:solidFill>
                                <a:latin typeface="微软雅黑" panose="020B0503020204020204" pitchFamily="34" charset="-122"/>
                                <a:ea typeface="微软雅黑" panose="020B0503020204020204" pitchFamily="34" charset="-122"/>
                              </a:rPr>
                              <m:t>[</m:t>
                            </m:r>
                            <m:r>
                              <m:rPr>
                                <m:nor/>
                              </m:rPr>
                              <a:rPr lang="en-US" altLang="zh-CN" sz="1600" b="1" dirty="0">
                                <a:solidFill>
                                  <a:schemeClr val="accent2"/>
                                </a:solidFill>
                                <a:latin typeface="微软雅黑" panose="020B0503020204020204" pitchFamily="34" charset="-122"/>
                                <a:ea typeface="微软雅黑" panose="020B0503020204020204" pitchFamily="34" charset="-122"/>
                              </a:rPr>
                              <m:t>F</m:t>
                            </m:r>
                            <m:r>
                              <m:rPr>
                                <m:nor/>
                              </m:rPr>
                              <a:rPr lang="en-US" altLang="zh-CN" sz="1600" b="1" dirty="0">
                                <a:solidFill>
                                  <a:schemeClr val="accent2"/>
                                </a:solidFill>
                                <a:latin typeface="微软雅黑" panose="020B0503020204020204" pitchFamily="34" charset="-122"/>
                                <a:ea typeface="微软雅黑" panose="020B0503020204020204" pitchFamily="34" charset="-122"/>
                              </a:rPr>
                              <m:t>[</m:t>
                            </m:r>
                            <m:r>
                              <m:rPr>
                                <m:nor/>
                              </m:rPr>
                              <a:rPr lang="en-US" altLang="zh-CN" sz="1600" b="1" dirty="0">
                                <a:solidFill>
                                  <a:schemeClr val="accent2"/>
                                </a:solidFill>
                                <a:latin typeface="微软雅黑" panose="020B0503020204020204" pitchFamily="34" charset="-122"/>
                                <a:ea typeface="微软雅黑" panose="020B0503020204020204" pitchFamily="34" charset="-122"/>
                              </a:rPr>
                              <m:t>x</m:t>
                            </m:r>
                            <m:r>
                              <m:rPr>
                                <m:nor/>
                              </m:rPr>
                              <a:rPr lang="en-US" altLang="zh-CN" sz="1600" b="1" dirty="0">
                                <a:solidFill>
                                  <a:schemeClr val="accent2"/>
                                </a:solidFill>
                                <a:latin typeface="微软雅黑" panose="020B0503020204020204" pitchFamily="34" charset="-122"/>
                                <a:ea typeface="微软雅黑" panose="020B0503020204020204" pitchFamily="34" charset="-122"/>
                              </a:rPr>
                              <m:t>,</m:t>
                            </m:r>
                            <m:r>
                              <m:rPr>
                                <m:nor/>
                              </m:rPr>
                              <a:rPr lang="en-US" altLang="zh-CN" sz="1600" b="1" dirty="0">
                                <a:solidFill>
                                  <a:schemeClr val="accent2"/>
                                </a:solidFill>
                                <a:latin typeface="微软雅黑" panose="020B0503020204020204" pitchFamily="34" charset="-122"/>
                                <a:ea typeface="微软雅黑" panose="020B0503020204020204" pitchFamily="34" charset="-122"/>
                              </a:rPr>
                              <m:t>k</m:t>
                            </m:r>
                            <m:r>
                              <m:rPr>
                                <m:nor/>
                              </m:rPr>
                              <a:rPr lang="en-US" altLang="zh-CN" sz="1600" b="1" dirty="0">
                                <a:solidFill>
                                  <a:schemeClr val="accent2"/>
                                </a:solidFill>
                                <a:latin typeface="微软雅黑" panose="020B0503020204020204" pitchFamily="34" charset="-122"/>
                                <a:ea typeface="微软雅黑" panose="020B0503020204020204" pitchFamily="34" charset="-122"/>
                              </a:rPr>
                              <m:t>−1],</m:t>
                            </m:r>
                            <m:r>
                              <m:rPr>
                                <m:nor/>
                              </m:rPr>
                              <a:rPr lang="en-US" altLang="zh-CN" sz="1600" b="1" dirty="0">
                                <a:solidFill>
                                  <a:schemeClr val="accent2"/>
                                </a:solidFill>
                                <a:latin typeface="微软雅黑" panose="020B0503020204020204" pitchFamily="34" charset="-122"/>
                                <a:ea typeface="微软雅黑" panose="020B0503020204020204" pitchFamily="34" charset="-122"/>
                              </a:rPr>
                              <m:t>k</m:t>
                            </m:r>
                            <m:r>
                              <m:rPr>
                                <m:nor/>
                              </m:rPr>
                              <a:rPr lang="en-US" altLang="zh-CN" sz="1600" b="1" dirty="0">
                                <a:solidFill>
                                  <a:schemeClr val="accent2"/>
                                </a:solidFill>
                                <a:latin typeface="微软雅黑" panose="020B0503020204020204" pitchFamily="34" charset="-122"/>
                                <a:ea typeface="微软雅黑" panose="020B0503020204020204" pitchFamily="34" charset="-122"/>
                              </a:rPr>
                              <m:t>−1,0]</m:t>
                            </m:r>
                          </m:e>
                        </m:eqArr>
                      </m:e>
                    </m:d>
                  </m:oMath>
                </a14:m>
                <a:endParaRPr lang="en-US" altLang="zh-CN" sz="1600" b="1" dirty="0">
                  <a:solidFill>
                    <a:schemeClr val="accent2"/>
                  </a:solidFill>
                  <a:latin typeface="微软雅黑" panose="020B0503020204020204" pitchFamily="34" charset="-122"/>
                  <a:ea typeface="微软雅黑" panose="020B0503020204020204" pitchFamily="34" charset="-122"/>
                </a:endParaRPr>
              </a:p>
            </p:txBody>
          </p:sp>
        </mc:Choice>
        <mc:Fallback>
          <p:sp>
            <p:nvSpPr>
              <p:cNvPr id="6" name="文本框 5">
                <a:extLst>
                  <a:ext uri="{FF2B5EF4-FFF2-40B4-BE49-F238E27FC236}">
                    <a16:creationId xmlns:a16="http://schemas.microsoft.com/office/drawing/2014/main" id="{1E5017F1-3489-6BAE-9865-2476A2A44E20}"/>
                  </a:ext>
                </a:extLst>
              </p:cNvPr>
              <p:cNvSpPr txBox="1">
                <a:spLocks noRot="1" noChangeAspect="1" noMove="1" noResize="1" noEditPoints="1" noAdjustHandles="1" noChangeArrowheads="1" noChangeShapeType="1" noTextEdit="1"/>
              </p:cNvSpPr>
              <p:nvPr/>
            </p:nvSpPr>
            <p:spPr>
              <a:xfrm>
                <a:off x="1104900" y="1173162"/>
                <a:ext cx="9980681" cy="1687898"/>
              </a:xfrm>
              <a:prstGeom prst="rect">
                <a:avLst/>
              </a:prstGeom>
              <a:blipFill>
                <a:blip r:embed="rId2"/>
                <a:stretch>
                  <a:fillRect l="-30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文本框 4">
                <a:extLst>
                  <a:ext uri="{FF2B5EF4-FFF2-40B4-BE49-F238E27FC236}">
                    <a16:creationId xmlns:a16="http://schemas.microsoft.com/office/drawing/2014/main" id="{CB075BFB-10C1-A40F-D993-6EBED20B6E37}"/>
                  </a:ext>
                </a:extLst>
              </p:cNvPr>
              <p:cNvSpPr txBox="1"/>
              <p:nvPr/>
            </p:nvSpPr>
            <p:spPr>
              <a:xfrm>
                <a:off x="1104899" y="2830094"/>
                <a:ext cx="9980681" cy="3957622"/>
              </a:xfrm>
              <a:prstGeom prst="rect">
                <a:avLst/>
              </a:prstGeom>
              <a:noFill/>
            </p:spPr>
            <p:txBody>
              <a:bodyPr wrap="square">
                <a:spAutoFit/>
              </a:bodyPr>
              <a:lstStyle/>
              <a:p>
                <a:pPr>
                  <a:lnSpc>
                    <a:spcPct val="200000"/>
                  </a:lnSpc>
                </a:pPr>
                <a:r>
                  <a:rPr lang="zh-CN" altLang="en-US" sz="1600" dirty="0">
                    <a:latin typeface="微软雅黑" panose="020B0503020204020204" pitchFamily="34" charset="-122"/>
                    <a:ea typeface="微软雅黑" panose="020B0503020204020204" pitchFamily="34" charset="-122"/>
                  </a:rPr>
                  <a:t>当</a:t>
                </a:r>
                <a:r>
                  <a:rPr lang="en-US" altLang="zh-CN" sz="1600" dirty="0">
                    <a:latin typeface="微软雅黑" panose="020B0503020204020204" pitchFamily="34" charset="-122"/>
                    <a:ea typeface="微软雅黑" panose="020B0503020204020204" pitchFamily="34" charset="-122"/>
                  </a:rPr>
                  <a:t>k=0</a:t>
                </a:r>
                <a:r>
                  <a:rPr lang="zh-CN" altLang="en-US" sz="1600" dirty="0">
                    <a:latin typeface="微软雅黑" panose="020B0503020204020204" pitchFamily="34" charset="-122"/>
                    <a:ea typeface="微软雅黑" panose="020B0503020204020204" pitchFamily="34" charset="-122"/>
                  </a:rPr>
                  <a:t>时，有初值：</a:t>
                </a:r>
                <a:endParaRPr lang="en-US" altLang="zh-CN" sz="1600" dirty="0">
                  <a:latin typeface="微软雅黑" panose="020B0503020204020204" pitchFamily="34" charset="-122"/>
                  <a:ea typeface="微软雅黑" panose="020B0503020204020204" pitchFamily="34" charset="-122"/>
                </a:endParaRPr>
              </a:p>
              <a:p>
                <a:pPr>
                  <a:lnSpc>
                    <a:spcPct val="200000"/>
                  </a:lnSpc>
                </a:pPr>
                <a:r>
                  <a:rPr lang="en-US" altLang="zh-CN" sz="1600" dirty="0">
                    <a:latin typeface="微软雅黑" panose="020B0503020204020204" pitchFamily="34" charset="-122"/>
                    <a:ea typeface="微软雅黑" panose="020B0503020204020204" pitchFamily="34" charset="-122"/>
                  </a:rPr>
                  <a:t>F[x,0]=father[x];</a:t>
                </a:r>
              </a:p>
              <a:p>
                <a:pPr>
                  <a:lnSpc>
                    <a:spcPct val="200000"/>
                  </a:lnSpc>
                </a:pPr>
                <a:r>
                  <a:rPr lang="en-US" altLang="zh-CN" sz="1600" dirty="0">
                    <a:latin typeface="微软雅黑" panose="020B0503020204020204" pitchFamily="34" charset="-122"/>
                    <a:ea typeface="微软雅黑" panose="020B0503020204020204" pitchFamily="34" charset="-122"/>
                  </a:rPr>
                  <a:t>G[x,0,0]=edge(</a:t>
                </a:r>
                <a:r>
                  <a:rPr lang="en-US" altLang="zh-CN" sz="1600" dirty="0" err="1">
                    <a:latin typeface="微软雅黑" panose="020B0503020204020204" pitchFamily="34" charset="-122"/>
                    <a:ea typeface="微软雅黑" panose="020B0503020204020204" pitchFamily="34" charset="-122"/>
                  </a:rPr>
                  <a:t>x,father</a:t>
                </a:r>
                <a:r>
                  <a:rPr lang="en-US" altLang="zh-CN" sz="1600" dirty="0">
                    <a:latin typeface="微软雅黑" panose="020B0503020204020204" pitchFamily="34" charset="-122"/>
                    <a:ea typeface="微软雅黑" panose="020B0503020204020204" pitchFamily="34" charset="-122"/>
                  </a:rPr>
                  <a:t>(x))</a:t>
                </a:r>
              </a:p>
              <a:p>
                <a:pPr>
                  <a:lnSpc>
                    <a:spcPct val="200000"/>
                  </a:lnSpc>
                </a:pPr>
                <a:r>
                  <a:rPr lang="en-US" altLang="zh-CN" sz="1600" dirty="0">
                    <a:latin typeface="微软雅黑" panose="020B0503020204020204" pitchFamily="34" charset="-122"/>
                    <a:ea typeface="微软雅黑" panose="020B0503020204020204" pitchFamily="34" charset="-122"/>
                  </a:rPr>
                  <a:t>G[x,0,1]=</a:t>
                </a:r>
                <a14:m>
                  <m:oMath xmlns:m="http://schemas.openxmlformats.org/officeDocument/2006/math">
                    <m:r>
                      <a:rPr lang="en-US" altLang="zh-CN" sz="1600" b="0" i="0" smtClean="0">
                        <a:latin typeface="Cambria Math" panose="02040503050406030204" pitchFamily="18" charset="0"/>
                        <a:ea typeface="Cambria Math" panose="02040503050406030204" pitchFamily="18" charset="0"/>
                      </a:rPr>
                      <m:t>−</m:t>
                    </m:r>
                    <m:r>
                      <a:rPr lang="en-US" altLang="zh-CN" sz="1600" i="1" smtClean="0">
                        <a:latin typeface="Cambria Math" panose="02040503050406030204" pitchFamily="18" charset="0"/>
                        <a:ea typeface="Cambria Math" panose="02040503050406030204" pitchFamily="18" charset="0"/>
                      </a:rPr>
                      <m:t>∞</m:t>
                    </m:r>
                  </m:oMath>
                </a14:m>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不存在次大值</a:t>
                </a:r>
                <a:r>
                  <a:rPr lang="en-US" altLang="zh-CN" sz="1600" dirty="0">
                    <a:latin typeface="微软雅黑" panose="020B0503020204020204" pitchFamily="34" charset="-122"/>
                    <a:ea typeface="微软雅黑" panose="020B0503020204020204" pitchFamily="34" charset="-122"/>
                  </a:rPr>
                  <a:t>)</a:t>
                </a:r>
              </a:p>
              <a:p>
                <a:pPr>
                  <a:lnSpc>
                    <a:spcPct val="200000"/>
                  </a:lnSpc>
                </a:pPr>
                <a:r>
                  <a:rPr lang="zh-CN" altLang="en-US" sz="1600" dirty="0">
                    <a:latin typeface="微软雅黑" panose="020B0503020204020204" pitchFamily="34" charset="-122"/>
                    <a:ea typeface="微软雅黑" panose="020B0503020204020204" pitchFamily="34" charset="-122"/>
                  </a:rPr>
                  <a:t>接下来，我们考虑每条非树边</a:t>
                </a:r>
                <a:r>
                  <a:rPr lang="en-US" altLang="zh-CN" sz="1600" dirty="0">
                    <a:latin typeface="微软雅黑" panose="020B0503020204020204" pitchFamily="34" charset="-122"/>
                    <a:ea typeface="微软雅黑" panose="020B0503020204020204" pitchFamily="34" charset="-122"/>
                  </a:rPr>
                  <a:t>(</a:t>
                </a:r>
                <a:r>
                  <a:rPr lang="en-US" altLang="zh-CN" sz="1600" dirty="0" err="1">
                    <a:latin typeface="微软雅黑" panose="020B0503020204020204" pitchFamily="34" charset="-122"/>
                    <a:ea typeface="微软雅黑" panose="020B0503020204020204" pitchFamily="34" charset="-122"/>
                  </a:rPr>
                  <a:t>x,y,z</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采用倍增计算</a:t>
                </a:r>
                <a:r>
                  <a:rPr lang="en-US" altLang="zh-CN" sz="1600" dirty="0">
                    <a:latin typeface="微软雅黑" panose="020B0503020204020204" pitchFamily="34" charset="-122"/>
                    <a:ea typeface="微软雅黑" panose="020B0503020204020204" pitchFamily="34" charset="-122"/>
                  </a:rPr>
                  <a:t>LCA(</a:t>
                </a:r>
                <a:r>
                  <a:rPr lang="en-US" altLang="zh-CN" sz="1600" dirty="0" err="1">
                    <a:latin typeface="微软雅黑" panose="020B0503020204020204" pitchFamily="34" charset="-122"/>
                    <a:ea typeface="微软雅黑" panose="020B0503020204020204" pitchFamily="34" charset="-122"/>
                  </a:rPr>
                  <a:t>x,y</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的框架，</a:t>
                </a:r>
                <a:r>
                  <a:rPr lang="en-US" altLang="zh-CN" sz="1600" dirty="0" err="1">
                    <a:latin typeface="微软雅黑" panose="020B0503020204020204" pitchFamily="34" charset="-122"/>
                    <a:ea typeface="微软雅黑" panose="020B0503020204020204" pitchFamily="34" charset="-122"/>
                  </a:rPr>
                  <a:t>x,y</a:t>
                </a:r>
                <a:r>
                  <a:rPr lang="zh-CN" altLang="en-US" sz="1600" dirty="0">
                    <a:latin typeface="微软雅黑" panose="020B0503020204020204" pitchFamily="34" charset="-122"/>
                    <a:ea typeface="微软雅黑" panose="020B0503020204020204" pitchFamily="34" charset="-122"/>
                  </a:rPr>
                  <a:t>每向上移动一段路径，就把该段路径对应的最大权值、严格次大边权按照与</a:t>
                </a:r>
                <a:r>
                  <a:rPr lang="en-US" altLang="zh-CN" sz="1600" dirty="0">
                    <a:latin typeface="微软雅黑" panose="020B0503020204020204" pitchFamily="34" charset="-122"/>
                    <a:ea typeface="微软雅黑" panose="020B0503020204020204" pitchFamily="34" charset="-122"/>
                  </a:rPr>
                  <a:t>F</a:t>
                </a:r>
                <a:r>
                  <a:rPr lang="zh-CN" altLang="en-US" sz="1600" dirty="0">
                    <a:latin typeface="微软雅黑" panose="020B0503020204020204" pitchFamily="34" charset="-122"/>
                    <a:ea typeface="微软雅黑" panose="020B0503020204020204" pitchFamily="34" charset="-122"/>
                  </a:rPr>
                  <a:t>数组类似的方法合并到答案中，最后即可得到树上</a:t>
                </a:r>
                <a:r>
                  <a:rPr lang="en-US" altLang="zh-CN" sz="1600" dirty="0" err="1">
                    <a:latin typeface="微软雅黑" panose="020B0503020204020204" pitchFamily="34" charset="-122"/>
                    <a:ea typeface="微软雅黑" panose="020B0503020204020204" pitchFamily="34" charset="-122"/>
                  </a:rPr>
                  <a:t>x,y</a:t>
                </a:r>
                <a:r>
                  <a:rPr lang="zh-CN" altLang="en-US" sz="1600" dirty="0">
                    <a:latin typeface="微软雅黑" panose="020B0503020204020204" pitchFamily="34" charset="-122"/>
                    <a:ea typeface="微软雅黑" panose="020B0503020204020204" pitchFamily="34" charset="-122"/>
                  </a:rPr>
                  <a:t>之间的路径上的最大边权、严格次大边权。</a:t>
                </a:r>
                <a:endParaRPr lang="en-US" altLang="zh-CN" sz="1600" dirty="0">
                  <a:latin typeface="微软雅黑" panose="020B0503020204020204" pitchFamily="34" charset="-122"/>
                  <a:ea typeface="微软雅黑" panose="020B0503020204020204" pitchFamily="34" charset="-122"/>
                </a:endParaRPr>
              </a:p>
              <a:p>
                <a:pPr>
                  <a:lnSpc>
                    <a:spcPct val="200000"/>
                  </a:lnSpc>
                </a:pPr>
                <a:r>
                  <a:rPr lang="zh-CN" altLang="en-US" sz="1600" dirty="0">
                    <a:latin typeface="微软雅黑" panose="020B0503020204020204" pitchFamily="34" charset="-122"/>
                    <a:ea typeface="微软雅黑" panose="020B0503020204020204" pitchFamily="34" charset="-122"/>
                  </a:rPr>
                  <a:t>整个算法时间复杂度</a:t>
                </a:r>
                <a:r>
                  <a:rPr lang="en-US" altLang="zh-CN" sz="1600" b="1" dirty="0">
                    <a:solidFill>
                      <a:schemeClr val="accent2"/>
                    </a:solidFill>
                    <a:latin typeface="微软雅黑" panose="020B0503020204020204" pitchFamily="34" charset="-122"/>
                    <a:ea typeface="微软雅黑" panose="020B0503020204020204" pitchFamily="34" charset="-122"/>
                  </a:rPr>
                  <a:t>O(M</a:t>
                </a:r>
                <a14:m>
                  <m:oMath xmlns:m="http://schemas.openxmlformats.org/officeDocument/2006/math">
                    <m:func>
                      <m:funcPr>
                        <m:ctrlPr>
                          <a:rPr lang="en-US" altLang="zh-CN" sz="1600" b="1" i="1" dirty="0" smtClean="0">
                            <a:solidFill>
                              <a:schemeClr val="accent2"/>
                            </a:solidFill>
                            <a:latin typeface="Cambria Math" panose="02040503050406030204" pitchFamily="18" charset="0"/>
                            <a:ea typeface="Cambria Math" panose="02040503050406030204" pitchFamily="18" charset="0"/>
                          </a:rPr>
                        </m:ctrlPr>
                      </m:funcPr>
                      <m:fName>
                        <m:r>
                          <a:rPr lang="en-US" altLang="zh-CN" sz="1600" b="1" i="0" dirty="0" smtClean="0">
                            <a:solidFill>
                              <a:schemeClr val="accent2"/>
                            </a:solidFill>
                            <a:latin typeface="Cambria Math" panose="02040503050406030204" pitchFamily="18" charset="0"/>
                            <a:ea typeface="Cambria Math" panose="02040503050406030204" pitchFamily="18" charset="0"/>
                          </a:rPr>
                          <m:t>𝐥𝐨𝐠</m:t>
                        </m:r>
                      </m:fName>
                      <m:e>
                        <m:r>
                          <a:rPr lang="en-US" altLang="zh-CN" sz="1600" b="1" i="1" dirty="0" smtClean="0">
                            <a:solidFill>
                              <a:schemeClr val="accent2"/>
                            </a:solidFill>
                            <a:latin typeface="Cambria Math" panose="02040503050406030204" pitchFamily="18" charset="0"/>
                            <a:ea typeface="Cambria Math" panose="02040503050406030204" pitchFamily="18" charset="0"/>
                          </a:rPr>
                          <m:t>𝒏</m:t>
                        </m:r>
                      </m:e>
                    </m:func>
                  </m:oMath>
                </a14:m>
                <a:r>
                  <a:rPr lang="en-US" altLang="zh-CN" sz="1600" b="1" dirty="0">
                    <a:solidFill>
                      <a:schemeClr val="accent2"/>
                    </a:solidFill>
                    <a:latin typeface="微软雅黑" panose="020B0503020204020204" pitchFamily="34" charset="-122"/>
                    <a:ea typeface="微软雅黑" panose="020B0503020204020204" pitchFamily="34" charset="-122"/>
                  </a:rPr>
                  <a:t>)</a:t>
                </a:r>
                <a:endParaRPr lang="en-US" altLang="zh-CN" sz="1600" b="1" dirty="0">
                  <a:latin typeface="微软雅黑" panose="020B0503020204020204" pitchFamily="34" charset="-122"/>
                  <a:ea typeface="微软雅黑" panose="020B0503020204020204" pitchFamily="34" charset="-122"/>
                </a:endParaRPr>
              </a:p>
            </p:txBody>
          </p:sp>
        </mc:Choice>
        <mc:Fallback>
          <p:sp>
            <p:nvSpPr>
              <p:cNvPr id="5" name="文本框 4">
                <a:extLst>
                  <a:ext uri="{FF2B5EF4-FFF2-40B4-BE49-F238E27FC236}">
                    <a16:creationId xmlns:a16="http://schemas.microsoft.com/office/drawing/2014/main" id="{CB075BFB-10C1-A40F-D993-6EBED20B6E37}"/>
                  </a:ext>
                </a:extLst>
              </p:cNvPr>
              <p:cNvSpPr txBox="1">
                <a:spLocks noRot="1" noChangeAspect="1" noMove="1" noResize="1" noEditPoints="1" noAdjustHandles="1" noChangeArrowheads="1" noChangeShapeType="1" noTextEdit="1"/>
              </p:cNvSpPr>
              <p:nvPr/>
            </p:nvSpPr>
            <p:spPr>
              <a:xfrm>
                <a:off x="1104899" y="2830094"/>
                <a:ext cx="9980681" cy="3957622"/>
              </a:xfrm>
              <a:prstGeom prst="rect">
                <a:avLst/>
              </a:prstGeom>
              <a:blipFill>
                <a:blip r:embed="rId3"/>
                <a:stretch>
                  <a:fillRect l="-305" b="-107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276278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最近公共祖先</a:t>
            </a:r>
            <a:r>
              <a:rPr lang="en-US" altLang="zh-CN" dirty="0"/>
              <a:t>LCA</a:t>
            </a:r>
            <a:endParaRPr lang="zh-CN" altLang="en-US" dirty="0"/>
          </a:p>
        </p:txBody>
      </p:sp>
      <p:sp>
        <p:nvSpPr>
          <p:cNvPr id="5" name="文本框 4">
            <a:extLst>
              <a:ext uri="{FF2B5EF4-FFF2-40B4-BE49-F238E27FC236}">
                <a16:creationId xmlns:a16="http://schemas.microsoft.com/office/drawing/2014/main" id="{5BD4960D-F8F3-C34B-0FDF-540E331018B9}"/>
              </a:ext>
            </a:extLst>
          </p:cNvPr>
          <p:cNvSpPr txBox="1"/>
          <p:nvPr/>
        </p:nvSpPr>
        <p:spPr>
          <a:xfrm>
            <a:off x="953982" y="1414854"/>
            <a:ext cx="2117694" cy="369332"/>
          </a:xfrm>
          <a:prstGeom prst="rect">
            <a:avLst/>
          </a:prstGeom>
          <a:noFill/>
        </p:spPr>
        <p:txBody>
          <a:bodyPr wrap="square">
            <a:spAutoFit/>
          </a:bodyPr>
          <a:lstStyle/>
          <a:p>
            <a:r>
              <a:rPr lang="en-US" altLang="zh-CN" b="1" noProof="1">
                <a:solidFill>
                  <a:schemeClr val="accent2"/>
                </a:solidFill>
                <a:latin typeface="微软雅黑" panose="020B0503020204020204" pitchFamily="34" charset="-122"/>
                <a:ea typeface="微软雅黑" panose="020B0503020204020204" pitchFamily="34" charset="-122"/>
              </a:rPr>
              <a:t>【</a:t>
            </a:r>
            <a:r>
              <a:rPr lang="zh-CN" altLang="en-US" b="1" noProof="1">
                <a:solidFill>
                  <a:schemeClr val="accent2"/>
                </a:solidFill>
                <a:latin typeface="微软雅黑" panose="020B0503020204020204" pitchFamily="34" charset="-122"/>
                <a:ea typeface="微软雅黑" panose="020B0503020204020204" pitchFamily="34" charset="-122"/>
              </a:rPr>
              <a:t>参考程序</a:t>
            </a:r>
            <a:r>
              <a:rPr lang="en-US" altLang="zh-CN" b="1" noProof="1">
                <a:solidFill>
                  <a:schemeClr val="accent2"/>
                </a:solidFill>
                <a:latin typeface="微软雅黑" panose="020B0503020204020204" pitchFamily="34" charset="-122"/>
                <a:ea typeface="微软雅黑" panose="020B0503020204020204" pitchFamily="34" charset="-122"/>
              </a:rPr>
              <a:t>】</a:t>
            </a:r>
            <a:endParaRPr lang="zh-CN" altLang="en-US" b="1" noProof="1">
              <a:solidFill>
                <a:schemeClr val="accent2"/>
              </a:solidFill>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64F36B2F-E4D5-41B1-91AE-D4AD84DDB00C}"/>
              </a:ext>
            </a:extLst>
          </p:cNvPr>
          <p:cNvPicPr>
            <a:picLocks noChangeAspect="1"/>
          </p:cNvPicPr>
          <p:nvPr/>
        </p:nvPicPr>
        <p:blipFill rotWithShape="1">
          <a:blip r:embed="rId2" cstate="print"/>
          <a:srcRect t="589"/>
          <a:stretch/>
        </p:blipFill>
        <p:spPr>
          <a:xfrm>
            <a:off x="1142720" y="1897496"/>
            <a:ext cx="5907287" cy="3795937"/>
          </a:xfrm>
          <a:prstGeom prst="rect">
            <a:avLst/>
          </a:prstGeom>
        </p:spPr>
      </p:pic>
    </p:spTree>
    <p:extLst>
      <p:ext uri="{BB962C8B-B14F-4D97-AF65-F5344CB8AC3E}">
        <p14:creationId xmlns:p14="http://schemas.microsoft.com/office/powerpoint/2010/main" val="2006202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最近公共祖先</a:t>
            </a:r>
            <a:r>
              <a:rPr lang="en-US" altLang="zh-CN" dirty="0"/>
              <a:t>LCA</a:t>
            </a:r>
            <a:endParaRPr lang="zh-CN" altLang="en-US" dirty="0"/>
          </a:p>
        </p:txBody>
      </p:sp>
      <p:sp>
        <p:nvSpPr>
          <p:cNvPr id="5" name="文本框 4">
            <a:extLst>
              <a:ext uri="{FF2B5EF4-FFF2-40B4-BE49-F238E27FC236}">
                <a16:creationId xmlns:a16="http://schemas.microsoft.com/office/drawing/2014/main" id="{5BD4960D-F8F3-C34B-0FDF-540E331018B9}"/>
              </a:ext>
            </a:extLst>
          </p:cNvPr>
          <p:cNvSpPr txBox="1"/>
          <p:nvPr/>
        </p:nvSpPr>
        <p:spPr>
          <a:xfrm>
            <a:off x="953982" y="1414854"/>
            <a:ext cx="2117694" cy="369332"/>
          </a:xfrm>
          <a:prstGeom prst="rect">
            <a:avLst/>
          </a:prstGeom>
          <a:noFill/>
        </p:spPr>
        <p:txBody>
          <a:bodyPr wrap="square">
            <a:spAutoFit/>
          </a:bodyPr>
          <a:lstStyle/>
          <a:p>
            <a:r>
              <a:rPr lang="en-US" altLang="zh-CN" b="1" noProof="1">
                <a:solidFill>
                  <a:schemeClr val="accent2"/>
                </a:solidFill>
                <a:latin typeface="微软雅黑" panose="020B0503020204020204" pitchFamily="34" charset="-122"/>
                <a:ea typeface="微软雅黑" panose="020B0503020204020204" pitchFamily="34" charset="-122"/>
              </a:rPr>
              <a:t>【</a:t>
            </a:r>
            <a:r>
              <a:rPr lang="zh-CN" altLang="en-US" b="1" noProof="1">
                <a:solidFill>
                  <a:schemeClr val="accent2"/>
                </a:solidFill>
                <a:latin typeface="微软雅黑" panose="020B0503020204020204" pitchFamily="34" charset="-122"/>
                <a:ea typeface="微软雅黑" panose="020B0503020204020204" pitchFamily="34" charset="-122"/>
              </a:rPr>
              <a:t>参考程序</a:t>
            </a:r>
            <a:r>
              <a:rPr lang="en-US" altLang="zh-CN" b="1" noProof="1">
                <a:solidFill>
                  <a:schemeClr val="accent2"/>
                </a:solidFill>
                <a:latin typeface="微软雅黑" panose="020B0503020204020204" pitchFamily="34" charset="-122"/>
                <a:ea typeface="微软雅黑" panose="020B0503020204020204" pitchFamily="34" charset="-122"/>
              </a:rPr>
              <a:t>】</a:t>
            </a:r>
            <a:endParaRPr lang="zh-CN" altLang="en-US" b="1" noProof="1">
              <a:solidFill>
                <a:schemeClr val="accent2"/>
              </a:solidFill>
              <a:latin typeface="微软雅黑" panose="020B0503020204020204" pitchFamily="34" charset="-122"/>
              <a:ea typeface="微软雅黑" panose="020B0503020204020204" pitchFamily="34" charset="-122"/>
            </a:endParaRPr>
          </a:p>
        </p:txBody>
      </p:sp>
      <p:pic>
        <p:nvPicPr>
          <p:cNvPr id="9" name="图片 8">
            <a:extLst>
              <a:ext uri="{FF2B5EF4-FFF2-40B4-BE49-F238E27FC236}">
                <a16:creationId xmlns:a16="http://schemas.microsoft.com/office/drawing/2014/main" id="{5FB1EACB-26CE-75B2-CE47-DBF1B5F2B672}"/>
              </a:ext>
            </a:extLst>
          </p:cNvPr>
          <p:cNvPicPr>
            <a:picLocks noChangeAspect="1"/>
          </p:cNvPicPr>
          <p:nvPr/>
        </p:nvPicPr>
        <p:blipFill>
          <a:blip r:embed="rId2" cstate="print"/>
          <a:stretch>
            <a:fillRect/>
          </a:stretch>
        </p:blipFill>
        <p:spPr>
          <a:xfrm>
            <a:off x="2429875" y="1319842"/>
            <a:ext cx="5624896" cy="5461958"/>
          </a:xfrm>
          <a:prstGeom prst="rect">
            <a:avLst/>
          </a:prstGeom>
        </p:spPr>
      </p:pic>
    </p:spTree>
    <p:extLst>
      <p:ext uri="{BB962C8B-B14F-4D97-AF65-F5344CB8AC3E}">
        <p14:creationId xmlns:p14="http://schemas.microsoft.com/office/powerpoint/2010/main" val="1256125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最近公共祖先</a:t>
            </a:r>
            <a:r>
              <a:rPr lang="en-US" altLang="zh-CN" dirty="0"/>
              <a:t>LCA</a:t>
            </a:r>
            <a:endParaRPr lang="zh-CN" altLang="en-US" dirty="0"/>
          </a:p>
        </p:txBody>
      </p:sp>
      <p:sp>
        <p:nvSpPr>
          <p:cNvPr id="5" name="文本框 4">
            <a:extLst>
              <a:ext uri="{FF2B5EF4-FFF2-40B4-BE49-F238E27FC236}">
                <a16:creationId xmlns:a16="http://schemas.microsoft.com/office/drawing/2014/main" id="{5BD4960D-F8F3-C34B-0FDF-540E331018B9}"/>
              </a:ext>
            </a:extLst>
          </p:cNvPr>
          <p:cNvSpPr txBox="1"/>
          <p:nvPr/>
        </p:nvSpPr>
        <p:spPr>
          <a:xfrm>
            <a:off x="953982" y="1414854"/>
            <a:ext cx="2117694" cy="369332"/>
          </a:xfrm>
          <a:prstGeom prst="rect">
            <a:avLst/>
          </a:prstGeom>
          <a:noFill/>
        </p:spPr>
        <p:txBody>
          <a:bodyPr wrap="square">
            <a:spAutoFit/>
          </a:bodyPr>
          <a:lstStyle/>
          <a:p>
            <a:r>
              <a:rPr lang="en-US" altLang="zh-CN" b="1" noProof="1">
                <a:solidFill>
                  <a:schemeClr val="accent2"/>
                </a:solidFill>
                <a:latin typeface="微软雅黑" panose="020B0503020204020204" pitchFamily="34" charset="-122"/>
                <a:ea typeface="微软雅黑" panose="020B0503020204020204" pitchFamily="34" charset="-122"/>
              </a:rPr>
              <a:t>【</a:t>
            </a:r>
            <a:r>
              <a:rPr lang="zh-CN" altLang="en-US" b="1" noProof="1">
                <a:solidFill>
                  <a:schemeClr val="accent2"/>
                </a:solidFill>
                <a:latin typeface="微软雅黑" panose="020B0503020204020204" pitchFamily="34" charset="-122"/>
                <a:ea typeface="微软雅黑" panose="020B0503020204020204" pitchFamily="34" charset="-122"/>
              </a:rPr>
              <a:t>参考程序</a:t>
            </a:r>
            <a:r>
              <a:rPr lang="en-US" altLang="zh-CN" b="1" noProof="1">
                <a:solidFill>
                  <a:schemeClr val="accent2"/>
                </a:solidFill>
                <a:latin typeface="微软雅黑" panose="020B0503020204020204" pitchFamily="34" charset="-122"/>
                <a:ea typeface="微软雅黑" panose="020B0503020204020204" pitchFamily="34" charset="-122"/>
              </a:rPr>
              <a:t>】</a:t>
            </a:r>
            <a:endParaRPr lang="zh-CN" altLang="en-US" b="1" noProof="1">
              <a:solidFill>
                <a:schemeClr val="accent2"/>
              </a:solidFill>
              <a:latin typeface="微软雅黑" panose="020B0503020204020204" pitchFamily="34" charset="-122"/>
              <a:ea typeface="微软雅黑" panose="020B0503020204020204" pitchFamily="34" charset="-122"/>
            </a:endParaRPr>
          </a:p>
        </p:txBody>
      </p:sp>
      <p:pic>
        <p:nvPicPr>
          <p:cNvPr id="6" name="图片 5">
            <a:extLst>
              <a:ext uri="{FF2B5EF4-FFF2-40B4-BE49-F238E27FC236}">
                <a16:creationId xmlns:a16="http://schemas.microsoft.com/office/drawing/2014/main" id="{D7E2E186-EC17-21CD-E940-BBD0AFA34C15}"/>
              </a:ext>
            </a:extLst>
          </p:cNvPr>
          <p:cNvPicPr>
            <a:picLocks noChangeAspect="1"/>
          </p:cNvPicPr>
          <p:nvPr/>
        </p:nvPicPr>
        <p:blipFill>
          <a:blip r:embed="rId2"/>
          <a:stretch>
            <a:fillRect/>
          </a:stretch>
        </p:blipFill>
        <p:spPr>
          <a:xfrm>
            <a:off x="2484582" y="1354874"/>
            <a:ext cx="8522674" cy="5503126"/>
          </a:xfrm>
          <a:prstGeom prst="rect">
            <a:avLst/>
          </a:prstGeom>
        </p:spPr>
      </p:pic>
    </p:spTree>
    <p:extLst>
      <p:ext uri="{BB962C8B-B14F-4D97-AF65-F5344CB8AC3E}">
        <p14:creationId xmlns:p14="http://schemas.microsoft.com/office/powerpoint/2010/main" val="35435242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最近公共祖先</a:t>
            </a:r>
            <a:r>
              <a:rPr lang="en-US" altLang="zh-CN" dirty="0"/>
              <a:t>LCA</a:t>
            </a:r>
            <a:endParaRPr lang="zh-CN" altLang="en-US" dirty="0"/>
          </a:p>
        </p:txBody>
      </p:sp>
      <p:sp>
        <p:nvSpPr>
          <p:cNvPr id="5" name="文本框 4">
            <a:extLst>
              <a:ext uri="{FF2B5EF4-FFF2-40B4-BE49-F238E27FC236}">
                <a16:creationId xmlns:a16="http://schemas.microsoft.com/office/drawing/2014/main" id="{5BD4960D-F8F3-C34B-0FDF-540E331018B9}"/>
              </a:ext>
            </a:extLst>
          </p:cNvPr>
          <p:cNvSpPr txBox="1"/>
          <p:nvPr/>
        </p:nvSpPr>
        <p:spPr>
          <a:xfrm>
            <a:off x="953982" y="1414854"/>
            <a:ext cx="2117694" cy="369332"/>
          </a:xfrm>
          <a:prstGeom prst="rect">
            <a:avLst/>
          </a:prstGeom>
          <a:noFill/>
        </p:spPr>
        <p:txBody>
          <a:bodyPr wrap="square">
            <a:spAutoFit/>
          </a:bodyPr>
          <a:lstStyle/>
          <a:p>
            <a:r>
              <a:rPr lang="en-US" altLang="zh-CN" b="1" noProof="1">
                <a:solidFill>
                  <a:schemeClr val="accent2"/>
                </a:solidFill>
                <a:latin typeface="微软雅黑" panose="020B0503020204020204" pitchFamily="34" charset="-122"/>
                <a:ea typeface="微软雅黑" panose="020B0503020204020204" pitchFamily="34" charset="-122"/>
              </a:rPr>
              <a:t>【</a:t>
            </a:r>
            <a:r>
              <a:rPr lang="zh-CN" altLang="en-US" b="1" noProof="1">
                <a:solidFill>
                  <a:schemeClr val="accent2"/>
                </a:solidFill>
                <a:latin typeface="微软雅黑" panose="020B0503020204020204" pitchFamily="34" charset="-122"/>
                <a:ea typeface="微软雅黑" panose="020B0503020204020204" pitchFamily="34" charset="-122"/>
              </a:rPr>
              <a:t>参考程序</a:t>
            </a:r>
            <a:r>
              <a:rPr lang="en-US" altLang="zh-CN" b="1" noProof="1">
                <a:solidFill>
                  <a:schemeClr val="accent2"/>
                </a:solidFill>
                <a:latin typeface="微软雅黑" panose="020B0503020204020204" pitchFamily="34" charset="-122"/>
                <a:ea typeface="微软雅黑" panose="020B0503020204020204" pitchFamily="34" charset="-122"/>
              </a:rPr>
              <a:t>】</a:t>
            </a:r>
            <a:endParaRPr lang="zh-CN" altLang="en-US" b="1" noProof="1">
              <a:solidFill>
                <a:schemeClr val="accent2"/>
              </a:solidFill>
              <a:latin typeface="微软雅黑" panose="020B0503020204020204" pitchFamily="34" charset="-122"/>
              <a:ea typeface="微软雅黑" panose="020B0503020204020204" pitchFamily="34" charset="-122"/>
            </a:endParaRPr>
          </a:p>
        </p:txBody>
      </p:sp>
      <p:pic>
        <p:nvPicPr>
          <p:cNvPr id="7" name="图片 6">
            <a:extLst>
              <a:ext uri="{FF2B5EF4-FFF2-40B4-BE49-F238E27FC236}">
                <a16:creationId xmlns:a16="http://schemas.microsoft.com/office/drawing/2014/main" id="{13D566A6-5861-9C9E-CF2F-4F374712E07A}"/>
              </a:ext>
            </a:extLst>
          </p:cNvPr>
          <p:cNvPicPr>
            <a:picLocks noChangeAspect="1"/>
          </p:cNvPicPr>
          <p:nvPr/>
        </p:nvPicPr>
        <p:blipFill>
          <a:blip r:embed="rId2" cstate="print"/>
          <a:stretch>
            <a:fillRect/>
          </a:stretch>
        </p:blipFill>
        <p:spPr>
          <a:xfrm>
            <a:off x="1165602" y="2025878"/>
            <a:ext cx="6839711" cy="3874655"/>
          </a:xfrm>
          <a:prstGeom prst="rect">
            <a:avLst/>
          </a:prstGeom>
        </p:spPr>
      </p:pic>
    </p:spTree>
    <p:extLst>
      <p:ext uri="{BB962C8B-B14F-4D97-AF65-F5344CB8AC3E}">
        <p14:creationId xmlns:p14="http://schemas.microsoft.com/office/powerpoint/2010/main" val="1256494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习题练习</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pPr algn="ctr"/>
            <a:r>
              <a:rPr lang="zh-CN" altLang="en-US" dirty="0"/>
              <a:t>谢谢！</a:t>
            </a:r>
          </a:p>
        </p:txBody>
      </p:sp>
      <p:pic>
        <p:nvPicPr>
          <p:cNvPr id="5" name="图片占位符 4"/>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l="13409" r="13409"/>
          <a:stretch>
            <a:fillRect/>
          </a:stretch>
        </p:blipFill>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学术文献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3080</Words>
  <Application>Microsoft Office PowerPoint</Application>
  <PresentationFormat>宽屏</PresentationFormat>
  <Paragraphs>204</Paragraphs>
  <Slides>34</Slides>
  <Notes>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34</vt:i4>
      </vt:variant>
    </vt:vector>
  </HeadingPairs>
  <TitlesOfParts>
    <vt:vector size="41" baseType="lpstr">
      <vt:lpstr>微软雅黑</vt:lpstr>
      <vt:lpstr>Arial</vt:lpstr>
      <vt:lpstr>Cambria Math</vt:lpstr>
      <vt:lpstr>Euphemia</vt:lpstr>
      <vt:lpstr>Times New Roman</vt:lpstr>
      <vt:lpstr>Wingdings</vt:lpstr>
      <vt:lpstr>学术文献 16x9</vt:lpstr>
      <vt:lpstr>最近公共祖先LCA</vt:lpstr>
      <vt:lpstr>学习目标</vt:lpstr>
      <vt:lpstr>最近公共祖先LCA</vt:lpstr>
      <vt:lpstr>最近公共祖先LCA</vt:lpstr>
      <vt:lpstr>最近公共祖先LCA</vt:lpstr>
      <vt:lpstr>最近公共祖先LCA</vt:lpstr>
      <vt:lpstr>最近公共祖先LCA</vt:lpstr>
      <vt:lpstr>最近公共祖先LCA</vt:lpstr>
      <vt:lpstr>最近公共祖先LCA</vt:lpstr>
      <vt:lpstr>最近公共祖先LCA</vt:lpstr>
      <vt:lpstr>最近公共祖先LCA</vt:lpstr>
      <vt:lpstr>最近公共祖先LCA</vt:lpstr>
      <vt:lpstr>最近公共祖先LCA</vt:lpstr>
      <vt:lpstr>最近公共祖先LCA</vt:lpstr>
      <vt:lpstr>最近公共祖先LCA</vt:lpstr>
      <vt:lpstr>最近公共祖先LCA</vt:lpstr>
      <vt:lpstr>最近公共祖先LCA</vt:lpstr>
      <vt:lpstr>最近公共祖先LCA</vt:lpstr>
      <vt:lpstr>最近公共祖先LCA</vt:lpstr>
      <vt:lpstr>最近公共祖先LCA</vt:lpstr>
      <vt:lpstr>最近公共祖先LCA</vt:lpstr>
      <vt:lpstr>最近公共祖先LCA</vt:lpstr>
      <vt:lpstr>最近公共祖先LCA</vt:lpstr>
      <vt:lpstr>最近公共祖先LCA</vt:lpstr>
      <vt:lpstr>最近公共祖先LCA</vt:lpstr>
      <vt:lpstr>最近公共祖先LCA</vt:lpstr>
      <vt:lpstr>最近公共祖先LCA</vt:lpstr>
      <vt:lpstr>最近公共祖先LCA</vt:lpstr>
      <vt:lpstr>最近公共祖先LCA</vt:lpstr>
      <vt:lpstr>最近公共祖先LCA</vt:lpstr>
      <vt:lpstr>最近公共祖先LCA</vt:lpstr>
      <vt:lpstr>最近公共祖先LCA</vt:lpstr>
      <vt:lpstr>习题练习</vt:lpstr>
      <vt:lpstr>谢谢！</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54</cp:revision>
  <dcterms:created xsi:type="dcterms:W3CDTF">2017-11-04T04:56:00Z</dcterms:created>
  <dcterms:modified xsi:type="dcterms:W3CDTF">2022-07-29T03:04:50Z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0x0101006EDDDB5EE6D98C44930B742096920B300400F5B6D36B3EF94B4E9A635CDF2A18F5B8</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y fmtid="{D5CDD505-2E9C-101B-9397-08002B2CF9AE}" pid="8" name="KSOProductBuildVer">
    <vt:lpwstr>2052-11.1.0.9440</vt:lpwstr>
  </property>
</Properties>
</file>