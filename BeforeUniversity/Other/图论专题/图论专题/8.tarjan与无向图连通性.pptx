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612" r:id="rId3"/>
    <p:sldId id="668" r:id="rId4"/>
    <p:sldId id="780" r:id="rId5"/>
    <p:sldId id="781" r:id="rId6"/>
    <p:sldId id="782" r:id="rId7"/>
    <p:sldId id="783" r:id="rId8"/>
    <p:sldId id="784" r:id="rId9"/>
    <p:sldId id="785" r:id="rId10"/>
    <p:sldId id="786" r:id="rId11"/>
    <p:sldId id="787" r:id="rId12"/>
    <p:sldId id="759" r:id="rId13"/>
    <p:sldId id="775" r:id="rId14"/>
    <p:sldId id="776" r:id="rId15"/>
    <p:sldId id="777" r:id="rId16"/>
    <p:sldId id="788" r:id="rId17"/>
    <p:sldId id="789" r:id="rId18"/>
    <p:sldId id="790" r:id="rId19"/>
    <p:sldId id="791" r:id="rId20"/>
    <p:sldId id="810" r:id="rId21"/>
    <p:sldId id="799" r:id="rId22"/>
    <p:sldId id="800" r:id="rId23"/>
    <p:sldId id="792" r:id="rId24"/>
    <p:sldId id="793" r:id="rId25"/>
    <p:sldId id="794" r:id="rId26"/>
    <p:sldId id="795" r:id="rId27"/>
    <p:sldId id="796" r:id="rId28"/>
    <p:sldId id="797" r:id="rId29"/>
    <p:sldId id="798" r:id="rId30"/>
    <p:sldId id="801" r:id="rId31"/>
    <p:sldId id="802" r:id="rId32"/>
    <p:sldId id="803" r:id="rId33"/>
    <p:sldId id="804" r:id="rId34"/>
    <p:sldId id="805" r:id="rId35"/>
    <p:sldId id="806" r:id="rId36"/>
    <p:sldId id="812" r:id="rId37"/>
    <p:sldId id="807" r:id="rId38"/>
    <p:sldId id="808" r:id="rId39"/>
    <p:sldId id="809" r:id="rId40"/>
    <p:sldId id="811" r:id="rId41"/>
    <p:sldId id="753" r:id="rId42"/>
    <p:sldId id="502" r:id="rId43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3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2022/8/3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2022/8/3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2022/8/3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2022/8/3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2022/8/3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72560" y="2036029"/>
            <a:ext cx="7455877" cy="1954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150000"/>
              </a:lnSpc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算法与无向图联通性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61950" y="3799336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>
          <a:xfrm>
            <a:off x="6981063" y="1324698"/>
            <a:ext cx="5210937" cy="4208604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掌握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，求割点和割边算法</a:t>
            </a:r>
            <a:endParaRPr lang="zh-CN" altLang="en-US" sz="2000" dirty="0"/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掌握缩点的算法思想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64950" y="1216114"/>
                <a:ext cx="9899224" cy="28496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给定无向连通图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G=(V,E)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若对于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14:m>
                  <m:oMath xmlns:m="http://schemas.openxmlformats.org/officeDocument/2006/math"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∈</m:t>
                    </m:r>
                  </m:oMath>
                </a14:m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V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，从图中删去节点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以及所有与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关联的边之后，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分裂成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两个或两个以上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不相连的子图，则称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割点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若对于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e∈E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，从图中删去边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e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之后，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分裂成两个不相连的子图，则称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e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桥或割边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一般无向图（不一定连通）的割点和桥就是它的各个连通块的割点和桥。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950" y="1216114"/>
                <a:ext cx="9899224" cy="2849626"/>
              </a:xfrm>
              <a:prstGeom prst="rect">
                <a:avLst/>
              </a:prstGeom>
              <a:blipFill>
                <a:blip r:embed="rId2" cstate="print"/>
                <a:stretch>
                  <a:fillRect l="-369" b="-1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C375AEE1-F05E-C617-D8B3-AD9607FF1DF6}"/>
              </a:ext>
            </a:extLst>
          </p:cNvPr>
          <p:cNvGrpSpPr/>
          <p:nvPr/>
        </p:nvGrpSpPr>
        <p:grpSpPr>
          <a:xfrm>
            <a:off x="1861910" y="4347712"/>
            <a:ext cx="4541809" cy="2289896"/>
            <a:chOff x="1861910" y="4347712"/>
            <a:chExt cx="4541809" cy="2289896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370D73E-9371-CB28-CA4D-94DDA4989EB2}"/>
                </a:ext>
              </a:extLst>
            </p:cNvPr>
            <p:cNvGrpSpPr/>
            <p:nvPr/>
          </p:nvGrpSpPr>
          <p:grpSpPr>
            <a:xfrm>
              <a:off x="1861910" y="4347712"/>
              <a:ext cx="4541809" cy="2289896"/>
              <a:chOff x="1801525" y="4477108"/>
              <a:chExt cx="4541809" cy="2289896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08BDAA6-EF60-DDFB-EA56-3B0116F2EDDB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D2E4FC6B-7AA7-59C0-B729-F279A25F48C8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6CCBA2B-037E-9439-A18C-9822BB94CA4C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333996B8-EF13-4583-836E-35374B490AE4}"/>
                  </a:ext>
                </a:extLst>
              </p:cNvPr>
              <p:cNvCxnSpPr>
                <a:cxnSpLocks/>
                <a:endCxn id="13" idx="7"/>
              </p:cNvCxnSpPr>
              <p:nvPr/>
            </p:nvCxnSpPr>
            <p:spPr>
              <a:xfrm flipH="1">
                <a:off x="2202124" y="5084106"/>
                <a:ext cx="369978" cy="55818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08393FE-C208-1772-B56D-160C6811CFFD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042C37F3-7F76-77C7-88D8-00BD2350F680}"/>
                  </a:ext>
                </a:extLst>
              </p:cNvPr>
              <p:cNvCxnSpPr>
                <a:cxnSpLocks/>
                <a:stCxn id="12" idx="4"/>
                <a:endCxn id="15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78CD806F-64DB-B09A-C179-42FF1C9D635D}"/>
                  </a:ext>
                </a:extLst>
              </p:cNvPr>
              <p:cNvCxnSpPr>
                <a:cxnSpLocks/>
                <a:stCxn id="13" idx="5"/>
                <a:endCxn id="15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A3E8F758-8898-9198-F6D8-C4134EB0EA80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5A5330A0-ABD5-EEA4-BE5C-451D22E8E074}"/>
                  </a:ext>
                </a:extLst>
              </p:cNvPr>
              <p:cNvCxnSpPr>
                <a:cxnSpLocks/>
                <a:stCxn id="11" idx="5"/>
                <a:endCxn id="12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1DC60763-02B9-7725-FBF7-42538CB2321A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 flipH="1">
                <a:off x="2902291" y="4711774"/>
                <a:ext cx="810118" cy="13904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B931F1EF-7D4E-4FD8-7D2C-13002BEAEDA7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79961D3D-8D59-999A-7572-49B9D2953136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CD79FCE0-4903-58C4-7616-4F10AE74D1F8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D99E7EBD-FC6F-15FF-2787-C63296170A8B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725D457-E8C3-C3B0-C8D5-031FDB28F150}"/>
                  </a:ext>
                </a:extLst>
              </p:cNvPr>
              <p:cNvCxnSpPr>
                <a:cxnSpLocks/>
                <a:stCxn id="18" idx="6"/>
                <a:endCxn id="21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BBE097A5-3881-3DD7-B928-49AAD3EB637B}"/>
                  </a:ext>
                </a:extLst>
              </p:cNvPr>
              <p:cNvCxnSpPr>
                <a:cxnSpLocks/>
                <a:stCxn id="35" idx="0"/>
                <a:endCxn id="21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C533BD97-BED0-6D45-ACF7-00DF6FBA0406}"/>
                  </a:ext>
                </a:extLst>
              </p:cNvPr>
              <p:cNvCxnSpPr>
                <a:cxnSpLocks/>
                <a:stCxn id="21" idx="6"/>
                <a:endCxn id="36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B74CC9F-A177-A033-9A1D-EC281FFD82CC}"/>
                  </a:ext>
                </a:extLst>
              </p:cNvPr>
              <p:cNvCxnSpPr>
                <a:cxnSpLocks/>
                <a:stCxn id="36" idx="5"/>
                <a:endCxn id="37" idx="0"/>
              </p:cNvCxnSpPr>
              <p:nvPr/>
            </p:nvCxnSpPr>
            <p:spPr>
              <a:xfrm flipH="1">
                <a:off x="6014562" y="5351590"/>
                <a:ext cx="260040" cy="57570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86823B04-792C-1EB9-5182-976A9F4FA2C7}"/>
                  </a:ext>
                </a:extLst>
              </p:cNvPr>
              <p:cNvCxnSpPr>
                <a:cxnSpLocks/>
                <a:stCxn id="21" idx="5"/>
                <a:endCxn id="37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57706B5-759D-76D5-0966-CCFCE3BD2D58}"/>
                </a:ext>
              </a:extLst>
            </p:cNvPr>
            <p:cNvCxnSpPr>
              <a:stCxn id="12" idx="0"/>
              <a:endCxn id="18" idx="4"/>
            </p:cNvCxnSpPr>
            <p:nvPr/>
          </p:nvCxnSpPr>
          <p:spPr>
            <a:xfrm flipV="1">
              <a:off x="3744452" y="4817043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84605" y="1241805"/>
            <a:ext cx="9980682" cy="3095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根据著名计算机科学家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Robert 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的名字命名的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算法能够在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线性时间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内求出无向图的割点与桥，进一步可求出无向图的双连通分量。在有向图方面，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算法能够求出有向图的强联通分量、双连通分量、必经点与必经边。同时在数据结构方面也作出了很多卓有成效的工作，包括证明并查集的时间复杂度，提出斐波那契堆、伸展树等。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算法是基于无向图的深度优先遍历，并引入了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时间戳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的概念。在图的深度优先遍历过程中，按照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每个节点第一次被访问的时间顺序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，依次给予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1~N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的整数标记，该标记被称为“时间戳”，记为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dfn[x]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7C37406-2386-8E94-9F3B-4F131BD04361}"/>
              </a:ext>
            </a:extLst>
          </p:cNvPr>
          <p:cNvGrpSpPr/>
          <p:nvPr/>
        </p:nvGrpSpPr>
        <p:grpSpPr>
          <a:xfrm>
            <a:off x="1887789" y="4491904"/>
            <a:ext cx="4541809" cy="2289896"/>
            <a:chOff x="1887789" y="4491904"/>
            <a:chExt cx="4541809" cy="2289896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C3A96DC-D8E5-7C71-69A2-7478965653A2}"/>
                </a:ext>
              </a:extLst>
            </p:cNvPr>
            <p:cNvGrpSpPr/>
            <p:nvPr/>
          </p:nvGrpSpPr>
          <p:grpSpPr>
            <a:xfrm>
              <a:off x="1887789" y="4491904"/>
              <a:ext cx="4541809" cy="2289896"/>
              <a:chOff x="1801525" y="4477108"/>
              <a:chExt cx="4541809" cy="2289896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A3C0181B-EC77-1057-9FA6-4BEA292C465A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3740111-564D-7600-7713-4078A3EB010D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6BADDA75-5109-6558-C7A8-5C1FAB8670B6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46754842-9ABA-291E-4C06-ABB7C8251CAF}"/>
                  </a:ext>
                </a:extLst>
              </p:cNvPr>
              <p:cNvCxnSpPr>
                <a:cxnSpLocks/>
                <a:endCxn id="27" idx="7"/>
              </p:cNvCxnSpPr>
              <p:nvPr/>
            </p:nvCxnSpPr>
            <p:spPr>
              <a:xfrm flipH="1">
                <a:off x="2202124" y="5084106"/>
                <a:ext cx="369978" cy="55818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5B9E9F53-C15D-0DB6-2491-2559352F73D2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F3C64F8-4DFB-893C-BBDB-FBF917D001A9}"/>
                  </a:ext>
                </a:extLst>
              </p:cNvPr>
              <p:cNvCxnSpPr>
                <a:cxnSpLocks/>
                <a:stCxn id="26" idx="4"/>
                <a:endCxn id="29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B63EC948-4123-46F2-3EE6-F8BCAAEAF4CE}"/>
                  </a:ext>
                </a:extLst>
              </p:cNvPr>
              <p:cNvCxnSpPr>
                <a:cxnSpLocks/>
                <a:stCxn id="27" idx="5"/>
                <a:endCxn id="29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639583A7-5F2D-898C-0E9B-7A0E85E62D96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C7E5A282-212B-0BBD-78E1-E715EDCEFF81}"/>
                  </a:ext>
                </a:extLst>
              </p:cNvPr>
              <p:cNvCxnSpPr>
                <a:cxnSpLocks/>
                <a:stCxn id="25" idx="5"/>
                <a:endCxn id="26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9F401EB-D444-E157-E6D7-81E4ED918992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>
              <a:xfrm flipH="1">
                <a:off x="2902291" y="4711774"/>
                <a:ext cx="810118" cy="13904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61551878-5598-1954-D04C-01CF9B6C4E53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2172535A-372C-CC7B-A674-DAC585D86212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D7F9A262-9577-D439-9396-F77DC8BB68F2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D90F31FA-3868-0989-6027-44D128F5E2CA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25561DB5-D2D2-B61C-E111-52FB4705247F}"/>
                  </a:ext>
                </a:extLst>
              </p:cNvPr>
              <p:cNvCxnSpPr>
                <a:cxnSpLocks/>
                <a:stCxn id="32" idx="6"/>
                <a:endCxn id="39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333CBAEF-CBF0-0CC7-5101-80F225B3F36E}"/>
                  </a:ext>
                </a:extLst>
              </p:cNvPr>
              <p:cNvCxnSpPr>
                <a:cxnSpLocks/>
                <a:stCxn id="40" idx="0"/>
                <a:endCxn id="39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833C44E-8331-9C48-258E-FB2CAE00E093}"/>
                  </a:ext>
                </a:extLst>
              </p:cNvPr>
              <p:cNvCxnSpPr>
                <a:cxnSpLocks/>
                <a:stCxn id="39" idx="6"/>
                <a:endCxn id="42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4DD7F1BC-48ED-7109-9ECD-BA9FEC010F71}"/>
                  </a:ext>
                </a:extLst>
              </p:cNvPr>
              <p:cNvCxnSpPr>
                <a:cxnSpLocks/>
                <a:stCxn id="42" idx="5"/>
                <a:endCxn id="43" idx="0"/>
              </p:cNvCxnSpPr>
              <p:nvPr/>
            </p:nvCxnSpPr>
            <p:spPr>
              <a:xfrm flipH="1">
                <a:off x="6014562" y="5351590"/>
                <a:ext cx="260040" cy="57570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624D611-D896-4DF2-FB1E-B841E660D809}"/>
                  </a:ext>
                </a:extLst>
              </p:cNvPr>
              <p:cNvCxnSpPr>
                <a:cxnSpLocks/>
                <a:stCxn id="39" idx="5"/>
                <a:endCxn id="43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8AE2398-F729-BF68-B97C-C21CA132459E}"/>
                </a:ext>
              </a:extLst>
            </p:cNvPr>
            <p:cNvCxnSpPr>
              <a:stCxn id="26" idx="7"/>
              <a:endCxn id="32" idx="4"/>
            </p:cNvCxnSpPr>
            <p:nvPr/>
          </p:nvCxnSpPr>
          <p:spPr>
            <a:xfrm flipV="1">
              <a:off x="3936264" y="4961235"/>
              <a:ext cx="97075" cy="64241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888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84605" y="1241805"/>
            <a:ext cx="9980682" cy="3218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搜索树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在无向连通图中任选一个节点出发进行深度优先遍历，每个点只访问一次。所有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发生递归的边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）（从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的第一次访问）构成一棵树，我们称为“无向连通图的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搜索树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”。当然，一般无向图（不一定连通）的各个连通块的搜索树构成无向图的“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搜索森林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”。如下图即是一张无向连通图的搜索树的结果，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为深度优先遍历的起点，加粗的边是发生递归的边（优先遍历靠左的边），并标注了节点的时间戳。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731411A-E69B-230A-1DC4-6C1371E0AEE4}"/>
              </a:ext>
            </a:extLst>
          </p:cNvPr>
          <p:cNvGrpSpPr/>
          <p:nvPr/>
        </p:nvGrpSpPr>
        <p:grpSpPr>
          <a:xfrm>
            <a:off x="1378830" y="4224485"/>
            <a:ext cx="4541809" cy="2289896"/>
            <a:chOff x="1801525" y="4477108"/>
            <a:chExt cx="4541809" cy="2289896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37A06576-177D-81D6-1F96-DD1047945A8B}"/>
                </a:ext>
              </a:extLst>
            </p:cNvPr>
            <p:cNvSpPr/>
            <p:nvPr/>
          </p:nvSpPr>
          <p:spPr>
            <a:xfrm>
              <a:off x="2439674" y="4650519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16E6DA3-35D7-DAEC-80C5-C9F0B246C03A}"/>
                </a:ext>
              </a:extLst>
            </p:cNvPr>
            <p:cNvSpPr/>
            <p:nvPr/>
          </p:nvSpPr>
          <p:spPr>
            <a:xfrm>
              <a:off x="3449401" y="552012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02D66E0B-0C04-815E-B63F-1E3984996A86}"/>
                </a:ext>
              </a:extLst>
            </p:cNvPr>
            <p:cNvSpPr/>
            <p:nvPr/>
          </p:nvSpPr>
          <p:spPr>
            <a:xfrm>
              <a:off x="1801525" y="5573557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44155BF0-440C-2848-4132-8F8EC5323AE8}"/>
                </a:ext>
              </a:extLst>
            </p:cNvPr>
            <p:cNvCxnSpPr>
              <a:cxnSpLocks/>
              <a:stCxn id="36" idx="3"/>
              <a:endCxn id="38" idx="7"/>
            </p:cNvCxnSpPr>
            <p:nvPr/>
          </p:nvCxnSpPr>
          <p:spPr>
            <a:xfrm flipH="1">
              <a:off x="2202124" y="5051118"/>
              <a:ext cx="306282" cy="59117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2D1B9ECE-0714-F0F6-67FA-AE15EAA4B2E4}"/>
                </a:ext>
              </a:extLst>
            </p:cNvPr>
            <p:cNvSpPr/>
            <p:nvPr/>
          </p:nvSpPr>
          <p:spPr>
            <a:xfrm>
              <a:off x="2674339" y="6297673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0CFE077-5C94-2C3A-E464-DDF626E6107D}"/>
                </a:ext>
              </a:extLst>
            </p:cNvPr>
            <p:cNvCxnSpPr>
              <a:cxnSpLocks/>
              <a:stCxn id="37" idx="4"/>
              <a:endCxn id="44" idx="7"/>
            </p:cNvCxnSpPr>
            <p:nvPr/>
          </p:nvCxnSpPr>
          <p:spPr>
            <a:xfrm flipH="1">
              <a:off x="3074938" y="5989452"/>
              <a:ext cx="609129" cy="37695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56929D1-3005-12DD-5975-5C1A76DC280A}"/>
                </a:ext>
              </a:extLst>
            </p:cNvPr>
            <p:cNvCxnSpPr>
              <a:cxnSpLocks/>
              <a:stCxn id="38" idx="5"/>
              <a:endCxn id="44" idx="1"/>
            </p:cNvCxnSpPr>
            <p:nvPr/>
          </p:nvCxnSpPr>
          <p:spPr>
            <a:xfrm>
              <a:off x="2202124" y="5974156"/>
              <a:ext cx="540947" cy="39224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1FA43BD8-B972-B8F0-EC5E-A8D150C35AD3}"/>
                </a:ext>
              </a:extLst>
            </p:cNvPr>
            <p:cNvSpPr/>
            <p:nvPr/>
          </p:nvSpPr>
          <p:spPr>
            <a:xfrm>
              <a:off x="3712409" y="4477108"/>
              <a:ext cx="469331" cy="469331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8536034-409E-759E-8FA9-5D8D66B7E3E7}"/>
                </a:ext>
              </a:extLst>
            </p:cNvPr>
            <p:cNvCxnSpPr>
              <a:cxnSpLocks/>
              <a:stCxn id="36" idx="5"/>
              <a:endCxn id="37" idx="1"/>
            </p:cNvCxnSpPr>
            <p:nvPr/>
          </p:nvCxnSpPr>
          <p:spPr>
            <a:xfrm>
              <a:off x="2840273" y="5051118"/>
              <a:ext cx="677860" cy="53773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11218CA-BDDD-1818-A2A9-063D87EC850C}"/>
                </a:ext>
              </a:extLst>
            </p:cNvPr>
            <p:cNvCxnSpPr>
              <a:cxnSpLocks/>
              <a:stCxn id="52" idx="2"/>
              <a:endCxn id="36" idx="6"/>
            </p:cNvCxnSpPr>
            <p:nvPr/>
          </p:nvCxnSpPr>
          <p:spPr>
            <a:xfrm flipH="1">
              <a:off x="2909005" y="4711774"/>
              <a:ext cx="803404" cy="17341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C0D741A2-EE49-B0D4-D34D-8AAB8AFDA66D}"/>
                </a:ext>
              </a:extLst>
            </p:cNvPr>
            <p:cNvSpPr/>
            <p:nvPr/>
          </p:nvSpPr>
          <p:spPr>
            <a:xfrm>
              <a:off x="4543288" y="5002004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6C9DBEE4-1EEA-5CED-48D4-F73D7047FD7F}"/>
                </a:ext>
              </a:extLst>
            </p:cNvPr>
            <p:cNvSpPr/>
            <p:nvPr/>
          </p:nvSpPr>
          <p:spPr>
            <a:xfrm>
              <a:off x="4393281" y="5935614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6335E74-847F-EE42-B6CB-BC1746F11A05}"/>
                </a:ext>
              </a:extLst>
            </p:cNvPr>
            <p:cNvSpPr/>
            <p:nvPr/>
          </p:nvSpPr>
          <p:spPr>
            <a:xfrm>
              <a:off x="5874003" y="495099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9</a:t>
              </a:r>
              <a:endParaRPr lang="zh-CN" altLang="en-US" dirty="0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0333A12-48C9-519A-AE85-B5AA5470DFD7}"/>
                </a:ext>
              </a:extLst>
            </p:cNvPr>
            <p:cNvSpPr/>
            <p:nvPr/>
          </p:nvSpPr>
          <p:spPr>
            <a:xfrm>
              <a:off x="5779896" y="592729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76C5E45-0FAD-4B69-9E9A-6DD6EBBFB992}"/>
                </a:ext>
              </a:extLst>
            </p:cNvPr>
            <p:cNvCxnSpPr>
              <a:cxnSpLocks/>
              <a:stCxn id="52" idx="6"/>
              <a:endCxn id="55" idx="1"/>
            </p:cNvCxnSpPr>
            <p:nvPr/>
          </p:nvCxnSpPr>
          <p:spPr>
            <a:xfrm>
              <a:off x="4181740" y="4711774"/>
              <a:ext cx="430280" cy="35896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A26E64C1-E8C3-18FD-5888-210C0EFDAD74}"/>
                </a:ext>
              </a:extLst>
            </p:cNvPr>
            <p:cNvCxnSpPr>
              <a:cxnSpLocks/>
              <a:stCxn id="56" idx="0"/>
              <a:endCxn id="55" idx="4"/>
            </p:cNvCxnSpPr>
            <p:nvPr/>
          </p:nvCxnSpPr>
          <p:spPr>
            <a:xfrm flipV="1">
              <a:off x="4627947" y="5471335"/>
              <a:ext cx="150007" cy="4642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AF0B49AF-E61B-B215-CEFB-655C9296C0E8}"/>
                </a:ext>
              </a:extLst>
            </p:cNvPr>
            <p:cNvCxnSpPr>
              <a:cxnSpLocks/>
              <a:stCxn id="55" idx="6"/>
              <a:endCxn id="57" idx="2"/>
            </p:cNvCxnSpPr>
            <p:nvPr/>
          </p:nvCxnSpPr>
          <p:spPr>
            <a:xfrm flipV="1">
              <a:off x="5012619" y="5185657"/>
              <a:ext cx="861384" cy="510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602F610-1463-F766-C363-4BF74B719266}"/>
                </a:ext>
              </a:extLst>
            </p:cNvPr>
            <p:cNvCxnSpPr>
              <a:cxnSpLocks/>
              <a:stCxn id="57" idx="4"/>
              <a:endCxn id="58" idx="0"/>
            </p:cNvCxnSpPr>
            <p:nvPr/>
          </p:nvCxnSpPr>
          <p:spPr>
            <a:xfrm flipH="1">
              <a:off x="6014562" y="5420322"/>
              <a:ext cx="94107" cy="50696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418F596B-FDD0-7DB1-0308-13379230C83C}"/>
                </a:ext>
              </a:extLst>
            </p:cNvPr>
            <p:cNvCxnSpPr>
              <a:cxnSpLocks/>
              <a:stCxn id="55" idx="5"/>
              <a:endCxn id="58" idx="2"/>
            </p:cNvCxnSpPr>
            <p:nvPr/>
          </p:nvCxnSpPr>
          <p:spPr>
            <a:xfrm>
              <a:off x="4943887" y="5402603"/>
              <a:ext cx="836009" cy="75935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99E34F7-D18A-E1F9-8CE1-A9CA8F9CCDC7}"/>
              </a:ext>
            </a:extLst>
          </p:cNvPr>
          <p:cNvGrpSpPr/>
          <p:nvPr/>
        </p:nvGrpSpPr>
        <p:grpSpPr>
          <a:xfrm>
            <a:off x="6546112" y="4122550"/>
            <a:ext cx="4541809" cy="2289896"/>
            <a:chOff x="1801525" y="4477108"/>
            <a:chExt cx="4541809" cy="2289896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9ABBEDF8-64B6-FD0A-AD3D-6C484F021311}"/>
                </a:ext>
              </a:extLst>
            </p:cNvPr>
            <p:cNvSpPr/>
            <p:nvPr/>
          </p:nvSpPr>
          <p:spPr>
            <a:xfrm>
              <a:off x="2439674" y="4650519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CA869D98-5B3F-2B75-955E-5F60191EA707}"/>
                </a:ext>
              </a:extLst>
            </p:cNvPr>
            <p:cNvSpPr/>
            <p:nvPr/>
          </p:nvSpPr>
          <p:spPr>
            <a:xfrm>
              <a:off x="3449401" y="552012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BAA1A96A-7FE0-6EF4-3F2A-72331782F4D7}"/>
                </a:ext>
              </a:extLst>
            </p:cNvPr>
            <p:cNvSpPr/>
            <p:nvPr/>
          </p:nvSpPr>
          <p:spPr>
            <a:xfrm>
              <a:off x="1801525" y="5573557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E240F9A-97FD-D260-20AC-5050622172D2}"/>
                </a:ext>
              </a:extLst>
            </p:cNvPr>
            <p:cNvCxnSpPr>
              <a:cxnSpLocks/>
              <a:stCxn id="65" idx="3"/>
              <a:endCxn id="67" idx="7"/>
            </p:cNvCxnSpPr>
            <p:nvPr/>
          </p:nvCxnSpPr>
          <p:spPr>
            <a:xfrm flipH="1">
              <a:off x="2202124" y="5051118"/>
              <a:ext cx="306282" cy="59117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39DFC95B-9BFE-2AE0-AB27-79020392FBC2}"/>
                </a:ext>
              </a:extLst>
            </p:cNvPr>
            <p:cNvSpPr/>
            <p:nvPr/>
          </p:nvSpPr>
          <p:spPr>
            <a:xfrm>
              <a:off x="2674339" y="6297673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A1BFD42D-C8A8-706D-C4C6-AB7D0C165008}"/>
                </a:ext>
              </a:extLst>
            </p:cNvPr>
            <p:cNvCxnSpPr>
              <a:cxnSpLocks/>
              <a:stCxn id="66" idx="4"/>
              <a:endCxn id="69" idx="7"/>
            </p:cNvCxnSpPr>
            <p:nvPr/>
          </p:nvCxnSpPr>
          <p:spPr>
            <a:xfrm flipH="1">
              <a:off x="3074938" y="5989452"/>
              <a:ext cx="609129" cy="37695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A7D0C36C-1874-9537-5EE6-A6526D69C5DF}"/>
                </a:ext>
              </a:extLst>
            </p:cNvPr>
            <p:cNvCxnSpPr>
              <a:cxnSpLocks/>
              <a:stCxn id="67" idx="5"/>
              <a:endCxn id="69" idx="1"/>
            </p:cNvCxnSpPr>
            <p:nvPr/>
          </p:nvCxnSpPr>
          <p:spPr>
            <a:xfrm>
              <a:off x="2202124" y="5974156"/>
              <a:ext cx="540947" cy="39224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1FD44D9-E6DA-33BF-1732-451712F72364}"/>
                </a:ext>
              </a:extLst>
            </p:cNvPr>
            <p:cNvSpPr/>
            <p:nvPr/>
          </p:nvSpPr>
          <p:spPr>
            <a:xfrm>
              <a:off x="3712409" y="4477108"/>
              <a:ext cx="469331" cy="469331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106C5C0-24CB-F602-7836-95A3FAF952CA}"/>
                </a:ext>
              </a:extLst>
            </p:cNvPr>
            <p:cNvCxnSpPr>
              <a:cxnSpLocks/>
              <a:stCxn id="72" idx="2"/>
              <a:endCxn id="65" idx="6"/>
            </p:cNvCxnSpPr>
            <p:nvPr/>
          </p:nvCxnSpPr>
          <p:spPr>
            <a:xfrm flipH="1">
              <a:off x="2909005" y="4711774"/>
              <a:ext cx="803404" cy="17341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15087224-6579-B722-6A62-17DFEA1B153E}"/>
                </a:ext>
              </a:extLst>
            </p:cNvPr>
            <p:cNvSpPr/>
            <p:nvPr/>
          </p:nvSpPr>
          <p:spPr>
            <a:xfrm>
              <a:off x="4543288" y="5002004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226076E1-7D5D-780C-F76B-4F6F1DC435F2}"/>
                </a:ext>
              </a:extLst>
            </p:cNvPr>
            <p:cNvSpPr/>
            <p:nvPr/>
          </p:nvSpPr>
          <p:spPr>
            <a:xfrm>
              <a:off x="4393281" y="5935614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89AF6CBF-0907-7036-EF1F-C6A0D32C9E57}"/>
                </a:ext>
              </a:extLst>
            </p:cNvPr>
            <p:cNvSpPr/>
            <p:nvPr/>
          </p:nvSpPr>
          <p:spPr>
            <a:xfrm>
              <a:off x="5874003" y="495099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9</a:t>
              </a:r>
              <a:endParaRPr lang="zh-CN" altLang="en-US" dirty="0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6A58F09E-06CC-65A3-7BA2-00A957C0F84F}"/>
                </a:ext>
              </a:extLst>
            </p:cNvPr>
            <p:cNvSpPr/>
            <p:nvPr/>
          </p:nvSpPr>
          <p:spPr>
            <a:xfrm>
              <a:off x="5779896" y="592729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4971248E-1113-1697-B23F-318F14466BFB}"/>
                </a:ext>
              </a:extLst>
            </p:cNvPr>
            <p:cNvCxnSpPr>
              <a:cxnSpLocks/>
              <a:stCxn id="72" idx="6"/>
              <a:endCxn id="75" idx="1"/>
            </p:cNvCxnSpPr>
            <p:nvPr/>
          </p:nvCxnSpPr>
          <p:spPr>
            <a:xfrm>
              <a:off x="4181740" y="4711774"/>
              <a:ext cx="430280" cy="35896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AE1AF17-533F-289E-A068-56ED5D0BB401}"/>
                </a:ext>
              </a:extLst>
            </p:cNvPr>
            <p:cNvCxnSpPr>
              <a:cxnSpLocks/>
              <a:stCxn id="76" idx="0"/>
              <a:endCxn id="75" idx="4"/>
            </p:cNvCxnSpPr>
            <p:nvPr/>
          </p:nvCxnSpPr>
          <p:spPr>
            <a:xfrm flipV="1">
              <a:off x="4627947" y="5471335"/>
              <a:ext cx="150007" cy="4642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F4A02458-B8F7-D993-BE63-358E2A194E36}"/>
                </a:ext>
              </a:extLst>
            </p:cNvPr>
            <p:cNvCxnSpPr>
              <a:cxnSpLocks/>
              <a:stCxn id="77" idx="4"/>
              <a:endCxn id="78" idx="0"/>
            </p:cNvCxnSpPr>
            <p:nvPr/>
          </p:nvCxnSpPr>
          <p:spPr>
            <a:xfrm flipH="1">
              <a:off x="6014562" y="5420322"/>
              <a:ext cx="94107" cy="50696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7E220F88-2DB8-14D8-137B-68FDA1ED1FC3}"/>
                </a:ext>
              </a:extLst>
            </p:cNvPr>
            <p:cNvCxnSpPr>
              <a:cxnSpLocks/>
              <a:stCxn id="75" idx="5"/>
              <a:endCxn id="78" idx="2"/>
            </p:cNvCxnSpPr>
            <p:nvPr/>
          </p:nvCxnSpPr>
          <p:spPr>
            <a:xfrm>
              <a:off x="4943887" y="5402603"/>
              <a:ext cx="836009" cy="75935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DACD4BB-662F-28E6-8275-F01B6B8C3DA5}"/>
              </a:ext>
            </a:extLst>
          </p:cNvPr>
          <p:cNvCxnSpPr>
            <a:stCxn id="37" idx="0"/>
            <a:endCxn id="52" idx="4"/>
          </p:cNvCxnSpPr>
          <p:nvPr/>
        </p:nvCxnSpPr>
        <p:spPr>
          <a:xfrm flipV="1">
            <a:off x="3261372" y="4693816"/>
            <a:ext cx="263008" cy="57368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76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55749" y="1232885"/>
            <a:ext cx="10000977" cy="4727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追溯值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追溯值用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）表示搜索树中以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为根的子树。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定义为以下节点的时间戳的最小值：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1.subtree(x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）中的节点；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条不在搜索树上的边，能够达到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的节点。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以时间戳替代节点编号，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subtree(2)={2,3,4,5}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。另外节点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可以通过非搜索树上的边（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1,5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）到达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subtree(2),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故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low(2)=1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根据定义，为了计算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low(x),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先令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low(x)=dfn[x],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然后考虑从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出发的每条边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(x,y):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若在搜索树上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的父节点，则令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low(x)=min(low(x),low(y))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若无向边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不是搜索树上的边，则令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low[x]=min(low(x),dfn(y))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右图中括号中的数值标注了每个节点的追溯值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CE4C57F-8FF7-998C-73DE-1D4CF0A39524}"/>
              </a:ext>
            </a:extLst>
          </p:cNvPr>
          <p:cNvGrpSpPr/>
          <p:nvPr/>
        </p:nvGrpSpPr>
        <p:grpSpPr>
          <a:xfrm>
            <a:off x="6977375" y="4082167"/>
            <a:ext cx="4541809" cy="2699633"/>
            <a:chOff x="6908363" y="4082167"/>
            <a:chExt cx="4541809" cy="2699633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731411A-E69B-230A-1DC4-6C1371E0AEE4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37A06576-177D-81D6-1F96-DD1047945A8B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D16E6DA3-35D7-DAEC-80C5-C9F0B246C03A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02D66E0B-0C04-815E-B63F-1E3984996A86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44155BF0-440C-2848-4132-8F8EC5323AE8}"/>
                  </a:ext>
                </a:extLst>
              </p:cNvPr>
              <p:cNvCxnSpPr>
                <a:cxnSpLocks/>
                <a:stCxn id="36" idx="3"/>
                <a:endCxn id="38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2D1B9ECE-0714-F0F6-67FA-AE15EAA4B2E4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0CFE077-5C94-2C3A-E464-DDF626E6107D}"/>
                  </a:ext>
                </a:extLst>
              </p:cNvPr>
              <p:cNvCxnSpPr>
                <a:cxnSpLocks/>
                <a:stCxn id="37" idx="4"/>
                <a:endCxn id="44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56929D1-3005-12DD-5975-5C1A76DC280A}"/>
                  </a:ext>
                </a:extLst>
              </p:cNvPr>
              <p:cNvCxnSpPr>
                <a:cxnSpLocks/>
                <a:stCxn id="38" idx="5"/>
                <a:endCxn id="44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1FA43BD8-B972-B8F0-EC5E-A8D150C35AD3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8536034-409E-759E-8FA9-5D8D66B7E3E7}"/>
                  </a:ext>
                </a:extLst>
              </p:cNvPr>
              <p:cNvCxnSpPr>
                <a:cxnSpLocks/>
                <a:stCxn id="36" idx="5"/>
                <a:endCxn id="37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11218CA-BDDD-1818-A2A9-063D87EC850C}"/>
                  </a:ext>
                </a:extLst>
              </p:cNvPr>
              <p:cNvCxnSpPr>
                <a:cxnSpLocks/>
                <a:stCxn id="52" idx="2"/>
                <a:endCxn id="36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C0D741A2-EE49-B0D4-D34D-8AAB8AFDA66D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6C9DBEE4-1EEA-5CED-48D4-F73D7047FD7F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86335E74-847F-EE42-B6CB-BC1746F11A05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40333A12-48C9-519A-AE85-B5AA5470DFD7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876C5E45-0FAD-4B69-9E9A-6DD6EBBFB992}"/>
                  </a:ext>
                </a:extLst>
              </p:cNvPr>
              <p:cNvCxnSpPr>
                <a:cxnSpLocks/>
                <a:stCxn id="52" idx="6"/>
                <a:endCxn id="55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26E64C1-E8C3-18FD-5888-210C0EFDAD74}"/>
                  </a:ext>
                </a:extLst>
              </p:cNvPr>
              <p:cNvCxnSpPr>
                <a:cxnSpLocks/>
                <a:stCxn id="56" idx="0"/>
                <a:endCxn id="55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F0B49AF-E61B-B215-CEFB-655C9296C0E8}"/>
                  </a:ext>
                </a:extLst>
              </p:cNvPr>
              <p:cNvCxnSpPr>
                <a:cxnSpLocks/>
                <a:stCxn id="55" idx="6"/>
                <a:endCxn id="57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6602F610-1463-F766-C363-4BF74B719266}"/>
                  </a:ext>
                </a:extLst>
              </p:cNvPr>
              <p:cNvCxnSpPr>
                <a:cxnSpLocks/>
                <a:stCxn id="57" idx="4"/>
                <a:endCxn id="58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18F596B-FDD0-7DB1-0308-13379230C83C}"/>
                  </a:ext>
                </a:extLst>
              </p:cNvPr>
              <p:cNvCxnSpPr>
                <a:cxnSpLocks/>
                <a:stCxn id="55" idx="5"/>
                <a:endCxn id="58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C5FB388-7A1B-0CB9-E0AD-BF26E8D36523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4F25492-2627-38E5-AF06-62986D556519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F694F6B-D0E7-4639-40A4-DC691DF2F60E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CA6EB2A-C7C2-DF39-B544-7DC75B336891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A4E62CD-D6F7-4E75-4DDE-D05178760F66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FCB0C23-9347-99F4-499C-8907563AAFF9}"/>
                </a:ext>
              </a:extLst>
            </p:cNvPr>
            <p:cNvCxnSpPr>
              <a:stCxn id="37" idx="0"/>
              <a:endCxn id="52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34E04E-DFE4-AD50-853C-3D0532F5161A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22875E5-BFC1-F49E-DC2D-31EFE9F75268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[7]</a:t>
              </a:r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B2B2107-D499-E7E3-55F4-CC4C2E05E54E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A863168-D88C-874F-EE6B-A2FD55D1F47C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9847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48875" y="1339095"/>
            <a:ext cx="10000977" cy="4450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割边判定法则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无向边（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）是桥，当且仅当搜索树上存在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的一个子节点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，满足：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dfn[x]&lt;low[y]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根据定义，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dfn[x]&lt;low[y]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说明从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出发，在不经过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的前提下，不管走哪条边，都无法到达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或比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更早访问的节点。因此，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是割边。反之，若不存在子节点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，使得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dfn[x]&lt;low[y]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，则说明每个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都能绕行其他边到达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或比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更早访问的节点，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自然不是割边。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右图虚线表示桥，可以发现：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桥一定是搜索树中的边，并且一个简单环中的边一定都不是桥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CE4C57F-8FF7-998C-73DE-1D4CF0A39524}"/>
              </a:ext>
            </a:extLst>
          </p:cNvPr>
          <p:cNvGrpSpPr/>
          <p:nvPr/>
        </p:nvGrpSpPr>
        <p:grpSpPr>
          <a:xfrm>
            <a:off x="6977375" y="4082167"/>
            <a:ext cx="4541809" cy="2699633"/>
            <a:chOff x="6908363" y="4082167"/>
            <a:chExt cx="4541809" cy="2699633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731411A-E69B-230A-1DC4-6C1371E0AEE4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37A06576-177D-81D6-1F96-DD1047945A8B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D16E6DA3-35D7-DAEC-80C5-C9F0B246C03A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02D66E0B-0C04-815E-B63F-1E3984996A86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44155BF0-440C-2848-4132-8F8EC5323AE8}"/>
                  </a:ext>
                </a:extLst>
              </p:cNvPr>
              <p:cNvCxnSpPr>
                <a:cxnSpLocks/>
                <a:stCxn id="36" idx="3"/>
                <a:endCxn id="38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2D1B9ECE-0714-F0F6-67FA-AE15EAA4B2E4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E0CFE077-5C94-2C3A-E464-DDF626E6107D}"/>
                  </a:ext>
                </a:extLst>
              </p:cNvPr>
              <p:cNvCxnSpPr>
                <a:cxnSpLocks/>
                <a:stCxn id="37" idx="4"/>
                <a:endCxn id="44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F56929D1-3005-12DD-5975-5C1A76DC280A}"/>
                  </a:ext>
                </a:extLst>
              </p:cNvPr>
              <p:cNvCxnSpPr>
                <a:cxnSpLocks/>
                <a:stCxn id="38" idx="5"/>
                <a:endCxn id="44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1FA43BD8-B972-B8F0-EC5E-A8D150C35AD3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68536034-409E-759E-8FA9-5D8D66B7E3E7}"/>
                  </a:ext>
                </a:extLst>
              </p:cNvPr>
              <p:cNvCxnSpPr>
                <a:cxnSpLocks/>
                <a:stCxn id="36" idx="5"/>
                <a:endCxn id="37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11218CA-BDDD-1818-A2A9-063D87EC850C}"/>
                  </a:ext>
                </a:extLst>
              </p:cNvPr>
              <p:cNvCxnSpPr>
                <a:cxnSpLocks/>
                <a:stCxn id="52" idx="2"/>
                <a:endCxn id="36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C0D741A2-EE49-B0D4-D34D-8AAB8AFDA66D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6C9DBEE4-1EEA-5CED-48D4-F73D7047FD7F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86335E74-847F-EE42-B6CB-BC1746F11A05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40333A12-48C9-519A-AE85-B5AA5470DFD7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876C5E45-0FAD-4B69-9E9A-6DD6EBBFB992}"/>
                  </a:ext>
                </a:extLst>
              </p:cNvPr>
              <p:cNvCxnSpPr>
                <a:cxnSpLocks/>
                <a:stCxn id="52" idx="6"/>
                <a:endCxn id="55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A26E64C1-E8C3-18FD-5888-210C0EFDAD74}"/>
                  </a:ext>
                </a:extLst>
              </p:cNvPr>
              <p:cNvCxnSpPr>
                <a:cxnSpLocks/>
                <a:stCxn id="56" idx="0"/>
                <a:endCxn id="55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AF0B49AF-E61B-B215-CEFB-655C9296C0E8}"/>
                  </a:ext>
                </a:extLst>
              </p:cNvPr>
              <p:cNvCxnSpPr>
                <a:cxnSpLocks/>
                <a:stCxn id="55" idx="6"/>
                <a:endCxn id="57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6602F610-1463-F766-C363-4BF74B719266}"/>
                  </a:ext>
                </a:extLst>
              </p:cNvPr>
              <p:cNvCxnSpPr>
                <a:cxnSpLocks/>
                <a:stCxn id="57" idx="4"/>
                <a:endCxn id="58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418F596B-FDD0-7DB1-0308-13379230C83C}"/>
                  </a:ext>
                </a:extLst>
              </p:cNvPr>
              <p:cNvCxnSpPr>
                <a:cxnSpLocks/>
                <a:stCxn id="55" idx="5"/>
                <a:endCxn id="58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C5FB388-7A1B-0CB9-E0AD-BF26E8D36523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4F25492-2627-38E5-AF06-62986D556519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F694F6B-D0E7-4639-40A4-DC691DF2F60E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CA6EB2A-C7C2-DF39-B544-7DC75B336891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A4E62CD-D6F7-4E75-4DDE-D05178760F66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FCB0C23-9347-99F4-499C-8907563AAFF9}"/>
                </a:ext>
              </a:extLst>
            </p:cNvPr>
            <p:cNvCxnSpPr>
              <a:stCxn id="37" idx="0"/>
              <a:endCxn id="52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34E04E-DFE4-AD50-853C-3D0532F5161A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22875E5-BFC1-F49E-DC2D-31EFE9F75268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[7]</a:t>
              </a:r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B2B2107-D499-E7E3-55F4-CC4C2E05E54E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A863168-D88C-874F-EE6B-A2FD55D1F47C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08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94752" y="1502997"/>
            <a:ext cx="10000977" cy="4203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割边判定法则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由于遍历的是无向图，所以从每个点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出发，总能访问到它的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父节点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。根据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的计算方法，（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）属于搜索树上的边，且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的子节点，故不能用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的时间戳来更新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（例如节点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但是，如果仅记录每个节点的父节点，会无法处理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重边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的情况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之间有多条边时，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(x,fa)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一定不是桥。在这些重复边中，只有一条是搜索树中的边，其他的都不算。故有重边时，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dfn[fa]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能用来更新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一个好的解决方案：改为记录“递归进入每个节点的边的编号”，即邻接表中边中存储的下标位置。这里可以使用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“成对”变换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技巧。把无向图的每条边看做双向边，成对存储在下标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3,4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等处。若沿着编号为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的边递归进入到节点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，则忽略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出发的编号为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i^1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的边，通过其他边计算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即可。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457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D4960D-F8F3-C34B-0FDF-540E331018B9}"/>
              </a:ext>
            </a:extLst>
          </p:cNvPr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7CC2A1-3F5A-21A4-079B-F57D82A046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8750" y="2115359"/>
            <a:ext cx="656272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988220" y="1281055"/>
                <a:ext cx="10000977" cy="3249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割点判定法则</a:t>
                </a:r>
                <a:endParaRPr lang="en-US" altLang="zh-CN" sz="1600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若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不是搜索树的根节点，则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是割点仅当搜索树上存在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的一个子节点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满足：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dfn[x]&lt;=low[y]</a:t>
                </a:r>
              </a:p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特别地，若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是搜索树的根节点，则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是割点当且仅当搜索树上存在至少两个子节点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zh-CN" altLang="en-US" sz="160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、</m:t>
                    </m:r>
                    <m:sSub>
                      <m:sSub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𝑦</m:t>
                        </m:r>
                      </m:e>
                      <m:sub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满足上述条件。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在求割点的时候，由于判定法则是小于等于号，所以不必考虑父节点和重边的问题（即使更新也不会影响结果），从</a:t>
                </a:r>
                <a:r>
                  <a:rPr lang="en-US" altLang="zh-CN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出发能访问到的所有点都可以用来更新</a:t>
                </a:r>
                <a:r>
                  <a:rPr lang="en-US" altLang="zh-CN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low(x)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如右图割点为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和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6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20" y="1281055"/>
                <a:ext cx="10000977" cy="3249736"/>
              </a:xfrm>
              <a:prstGeom prst="rect">
                <a:avLst/>
              </a:prstGeom>
              <a:blipFill>
                <a:blip r:embed="rId2" cstate="print"/>
                <a:stretch>
                  <a:fillRect l="-305" b="-1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C6BB1049-5EF9-1552-CB8D-54361E7A4CA7}"/>
              </a:ext>
            </a:extLst>
          </p:cNvPr>
          <p:cNvGrpSpPr/>
          <p:nvPr/>
        </p:nvGrpSpPr>
        <p:grpSpPr>
          <a:xfrm>
            <a:off x="6387988" y="3789204"/>
            <a:ext cx="4541809" cy="2699633"/>
            <a:chOff x="6908363" y="4082167"/>
            <a:chExt cx="4541809" cy="269963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1BFACE2-936B-C5BC-2DDB-A3C94CA251DB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B09EC0FB-A611-9C30-DF90-72E7087E34C8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2903D2DC-6D94-1387-25AA-D91C0D51B08A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7FD79A8-3564-B442-EF1A-5F45B0A36D59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5F18161C-A1E8-EE55-7C60-DB579F52A9C1}"/>
                  </a:ext>
                </a:extLst>
              </p:cNvPr>
              <p:cNvCxnSpPr>
                <a:cxnSpLocks/>
                <a:stCxn id="17" idx="3"/>
                <a:endCxn id="19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7FECFADF-D412-F322-FF37-E9E041193206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AA672A3-9DD3-D46D-9305-AE586C6AC7B4}"/>
                  </a:ext>
                </a:extLst>
              </p:cNvPr>
              <p:cNvCxnSpPr>
                <a:cxnSpLocks/>
                <a:stCxn id="18" idx="4"/>
                <a:endCxn id="21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EB1FA88F-4601-5D5C-5763-0DA00F07FAC3}"/>
                  </a:ext>
                </a:extLst>
              </p:cNvPr>
              <p:cNvCxnSpPr>
                <a:cxnSpLocks/>
                <a:stCxn id="19" idx="5"/>
                <a:endCxn id="21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55A47610-9D19-67C5-7032-AB6792CE4AE0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26421CEA-C692-2BEA-FE0C-F54A60F932CC}"/>
                  </a:ext>
                </a:extLst>
              </p:cNvPr>
              <p:cNvCxnSpPr>
                <a:cxnSpLocks/>
                <a:stCxn id="17" idx="5"/>
                <a:endCxn id="18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C59F3B8-179B-597A-F9BD-9C1A82168A66}"/>
                  </a:ext>
                </a:extLst>
              </p:cNvPr>
              <p:cNvCxnSpPr>
                <a:cxnSpLocks/>
                <a:stCxn id="24" idx="2"/>
                <a:endCxn id="17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A484B1FC-E8A7-A399-68BB-EDBB3581835D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4B96A02-48AF-69BA-1500-E91D2AFF5864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E91C3C0F-214D-F04A-32BD-767CD61D2385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C1731FED-4031-F6F1-1E46-32AFE203BB03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CB471E6-229E-6BDE-4D8F-0C04B5C3844E}"/>
                  </a:ext>
                </a:extLst>
              </p:cNvPr>
              <p:cNvCxnSpPr>
                <a:cxnSpLocks/>
                <a:stCxn id="24" idx="6"/>
                <a:endCxn id="27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8816BFEE-0F77-8AA9-C665-5A808CFE04EC}"/>
                  </a:ext>
                </a:extLst>
              </p:cNvPr>
              <p:cNvCxnSpPr>
                <a:cxnSpLocks/>
                <a:stCxn id="28" idx="0"/>
                <a:endCxn id="27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7E41E46-02A9-BCEA-198C-5F66F3438D1D}"/>
                  </a:ext>
                </a:extLst>
              </p:cNvPr>
              <p:cNvCxnSpPr>
                <a:cxnSpLocks/>
                <a:stCxn id="27" idx="6"/>
                <a:endCxn id="29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16B42B79-24C0-2965-8DDE-31F1FF81C0BC}"/>
                  </a:ext>
                </a:extLst>
              </p:cNvPr>
              <p:cNvCxnSpPr>
                <a:cxnSpLocks/>
                <a:stCxn id="29" idx="4"/>
                <a:endCxn id="30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6DF1E17-5B2F-162F-F18F-3EA684420C6A}"/>
                  </a:ext>
                </a:extLst>
              </p:cNvPr>
              <p:cNvCxnSpPr>
                <a:cxnSpLocks/>
                <a:stCxn id="27" idx="5"/>
                <a:endCxn id="30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FE33420-8B38-7A1D-BA30-B43B16017AFC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486C094-E582-39B4-F745-8CC2AE7E574F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7545A48-E071-E36F-9902-3C0B8F696845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005A4B2-6475-DAF1-D02C-396E097E7D6C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483B25C-1F0B-C98E-A0B3-3AF57B335E6C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A0BC0FB-466A-2DE5-B5F7-5617AD059222}"/>
                </a:ext>
              </a:extLst>
            </p:cNvPr>
            <p:cNvCxnSpPr>
              <a:stCxn id="18" idx="0"/>
              <a:endCxn id="24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26E770D-7A81-34C2-1355-D28C705BB75D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2"/>
                  </a:solidFill>
                </a:rPr>
                <a:t>[1]</a:t>
              </a:r>
              <a:endParaRPr lang="zh-CN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BF95FA4-1A21-9812-C4A4-7078DA437202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2"/>
                  </a:solidFill>
                </a:rPr>
                <a:t>[6]</a:t>
              </a:r>
              <a:endParaRPr lang="zh-CN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6AEE36F-7AF2-9F4D-2D82-136E43B338B8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0620B98-D424-047E-6A57-A6FE82ADA0AE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2815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D4960D-F8F3-C34B-0FDF-540E331018B9}"/>
              </a:ext>
            </a:extLst>
          </p:cNvPr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C1D418-F1C6-B83A-370F-EBFAADC976C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01907" y="1869443"/>
            <a:ext cx="634365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7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173162"/>
            <a:ext cx="10060582" cy="11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 bozj1123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D2463B-BE24-5D44-FA53-1250F7E08BE3}"/>
              </a:ext>
            </a:extLst>
          </p:cNvPr>
          <p:cNvSpPr txBox="1"/>
          <p:nvPr/>
        </p:nvSpPr>
        <p:spPr>
          <a:xfrm>
            <a:off x="914375" y="1565023"/>
            <a:ext cx="9672592" cy="521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】Byteotia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城市有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个城镇，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条双向道路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每条道路连接两个不同的城镇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没有重复的道路，所有城镇连通。把城镇看做节点，把道路看做边，整个城市构成一张无向图。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】n&lt;=100000 m&lt;=500000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个整数，其中第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个整数表示把与节点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关联的所有边去掉之后（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不去掉节点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），无向图中有多少个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有序点对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），满足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不连通。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4 5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86C67B-A2A7-38CD-3FC9-189B0F625AB4}"/>
              </a:ext>
            </a:extLst>
          </p:cNvPr>
          <p:cNvSpPr txBox="1"/>
          <p:nvPr/>
        </p:nvSpPr>
        <p:spPr>
          <a:xfrm>
            <a:off x="3008010" y="4491114"/>
            <a:ext cx="6094562" cy="2112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8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8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16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B69F47-FE75-D83B-42A7-ED0FCFEAD22B}"/>
              </a:ext>
            </a:extLst>
          </p:cNvPr>
          <p:cNvSpPr txBox="1"/>
          <p:nvPr/>
        </p:nvSpPr>
        <p:spPr>
          <a:xfrm>
            <a:off x="2798281" y="3980590"/>
            <a:ext cx="6094562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D7403A9-5628-E33B-AB3E-89DB02260B66}"/>
              </a:ext>
            </a:extLst>
          </p:cNvPr>
          <p:cNvGrpSpPr/>
          <p:nvPr/>
        </p:nvGrpSpPr>
        <p:grpSpPr>
          <a:xfrm>
            <a:off x="5302960" y="3789204"/>
            <a:ext cx="4541809" cy="2699633"/>
            <a:chOff x="6908363" y="4082167"/>
            <a:chExt cx="4541809" cy="269963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5B0B002-AD64-7711-55C5-48BD03EB9488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4543BC7-B953-5A5E-22AF-2849AE169B9E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470E2916-C4E9-DC3D-6C69-DFFF7AE5A787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800958EE-9536-48BC-5691-E71ECA20C578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A14AC00B-B020-BFA2-7E9D-91695A0A82E1}"/>
                  </a:ext>
                </a:extLst>
              </p:cNvPr>
              <p:cNvCxnSpPr>
                <a:cxnSpLocks/>
                <a:stCxn id="21" idx="3"/>
                <a:endCxn id="23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8B8F921F-1F77-5CFD-5774-F3CA7BCA9D2B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68A718E-C9A7-732F-C668-1EA8E747206C}"/>
                  </a:ext>
                </a:extLst>
              </p:cNvPr>
              <p:cNvCxnSpPr>
                <a:cxnSpLocks/>
                <a:stCxn id="22" idx="4"/>
                <a:endCxn id="25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7A3E36A-BA56-EFC9-5C83-0E6A242FAA7A}"/>
                  </a:ext>
                </a:extLst>
              </p:cNvPr>
              <p:cNvCxnSpPr>
                <a:cxnSpLocks/>
                <a:stCxn id="23" idx="5"/>
                <a:endCxn id="25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741702A-BA0A-DCDF-E495-25A8A4220E6E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43F20C98-EF53-737C-7DED-23F971B98C5E}"/>
                  </a:ext>
                </a:extLst>
              </p:cNvPr>
              <p:cNvCxnSpPr>
                <a:cxnSpLocks/>
                <a:stCxn id="21" idx="5"/>
                <a:endCxn id="22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A83523C8-BCC2-69B0-BC58-771FECBA2386}"/>
                  </a:ext>
                </a:extLst>
              </p:cNvPr>
              <p:cNvCxnSpPr>
                <a:cxnSpLocks/>
                <a:stCxn id="28" idx="2"/>
                <a:endCxn id="21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8864DAED-189B-E95D-72E5-0D74F22D0D6D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55310C7F-26A3-77F7-BC34-E682F84857F3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2E286F06-63DE-9104-27FE-C9763070AA49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E142298-346F-A94C-6D66-E20034227C14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50C5933-F892-58E2-F7B8-BC3D26F6E4D1}"/>
                  </a:ext>
                </a:extLst>
              </p:cNvPr>
              <p:cNvCxnSpPr>
                <a:cxnSpLocks/>
                <a:stCxn id="28" idx="6"/>
                <a:endCxn id="31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D65D1833-0268-3C96-6860-7BA23BB321B9}"/>
                  </a:ext>
                </a:extLst>
              </p:cNvPr>
              <p:cNvCxnSpPr>
                <a:cxnSpLocks/>
                <a:stCxn id="32" idx="0"/>
                <a:endCxn id="31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E0CE3EC5-C294-28C4-D1BC-80C7285909CC}"/>
                  </a:ext>
                </a:extLst>
              </p:cNvPr>
              <p:cNvCxnSpPr>
                <a:cxnSpLocks/>
                <a:stCxn id="31" idx="6"/>
                <a:endCxn id="33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3075D071-4DD1-306C-8FAA-A7AF3D31C3D6}"/>
                  </a:ext>
                </a:extLst>
              </p:cNvPr>
              <p:cNvCxnSpPr>
                <a:cxnSpLocks/>
                <a:stCxn id="33" idx="4"/>
                <a:endCxn id="34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BC4AA866-E825-AA55-BCD9-8921039930D5}"/>
                  </a:ext>
                </a:extLst>
              </p:cNvPr>
              <p:cNvCxnSpPr>
                <a:cxnSpLocks/>
                <a:stCxn id="31" idx="5"/>
                <a:endCxn id="34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74F422A-91BB-10C8-475F-A0F9105E507B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D5525C-26AB-06A1-A82D-B37A17933BA1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B1A314A-0D13-836B-C875-01D8DA713578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F9AAB80-518A-5E06-5386-CCA4D3D70891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4FCF430-BA63-9366-C41D-E22BE83F8A4D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8FEA9BA-3102-C880-2495-58CC820150F2}"/>
                </a:ext>
              </a:extLst>
            </p:cNvPr>
            <p:cNvCxnSpPr>
              <a:stCxn id="22" idx="0"/>
              <a:endCxn id="28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F3A907B-5F4E-5355-4E24-9FB64BE8442F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2"/>
                  </a:solidFill>
                </a:rPr>
                <a:t>[1]</a:t>
              </a:r>
              <a:endParaRPr lang="zh-CN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BEEB83A-D803-1D3E-1D8A-DBC44863BA6B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2"/>
                  </a:solidFill>
                </a:rPr>
                <a:t>[6]</a:t>
              </a:r>
              <a:endParaRPr lang="zh-CN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4379A4D-2136-E922-4E51-1C2E77ABABC8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97DFD52-E790-0838-1240-B25411C1DF1C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638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2A6064E-6F71-6C87-A49A-E690AAB70EA3}"/>
                  </a:ext>
                </a:extLst>
              </p:cNvPr>
              <p:cNvSpPr txBox="1"/>
              <p:nvPr/>
            </p:nvSpPr>
            <p:spPr>
              <a:xfrm>
                <a:off x="1157737" y="1784186"/>
                <a:ext cx="9876526" cy="4963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根据割点定义，若节点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不是割点，则把节点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关联的所有边去掉后，只有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与其他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n-1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个节点不连通，而其他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n-1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个节点还是连通的。题目所求为有序点对，即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x,y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y,x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算不同点对，此时答案为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2*(n-1)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spcBef>
                    <a:spcPts val="1000"/>
                  </a:spcBef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若节点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是割点，则把节点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关联的所有边去掉之后，图会分成若干个连通块。我们应该求出这些连通块的大小，两两相乘在相加。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在图论的连通性问题上，我们通常要从搜索树的角度进行分析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。设在搜索树上，节点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的子节点集合中，有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en-US" altLang="zh-CN" sz="16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，满足割点判定法则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dfn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low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于是，删除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关联的所有边之后，无向图分成至多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t+2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个连通块，每个节点连通块构成情况为：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spcBef>
                    <a:spcPts val="1000"/>
                  </a:spcBef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自身构成一个连通块；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spcBef>
                    <a:spcPts val="1000"/>
                  </a:spcBef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个连通块，分别有搜索树上以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）为根的子树中的节点构成。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spcBef>
                    <a:spcPts val="1000"/>
                  </a:spcBef>
                  <a:defRPr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还可能由一个连通块，由除了上诉节点外的所有点构成（节点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的父节点相连的节点）。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2A6064E-6F71-6C87-A49A-E690AAB70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737" y="1784186"/>
                <a:ext cx="9876526" cy="4963025"/>
              </a:xfrm>
              <a:prstGeom prst="rect">
                <a:avLst/>
              </a:prstGeom>
              <a:blipFill>
                <a:blip r:embed="rId2" cstate="print"/>
                <a:stretch>
                  <a:fillRect l="-370" r="-2037" b="-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55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CB5C8CC-2677-A9E5-5D28-9A1ADFF00010}"/>
                  </a:ext>
                </a:extLst>
              </p:cNvPr>
              <p:cNvSpPr txBox="1"/>
              <p:nvPr/>
            </p:nvSpPr>
            <p:spPr>
              <a:xfrm>
                <a:off x="1156978" y="1784186"/>
                <a:ext cx="9876526" cy="2606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不妨在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Tarjan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算法执行深度优先遍历的过程中顺便求出搜索树每棵“子树”的大小。设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size[x]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为根的子树大小。综上所述，删掉一个割点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之后，不连通的有序对数量为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</a:p>
              <a:p>
                <a:pPr lvl="0">
                  <a:lnSpc>
                    <a:spcPct val="200000"/>
                  </a:lnSpc>
                  <a:spcBef>
                    <a:spcPts val="1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size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𝑠𝑖𝑧𝑒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size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𝑠𝑖𝑧𝑒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size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16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𝑠𝑖𝑧𝑒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+1∗</m:t>
                      </m:r>
                      <m:d>
                        <m:d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e>
                      </m:d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+(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𝑛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−1−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</m:t>
                          </m:r>
                        </m:sup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𝑠𝑖𝑧𝑒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])∗(1+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𝑠𝑖𝑧𝑒</m:t>
                              </m:r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])</m:t>
                              </m:r>
                            </m:e>
                          </m:nary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CB5C8CC-2677-A9E5-5D28-9A1ADFF00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78" y="1784186"/>
                <a:ext cx="9876526" cy="2606867"/>
              </a:xfrm>
              <a:prstGeom prst="rect">
                <a:avLst/>
              </a:prstGeom>
              <a:blipFill>
                <a:blip r:embed="rId2" cstate="print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313949C7-E223-81FD-1FC7-749019D11DBD}"/>
              </a:ext>
            </a:extLst>
          </p:cNvPr>
          <p:cNvGrpSpPr/>
          <p:nvPr/>
        </p:nvGrpSpPr>
        <p:grpSpPr>
          <a:xfrm>
            <a:off x="5409292" y="3967033"/>
            <a:ext cx="4541809" cy="2289896"/>
            <a:chOff x="1801525" y="4477108"/>
            <a:chExt cx="4541809" cy="2289896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7F0937F-E100-4B58-1CAF-27154A8A480F}"/>
                </a:ext>
              </a:extLst>
            </p:cNvPr>
            <p:cNvSpPr/>
            <p:nvPr/>
          </p:nvSpPr>
          <p:spPr>
            <a:xfrm>
              <a:off x="2439674" y="4650519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A9C7CCC-6F6A-7E26-6D12-2720C185B1B2}"/>
                </a:ext>
              </a:extLst>
            </p:cNvPr>
            <p:cNvSpPr/>
            <p:nvPr/>
          </p:nvSpPr>
          <p:spPr>
            <a:xfrm>
              <a:off x="3449401" y="552012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361C677-5BD1-EAF7-8640-D558CF88B931}"/>
                </a:ext>
              </a:extLst>
            </p:cNvPr>
            <p:cNvSpPr/>
            <p:nvPr/>
          </p:nvSpPr>
          <p:spPr>
            <a:xfrm>
              <a:off x="1801525" y="5573557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D5136C0-B755-120E-B3BD-9D7D39010F34}"/>
                </a:ext>
              </a:extLst>
            </p:cNvPr>
            <p:cNvCxnSpPr>
              <a:cxnSpLocks/>
              <a:stCxn id="7" idx="3"/>
              <a:endCxn id="10" idx="7"/>
            </p:cNvCxnSpPr>
            <p:nvPr/>
          </p:nvCxnSpPr>
          <p:spPr>
            <a:xfrm flipH="1">
              <a:off x="2202124" y="5051118"/>
              <a:ext cx="306282" cy="59117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A9E0E64-5009-384A-B3DD-60697AB33B32}"/>
                </a:ext>
              </a:extLst>
            </p:cNvPr>
            <p:cNvSpPr/>
            <p:nvPr/>
          </p:nvSpPr>
          <p:spPr>
            <a:xfrm>
              <a:off x="2674339" y="6297673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6953351-4CAC-5E04-6CCA-42D2561F4984}"/>
                </a:ext>
              </a:extLst>
            </p:cNvPr>
            <p:cNvCxnSpPr>
              <a:cxnSpLocks/>
              <a:stCxn id="9" idx="4"/>
              <a:endCxn id="12" idx="7"/>
            </p:cNvCxnSpPr>
            <p:nvPr/>
          </p:nvCxnSpPr>
          <p:spPr>
            <a:xfrm flipH="1">
              <a:off x="3074938" y="5989452"/>
              <a:ext cx="609129" cy="37695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6C6C571-48DC-E2B5-E6E8-DFAC9BD56DF2}"/>
                </a:ext>
              </a:extLst>
            </p:cNvPr>
            <p:cNvCxnSpPr>
              <a:cxnSpLocks/>
              <a:stCxn id="10" idx="5"/>
              <a:endCxn id="12" idx="1"/>
            </p:cNvCxnSpPr>
            <p:nvPr/>
          </p:nvCxnSpPr>
          <p:spPr>
            <a:xfrm>
              <a:off x="2202124" y="5974156"/>
              <a:ext cx="540947" cy="39224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DCAC8D1-19D3-B350-C0EB-F8182AA5D986}"/>
                </a:ext>
              </a:extLst>
            </p:cNvPr>
            <p:cNvSpPr/>
            <p:nvPr/>
          </p:nvSpPr>
          <p:spPr>
            <a:xfrm>
              <a:off x="3712409" y="4477108"/>
              <a:ext cx="469331" cy="469331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ED3F0F5-7491-10EA-F4AD-BC271DF178DB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2840273" y="5051118"/>
              <a:ext cx="677860" cy="53773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774CB6C3-BDBB-4F38-7E2C-B3750419EBEF}"/>
                </a:ext>
              </a:extLst>
            </p:cNvPr>
            <p:cNvCxnSpPr>
              <a:cxnSpLocks/>
              <a:stCxn id="15" idx="2"/>
              <a:endCxn id="7" idx="6"/>
            </p:cNvCxnSpPr>
            <p:nvPr/>
          </p:nvCxnSpPr>
          <p:spPr>
            <a:xfrm flipH="1">
              <a:off x="2909005" y="4711774"/>
              <a:ext cx="803404" cy="17341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6565AEE-E17F-9F83-139F-6C496399E693}"/>
                </a:ext>
              </a:extLst>
            </p:cNvPr>
            <p:cNvSpPr/>
            <p:nvPr/>
          </p:nvSpPr>
          <p:spPr>
            <a:xfrm>
              <a:off x="4543288" y="5002004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13BAAA6-0A50-9321-FDD3-3042AD8DFFB9}"/>
                </a:ext>
              </a:extLst>
            </p:cNvPr>
            <p:cNvSpPr/>
            <p:nvPr/>
          </p:nvSpPr>
          <p:spPr>
            <a:xfrm>
              <a:off x="4393281" y="5935614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E608E3D-CF24-ED23-14D6-D817DBB74D35}"/>
                </a:ext>
              </a:extLst>
            </p:cNvPr>
            <p:cNvSpPr/>
            <p:nvPr/>
          </p:nvSpPr>
          <p:spPr>
            <a:xfrm>
              <a:off x="5874003" y="495099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9</a:t>
              </a:r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F3EB9C4-0891-68E0-A0D0-90655853C45B}"/>
                </a:ext>
              </a:extLst>
            </p:cNvPr>
            <p:cNvSpPr/>
            <p:nvPr/>
          </p:nvSpPr>
          <p:spPr>
            <a:xfrm>
              <a:off x="5779896" y="5927291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4255528-0B8A-C473-DD7E-47535F5882D5}"/>
                </a:ext>
              </a:extLst>
            </p:cNvPr>
            <p:cNvCxnSpPr>
              <a:cxnSpLocks/>
              <a:stCxn id="15" idx="6"/>
              <a:endCxn id="18" idx="1"/>
            </p:cNvCxnSpPr>
            <p:nvPr/>
          </p:nvCxnSpPr>
          <p:spPr>
            <a:xfrm>
              <a:off x="4181740" y="4711774"/>
              <a:ext cx="430280" cy="35896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41CBA41-E44F-199B-A580-BB731023801D}"/>
                </a:ext>
              </a:extLst>
            </p:cNvPr>
            <p:cNvCxnSpPr>
              <a:cxnSpLocks/>
              <a:stCxn id="19" idx="0"/>
              <a:endCxn id="18" idx="4"/>
            </p:cNvCxnSpPr>
            <p:nvPr/>
          </p:nvCxnSpPr>
          <p:spPr>
            <a:xfrm flipV="1">
              <a:off x="4627947" y="5471335"/>
              <a:ext cx="150007" cy="4642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CD09DEB-A563-E8C9-C048-6DAD469E2801}"/>
                </a:ext>
              </a:extLst>
            </p:cNvPr>
            <p:cNvCxnSpPr>
              <a:cxnSpLocks/>
              <a:stCxn id="18" idx="6"/>
              <a:endCxn id="20" idx="2"/>
            </p:cNvCxnSpPr>
            <p:nvPr/>
          </p:nvCxnSpPr>
          <p:spPr>
            <a:xfrm flipV="1">
              <a:off x="5012619" y="5185657"/>
              <a:ext cx="861384" cy="510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505C252-1EFC-F54F-93CF-69E0DC37EB77}"/>
                </a:ext>
              </a:extLst>
            </p:cNvPr>
            <p:cNvCxnSpPr>
              <a:cxnSpLocks/>
              <a:stCxn id="20" idx="4"/>
              <a:endCxn id="21" idx="0"/>
            </p:cNvCxnSpPr>
            <p:nvPr/>
          </p:nvCxnSpPr>
          <p:spPr>
            <a:xfrm flipH="1">
              <a:off x="6014562" y="5420322"/>
              <a:ext cx="94107" cy="50696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0A223FE-50AF-6D6D-40DF-AA2086F6372D}"/>
                </a:ext>
              </a:extLst>
            </p:cNvPr>
            <p:cNvCxnSpPr>
              <a:cxnSpLocks/>
              <a:stCxn id="18" idx="5"/>
              <a:endCxn id="21" idx="2"/>
            </p:cNvCxnSpPr>
            <p:nvPr/>
          </p:nvCxnSpPr>
          <p:spPr>
            <a:xfrm>
              <a:off x="4943887" y="5402603"/>
              <a:ext cx="836009" cy="75935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71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D4960D-F8F3-C34B-0FDF-540E331018B9}"/>
              </a:ext>
            </a:extLst>
          </p:cNvPr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585F4F-60B4-D8A2-3467-A517BD9767B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8092" y="1414854"/>
            <a:ext cx="8619105" cy="514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2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04900" y="1312826"/>
                <a:ext cx="9980682" cy="3342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无向图的双连通分量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若一张无向图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不存在割点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，则称为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点双连通图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。若一张无向连通图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不存在桥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，则称为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边双连通图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无向图的极大点双连通子图被称为点双连通分量，记为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v-DCC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。无向连通图的极大边双连通子图被称为边双连通分量，记为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e-DCC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。二者统称为双连通分量，简记为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DCC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我们称一个双连通图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𝐺</m:t>
                        </m:r>
                      </m:e>
                      <m:sup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  <m:r>
                      <a:rPr lang="en-US" altLang="zh-CN" sz="1600" b="0" i="0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=</m:t>
                    </m:r>
                    <m:d>
                      <m:dPr>
                        <m:ctrlP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1600" b="0" i="1" noProof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1600" b="0" i="0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1600" b="0" i="1" noProof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极大（其中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V</m:t>
                        </m:r>
                      </m:e>
                      <m:sup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⊆</m:t>
                    </m:r>
                    <m:r>
                      <a:rPr lang="en-US" altLang="zh-CN" sz="16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𝑉</m:t>
                    </m:r>
                    <m:r>
                      <a:rPr lang="en-US" altLang="zh-CN" sz="16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,</m:t>
                    </m:r>
                  </m:oMath>
                </a14:m>
                <a:r>
                  <a:rPr lang="en-US" altLang="zh-CN" sz="1600" noProof="1">
                    <a:ea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𝐸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⊆</m:t>
                    </m:r>
                    <m:r>
                      <a:rPr lang="en-US" altLang="zh-CN" sz="16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𝐸</m:t>
                    </m:r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,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是指不存在包含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𝐺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的更大的子图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𝐺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  <m:r>
                      <a:rPr lang="en-US" altLang="zh-CN" sz="1600" noProof="1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=</m:t>
                    </m:r>
                    <m:d>
                      <m:d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′</m:t>
                            </m:r>
                            <m:r>
                              <a:rPr lang="en-US" altLang="zh-CN" sz="1600" b="0" i="1" noProof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1600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CN" sz="1600" i="1" noProof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′</m:t>
                            </m:r>
                            <m:r>
                              <a:rPr lang="en-US" altLang="zh-CN" sz="1600" b="0" i="1" noProof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,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V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⊆</m:t>
                    </m:r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𝑉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′′</m:t>
                        </m:r>
                      </m:sup>
                    </m:sSup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⊆</m:t>
                    </m:r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𝑉</m:t>
                    </m:r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,</m:t>
                    </m:r>
                  </m:oMath>
                </a14:m>
                <a:r>
                  <a:rPr lang="en-US" altLang="zh-CN" sz="1600" noProof="1">
                    <a:ea typeface="微软雅黑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𝐸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⊆</m:t>
                    </m:r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𝐸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</m:t>
                        </m:r>
                      </m:sup>
                    </m:sSup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⊆</m:t>
                    </m:r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𝐸</m:t>
                    </m:r>
                    <m:r>
                      <a:rPr lang="en-US" altLang="zh-CN" sz="1600" i="1" noProof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并且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𝐺</m:t>
                        </m:r>
                      </m:e>
                      <m:sup>
                        <m:r>
                          <a:rPr lang="en-US" altLang="zh-CN" sz="1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也是双连通子图。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312826"/>
                <a:ext cx="9980682" cy="3342069"/>
              </a:xfrm>
              <a:prstGeom prst="rect">
                <a:avLst/>
              </a:prstGeom>
              <a:blipFill>
                <a:blip r:embed="rId2" cstate="print"/>
                <a:stretch>
                  <a:fillRect l="-305" b="-1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51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74970"/>
            <a:ext cx="9980682" cy="2972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定理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一张无向连通图是点双连通图，当且仅当满足下列两个条件之一：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图中的顶点数不超过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图中任意两点都包含在至少一个简单环中。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一张无向连通图是边双连通图，当且仅当任意一条边都包含在至少一个简单环中。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363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12826"/>
            <a:ext cx="9980682" cy="1618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边双联通量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(e-DCC)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的求法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边双连通分量的计算只需求出无向图中所有的桥，把桥都删除后，无向图会分成若干个连通块，每个连通块就是一个边双连通分量。下图中的无向图共有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,3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个边连通分量：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4144A84-1B3B-F4BB-DFA8-21290AD93291}"/>
              </a:ext>
            </a:extLst>
          </p:cNvPr>
          <p:cNvGrpSpPr/>
          <p:nvPr/>
        </p:nvGrpSpPr>
        <p:grpSpPr>
          <a:xfrm>
            <a:off x="1104900" y="3348025"/>
            <a:ext cx="4541809" cy="2699633"/>
            <a:chOff x="6908363" y="4082167"/>
            <a:chExt cx="4541809" cy="269963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D5EFFDA-1B07-B5DD-A5DB-EC7FE509AC16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E5E586E4-AD39-DD7F-ACD8-A3BB6E3B430F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A4F0D614-2C8F-4D89-E876-2C4455C387B9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84320DBA-C1DD-604D-9A9D-E44B3E7439C9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B2A1D0AE-4859-40D9-ECD2-97FB4A471B15}"/>
                  </a:ext>
                </a:extLst>
              </p:cNvPr>
              <p:cNvCxnSpPr>
                <a:cxnSpLocks/>
                <a:stCxn id="17" idx="3"/>
                <a:endCxn id="19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73E38EE-5E83-B0F0-C06F-6EF72B298A51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CDCF6CF1-D794-45D4-E743-6260053D6863}"/>
                  </a:ext>
                </a:extLst>
              </p:cNvPr>
              <p:cNvCxnSpPr>
                <a:cxnSpLocks/>
                <a:stCxn id="18" idx="4"/>
                <a:endCxn id="21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6450A9B2-0BFC-A823-2BB3-E3D2D55F549B}"/>
                  </a:ext>
                </a:extLst>
              </p:cNvPr>
              <p:cNvCxnSpPr>
                <a:cxnSpLocks/>
                <a:stCxn id="19" idx="5"/>
                <a:endCxn id="21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FF57972A-644F-DA09-325F-3EC8898D196C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802681F6-FF84-C7BB-FF56-8750B90C0B1E}"/>
                  </a:ext>
                </a:extLst>
              </p:cNvPr>
              <p:cNvCxnSpPr>
                <a:cxnSpLocks/>
                <a:stCxn id="17" idx="5"/>
                <a:endCxn id="18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B16583B-F679-7ABE-2274-F0E0F20FDF32}"/>
                  </a:ext>
                </a:extLst>
              </p:cNvPr>
              <p:cNvCxnSpPr>
                <a:cxnSpLocks/>
                <a:stCxn id="24" idx="2"/>
                <a:endCxn id="17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C65275D9-8F31-CC5E-D64E-354A3FDF0041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DF943AB-01C3-4CF8-BBAC-59E06491F875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74560619-2EE0-5156-82C1-7C39885DC1B6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1E0B96CE-3D8D-4423-5FBA-2FDE04284B98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031C5343-774A-23A3-4C3E-6BF9F7F97A1A}"/>
                  </a:ext>
                </a:extLst>
              </p:cNvPr>
              <p:cNvCxnSpPr>
                <a:cxnSpLocks/>
                <a:stCxn id="24" idx="6"/>
                <a:endCxn id="27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ABC22C9A-15A7-B303-F92C-D852D59B14E7}"/>
                  </a:ext>
                </a:extLst>
              </p:cNvPr>
              <p:cNvCxnSpPr>
                <a:cxnSpLocks/>
                <a:stCxn id="28" idx="0"/>
                <a:endCxn id="27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DEC4B6A4-2853-6BF6-2B5F-CB4897C7CDD4}"/>
                  </a:ext>
                </a:extLst>
              </p:cNvPr>
              <p:cNvCxnSpPr>
                <a:cxnSpLocks/>
                <a:stCxn id="27" idx="6"/>
                <a:endCxn id="29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FBFB209-5977-D1A4-94E3-257261AE747C}"/>
                  </a:ext>
                </a:extLst>
              </p:cNvPr>
              <p:cNvCxnSpPr>
                <a:cxnSpLocks/>
                <a:stCxn id="29" idx="4"/>
                <a:endCxn id="30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D8F6634-E255-CF2F-BA60-30F37B72D510}"/>
                  </a:ext>
                </a:extLst>
              </p:cNvPr>
              <p:cNvCxnSpPr>
                <a:cxnSpLocks/>
                <a:stCxn id="27" idx="5"/>
                <a:endCxn id="30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741FCE9-D1E9-61DE-9454-282B5A06C316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3A5DCBE-8BD9-C9C6-E381-CB10D164BEE8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E24AF49-84A1-1C24-8D56-4057B9511D1F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0F47CBD-EB08-4DF9-A32C-5A52C53AFFE1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A5DF27C-034E-E1D3-36DE-930E503C36F9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9806A97-1BC1-E736-95E4-73CD6D8783EC}"/>
                </a:ext>
              </a:extLst>
            </p:cNvPr>
            <p:cNvCxnSpPr>
              <a:stCxn id="18" idx="0"/>
              <a:endCxn id="24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4033285-1BC6-80EF-556A-ABE6469C131D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FE026F2-BE49-D625-FDBD-7AC2A82AC624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[7]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82D90F9-AF5E-0A87-26C0-BB6B473C0D21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DF4F4FD-4B8B-ADBA-3568-1932E5EEBCE2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E404394-3B39-8DC8-7548-2B475E674366}"/>
              </a:ext>
            </a:extLst>
          </p:cNvPr>
          <p:cNvGrpSpPr/>
          <p:nvPr/>
        </p:nvGrpSpPr>
        <p:grpSpPr>
          <a:xfrm>
            <a:off x="6439360" y="3250822"/>
            <a:ext cx="4541809" cy="2699633"/>
            <a:chOff x="6908363" y="4082167"/>
            <a:chExt cx="4541809" cy="2699633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89F0AAD7-4577-9DF5-C01C-A46C741CED4D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6FA00A84-FC4A-20EB-E6FD-296C521369DF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3D884E34-1E03-2943-EBD6-A615A1D6CE0C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E103F640-EBC7-F7E8-01F6-159959701CCB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05750FF-7A68-E8BB-65D1-EE0C6E29110D}"/>
                  </a:ext>
                </a:extLst>
              </p:cNvPr>
              <p:cNvCxnSpPr>
                <a:cxnSpLocks/>
                <a:stCxn id="48" idx="3"/>
                <a:endCxn id="50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83C96E8D-0FC0-6202-F79B-A5232714A10F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436B0407-BF22-9996-2FA1-C5DA064ADCC3}"/>
                  </a:ext>
                </a:extLst>
              </p:cNvPr>
              <p:cNvCxnSpPr>
                <a:cxnSpLocks/>
                <a:stCxn id="49" idx="4"/>
                <a:endCxn id="52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25621B00-BBB2-95A1-2085-21370A502F1D}"/>
                  </a:ext>
                </a:extLst>
              </p:cNvPr>
              <p:cNvCxnSpPr>
                <a:cxnSpLocks/>
                <a:stCxn id="50" idx="5"/>
                <a:endCxn id="52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F1FDA359-DC56-9346-2340-67125A055CFD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2EF48A9F-27B7-C012-3D56-5A0A5DF6E413}"/>
                  </a:ext>
                </a:extLst>
              </p:cNvPr>
              <p:cNvCxnSpPr>
                <a:cxnSpLocks/>
                <a:stCxn id="48" idx="5"/>
                <a:endCxn id="49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1DC23F67-4DCE-4738-458F-6B3E9BFDFC22}"/>
                  </a:ext>
                </a:extLst>
              </p:cNvPr>
              <p:cNvCxnSpPr>
                <a:cxnSpLocks/>
                <a:stCxn id="55" idx="2"/>
                <a:endCxn id="48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68C8FED9-37C6-8CBD-F629-5976E17CC9BA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45BE86D-3292-6E7E-2F0A-1DFC561FF36B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21BF3964-EBA2-7373-31B6-DE8171C041FA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5B544609-4D57-62B6-C9D2-1953C78FE8C0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875BDF24-3AE5-C0BC-D920-71845D003FF2}"/>
                  </a:ext>
                </a:extLst>
              </p:cNvPr>
              <p:cNvCxnSpPr>
                <a:cxnSpLocks/>
                <a:stCxn id="58" idx="6"/>
                <a:endCxn id="60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CB594659-5757-E7A1-D579-8988F50A0651}"/>
                  </a:ext>
                </a:extLst>
              </p:cNvPr>
              <p:cNvCxnSpPr>
                <a:cxnSpLocks/>
                <a:stCxn id="60" idx="4"/>
                <a:endCxn id="61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49E52105-9A2A-B1DA-6474-803B7288C570}"/>
                  </a:ext>
                </a:extLst>
              </p:cNvPr>
              <p:cNvCxnSpPr>
                <a:cxnSpLocks/>
                <a:stCxn id="58" idx="5"/>
                <a:endCxn id="61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DEAA182-8485-B0CE-ED47-52F46E39A6D4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4ED7908-4074-9837-5598-776D237890C3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6C4082C-BBD0-6675-88D6-14303B3A7DDB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7D152AD-11C5-8F01-CD15-97B9636359FA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A50BA37-E5BE-7C6C-858B-C88CDCFBB9F2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E657ED51-795D-A9C0-5D39-DDB6D46C1894}"/>
                </a:ext>
              </a:extLst>
            </p:cNvPr>
            <p:cNvCxnSpPr>
              <a:stCxn id="49" idx="0"/>
              <a:endCxn id="55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1FEAAFBA-93C8-88C0-6F07-98E48B63BE4C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C6C03D8-9B13-1709-5E02-299BB69CF208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[7]</a:t>
              </a:r>
              <a:endParaRPr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320BFF0-1ED3-1B73-4F3A-166DAA8AC53B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2DEB90A-2897-4F2F-2EB2-E5F7F7C5DFBB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2201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12826"/>
            <a:ext cx="9980682" cy="2234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边双联通量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(e-DCC)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的求法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先用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算法标记出所有的桥边。然后，再对整个无向图执行一次深度优先遍历（遍历过程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不访问桥边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），划分出每个连通块。其中，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所属的边双连通分量的编号。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729A5B90-1E7F-DAA0-FD1D-D162EAC8D0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4391" y="3248487"/>
            <a:ext cx="5715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1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12826"/>
            <a:ext cx="9980682" cy="1126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边双联通量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(e-DCC)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的求法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4C4C8D-17DC-4D3B-ECBC-E7E7F252918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29187" y="2162175"/>
            <a:ext cx="66294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4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6123" y="1241492"/>
            <a:ext cx="9980682" cy="1618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的缩点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看作一个节点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，把桥边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看作连接编号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c[y]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对应节点的无向边，会产生一棵树（若原来的无向图不连通，则产生森林）。这种把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收缩为一个节点的方法称为“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缩点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C168B89-5887-1C20-D556-B5507B5F9930}"/>
              </a:ext>
            </a:extLst>
          </p:cNvPr>
          <p:cNvGrpSpPr/>
          <p:nvPr/>
        </p:nvGrpSpPr>
        <p:grpSpPr>
          <a:xfrm>
            <a:off x="5890696" y="3691510"/>
            <a:ext cx="5395611" cy="2003805"/>
            <a:chOff x="717866" y="4013755"/>
            <a:chExt cx="6073316" cy="2255489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FC8542CD-51B7-6FB3-E689-9FEB106DFE37}"/>
                </a:ext>
              </a:extLst>
            </p:cNvPr>
            <p:cNvGrpSpPr/>
            <p:nvPr/>
          </p:nvGrpSpPr>
          <p:grpSpPr>
            <a:xfrm>
              <a:off x="5086067" y="4700296"/>
              <a:ext cx="1405460" cy="1128736"/>
              <a:chOff x="4445971" y="4424024"/>
              <a:chExt cx="1405460" cy="1128736"/>
            </a:xfrm>
          </p:grpSpPr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E4011440-B417-4F6F-7F3B-98F4AFFF744A}"/>
                  </a:ext>
                </a:extLst>
              </p:cNvPr>
              <p:cNvSpPr/>
              <p:nvPr/>
            </p:nvSpPr>
            <p:spPr>
              <a:xfrm>
                <a:off x="4445971" y="4463854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F46749E8-914C-2C3C-9207-80AED75AB83C}"/>
                  </a:ext>
                </a:extLst>
              </p:cNvPr>
              <p:cNvSpPr/>
              <p:nvPr/>
            </p:nvSpPr>
            <p:spPr>
              <a:xfrm>
                <a:off x="5484981" y="4424024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124ED460-5F9E-644B-C153-431097984C3D}"/>
                  </a:ext>
                </a:extLst>
              </p:cNvPr>
              <p:cNvSpPr/>
              <p:nvPr/>
            </p:nvSpPr>
            <p:spPr>
              <a:xfrm>
                <a:off x="5411504" y="5186310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3DDBC97C-0E00-43FB-3ED7-49F66368DD2F}"/>
                  </a:ext>
                </a:extLst>
              </p:cNvPr>
              <p:cNvCxnSpPr>
                <a:cxnSpLocks/>
                <a:stCxn id="87" idx="6"/>
                <a:endCxn id="88" idx="2"/>
              </p:cNvCxnSpPr>
              <p:nvPr/>
            </p:nvCxnSpPr>
            <p:spPr>
              <a:xfrm flipV="1">
                <a:off x="4812420" y="4607249"/>
                <a:ext cx="672561" cy="3983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A0AFC245-88AB-0CE6-53F3-7FC77528C809}"/>
                  </a:ext>
                </a:extLst>
              </p:cNvPr>
              <p:cNvCxnSpPr>
                <a:cxnSpLocks/>
                <a:stCxn id="88" idx="4"/>
                <a:endCxn id="89" idx="0"/>
              </p:cNvCxnSpPr>
              <p:nvPr/>
            </p:nvCxnSpPr>
            <p:spPr>
              <a:xfrm flipH="1">
                <a:off x="5594729" y="4790473"/>
                <a:ext cx="73478" cy="39583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5EA66662-7619-61E6-6FB4-FE0DD3702014}"/>
                  </a:ext>
                </a:extLst>
              </p:cNvPr>
              <p:cNvCxnSpPr>
                <a:cxnSpLocks/>
                <a:stCxn id="87" idx="5"/>
                <a:endCxn id="89" idx="2"/>
              </p:cNvCxnSpPr>
              <p:nvPr/>
            </p:nvCxnSpPr>
            <p:spPr>
              <a:xfrm>
                <a:off x="4758755" y="4776638"/>
                <a:ext cx="652749" cy="59289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0D38257D-FF68-8E4E-9550-FC94225AE6F2}"/>
                </a:ext>
              </a:extLst>
            </p:cNvPr>
            <p:cNvGrpSpPr/>
            <p:nvPr/>
          </p:nvGrpSpPr>
          <p:grpSpPr>
            <a:xfrm>
              <a:off x="797675" y="4327124"/>
              <a:ext cx="1858452" cy="1787931"/>
              <a:chOff x="2037055" y="4364707"/>
              <a:chExt cx="1858452" cy="1787931"/>
            </a:xfrm>
          </p:grpSpPr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C02A6CAA-2C9A-BEEA-8F0E-ADDCA040F68E}"/>
                  </a:ext>
                </a:extLst>
              </p:cNvPr>
              <p:cNvSpPr/>
              <p:nvPr/>
            </p:nvSpPr>
            <p:spPr>
              <a:xfrm>
                <a:off x="2535316" y="4500105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BD52DDFD-ACFB-1D33-21D4-DDA13E960BC1}"/>
                  </a:ext>
                </a:extLst>
              </p:cNvPr>
              <p:cNvSpPr/>
              <p:nvPr/>
            </p:nvSpPr>
            <p:spPr>
              <a:xfrm>
                <a:off x="3323702" y="5179083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1C75AB9C-4F00-8602-BA7C-A1541FA7B002}"/>
                  </a:ext>
                </a:extLst>
              </p:cNvPr>
              <p:cNvSpPr/>
              <p:nvPr/>
            </p:nvSpPr>
            <p:spPr>
              <a:xfrm>
                <a:off x="2037055" y="5220805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1115BB42-3AB1-7C36-CD2A-77FB7184771D}"/>
                  </a:ext>
                </a:extLst>
              </p:cNvPr>
              <p:cNvCxnSpPr>
                <a:cxnSpLocks/>
                <a:stCxn id="76" idx="3"/>
                <a:endCxn id="78" idx="7"/>
              </p:cNvCxnSpPr>
              <p:nvPr/>
            </p:nvCxnSpPr>
            <p:spPr>
              <a:xfrm flipH="1">
                <a:off x="2349839" y="4812889"/>
                <a:ext cx="239142" cy="46158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6B400400-1355-43EC-705F-22117A628CDC}"/>
                  </a:ext>
                </a:extLst>
              </p:cNvPr>
              <p:cNvSpPr/>
              <p:nvPr/>
            </p:nvSpPr>
            <p:spPr>
              <a:xfrm>
                <a:off x="2718541" y="5786188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362E62D1-803A-D18B-1967-8B5A011FB535}"/>
                  </a:ext>
                </a:extLst>
              </p:cNvPr>
              <p:cNvCxnSpPr>
                <a:cxnSpLocks/>
                <a:stCxn id="77" idx="4"/>
                <a:endCxn id="80" idx="7"/>
              </p:cNvCxnSpPr>
              <p:nvPr/>
            </p:nvCxnSpPr>
            <p:spPr>
              <a:xfrm flipH="1">
                <a:off x="3031325" y="5545532"/>
                <a:ext cx="475603" cy="294322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F378E1DF-B08F-5922-5AFC-FD9F4D0A8C2A}"/>
                  </a:ext>
                </a:extLst>
              </p:cNvPr>
              <p:cNvCxnSpPr>
                <a:cxnSpLocks/>
                <a:stCxn id="78" idx="5"/>
                <a:endCxn id="80" idx="1"/>
              </p:cNvCxnSpPr>
              <p:nvPr/>
            </p:nvCxnSpPr>
            <p:spPr>
              <a:xfrm>
                <a:off x="2349839" y="5533589"/>
                <a:ext cx="422367" cy="306265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549F9A49-626D-F32C-38CF-45067A71E892}"/>
                  </a:ext>
                </a:extLst>
              </p:cNvPr>
              <p:cNvSpPr/>
              <p:nvPr/>
            </p:nvSpPr>
            <p:spPr>
              <a:xfrm>
                <a:off x="3529057" y="4364707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19FFC679-BB76-C472-75B0-5E709A30ED4B}"/>
                  </a:ext>
                </a:extLst>
              </p:cNvPr>
              <p:cNvCxnSpPr>
                <a:cxnSpLocks/>
                <a:stCxn id="76" idx="5"/>
                <a:endCxn id="77" idx="1"/>
              </p:cNvCxnSpPr>
              <p:nvPr/>
            </p:nvCxnSpPr>
            <p:spPr>
              <a:xfrm>
                <a:off x="2848100" y="4812889"/>
                <a:ext cx="529267" cy="41985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A677AA9F-8EF0-802B-BA08-86750941D9C7}"/>
                  </a:ext>
                </a:extLst>
              </p:cNvPr>
              <p:cNvCxnSpPr>
                <a:cxnSpLocks/>
                <a:stCxn id="83" idx="2"/>
                <a:endCxn id="76" idx="6"/>
              </p:cNvCxnSpPr>
              <p:nvPr/>
            </p:nvCxnSpPr>
            <p:spPr>
              <a:xfrm flipH="1">
                <a:off x="2901766" y="4547932"/>
                <a:ext cx="627291" cy="135398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B43F3AAD-5395-F954-5AD3-3AB41FA51830}"/>
                  </a:ext>
                </a:extLst>
              </p:cNvPr>
              <p:cNvCxnSpPr>
                <a:cxnSpLocks/>
                <a:stCxn id="77" idx="0"/>
                <a:endCxn id="83" idx="4"/>
              </p:cNvCxnSpPr>
              <p:nvPr/>
            </p:nvCxnSpPr>
            <p:spPr>
              <a:xfrm flipV="1">
                <a:off x="3506927" y="4731157"/>
                <a:ext cx="205355" cy="44792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B6CF8BF7-CCDA-7D51-98C0-15D6CD41ACBF}"/>
                </a:ext>
              </a:extLst>
            </p:cNvPr>
            <p:cNvSpPr/>
            <p:nvPr/>
          </p:nvSpPr>
          <p:spPr>
            <a:xfrm>
              <a:off x="3678263" y="4160839"/>
              <a:ext cx="366450" cy="36645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048143DA-1E98-398B-4E78-18002A288328}"/>
                </a:ext>
              </a:extLst>
            </p:cNvPr>
            <p:cNvSpPr/>
            <p:nvPr/>
          </p:nvSpPr>
          <p:spPr>
            <a:xfrm>
              <a:off x="717866" y="4013755"/>
              <a:ext cx="2255489" cy="2255489"/>
            </a:xfrm>
            <a:prstGeom prst="ellips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54CEDAB8-69D4-BE1F-4CE7-4DA3F3343D0F}"/>
                </a:ext>
              </a:extLst>
            </p:cNvPr>
            <p:cNvSpPr/>
            <p:nvPr/>
          </p:nvSpPr>
          <p:spPr>
            <a:xfrm>
              <a:off x="4992985" y="4207477"/>
              <a:ext cx="1798197" cy="1798197"/>
            </a:xfrm>
            <a:prstGeom prst="ellips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DCE9847-A6E9-84B7-2B32-1F7E46399199}"/>
                </a:ext>
              </a:extLst>
            </p:cNvPr>
            <p:cNvCxnSpPr>
              <a:cxnSpLocks/>
              <a:stCxn id="61" idx="6"/>
              <a:endCxn id="73" idx="3"/>
            </p:cNvCxnSpPr>
            <p:nvPr/>
          </p:nvCxnSpPr>
          <p:spPr>
            <a:xfrm flipV="1">
              <a:off x="2973355" y="4473624"/>
              <a:ext cx="758573" cy="66787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89AAE7FF-718A-DF8B-9163-F523A348EA77}"/>
                </a:ext>
              </a:extLst>
            </p:cNvPr>
            <p:cNvCxnSpPr>
              <a:cxnSpLocks/>
              <a:stCxn id="73" idx="5"/>
              <a:endCxn id="63" idx="2"/>
            </p:cNvCxnSpPr>
            <p:nvPr/>
          </p:nvCxnSpPr>
          <p:spPr>
            <a:xfrm>
              <a:off x="3991048" y="4473624"/>
              <a:ext cx="1001937" cy="63295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8B1FE9CB-50E4-CF4D-4D82-3F167D0721AE}"/>
              </a:ext>
            </a:extLst>
          </p:cNvPr>
          <p:cNvGrpSpPr/>
          <p:nvPr/>
        </p:nvGrpSpPr>
        <p:grpSpPr>
          <a:xfrm>
            <a:off x="770955" y="3177344"/>
            <a:ext cx="4525649" cy="2690028"/>
            <a:chOff x="6908363" y="4082167"/>
            <a:chExt cx="4541809" cy="2699633"/>
          </a:xfrm>
        </p:grpSpPr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2C2CA38C-302B-7EF2-3D1A-599C4CF148BE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ACFC135E-8C79-89F3-2ADE-3D15528FD4A3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E28DE0BF-A469-7D86-0C70-C995C5EF3570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04277251-A434-5D24-5FC7-B2E68447989F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541C8547-458C-D899-9766-16E358D837CD}"/>
                  </a:ext>
                </a:extLst>
              </p:cNvPr>
              <p:cNvCxnSpPr>
                <a:cxnSpLocks/>
                <a:stCxn id="105" idx="3"/>
                <a:endCxn id="107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8CCF0992-CCDE-D346-D972-5EC98C040157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77F8389B-F09A-B847-3F83-700CC0354EDA}"/>
                  </a:ext>
                </a:extLst>
              </p:cNvPr>
              <p:cNvCxnSpPr>
                <a:cxnSpLocks/>
                <a:stCxn id="106" idx="4"/>
                <a:endCxn id="109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816BEE5D-867B-2F63-FE49-F8CD8706522C}"/>
                  </a:ext>
                </a:extLst>
              </p:cNvPr>
              <p:cNvCxnSpPr>
                <a:cxnSpLocks/>
                <a:stCxn id="107" idx="5"/>
                <a:endCxn id="109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0710D93C-3130-C0A0-07E4-1D93F1903751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BED477E4-C900-C033-07C4-3E401ECD12D9}"/>
                  </a:ext>
                </a:extLst>
              </p:cNvPr>
              <p:cNvCxnSpPr>
                <a:cxnSpLocks/>
                <a:stCxn id="105" idx="5"/>
                <a:endCxn id="106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BBC083BE-29BE-0BF4-9E10-B74BBBC93B18}"/>
                  </a:ext>
                </a:extLst>
              </p:cNvPr>
              <p:cNvCxnSpPr>
                <a:cxnSpLocks/>
                <a:stCxn id="112" idx="2"/>
                <a:endCxn id="105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8B3DF083-58E3-A508-9927-7D5A4B72A8C9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DAC3C4FA-89D6-378F-B986-264991D18F31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B458CDB0-62FB-C257-7314-4D486F3F0FDB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5CA7632E-D734-F2FA-C4F8-72534273EAE4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F3966FA4-9553-E1FE-BB35-87E031CCC05A}"/>
                  </a:ext>
                </a:extLst>
              </p:cNvPr>
              <p:cNvCxnSpPr>
                <a:cxnSpLocks/>
                <a:stCxn id="115" idx="6"/>
                <a:endCxn id="117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FC1375E6-F4EB-1157-EC02-6D8192083BC3}"/>
                  </a:ext>
                </a:extLst>
              </p:cNvPr>
              <p:cNvCxnSpPr>
                <a:cxnSpLocks/>
                <a:stCxn id="117" idx="4"/>
                <a:endCxn id="118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55D0B5BB-FA3B-7543-0857-94078C484C20}"/>
                  </a:ext>
                </a:extLst>
              </p:cNvPr>
              <p:cNvCxnSpPr>
                <a:cxnSpLocks/>
                <a:stCxn id="115" idx="5"/>
                <a:endCxn id="118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E710DE88-732B-EB5E-E310-FE27BFC282C7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D7F865DB-C754-3DA5-D6CE-B9C4CC0C0E43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7D8CF4F7-9FAA-C2C2-F78B-E5AED478331D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5F19B41-AF81-5496-70F5-663B7394C5F7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252E7199-BFB7-CA34-B351-6AABEA8056C3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B6BFD797-FA0F-C578-32D6-F01D843FE31B}"/>
                </a:ext>
              </a:extLst>
            </p:cNvPr>
            <p:cNvCxnSpPr>
              <a:stCxn id="106" idx="0"/>
              <a:endCxn id="112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B439ECED-3F95-3293-D0D1-D1F9A0312407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E7D31E90-1B76-44F5-F122-99F09197F0D5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[7]</a:t>
              </a:r>
              <a:endParaRPr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A60FD5BA-D8A1-F64D-7B86-8991B02FCF11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3394E04-E89E-31AD-ABA6-0D665829D7D1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2365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12826"/>
            <a:ext cx="9980682" cy="1126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的缩点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C65F86-78DC-8B36-26F3-CD5A57BFA0F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21432" y="3169117"/>
            <a:ext cx="7458075" cy="2705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BA4996-3AC3-CF4E-3803-2BE85883859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21432" y="1988017"/>
            <a:ext cx="63531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12826"/>
            <a:ext cx="99806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点双连通分量（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）的求法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若某个节点为孤立点，则单独构成一个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。除了孤立点外，点双连通分量的大小至少为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。虽然桥不属于任何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但是割点可能属于多个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。如下图，共有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个割点，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个点双连通分量。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EA20F48-E1E8-A303-F945-AD3695DA2E3E}"/>
              </a:ext>
            </a:extLst>
          </p:cNvPr>
          <p:cNvGrpSpPr/>
          <p:nvPr/>
        </p:nvGrpSpPr>
        <p:grpSpPr>
          <a:xfrm>
            <a:off x="5926269" y="3206844"/>
            <a:ext cx="2693516" cy="1358021"/>
            <a:chOff x="6908363" y="4491904"/>
            <a:chExt cx="4541809" cy="228989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D39E02A-72DF-A36C-4112-A5997CDBDAAD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4A212E17-B5C3-9A17-B565-A3456E069CC9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A564BC43-C793-C526-59A8-151DF09CF155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A70D5CCF-97E2-F21A-E602-6AFF7C8A96F4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19E1FDD5-8B51-0C5C-0C76-6F4C9DA038A4}"/>
                  </a:ext>
                </a:extLst>
              </p:cNvPr>
              <p:cNvCxnSpPr>
                <a:cxnSpLocks/>
                <a:stCxn id="50" idx="3"/>
                <a:endCxn id="52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816AEFEE-1A1D-0825-3279-A6A16E337772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736A0A6E-A8C8-ADDF-7A76-850CDDCC6CF3}"/>
                  </a:ext>
                </a:extLst>
              </p:cNvPr>
              <p:cNvCxnSpPr>
                <a:cxnSpLocks/>
                <a:stCxn id="51" idx="4"/>
                <a:endCxn id="54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491A2A54-277F-BCC0-6A8B-AC6386260CD3}"/>
                  </a:ext>
                </a:extLst>
              </p:cNvPr>
              <p:cNvCxnSpPr>
                <a:cxnSpLocks/>
                <a:stCxn id="52" idx="5"/>
                <a:endCxn id="54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3A540058-C934-A4C0-6B7D-56ACBB4AB87E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3F6E3EC-B394-ABDF-7E3E-53EB568A810C}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51579634-1FFD-AD79-319F-E1D80EFA4E7D}"/>
                  </a:ext>
                </a:extLst>
              </p:cNvPr>
              <p:cNvCxnSpPr>
                <a:cxnSpLocks/>
                <a:stCxn id="57" idx="2"/>
                <a:endCxn id="50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CE62E03E-0A20-39CA-23BC-2FB4C54D68A6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6521BF36-6699-93AC-E507-2D921BF53B6F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7B7B1BD4-2190-327B-D16C-B1A091FA9D1C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2B059CB9-82FF-E446-58C3-C378483C24BD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C08E7D93-CFF4-BE15-7CA8-BFB21CBB57E4}"/>
                  </a:ext>
                </a:extLst>
              </p:cNvPr>
              <p:cNvCxnSpPr>
                <a:cxnSpLocks/>
                <a:stCxn id="57" idx="6"/>
                <a:endCxn id="60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3DDAF53-8ADC-25D4-3CA9-AF7B842128AB}"/>
                  </a:ext>
                </a:extLst>
              </p:cNvPr>
              <p:cNvCxnSpPr>
                <a:cxnSpLocks/>
                <a:stCxn id="61" idx="0"/>
                <a:endCxn id="60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DF9AC2E0-3DC5-CED5-21A3-71665C37C639}"/>
                  </a:ext>
                </a:extLst>
              </p:cNvPr>
              <p:cNvCxnSpPr>
                <a:cxnSpLocks/>
                <a:stCxn id="60" idx="6"/>
                <a:endCxn id="63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DF974B90-2F47-0124-B713-7EEDC0822DB1}"/>
                  </a:ext>
                </a:extLst>
              </p:cNvPr>
              <p:cNvCxnSpPr>
                <a:cxnSpLocks/>
                <a:stCxn id="63" idx="4"/>
                <a:endCxn id="64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68AF3FC5-BC20-7598-99DC-37310CD5023A}"/>
                  </a:ext>
                </a:extLst>
              </p:cNvPr>
              <p:cNvCxnSpPr>
                <a:cxnSpLocks/>
                <a:stCxn id="60" idx="5"/>
                <a:endCxn id="64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FC8FC08-9447-9256-8ADC-FF549724BA6B}"/>
                </a:ext>
              </a:extLst>
            </p:cNvPr>
            <p:cNvCxnSpPr>
              <a:stCxn id="51" idx="0"/>
              <a:endCxn id="57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4FD6B82-6497-9803-792B-A2247DDBA93C}"/>
              </a:ext>
            </a:extLst>
          </p:cNvPr>
          <p:cNvGrpSpPr/>
          <p:nvPr/>
        </p:nvGrpSpPr>
        <p:grpSpPr>
          <a:xfrm>
            <a:off x="8957898" y="3154640"/>
            <a:ext cx="2693516" cy="1358021"/>
            <a:chOff x="6908363" y="4491904"/>
            <a:chExt cx="4541809" cy="2289896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07FCD7FB-94FC-3879-7551-2BDD6CF28855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FCFF5115-306B-B1BD-E8EB-704905BD30DD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300F2D75-0259-67BC-9013-BDD59DBC341F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178159D7-D5CB-F249-A3CF-AB023292672E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DF2141F2-5114-0E64-314E-A14E04FC5B85}"/>
                  </a:ext>
                </a:extLst>
              </p:cNvPr>
              <p:cNvCxnSpPr>
                <a:cxnSpLocks/>
                <a:stCxn id="73" idx="3"/>
                <a:endCxn id="75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83F482D4-C755-6C4F-C972-D1A041F28579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8DC66404-373A-F4AE-AB61-44913F4A4D16}"/>
                  </a:ext>
                </a:extLst>
              </p:cNvPr>
              <p:cNvCxnSpPr>
                <a:cxnSpLocks/>
                <a:stCxn id="74" idx="4"/>
                <a:endCxn id="77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F4022913-3C33-ECFC-938F-322290CF278D}"/>
                  </a:ext>
                </a:extLst>
              </p:cNvPr>
              <p:cNvCxnSpPr>
                <a:cxnSpLocks/>
                <a:stCxn id="75" idx="5"/>
                <a:endCxn id="77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C40AA2B1-36B9-0283-040B-A538B88CF73E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9061FE23-A5BA-7803-1CE3-83634883B2AD}"/>
                  </a:ext>
                </a:extLst>
              </p:cNvPr>
              <p:cNvCxnSpPr>
                <a:cxnSpLocks/>
                <a:stCxn id="73" idx="5"/>
                <a:endCxn id="74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D5BAF0AB-5939-C9A6-26D3-43771498CA7F}"/>
                  </a:ext>
                </a:extLst>
              </p:cNvPr>
              <p:cNvCxnSpPr>
                <a:cxnSpLocks/>
                <a:stCxn id="80" idx="2"/>
                <a:endCxn id="73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199F29FC-0266-DA11-AFC7-63435B835603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F8C27093-CEFC-3BD9-9C0D-78CE899DF1DB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B9C2D3D7-F23D-6D3C-4B8C-8C0A7101546F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BC5EF063-AA1D-F58F-E6A6-7480D329601A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C71C7F5A-2720-142F-E65A-6C5440734FCB}"/>
                  </a:ext>
                </a:extLst>
              </p:cNvPr>
              <p:cNvCxnSpPr>
                <a:cxnSpLocks/>
                <a:stCxn id="80" idx="6"/>
                <a:endCxn id="83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B0FB97AE-19F0-9BFD-C71E-B4B9B3622370}"/>
                  </a:ext>
                </a:extLst>
              </p:cNvPr>
              <p:cNvCxnSpPr>
                <a:cxnSpLocks/>
                <a:stCxn id="84" idx="0"/>
                <a:endCxn id="83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7F004F0A-16DC-4245-0E92-F3CD7B4D6FAB}"/>
                  </a:ext>
                </a:extLst>
              </p:cNvPr>
              <p:cNvCxnSpPr>
                <a:cxnSpLocks/>
                <a:stCxn id="83" idx="6"/>
                <a:endCxn id="85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B69A6154-4136-E1C3-B699-687D5A6F117C}"/>
                  </a:ext>
                </a:extLst>
              </p:cNvPr>
              <p:cNvCxnSpPr>
                <a:cxnSpLocks/>
                <a:stCxn id="85" idx="4"/>
                <a:endCxn id="86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9B65FE6C-A88F-06EE-B20B-F9FAD28D794B}"/>
                  </a:ext>
                </a:extLst>
              </p:cNvPr>
              <p:cNvCxnSpPr>
                <a:cxnSpLocks/>
                <a:stCxn id="83" idx="5"/>
                <a:endCxn id="86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E95D2AD4-79C6-0CB6-7D9A-C9CF96279174}"/>
                </a:ext>
              </a:extLst>
            </p:cNvPr>
            <p:cNvCxnSpPr>
              <a:stCxn id="74" idx="0"/>
              <a:endCxn id="80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907B8F4F-A70D-57BB-9529-7DAF0D2175F9}"/>
              </a:ext>
            </a:extLst>
          </p:cNvPr>
          <p:cNvGrpSpPr/>
          <p:nvPr/>
        </p:nvGrpSpPr>
        <p:grpSpPr>
          <a:xfrm>
            <a:off x="5759491" y="5005740"/>
            <a:ext cx="2693516" cy="1358021"/>
            <a:chOff x="6908363" y="4491904"/>
            <a:chExt cx="4541809" cy="2289896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2D50F474-BA5A-7D6F-A5AA-4BCAF50CFFF2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B512CCF7-8EF2-D86C-F312-1E3798F8BD70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8942F79C-7093-EDA4-702B-10364CC73B26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0280F85E-C1FC-4B12-C6E0-B733C592FB5D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8383B874-0AE0-9F00-6D4B-4436AB7CD760}"/>
                  </a:ext>
                </a:extLst>
              </p:cNvPr>
              <p:cNvCxnSpPr>
                <a:cxnSpLocks/>
                <a:stCxn id="95" idx="3"/>
                <a:endCxn id="97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5905329E-999B-6A5E-57FC-0489F8A0E35A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830EC421-15EC-5C87-5320-67A9D7484299}"/>
                  </a:ext>
                </a:extLst>
              </p:cNvPr>
              <p:cNvCxnSpPr>
                <a:cxnSpLocks/>
                <a:stCxn id="96" idx="4"/>
                <a:endCxn id="99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127A791A-8E9A-9F64-18F5-E5934B23474D}"/>
                  </a:ext>
                </a:extLst>
              </p:cNvPr>
              <p:cNvCxnSpPr>
                <a:cxnSpLocks/>
                <a:stCxn id="97" idx="5"/>
                <a:endCxn id="99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344B321D-1810-E374-91A0-9721E2FA8CC6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ABA8EC04-1B3A-6657-2D46-BD5155CA15E6}"/>
                  </a:ext>
                </a:extLst>
              </p:cNvPr>
              <p:cNvCxnSpPr>
                <a:cxnSpLocks/>
                <a:stCxn id="95" idx="5"/>
                <a:endCxn id="96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925EFA10-D448-73CA-06E4-891B8A6E3A5B}"/>
                  </a:ext>
                </a:extLst>
              </p:cNvPr>
              <p:cNvCxnSpPr>
                <a:cxnSpLocks/>
                <a:stCxn id="102" idx="2"/>
                <a:endCxn id="95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F4680363-3A69-4A6A-C227-B70A6FAE78B6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4634FBD4-57B9-27BC-7219-2AF8338A0F95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E650BA90-C376-74E4-7B39-3E51DD3043D4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A35D3480-8F79-3F08-0A80-DE5667211E23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AC085B4C-ED30-82B8-9C3D-7427745FE727}"/>
                  </a:ext>
                </a:extLst>
              </p:cNvPr>
              <p:cNvCxnSpPr>
                <a:cxnSpLocks/>
                <a:stCxn id="102" idx="6"/>
                <a:endCxn id="105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C2D3A65A-0DA4-1122-176A-85EF3992A1F2}"/>
                  </a:ext>
                </a:extLst>
              </p:cNvPr>
              <p:cNvCxnSpPr>
                <a:cxnSpLocks/>
                <a:stCxn id="106" idx="0"/>
                <a:endCxn id="105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F2D9EFA7-A169-171D-78E5-4075FA51F796}"/>
                  </a:ext>
                </a:extLst>
              </p:cNvPr>
              <p:cNvCxnSpPr>
                <a:cxnSpLocks/>
                <a:stCxn id="105" idx="6"/>
                <a:endCxn id="107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641BC3D7-32E8-AC7F-CDF8-6026DB8580B5}"/>
                  </a:ext>
                </a:extLst>
              </p:cNvPr>
              <p:cNvCxnSpPr>
                <a:cxnSpLocks/>
                <a:stCxn id="107" idx="4"/>
                <a:endCxn id="108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90440675-DCE5-9BCD-32D7-85DAE5A890E7}"/>
                  </a:ext>
                </a:extLst>
              </p:cNvPr>
              <p:cNvCxnSpPr>
                <a:cxnSpLocks/>
                <a:stCxn id="105" idx="5"/>
                <a:endCxn id="108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E734560E-3541-0FB9-4DD1-EFD5376AE6A4}"/>
                </a:ext>
              </a:extLst>
            </p:cNvPr>
            <p:cNvCxnSpPr>
              <a:stCxn id="96" idx="0"/>
              <a:endCxn id="102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9100B33D-FF58-A88B-B465-395471300416}"/>
              </a:ext>
            </a:extLst>
          </p:cNvPr>
          <p:cNvGrpSpPr/>
          <p:nvPr/>
        </p:nvGrpSpPr>
        <p:grpSpPr>
          <a:xfrm>
            <a:off x="8826375" y="4974834"/>
            <a:ext cx="2693516" cy="1358021"/>
            <a:chOff x="6908363" y="4491904"/>
            <a:chExt cx="4541809" cy="2289896"/>
          </a:xfrm>
        </p:grpSpPr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8F4DC692-A6A5-9DC4-A390-0AA6366D2681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CB284CF0-A8FD-4187-826A-48AD5140DD79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94A46724-9403-1756-843F-82C118398BEF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A4CF5614-7912-BFD7-F1D2-CF2E0A69DBF8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B83C23D7-B9A2-8842-CEF3-33E74C28840C}"/>
                  </a:ext>
                </a:extLst>
              </p:cNvPr>
              <p:cNvCxnSpPr>
                <a:cxnSpLocks/>
                <a:stCxn id="117" idx="3"/>
                <a:endCxn id="119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C3E9050F-94FD-387C-5642-657BB5EFFC1E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257FD54E-3712-EFC8-33F7-1778F57B1509}"/>
                  </a:ext>
                </a:extLst>
              </p:cNvPr>
              <p:cNvCxnSpPr>
                <a:cxnSpLocks/>
                <a:stCxn id="118" idx="4"/>
                <a:endCxn id="121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4B2F5D38-53EB-F43E-F4BC-BB8B78DE0CE0}"/>
                  </a:ext>
                </a:extLst>
              </p:cNvPr>
              <p:cNvCxnSpPr>
                <a:cxnSpLocks/>
                <a:stCxn id="119" idx="5"/>
                <a:endCxn id="121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425A5031-05D7-922C-CE31-DBA6D6CF86F1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D503F671-C0A7-02A1-1D4F-705D244C0113}"/>
                  </a:ext>
                </a:extLst>
              </p:cNvPr>
              <p:cNvCxnSpPr>
                <a:cxnSpLocks/>
                <a:stCxn id="117" idx="5"/>
                <a:endCxn id="118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CFB32356-C98A-3492-8756-13D1E8BA84F0}"/>
                  </a:ext>
                </a:extLst>
              </p:cNvPr>
              <p:cNvCxnSpPr>
                <a:cxnSpLocks/>
                <a:stCxn id="124" idx="2"/>
                <a:endCxn id="117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B4648D2B-1224-E8CC-4D99-FA7954B79811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4EDEBE73-4B3F-0591-9B5A-95451C8A395B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EB32B97F-DBE8-58BB-7DB1-784A57E11184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C9900FE2-F88A-1B06-3DE4-F34D76DB5910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8548DB43-3E80-0493-6156-737F60433405}"/>
                  </a:ext>
                </a:extLst>
              </p:cNvPr>
              <p:cNvCxnSpPr>
                <a:cxnSpLocks/>
                <a:stCxn id="124" idx="6"/>
                <a:endCxn id="127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FEB814B4-5F54-76F9-25F1-274A5CB94685}"/>
                  </a:ext>
                </a:extLst>
              </p:cNvPr>
              <p:cNvCxnSpPr>
                <a:cxnSpLocks/>
                <a:stCxn id="128" idx="0"/>
                <a:endCxn id="127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291129C7-45F1-16FA-E6B7-843E1FB2B47B}"/>
                  </a:ext>
                </a:extLst>
              </p:cNvPr>
              <p:cNvCxnSpPr>
                <a:cxnSpLocks/>
                <a:stCxn id="127" idx="6"/>
                <a:endCxn id="129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6DF18278-52A4-E832-7F98-43379C8D604D}"/>
                  </a:ext>
                </a:extLst>
              </p:cNvPr>
              <p:cNvCxnSpPr>
                <a:cxnSpLocks/>
                <a:stCxn id="129" idx="4"/>
                <a:endCxn id="130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11FCB691-1CA3-BA8B-6601-EAB26282EBCD}"/>
                  </a:ext>
                </a:extLst>
              </p:cNvPr>
              <p:cNvCxnSpPr>
                <a:cxnSpLocks/>
                <a:stCxn id="127" idx="5"/>
                <a:endCxn id="130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FADC8464-B127-1AD0-2D9A-2A2AA5F9F19B}"/>
                </a:ext>
              </a:extLst>
            </p:cNvPr>
            <p:cNvCxnSpPr>
              <a:stCxn id="118" idx="0"/>
              <a:endCxn id="124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E21D12DE-C574-894A-934C-D1C200DE785B}"/>
              </a:ext>
            </a:extLst>
          </p:cNvPr>
          <p:cNvGrpSpPr/>
          <p:nvPr/>
        </p:nvGrpSpPr>
        <p:grpSpPr>
          <a:xfrm>
            <a:off x="626032" y="3304201"/>
            <a:ext cx="4541809" cy="2699633"/>
            <a:chOff x="6908363" y="4082167"/>
            <a:chExt cx="4541809" cy="2699633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D0F45948-3A69-9227-9EE4-FA561F42C7FE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BB1C62AE-8974-79E4-3CC3-B29188D5CFE0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01798D3E-BECF-D723-692E-F594160C1CD6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9E4B5412-09E0-AD3E-2711-F57C203F7C21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3BB3B069-8E9B-4C81-612F-759F613CE306}"/>
                  </a:ext>
                </a:extLst>
              </p:cNvPr>
              <p:cNvCxnSpPr>
                <a:cxnSpLocks/>
                <a:stCxn id="148" idx="3"/>
                <a:endCxn id="150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565D4298-1C1B-C233-D7E4-C1C9A4BDB16B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3D8A748D-F8CA-06E8-021F-E4F29DB9ED23}"/>
                  </a:ext>
                </a:extLst>
              </p:cNvPr>
              <p:cNvCxnSpPr>
                <a:cxnSpLocks/>
                <a:stCxn id="149" idx="4"/>
                <a:endCxn id="152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6D213F26-9EA4-CD95-DCF5-C949CB0C0C51}"/>
                  </a:ext>
                </a:extLst>
              </p:cNvPr>
              <p:cNvCxnSpPr>
                <a:cxnSpLocks/>
                <a:stCxn id="150" idx="5"/>
                <a:endCxn id="152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D9E36456-4CD5-7246-2AFC-60C425504D65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830079D8-7947-16BE-4BC5-A18405D722F2}"/>
                  </a:ext>
                </a:extLst>
              </p:cNvPr>
              <p:cNvCxnSpPr>
                <a:cxnSpLocks/>
                <a:stCxn id="148" idx="5"/>
                <a:endCxn id="149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EB4D9CA3-8AD0-F16D-B3CF-3C8B8BA377BE}"/>
                  </a:ext>
                </a:extLst>
              </p:cNvPr>
              <p:cNvCxnSpPr>
                <a:cxnSpLocks/>
                <a:stCxn id="155" idx="2"/>
                <a:endCxn id="148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C5D0C3D4-3E69-9FE0-DE55-BA97E500D5F8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A3E3AC4D-6E96-35F5-AD2B-39D401B44FF1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C6663350-71EA-2D0B-A556-C73992F8E3E4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E8D9716B-AE5B-D32C-3962-81A89544772E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09C680EC-98F5-58F8-F71B-5E5B4D0D5CC0}"/>
                  </a:ext>
                </a:extLst>
              </p:cNvPr>
              <p:cNvCxnSpPr>
                <a:cxnSpLocks/>
                <a:stCxn id="155" idx="6"/>
                <a:endCxn id="158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407B2A3D-38E9-F0D2-046C-964FE363D1B6}"/>
                  </a:ext>
                </a:extLst>
              </p:cNvPr>
              <p:cNvCxnSpPr>
                <a:cxnSpLocks/>
                <a:stCxn id="159" idx="0"/>
                <a:endCxn id="158" idx="4"/>
              </p:cNvCxnSpPr>
              <p:nvPr/>
            </p:nvCxnSpPr>
            <p:spPr>
              <a:xfrm flipV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A526711A-11F4-7468-D8D5-7881A66E9552}"/>
                  </a:ext>
                </a:extLst>
              </p:cNvPr>
              <p:cNvCxnSpPr>
                <a:cxnSpLocks/>
                <a:stCxn id="158" idx="6"/>
                <a:endCxn id="160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5C237AD0-F059-E2F3-D5E1-FAB4D0A9E4AE}"/>
                  </a:ext>
                </a:extLst>
              </p:cNvPr>
              <p:cNvCxnSpPr>
                <a:cxnSpLocks/>
                <a:stCxn id="160" idx="4"/>
                <a:endCxn id="161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59A56333-41BA-4FA5-EAC0-9A79A1AF0E63}"/>
                  </a:ext>
                </a:extLst>
              </p:cNvPr>
              <p:cNvCxnSpPr>
                <a:cxnSpLocks/>
                <a:stCxn id="158" idx="5"/>
                <a:endCxn id="161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5716FAEF-6454-592D-AC89-210542BB92F8}"/>
                </a:ext>
              </a:extLst>
            </p:cNvPr>
            <p:cNvSpPr txBox="1"/>
            <p:nvPr/>
          </p:nvSpPr>
          <p:spPr>
            <a:xfrm>
              <a:off x="8875064" y="40821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D7F9703-E9CA-974A-E77B-E2F8BA16C319}"/>
                </a:ext>
              </a:extLst>
            </p:cNvPr>
            <p:cNvSpPr txBox="1"/>
            <p:nvPr/>
          </p:nvSpPr>
          <p:spPr>
            <a:xfrm>
              <a:off x="7947110" y="439376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387A629E-D62E-FBDF-E052-19CE5B1565DC}"/>
                </a:ext>
              </a:extLst>
            </p:cNvPr>
            <p:cNvSpPr txBox="1"/>
            <p:nvPr/>
          </p:nvSpPr>
          <p:spPr>
            <a:xfrm>
              <a:off x="7407882" y="5613083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867A0A61-CBA7-DF96-5BBB-F9EE78B0A83F}"/>
                </a:ext>
              </a:extLst>
            </p:cNvPr>
            <p:cNvSpPr txBox="1"/>
            <p:nvPr/>
          </p:nvSpPr>
          <p:spPr>
            <a:xfrm>
              <a:off x="8297862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F87EB781-9C3A-C88E-425C-031134313212}"/>
                </a:ext>
              </a:extLst>
            </p:cNvPr>
            <p:cNvSpPr txBox="1"/>
            <p:nvPr/>
          </p:nvSpPr>
          <p:spPr>
            <a:xfrm>
              <a:off x="8405733" y="5105862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[1]</a:t>
              </a:r>
              <a:endParaRPr lang="zh-CN" altLang="en-US" dirty="0"/>
            </a:p>
          </p:txBody>
        </p: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46FAB54B-BC6E-236E-6F19-69B569FE8225}"/>
                </a:ext>
              </a:extLst>
            </p:cNvPr>
            <p:cNvCxnSpPr>
              <a:stCxn id="149" idx="0"/>
              <a:endCxn id="155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6DF4522A-9299-8221-E033-4BEE6384D71C}"/>
                </a:ext>
              </a:extLst>
            </p:cNvPr>
            <p:cNvSpPr txBox="1"/>
            <p:nvPr/>
          </p:nvSpPr>
          <p:spPr>
            <a:xfrm>
              <a:off x="9718858" y="456864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2"/>
                  </a:solidFill>
                </a:rPr>
                <a:t>[1]</a:t>
              </a:r>
              <a:endParaRPr lang="zh-CN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D671A7E5-3F19-2C59-877E-11AB0AE62994}"/>
                </a:ext>
              </a:extLst>
            </p:cNvPr>
            <p:cNvSpPr txBox="1"/>
            <p:nvPr/>
          </p:nvSpPr>
          <p:spPr>
            <a:xfrm>
              <a:off x="9927711" y="6362468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2"/>
                  </a:solidFill>
                </a:rPr>
                <a:t>[6]</a:t>
              </a:r>
              <a:endParaRPr lang="zh-CN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A22FDC2-A341-3888-8F44-F64E860EF820}"/>
                </a:ext>
              </a:extLst>
            </p:cNvPr>
            <p:cNvSpPr txBox="1"/>
            <p:nvPr/>
          </p:nvSpPr>
          <p:spPr>
            <a:xfrm>
              <a:off x="10746175" y="4628609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1D57E76B-73AC-DB82-1A8E-024BD3FE9270}"/>
                </a:ext>
              </a:extLst>
            </p:cNvPr>
            <p:cNvSpPr txBox="1"/>
            <p:nvPr/>
          </p:nvSpPr>
          <p:spPr>
            <a:xfrm>
              <a:off x="10641889" y="5587567"/>
              <a:ext cx="469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[6]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0724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04900" y="1312826"/>
                <a:ext cx="9980682" cy="35882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点双连通分量（</a:t>
                </a:r>
                <a:r>
                  <a:rPr lang="en-US" altLang="zh-CN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V-DCC</a:t>
                </a: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）的求法</a:t>
                </a:r>
                <a:endParaRPr lang="en-US" altLang="zh-CN" sz="1600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为了求出点双连通分量，需要在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Tarjan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算法的过程中维护一个栈，并按照如下方法维护栈中的元素：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1.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当一个节点第一次被访问时，把该节点如栈；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2.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当割点判定法则中的条件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dfn[x]</a:t>
                </a:r>
                <a14:m>
                  <m:oMath xmlns:m="http://schemas.openxmlformats.org/officeDocument/2006/math"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sz="16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𝑙𝑜𝑤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16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成立时，无论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是否为根，都要：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marL="285750" indent="-285750">
                  <a:lnSpc>
                    <a:spcPct val="200000"/>
                  </a:lnSpc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从栈顶不断弹出节点，直至节点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被弹出。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marL="285750" indent="-285750">
                  <a:lnSpc>
                    <a:spcPct val="200000"/>
                  </a:lnSpc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刚才弹出的所有节点与节点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一起构成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v-DCC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312826"/>
                <a:ext cx="9980682" cy="3588290"/>
              </a:xfrm>
              <a:prstGeom prst="rect">
                <a:avLst/>
              </a:prstGeom>
              <a:blipFill>
                <a:blip r:embed="rId2" cstate="print"/>
                <a:stretch>
                  <a:fillRect l="-305" b="-1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12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12826"/>
            <a:ext cx="3094238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点双连通分量（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）的求法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3CA237-3E28-E2C7-7EF1-53C5ECF9BC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98791" y="1173162"/>
            <a:ext cx="5285902" cy="568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3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6123" y="1241492"/>
            <a:ext cx="9980682" cy="2110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的缩点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的缩点比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要复杂些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因为一个割点可能属于多个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。设图中共有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个割点和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。我们建立一张包含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p+t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个节点的新图，把每个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和每个割点都作为新图中的节点，并在每个割点与包含它的所有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之间连边。容易发现，这张图其实就是一颗树（或森林）。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41371F9-BA05-E0E6-5035-76491BC31AC1}"/>
              </a:ext>
            </a:extLst>
          </p:cNvPr>
          <p:cNvGrpSpPr/>
          <p:nvPr/>
        </p:nvGrpSpPr>
        <p:grpSpPr>
          <a:xfrm>
            <a:off x="1330425" y="3531047"/>
            <a:ext cx="6073316" cy="3281865"/>
            <a:chOff x="717866" y="3552384"/>
            <a:chExt cx="6073316" cy="3281865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7841F15-AD16-CEDB-B03C-A30D4DDFBED8}"/>
                </a:ext>
              </a:extLst>
            </p:cNvPr>
            <p:cNvGrpSpPr/>
            <p:nvPr/>
          </p:nvGrpSpPr>
          <p:grpSpPr>
            <a:xfrm>
              <a:off x="5086067" y="4700296"/>
              <a:ext cx="1405460" cy="1128736"/>
              <a:chOff x="4445971" y="4424024"/>
              <a:chExt cx="1405460" cy="1128736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D7D7FE30-2D76-C5FF-CDCC-280D8C718077}"/>
                  </a:ext>
                </a:extLst>
              </p:cNvPr>
              <p:cNvSpPr/>
              <p:nvPr/>
            </p:nvSpPr>
            <p:spPr>
              <a:xfrm>
                <a:off x="4445971" y="4463854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AE1EC38-08E7-66E1-A9D8-D585A8D661C9}"/>
                  </a:ext>
                </a:extLst>
              </p:cNvPr>
              <p:cNvSpPr/>
              <p:nvPr/>
            </p:nvSpPr>
            <p:spPr>
              <a:xfrm>
                <a:off x="5484981" y="4424024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B4E547F-B57A-934A-6657-FEC55CFFD7A7}"/>
                  </a:ext>
                </a:extLst>
              </p:cNvPr>
              <p:cNvSpPr/>
              <p:nvPr/>
            </p:nvSpPr>
            <p:spPr>
              <a:xfrm>
                <a:off x="5411504" y="5186310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D2A85FAB-64BD-A50C-B3F3-C8745146740F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4812420" y="4607249"/>
                <a:ext cx="672561" cy="3983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EF0C783-19D3-3D21-86F3-07914B6B84EC}"/>
                  </a:ext>
                </a:extLst>
              </p:cNvPr>
              <p:cNvCxnSpPr>
                <a:cxnSpLocks/>
                <a:stCxn id="20" idx="4"/>
                <a:endCxn id="21" idx="0"/>
              </p:cNvCxnSpPr>
              <p:nvPr/>
            </p:nvCxnSpPr>
            <p:spPr>
              <a:xfrm flipH="1">
                <a:off x="5594729" y="4790473"/>
                <a:ext cx="73478" cy="39583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441F6A95-20FF-C6F6-A2ED-C6306F20C492}"/>
                  </a:ext>
                </a:extLst>
              </p:cNvPr>
              <p:cNvCxnSpPr>
                <a:cxnSpLocks/>
                <a:stCxn id="18" idx="5"/>
                <a:endCxn id="21" idx="2"/>
              </p:cNvCxnSpPr>
              <p:nvPr/>
            </p:nvCxnSpPr>
            <p:spPr>
              <a:xfrm>
                <a:off x="4758755" y="4776638"/>
                <a:ext cx="652749" cy="59289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64B84EE-8830-4285-56EB-AE7B5F7F7014}"/>
                </a:ext>
              </a:extLst>
            </p:cNvPr>
            <p:cNvGrpSpPr/>
            <p:nvPr/>
          </p:nvGrpSpPr>
          <p:grpSpPr>
            <a:xfrm>
              <a:off x="797675" y="4327124"/>
              <a:ext cx="1858452" cy="1787931"/>
              <a:chOff x="2037055" y="4364707"/>
              <a:chExt cx="1858452" cy="1787931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2FFBDF9C-FBEB-93F4-9150-80D5ABE36D25}"/>
                  </a:ext>
                </a:extLst>
              </p:cNvPr>
              <p:cNvSpPr/>
              <p:nvPr/>
            </p:nvSpPr>
            <p:spPr>
              <a:xfrm>
                <a:off x="2535316" y="4500105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3A06D400-6D83-B37A-47B2-EDBE70DB311D}"/>
                  </a:ext>
                </a:extLst>
              </p:cNvPr>
              <p:cNvSpPr/>
              <p:nvPr/>
            </p:nvSpPr>
            <p:spPr>
              <a:xfrm>
                <a:off x="3323702" y="5179083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94B45B1-1857-D0C5-E5AB-153B80BC81DB}"/>
                  </a:ext>
                </a:extLst>
              </p:cNvPr>
              <p:cNvSpPr/>
              <p:nvPr/>
            </p:nvSpPr>
            <p:spPr>
              <a:xfrm>
                <a:off x="2037055" y="5220805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3C417B8-FE96-52B7-25CA-E912CD3B75C3}"/>
                  </a:ext>
                </a:extLst>
              </p:cNvPr>
              <p:cNvCxnSpPr>
                <a:cxnSpLocks/>
                <a:stCxn id="8" idx="3"/>
                <a:endCxn id="10" idx="7"/>
              </p:cNvCxnSpPr>
              <p:nvPr/>
            </p:nvCxnSpPr>
            <p:spPr>
              <a:xfrm flipH="1">
                <a:off x="2349839" y="4812889"/>
                <a:ext cx="239142" cy="46158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45455B9C-6417-6223-0E21-A8A1BC62FD06}"/>
                  </a:ext>
                </a:extLst>
              </p:cNvPr>
              <p:cNvSpPr/>
              <p:nvPr/>
            </p:nvSpPr>
            <p:spPr>
              <a:xfrm>
                <a:off x="2718541" y="5786188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47216AFA-5752-B8E8-412D-CAFD6C7F4C50}"/>
                  </a:ext>
                </a:extLst>
              </p:cNvPr>
              <p:cNvCxnSpPr>
                <a:cxnSpLocks/>
                <a:stCxn id="9" idx="4"/>
                <a:endCxn id="12" idx="7"/>
              </p:cNvCxnSpPr>
              <p:nvPr/>
            </p:nvCxnSpPr>
            <p:spPr>
              <a:xfrm flipH="1">
                <a:off x="3031325" y="5545532"/>
                <a:ext cx="475603" cy="294322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2BDE01F2-E09A-E73E-58CE-370B9985926D}"/>
                  </a:ext>
                </a:extLst>
              </p:cNvPr>
              <p:cNvCxnSpPr>
                <a:cxnSpLocks/>
                <a:stCxn id="10" idx="5"/>
                <a:endCxn id="12" idx="1"/>
              </p:cNvCxnSpPr>
              <p:nvPr/>
            </p:nvCxnSpPr>
            <p:spPr>
              <a:xfrm>
                <a:off x="2349839" y="5533589"/>
                <a:ext cx="422367" cy="306265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B03EFBCE-716D-C495-F89D-E9EB0E921C40}"/>
                  </a:ext>
                </a:extLst>
              </p:cNvPr>
              <p:cNvSpPr/>
              <p:nvPr/>
            </p:nvSpPr>
            <p:spPr>
              <a:xfrm>
                <a:off x="3529057" y="4364707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C68A5204-A5CB-B9D8-E226-15A332B83F16}"/>
                  </a:ext>
                </a:extLst>
              </p:cNvPr>
              <p:cNvCxnSpPr>
                <a:cxnSpLocks/>
                <a:stCxn id="8" idx="5"/>
                <a:endCxn id="9" idx="1"/>
              </p:cNvCxnSpPr>
              <p:nvPr/>
            </p:nvCxnSpPr>
            <p:spPr>
              <a:xfrm>
                <a:off x="2848100" y="4812889"/>
                <a:ext cx="529267" cy="419859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EDA5D2AE-C00E-1D92-E829-F52C1F5C95E7}"/>
                  </a:ext>
                </a:extLst>
              </p:cNvPr>
              <p:cNvCxnSpPr>
                <a:cxnSpLocks/>
                <a:stCxn id="15" idx="2"/>
                <a:endCxn id="8" idx="6"/>
              </p:cNvCxnSpPr>
              <p:nvPr/>
            </p:nvCxnSpPr>
            <p:spPr>
              <a:xfrm flipH="1">
                <a:off x="2901766" y="4547932"/>
                <a:ext cx="627291" cy="135398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C9674C64-322F-1D88-5169-3D0ADCBDC397}"/>
                  </a:ext>
                </a:extLst>
              </p:cNvPr>
              <p:cNvCxnSpPr>
                <a:stCxn id="9" idx="0"/>
                <a:endCxn id="15" idx="4"/>
              </p:cNvCxnSpPr>
              <p:nvPr/>
            </p:nvCxnSpPr>
            <p:spPr>
              <a:xfrm flipV="1">
                <a:off x="3506927" y="4731157"/>
                <a:ext cx="205355" cy="44792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F8E450D-16F9-5993-F405-E4AB80B40C95}"/>
                </a:ext>
              </a:extLst>
            </p:cNvPr>
            <p:cNvGrpSpPr/>
            <p:nvPr/>
          </p:nvGrpSpPr>
          <p:grpSpPr>
            <a:xfrm>
              <a:off x="3727207" y="5462582"/>
              <a:ext cx="511926" cy="1256015"/>
              <a:chOff x="3494751" y="4720582"/>
              <a:chExt cx="511926" cy="1256015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409B2369-D9C0-7C05-AF63-17CEF35BB4A6}"/>
                  </a:ext>
                </a:extLst>
              </p:cNvPr>
              <p:cNvSpPr/>
              <p:nvPr/>
            </p:nvSpPr>
            <p:spPr>
              <a:xfrm>
                <a:off x="3494751" y="5610147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32487B2-7B8A-11DC-99DC-0233808BD9EE}"/>
                  </a:ext>
                </a:extLst>
              </p:cNvPr>
              <p:cNvCxnSpPr>
                <a:cxnSpLocks/>
                <a:stCxn id="19" idx="0"/>
                <a:endCxn id="30" idx="4"/>
              </p:cNvCxnSpPr>
              <p:nvPr/>
            </p:nvCxnSpPr>
            <p:spPr>
              <a:xfrm flipV="1">
                <a:off x="3677976" y="5087032"/>
                <a:ext cx="145476" cy="52311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ACCD32B-E3EB-213B-6CB4-DD2D00AABB45}"/>
                  </a:ext>
                </a:extLst>
              </p:cNvPr>
              <p:cNvSpPr/>
              <p:nvPr/>
            </p:nvSpPr>
            <p:spPr>
              <a:xfrm>
                <a:off x="3640227" y="4720582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080AF29-CD44-863C-11AD-F48981BC48E2}"/>
                </a:ext>
              </a:extLst>
            </p:cNvPr>
            <p:cNvGrpSpPr/>
            <p:nvPr/>
          </p:nvGrpSpPr>
          <p:grpSpPr>
            <a:xfrm>
              <a:off x="3269852" y="4030528"/>
              <a:ext cx="916125" cy="823402"/>
              <a:chOff x="3273777" y="3686947"/>
              <a:chExt cx="916125" cy="823402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7D729AD1-47AC-23EB-F223-5B174CBCD4D4}"/>
                  </a:ext>
                </a:extLst>
              </p:cNvPr>
              <p:cNvSpPr/>
              <p:nvPr/>
            </p:nvSpPr>
            <p:spPr>
              <a:xfrm>
                <a:off x="3273777" y="3686947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51CA9EB8-2B97-A02E-235E-8EDE9DEDE885}"/>
                  </a:ext>
                </a:extLst>
              </p:cNvPr>
              <p:cNvSpPr/>
              <p:nvPr/>
            </p:nvSpPr>
            <p:spPr>
              <a:xfrm>
                <a:off x="3823452" y="4143899"/>
                <a:ext cx="366450" cy="36645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B0D063E-617D-71F8-75DB-6A896B9E76DA}"/>
                  </a:ext>
                </a:extLst>
              </p:cNvPr>
              <p:cNvCxnSpPr>
                <a:stCxn id="32" idx="5"/>
                <a:endCxn id="33" idx="1"/>
              </p:cNvCxnSpPr>
              <p:nvPr/>
            </p:nvCxnSpPr>
            <p:spPr>
              <a:xfrm>
                <a:off x="3586562" y="3999732"/>
                <a:ext cx="290555" cy="19783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89A3C30C-0C3A-E2F2-83D2-85B5D4949651}"/>
                </a:ext>
              </a:extLst>
            </p:cNvPr>
            <p:cNvSpPr/>
            <p:nvPr/>
          </p:nvSpPr>
          <p:spPr>
            <a:xfrm>
              <a:off x="2634413" y="3552384"/>
              <a:ext cx="366450" cy="36645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49FCEE1-B2FE-EDB9-456C-8A4D03C39195}"/>
                </a:ext>
              </a:extLst>
            </p:cNvPr>
            <p:cNvSpPr/>
            <p:nvPr/>
          </p:nvSpPr>
          <p:spPr>
            <a:xfrm>
              <a:off x="4353167" y="4974153"/>
              <a:ext cx="366450" cy="36645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3D9E6497-7D5A-E5FC-C92F-259535CE1213}"/>
                </a:ext>
              </a:extLst>
            </p:cNvPr>
            <p:cNvSpPr/>
            <p:nvPr/>
          </p:nvSpPr>
          <p:spPr>
            <a:xfrm>
              <a:off x="717866" y="4013755"/>
              <a:ext cx="2255489" cy="2255489"/>
            </a:xfrm>
            <a:prstGeom prst="ellips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7AE908F-803D-762B-630F-49D966B31EB6}"/>
                </a:ext>
              </a:extLst>
            </p:cNvPr>
            <p:cNvSpPr/>
            <p:nvPr/>
          </p:nvSpPr>
          <p:spPr>
            <a:xfrm>
              <a:off x="3144939" y="3798028"/>
              <a:ext cx="1239355" cy="1239355"/>
            </a:xfrm>
            <a:prstGeom prst="ellips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03C5045-36CD-067E-CCA1-AF87186DC2DA}"/>
                </a:ext>
              </a:extLst>
            </p:cNvPr>
            <p:cNvSpPr/>
            <p:nvPr/>
          </p:nvSpPr>
          <p:spPr>
            <a:xfrm>
              <a:off x="4992985" y="4207477"/>
              <a:ext cx="1798197" cy="1798197"/>
            </a:xfrm>
            <a:prstGeom prst="ellips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F8BD3651-1923-33FF-2EBB-80EFB1BF48A4}"/>
                </a:ext>
              </a:extLst>
            </p:cNvPr>
            <p:cNvSpPr/>
            <p:nvPr/>
          </p:nvSpPr>
          <p:spPr>
            <a:xfrm>
              <a:off x="3242740" y="5366447"/>
              <a:ext cx="1467802" cy="1467802"/>
            </a:xfrm>
            <a:prstGeom prst="ellips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DAADBF13-F453-8037-86F0-8E95ECB7AEAE}"/>
                </a:ext>
              </a:extLst>
            </p:cNvPr>
            <p:cNvCxnSpPr>
              <a:stCxn id="45" idx="0"/>
              <a:endCxn id="41" idx="3"/>
            </p:cNvCxnSpPr>
            <p:nvPr/>
          </p:nvCxnSpPr>
          <p:spPr>
            <a:xfrm flipV="1">
              <a:off x="1845611" y="3865169"/>
              <a:ext cx="842467" cy="14858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00C058D-E366-35E7-22CC-71305A954D0F}"/>
                </a:ext>
              </a:extLst>
            </p:cNvPr>
            <p:cNvCxnSpPr>
              <a:stCxn id="41" idx="5"/>
              <a:endCxn id="46" idx="1"/>
            </p:cNvCxnSpPr>
            <p:nvPr/>
          </p:nvCxnSpPr>
          <p:spPr>
            <a:xfrm>
              <a:off x="2947198" y="3865169"/>
              <a:ext cx="379240" cy="11435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E6D8F849-2228-CA25-A27F-D136A118B8DE}"/>
                </a:ext>
              </a:extLst>
            </p:cNvPr>
            <p:cNvCxnSpPr>
              <a:stCxn id="46" idx="5"/>
              <a:endCxn id="44" idx="1"/>
            </p:cNvCxnSpPr>
            <p:nvPr/>
          </p:nvCxnSpPr>
          <p:spPr>
            <a:xfrm>
              <a:off x="4202795" y="4855884"/>
              <a:ext cx="204037" cy="17193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54D7281-D251-CC09-ADAF-81A559FC3256}"/>
                </a:ext>
              </a:extLst>
            </p:cNvPr>
            <p:cNvCxnSpPr>
              <a:stCxn id="48" idx="0"/>
              <a:endCxn id="44" idx="3"/>
            </p:cNvCxnSpPr>
            <p:nvPr/>
          </p:nvCxnSpPr>
          <p:spPr>
            <a:xfrm flipV="1">
              <a:off x="3976641" y="5286938"/>
              <a:ext cx="430191" cy="7950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A345FEA-052B-4443-94A8-4C429C2FBC78}"/>
                </a:ext>
              </a:extLst>
            </p:cNvPr>
            <p:cNvCxnSpPr>
              <a:stCxn id="44" idx="6"/>
              <a:endCxn id="47" idx="2"/>
            </p:cNvCxnSpPr>
            <p:nvPr/>
          </p:nvCxnSpPr>
          <p:spPr>
            <a:xfrm flipV="1">
              <a:off x="4719617" y="5106576"/>
              <a:ext cx="273368" cy="5080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964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6123" y="124149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V-DCC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的缩点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BBB959-A144-B959-F5E7-9DFF780968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04900" y="1820346"/>
            <a:ext cx="7838982" cy="47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92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278953"/>
            <a:ext cx="10060582" cy="11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poj3694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D2463B-BE24-5D44-FA53-1250F7E08BE3}"/>
              </a:ext>
            </a:extLst>
          </p:cNvPr>
          <p:cNvSpPr txBox="1"/>
          <p:nvPr/>
        </p:nvSpPr>
        <p:spPr>
          <a:xfrm>
            <a:off x="961586" y="1875815"/>
            <a:ext cx="4974740" cy="2480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条边的无向连通图，然后执行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次操作，每次向图中添加一条边，并且询问当前无向图中桥的数量。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】n&lt;=100000 m&lt;=200000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q&lt;=1000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数据编号以及当前无向图桥的数量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86C67B-A2A7-38CD-3FC9-189B0F625AB4}"/>
              </a:ext>
            </a:extLst>
          </p:cNvPr>
          <p:cNvSpPr txBox="1"/>
          <p:nvPr/>
        </p:nvSpPr>
        <p:spPr>
          <a:xfrm>
            <a:off x="8811155" y="1991025"/>
            <a:ext cx="1111229" cy="266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Case 1: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0</a:t>
            </a:r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Case 2: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B69F47-FE75-D83B-42A7-ED0FCFEAD22B}"/>
              </a:ext>
            </a:extLst>
          </p:cNvPr>
          <p:cNvSpPr txBox="1"/>
          <p:nvPr/>
        </p:nvSpPr>
        <p:spPr>
          <a:xfrm>
            <a:off x="8658382" y="1379727"/>
            <a:ext cx="6094562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/>
              <a:t>【</a:t>
            </a:r>
            <a:r>
              <a:rPr lang="zh-CN" altLang="en-US" sz="1600" dirty="0"/>
              <a:t>样例输出</a:t>
            </a:r>
            <a:r>
              <a:rPr lang="en-US" altLang="zh-CN" sz="1600" dirty="0"/>
              <a:t>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24E7-0738-4AB7-0BFC-912D4196D7B8}"/>
              </a:ext>
            </a:extLst>
          </p:cNvPr>
          <p:cNvSpPr txBox="1"/>
          <p:nvPr/>
        </p:nvSpPr>
        <p:spPr>
          <a:xfrm>
            <a:off x="6918541" y="1422272"/>
            <a:ext cx="1739841" cy="540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【</a:t>
            </a:r>
            <a:r>
              <a:rPr lang="zh-CN" altLang="en-US" sz="1600" dirty="0"/>
              <a:t>样例输入</a:t>
            </a:r>
            <a:r>
              <a:rPr lang="en-US" altLang="zh-CN" sz="1600" dirty="0"/>
              <a:t>】</a:t>
            </a:r>
          </a:p>
          <a:p>
            <a:r>
              <a:rPr lang="en-US" altLang="zh-CN" dirty="0"/>
              <a:t>3 2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2 3</a:t>
            </a:r>
          </a:p>
          <a:p>
            <a:endParaRPr lang="en-US" altLang="zh-CN" dirty="0"/>
          </a:p>
          <a:p>
            <a:r>
              <a:rPr lang="en-US" altLang="zh-CN" dirty="0"/>
              <a:t>2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1 3</a:t>
            </a:r>
          </a:p>
          <a:p>
            <a:endParaRPr lang="en-US" altLang="zh-CN" dirty="0"/>
          </a:p>
          <a:p>
            <a:r>
              <a:rPr lang="en-US" altLang="zh-CN" dirty="0"/>
              <a:t>4 4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2 1</a:t>
            </a:r>
          </a:p>
          <a:p>
            <a:r>
              <a:rPr lang="en-US" altLang="zh-CN" dirty="0"/>
              <a:t>2 3</a:t>
            </a:r>
          </a:p>
          <a:p>
            <a:r>
              <a:rPr lang="en-US" altLang="zh-CN" dirty="0"/>
              <a:t>1 4</a:t>
            </a:r>
          </a:p>
          <a:p>
            <a:endParaRPr lang="en-US" altLang="zh-CN" dirty="0"/>
          </a:p>
          <a:p>
            <a:r>
              <a:rPr lang="en-US" altLang="zh-CN" dirty="0"/>
              <a:t>2</a:t>
            </a:r>
          </a:p>
          <a:p>
            <a:r>
              <a:rPr lang="en-US" altLang="zh-CN" dirty="0"/>
              <a:t>1 2</a:t>
            </a:r>
          </a:p>
          <a:p>
            <a:r>
              <a:rPr lang="en-US" altLang="zh-CN" dirty="0"/>
              <a:t>3 4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0 0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5F418E-4DA0-3315-5222-1EFBC03886B4}"/>
              </a:ext>
            </a:extLst>
          </p:cNvPr>
          <p:cNvCxnSpPr/>
          <p:nvPr/>
        </p:nvCxnSpPr>
        <p:spPr>
          <a:xfrm>
            <a:off x="6427433" y="1514762"/>
            <a:ext cx="0" cy="4557564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5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10850" y="1345843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A6064E-6F71-6C87-A49A-E690AAB70EA3}"/>
              </a:ext>
            </a:extLst>
          </p:cNvPr>
          <p:cNvSpPr txBox="1"/>
          <p:nvPr/>
        </p:nvSpPr>
        <p:spPr>
          <a:xfrm>
            <a:off x="1028682" y="1641170"/>
            <a:ext cx="10056900" cy="5037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算法求出图中的边双连通分量并缩点，得到一棵树，树上的每个节点都是原图中的一个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e-DCC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。设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c[x]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表示点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x​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所属的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e-DCC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编号。最初，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桥的总数就是缩点之后树的边数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对于添加边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u,v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c[u]=c[v]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：添加后桥的数量不变。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c[u]≠ c[v]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：在缩点后得到的树上，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c[u] ∼ c[v]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的路径上的边处在一个环内，都不是桥。求出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LCA(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cu,cv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c[u]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一直走到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LCA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c[v] ​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一直走到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LCA​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，把经过的边标记为非桥边，统计有多少条边被新标记了，则将桥的总数减去被新标记的边的数量即可。时间复杂度为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m+qn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)​​​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，因为数据范围较宽松可以过。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很显然当一条边是非桥边后，如何添加边也不会使得其重新变为桥边，所以被标记后直接并入父节点所在的集合即可，这里直接用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并查集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维护，时间复杂度为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m+qlogn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D997414-6E66-0A76-C9FE-5160CE2612F7}"/>
              </a:ext>
            </a:extLst>
          </p:cNvPr>
          <p:cNvGrpSpPr/>
          <p:nvPr/>
        </p:nvGrpSpPr>
        <p:grpSpPr>
          <a:xfrm>
            <a:off x="7758435" y="2512096"/>
            <a:ext cx="2752217" cy="1387617"/>
            <a:chOff x="6908363" y="4491904"/>
            <a:chExt cx="4541809" cy="2289896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CC2FA6C-B6D2-B81A-66B8-2E1E885253C4}"/>
                </a:ext>
              </a:extLst>
            </p:cNvPr>
            <p:cNvGrpSpPr/>
            <p:nvPr/>
          </p:nvGrpSpPr>
          <p:grpSpPr>
            <a:xfrm>
              <a:off x="6908363" y="4491904"/>
              <a:ext cx="4541809" cy="2289896"/>
              <a:chOff x="1801525" y="4477108"/>
              <a:chExt cx="4541809" cy="2289896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7B840070-D4AF-91E4-0D7C-659CD98DA807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FB769FA4-A47D-F367-F0E5-E778DC367F95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52A2114F-1DF1-ACCF-17B0-7C1F09A2520F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C9E02DB-A3BD-D237-EE7E-3B6083BE6522}"/>
                  </a:ext>
                </a:extLst>
              </p:cNvPr>
              <p:cNvCxnSpPr>
                <a:cxnSpLocks/>
                <a:stCxn id="19" idx="3"/>
                <a:endCxn id="21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033A7D63-B3B2-4F2E-23D2-4A1B423391F6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AC87789-A77A-178B-1043-09C44652DC9E}"/>
                  </a:ext>
                </a:extLst>
              </p:cNvPr>
              <p:cNvCxnSpPr>
                <a:cxnSpLocks/>
                <a:stCxn id="20" idx="4"/>
                <a:endCxn id="23" idx="7"/>
              </p:cNvCxnSpPr>
              <p:nvPr/>
            </p:nvCxnSpPr>
            <p:spPr>
              <a:xfrm flipH="1">
                <a:off x="3074938" y="5989452"/>
                <a:ext cx="609129" cy="376953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DADFE41-6482-F038-A79D-D155FADD5E6D}"/>
                  </a:ext>
                </a:extLst>
              </p:cNvPr>
              <p:cNvCxnSpPr>
                <a:cxnSpLocks/>
                <a:stCxn id="21" idx="5"/>
                <a:endCxn id="23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92141E6A-0E09-C501-5E28-90F96E5B3403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AA59738C-0413-0569-045A-A02EDB4CA8D0}"/>
                  </a:ext>
                </a:extLst>
              </p:cNvPr>
              <p:cNvCxnSpPr>
                <a:cxnSpLocks/>
                <a:stCxn id="19" idx="5"/>
                <a:endCxn id="20" idx="1"/>
              </p:cNvCxnSpPr>
              <p:nvPr/>
            </p:nvCxnSpPr>
            <p:spPr>
              <a:xfrm>
                <a:off x="2840273" y="5051118"/>
                <a:ext cx="677860" cy="53773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C3F2705D-71A6-5D9C-94D4-1FD654953D94}"/>
                  </a:ext>
                </a:extLst>
              </p:cNvPr>
              <p:cNvCxnSpPr>
                <a:cxnSpLocks/>
                <a:stCxn id="26" idx="2"/>
                <a:endCxn id="19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D924F81E-3FB8-299C-14C9-D6464334213C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DBE3110C-83D2-6BC1-0743-480A9B36D359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F2B82BA1-513E-B8ED-4E31-34588163A413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FBE2781F-23EA-1901-E3B8-3A4D7C947E2E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0256BDAD-E298-61DC-659B-D017EB9140FB}"/>
                  </a:ext>
                </a:extLst>
              </p:cNvPr>
              <p:cNvCxnSpPr>
                <a:cxnSpLocks/>
                <a:stCxn id="29" idx="6"/>
                <a:endCxn id="31" idx="2"/>
              </p:cNvCxnSpPr>
              <p:nvPr/>
            </p:nvCxnSpPr>
            <p:spPr>
              <a:xfrm flipV="1">
                <a:off x="5012619" y="5185657"/>
                <a:ext cx="861384" cy="5101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BC461A4-32EB-255E-2A77-A4214058D671}"/>
                  </a:ext>
                </a:extLst>
              </p:cNvPr>
              <p:cNvCxnSpPr>
                <a:cxnSpLocks/>
                <a:stCxn id="31" idx="4"/>
                <a:endCxn id="32" idx="0"/>
              </p:cNvCxnSpPr>
              <p:nvPr/>
            </p:nvCxnSpPr>
            <p:spPr>
              <a:xfrm flipH="1">
                <a:off x="6014562" y="5420322"/>
                <a:ext cx="94107" cy="506969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4E0A8659-B773-6CA2-5E3D-FA2C5098E66D}"/>
                  </a:ext>
                </a:extLst>
              </p:cNvPr>
              <p:cNvCxnSpPr>
                <a:cxnSpLocks/>
                <a:stCxn id="29" idx="5"/>
                <a:endCxn id="32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0306959-4FB4-71C4-70E1-CF03466862C7}"/>
                </a:ext>
              </a:extLst>
            </p:cNvPr>
            <p:cNvCxnSpPr>
              <a:stCxn id="20" idx="0"/>
              <a:endCxn id="26" idx="4"/>
            </p:cNvCxnSpPr>
            <p:nvPr/>
          </p:nvCxnSpPr>
          <p:spPr>
            <a:xfrm flipV="1">
              <a:off x="8790905" y="4961235"/>
              <a:ext cx="263008" cy="57368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465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6123" y="124149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参考程序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CDA1AF-9A2F-261B-FD55-7BF5BC299D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1334" b="4643"/>
          <a:stretch/>
        </p:blipFill>
        <p:spPr>
          <a:xfrm>
            <a:off x="2531173" y="1417320"/>
            <a:ext cx="4427411" cy="518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4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84605" y="1241805"/>
            <a:ext cx="9980682" cy="4573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欧拉路问题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给定一张无向图，若存在一条从节点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的路径，恰好不重不漏地经过每条边一次（可以重复经过图中的节点），则称该路径为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欧拉路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特别地，若存在一条从节点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出发的路径，恰好不重不漏得经过每条边一次（可以重复经过图中的节点），最终回到起点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，则称该路径为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欧拉回路。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存在欧拉回路的无向图被称为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欧拉图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欧拉图的判定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一张无向图为欧拉图，当且仅当无向图连通，并且每个点的度数都是偶数。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正确性显而易见，只要到达一个节点，就必定有一条尚未走过的边可以离开该点。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194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308680"/>
            <a:ext cx="9980682" cy="2480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欧拉路的存在性判定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一张无向图存在欧拉路，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当且仅当无向图连通，并且图中恰好有两个节点的度数为奇数，其他节点的度数为偶数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。这两个度数为奇数的节点就是欧拉路的起点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和终点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。在判定无向图存在欧拉回路后，我们可以借助深度优先遍历和栈，求出欧拉回路的一种具体方案：调用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dfs(1)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，不断递归，每次都走到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出发的第一条未访问的边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的另一端点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，最终一定能回到节点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，产生一条回路。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3E616F-23FD-D40E-1C40-3872D0C650E6}"/>
              </a:ext>
            </a:extLst>
          </p:cNvPr>
          <p:cNvSpPr txBox="1"/>
          <p:nvPr/>
        </p:nvSpPr>
        <p:spPr>
          <a:xfrm>
            <a:off x="4194698" y="3944566"/>
            <a:ext cx="36413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 x)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出发的每条边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如果该边没有被访问过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把这条边标记为已访问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(y)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在主函数中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倒序输出栈中所有节点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5A9DB26-6361-B6EB-EA9C-D07C54CBFAE9}"/>
              </a:ext>
            </a:extLst>
          </p:cNvPr>
          <p:cNvSpPr/>
          <p:nvPr/>
        </p:nvSpPr>
        <p:spPr>
          <a:xfrm>
            <a:off x="3599895" y="3870664"/>
            <a:ext cx="4487662" cy="292251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1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25968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欧拉路的存在性判定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0844FE7-208B-B064-E2D7-4025464969B6}"/>
              </a:ext>
            </a:extLst>
          </p:cNvPr>
          <p:cNvGrpSpPr/>
          <p:nvPr/>
        </p:nvGrpSpPr>
        <p:grpSpPr>
          <a:xfrm>
            <a:off x="1104900" y="2094880"/>
            <a:ext cx="4196307" cy="2721114"/>
            <a:chOff x="1477959" y="2209592"/>
            <a:chExt cx="4196307" cy="2721114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6C7B8CA-5593-9C61-7339-B3BBC234D1C4}"/>
                </a:ext>
              </a:extLst>
            </p:cNvPr>
            <p:cNvSpPr/>
            <p:nvPr/>
          </p:nvSpPr>
          <p:spPr>
            <a:xfrm>
              <a:off x="1477959" y="3184177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CF2202E-705E-F09B-57C7-02D7C367260E}"/>
                </a:ext>
              </a:extLst>
            </p:cNvPr>
            <p:cNvSpPr/>
            <p:nvPr/>
          </p:nvSpPr>
          <p:spPr>
            <a:xfrm>
              <a:off x="3339893" y="4461129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4789C69-D6AA-AEDC-8D0A-B7E2F1A27045}"/>
                </a:ext>
              </a:extLst>
            </p:cNvPr>
            <p:cNvCxnSpPr>
              <a:cxnSpLocks/>
              <a:stCxn id="17" idx="5"/>
              <a:endCxn id="11" idx="0"/>
            </p:cNvCxnSpPr>
            <p:nvPr/>
          </p:nvCxnSpPr>
          <p:spPr>
            <a:xfrm>
              <a:off x="3038447" y="2610191"/>
              <a:ext cx="536112" cy="185093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2C0FA21-B9D0-C897-C7D8-85030A1CBB9E}"/>
                </a:ext>
              </a:extLst>
            </p:cNvPr>
            <p:cNvCxnSpPr>
              <a:cxnSpLocks/>
              <a:stCxn id="11" idx="2"/>
              <a:endCxn id="21" idx="6"/>
            </p:cNvCxnSpPr>
            <p:nvPr/>
          </p:nvCxnSpPr>
          <p:spPr>
            <a:xfrm flipH="1">
              <a:off x="2437495" y="4695795"/>
              <a:ext cx="902398" cy="24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A338B7B-32A0-E511-F2EC-992F2446BDB3}"/>
                </a:ext>
              </a:extLst>
            </p:cNvPr>
            <p:cNvSpPr/>
            <p:nvPr/>
          </p:nvSpPr>
          <p:spPr>
            <a:xfrm>
              <a:off x="2637848" y="2209592"/>
              <a:ext cx="469331" cy="469331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7DDEF0A-C65D-BB67-928F-ECAF9CADE0D9}"/>
                </a:ext>
              </a:extLst>
            </p:cNvPr>
            <p:cNvCxnSpPr>
              <a:cxnSpLocks/>
              <a:stCxn id="10" idx="6"/>
              <a:endCxn id="20" idx="2"/>
            </p:cNvCxnSpPr>
            <p:nvPr/>
          </p:nvCxnSpPr>
          <p:spPr>
            <a:xfrm>
              <a:off x="1947290" y="3418843"/>
              <a:ext cx="1860087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25B897B-37FC-F938-199D-698597AF8AC4}"/>
                </a:ext>
              </a:extLst>
            </p:cNvPr>
            <p:cNvCxnSpPr>
              <a:cxnSpLocks/>
              <a:stCxn id="17" idx="2"/>
              <a:endCxn id="10" idx="7"/>
            </p:cNvCxnSpPr>
            <p:nvPr/>
          </p:nvCxnSpPr>
          <p:spPr>
            <a:xfrm flipH="1">
              <a:off x="1878558" y="2444258"/>
              <a:ext cx="759290" cy="808651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10C6DF4-6D50-C54C-320D-9EF2668EA8AB}"/>
                </a:ext>
              </a:extLst>
            </p:cNvPr>
            <p:cNvSpPr/>
            <p:nvPr/>
          </p:nvSpPr>
          <p:spPr>
            <a:xfrm>
              <a:off x="3807377" y="3184177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A8C94610-FD58-FD23-59C6-4025C6F3C5B8}"/>
                </a:ext>
              </a:extLst>
            </p:cNvPr>
            <p:cNvSpPr/>
            <p:nvPr/>
          </p:nvSpPr>
          <p:spPr>
            <a:xfrm>
              <a:off x="1968164" y="4461375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3344025-E49D-9C1A-B4D0-E6259A1DFD2A}"/>
                </a:ext>
              </a:extLst>
            </p:cNvPr>
            <p:cNvSpPr/>
            <p:nvPr/>
          </p:nvSpPr>
          <p:spPr>
            <a:xfrm>
              <a:off x="4668627" y="3653508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761E84AF-D385-BE3C-C82E-7063630F3248}"/>
                </a:ext>
              </a:extLst>
            </p:cNvPr>
            <p:cNvSpPr/>
            <p:nvPr/>
          </p:nvSpPr>
          <p:spPr>
            <a:xfrm>
              <a:off x="5204935" y="4387729"/>
              <a:ext cx="469331" cy="469331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A61AED6-11C1-A2B8-9980-22F7A7CC507E}"/>
                </a:ext>
              </a:extLst>
            </p:cNvPr>
            <p:cNvCxnSpPr>
              <a:cxnSpLocks/>
              <a:stCxn id="17" idx="6"/>
              <a:endCxn id="20" idx="1"/>
            </p:cNvCxnSpPr>
            <p:nvPr/>
          </p:nvCxnSpPr>
          <p:spPr>
            <a:xfrm>
              <a:off x="3107179" y="2444258"/>
              <a:ext cx="768930" cy="808651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E9A1829B-387B-703F-8A88-95DA78B70A19}"/>
                </a:ext>
              </a:extLst>
            </p:cNvPr>
            <p:cNvCxnSpPr>
              <a:cxnSpLocks/>
              <a:stCxn id="21" idx="0"/>
              <a:endCxn id="17" idx="3"/>
            </p:cNvCxnSpPr>
            <p:nvPr/>
          </p:nvCxnSpPr>
          <p:spPr>
            <a:xfrm flipV="1">
              <a:off x="2202830" y="2610191"/>
              <a:ext cx="503750" cy="185118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2FB4948-447F-3ECD-A44A-57370ED015E4}"/>
                </a:ext>
              </a:extLst>
            </p:cNvPr>
            <p:cNvCxnSpPr>
              <a:cxnSpLocks/>
              <a:stCxn id="11" idx="6"/>
              <a:endCxn id="23" idx="2"/>
            </p:cNvCxnSpPr>
            <p:nvPr/>
          </p:nvCxnSpPr>
          <p:spPr>
            <a:xfrm flipV="1">
              <a:off x="3809224" y="4622395"/>
              <a:ext cx="1395711" cy="734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1FC2360-B977-3424-F853-312901511AC8}"/>
                </a:ext>
              </a:extLst>
            </p:cNvPr>
            <p:cNvCxnSpPr>
              <a:cxnSpLocks/>
              <a:stCxn id="22" idx="5"/>
              <a:endCxn id="23" idx="0"/>
            </p:cNvCxnSpPr>
            <p:nvPr/>
          </p:nvCxnSpPr>
          <p:spPr>
            <a:xfrm>
              <a:off x="5069226" y="4054107"/>
              <a:ext cx="370375" cy="33362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70F7CD4-256D-C58E-C751-4608BEA6E9FD}"/>
                </a:ext>
              </a:extLst>
            </p:cNvPr>
            <p:cNvCxnSpPr>
              <a:cxnSpLocks/>
              <a:stCxn id="11" idx="7"/>
              <a:endCxn id="22" idx="3"/>
            </p:cNvCxnSpPr>
            <p:nvPr/>
          </p:nvCxnSpPr>
          <p:spPr>
            <a:xfrm flipV="1">
              <a:off x="3740492" y="4054107"/>
              <a:ext cx="996867" cy="47575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30E797A-85DA-BAC2-5EDC-43B0CA3DC9F5}"/>
                </a:ext>
              </a:extLst>
            </p:cNvPr>
            <p:cNvSpPr txBox="1"/>
            <p:nvPr/>
          </p:nvSpPr>
          <p:spPr>
            <a:xfrm>
              <a:off x="3339893" y="2444258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(1)</a:t>
              </a:r>
              <a:endParaRPr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9C38DF38-57EB-367B-5347-6DCB61D52203}"/>
                </a:ext>
              </a:extLst>
            </p:cNvPr>
            <p:cNvSpPr txBox="1"/>
            <p:nvPr/>
          </p:nvSpPr>
          <p:spPr>
            <a:xfrm>
              <a:off x="2589247" y="3038256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(2)</a:t>
              </a:r>
              <a:endParaRPr lang="zh-CN" altLang="en-US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E40BB8DE-F661-8F9C-C961-7D4CFEF76FAA}"/>
                </a:ext>
              </a:extLst>
            </p:cNvPr>
            <p:cNvSpPr txBox="1"/>
            <p:nvPr/>
          </p:nvSpPr>
          <p:spPr>
            <a:xfrm>
              <a:off x="1764594" y="2542824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(3)</a:t>
              </a:r>
              <a:endParaRPr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11BB27CF-DC25-2D85-88F7-CA6F1A8AF49A}"/>
                </a:ext>
              </a:extLst>
            </p:cNvPr>
            <p:cNvSpPr txBox="1"/>
            <p:nvPr/>
          </p:nvSpPr>
          <p:spPr>
            <a:xfrm>
              <a:off x="3412269" y="3752465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(4)</a:t>
              </a:r>
              <a:endParaRPr lang="zh-CN" altLang="en-US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A676785D-B3E0-1AEF-C116-E38CE4C937E3}"/>
                </a:ext>
              </a:extLst>
            </p:cNvPr>
            <p:cNvSpPr txBox="1"/>
            <p:nvPr/>
          </p:nvSpPr>
          <p:spPr>
            <a:xfrm>
              <a:off x="2673138" y="4294773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(5)</a:t>
              </a:r>
              <a:endParaRPr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DDC60B82-D30D-A295-2492-841A331AA589}"/>
                </a:ext>
              </a:extLst>
            </p:cNvPr>
            <p:cNvSpPr txBox="1"/>
            <p:nvPr/>
          </p:nvSpPr>
          <p:spPr>
            <a:xfrm>
              <a:off x="1865241" y="3740863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(6)</a:t>
              </a:r>
              <a:endParaRPr lang="zh-CN" altLang="en-US" dirty="0"/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475B2B5B-EB72-8689-FD27-7A1EF9DD4229}"/>
              </a:ext>
            </a:extLst>
          </p:cNvPr>
          <p:cNvSpPr txBox="1"/>
          <p:nvPr/>
        </p:nvSpPr>
        <p:spPr>
          <a:xfrm>
            <a:off x="1084537" y="5072722"/>
            <a:ext cx="4769407" cy="1495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当然，这条回路不能保证经过了图中的每条边，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函数继续考虑从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出发的其他未访问的边，找到第二条回路</a:t>
            </a:r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4E939E41-0154-9AA1-18B0-B1FACD306817}"/>
              </a:ext>
            </a:extLst>
          </p:cNvPr>
          <p:cNvGrpSpPr/>
          <p:nvPr/>
        </p:nvGrpSpPr>
        <p:grpSpPr>
          <a:xfrm>
            <a:off x="6330301" y="2021234"/>
            <a:ext cx="4266594" cy="2854195"/>
            <a:chOff x="6330301" y="2021234"/>
            <a:chExt cx="4266594" cy="2854195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8C06BF6F-7E3D-9974-983E-C4E191BDC3BA}"/>
                </a:ext>
              </a:extLst>
            </p:cNvPr>
            <p:cNvGrpSpPr/>
            <p:nvPr/>
          </p:nvGrpSpPr>
          <p:grpSpPr>
            <a:xfrm>
              <a:off x="6330301" y="2021234"/>
              <a:ext cx="4196307" cy="2721114"/>
              <a:chOff x="1477959" y="2209592"/>
              <a:chExt cx="4196307" cy="2721114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AF0FEBDF-1EAD-9F06-6D99-E54D418162F0}"/>
                  </a:ext>
                </a:extLst>
              </p:cNvPr>
              <p:cNvSpPr/>
              <p:nvPr/>
            </p:nvSpPr>
            <p:spPr>
              <a:xfrm>
                <a:off x="1477959" y="318417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B9A43287-BE18-8993-A769-E067C6E5B023}"/>
                  </a:ext>
                </a:extLst>
              </p:cNvPr>
              <p:cNvSpPr/>
              <p:nvPr/>
            </p:nvSpPr>
            <p:spPr>
              <a:xfrm>
                <a:off x="3339893" y="446112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7A16DA9C-1C4F-F1E3-0B2C-D338E3EAAE79}"/>
                  </a:ext>
                </a:extLst>
              </p:cNvPr>
              <p:cNvCxnSpPr>
                <a:cxnSpLocks/>
                <a:stCxn id="89" idx="5"/>
                <a:endCxn id="86" idx="0"/>
              </p:cNvCxnSpPr>
              <p:nvPr/>
            </p:nvCxnSpPr>
            <p:spPr>
              <a:xfrm>
                <a:off x="3038447" y="2610191"/>
                <a:ext cx="536112" cy="185093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BD62B776-AC74-E9A4-EFCE-7F9084657B3B}"/>
                  </a:ext>
                </a:extLst>
              </p:cNvPr>
              <p:cNvCxnSpPr>
                <a:cxnSpLocks/>
                <a:stCxn id="86" idx="2"/>
                <a:endCxn id="93" idx="6"/>
              </p:cNvCxnSpPr>
              <p:nvPr/>
            </p:nvCxnSpPr>
            <p:spPr>
              <a:xfrm flipH="1">
                <a:off x="2437495" y="4695795"/>
                <a:ext cx="902398" cy="24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B1BDA8F4-17C7-9DF2-9DA5-9F13CB300E6E}"/>
                  </a:ext>
                </a:extLst>
              </p:cNvPr>
              <p:cNvSpPr/>
              <p:nvPr/>
            </p:nvSpPr>
            <p:spPr>
              <a:xfrm>
                <a:off x="2637848" y="2209592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6919CA85-7CD2-F58B-A3C1-FC948E150CFB}"/>
                  </a:ext>
                </a:extLst>
              </p:cNvPr>
              <p:cNvCxnSpPr>
                <a:cxnSpLocks/>
                <a:stCxn id="85" idx="6"/>
                <a:endCxn id="92" idx="2"/>
              </p:cNvCxnSpPr>
              <p:nvPr/>
            </p:nvCxnSpPr>
            <p:spPr>
              <a:xfrm>
                <a:off x="1947290" y="3418843"/>
                <a:ext cx="186008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AF797959-4924-4706-6474-9CC19F762077}"/>
                  </a:ext>
                </a:extLst>
              </p:cNvPr>
              <p:cNvCxnSpPr>
                <a:cxnSpLocks/>
                <a:stCxn id="89" idx="2"/>
                <a:endCxn id="85" idx="7"/>
              </p:cNvCxnSpPr>
              <p:nvPr/>
            </p:nvCxnSpPr>
            <p:spPr>
              <a:xfrm flipH="1">
                <a:off x="1878558" y="2444258"/>
                <a:ext cx="759290" cy="8086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E7960859-A798-E233-F44F-0AB30A77FF77}"/>
                  </a:ext>
                </a:extLst>
              </p:cNvPr>
              <p:cNvSpPr/>
              <p:nvPr/>
            </p:nvSpPr>
            <p:spPr>
              <a:xfrm>
                <a:off x="3807377" y="318417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44619090-EF44-F174-9C29-04ACE555F5CA}"/>
                  </a:ext>
                </a:extLst>
              </p:cNvPr>
              <p:cNvSpPr/>
              <p:nvPr/>
            </p:nvSpPr>
            <p:spPr>
              <a:xfrm>
                <a:off x="1968164" y="4461375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EFCBFC26-00AA-C377-E8C5-071A89142E6D}"/>
                  </a:ext>
                </a:extLst>
              </p:cNvPr>
              <p:cNvSpPr/>
              <p:nvPr/>
            </p:nvSpPr>
            <p:spPr>
              <a:xfrm>
                <a:off x="4668627" y="36535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6FFD43C9-DD25-5B7E-B87A-C257BECFAAEB}"/>
                  </a:ext>
                </a:extLst>
              </p:cNvPr>
              <p:cNvSpPr/>
              <p:nvPr/>
            </p:nvSpPr>
            <p:spPr>
              <a:xfrm>
                <a:off x="5204935" y="438772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6DAD9159-F9D9-0C31-E17F-D3BFB3903E64}"/>
                  </a:ext>
                </a:extLst>
              </p:cNvPr>
              <p:cNvCxnSpPr>
                <a:cxnSpLocks/>
                <a:stCxn id="89" idx="6"/>
                <a:endCxn id="92" idx="1"/>
              </p:cNvCxnSpPr>
              <p:nvPr/>
            </p:nvCxnSpPr>
            <p:spPr>
              <a:xfrm>
                <a:off x="3107179" y="2444258"/>
                <a:ext cx="768930" cy="8086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6FD427CF-3ECC-A847-BACB-611B9F3B92A3}"/>
                  </a:ext>
                </a:extLst>
              </p:cNvPr>
              <p:cNvCxnSpPr>
                <a:cxnSpLocks/>
                <a:stCxn id="93" idx="0"/>
                <a:endCxn id="89" idx="3"/>
              </p:cNvCxnSpPr>
              <p:nvPr/>
            </p:nvCxnSpPr>
            <p:spPr>
              <a:xfrm flipV="1">
                <a:off x="2202830" y="2610191"/>
                <a:ext cx="503750" cy="185118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F8063840-C924-9C44-E06A-57F92DC77920}"/>
                  </a:ext>
                </a:extLst>
              </p:cNvPr>
              <p:cNvCxnSpPr>
                <a:cxnSpLocks/>
                <a:stCxn id="86" idx="6"/>
                <a:endCxn id="95" idx="2"/>
              </p:cNvCxnSpPr>
              <p:nvPr/>
            </p:nvCxnSpPr>
            <p:spPr>
              <a:xfrm flipV="1">
                <a:off x="3809224" y="4622395"/>
                <a:ext cx="1395711" cy="7340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66745BD1-F4FB-6194-A52B-C8E6FAAC804F}"/>
                  </a:ext>
                </a:extLst>
              </p:cNvPr>
              <p:cNvCxnSpPr>
                <a:cxnSpLocks/>
                <a:stCxn id="94" idx="5"/>
                <a:endCxn id="95" idx="0"/>
              </p:cNvCxnSpPr>
              <p:nvPr/>
            </p:nvCxnSpPr>
            <p:spPr>
              <a:xfrm>
                <a:off x="5069226" y="4054107"/>
                <a:ext cx="370375" cy="33362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17B96CBB-511A-25F8-161B-E92B0D512931}"/>
                  </a:ext>
                </a:extLst>
              </p:cNvPr>
              <p:cNvCxnSpPr>
                <a:cxnSpLocks/>
                <a:stCxn id="86" idx="7"/>
                <a:endCxn id="94" idx="3"/>
              </p:cNvCxnSpPr>
              <p:nvPr/>
            </p:nvCxnSpPr>
            <p:spPr>
              <a:xfrm flipV="1">
                <a:off x="3740492" y="4054107"/>
                <a:ext cx="996867" cy="47575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9B0FC381-08C8-8946-2F38-93C8E5CDEB20}"/>
                </a:ext>
              </a:extLst>
            </p:cNvPr>
            <p:cNvSpPr txBox="1"/>
            <p:nvPr/>
          </p:nvSpPr>
          <p:spPr>
            <a:xfrm>
              <a:off x="8931229" y="3671370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(1)</a:t>
              </a:r>
              <a:endParaRPr lang="zh-CN" altLang="en-US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A05E802F-3457-43C5-D94A-A1B34DD10C37}"/>
                </a:ext>
              </a:extLst>
            </p:cNvPr>
            <p:cNvSpPr txBox="1"/>
            <p:nvPr/>
          </p:nvSpPr>
          <p:spPr>
            <a:xfrm>
              <a:off x="10060679" y="3690102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(2)</a:t>
              </a:r>
              <a:endParaRPr lang="zh-CN" altLang="en-US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B824EFF4-B04B-68D0-DBC7-CE5F1F7DC241}"/>
                </a:ext>
              </a:extLst>
            </p:cNvPr>
            <p:cNvSpPr txBox="1"/>
            <p:nvPr/>
          </p:nvSpPr>
          <p:spPr>
            <a:xfrm>
              <a:off x="9129050" y="4506097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(3)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468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25968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欧拉路的存在性判定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75B2B5B-EB72-8689-FD27-7A1EF9DD4229}"/>
              </a:ext>
            </a:extLst>
          </p:cNvPr>
          <p:cNvSpPr txBox="1"/>
          <p:nvPr/>
        </p:nvSpPr>
        <p:spPr>
          <a:xfrm>
            <a:off x="6696918" y="2660366"/>
            <a:ext cx="4639866" cy="2480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我们需要把这些回路按照适当的方法拼接在一起，形成整张图的欧拉回路。一个很显然的拼凑方法就是把第二条回路嵌入到第一条回路中间。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上面伪代码中的栈，恰好完成了拼接工作 。最后，把栈里的所有节点倒序输出，得到一条欧拉回路。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C6C3781-8BED-02F0-1E53-175C17864715}"/>
              </a:ext>
            </a:extLst>
          </p:cNvPr>
          <p:cNvGrpSpPr/>
          <p:nvPr/>
        </p:nvGrpSpPr>
        <p:grpSpPr>
          <a:xfrm>
            <a:off x="1104900" y="2366681"/>
            <a:ext cx="4268017" cy="2721114"/>
            <a:chOff x="1104900" y="2094880"/>
            <a:chExt cx="4268017" cy="2721114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A0844FE7-208B-B064-E2D7-4025464969B6}"/>
                </a:ext>
              </a:extLst>
            </p:cNvPr>
            <p:cNvGrpSpPr/>
            <p:nvPr/>
          </p:nvGrpSpPr>
          <p:grpSpPr>
            <a:xfrm>
              <a:off x="1104900" y="2094880"/>
              <a:ext cx="4196307" cy="2721114"/>
              <a:chOff x="1477959" y="2209592"/>
              <a:chExt cx="4196307" cy="2721114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66C7B8CA-5593-9C61-7339-B3BBC234D1C4}"/>
                  </a:ext>
                </a:extLst>
              </p:cNvPr>
              <p:cNvSpPr/>
              <p:nvPr/>
            </p:nvSpPr>
            <p:spPr>
              <a:xfrm>
                <a:off x="1477959" y="318417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9CF2202E-705E-F09B-57C7-02D7C367260E}"/>
                  </a:ext>
                </a:extLst>
              </p:cNvPr>
              <p:cNvSpPr/>
              <p:nvPr/>
            </p:nvSpPr>
            <p:spPr>
              <a:xfrm>
                <a:off x="3339893" y="446112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84789C69-D6AA-AEDC-8D0A-B7E2F1A27045}"/>
                  </a:ext>
                </a:extLst>
              </p:cNvPr>
              <p:cNvCxnSpPr>
                <a:cxnSpLocks/>
                <a:stCxn id="17" idx="5"/>
                <a:endCxn id="11" idx="0"/>
              </p:cNvCxnSpPr>
              <p:nvPr/>
            </p:nvCxnSpPr>
            <p:spPr>
              <a:xfrm>
                <a:off x="3038447" y="2610191"/>
                <a:ext cx="536112" cy="185093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2C0FA21-B9D0-C897-C7D8-85030A1CBB9E}"/>
                  </a:ext>
                </a:extLst>
              </p:cNvPr>
              <p:cNvCxnSpPr>
                <a:cxnSpLocks/>
                <a:stCxn id="11" idx="2"/>
                <a:endCxn id="21" idx="6"/>
              </p:cNvCxnSpPr>
              <p:nvPr/>
            </p:nvCxnSpPr>
            <p:spPr>
              <a:xfrm flipH="1">
                <a:off x="2437495" y="4695795"/>
                <a:ext cx="902398" cy="24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BA338B7B-32A0-E511-F2EC-992F2446BDB3}"/>
                  </a:ext>
                </a:extLst>
              </p:cNvPr>
              <p:cNvSpPr/>
              <p:nvPr/>
            </p:nvSpPr>
            <p:spPr>
              <a:xfrm>
                <a:off x="2637848" y="2209592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7DDEF0A-C65D-BB67-928F-ECAF9CADE0D9}"/>
                  </a:ext>
                </a:extLst>
              </p:cNvPr>
              <p:cNvCxnSpPr>
                <a:cxnSpLocks/>
                <a:stCxn id="10" idx="6"/>
                <a:endCxn id="20" idx="2"/>
              </p:cNvCxnSpPr>
              <p:nvPr/>
            </p:nvCxnSpPr>
            <p:spPr>
              <a:xfrm>
                <a:off x="1947290" y="3418843"/>
                <a:ext cx="1860087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F25B897B-37FC-F938-199D-698597AF8AC4}"/>
                  </a:ext>
                </a:extLst>
              </p:cNvPr>
              <p:cNvCxnSpPr>
                <a:cxnSpLocks/>
                <a:stCxn id="17" idx="2"/>
                <a:endCxn id="10" idx="7"/>
              </p:cNvCxnSpPr>
              <p:nvPr/>
            </p:nvCxnSpPr>
            <p:spPr>
              <a:xfrm flipH="1">
                <a:off x="1878558" y="2444258"/>
                <a:ext cx="759290" cy="8086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A10C6DF4-6D50-C54C-320D-9EF2668EA8AB}"/>
                  </a:ext>
                </a:extLst>
              </p:cNvPr>
              <p:cNvSpPr/>
              <p:nvPr/>
            </p:nvSpPr>
            <p:spPr>
              <a:xfrm>
                <a:off x="3807377" y="318417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A8C94610-FD58-FD23-59C6-4025C6F3C5B8}"/>
                  </a:ext>
                </a:extLst>
              </p:cNvPr>
              <p:cNvSpPr/>
              <p:nvPr/>
            </p:nvSpPr>
            <p:spPr>
              <a:xfrm>
                <a:off x="1968164" y="4461375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53344025-E49D-9C1A-B4D0-E6259A1DFD2A}"/>
                  </a:ext>
                </a:extLst>
              </p:cNvPr>
              <p:cNvSpPr/>
              <p:nvPr/>
            </p:nvSpPr>
            <p:spPr>
              <a:xfrm>
                <a:off x="4668627" y="36535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761E84AF-D385-BE3C-C82E-7063630F3248}"/>
                  </a:ext>
                </a:extLst>
              </p:cNvPr>
              <p:cNvSpPr/>
              <p:nvPr/>
            </p:nvSpPr>
            <p:spPr>
              <a:xfrm>
                <a:off x="5204935" y="438772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AA61AED6-11C1-A2B8-9980-22F7A7CC507E}"/>
                  </a:ext>
                </a:extLst>
              </p:cNvPr>
              <p:cNvCxnSpPr>
                <a:cxnSpLocks/>
                <a:stCxn id="17" idx="6"/>
                <a:endCxn id="20" idx="1"/>
              </p:cNvCxnSpPr>
              <p:nvPr/>
            </p:nvCxnSpPr>
            <p:spPr>
              <a:xfrm>
                <a:off x="3107179" y="2444258"/>
                <a:ext cx="768930" cy="8086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E9A1829B-387B-703F-8A88-95DA78B70A19}"/>
                  </a:ext>
                </a:extLst>
              </p:cNvPr>
              <p:cNvCxnSpPr>
                <a:cxnSpLocks/>
                <a:stCxn id="21" idx="0"/>
                <a:endCxn id="17" idx="3"/>
              </p:cNvCxnSpPr>
              <p:nvPr/>
            </p:nvCxnSpPr>
            <p:spPr>
              <a:xfrm flipV="1">
                <a:off x="2202830" y="2610191"/>
                <a:ext cx="503750" cy="185118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2FB4948-447F-3ECD-A44A-57370ED015E4}"/>
                  </a:ext>
                </a:extLst>
              </p:cNvPr>
              <p:cNvCxnSpPr>
                <a:cxnSpLocks/>
                <a:stCxn id="11" idx="6"/>
                <a:endCxn id="23" idx="2"/>
              </p:cNvCxnSpPr>
              <p:nvPr/>
            </p:nvCxnSpPr>
            <p:spPr>
              <a:xfrm flipV="1">
                <a:off x="3809224" y="4622395"/>
                <a:ext cx="1395711" cy="7340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1FC2360-B977-3424-F853-312901511AC8}"/>
                  </a:ext>
                </a:extLst>
              </p:cNvPr>
              <p:cNvCxnSpPr>
                <a:cxnSpLocks/>
                <a:stCxn id="22" idx="5"/>
                <a:endCxn id="23" idx="0"/>
              </p:cNvCxnSpPr>
              <p:nvPr/>
            </p:nvCxnSpPr>
            <p:spPr>
              <a:xfrm>
                <a:off x="5069226" y="4054107"/>
                <a:ext cx="370375" cy="333622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270F7CD4-256D-C58E-C751-4608BEA6E9FD}"/>
                  </a:ext>
                </a:extLst>
              </p:cNvPr>
              <p:cNvCxnSpPr>
                <a:cxnSpLocks/>
                <a:stCxn id="11" idx="7"/>
                <a:endCxn id="22" idx="3"/>
              </p:cNvCxnSpPr>
              <p:nvPr/>
            </p:nvCxnSpPr>
            <p:spPr>
              <a:xfrm flipV="1">
                <a:off x="3740492" y="4054107"/>
                <a:ext cx="996867" cy="47575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B30E797A-85DA-BAC2-5EDC-43B0CA3DC9F5}"/>
                  </a:ext>
                </a:extLst>
              </p:cNvPr>
              <p:cNvSpPr txBox="1"/>
              <p:nvPr/>
            </p:nvSpPr>
            <p:spPr>
              <a:xfrm>
                <a:off x="3339893" y="2444258"/>
                <a:ext cx="536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(1)</a:t>
                </a:r>
                <a:endParaRPr lang="zh-CN" altLang="en-US" dirty="0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C38DF38-57EB-367B-5347-6DCB61D52203}"/>
                  </a:ext>
                </a:extLst>
              </p:cNvPr>
              <p:cNvSpPr txBox="1"/>
              <p:nvPr/>
            </p:nvSpPr>
            <p:spPr>
              <a:xfrm>
                <a:off x="2589247" y="3038256"/>
                <a:ext cx="536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(2)</a:t>
                </a:r>
                <a:endParaRPr lang="zh-CN" altLang="en-US" dirty="0"/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40BB8DE-F661-8F9C-C961-7D4CFEF76FAA}"/>
                  </a:ext>
                </a:extLst>
              </p:cNvPr>
              <p:cNvSpPr txBox="1"/>
              <p:nvPr/>
            </p:nvSpPr>
            <p:spPr>
              <a:xfrm>
                <a:off x="1764594" y="2542824"/>
                <a:ext cx="536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(3)</a:t>
                </a:r>
                <a:endParaRPr lang="zh-CN" altLang="en-US" dirty="0"/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11BB27CF-DC25-2D85-88F7-CA6F1A8AF49A}"/>
                  </a:ext>
                </a:extLst>
              </p:cNvPr>
              <p:cNvSpPr txBox="1"/>
              <p:nvPr/>
            </p:nvSpPr>
            <p:spPr>
              <a:xfrm>
                <a:off x="3412269" y="3752465"/>
                <a:ext cx="536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(4)</a:t>
                </a:r>
                <a:endParaRPr lang="zh-CN" altLang="en-US" dirty="0"/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A676785D-B3E0-1AEF-C116-E38CE4C937E3}"/>
                  </a:ext>
                </a:extLst>
              </p:cNvPr>
              <p:cNvSpPr txBox="1"/>
              <p:nvPr/>
            </p:nvSpPr>
            <p:spPr>
              <a:xfrm>
                <a:off x="2673138" y="4294773"/>
                <a:ext cx="536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(8)</a:t>
                </a:r>
                <a:endParaRPr lang="zh-CN" altLang="en-US" dirty="0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DC60B82-D30D-A295-2492-841A331AA589}"/>
                  </a:ext>
                </a:extLst>
              </p:cNvPr>
              <p:cNvSpPr txBox="1"/>
              <p:nvPr/>
            </p:nvSpPr>
            <p:spPr>
              <a:xfrm>
                <a:off x="1865241" y="3740863"/>
                <a:ext cx="536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(9)</a:t>
                </a:r>
                <a:endParaRPr lang="zh-CN" altLang="en-US" dirty="0"/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832BAED-BE56-3276-3811-D1D5B8E881A7}"/>
                </a:ext>
              </a:extLst>
            </p:cNvPr>
            <p:cNvSpPr txBox="1"/>
            <p:nvPr/>
          </p:nvSpPr>
          <p:spPr>
            <a:xfrm>
              <a:off x="3563393" y="3822419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(5)</a:t>
              </a:r>
              <a:endParaRPr lang="zh-CN" altLang="en-US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B1D59AA-4AC6-7931-CC93-5F71893F0AC6}"/>
                </a:ext>
              </a:extLst>
            </p:cNvPr>
            <p:cNvSpPr txBox="1"/>
            <p:nvPr/>
          </p:nvSpPr>
          <p:spPr>
            <a:xfrm>
              <a:off x="3963847" y="4191751"/>
              <a:ext cx="536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(7)</a:t>
              </a:r>
              <a:endParaRPr lang="zh-CN" altLang="en-US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FDE3980-F5A4-E407-C598-8970C714B1D5}"/>
                </a:ext>
              </a:extLst>
            </p:cNvPr>
            <p:cNvSpPr txBox="1"/>
            <p:nvPr/>
          </p:nvSpPr>
          <p:spPr>
            <a:xfrm>
              <a:off x="4696022" y="3807940"/>
              <a:ext cx="676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（</a:t>
              </a:r>
              <a:r>
                <a:rPr lang="en-US" altLang="zh-CN" dirty="0"/>
                <a:t>6</a:t>
              </a:r>
              <a:r>
                <a:rPr lang="zh-CN" altLang="en-US" dirty="0"/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92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25968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欧拉路的存在性判定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75B2B5B-EB72-8689-FD27-7A1EF9DD4229}"/>
              </a:ext>
            </a:extLst>
          </p:cNvPr>
          <p:cNvSpPr txBox="1"/>
          <p:nvPr/>
        </p:nvSpPr>
        <p:spPr>
          <a:xfrm>
            <a:off x="1104900" y="1856726"/>
            <a:ext cx="9690347" cy="2972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上述算法的时间复杂度为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O(NM)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。因为一个点会被重复遍历多次，每次都会扫描与它相连的所有的边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虽然大部分边已经访问过了。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假设我们采用邻接表存储无向图，我们可以在访问一条边（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）之后，及时修改表头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head[x]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，令它指向下一条边。这样我们每次只需取出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head[x]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，就自然跳过了所有已经访问过的边。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另外，因为欧拉回路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的递归层数是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）级别，容易造成系统栈溢出。我们可以用另一个栈，模拟机器的递归过程，把代码转化为非递归完成。时间复杂度为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O(N+M)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093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6123" y="124149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参考程序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递归版本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EEC335-B9C1-3A15-BE6E-7855B99D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40" y="1891313"/>
            <a:ext cx="4917629" cy="293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6123" y="124149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参考程序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非递归版本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95E7E0-4F1B-725D-215A-C987358D082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2874" y="1820346"/>
            <a:ext cx="7677292" cy="488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3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278953"/>
            <a:ext cx="10060582" cy="11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Watchcow poj2230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D2463B-BE24-5D44-FA53-1250F7E08BE3}"/>
              </a:ext>
            </a:extLst>
          </p:cNvPr>
          <p:cNvSpPr txBox="1"/>
          <p:nvPr/>
        </p:nvSpPr>
        <p:spPr>
          <a:xfrm>
            <a:off x="961586" y="1875815"/>
            <a:ext cx="4974740" cy="2972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条边的无向图，求一条路径，从节点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出发，最后回到节点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，并且满足每条边恰好被正反方向分别经过一次。若有一种方案，输出任意一种即可。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】n&lt;=10000 m&lt;=50000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具体方案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86C67B-A2A7-38CD-3FC9-189B0F625AB4}"/>
              </a:ext>
            </a:extLst>
          </p:cNvPr>
          <p:cNvSpPr txBox="1"/>
          <p:nvPr/>
        </p:nvSpPr>
        <p:spPr>
          <a:xfrm>
            <a:off x="8868479" y="1991025"/>
            <a:ext cx="1111229" cy="410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3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4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3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4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4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B69F47-FE75-D83B-42A7-ED0FCFEAD22B}"/>
              </a:ext>
            </a:extLst>
          </p:cNvPr>
          <p:cNvSpPr txBox="1"/>
          <p:nvPr/>
        </p:nvSpPr>
        <p:spPr>
          <a:xfrm>
            <a:off x="8658382" y="1480501"/>
            <a:ext cx="6094562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/>
              <a:t>【</a:t>
            </a:r>
            <a:r>
              <a:rPr lang="zh-CN" altLang="en-US" sz="1600" dirty="0"/>
              <a:t>样例输出</a:t>
            </a:r>
            <a:r>
              <a:rPr lang="en-US" altLang="zh-CN" sz="1600" dirty="0"/>
              <a:t>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9224E7-0738-4AB7-0BFC-912D4196D7B8}"/>
              </a:ext>
            </a:extLst>
          </p:cNvPr>
          <p:cNvSpPr txBox="1"/>
          <p:nvPr/>
        </p:nvSpPr>
        <p:spPr>
          <a:xfrm>
            <a:off x="6778036" y="1564585"/>
            <a:ext cx="1739841" cy="2897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【</a:t>
            </a:r>
            <a:r>
              <a:rPr lang="zh-CN" altLang="en-US" sz="1600" dirty="0"/>
              <a:t>样例输入</a:t>
            </a:r>
            <a:r>
              <a:rPr lang="en-US" altLang="zh-CN" sz="1600" dirty="0"/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4 5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1 2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1 4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2 3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2 4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3 4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5F418E-4DA0-3315-5222-1EFBC03886B4}"/>
              </a:ext>
            </a:extLst>
          </p:cNvPr>
          <p:cNvCxnSpPr/>
          <p:nvPr/>
        </p:nvCxnSpPr>
        <p:spPr>
          <a:xfrm>
            <a:off x="6427433" y="1514762"/>
            <a:ext cx="0" cy="4557564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68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47426" y="145650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A6064E-6F71-6C87-A49A-E690AAB70EA3}"/>
              </a:ext>
            </a:extLst>
          </p:cNvPr>
          <p:cNvSpPr txBox="1"/>
          <p:nvPr/>
        </p:nvSpPr>
        <p:spPr>
          <a:xfrm>
            <a:off x="1037826" y="1825836"/>
            <a:ext cx="9075438" cy="167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按照无向图的存图方式，每条无向边在邻接表中会以正反两个方向分别保存一次。如果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去掉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vis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，则根据表头数组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的更新方法，每条无向边会被正反各经过一次，恰好符合题目要求。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259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6123" y="1241492"/>
            <a:ext cx="9980682" cy="51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参考程序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83F97F-0462-6043-61B2-80A17A0CD92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48930" y="1423479"/>
            <a:ext cx="69437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5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习题练习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4042</Words>
  <Application>Microsoft Office PowerPoint</Application>
  <PresentationFormat>宽屏</PresentationFormat>
  <Paragraphs>494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微软雅黑</vt:lpstr>
      <vt:lpstr>Arial</vt:lpstr>
      <vt:lpstr>Cambria Math</vt:lpstr>
      <vt:lpstr>Euphemia</vt:lpstr>
      <vt:lpstr>Wingdings</vt:lpstr>
      <vt:lpstr>学术文献 16x9</vt:lpstr>
      <vt:lpstr>Tarjan算法与无向图联通性</vt:lpstr>
      <vt:lpstr>学习目标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习题练习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2017-11-04T04:56:00Z</dcterms:created>
  <dcterms:modified xsi:type="dcterms:W3CDTF">2022-08-03T13:28:03Z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2052-11.1.0.9440</vt:lpwstr>
  </property>
</Properties>
</file>