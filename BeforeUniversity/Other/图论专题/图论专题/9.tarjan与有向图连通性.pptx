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612" r:id="rId3"/>
    <p:sldId id="668" r:id="rId4"/>
    <p:sldId id="788" r:id="rId5"/>
    <p:sldId id="789" r:id="rId6"/>
    <p:sldId id="790" r:id="rId7"/>
    <p:sldId id="791" r:id="rId8"/>
    <p:sldId id="792" r:id="rId9"/>
    <p:sldId id="793" r:id="rId10"/>
    <p:sldId id="787" r:id="rId11"/>
    <p:sldId id="794" r:id="rId12"/>
    <p:sldId id="759" r:id="rId13"/>
    <p:sldId id="775" r:id="rId14"/>
    <p:sldId id="777" r:id="rId15"/>
    <p:sldId id="795" r:id="rId16"/>
    <p:sldId id="796" r:id="rId17"/>
    <p:sldId id="797" r:id="rId18"/>
    <p:sldId id="753" r:id="rId19"/>
    <p:sldId id="502" r:id="rId20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3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672" y="62"/>
      </p:cViewPr>
      <p:guideLst>
        <p:guide orient="horz" pos="216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2022/8/2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2022/8/2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2022/8/2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2022/8/2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2022/8/2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72560" y="2036029"/>
            <a:ext cx="7455877" cy="1954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150000"/>
              </a:lnSpc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算法与无向图联通性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799336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掌握有向图的强连通分量求法。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掌握强连通分量的缩点算法。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011682" y="1278258"/>
                <a:ext cx="10073899" cy="49271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给定有向连通图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G=(V,E)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</a:t>
                </a:r>
                <a:endParaRPr lang="en-US" altLang="zh-CN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若存在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zh-CN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∈</m:t>
                    </m:r>
                  </m:oMath>
                </a14:m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V,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满足从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出发能够到达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V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中所有的点，则称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是一个流图，记为（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G,r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,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其中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称为流图的</a:t>
                </a: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源点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在一个流图（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G,r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）上从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出发进行深度优先遍历，每个点只访问一次。所有发生递归的边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(x,y)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（从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到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是对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的第一次访问）构成一棵以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为根的树，我们称为流图（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G,r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）的</a:t>
                </a:r>
                <a:r>
                  <a:rPr lang="zh-CN" altLang="en-US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搜索树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同时，在深度优先遍历过程中，按照每个节点第一次被访问的时间顺序，一次给予流图中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个节点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1~N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的整数标记，该标记被记为时间戳，记为</a:t>
                </a:r>
                <a:r>
                  <a:rPr lang="en-US" altLang="zh-CN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dfn[x]</a:t>
                </a:r>
                <a:r>
                  <a:rPr lang="zh-CN" altLang="en-US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682" y="1278258"/>
                <a:ext cx="10073899" cy="4927118"/>
              </a:xfrm>
              <a:prstGeom prst="rect">
                <a:avLst/>
              </a:prstGeom>
              <a:blipFill>
                <a:blip r:embed="rId2"/>
                <a:stretch>
                  <a:fillRect l="-544" r="-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51522" y="1231685"/>
            <a:ext cx="9899224" cy="2972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流图中的每条有向边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必然是以下四种之一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树枝边：指搜索树的边，即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的父节点。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前向边：指搜索树中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的祖先节点。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后向边：指搜索树中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的祖先节点。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横叉边：指除了以上三种情况之外的边，它一定满足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dfn[y]&lt;dfn[x]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34A7E24-633D-C444-7E82-F34D694F0C51}"/>
              </a:ext>
            </a:extLst>
          </p:cNvPr>
          <p:cNvGrpSpPr/>
          <p:nvPr/>
        </p:nvGrpSpPr>
        <p:grpSpPr>
          <a:xfrm>
            <a:off x="1615576" y="4356091"/>
            <a:ext cx="4541809" cy="2289896"/>
            <a:chOff x="1553432" y="4356091"/>
            <a:chExt cx="4541809" cy="228989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B793E5C-C5E3-4FCC-58B8-F5F169AB3BD5}"/>
                </a:ext>
              </a:extLst>
            </p:cNvPr>
            <p:cNvGrpSpPr/>
            <p:nvPr/>
          </p:nvGrpSpPr>
          <p:grpSpPr>
            <a:xfrm>
              <a:off x="1553432" y="4356091"/>
              <a:ext cx="4541809" cy="2289896"/>
              <a:chOff x="1801525" y="4477108"/>
              <a:chExt cx="4541809" cy="2289896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60EA6F5C-BC63-25B0-06A6-08D85EB1DF95}"/>
                  </a:ext>
                </a:extLst>
              </p:cNvPr>
              <p:cNvSpPr/>
              <p:nvPr/>
            </p:nvSpPr>
            <p:spPr>
              <a:xfrm>
                <a:off x="2439674" y="4650519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2</a:t>
                </a:r>
                <a:endParaRPr lang="zh-CN" altLang="en-US" dirty="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A32B2AC9-6FEC-35CB-9770-51B692AED9B7}"/>
                  </a:ext>
                </a:extLst>
              </p:cNvPr>
              <p:cNvSpPr/>
              <p:nvPr/>
            </p:nvSpPr>
            <p:spPr>
              <a:xfrm>
                <a:off x="3449401" y="552012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5</a:t>
                </a:r>
                <a:endParaRPr lang="zh-CN" altLang="en-US" dirty="0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BFF7723E-308D-28D1-69B0-B4A7E6D3757D}"/>
                  </a:ext>
                </a:extLst>
              </p:cNvPr>
              <p:cNvSpPr/>
              <p:nvPr/>
            </p:nvSpPr>
            <p:spPr>
              <a:xfrm>
                <a:off x="1801525" y="5573557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3</a:t>
                </a:r>
                <a:endParaRPr lang="zh-CN" altLang="en-US" dirty="0"/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A9490804-7AFD-F91A-DBB4-30DFD43041DB}"/>
                  </a:ext>
                </a:extLst>
              </p:cNvPr>
              <p:cNvCxnSpPr>
                <a:cxnSpLocks/>
                <a:stCxn id="6" idx="3"/>
                <a:endCxn id="8" idx="7"/>
              </p:cNvCxnSpPr>
              <p:nvPr/>
            </p:nvCxnSpPr>
            <p:spPr>
              <a:xfrm flipH="1">
                <a:off x="2202124" y="5051118"/>
                <a:ext cx="306282" cy="591171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644380FA-9B6C-412B-4E6E-213CA25DA7D3}"/>
                  </a:ext>
                </a:extLst>
              </p:cNvPr>
              <p:cNvSpPr/>
              <p:nvPr/>
            </p:nvSpPr>
            <p:spPr>
              <a:xfrm>
                <a:off x="2674339" y="6297673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4</a:t>
                </a:r>
                <a:endParaRPr lang="zh-CN" altLang="en-US" dirty="0"/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279418EC-442D-85CB-E501-B811387ED550}"/>
                  </a:ext>
                </a:extLst>
              </p:cNvPr>
              <p:cNvCxnSpPr>
                <a:cxnSpLocks/>
                <a:stCxn id="10" idx="7"/>
                <a:endCxn id="7" idx="3"/>
              </p:cNvCxnSpPr>
              <p:nvPr/>
            </p:nvCxnSpPr>
            <p:spPr>
              <a:xfrm flipV="1">
                <a:off x="3074938" y="5920720"/>
                <a:ext cx="443195" cy="445685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28C0B6E0-9924-93B1-DFC9-7A6DECAE695C}"/>
                  </a:ext>
                </a:extLst>
              </p:cNvPr>
              <p:cNvCxnSpPr>
                <a:cxnSpLocks/>
                <a:stCxn id="8" idx="5"/>
                <a:endCxn id="10" idx="1"/>
              </p:cNvCxnSpPr>
              <p:nvPr/>
            </p:nvCxnSpPr>
            <p:spPr>
              <a:xfrm>
                <a:off x="2202124" y="5974156"/>
                <a:ext cx="540947" cy="39224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A06183B2-242F-A74A-2A17-42DAA75355EF}"/>
                  </a:ext>
                </a:extLst>
              </p:cNvPr>
              <p:cNvSpPr/>
              <p:nvPr/>
            </p:nvSpPr>
            <p:spPr>
              <a:xfrm>
                <a:off x="3712409" y="4477108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1</a:t>
                </a:r>
                <a:endParaRPr lang="zh-CN" altLang="en-US" dirty="0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FBE5E41-5BF1-F48B-D3F3-0C1D9FE9BA96}"/>
                  </a:ext>
                </a:extLst>
              </p:cNvPr>
              <p:cNvCxnSpPr>
                <a:cxnSpLocks/>
                <a:stCxn id="7" idx="1"/>
                <a:endCxn id="6" idx="5"/>
              </p:cNvCxnSpPr>
              <p:nvPr/>
            </p:nvCxnSpPr>
            <p:spPr>
              <a:xfrm flipH="1" flipV="1">
                <a:off x="2840273" y="5051118"/>
                <a:ext cx="677860" cy="537735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4F73664-6C53-E584-BEDB-37D1710F468B}"/>
                  </a:ext>
                </a:extLst>
              </p:cNvPr>
              <p:cNvCxnSpPr>
                <a:cxnSpLocks/>
                <a:stCxn id="13" idx="2"/>
                <a:endCxn id="6" idx="6"/>
              </p:cNvCxnSpPr>
              <p:nvPr/>
            </p:nvCxnSpPr>
            <p:spPr>
              <a:xfrm flipH="1">
                <a:off x="2909005" y="4711774"/>
                <a:ext cx="803404" cy="173411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6C1EFF10-4C31-0ACE-CC83-D3E006A919D4}"/>
                  </a:ext>
                </a:extLst>
              </p:cNvPr>
              <p:cNvSpPr/>
              <p:nvPr/>
            </p:nvSpPr>
            <p:spPr>
              <a:xfrm>
                <a:off x="4543288" y="500200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6</a:t>
                </a:r>
                <a:endParaRPr lang="zh-CN" altLang="en-US" dirty="0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0EE39635-B12F-6B74-4231-018AD6FD01E1}"/>
                  </a:ext>
                </a:extLst>
              </p:cNvPr>
              <p:cNvSpPr/>
              <p:nvPr/>
            </p:nvSpPr>
            <p:spPr>
              <a:xfrm>
                <a:off x="4393281" y="5935614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7</a:t>
                </a:r>
                <a:endParaRPr lang="zh-CN" altLang="en-US" dirty="0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A183567D-7200-0B7A-5A00-1914CC02340D}"/>
                  </a:ext>
                </a:extLst>
              </p:cNvPr>
              <p:cNvSpPr/>
              <p:nvPr/>
            </p:nvSpPr>
            <p:spPr>
              <a:xfrm>
                <a:off x="5874003" y="49509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9</a:t>
                </a:r>
                <a:endParaRPr lang="zh-CN" altLang="en-US" dirty="0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D71599ED-2C82-250D-D0F0-CB151D73F2A8}"/>
                  </a:ext>
                </a:extLst>
              </p:cNvPr>
              <p:cNvSpPr/>
              <p:nvPr/>
            </p:nvSpPr>
            <p:spPr>
              <a:xfrm>
                <a:off x="5779896" y="5927291"/>
                <a:ext cx="469331" cy="469331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8</a:t>
                </a:r>
                <a:endParaRPr lang="zh-CN" altLang="en-US" dirty="0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E393CB0-C332-BEB8-A2E4-B28CC7C3E79A}"/>
                  </a:ext>
                </a:extLst>
              </p:cNvPr>
              <p:cNvCxnSpPr>
                <a:cxnSpLocks/>
                <a:stCxn id="13" idx="6"/>
                <a:endCxn id="16" idx="1"/>
              </p:cNvCxnSpPr>
              <p:nvPr/>
            </p:nvCxnSpPr>
            <p:spPr>
              <a:xfrm>
                <a:off x="4181740" y="4711774"/>
                <a:ext cx="430280" cy="358962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1553832-CA49-0693-5C04-93CAA4451B6F}"/>
                  </a:ext>
                </a:extLst>
              </p:cNvPr>
              <p:cNvCxnSpPr>
                <a:cxnSpLocks/>
                <a:stCxn id="16" idx="4"/>
                <a:endCxn id="17" idx="0"/>
              </p:cNvCxnSpPr>
              <p:nvPr/>
            </p:nvCxnSpPr>
            <p:spPr>
              <a:xfrm flipH="1">
                <a:off x="4627947" y="5471335"/>
                <a:ext cx="150007" cy="46427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5859DAA-A4C7-F5B4-E993-9D5F2B11E40B}"/>
                  </a:ext>
                </a:extLst>
              </p:cNvPr>
              <p:cNvCxnSpPr>
                <a:cxnSpLocks/>
                <a:stCxn id="18" idx="2"/>
                <a:endCxn id="16" idx="6"/>
              </p:cNvCxnSpPr>
              <p:nvPr/>
            </p:nvCxnSpPr>
            <p:spPr>
              <a:xfrm flipH="1">
                <a:off x="5012619" y="5185657"/>
                <a:ext cx="861384" cy="51013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E6F1B645-2F40-DA6B-AA01-776F60F9FFDF}"/>
                  </a:ext>
                </a:extLst>
              </p:cNvPr>
              <p:cNvCxnSpPr>
                <a:cxnSpLocks/>
                <a:stCxn id="19" idx="0"/>
                <a:endCxn id="18" idx="4"/>
              </p:cNvCxnSpPr>
              <p:nvPr/>
            </p:nvCxnSpPr>
            <p:spPr>
              <a:xfrm flipV="1">
                <a:off x="6014562" y="5420322"/>
                <a:ext cx="94107" cy="506969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EA71ADA-9066-149B-D5D1-52B307188E49}"/>
                  </a:ext>
                </a:extLst>
              </p:cNvPr>
              <p:cNvCxnSpPr>
                <a:cxnSpLocks/>
                <a:stCxn id="16" idx="5"/>
                <a:endCxn id="19" idx="2"/>
              </p:cNvCxnSpPr>
              <p:nvPr/>
            </p:nvCxnSpPr>
            <p:spPr>
              <a:xfrm>
                <a:off x="4943887" y="5402603"/>
                <a:ext cx="836009" cy="759354"/>
              </a:xfrm>
              <a:prstGeom prst="line">
                <a:avLst/>
              </a:prstGeom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350C8149-C243-9F64-1A91-3A08258188FF}"/>
                </a:ext>
              </a:extLst>
            </p:cNvPr>
            <p:cNvCxnSpPr>
              <a:cxnSpLocks/>
              <a:stCxn id="19" idx="3"/>
              <a:endCxn id="17" idx="6"/>
            </p:cNvCxnSpPr>
            <p:nvPr/>
          </p:nvCxnSpPr>
          <p:spPr>
            <a:xfrm flipH="1" flipV="1">
              <a:off x="4614519" y="6049263"/>
              <a:ext cx="986016" cy="15761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7A988E8A-D6A4-C44D-AE29-E30E2479F615}"/>
                </a:ext>
              </a:extLst>
            </p:cNvPr>
            <p:cNvCxnSpPr>
              <a:cxnSpLocks/>
              <a:stCxn id="17" idx="2"/>
              <a:endCxn id="10" idx="6"/>
            </p:cNvCxnSpPr>
            <p:nvPr/>
          </p:nvCxnSpPr>
          <p:spPr>
            <a:xfrm flipH="1">
              <a:off x="2895577" y="6049263"/>
              <a:ext cx="1249611" cy="3620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4B152DBB-4159-89F6-0C8A-2B4767B61477}"/>
                </a:ext>
              </a:extLst>
            </p:cNvPr>
            <p:cNvCxnSpPr>
              <a:cxnSpLocks/>
              <a:stCxn id="13" idx="4"/>
              <a:endCxn id="7" idx="0"/>
            </p:cNvCxnSpPr>
            <p:nvPr/>
          </p:nvCxnSpPr>
          <p:spPr>
            <a:xfrm flipH="1">
              <a:off x="3435974" y="4825422"/>
              <a:ext cx="263008" cy="57368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FE6EF3D-D948-4B66-FD96-D6C02AD0A3AB}"/>
                </a:ext>
              </a:extLst>
            </p:cNvPr>
            <p:cNvSpPr txBox="1"/>
            <p:nvPr/>
          </p:nvSpPr>
          <p:spPr>
            <a:xfrm>
              <a:off x="3544439" y="4935770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前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E49A9B95-AED1-5CEA-A4B1-0EA81F8C0D43}"/>
                </a:ext>
              </a:extLst>
            </p:cNvPr>
            <p:cNvSpPr txBox="1"/>
            <p:nvPr/>
          </p:nvSpPr>
          <p:spPr>
            <a:xfrm>
              <a:off x="2550882" y="5194458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9AD7F74-2EA2-C89E-E8A2-420AC853180C}"/>
                </a:ext>
              </a:extLst>
            </p:cNvPr>
            <p:cNvSpPr txBox="1"/>
            <p:nvPr/>
          </p:nvSpPr>
          <p:spPr>
            <a:xfrm>
              <a:off x="5013550" y="4721925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E67E65-FE91-CB84-16D4-F54D46E49E06}"/>
                </a:ext>
              </a:extLst>
            </p:cNvPr>
            <p:cNvSpPr txBox="1"/>
            <p:nvPr/>
          </p:nvSpPr>
          <p:spPr>
            <a:xfrm>
              <a:off x="3405488" y="6263536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橫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28C5B05-9A91-091D-E056-DE7D32CD6E3C}"/>
                </a:ext>
              </a:extLst>
            </p:cNvPr>
            <p:cNvSpPr txBox="1"/>
            <p:nvPr/>
          </p:nvSpPr>
          <p:spPr>
            <a:xfrm>
              <a:off x="4820306" y="6134931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04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1683" y="1278258"/>
            <a:ext cx="9899224" cy="5434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有向图的强连通分量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给定一张有向图，若对于图中任意两个节点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，既存在从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的路径，也存在从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的路径，则该称为有向图是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强连通图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有向图的极大强连通子图被称为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强连通分量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，简记为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算法基于有向图的深度优先遍历，能够在线性时间内求出一张有向图的各个强连通分量。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一个环一定是强连通分量。如果既存在从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的路径，也存在从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的路径，那么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显然在一个环中。因此，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算法的基本思路就是对于每个点，尽量找到与它一起能构成环的所有节点。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容易发现，前向边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没有什么用处，因为搜索树上本来就存在从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的路径。后向边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非常有用，因为它可以和搜索树上从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的路径一起构成环。橫叉边视情况而定，如果从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出发能够找到一条路径回到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的祖先节点，那么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）是有用的。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274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11683" y="1278258"/>
                <a:ext cx="9899224" cy="5188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b="1" noProof="1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有向图的强连通分量</a:t>
                </a:r>
                <a:endParaRPr lang="en-US" altLang="zh-CN" sz="1600" b="1" noProof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为了找到通过后向边和橫叉边构成的环，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Tarjan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算法在深度优先遍历的同时维护一个栈。当访问到节点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时，栈中需要保存以下两类节点：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1.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搜索树上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的祖先节点，记为集合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anc(x)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设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en-US" altLang="zh-CN" sz="1600" noProof="1">
                    <a:ea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∈</m:t>
                    </m:r>
                  </m:oMath>
                </a14:m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anc(x)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，若存在后向边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(x,y)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，则（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x,y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的路径一起形成环。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2.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已经访问过，并且存在一条路径到达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anc(x)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的节点。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设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z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是这样的一个节点，从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z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出发存在一条路径到达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en-US" altLang="zh-CN" sz="1600" noProof="1">
                    <a:ea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∈</m:t>
                    </m:r>
                  </m:oMath>
                </a14:m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anc(x)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。若存在橫叉边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(x,z)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，则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(x,z)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、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z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到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的路径、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到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的路径形成一个环。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综上，栈中的节点就是能与从</a:t>
                </a:r>
                <a:r>
                  <a:rPr lang="en-US" altLang="zh-CN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zh-CN" altLang="en-US" sz="1600" noProof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出发的后向边和横叉边形成环的节点。</a:t>
                </a:r>
                <a:endParaRPr lang="en-US" altLang="zh-CN" sz="1600" noProof="1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683" y="1278258"/>
                <a:ext cx="9899224" cy="5188728"/>
              </a:xfrm>
              <a:prstGeom prst="rect">
                <a:avLst/>
              </a:prstGeom>
              <a:blipFill>
                <a:blip r:embed="rId2"/>
                <a:stretch>
                  <a:fillRect l="-369" b="-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44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02804" y="1340401"/>
            <a:ext cx="9980681" cy="4850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追溯值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表示流图的搜索树中以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为根的子树。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的追溯值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定义为满足以下条件的节点的最小时间戳。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该点在栈中；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存在一条从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出发的有向边，以该点为终点。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根据定义，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Tarjan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算法按照以下步骤计算追溯值：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当节点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第一次被访问时，把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入栈，初始化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low[x]=dfn[x]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扫描从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出发的每条边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没被访问过，则说明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是树枝边，递归访问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回溯之后，令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low[x]=min(low[x],low[y])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被访问过并且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在栈中，则令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low[x]=min(low[x],dfn[y])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回溯之前，判断是否有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low[x]=dfn[x]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。若成立，则不断从栈中弹出节点，直至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出栈。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465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02804" y="1340401"/>
            <a:ext cx="9980681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追溯值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FE3C2DD-FD79-0FA4-FF11-7152749D8FDF}"/>
              </a:ext>
            </a:extLst>
          </p:cNvPr>
          <p:cNvGrpSpPr/>
          <p:nvPr/>
        </p:nvGrpSpPr>
        <p:grpSpPr>
          <a:xfrm>
            <a:off x="1233835" y="2548576"/>
            <a:ext cx="4662471" cy="2436240"/>
            <a:chOff x="1917416" y="1612248"/>
            <a:chExt cx="4662471" cy="243624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20A9DC8-0980-1938-6848-9455D1ADD074}"/>
                </a:ext>
              </a:extLst>
            </p:cNvPr>
            <p:cNvGrpSpPr/>
            <p:nvPr/>
          </p:nvGrpSpPr>
          <p:grpSpPr>
            <a:xfrm>
              <a:off x="1917416" y="1758592"/>
              <a:ext cx="4541809" cy="2289896"/>
              <a:chOff x="1553432" y="4356091"/>
              <a:chExt cx="4541809" cy="2289896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B7ED5FFE-6103-2C0E-0E24-26AD608FF88C}"/>
                  </a:ext>
                </a:extLst>
              </p:cNvPr>
              <p:cNvGrpSpPr/>
              <p:nvPr/>
            </p:nvGrpSpPr>
            <p:grpSpPr>
              <a:xfrm>
                <a:off x="1553432" y="4356091"/>
                <a:ext cx="4541809" cy="2289896"/>
                <a:chOff x="1801525" y="4477108"/>
                <a:chExt cx="4541809" cy="2289896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2E4E8DDA-F156-D50E-AC58-1C3AD94DED88}"/>
                    </a:ext>
                  </a:extLst>
                </p:cNvPr>
                <p:cNvSpPr/>
                <p:nvPr/>
              </p:nvSpPr>
              <p:spPr>
                <a:xfrm>
                  <a:off x="2439674" y="4650519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753C617B-7391-586C-874E-B0116D088228}"/>
                    </a:ext>
                  </a:extLst>
                </p:cNvPr>
                <p:cNvSpPr/>
                <p:nvPr/>
              </p:nvSpPr>
              <p:spPr>
                <a:xfrm>
                  <a:off x="3449401" y="5520121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5</a:t>
                  </a:r>
                  <a:endParaRPr lang="zh-CN" altLang="en-US" dirty="0"/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FECCE3FC-4BE0-8390-2AE4-958F7E000160}"/>
                    </a:ext>
                  </a:extLst>
                </p:cNvPr>
                <p:cNvSpPr/>
                <p:nvPr/>
              </p:nvSpPr>
              <p:spPr>
                <a:xfrm>
                  <a:off x="1801525" y="5573557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3</a:t>
                  </a:r>
                  <a:endParaRPr lang="zh-CN" altLang="en-US" dirty="0"/>
                </a:p>
              </p:txBody>
            </p: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5ECADBCF-8556-6013-B049-88806C43E743}"/>
                    </a:ext>
                  </a:extLst>
                </p:cNvPr>
                <p:cNvCxnSpPr>
                  <a:cxnSpLocks/>
                  <a:stCxn id="16" idx="3"/>
                  <a:endCxn id="18" idx="7"/>
                </p:cNvCxnSpPr>
                <p:nvPr/>
              </p:nvCxnSpPr>
              <p:spPr>
                <a:xfrm flipH="1">
                  <a:off x="2202124" y="5051118"/>
                  <a:ext cx="306282" cy="591171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77FE2FFB-9FBD-0010-8876-E110B2B789B2}"/>
                    </a:ext>
                  </a:extLst>
                </p:cNvPr>
                <p:cNvSpPr/>
                <p:nvPr/>
              </p:nvSpPr>
              <p:spPr>
                <a:xfrm>
                  <a:off x="2674339" y="6297673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4</a:t>
                  </a:r>
                  <a:endParaRPr lang="zh-CN" altLang="en-US" dirty="0"/>
                </a:p>
              </p:txBody>
            </p: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E27A21C3-D4AD-06ED-DA7E-724C872FF1CC}"/>
                    </a:ext>
                  </a:extLst>
                </p:cNvPr>
                <p:cNvCxnSpPr>
                  <a:cxnSpLocks/>
                  <a:stCxn id="20" idx="7"/>
                  <a:endCxn id="17" idx="3"/>
                </p:cNvCxnSpPr>
                <p:nvPr/>
              </p:nvCxnSpPr>
              <p:spPr>
                <a:xfrm flipV="1">
                  <a:off x="3074938" y="5920720"/>
                  <a:ext cx="443195" cy="445685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D4A19930-9A5C-872C-F817-7B86C01FEF7D}"/>
                    </a:ext>
                  </a:extLst>
                </p:cNvPr>
                <p:cNvCxnSpPr>
                  <a:cxnSpLocks/>
                  <a:stCxn id="18" idx="5"/>
                  <a:endCxn id="20" idx="1"/>
                </p:cNvCxnSpPr>
                <p:nvPr/>
              </p:nvCxnSpPr>
              <p:spPr>
                <a:xfrm>
                  <a:off x="2202124" y="5974156"/>
                  <a:ext cx="540947" cy="392249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87649B50-6E55-A426-27E3-6A69271F57F1}"/>
                    </a:ext>
                  </a:extLst>
                </p:cNvPr>
                <p:cNvSpPr/>
                <p:nvPr/>
              </p:nvSpPr>
              <p:spPr>
                <a:xfrm>
                  <a:off x="3712409" y="4477108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1</a:t>
                  </a:r>
                  <a:endParaRPr lang="zh-CN" altLang="en-US" dirty="0"/>
                </a:p>
              </p:txBody>
            </p: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707CC41F-2D48-A4F0-3E88-942D72F1848E}"/>
                    </a:ext>
                  </a:extLst>
                </p:cNvPr>
                <p:cNvCxnSpPr>
                  <a:cxnSpLocks/>
                  <a:stCxn id="17" idx="1"/>
                  <a:endCxn id="16" idx="5"/>
                </p:cNvCxnSpPr>
                <p:nvPr/>
              </p:nvCxnSpPr>
              <p:spPr>
                <a:xfrm flipH="1" flipV="1">
                  <a:off x="2840273" y="5051118"/>
                  <a:ext cx="677860" cy="537735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67E15E73-8518-362F-B522-4610AB6D5AE3}"/>
                    </a:ext>
                  </a:extLst>
                </p:cNvPr>
                <p:cNvCxnSpPr>
                  <a:cxnSpLocks/>
                  <a:stCxn id="23" idx="2"/>
                  <a:endCxn id="16" idx="6"/>
                </p:cNvCxnSpPr>
                <p:nvPr/>
              </p:nvCxnSpPr>
              <p:spPr>
                <a:xfrm flipH="1">
                  <a:off x="2909005" y="4711774"/>
                  <a:ext cx="803404" cy="173411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58EDCE1A-379F-A7A8-3F05-4575EE2882FB}"/>
                    </a:ext>
                  </a:extLst>
                </p:cNvPr>
                <p:cNvSpPr/>
                <p:nvPr/>
              </p:nvSpPr>
              <p:spPr>
                <a:xfrm>
                  <a:off x="4543288" y="5002004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6</a:t>
                  </a:r>
                  <a:endParaRPr lang="zh-CN" altLang="en-US" dirty="0"/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E7088C5E-3A84-1D80-3672-67B1AF3DA8B7}"/>
                    </a:ext>
                  </a:extLst>
                </p:cNvPr>
                <p:cNvSpPr/>
                <p:nvPr/>
              </p:nvSpPr>
              <p:spPr>
                <a:xfrm>
                  <a:off x="4393281" y="5935614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7</a:t>
                  </a:r>
                  <a:endParaRPr lang="zh-CN" altLang="en-US" dirty="0"/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D6BF915C-4BAF-C2AC-994E-4B180891DC47}"/>
                    </a:ext>
                  </a:extLst>
                </p:cNvPr>
                <p:cNvSpPr/>
                <p:nvPr/>
              </p:nvSpPr>
              <p:spPr>
                <a:xfrm>
                  <a:off x="5874003" y="4950991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9</a:t>
                  </a:r>
                  <a:endParaRPr lang="zh-CN" altLang="en-US" dirty="0"/>
                </a:p>
              </p:txBody>
            </p:sp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44DCE10F-D6D6-C3BB-3013-F055A95D4038}"/>
                    </a:ext>
                  </a:extLst>
                </p:cNvPr>
                <p:cNvSpPr/>
                <p:nvPr/>
              </p:nvSpPr>
              <p:spPr>
                <a:xfrm>
                  <a:off x="5779896" y="5927291"/>
                  <a:ext cx="469331" cy="469331"/>
                </a:xfrm>
                <a:prstGeom prst="ellipse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8</a:t>
                  </a:r>
                  <a:endParaRPr lang="zh-CN" altLang="en-US" dirty="0"/>
                </a:p>
              </p:txBody>
            </p: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B3F28FCE-4B99-63DD-B8B8-047716A89534}"/>
                    </a:ext>
                  </a:extLst>
                </p:cNvPr>
                <p:cNvCxnSpPr>
                  <a:cxnSpLocks/>
                  <a:stCxn id="23" idx="6"/>
                  <a:endCxn id="26" idx="1"/>
                </p:cNvCxnSpPr>
                <p:nvPr/>
              </p:nvCxnSpPr>
              <p:spPr>
                <a:xfrm>
                  <a:off x="4181740" y="4711774"/>
                  <a:ext cx="430280" cy="358962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09FF5ED3-0672-3DCB-7F02-2EC2948C7D0D}"/>
                    </a:ext>
                  </a:extLst>
                </p:cNvPr>
                <p:cNvCxnSpPr>
                  <a:cxnSpLocks/>
                  <a:stCxn id="26" idx="4"/>
                  <a:endCxn id="27" idx="0"/>
                </p:cNvCxnSpPr>
                <p:nvPr/>
              </p:nvCxnSpPr>
              <p:spPr>
                <a:xfrm flipH="1">
                  <a:off x="4627947" y="5471335"/>
                  <a:ext cx="150007" cy="464279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A2931BE1-FB52-4EF2-CB15-7874AA78D234}"/>
                    </a:ext>
                  </a:extLst>
                </p:cNvPr>
                <p:cNvCxnSpPr>
                  <a:cxnSpLocks/>
                  <a:stCxn id="28" idx="2"/>
                  <a:endCxn id="26" idx="6"/>
                </p:cNvCxnSpPr>
                <p:nvPr/>
              </p:nvCxnSpPr>
              <p:spPr>
                <a:xfrm flipH="1">
                  <a:off x="5012619" y="5185657"/>
                  <a:ext cx="861384" cy="51013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F5CBA688-D739-88E0-F433-6B7F76FE76A8}"/>
                    </a:ext>
                  </a:extLst>
                </p:cNvPr>
                <p:cNvCxnSpPr>
                  <a:cxnSpLocks/>
                  <a:stCxn id="29" idx="0"/>
                  <a:endCxn id="28" idx="4"/>
                </p:cNvCxnSpPr>
                <p:nvPr/>
              </p:nvCxnSpPr>
              <p:spPr>
                <a:xfrm flipV="1">
                  <a:off x="6014562" y="5420322"/>
                  <a:ext cx="94107" cy="506969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AE9B02DD-0419-4377-F804-3BE9DE72CB33}"/>
                    </a:ext>
                  </a:extLst>
                </p:cNvPr>
                <p:cNvCxnSpPr>
                  <a:cxnSpLocks/>
                  <a:stCxn id="26" idx="5"/>
                  <a:endCxn id="29" idx="2"/>
                </p:cNvCxnSpPr>
                <p:nvPr/>
              </p:nvCxnSpPr>
              <p:spPr>
                <a:xfrm>
                  <a:off x="4943887" y="5402603"/>
                  <a:ext cx="836009" cy="759354"/>
                </a:xfrm>
                <a:prstGeom prst="line">
                  <a:avLst/>
                </a:prstGeom>
                <a:ln w="2857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0DE2E3D1-5629-5FF9-00F7-CBF047A448B8}"/>
                  </a:ext>
                </a:extLst>
              </p:cNvPr>
              <p:cNvCxnSpPr>
                <a:cxnSpLocks/>
                <a:stCxn id="29" idx="3"/>
                <a:endCxn id="27" idx="6"/>
              </p:cNvCxnSpPr>
              <p:nvPr/>
            </p:nvCxnSpPr>
            <p:spPr>
              <a:xfrm flipH="1" flipV="1">
                <a:off x="4614519" y="6049263"/>
                <a:ext cx="986016" cy="15761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815445F9-B093-C4D7-0767-21BC2AF5903D}"/>
                  </a:ext>
                </a:extLst>
              </p:cNvPr>
              <p:cNvCxnSpPr>
                <a:cxnSpLocks/>
                <a:stCxn id="27" idx="2"/>
                <a:endCxn id="20" idx="6"/>
              </p:cNvCxnSpPr>
              <p:nvPr/>
            </p:nvCxnSpPr>
            <p:spPr>
              <a:xfrm flipH="1">
                <a:off x="2895577" y="6049263"/>
                <a:ext cx="1249611" cy="36205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2727F24C-136A-27D0-A567-A553A4F61B75}"/>
                  </a:ext>
                </a:extLst>
              </p:cNvPr>
              <p:cNvCxnSpPr>
                <a:cxnSpLocks/>
                <a:stCxn id="23" idx="4"/>
                <a:endCxn id="17" idx="0"/>
              </p:cNvCxnSpPr>
              <p:nvPr/>
            </p:nvCxnSpPr>
            <p:spPr>
              <a:xfrm flipH="1">
                <a:off x="3435974" y="4825422"/>
                <a:ext cx="263008" cy="57368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2E8AD4C-5D3E-205F-3FDE-28C95230D2DF}"/>
                  </a:ext>
                </a:extLst>
              </p:cNvPr>
              <p:cNvSpPr txBox="1"/>
              <p:nvPr/>
            </p:nvSpPr>
            <p:spPr>
              <a:xfrm>
                <a:off x="3507910" y="5177883"/>
                <a:ext cx="5869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[2]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D5B27AF-31B2-110B-7C8B-05908C1337C3}"/>
                </a:ext>
              </a:extLst>
            </p:cNvPr>
            <p:cNvSpPr txBox="1"/>
            <p:nvPr/>
          </p:nvSpPr>
          <p:spPr>
            <a:xfrm>
              <a:off x="4231856" y="1612248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[1]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7C4FC0C-CE98-2E77-B330-D6B3B8DCA3DC}"/>
                </a:ext>
              </a:extLst>
            </p:cNvPr>
            <p:cNvSpPr txBox="1"/>
            <p:nvPr/>
          </p:nvSpPr>
          <p:spPr>
            <a:xfrm>
              <a:off x="2150345" y="1875957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[2]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E5CFF55-E301-A24F-81BC-ECD9303AFC30}"/>
                </a:ext>
              </a:extLst>
            </p:cNvPr>
            <p:cNvSpPr txBox="1"/>
            <p:nvPr/>
          </p:nvSpPr>
          <p:spPr>
            <a:xfrm>
              <a:off x="2374008" y="2897887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[2]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F1E7984-1C65-68DC-F1EE-27EA315AFCDD}"/>
                </a:ext>
              </a:extLst>
            </p:cNvPr>
            <p:cNvSpPr txBox="1"/>
            <p:nvPr/>
          </p:nvSpPr>
          <p:spPr>
            <a:xfrm>
              <a:off x="2791075" y="3208775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[2]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935AD9D-FAEF-529D-67EE-8E3286229B56}"/>
                </a:ext>
              </a:extLst>
            </p:cNvPr>
            <p:cNvSpPr txBox="1"/>
            <p:nvPr/>
          </p:nvSpPr>
          <p:spPr>
            <a:xfrm>
              <a:off x="4795966" y="1981826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[6]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888666D-6CE9-743A-78F6-7C56D1870C67}"/>
                </a:ext>
              </a:extLst>
            </p:cNvPr>
            <p:cNvSpPr txBox="1"/>
            <p:nvPr/>
          </p:nvSpPr>
          <p:spPr>
            <a:xfrm>
              <a:off x="5992902" y="1834185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[6]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E5AC334-CC9F-16F3-9AD3-2EF94550F560}"/>
                </a:ext>
              </a:extLst>
            </p:cNvPr>
            <p:cNvSpPr txBox="1"/>
            <p:nvPr/>
          </p:nvSpPr>
          <p:spPr>
            <a:xfrm>
              <a:off x="5992902" y="3689799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[6]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4EB4CC6-8F1B-AF49-9589-4E3A3141DAD7}"/>
                </a:ext>
              </a:extLst>
            </p:cNvPr>
            <p:cNvSpPr txBox="1"/>
            <p:nvPr/>
          </p:nvSpPr>
          <p:spPr>
            <a:xfrm>
              <a:off x="4600351" y="3709934"/>
              <a:ext cx="586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[7]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64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02804" y="1340401"/>
            <a:ext cx="9980681" cy="3711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强连通分量判定法则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在追溯值的计算过程中，若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回溯前，有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low[x]=dfn[x]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成立，则栈中从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到栈顶的所有节点构成一个强连通分量</a:t>
            </a:r>
            <a:r>
              <a:rPr lang="zh-CN" altLang="en-US" sz="1600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在计算追溯值的第三步，如果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low[x]=dfn[x]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，那么说明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中的节点不能与栈中其他节点一起构成环。另外，因为橫叉边的终点时间戳必定小于起点时间戳，所以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subtree(x)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中的节点也不可能直接到达尚未访问的节点（时间戳更大）。综上，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栈中从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到栈顶的所有节点不能与其他节点一起构成环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又因为及时进行了判定和出栈操作，所以从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到栈顶的所有节点独立构成一个强连通分量。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106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D4960D-F8F3-C34B-0FDF-540E331018B9}"/>
              </a:ext>
            </a:extLst>
          </p:cNvPr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B5AD55-E952-5D2E-EC4B-6B1DA6D10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875315"/>
            <a:ext cx="6315075" cy="47053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674873-175D-5849-9DDD-4C12F81D0D82}"/>
              </a:ext>
            </a:extLst>
          </p:cNvPr>
          <p:cNvSpPr/>
          <p:nvPr/>
        </p:nvSpPr>
        <p:spPr>
          <a:xfrm>
            <a:off x="7669935" y="2325822"/>
            <a:ext cx="3844404" cy="2849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所在的强连通分量的编号；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scc[i]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记录了编号为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的强连通分量中的所有节点；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ins[i]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标记节点是否在栈中；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467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02804" y="1340401"/>
            <a:ext cx="9980681" cy="1495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缩点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与无向图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e-DCC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的缩点类似，可以把每个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缩成一个点。对原图中的每条有向边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c[x]!=c[y],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则在编号为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与编号为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c[y]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SCC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之间连边。最后，会得到一张有向无环图。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EA5D21-C2CA-D100-4EBF-4FC12D37D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84"/>
          <a:stretch/>
        </p:blipFill>
        <p:spPr>
          <a:xfrm>
            <a:off x="1104900" y="3226279"/>
            <a:ext cx="6286307" cy="176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173162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of Schools POJ1236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D2463B-BE24-5D44-FA53-1250F7E08BE3}"/>
              </a:ext>
            </a:extLst>
          </p:cNvPr>
          <p:cNvSpPr txBox="1"/>
          <p:nvPr/>
        </p:nvSpPr>
        <p:spPr>
          <a:xfrm>
            <a:off x="947362" y="1631306"/>
            <a:ext cx="10138220" cy="4942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一些学校连接在一个计算机网络，学校之间存在支援协议：每个学校都有它应支援的学校名单（学校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支援学校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，并不代表学校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一定支援学校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）。当某校获得一个新的软件时，无论是直接获得还是通过网络获得，该校都应立即将这个软件通过网络协议传送给它应支援的学校。因此，一个新软件若想让所有学校都能使用，只需将其提供一些学校即可。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最少需要将一个软件直接提供给多少个学校，才能使软件能够通过网络被送到所有学校。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最少需要添加几条新的支援关系，使得将一个新软件提供给任何一个学校，其他所有学校都可以通过网络获得该软件。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，表示网络中的学校数目。学校用前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个正整数标识。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行中每行都表示一个支援学校列表（分发列表），第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行包括学校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的接收学校的标识符。每个列表用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结束，空列表只用一个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第一行应该包括一个正整数，表示子任务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的解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第二行应该包括一个非负整数，表示子任务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】2≤N≤100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38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6064E-6F71-6C87-A49A-E690AAB70EA3}"/>
              </a:ext>
            </a:extLst>
          </p:cNvPr>
          <p:cNvSpPr txBox="1"/>
          <p:nvPr/>
        </p:nvSpPr>
        <p:spPr>
          <a:xfrm>
            <a:off x="1104900" y="1784186"/>
            <a:ext cx="9876526" cy="4214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把学校看作节点，若学校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能支援学校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连一条有向边，得到一张有向图。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在图中的一个强连通分量内，任意两个点都是互达的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。因此，只要其中任何一个学校获得新软件，该强连通分量内的其他学校都可以通过网络获得这个新软件。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算法求出所有强连通分量，并执行缩点过程，得到一张有向无环图。首先，“零入度点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无法被其他学校支援。其次，若同时向所有零入度点提供新软件，则新软件从这些点出发沿着网络显然能遍历整个有向无环图。第一问的答案就是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有向无环图中的零入度点的个数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第二问是问最少添加几条有向边，可以把一张任意有向图变成强连通分量。设缩点后的有向无环图中有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个零入度点，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个零出度点，答案就是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p,q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。特别地，如果整张图本身就是一个强连通图，那么答案为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9550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D4960D-F8F3-C34B-0FDF-540E331018B9}"/>
              </a:ext>
            </a:extLst>
          </p:cNvPr>
          <p:cNvSpPr txBox="1"/>
          <p:nvPr/>
        </p:nvSpPr>
        <p:spPr>
          <a:xfrm>
            <a:off x="953982" y="1414854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6E940E-7049-E089-F0BE-91282A981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5"/>
          <a:stretch/>
        </p:blipFill>
        <p:spPr>
          <a:xfrm>
            <a:off x="1104900" y="1899821"/>
            <a:ext cx="6343650" cy="449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2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11683" y="1278258"/>
            <a:ext cx="10147548" cy="5558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有向图的必经点与必经边</a:t>
            </a:r>
            <a:endParaRPr lang="en-US" altLang="zh-CN" sz="1600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给定一张有向图，起点为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，终点为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。若从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的每条路径都经过一个点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，则称点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是有向图从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的必经点。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的每条路径都经过一条边（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），则称这条边是有向图从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必经边或桥。求解方法如下：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在原图中按照拓扑排序进行动态规划，求出起点到图中每个点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的路径条数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fs[x];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在反图上再次按照拓扑排序进行动态规划，求出每个点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到终点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的路径条数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ft[x]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显然，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fs[t]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的路径总条数。根据乘法原理：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对于一条有向边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fs[x]*ft[y]=fs[T],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(x,y)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是有向无环图从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的必经边；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对于一个点，若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fs[x]*ft[x]=fs[T]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是有向无环图从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的必经点。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路径条数是一个指数级别的整数，通常超过了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位或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64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位整数的表示范围。受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思想的启发，我们可以把路径条数对一个大质数取模后在保存到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fs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ft</a:t>
            </a:r>
            <a:r>
              <a:rPr lang="zh-CN" altLang="en-US" sz="1600" noProof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数组中。为保险起见，我们可以多选取几个质数，分别作为模数进行计算。</a:t>
            </a:r>
            <a:endParaRPr lang="en-US" altLang="zh-CN" sz="16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20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173162"/>
            <a:ext cx="10060582" cy="1193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PKU ACM Team’s</a:t>
            </a:r>
            <a:r>
              <a:rPr lang="zh-CN" altLang="en-US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Excursion</a:t>
            </a:r>
          </a:p>
          <a:p>
            <a:pPr>
              <a:lnSpc>
                <a:spcPct val="200000"/>
              </a:lnSpc>
              <a:spcBef>
                <a:spcPct val="50000"/>
              </a:spcBef>
            </a:pPr>
            <a:endParaRPr lang="en-US" altLang="zh-CN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D2463B-BE24-5D44-FA53-1250F7E08BE3}"/>
                  </a:ext>
                </a:extLst>
              </p:cNvPr>
              <p:cNvSpPr txBox="1"/>
              <p:nvPr/>
            </p:nvSpPr>
            <p:spPr>
              <a:xfrm>
                <a:off x="947361" y="1657185"/>
                <a:ext cx="8127627" cy="4576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题目描述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给定一张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条边的有向无环图，每条边都有一个长度。给定一个起点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和一个终点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。若从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的每条路径都经过某条边，则称这条边是有向图的必经边或桥。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PKU ACM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队要从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点。他们在路上可以搭乘两次车。每次可以从任意位置（甚至是一条边上的任意位置）上车，从任意位置下车，但连续乘坐的长度不能超过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米。除去这两次乘车外，剩下的路段步行。定义从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的路径的危险程度等于步行经过的桥上路段的长度之和。求从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的最小危险程度是多少。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第一行包含整数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，表示共有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组测试数据。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每组测试数据，第一行包含五个整数 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N,M,S,T,q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接下来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行，每行包含三个整数 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u,v,w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，表示点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到点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存在一条边，长度为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每组数据输出一个结果，每个结果占一行。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若没有从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的路径，则输出 −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第二行应该包括一个非负整数，表示子任务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的解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数据范围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 1≤L≤5</a:t>
                </a:r>
                <a14:m>
                  <m:oMath xmlns:m="http://schemas.openxmlformats.org/officeDocument/2006/math">
                    <m:r>
                      <a:rPr lang="zh-CN" altLang="en-US" sz="1600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1≤N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M≤2*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</m:t>
                        </m:r>
                      </m:sup>
                    </m:sSup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1≤q≤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9</m:t>
                        </m:r>
                      </m:sup>
                    </m:sSup>
                    <m:r>
                      <a:rPr lang="en-US" altLang="zh-CN" sz="16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1≤w≤1000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D2463B-BE24-5D44-FA53-1250F7E08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61" y="1657185"/>
                <a:ext cx="8127627" cy="4576766"/>
              </a:xfrm>
              <a:prstGeom prst="rect">
                <a:avLst/>
              </a:prstGeom>
              <a:blipFill>
                <a:blip r:embed="rId2"/>
                <a:stretch>
                  <a:fillRect l="-375" r="-900" b="-7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997155EC-1B38-688D-81B3-4FECF9A9EA7D}"/>
              </a:ext>
            </a:extLst>
          </p:cNvPr>
          <p:cNvSpPr txBox="1"/>
          <p:nvPr/>
        </p:nvSpPr>
        <p:spPr>
          <a:xfrm>
            <a:off x="9467548" y="1419630"/>
            <a:ext cx="1385272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8 9 0 7 7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0 4 1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0 1 10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1 2 9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2 5 8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4 3 3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5 6 6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5 6 7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6 7 5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F73BD4-5D44-0586-14FC-40B87F4DFF3D}"/>
              </a:ext>
            </a:extLst>
          </p:cNvPr>
          <p:cNvSpPr txBox="1"/>
          <p:nvPr/>
        </p:nvSpPr>
        <p:spPr>
          <a:xfrm>
            <a:off x="9427289" y="5915729"/>
            <a:ext cx="6094562" cy="81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输出样例：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D1CE63F-05CC-8AF0-8CC9-7A2D4C191FDC}"/>
              </a:ext>
            </a:extLst>
          </p:cNvPr>
          <p:cNvCxnSpPr/>
          <p:nvPr/>
        </p:nvCxnSpPr>
        <p:spPr>
          <a:xfrm flipH="1">
            <a:off x="9074988" y="1419630"/>
            <a:ext cx="69012" cy="5069947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06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Tarjan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53982" y="1406491"/>
            <a:ext cx="2117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题意分析</a:t>
            </a:r>
            <a:r>
              <a:rPr lang="en-US" altLang="zh-CN" b="1" noProof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b="1" noProof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A6064E-6F71-6C87-A49A-E690AAB70EA3}"/>
              </a:ext>
            </a:extLst>
          </p:cNvPr>
          <p:cNvSpPr txBox="1"/>
          <p:nvPr/>
        </p:nvSpPr>
        <p:spPr>
          <a:xfrm>
            <a:off x="1044514" y="1715438"/>
            <a:ext cx="10193504" cy="434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首先，用计算路径条数（并取模）的方法，求出从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的所有桥。根据贪心策略，因为桥是从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的任意一条路径都包含的边，所以我们应该让路径上除了桥以外的部分尽量短。并且只关心长度，不关心桥以外的部分到底是哪些边。所以可以求出从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的任意一条最短路，考虑在这条最短路径的什么地方搭车，能使危险程度最小。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一条最短路其实就是一条链，我们要用两个区间覆盖链上两段长度不超过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的部分，使未被覆盖的桥的长度之和最小。如果只有一个区间，可以正着扫描一遍这条最短路，用动态规划求出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到最短路上的第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个节点，只搭乘一次车的最小危险程度。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类似地，可以倒着扫描一遍，用动态规划求出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，表示从最短路上的第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只搭乘一次的最小危险程度。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最后，我们枚举切点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dt[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更新答案即可。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753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习题练习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2797</Words>
  <Application>Microsoft Office PowerPoint</Application>
  <PresentationFormat>宽屏</PresentationFormat>
  <Paragraphs>148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微软雅黑</vt:lpstr>
      <vt:lpstr>Cambria Math</vt:lpstr>
      <vt:lpstr>Euphemia</vt:lpstr>
      <vt:lpstr>Wingdings</vt:lpstr>
      <vt:lpstr>学术文献 16x9</vt:lpstr>
      <vt:lpstr>Tarjan算法与无向图联通性</vt:lpstr>
      <vt:lpstr>学习目标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Tarjan</vt:lpstr>
      <vt:lpstr>习题练习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2017-11-04T04:56:00Z</dcterms:created>
  <dcterms:modified xsi:type="dcterms:W3CDTF">2022-08-02T13:45:54Z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2052-11.1.0.9440</vt:lpwstr>
  </property>
</Properties>
</file>