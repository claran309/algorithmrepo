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612" r:id="rId3"/>
    <p:sldId id="679" r:id="rId4"/>
    <p:sldId id="681" r:id="rId5"/>
    <p:sldId id="682" r:id="rId6"/>
    <p:sldId id="683" r:id="rId7"/>
    <p:sldId id="684" r:id="rId8"/>
    <p:sldId id="755" r:id="rId9"/>
    <p:sldId id="691" r:id="rId10"/>
    <p:sldId id="685" r:id="rId11"/>
    <p:sldId id="701" r:id="rId12"/>
    <p:sldId id="756" r:id="rId13"/>
    <p:sldId id="702" r:id="rId14"/>
    <p:sldId id="704" r:id="rId15"/>
    <p:sldId id="668" r:id="rId16"/>
    <p:sldId id="676" r:id="rId17"/>
    <p:sldId id="678" r:id="rId18"/>
    <p:sldId id="680" r:id="rId19"/>
    <p:sldId id="705" r:id="rId20"/>
    <p:sldId id="708" r:id="rId21"/>
    <p:sldId id="757" r:id="rId22"/>
    <p:sldId id="707" r:id="rId23"/>
    <p:sldId id="710" r:id="rId24"/>
    <p:sldId id="711" r:id="rId25"/>
    <p:sldId id="709" r:id="rId26"/>
    <p:sldId id="652" r:id="rId27"/>
    <p:sldId id="750" r:id="rId28"/>
    <p:sldId id="751" r:id="rId29"/>
    <p:sldId id="737" r:id="rId30"/>
    <p:sldId id="738" r:id="rId31"/>
    <p:sldId id="739" r:id="rId32"/>
    <p:sldId id="740" r:id="rId33"/>
    <p:sldId id="741" r:id="rId34"/>
    <p:sldId id="754" r:id="rId35"/>
    <p:sldId id="744" r:id="rId36"/>
    <p:sldId id="745" r:id="rId37"/>
    <p:sldId id="746" r:id="rId38"/>
    <p:sldId id="747" r:id="rId39"/>
    <p:sldId id="735" r:id="rId40"/>
    <p:sldId id="753" r:id="rId41"/>
    <p:sldId id="502" r:id="rId4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2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F3"/>
    <a:srgbClr val="E9E9E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97" autoAdjust="0"/>
    <p:restoredTop sz="95244" autoAdjust="0"/>
  </p:normalViewPr>
  <p:slideViewPr>
    <p:cSldViewPr snapToGrid="0" showGuides="1">
      <p:cViewPr varScale="1">
        <p:scale>
          <a:sx n="108" d="100"/>
          <a:sy n="108" d="100"/>
        </p:scale>
        <p:origin x="-852" y="-90"/>
      </p:cViewPr>
      <p:guideLst>
        <p:guide orient="horz" pos="216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2023/4/5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2023/4/5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2023/4/5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2023/4/5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2023/4/5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7.xml"/><Relationship Id="rId7" Type="http://schemas.openxmlformats.org/officeDocument/2006/relationships/image" Target="../media/image37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221637" y="2093223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65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理解最短路的思想原理。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掌握最短路的四种框架结构，并能根据实际情况进行应用。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30162"/>
            <a:ext cx="9980682" cy="1096962"/>
          </a:xfrm>
        </p:spPr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7" name="Text Box 4"/>
          <p:cNvSpPr txBox="1"/>
          <p:nvPr/>
        </p:nvSpPr>
        <p:spPr>
          <a:xfrm>
            <a:off x="960281" y="5378387"/>
            <a:ext cx="7315200" cy="8744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现在，我们想从城市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到达城市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br>
              <a:rPr lang="zh-CN" altLang="en-US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怎样走才能使得路径最短，最短路径的长度是多少？ </a:t>
            </a:r>
          </a:p>
        </p:txBody>
      </p:sp>
      <p:sp>
        <p:nvSpPr>
          <p:cNvPr id="11" name="Text Box 48"/>
          <p:cNvSpPr txBox="1"/>
          <p:nvPr/>
        </p:nvSpPr>
        <p:spPr>
          <a:xfrm>
            <a:off x="927832" y="1403137"/>
            <a:ext cx="5761038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</a:t>
            </a: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1】</a:t>
            </a:r>
            <a:r>
              <a:rPr lang="zh-CN" altLang="en-US" noProof="1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已知各个城市之间的道路情况如下：</a:t>
            </a:r>
            <a:endParaRPr lang="zh-CN" altLang="en-US" noProof="1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Group 51"/>
          <p:cNvGrpSpPr/>
          <p:nvPr/>
        </p:nvGrpSpPr>
        <p:grpSpPr bwMode="auto">
          <a:xfrm>
            <a:off x="2457293" y="1939100"/>
            <a:ext cx="5472113" cy="3240087"/>
            <a:chOff x="1020" y="1389"/>
            <a:chExt cx="3447" cy="2041"/>
          </a:xfrm>
        </p:grpSpPr>
        <p:sp>
          <p:nvSpPr>
            <p:cNvPr id="13" name="Oval 6"/>
            <p:cNvSpPr>
              <a:spLocks noChangeArrowheads="1"/>
            </p:cNvSpPr>
            <p:nvPr/>
          </p:nvSpPr>
          <p:spPr bwMode="auto">
            <a:xfrm>
              <a:off x="1020" y="2205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" name="Oval 7"/>
            <p:cNvSpPr>
              <a:spLocks noChangeArrowheads="1"/>
            </p:cNvSpPr>
            <p:nvPr/>
          </p:nvSpPr>
          <p:spPr bwMode="auto">
            <a:xfrm>
              <a:off x="1746" y="1797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5" name="Oval 8"/>
            <p:cNvSpPr>
              <a:spLocks noChangeArrowheads="1"/>
            </p:cNvSpPr>
            <p:nvPr/>
          </p:nvSpPr>
          <p:spPr bwMode="auto">
            <a:xfrm>
              <a:off x="1746" y="2750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6" name="Oval 9"/>
            <p:cNvSpPr>
              <a:spLocks noChangeArrowheads="1"/>
            </p:cNvSpPr>
            <p:nvPr/>
          </p:nvSpPr>
          <p:spPr bwMode="auto">
            <a:xfrm>
              <a:off x="2517" y="1434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7" name="Oval 10"/>
            <p:cNvSpPr>
              <a:spLocks noChangeArrowheads="1"/>
            </p:cNvSpPr>
            <p:nvPr/>
          </p:nvSpPr>
          <p:spPr bwMode="auto">
            <a:xfrm>
              <a:off x="2517" y="2069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8" name="Oval 11"/>
            <p:cNvSpPr>
              <a:spLocks noChangeArrowheads="1"/>
            </p:cNvSpPr>
            <p:nvPr/>
          </p:nvSpPr>
          <p:spPr bwMode="auto">
            <a:xfrm>
              <a:off x="2517" y="2659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9" name="Oval 12"/>
            <p:cNvSpPr>
              <a:spLocks noChangeArrowheads="1"/>
            </p:cNvSpPr>
            <p:nvPr/>
          </p:nvSpPr>
          <p:spPr bwMode="auto">
            <a:xfrm>
              <a:off x="2517" y="3158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" name="Oval 13"/>
            <p:cNvSpPr>
              <a:spLocks noChangeArrowheads="1"/>
            </p:cNvSpPr>
            <p:nvPr/>
          </p:nvSpPr>
          <p:spPr bwMode="auto">
            <a:xfrm>
              <a:off x="3334" y="1570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1" name="Oval 14"/>
            <p:cNvSpPr>
              <a:spLocks noChangeArrowheads="1"/>
            </p:cNvSpPr>
            <p:nvPr/>
          </p:nvSpPr>
          <p:spPr bwMode="auto">
            <a:xfrm>
              <a:off x="3334" y="2205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22" name="Oval 15"/>
            <p:cNvSpPr>
              <a:spLocks noChangeArrowheads="1"/>
            </p:cNvSpPr>
            <p:nvPr/>
          </p:nvSpPr>
          <p:spPr bwMode="auto">
            <a:xfrm>
              <a:off x="3334" y="2795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3" name="Oval 16"/>
            <p:cNvSpPr>
              <a:spLocks noChangeArrowheads="1"/>
            </p:cNvSpPr>
            <p:nvPr/>
          </p:nvSpPr>
          <p:spPr bwMode="auto">
            <a:xfrm>
              <a:off x="4195" y="2160"/>
              <a:ext cx="272" cy="272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zh-CN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 flipV="1">
              <a:off x="1292" y="1978"/>
              <a:ext cx="454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1247" y="2432"/>
              <a:ext cx="499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 flipV="1">
              <a:off x="2018" y="1616"/>
              <a:ext cx="499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2018" y="1978"/>
              <a:ext cx="499" cy="1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1973" y="2024"/>
              <a:ext cx="544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 flipV="1">
              <a:off x="1973" y="2296"/>
              <a:ext cx="589" cy="4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1973" y="2931"/>
              <a:ext cx="544" cy="318"/>
            </a:xfrm>
            <a:prstGeom prst="line">
              <a:avLst/>
            </a:prstGeom>
            <a:ln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2789" y="1570"/>
              <a:ext cx="544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2789" y="1616"/>
              <a:ext cx="544" cy="6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 flipV="1">
              <a:off x="2789" y="1797"/>
              <a:ext cx="59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2789" y="2795"/>
              <a:ext cx="544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 flipV="1">
              <a:off x="2789" y="2976"/>
              <a:ext cx="59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3606" y="1752"/>
              <a:ext cx="589" cy="4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3606" y="2341"/>
              <a:ext cx="5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 flipV="1">
              <a:off x="3606" y="2387"/>
              <a:ext cx="635" cy="5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1383" y="1933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1383" y="2614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2154" y="1525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2154" y="1865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3" name="Text Box 36"/>
            <p:cNvSpPr txBox="1">
              <a:spLocks noChangeArrowheads="1"/>
            </p:cNvSpPr>
            <p:nvPr/>
          </p:nvSpPr>
          <p:spPr bwMode="auto">
            <a:xfrm>
              <a:off x="1972" y="2160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" name="Text Box 37"/>
            <p:cNvSpPr txBox="1">
              <a:spLocks noChangeArrowheads="1"/>
            </p:cNvSpPr>
            <p:nvPr/>
          </p:nvSpPr>
          <p:spPr bwMode="auto">
            <a:xfrm>
              <a:off x="1972" y="2477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45" name="Text Box 38"/>
            <p:cNvSpPr txBox="1">
              <a:spLocks noChangeArrowheads="1"/>
            </p:cNvSpPr>
            <p:nvPr/>
          </p:nvSpPr>
          <p:spPr bwMode="auto">
            <a:xfrm>
              <a:off x="2109" y="3067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6" name="Text Box 39"/>
            <p:cNvSpPr txBox="1">
              <a:spLocks noChangeArrowheads="1"/>
            </p:cNvSpPr>
            <p:nvPr/>
          </p:nvSpPr>
          <p:spPr bwMode="auto">
            <a:xfrm>
              <a:off x="3016" y="3067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7" name="Text Box 40"/>
            <p:cNvSpPr txBox="1">
              <a:spLocks noChangeArrowheads="1"/>
            </p:cNvSpPr>
            <p:nvPr/>
          </p:nvSpPr>
          <p:spPr bwMode="auto">
            <a:xfrm>
              <a:off x="2970" y="2659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48" name="Text Box 41"/>
            <p:cNvSpPr txBox="1">
              <a:spLocks noChangeArrowheads="1"/>
            </p:cNvSpPr>
            <p:nvPr/>
          </p:nvSpPr>
          <p:spPr bwMode="auto">
            <a:xfrm>
              <a:off x="2925" y="1389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9" name="Text Box 42"/>
            <p:cNvSpPr txBox="1">
              <a:spLocks noChangeArrowheads="1"/>
            </p:cNvSpPr>
            <p:nvPr/>
          </p:nvSpPr>
          <p:spPr bwMode="auto">
            <a:xfrm>
              <a:off x="2834" y="2069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50" name="Text Box 43"/>
            <p:cNvSpPr txBox="1">
              <a:spLocks noChangeArrowheads="1"/>
            </p:cNvSpPr>
            <p:nvPr/>
          </p:nvSpPr>
          <p:spPr bwMode="auto">
            <a:xfrm>
              <a:off x="2880" y="1842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1" name="Text Box 44"/>
            <p:cNvSpPr txBox="1">
              <a:spLocks noChangeArrowheads="1"/>
            </p:cNvSpPr>
            <p:nvPr/>
          </p:nvSpPr>
          <p:spPr bwMode="auto">
            <a:xfrm>
              <a:off x="3742" y="1752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2" name="Text Box 45"/>
            <p:cNvSpPr txBox="1">
              <a:spLocks noChangeArrowheads="1"/>
            </p:cNvSpPr>
            <p:nvPr/>
          </p:nvSpPr>
          <p:spPr bwMode="auto">
            <a:xfrm>
              <a:off x="3651" y="2160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3" name="Text Box 46"/>
            <p:cNvSpPr txBox="1">
              <a:spLocks noChangeArrowheads="1"/>
            </p:cNvSpPr>
            <p:nvPr/>
          </p:nvSpPr>
          <p:spPr bwMode="auto">
            <a:xfrm>
              <a:off x="3651" y="256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 flipV="1">
              <a:off x="2018" y="1706"/>
              <a:ext cx="1315" cy="1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  <a:defRPr/>
              </a:pPr>
              <a:endParaRPr lang="zh-CN" altLang="en-US" sz="2000" b="1" ker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Text Box 50"/>
            <p:cNvSpPr txBox="1">
              <a:spLocks noChangeArrowheads="1"/>
            </p:cNvSpPr>
            <p:nvPr/>
          </p:nvSpPr>
          <p:spPr bwMode="auto">
            <a:xfrm>
              <a:off x="2608" y="1752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000" b="1" kern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sp>
        <p:nvSpPr>
          <p:cNvPr id="56" name="文本框 1"/>
          <p:cNvSpPr txBox="1">
            <a:spLocks noChangeArrowheads="1"/>
          </p:cNvSpPr>
          <p:nvPr/>
        </p:nvSpPr>
        <p:spPr bwMode="auto">
          <a:xfrm>
            <a:off x="2000094" y="3251962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20204" pitchFamily="34" charset="0"/>
              </a:rPr>
              <a:t>A</a:t>
            </a:r>
            <a:endParaRPr lang="zh-CN" altLang="en-US" sz="20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文本框 2"/>
          <p:cNvSpPr txBox="1">
            <a:spLocks noChangeArrowheads="1"/>
          </p:cNvSpPr>
          <p:nvPr/>
        </p:nvSpPr>
        <p:spPr bwMode="auto">
          <a:xfrm>
            <a:off x="8073868" y="3197987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20204" pitchFamily="34" charset="0"/>
              </a:rPr>
              <a:t>E</a:t>
            </a:r>
            <a:endParaRPr lang="zh-CN" altLang="en-US" sz="20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104900" y="1514205"/>
            <a:ext cx="6611516" cy="3040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图中两点间的最短距离：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、图中每对顶点（任意两点）之间的最短路径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（</a:t>
            </a:r>
            <a:r>
              <a: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弗洛伊德算法：</a:t>
            </a: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floyed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、图中一个顶点到其他顶点的最短路径（单源最短路径）</a:t>
            </a: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（</a:t>
            </a: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dijkstra</a:t>
            </a:r>
            <a:r>
              <a: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算法、</a:t>
            </a: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Bellman-ford 算法、</a:t>
            </a: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SPFA</a:t>
            </a:r>
            <a:r>
              <a:rPr kumimoji="0" lang="zh-CN" altLang="zh-CN" sz="1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算法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）。</a:t>
            </a: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floyed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104900" y="1337905"/>
            <a:ext cx="8285988" cy="3517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计算每一对顶点间的最短路径（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floy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d算法</a:t>
            </a: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endParaRPr lang="zh-CN" altLang="en-US" sz="16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（一）求最短距离</a:t>
            </a:r>
            <a:endParaRPr lang="zh-CN" altLang="en-US" sz="16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目标：把图中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任意两点i与j之间</a:t>
            </a: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的最短距离都求出来 d[i][j]。</a:t>
            </a:r>
            <a:endParaRPr lang="zh-CN" altLang="en-US" sz="16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原理：任意一个最短路算法都是基于这样一个事实：</a:t>
            </a:r>
            <a:endParaRPr lang="en-US" altLang="zh-CN" sz="16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从任意节点A到任意节点B的最短路径不外乎2种可能：</a:t>
            </a:r>
            <a:endParaRPr lang="zh-CN" altLang="en-US" sz="16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1是直接从A到B，</a:t>
            </a:r>
            <a:endParaRPr lang="zh-CN" altLang="en-US" sz="16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2是从A经过若干个节点到B。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2"/>
          <p:cNvSpPr txBox="1">
            <a:spLocks noChangeArrowheads="1"/>
          </p:cNvSpPr>
          <p:nvPr/>
        </p:nvSpPr>
        <p:spPr bwMode="auto">
          <a:xfrm>
            <a:off x="1033879" y="5218254"/>
            <a:ext cx="52934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  (d[i][k]+d[k][j]&lt;d[i][j])   d[i][j]=d[i][k]+d[k][j]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xmlns="" id="{BB5D41D7-6B15-3FCF-02E4-E8CDA78AFF45}"/>
              </a:ext>
            </a:extLst>
          </p:cNvPr>
          <p:cNvGrpSpPr/>
          <p:nvPr/>
        </p:nvGrpSpPr>
        <p:grpSpPr bwMode="auto">
          <a:xfrm>
            <a:off x="6923359" y="2670440"/>
            <a:ext cx="2801332" cy="1517120"/>
            <a:chOff x="2744" y="1706"/>
            <a:chExt cx="2177" cy="1179"/>
          </a:xfrm>
        </p:grpSpPr>
        <p:sp>
          <p:nvSpPr>
            <p:cNvPr id="4" name="Oval 6">
              <a:extLst>
                <a:ext uri="{FF2B5EF4-FFF2-40B4-BE49-F238E27FC236}">
                  <a16:creationId xmlns:a16="http://schemas.microsoft.com/office/drawing/2014/main" xmlns="" id="{592E8E89-AC3B-5A9F-88F2-86D8657BA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431"/>
              <a:ext cx="408" cy="408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 err="1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Oval 7">
              <a:extLst>
                <a:ext uri="{FF2B5EF4-FFF2-40B4-BE49-F238E27FC236}">
                  <a16:creationId xmlns:a16="http://schemas.microsoft.com/office/drawing/2014/main" xmlns="" id="{717BC6BD-220A-C906-E859-85DA36E44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477"/>
              <a:ext cx="408" cy="408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6" name="Oval 8">
              <a:extLst>
                <a:ext uri="{FF2B5EF4-FFF2-40B4-BE49-F238E27FC236}">
                  <a16:creationId xmlns:a16="http://schemas.microsoft.com/office/drawing/2014/main" xmlns="" id="{AA268714-1A91-4083-4023-234863936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706"/>
              <a:ext cx="408" cy="40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xmlns="" id="{19D3105E-1AC3-C35D-6F5D-823C77DBD2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023"/>
              <a:ext cx="544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xmlns="" id="{1D3E9A88-2306-AB43-ADF5-745AD51E8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024"/>
              <a:ext cx="589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298841"/>
            <a:ext cx="9860880" cy="4942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算法思想：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设顶点集S(初值为空)，用数组D的每个元素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D[i][j]保存从Vi只经过S中的顶点到达Vj的最短路径长度</a:t>
            </a: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① 初始时令S={ } ， D[i][j]的赋初值方式是：</a:t>
            </a:r>
            <a:endParaRPr lang="en-US" altLang="zh-CN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200000"/>
              </a:lnSpc>
            </a:pP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200000"/>
              </a:lnSpc>
            </a:pPr>
            <a:endParaRPr lang="en-US" altLang="zh-CN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200000"/>
              </a:lnSpc>
            </a:pP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② 将图中一个顶点Vk 加入到S中，修改D[i][j]的值，修改方法是：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D[i][j]=Min{D[i][j] , (D[i][k]+D[k][j]) }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原因： 从Vi只经过S中的顶点(Vk)到达Vj的路径长度可能比原来不经过Vk的路径更短。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③ 重复②，直到G的所有顶点都加入到S中为止。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2" descr="无标题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FFF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26220" y="2949744"/>
            <a:ext cx="6106735" cy="1162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04900" y="1239129"/>
            <a:ext cx="9980682" cy="554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算法实现：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(int k=1;k&lt;=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n;k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for (int 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=1;i&lt;=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 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for (int j=1;j&lt;=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n;j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if (d[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][k]+d[k][j]&lt;d[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][j])  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d[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][j]=d[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][k]+d[k][j];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初始化条件：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D[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][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]=0;  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自己到自己为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；对角线为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D[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][ j ]=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边权，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有直接相连的边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D[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][ j ]= +∞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无直接相连的边。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数组，采用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memset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(d, 0x3f, 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sizeof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(d))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可全部初始化为一个很大的数</a:t>
            </a:r>
          </a:p>
          <a:p>
            <a:pPr>
              <a:lnSpc>
                <a:spcPct val="20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Floyed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算法本质是动态规划，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是阶段，必须置于最外层循环中。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97530" y="1330262"/>
            <a:ext cx="10042382" cy="11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【例</a:t>
            </a:r>
            <a:r>
              <a:rPr lang="en-US" altLang="zh-CN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】</a:t>
            </a: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已知下图中给定的关系，顶点个数n&lt;=100,两点之间的距离w&lt;=1000,求给定两点之间的最短距离。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97530" y="2222984"/>
            <a:ext cx="1771650" cy="419839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en-US" altLang="zh-CN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</a:t>
            </a: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样例输入</a:t>
            </a: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1  5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1  2  23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1  3  17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1  5  49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2  3  5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2  4  13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4  5  7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B853A193-C9DA-9AB4-A79B-31107BB0BBA1}"/>
              </a:ext>
            </a:extLst>
          </p:cNvPr>
          <p:cNvSpPr txBox="1"/>
          <p:nvPr/>
        </p:nvSpPr>
        <p:spPr>
          <a:xfrm>
            <a:off x="3121674" y="2604143"/>
            <a:ext cx="147075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【</a:t>
            </a: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样例输出</a:t>
            </a: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42</a:t>
            </a:r>
            <a:endParaRPr lang="en-US" altLang="zh-CN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xmlns="" id="{90DE68E3-1D82-3538-9FED-9151F620764C}"/>
              </a:ext>
            </a:extLst>
          </p:cNvPr>
          <p:cNvGrpSpPr/>
          <p:nvPr/>
        </p:nvGrpSpPr>
        <p:grpSpPr>
          <a:xfrm>
            <a:off x="5332564" y="2794269"/>
            <a:ext cx="2701521" cy="3055821"/>
            <a:chOff x="6495538" y="2811892"/>
            <a:chExt cx="2701521" cy="3055821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38A28393-DE9F-8EBD-62A1-C1B98BCF8EB2}"/>
                    </a:ext>
                  </a:extLst>
                </p:cNvPr>
                <p:cNvSpPr/>
                <p:nvPr/>
              </p:nvSpPr>
              <p:spPr>
                <a:xfrm>
                  <a:off x="8806441" y="3283241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8A28393-DE9F-8EBD-62A1-C1B98BCF8E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6441" y="3283241"/>
                  <a:ext cx="390618" cy="390618"/>
                </a:xfrm>
                <a:prstGeom prst="ellipse">
                  <a:avLst/>
                </a:prstGeom>
                <a:blipFill>
                  <a:blip r:embed="rId2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117EDBB2-C878-7331-3D42-713F9AE161D4}"/>
                    </a:ext>
                  </a:extLst>
                </p:cNvPr>
                <p:cNvSpPr/>
                <p:nvPr/>
              </p:nvSpPr>
              <p:spPr>
                <a:xfrm>
                  <a:off x="6816684" y="3717804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117EDBB2-C878-7331-3D42-713F9AE161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684" y="3717804"/>
                  <a:ext cx="390618" cy="390618"/>
                </a:xfrm>
                <a:prstGeom prst="ellipse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C8B58BE9-F3FA-86AB-4FD1-A64036E6A834}"/>
                    </a:ext>
                  </a:extLst>
                </p:cNvPr>
                <p:cNvSpPr/>
                <p:nvPr/>
              </p:nvSpPr>
              <p:spPr>
                <a:xfrm>
                  <a:off x="6699434" y="4823198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C8B58BE9-F3FA-86AB-4FD1-A64036E6A8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9434" y="4823198"/>
                  <a:ext cx="390618" cy="390618"/>
                </a:xfrm>
                <a:prstGeom prst="ellipse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752E3BFC-28BD-F533-E35F-F8C6C614DF54}"/>
                    </a:ext>
                  </a:extLst>
                </p:cNvPr>
                <p:cNvSpPr/>
                <p:nvPr/>
              </p:nvSpPr>
              <p:spPr>
                <a:xfrm>
                  <a:off x="7404266" y="2961392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752E3BFC-28BD-F533-E35F-F8C6C614DF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4266" y="2961392"/>
                  <a:ext cx="390618" cy="390618"/>
                </a:xfrm>
                <a:prstGeom prst="ellipse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5E960194-9845-CAE0-0D6F-4DD8227E2C5E}"/>
                </a:ext>
              </a:extLst>
            </p:cNvPr>
            <p:cNvCxnSpPr>
              <a:cxnSpLocks/>
              <a:stCxn id="9" idx="5"/>
              <a:endCxn id="33" idx="2"/>
            </p:cNvCxnSpPr>
            <p:nvPr/>
          </p:nvCxnSpPr>
          <p:spPr>
            <a:xfrm>
              <a:off x="7032847" y="5156611"/>
              <a:ext cx="428624" cy="51579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8038D56A-CF7C-8F80-2411-7A3D187B532C}"/>
                </a:ext>
              </a:extLst>
            </p:cNvPr>
            <p:cNvCxnSpPr>
              <a:cxnSpLocks/>
              <a:stCxn id="10" idx="3"/>
              <a:endCxn id="8" idx="7"/>
            </p:cNvCxnSpPr>
            <p:nvPr/>
          </p:nvCxnSpPr>
          <p:spPr>
            <a:xfrm flipH="1">
              <a:off x="7150097" y="3294805"/>
              <a:ext cx="311374" cy="480204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2AE60829-FF43-2972-A47E-6105BA317302}"/>
                </a:ext>
              </a:extLst>
            </p:cNvPr>
            <p:cNvCxnSpPr>
              <a:cxnSpLocks/>
              <a:stCxn id="7" idx="3"/>
              <a:endCxn id="8" idx="6"/>
            </p:cNvCxnSpPr>
            <p:nvPr/>
          </p:nvCxnSpPr>
          <p:spPr>
            <a:xfrm flipH="1">
              <a:off x="7207302" y="3616654"/>
              <a:ext cx="1656344" cy="296459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xmlns="" id="{5634C105-504C-FB51-F462-539FDF37DF93}"/>
                </a:ext>
              </a:extLst>
            </p:cNvPr>
            <p:cNvCxnSpPr>
              <a:cxnSpLocks/>
              <a:stCxn id="9" idx="0"/>
              <a:endCxn id="8" idx="4"/>
            </p:cNvCxnSpPr>
            <p:nvPr/>
          </p:nvCxnSpPr>
          <p:spPr>
            <a:xfrm flipV="1">
              <a:off x="6894743" y="4108422"/>
              <a:ext cx="117250" cy="714776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53353D96-2222-9FF1-02D5-719DC8896FEC}"/>
                    </a:ext>
                  </a:extLst>
                </p:cNvPr>
                <p:cNvSpPr/>
                <p:nvPr/>
              </p:nvSpPr>
              <p:spPr>
                <a:xfrm>
                  <a:off x="7461471" y="5477095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53353D96-2222-9FF1-02D5-719DC8896F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1471" y="5477095"/>
                  <a:ext cx="390618" cy="390618"/>
                </a:xfrm>
                <a:prstGeom prst="ellipse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xmlns="" id="{9CF464B8-5942-5F24-9BE3-6B5DF99EA953}"/>
                </a:ext>
              </a:extLst>
            </p:cNvPr>
            <p:cNvCxnSpPr>
              <a:cxnSpLocks/>
              <a:stCxn id="7" idx="1"/>
              <a:endCxn id="10" idx="6"/>
            </p:cNvCxnSpPr>
            <p:nvPr/>
          </p:nvCxnSpPr>
          <p:spPr>
            <a:xfrm flipH="1" flipV="1">
              <a:off x="7794884" y="3156701"/>
              <a:ext cx="1068762" cy="18374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xmlns="" id="{CE53A1B0-94A3-961C-0193-6205F953AE39}"/>
                </a:ext>
              </a:extLst>
            </p:cNvPr>
            <p:cNvCxnSpPr>
              <a:cxnSpLocks/>
              <a:stCxn id="7" idx="4"/>
              <a:endCxn id="33" idx="7"/>
            </p:cNvCxnSpPr>
            <p:nvPr/>
          </p:nvCxnSpPr>
          <p:spPr>
            <a:xfrm flipH="1">
              <a:off x="7794884" y="3673859"/>
              <a:ext cx="1206866" cy="1860441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xmlns="" id="{40614968-1750-6A25-A39E-1C9E506683C7}"/>
                </a:ext>
              </a:extLst>
            </p:cNvPr>
            <p:cNvSpPr txBox="1"/>
            <p:nvPr/>
          </p:nvSpPr>
          <p:spPr>
            <a:xfrm>
              <a:off x="7656780" y="3732410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23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xmlns="" id="{54C18C68-8780-A747-1397-5A88D5E979D0}"/>
                </a:ext>
              </a:extLst>
            </p:cNvPr>
            <p:cNvSpPr txBox="1"/>
            <p:nvPr/>
          </p:nvSpPr>
          <p:spPr>
            <a:xfrm>
              <a:off x="8097412" y="281189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17</a:t>
              </a: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xmlns="" id="{34954783-7A9D-2A0A-BF13-63A703F50603}"/>
                </a:ext>
              </a:extLst>
            </p:cNvPr>
            <p:cNvSpPr txBox="1"/>
            <p:nvPr/>
          </p:nvSpPr>
          <p:spPr>
            <a:xfrm>
              <a:off x="8296918" y="4604079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49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xmlns="" id="{F83FC015-E117-8080-0426-17023103CAB2}"/>
                </a:ext>
              </a:extLst>
            </p:cNvPr>
            <p:cNvSpPr txBox="1"/>
            <p:nvPr/>
          </p:nvSpPr>
          <p:spPr>
            <a:xfrm>
              <a:off x="7118654" y="491599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xmlns="" id="{CADF2B7E-A2F9-9D83-DBC0-186D3C05A800}"/>
                </a:ext>
              </a:extLst>
            </p:cNvPr>
            <p:cNvSpPr txBox="1"/>
            <p:nvPr/>
          </p:nvSpPr>
          <p:spPr>
            <a:xfrm>
              <a:off x="6495538" y="415861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13</a:t>
              </a: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xmlns="" id="{4FE4FC2B-D50C-5996-018D-076545569752}"/>
                </a:ext>
              </a:extLst>
            </p:cNvPr>
            <p:cNvSpPr txBox="1"/>
            <p:nvPr/>
          </p:nvSpPr>
          <p:spPr>
            <a:xfrm>
              <a:off x="6924517" y="318430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98823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104900" y="1383115"/>
            <a:ext cx="7242175" cy="111678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要求：输出最短距离d[1][5]。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分析：D[i][j]:表示顶点i到顶点j之间的最短距离。初始化如下：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73187" y="2948016"/>
            <a:ext cx="2812887" cy="277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0  23  17  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∞ 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49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23  0  5   13  ∞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17  5  0   ∞   ∞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∞  13  ∞   0  7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49  ∞  ∞   7  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右箭头 5"/>
          <p:cNvSpPr/>
          <p:nvPr/>
        </p:nvSpPr>
        <p:spPr>
          <a:xfrm>
            <a:off x="3719170" y="4034255"/>
            <a:ext cx="2305050" cy="647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floyed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532057" y="2948016"/>
            <a:ext cx="2401887" cy="2778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0   22  17  35  42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22  0   5   13  20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17  5   0   18  25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35  13  18   0   7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42  20  25   7   0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825435" y="1803107"/>
            <a:ext cx="2081212" cy="1920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初始状态：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0  23  17 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∞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23  0  5   13  ∞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∞   ∞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∞  13  ∞   0  7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∞  ∞   7  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75309" y="3935119"/>
            <a:ext cx="2401888" cy="1920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终止状态：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0   22  17  35  42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22  0   5   13  20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17  5   0   18  25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35  13  18   0   7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42  20  25   7   0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95597" y="1803107"/>
            <a:ext cx="2079625" cy="1920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k=1: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0  23  17 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∞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23  0  5   13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72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∞ 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66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∞  13  ∞   0  7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66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7  0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032434" y="1803107"/>
            <a:ext cx="2079625" cy="1920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k=2: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0  23  17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23  0  5   13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72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66</a:t>
            </a:r>
          </a:p>
          <a:p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13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0  7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66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7  0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774634" y="3935119"/>
            <a:ext cx="2028825" cy="1920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k=3: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17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</a:p>
          <a:p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0  5   13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71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66</a:t>
            </a:r>
          </a:p>
          <a:p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13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0  7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71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66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7  0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395597" y="3935119"/>
            <a:ext cx="2027237" cy="1920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k=4: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17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0  5   13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25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13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0  7</a:t>
            </a:r>
          </a:p>
          <a:p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42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7  0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21AF4137-C490-50FE-C4A1-2EB6D9B39D78}"/>
              </a:ext>
            </a:extLst>
          </p:cNvPr>
          <p:cNvGrpSpPr/>
          <p:nvPr/>
        </p:nvGrpSpPr>
        <p:grpSpPr>
          <a:xfrm>
            <a:off x="696875" y="2407208"/>
            <a:ext cx="2701521" cy="3055821"/>
            <a:chOff x="6495538" y="2811892"/>
            <a:chExt cx="2701521" cy="3055821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C8C618D1-5828-72D0-45ED-0A60976F4FC7}"/>
                    </a:ext>
                  </a:extLst>
                </p:cNvPr>
                <p:cNvSpPr/>
                <p:nvPr/>
              </p:nvSpPr>
              <p:spPr>
                <a:xfrm>
                  <a:off x="8806441" y="3283241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C8C618D1-5828-72D0-45ED-0A60976F4F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6441" y="3283241"/>
                  <a:ext cx="390618" cy="390618"/>
                </a:xfrm>
                <a:prstGeom prst="ellipse">
                  <a:avLst/>
                </a:prstGeom>
                <a:blipFill>
                  <a:blip r:embed="rId2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68473411-9BCC-FA0D-7232-8DE0A34DC4CD}"/>
                    </a:ext>
                  </a:extLst>
                </p:cNvPr>
                <p:cNvSpPr/>
                <p:nvPr/>
              </p:nvSpPr>
              <p:spPr>
                <a:xfrm>
                  <a:off x="6816684" y="3717804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68473411-9BCC-FA0D-7232-8DE0A34DC4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684" y="3717804"/>
                  <a:ext cx="390618" cy="390618"/>
                </a:xfrm>
                <a:prstGeom prst="ellipse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4CFBA09-C93A-9599-9066-033C0C6FE88C}"/>
                    </a:ext>
                  </a:extLst>
                </p:cNvPr>
                <p:cNvSpPr/>
                <p:nvPr/>
              </p:nvSpPr>
              <p:spPr>
                <a:xfrm>
                  <a:off x="6699434" y="4823198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B4CFBA09-C93A-9599-9066-033C0C6FE8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9434" y="4823198"/>
                  <a:ext cx="390618" cy="390618"/>
                </a:xfrm>
                <a:prstGeom prst="ellipse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D8C86841-F0CA-D4CC-2D7F-0FC6110F734E}"/>
                    </a:ext>
                  </a:extLst>
                </p:cNvPr>
                <p:cNvSpPr/>
                <p:nvPr/>
              </p:nvSpPr>
              <p:spPr>
                <a:xfrm>
                  <a:off x="7404266" y="2961392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D8C86841-F0CA-D4CC-2D7F-0FC6110F7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4266" y="2961392"/>
                  <a:ext cx="390618" cy="390618"/>
                </a:xfrm>
                <a:prstGeom prst="ellipse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xmlns="" id="{3799CB36-3640-4E30-FD88-A8C7148A6375}"/>
                </a:ext>
              </a:extLst>
            </p:cNvPr>
            <p:cNvCxnSpPr>
              <a:cxnSpLocks/>
              <a:stCxn id="8" idx="5"/>
              <a:endCxn id="18" idx="2"/>
            </p:cNvCxnSpPr>
            <p:nvPr/>
          </p:nvCxnSpPr>
          <p:spPr>
            <a:xfrm>
              <a:off x="7032847" y="5156611"/>
              <a:ext cx="428624" cy="51579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BFD63C1F-0517-56A3-C450-B2F5B843069F}"/>
                </a:ext>
              </a:extLst>
            </p:cNvPr>
            <p:cNvCxnSpPr>
              <a:cxnSpLocks/>
              <a:stCxn id="9" idx="3"/>
              <a:endCxn id="7" idx="7"/>
            </p:cNvCxnSpPr>
            <p:nvPr/>
          </p:nvCxnSpPr>
          <p:spPr>
            <a:xfrm flipH="1">
              <a:off x="7150097" y="3294805"/>
              <a:ext cx="311374" cy="480204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9C6D893F-CE8C-4AF9-3C74-D8CA9D5FA84F}"/>
                </a:ext>
              </a:extLst>
            </p:cNvPr>
            <p:cNvCxnSpPr>
              <a:cxnSpLocks/>
              <a:stCxn id="6" idx="3"/>
              <a:endCxn id="7" idx="6"/>
            </p:cNvCxnSpPr>
            <p:nvPr/>
          </p:nvCxnSpPr>
          <p:spPr>
            <a:xfrm flipH="1">
              <a:off x="7207302" y="3616654"/>
              <a:ext cx="1656344" cy="296459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xmlns="" id="{E85CF984-65E7-1579-B8DA-79B97C01198F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V="1">
              <a:off x="6894743" y="4108422"/>
              <a:ext cx="117250" cy="714776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14951F5D-F568-A18F-7E98-26877C62FCA9}"/>
                    </a:ext>
                  </a:extLst>
                </p:cNvPr>
                <p:cNvSpPr/>
                <p:nvPr/>
              </p:nvSpPr>
              <p:spPr>
                <a:xfrm>
                  <a:off x="7461471" y="5477095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14951F5D-F568-A18F-7E98-26877C62FC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1471" y="5477095"/>
                  <a:ext cx="390618" cy="390618"/>
                </a:xfrm>
                <a:prstGeom prst="ellipse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AF59C743-5A00-27D2-801F-21D49CDA227A}"/>
                </a:ext>
              </a:extLst>
            </p:cNvPr>
            <p:cNvCxnSpPr>
              <a:cxnSpLocks/>
              <a:stCxn id="6" idx="1"/>
              <a:endCxn id="9" idx="6"/>
            </p:cNvCxnSpPr>
            <p:nvPr/>
          </p:nvCxnSpPr>
          <p:spPr>
            <a:xfrm flipH="1" flipV="1">
              <a:off x="7794884" y="3156701"/>
              <a:ext cx="1068762" cy="18374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xmlns="" id="{DDB444FC-B7F1-4750-B484-4292D3EC7BDF}"/>
                </a:ext>
              </a:extLst>
            </p:cNvPr>
            <p:cNvCxnSpPr>
              <a:cxnSpLocks/>
              <a:stCxn id="6" idx="4"/>
              <a:endCxn id="18" idx="7"/>
            </p:cNvCxnSpPr>
            <p:nvPr/>
          </p:nvCxnSpPr>
          <p:spPr>
            <a:xfrm flipH="1">
              <a:off x="7794884" y="3673859"/>
              <a:ext cx="1206866" cy="1860441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C1E4FC0B-91F9-B051-1D40-AC735448D4DF}"/>
                </a:ext>
              </a:extLst>
            </p:cNvPr>
            <p:cNvSpPr txBox="1"/>
            <p:nvPr/>
          </p:nvSpPr>
          <p:spPr>
            <a:xfrm>
              <a:off x="7656780" y="3732410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23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0328B1ED-2AEE-313F-236E-44EB62F3E363}"/>
                </a:ext>
              </a:extLst>
            </p:cNvPr>
            <p:cNvSpPr txBox="1"/>
            <p:nvPr/>
          </p:nvSpPr>
          <p:spPr>
            <a:xfrm>
              <a:off x="8097412" y="281189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17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xmlns="" id="{674C95D0-2E69-236F-34D1-C4D497EEF881}"/>
                </a:ext>
              </a:extLst>
            </p:cNvPr>
            <p:cNvSpPr txBox="1"/>
            <p:nvPr/>
          </p:nvSpPr>
          <p:spPr>
            <a:xfrm>
              <a:off x="8296918" y="4604079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49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xmlns="" id="{8551E2A1-701F-8149-8B50-11AB92A02528}"/>
                </a:ext>
              </a:extLst>
            </p:cNvPr>
            <p:cNvSpPr txBox="1"/>
            <p:nvPr/>
          </p:nvSpPr>
          <p:spPr>
            <a:xfrm>
              <a:off x="7118654" y="491599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D2648377-8468-8206-B9B3-D89CFB1B2461}"/>
                </a:ext>
              </a:extLst>
            </p:cNvPr>
            <p:cNvSpPr txBox="1"/>
            <p:nvPr/>
          </p:nvSpPr>
          <p:spPr>
            <a:xfrm>
              <a:off x="6495538" y="415861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13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7493D299-34AC-C8CE-47E3-035D666FD4CF}"/>
                </a:ext>
              </a:extLst>
            </p:cNvPr>
            <p:cNvSpPr txBox="1"/>
            <p:nvPr/>
          </p:nvSpPr>
          <p:spPr>
            <a:xfrm>
              <a:off x="6924517" y="318430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104900" y="1468120"/>
            <a:ext cx="413292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参考代码：</a:t>
            </a:r>
            <a:endParaRPr lang="zh-CN" altLang="en-US" sz="1600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#include&lt;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bits/stdc++.h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using namespace std;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const int maxn=101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maxw=1001;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d[maxn][maxn];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n,p,q;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init(){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cin&gt;&gt;n;</a:t>
            </a:r>
            <a:endParaRPr lang="en-US" altLang="zh-CN" noProof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cin&gt;&gt;p&gt;&gt;q;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for(int i=1;i&lt;=n;i++)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for(int j=1;j&lt;=n;j++)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if  (i==j) d[i][j]=0;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else d[i][j]=maxw;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int i,j,k;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while (cin&gt;&gt;i&gt;&gt;j&gt;&gt;k){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d[i][j]=k;d[j][i]=k;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449038" y="1453138"/>
            <a:ext cx="0" cy="5109328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232776" y="1468120"/>
            <a:ext cx="4702175" cy="45243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floyed(){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for(int k=1;k&lt;=n;k++)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for(int i=1;i&lt;=n;i++)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for(int j=1;j&lt;=n;j++)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if (d[i][k]+d[k][j]&lt;d[i][j])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d[i][j]=d[i][k]+d[k][j];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print(){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cout&lt;&lt;d[p][q]&lt;&lt;endl;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main(){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init();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floyed();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print();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return 0;</a:t>
            </a:r>
          </a:p>
          <a:p>
            <a:r>
              <a:rPr lang="zh-CN" altLang="en-US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467230"/>
            <a:ext cx="5791373" cy="3330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 path[i][j] 记录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i到j的最短路径中j的前驱顶点</a:t>
            </a: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如样例：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1--&gt;4: 35: 1 3 2 4 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path[1][4]=2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path[1][2]=3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path[1][3]=1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3" descr="IMG_256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FFF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43477" y="3575581"/>
            <a:ext cx="3830500" cy="117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E13FAD9C-3445-72C7-234A-DB14C272F5AB}"/>
              </a:ext>
            </a:extLst>
          </p:cNvPr>
          <p:cNvGrpSpPr/>
          <p:nvPr/>
        </p:nvGrpSpPr>
        <p:grpSpPr>
          <a:xfrm>
            <a:off x="7596370" y="2585799"/>
            <a:ext cx="2701521" cy="3055821"/>
            <a:chOff x="6495538" y="2811892"/>
            <a:chExt cx="2701521" cy="3055821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E510F4E9-3379-E62A-A4B3-550C03CFDA8E}"/>
                    </a:ext>
                  </a:extLst>
                </p:cNvPr>
                <p:cNvSpPr/>
                <p:nvPr/>
              </p:nvSpPr>
              <p:spPr>
                <a:xfrm>
                  <a:off x="8806441" y="3283241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E510F4E9-3379-E62A-A4B3-550C03CFDA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6441" y="3283241"/>
                  <a:ext cx="390618" cy="390618"/>
                </a:xfrm>
                <a:prstGeom prst="ellipse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57083C06-180A-3685-4251-59FDD37D07DE}"/>
                    </a:ext>
                  </a:extLst>
                </p:cNvPr>
                <p:cNvSpPr/>
                <p:nvPr/>
              </p:nvSpPr>
              <p:spPr>
                <a:xfrm>
                  <a:off x="6816684" y="3717804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57083C06-180A-3685-4251-59FDD37D07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684" y="3717804"/>
                  <a:ext cx="390618" cy="390618"/>
                </a:xfrm>
                <a:prstGeom prst="ellipse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DEC95D95-826D-5F35-A8FD-3EE1D2BDC04B}"/>
                    </a:ext>
                  </a:extLst>
                </p:cNvPr>
                <p:cNvSpPr/>
                <p:nvPr/>
              </p:nvSpPr>
              <p:spPr>
                <a:xfrm>
                  <a:off x="6699434" y="4823198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DEC95D95-826D-5F35-A8FD-3EE1D2BDC0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9434" y="4823198"/>
                  <a:ext cx="390618" cy="390618"/>
                </a:xfrm>
                <a:prstGeom prst="ellipse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B5AE0887-3E76-FE78-5B90-78E91F398C72}"/>
                    </a:ext>
                  </a:extLst>
                </p:cNvPr>
                <p:cNvSpPr/>
                <p:nvPr/>
              </p:nvSpPr>
              <p:spPr>
                <a:xfrm>
                  <a:off x="7404266" y="2961392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B5AE0887-3E76-FE78-5B90-78E91F398C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4266" y="2961392"/>
                  <a:ext cx="390618" cy="390618"/>
                </a:xfrm>
                <a:prstGeom prst="ellipse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AFAE0216-1B61-8FA6-EBC7-40BE383DD60A}"/>
                </a:ext>
              </a:extLst>
            </p:cNvPr>
            <p:cNvCxnSpPr>
              <a:cxnSpLocks/>
              <a:stCxn id="9" idx="5"/>
              <a:endCxn id="15" idx="2"/>
            </p:cNvCxnSpPr>
            <p:nvPr/>
          </p:nvCxnSpPr>
          <p:spPr>
            <a:xfrm>
              <a:off x="7032847" y="5156611"/>
              <a:ext cx="428624" cy="51579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99254047-E697-B51E-4FE9-112C15F79ED9}"/>
                </a:ext>
              </a:extLst>
            </p:cNvPr>
            <p:cNvCxnSpPr>
              <a:cxnSpLocks/>
              <a:stCxn id="10" idx="3"/>
              <a:endCxn id="8" idx="7"/>
            </p:cNvCxnSpPr>
            <p:nvPr/>
          </p:nvCxnSpPr>
          <p:spPr>
            <a:xfrm flipH="1">
              <a:off x="7150097" y="3294805"/>
              <a:ext cx="311374" cy="480204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9F0D4D2C-3DF5-DFC0-2317-EB946D38186C}"/>
                </a:ext>
              </a:extLst>
            </p:cNvPr>
            <p:cNvCxnSpPr>
              <a:cxnSpLocks/>
              <a:stCxn id="6" idx="3"/>
              <a:endCxn id="8" idx="6"/>
            </p:cNvCxnSpPr>
            <p:nvPr/>
          </p:nvCxnSpPr>
          <p:spPr>
            <a:xfrm flipH="1">
              <a:off x="7207302" y="3616654"/>
              <a:ext cx="1656344" cy="296459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2461BC9A-2594-89F3-D50A-74D4C8A289D8}"/>
                </a:ext>
              </a:extLst>
            </p:cNvPr>
            <p:cNvCxnSpPr>
              <a:cxnSpLocks/>
              <a:stCxn id="9" idx="0"/>
              <a:endCxn id="8" idx="4"/>
            </p:cNvCxnSpPr>
            <p:nvPr/>
          </p:nvCxnSpPr>
          <p:spPr>
            <a:xfrm flipV="1">
              <a:off x="6894743" y="4108422"/>
              <a:ext cx="117250" cy="714776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759BFF6C-4667-1630-2E70-4DC908A32E37}"/>
                    </a:ext>
                  </a:extLst>
                </p:cNvPr>
                <p:cNvSpPr/>
                <p:nvPr/>
              </p:nvSpPr>
              <p:spPr>
                <a:xfrm>
                  <a:off x="7461471" y="5477095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759BFF6C-4667-1630-2E70-4DC908A32E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1471" y="5477095"/>
                  <a:ext cx="390618" cy="390618"/>
                </a:xfrm>
                <a:prstGeom prst="ellipse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xmlns="" id="{230A1ABA-CD63-1551-9A03-4E3ABDBBB2BA}"/>
                </a:ext>
              </a:extLst>
            </p:cNvPr>
            <p:cNvCxnSpPr>
              <a:cxnSpLocks/>
              <a:stCxn id="6" idx="1"/>
              <a:endCxn id="10" idx="6"/>
            </p:cNvCxnSpPr>
            <p:nvPr/>
          </p:nvCxnSpPr>
          <p:spPr>
            <a:xfrm flipH="1" flipV="1">
              <a:off x="7794884" y="3156701"/>
              <a:ext cx="1068762" cy="18374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0194AD97-0EA6-1385-9C8F-1255C4D01B8C}"/>
                </a:ext>
              </a:extLst>
            </p:cNvPr>
            <p:cNvCxnSpPr>
              <a:cxnSpLocks/>
              <a:stCxn id="6" idx="4"/>
              <a:endCxn id="15" idx="7"/>
            </p:cNvCxnSpPr>
            <p:nvPr/>
          </p:nvCxnSpPr>
          <p:spPr>
            <a:xfrm flipH="1">
              <a:off x="7794884" y="3673859"/>
              <a:ext cx="1206866" cy="1860441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1929C0D5-A659-2116-9C55-E5E37110EFD1}"/>
                </a:ext>
              </a:extLst>
            </p:cNvPr>
            <p:cNvSpPr txBox="1"/>
            <p:nvPr/>
          </p:nvSpPr>
          <p:spPr>
            <a:xfrm>
              <a:off x="7656780" y="3732410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23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A4C7CECB-D3FE-9119-97C6-DAAF06E80FA0}"/>
                </a:ext>
              </a:extLst>
            </p:cNvPr>
            <p:cNvSpPr txBox="1"/>
            <p:nvPr/>
          </p:nvSpPr>
          <p:spPr>
            <a:xfrm>
              <a:off x="8097412" y="281189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17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217A4B4C-8B5B-DB5F-BD82-344113377B27}"/>
                </a:ext>
              </a:extLst>
            </p:cNvPr>
            <p:cNvSpPr txBox="1"/>
            <p:nvPr/>
          </p:nvSpPr>
          <p:spPr>
            <a:xfrm>
              <a:off x="8296918" y="4604079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49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B69AD021-52CC-5D89-99B4-D359C2D5E134}"/>
                </a:ext>
              </a:extLst>
            </p:cNvPr>
            <p:cNvSpPr txBox="1"/>
            <p:nvPr/>
          </p:nvSpPr>
          <p:spPr>
            <a:xfrm>
              <a:off x="7118654" y="491599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5B10D02A-DE23-79F1-1838-248042DFBF34}"/>
                </a:ext>
              </a:extLst>
            </p:cNvPr>
            <p:cNvSpPr txBox="1"/>
            <p:nvPr/>
          </p:nvSpPr>
          <p:spPr>
            <a:xfrm>
              <a:off x="6495538" y="415861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13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5200661F-87D7-E493-EF59-6085B77843CB}"/>
                </a:ext>
              </a:extLst>
            </p:cNvPr>
            <p:cNvSpPr txBox="1"/>
            <p:nvPr/>
          </p:nvSpPr>
          <p:spPr>
            <a:xfrm>
              <a:off x="6924517" y="3184302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023696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104900" y="1505652"/>
            <a:ext cx="4097020" cy="480131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200000"/>
              </a:lnSpc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参考代码：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(int k=1;k&lt;=n;k++)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for (int i=1;i&lt;=n;k++)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for (int j=1;j&lt;=n;j++)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if (d[i][k]+d[k][j]&lt;d[i][j]) {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d[i][j]=d[i][k]+d[k][j];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path[i][j]=path[k][j];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10524" y="1357982"/>
            <a:ext cx="4702810" cy="488864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endParaRPr lang="zh-CN" altLang="en-US" noProof="1"/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初始化：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i到j有边，则 path[i][j]=i;  path[j][i] =j;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输出i到j的路线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dfs(int i,int j){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if (i==j)  cout&lt;&lt;i&lt;&lt;' ';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else if (path[i][j]&gt;0)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{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dfs(i,path[i,j]);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cout&lt;&lt;j&lt;&lt;' ';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}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1E509912-8CA8-4AC0-8BB1-C2703F31D18F}"/>
              </a:ext>
            </a:extLst>
          </p:cNvPr>
          <p:cNvCxnSpPr/>
          <p:nvPr/>
        </p:nvCxnSpPr>
        <p:spPr>
          <a:xfrm>
            <a:off x="5637321" y="1505651"/>
            <a:ext cx="0" cy="459330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floyed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104900" y="1839171"/>
            <a:ext cx="17640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d[i][j]：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0  23  17 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∞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23  0  5   13  ∞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∞   ∞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∞  13  ∞   0  7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AutoNum type="arabicPlain" startAt="49"/>
            </a:pP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∞  ∞   7  0</a:t>
            </a:r>
            <a:endParaRPr lang="en-US" altLang="zh-CN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04900" y="3947371"/>
            <a:ext cx="1749425" cy="191928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path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[i][j]：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54325" y="1839171"/>
            <a:ext cx="1790700" cy="19208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k=1: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0  23  17 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∞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23  0  5   13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72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∞ 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66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∞  13  ∞   0  7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66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7  0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73375" y="3947371"/>
            <a:ext cx="1771650" cy="191928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path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[i][j]：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endParaRPr lang="en-US" altLang="zh-CN" noProof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45025" y="1839171"/>
            <a:ext cx="1774825" cy="19208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k=2: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0  23  17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23  0  5   13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72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66</a:t>
            </a:r>
          </a:p>
          <a:p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13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0  7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66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7  0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45025" y="3947371"/>
            <a:ext cx="1774825" cy="191928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path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[i][j]：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endParaRPr lang="en-US" altLang="zh-CN" noProof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19850" y="1839171"/>
            <a:ext cx="1844675" cy="19208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k=3: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17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</a:p>
          <a:p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0  5   13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71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66</a:t>
            </a:r>
          </a:p>
          <a:p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13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0  7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49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71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66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7  0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264525" y="1839171"/>
            <a:ext cx="1947863" cy="19208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k=4: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0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17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0  5    13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</a:t>
            </a:r>
          </a:p>
          <a:p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17  5  0 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25</a:t>
            </a: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13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18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0  7</a:t>
            </a:r>
          </a:p>
          <a:p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42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7  0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19850" y="3947371"/>
            <a:ext cx="1844675" cy="191928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path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[i][j]：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endParaRPr lang="en-US" altLang="zh-CN" noProof="1"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64525" y="3947371"/>
            <a:ext cx="1947863" cy="191928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path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[i][j]：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1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endParaRPr lang="en-US" altLang="zh-CN" noProof="1"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ea"/>
            </a:endParaRPr>
          </a:p>
          <a:p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noProof="1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noProof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5</a:t>
            </a:r>
            <a:r>
              <a:rPr lang="zh-CN" altLang="en-US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0</a:t>
            </a:r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传递闭包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61797"/>
            <a:ext cx="1006058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求解问题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：对于图G的任意顶点i和j，是否存在一条从i到j的路径（即i和j是否可达）？</a:t>
            </a: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（1） 对于图G的任意一个顶点u，u可达的顶点集合称为u的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传递闭包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。在无向图中，u的传递闭包为和u处于同一连通分量的点集。有向图中，u的传递闭包为u可达的顶点集合。</a:t>
            </a: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26"/>
          <p:cNvGrpSpPr/>
          <p:nvPr/>
        </p:nvGrpSpPr>
        <p:grpSpPr bwMode="auto">
          <a:xfrm>
            <a:off x="1342049" y="3582079"/>
            <a:ext cx="4088463" cy="1653569"/>
            <a:chOff x="2925" y="1058"/>
            <a:chExt cx="2541" cy="999"/>
          </a:xfrm>
        </p:grpSpPr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925" y="1104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3742" y="1058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3787" y="1648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3107" y="1739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785" y="1149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4422" y="1739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5148" y="1739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243" y="1240"/>
              <a:ext cx="49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604" y="1421"/>
              <a:ext cx="226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H="1" flipV="1">
              <a:off x="5057" y="1421"/>
              <a:ext cx="226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3923" y="1376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V="1">
              <a:off x="3424" y="1829"/>
              <a:ext cx="363" cy="4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3198" y="1376"/>
              <a:ext cx="590" cy="3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341663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传递闭包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5105805" y="2237832"/>
            <a:ext cx="2393950" cy="224676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1 1 1 1 0 0 0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1 1 1 1 0 0 0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1 1 1 1 0 0 0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1 1 1 1 0 0 0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0 0 0 0 1 1 1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0 0 0 0 1 1 1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0 0 0 0 1 1 1 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1165079" y="2237832"/>
            <a:ext cx="2466975" cy="224676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0 1 1 0 0 0 0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1 0 1 0 0 0 0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1 1 0 1 0 0 0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0 0 1 0 0 0 0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0 0 0 0 0 1 0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0 0 0 0 1 0 1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0 0 0 0 0 1 0 </a:t>
            </a: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1104900" y="1544178"/>
            <a:ext cx="2041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邻接矩阵</a:t>
            </a:r>
          </a:p>
        </p:txBody>
      </p:sp>
      <p:sp>
        <p:nvSpPr>
          <p:cNvPr id="23" name="AutoShape 27"/>
          <p:cNvSpPr>
            <a:spLocks noChangeArrowheads="1"/>
          </p:cNvSpPr>
          <p:nvPr/>
        </p:nvSpPr>
        <p:spPr bwMode="auto">
          <a:xfrm>
            <a:off x="3865858" y="3058460"/>
            <a:ext cx="865187" cy="433388"/>
          </a:xfrm>
          <a:prstGeom prst="rightArrow">
            <a:avLst>
              <a:gd name="adj1" fmla="val 50000"/>
              <a:gd name="adj2" fmla="val 4979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5900767" y="4645519"/>
            <a:ext cx="792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G*</a:t>
            </a:r>
          </a:p>
        </p:txBody>
      </p:sp>
      <p:sp>
        <p:nvSpPr>
          <p:cNvPr id="25" name="Text Box 29"/>
          <p:cNvSpPr txBox="1"/>
          <p:nvPr/>
        </p:nvSpPr>
        <p:spPr>
          <a:xfrm>
            <a:off x="1765816" y="4573160"/>
            <a:ext cx="792162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 noProof="1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+mn-ea"/>
              </a:rPr>
              <a:t>G</a:t>
            </a:r>
            <a:endParaRPr lang="en-US" altLang="zh-CN" sz="2000" b="1" noProof="1">
              <a:solidFill>
                <a:srgbClr val="000000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6" name="圆角矩形标注 1"/>
          <p:cNvSpPr>
            <a:spLocks noChangeArrowheads="1"/>
          </p:cNvSpPr>
          <p:nvPr/>
        </p:nvSpPr>
        <p:spPr bwMode="auto">
          <a:xfrm>
            <a:off x="627801" y="5422840"/>
            <a:ext cx="3333750" cy="534987"/>
          </a:xfrm>
          <a:prstGeom prst="wedgeRoundRectCallout">
            <a:avLst>
              <a:gd name="adj1" fmla="val -8509"/>
              <a:gd name="adj2" fmla="val -127581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是否有边相连？</a:t>
            </a:r>
          </a:p>
        </p:txBody>
      </p:sp>
      <p:sp>
        <p:nvSpPr>
          <p:cNvPr id="27" name="圆角矩形标注 2"/>
          <p:cNvSpPr>
            <a:spLocks noChangeArrowheads="1"/>
          </p:cNvSpPr>
          <p:nvPr/>
        </p:nvSpPr>
        <p:spPr bwMode="auto">
          <a:xfrm>
            <a:off x="4261282" y="5442829"/>
            <a:ext cx="3426780" cy="534987"/>
          </a:xfrm>
          <a:prstGeom prst="wedgeRoundRectCallout">
            <a:avLst>
              <a:gd name="adj1" fmla="val 6776"/>
              <a:gd name="adj2" fmla="val -108500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zh-CN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kumimoji="0" lang="zh-CN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是否有</a:t>
            </a:r>
            <a:r>
              <a:rPr lang="zh-CN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路相</a:t>
            </a:r>
            <a:r>
              <a:rPr kumimoji="0" lang="zh-CN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连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（可达）</a:t>
            </a:r>
            <a:r>
              <a:rPr kumimoji="0" lang="zh-CN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grpSp>
        <p:nvGrpSpPr>
          <p:cNvPr id="3" name="Group 26">
            <a:extLst>
              <a:ext uri="{FF2B5EF4-FFF2-40B4-BE49-F238E27FC236}">
                <a16:creationId xmlns:a16="http://schemas.microsoft.com/office/drawing/2014/main" xmlns="" id="{1896DCB1-3D60-34E9-CEFC-81F431B37D78}"/>
              </a:ext>
            </a:extLst>
          </p:cNvPr>
          <p:cNvGrpSpPr/>
          <p:nvPr/>
        </p:nvGrpSpPr>
        <p:grpSpPr bwMode="auto">
          <a:xfrm>
            <a:off x="7801597" y="2841913"/>
            <a:ext cx="3517432" cy="1232938"/>
            <a:chOff x="2925" y="1058"/>
            <a:chExt cx="2541" cy="999"/>
          </a:xfrm>
        </p:grpSpPr>
        <p:sp>
          <p:nvSpPr>
            <p:cNvPr id="4" name="Oval 6">
              <a:extLst>
                <a:ext uri="{FF2B5EF4-FFF2-40B4-BE49-F238E27FC236}">
                  <a16:creationId xmlns:a16="http://schemas.microsoft.com/office/drawing/2014/main" xmlns="" id="{A1012ACC-AD87-13C4-9C03-8348DB084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104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" name="Oval 7">
              <a:extLst>
                <a:ext uri="{FF2B5EF4-FFF2-40B4-BE49-F238E27FC236}">
                  <a16:creationId xmlns:a16="http://schemas.microsoft.com/office/drawing/2014/main" xmlns="" id="{520253C3-2DF2-3B7D-1B70-E99A44010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1058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" name="Oval 8">
              <a:extLst>
                <a:ext uri="{FF2B5EF4-FFF2-40B4-BE49-F238E27FC236}">
                  <a16:creationId xmlns:a16="http://schemas.microsoft.com/office/drawing/2014/main" xmlns="" id="{DC9D486B-4305-52D8-CFCA-D9E2BC73A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648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xmlns="" id="{30570554-5CE5-E1CB-010E-0B25C6A7F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739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xmlns="" id="{AF11854B-FAB9-8267-A021-BEC55CE2F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1149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xmlns="" id="{46EA5E52-7D42-451F-739F-53E45872E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1739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xmlns="" id="{C8980C57-C613-54DD-EF35-297FE6F1C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" y="1739"/>
              <a:ext cx="318" cy="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3" name="Line 13">
              <a:extLst>
                <a:ext uri="{FF2B5EF4-FFF2-40B4-BE49-F238E27FC236}">
                  <a16:creationId xmlns:a16="http://schemas.microsoft.com/office/drawing/2014/main" xmlns="" id="{BD1D5B60-ED78-9426-E6AD-35440926A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1240"/>
              <a:ext cx="49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xmlns="" id="{2FAFB6C9-B950-406E-E648-1655324B1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4" y="1421"/>
              <a:ext cx="226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5" name="Line 15">
              <a:extLst>
                <a:ext uri="{FF2B5EF4-FFF2-40B4-BE49-F238E27FC236}">
                  <a16:creationId xmlns:a16="http://schemas.microsoft.com/office/drawing/2014/main" xmlns="" id="{BFD20C73-0E5B-4474-C1B3-2423ED3353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57" y="1421"/>
              <a:ext cx="226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6" name="Line 16">
              <a:extLst>
                <a:ext uri="{FF2B5EF4-FFF2-40B4-BE49-F238E27FC236}">
                  <a16:creationId xmlns:a16="http://schemas.microsoft.com/office/drawing/2014/main" xmlns="" id="{5F769535-C4C0-6DC4-C8DE-5D06A0BAC7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1376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7" name="Line 17">
              <a:extLst>
                <a:ext uri="{FF2B5EF4-FFF2-40B4-BE49-F238E27FC236}">
                  <a16:creationId xmlns:a16="http://schemas.microsoft.com/office/drawing/2014/main" xmlns="" id="{4DC22430-5F94-A1C8-639E-25A40089A9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4" y="1829"/>
              <a:ext cx="363" cy="4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8" name="Line 22">
              <a:extLst>
                <a:ext uri="{FF2B5EF4-FFF2-40B4-BE49-F238E27FC236}">
                  <a16:creationId xmlns:a16="http://schemas.microsoft.com/office/drawing/2014/main" xmlns="" id="{9FBE94A1-5741-D15E-00BD-877B80C2E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1376"/>
              <a:ext cx="590" cy="3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830864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/>
      <p:bldP spid="26" grpId="0" bldLvl="0" animBg="1"/>
      <p:bldP spid="2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传递闭包</a:t>
            </a:r>
          </a:p>
        </p:txBody>
      </p:sp>
      <p:sp>
        <p:nvSpPr>
          <p:cNvPr id="7" name="文本框 2"/>
          <p:cNvSpPr txBox="1"/>
          <p:nvPr/>
        </p:nvSpPr>
        <p:spPr>
          <a:xfrm>
            <a:off x="1042963" y="1393066"/>
            <a:ext cx="9226550" cy="2480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（2）求解传递闭包的算法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判断结点 i 到 j是否有路径，只有两种情况：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① 结点 i 到 j 有边，则有路径。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② i 到 j 之间没有边：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如果存在另外的一个结点k，满足：i到k有路径，k到j有路径，则i到j有路径。否则i到j没有路径。</a:t>
            </a: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1042963" y="4175486"/>
            <a:ext cx="6244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则：</a:t>
            </a:r>
            <a:r>
              <a:rPr lang="zh-CN" altLang="en-US" noProof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can[ i][ j ]=can[ i ][ j ] || ( can[ i ][ k ] &amp;&amp; can[ k ][ j ])</a:t>
            </a:r>
          </a:p>
          <a:p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15"/>
          <p:cNvGrpSpPr/>
          <p:nvPr/>
        </p:nvGrpSpPr>
        <p:grpSpPr bwMode="auto">
          <a:xfrm>
            <a:off x="7287344" y="1571473"/>
            <a:ext cx="2801332" cy="1517120"/>
            <a:chOff x="2744" y="1706"/>
            <a:chExt cx="2177" cy="1179"/>
          </a:xfrm>
        </p:grpSpPr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2744" y="2431"/>
              <a:ext cx="408" cy="408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 err="1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4513" y="2477"/>
              <a:ext cx="408" cy="408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12" name="Oval 8"/>
            <p:cNvSpPr>
              <a:spLocks noChangeArrowheads="1"/>
            </p:cNvSpPr>
            <p:nvPr/>
          </p:nvSpPr>
          <p:spPr bwMode="auto">
            <a:xfrm>
              <a:off x="3606" y="1706"/>
              <a:ext cx="408" cy="40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3107" y="2023"/>
              <a:ext cx="544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3969" y="2024"/>
              <a:ext cx="589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009988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传递闭包</a:t>
            </a:r>
          </a:p>
        </p:txBody>
      </p:sp>
      <p:sp>
        <p:nvSpPr>
          <p:cNvPr id="5" name="矩形 4"/>
          <p:cNvSpPr/>
          <p:nvPr/>
        </p:nvSpPr>
        <p:spPr>
          <a:xfrm>
            <a:off x="1064950" y="1278702"/>
            <a:ext cx="10060582" cy="4993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初始化：</a:t>
            </a:r>
            <a:endParaRPr lang="zh-CN" altLang="en-US" b="1" noProof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can[ i ][ j ]=true   </a:t>
            </a:r>
            <a:r>
              <a:rPr lang="zh-CN" altLang="en-US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i到j有边</a:t>
            </a:r>
            <a:endParaRPr lang="zh-CN" altLang="en-US" b="1" noProof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can[ i ][ j ]= false   </a:t>
            </a:r>
            <a:r>
              <a:rPr lang="zh-CN" altLang="en-US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i到j无边</a:t>
            </a:r>
            <a:endParaRPr lang="zh-CN" altLang="en-US" b="1" noProof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can[ i ][ i ]=true；</a:t>
            </a:r>
            <a:endParaRPr lang="zh-CN" altLang="en-US" b="1" noProof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求解过程：</a:t>
            </a:r>
            <a:endParaRPr lang="zh-CN" altLang="en-US" b="1" noProof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for(int k=1;k&lt;=n;k++)    </a:t>
            </a:r>
            <a:r>
              <a:rPr lang="zh-CN" altLang="en-US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枚举中间点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for(int i=1;i&lt;=n;i++)    </a:t>
            </a:r>
            <a:r>
              <a:rPr lang="zh-CN" altLang="en-US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枚举起点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for(int j=1;j&lt;=n;j++)    </a:t>
            </a:r>
            <a:r>
              <a:rPr lang="zh-CN" altLang="en-US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枚举终点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can[i][j]=can[i][j]||(can[i][k]&amp;&amp;can[k][j]); </a:t>
            </a:r>
            <a:endParaRPr lang="zh-CN" altLang="en-US" b="1" noProof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xmlns="" id="{85DE14D8-F0E4-3A98-1A0B-961A909F4F5F}"/>
              </a:ext>
            </a:extLst>
          </p:cNvPr>
          <p:cNvGrpSpPr/>
          <p:nvPr/>
        </p:nvGrpSpPr>
        <p:grpSpPr bwMode="auto">
          <a:xfrm>
            <a:off x="6603763" y="2184032"/>
            <a:ext cx="2801332" cy="1517120"/>
            <a:chOff x="2744" y="1706"/>
            <a:chExt cx="2177" cy="1179"/>
          </a:xfrm>
        </p:grpSpPr>
        <p:sp>
          <p:nvSpPr>
            <p:cNvPr id="11" name="Oval 6">
              <a:extLst>
                <a:ext uri="{FF2B5EF4-FFF2-40B4-BE49-F238E27FC236}">
                  <a16:creationId xmlns:a16="http://schemas.microsoft.com/office/drawing/2014/main" xmlns="" id="{30C89624-1643-E269-CD00-EA531BDEC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431"/>
              <a:ext cx="408" cy="408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 err="1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xmlns="" id="{44503B0D-EF03-DAC4-DD0F-4D359F088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477"/>
              <a:ext cx="408" cy="408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xmlns="" id="{B4CBECE1-F2DD-FF7A-E5C7-F60699CEA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706"/>
              <a:ext cx="408" cy="40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xmlns="" id="{F6FD2198-0E15-D7E4-E95C-FF0582DAE4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023"/>
              <a:ext cx="544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xmlns="" id="{5A0CD355-6CB3-8DA2-D2F5-1EF296706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024"/>
              <a:ext cx="589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289570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025002" y="1514530"/>
            <a:ext cx="4594564" cy="4562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某一顶点到其它所有顶点</a:t>
            </a: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的最短路径  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（单源最短路径问题：dijkstra 算法）</a:t>
            </a:r>
          </a:p>
          <a:p>
            <a:pPr>
              <a:lnSpc>
                <a:spcPct val="200000"/>
              </a:lnSpc>
            </a:pP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开始点（源点）：start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D[i]:顶点start到 i的最短距离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初始：</a:t>
            </a:r>
            <a:endParaRPr lang="en-US" altLang="zh-CN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D[start]=0；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其余节点为正无穷大</a:t>
            </a:r>
          </a:p>
          <a:p>
            <a:pPr>
              <a:lnSpc>
                <a:spcPct val="150000"/>
              </a:lnSpc>
            </a:pPr>
            <a:endParaRPr lang="zh-CN" altLang="en-US" sz="20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85BF69A3-6283-4A5E-9639-CA8033820399}"/>
              </a:ext>
            </a:extLst>
          </p:cNvPr>
          <p:cNvSpPr txBox="1"/>
          <p:nvPr/>
        </p:nvSpPr>
        <p:spPr>
          <a:xfrm>
            <a:off x="5912528" y="1385847"/>
            <a:ext cx="5254470" cy="3957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dijkstra算法：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将顶点分为两个集合：已求得最短距离的点集合1，待求点集合2.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1、在集合2中找一个到start距离最近的顶点k : min{d[k]}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2、把顶点k加到集合1中，同时修改集合2 中的剩余顶点j的d[j]是否经过k后变短。如果变短修改d[j]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 ( d[k]+a[k][j]&lt;d[j] )   d[j]=d[k]+a[k][j]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3、重复1，直至集合2空为止。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51776C69-4EE9-4C36-BD4C-4A20E7A0A7E3}"/>
              </a:ext>
            </a:extLst>
          </p:cNvPr>
          <p:cNvCxnSpPr>
            <a:cxnSpLocks/>
          </p:cNvCxnSpPr>
          <p:nvPr/>
        </p:nvCxnSpPr>
        <p:spPr>
          <a:xfrm>
            <a:off x="5619566" y="1514530"/>
            <a:ext cx="0" cy="498392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69248ECA-41EA-6345-413C-38A0ADEAD619}"/>
              </a:ext>
            </a:extLst>
          </p:cNvPr>
          <p:cNvSpPr txBox="1"/>
          <p:nvPr/>
        </p:nvSpPr>
        <p:spPr>
          <a:xfrm>
            <a:off x="5912528" y="5502294"/>
            <a:ext cx="3222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基于贪心思想，</a:t>
            </a:r>
            <a:r>
              <a:rPr lang="zh-CN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不能处理负边权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69390" y="1743141"/>
            <a:ext cx="5073958" cy="4563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数据结构：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F[i]：值为true，已求得最短距离，在集合1中；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值为false，在集合2中；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开始点（源点）：start</a:t>
            </a:r>
            <a:endParaRPr lang="zh-CN" altLang="en-US" sz="1600" noProof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D[i]:顶点start到 i的最短距离。</a:t>
            </a:r>
            <a:endParaRPr lang="zh-CN" altLang="en-US" sz="1600" noProof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初始：</a:t>
            </a:r>
            <a:endParaRPr lang="zh-CN" altLang="en-US" sz="1600" noProof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D[start]=0；</a:t>
            </a:r>
            <a:endParaRPr lang="zh-CN" altLang="en-US" sz="1600" noProof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D[i]=a[start][i]；</a:t>
            </a:r>
          </a:p>
          <a:p>
            <a:pPr>
              <a:lnSpc>
                <a:spcPct val="200000"/>
              </a:lnSpc>
            </a:pPr>
            <a:r>
              <a:rPr lang="zh-CN" altLang="en-US" sz="1600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Path[i], i的前驱结点</a:t>
            </a:r>
            <a:endParaRPr lang="zh-CN" altLang="en-US" noProof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>
            <p:extLst>
              <p:ext uri="{D42A27DB-BD31-4B8C-83A1-F6EECF244321}">
                <p14:modId xmlns:p14="http://schemas.microsoft.com/office/powerpoint/2010/main" xmlns="" val="2411707495"/>
              </p:ext>
            </p:extLst>
          </p:nvPr>
        </p:nvGraphicFramePr>
        <p:xfrm>
          <a:off x="6655787" y="4598876"/>
          <a:ext cx="4551363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663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00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73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73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343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67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alt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顶点</a:t>
                      </a:r>
                      <a:endParaRPr lang="zh-CN" altLang="en-US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</a:t>
                      </a:r>
                      <a:r>
                        <a:rPr lang="en-US" altLang="zh-C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D[i]</a:t>
                      </a:r>
                      <a:endParaRPr lang="en-US" altLang="zh-CN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en-US" altLang="zh-C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en-US" altLang="zh-CN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Path[i]</a:t>
                      </a:r>
                      <a:endParaRPr lang="en-US" altLang="zh-CN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zh-CN" altLang="en-US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7C190554-4B80-4D13-BE49-2F3384E7D517}"/>
              </a:ext>
            </a:extLst>
          </p:cNvPr>
          <p:cNvSpPr txBox="1"/>
          <p:nvPr/>
        </p:nvSpPr>
        <p:spPr>
          <a:xfrm>
            <a:off x="6567050" y="408672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noProof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初始表：</a:t>
            </a:r>
            <a:endParaRPr lang="zh-CN" altLang="en-US" sz="2000" noProof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xmlns="" id="{D2B8D164-BC53-4367-B774-DC98D35CB771}"/>
              </a:ext>
            </a:extLst>
          </p:cNvPr>
          <p:cNvCxnSpPr/>
          <p:nvPr/>
        </p:nvCxnSpPr>
        <p:spPr>
          <a:xfrm>
            <a:off x="6143348" y="1869637"/>
            <a:ext cx="0" cy="459330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xmlns="" id="{E5F83D4F-96EF-27E9-224F-6A37C1446853}"/>
              </a:ext>
            </a:extLst>
          </p:cNvPr>
          <p:cNvGrpSpPr/>
          <p:nvPr/>
        </p:nvGrpSpPr>
        <p:grpSpPr>
          <a:xfrm>
            <a:off x="7032678" y="1570132"/>
            <a:ext cx="3397142" cy="2402296"/>
            <a:chOff x="6961657" y="1709638"/>
            <a:chExt cx="3397142" cy="2402296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FE56F121-4481-2E04-D29C-7F0032F07BF1}"/>
                    </a:ext>
                  </a:extLst>
                </p:cNvPr>
                <p:cNvSpPr/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FE56F121-4481-2E04-D29C-7F0032F07B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  <a:blipFill>
                  <a:blip r:embed="rId2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0409A01A-94AE-BF47-B25E-9C23A97E76C4}"/>
                    </a:ext>
                  </a:extLst>
                </p:cNvPr>
                <p:cNvSpPr/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409A01A-94AE-BF47-B25E-9C23A97E76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02EBB852-88E5-4432-6A71-B95D7783C882}"/>
                    </a:ext>
                  </a:extLst>
                </p:cNvPr>
                <p:cNvSpPr/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2EBB852-88E5-4432-6A71-B95D7783C8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1A512570-4727-82D2-29A3-BE7821A55715}"/>
                    </a:ext>
                  </a:extLst>
                </p:cNvPr>
                <p:cNvSpPr/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1A512570-4727-82D2-29A3-BE7821A557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5BF3047A-BBA8-DF78-3FCA-CDB0CC07D913}"/>
                </a:ext>
              </a:extLst>
            </p:cNvPr>
            <p:cNvCxnSpPr>
              <a:cxnSpLocks/>
              <a:stCxn id="11" idx="5"/>
              <a:endCxn id="17" idx="2"/>
            </p:cNvCxnSpPr>
            <p:nvPr/>
          </p:nvCxnSpPr>
          <p:spPr>
            <a:xfrm>
              <a:off x="7683391" y="3798923"/>
              <a:ext cx="1894172" cy="117702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DADB2789-7679-FFE8-BAE0-7CCAC61704FF}"/>
                </a:ext>
              </a:extLst>
            </p:cNvPr>
            <p:cNvCxnSpPr>
              <a:cxnSpLocks/>
              <a:stCxn id="12" idx="5"/>
              <a:endCxn id="10" idx="1"/>
            </p:cNvCxnSpPr>
            <p:nvPr/>
          </p:nvCxnSpPr>
          <p:spPr>
            <a:xfrm>
              <a:off x="7487805" y="2120335"/>
              <a:ext cx="958561" cy="8576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xmlns="" id="{86E414AC-6CCB-8F76-EACF-6FFAD56D8707}"/>
                </a:ext>
              </a:extLst>
            </p:cNvPr>
            <p:cNvCxnSpPr>
              <a:cxnSpLocks/>
              <a:stCxn id="5" idx="3"/>
              <a:endCxn id="10" idx="6"/>
            </p:cNvCxnSpPr>
            <p:nvPr/>
          </p:nvCxnSpPr>
          <p:spPr>
            <a:xfrm flipH="1">
              <a:off x="8779779" y="2803702"/>
              <a:ext cx="1245607" cy="31240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xmlns="" id="{15342B27-CDB5-592E-413A-8964C7E66753}"/>
                </a:ext>
              </a:extLst>
            </p:cNvPr>
            <p:cNvCxnSpPr>
              <a:cxnSpLocks/>
              <a:stCxn id="11" idx="7"/>
              <a:endCxn id="10" idx="3"/>
            </p:cNvCxnSpPr>
            <p:nvPr/>
          </p:nvCxnSpPr>
          <p:spPr>
            <a:xfrm flipV="1">
              <a:off x="7683391" y="3254206"/>
              <a:ext cx="762975" cy="268509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80AF373F-5B58-CFDE-CFB4-D0D40DC3E885}"/>
                    </a:ext>
                  </a:extLst>
                </p:cNvPr>
                <p:cNvSpPr/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80AF373F-5B58-CFDE-CFB4-D0D40DC3E8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xmlns="" id="{65022B86-F492-5435-7B52-1FC46854B798}"/>
                </a:ext>
              </a:extLst>
            </p:cNvPr>
            <p:cNvCxnSpPr>
              <a:cxnSpLocks/>
              <a:stCxn id="5" idx="1"/>
              <a:endCxn id="12" idx="6"/>
            </p:cNvCxnSpPr>
            <p:nvPr/>
          </p:nvCxnSpPr>
          <p:spPr>
            <a:xfrm flipH="1" flipV="1">
              <a:off x="7545010" y="1982231"/>
              <a:ext cx="2480376" cy="5452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xmlns="" id="{896B5EE0-CB28-E4E1-FF18-1703E319BE35}"/>
                </a:ext>
              </a:extLst>
            </p:cNvPr>
            <p:cNvCxnSpPr>
              <a:cxnSpLocks/>
              <a:stCxn id="5" idx="4"/>
              <a:endCxn id="17" idx="7"/>
            </p:cNvCxnSpPr>
            <p:nvPr/>
          </p:nvCxnSpPr>
          <p:spPr>
            <a:xfrm flipH="1">
              <a:off x="9910976" y="2860907"/>
              <a:ext cx="252514" cy="917614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91063EFA-1741-8DD0-563E-EDFD92EAC4B7}"/>
                </a:ext>
              </a:extLst>
            </p:cNvPr>
            <p:cNvSpPr txBox="1"/>
            <p:nvPr/>
          </p:nvSpPr>
          <p:spPr>
            <a:xfrm>
              <a:off x="8979984" y="24505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10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F273E21D-DF1B-3210-22A9-08C87DE0F28E}"/>
                </a:ext>
              </a:extLst>
            </p:cNvPr>
            <p:cNvSpPr txBox="1"/>
            <p:nvPr/>
          </p:nvSpPr>
          <p:spPr>
            <a:xfrm>
              <a:off x="8556053" y="17096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49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5074BE41-7942-4331-BAB0-0CA670AA2D33}"/>
                </a:ext>
              </a:extLst>
            </p:cNvPr>
            <p:cNvSpPr txBox="1"/>
            <p:nvPr/>
          </p:nvSpPr>
          <p:spPr>
            <a:xfrm>
              <a:off x="9601936" y="3043609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190B3B59-4269-CD3D-3A65-87586CFF01CD}"/>
                </a:ext>
              </a:extLst>
            </p:cNvPr>
            <p:cNvSpPr txBox="1"/>
            <p:nvPr/>
          </p:nvSpPr>
          <p:spPr>
            <a:xfrm>
              <a:off x="8405494" y="3449515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13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xmlns="" id="{767E6E0B-24E9-0E4B-DC5D-6540F6775DEE}"/>
                </a:ext>
              </a:extLst>
            </p:cNvPr>
            <p:cNvSpPr txBox="1"/>
            <p:nvPr/>
          </p:nvSpPr>
          <p:spPr>
            <a:xfrm>
              <a:off x="7700967" y="29598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xmlns="" id="{914AE31A-9BF8-EB8B-53C7-235EEAE70DC5}"/>
                </a:ext>
              </a:extLst>
            </p:cNvPr>
            <p:cNvSpPr txBox="1"/>
            <p:nvPr/>
          </p:nvSpPr>
          <p:spPr>
            <a:xfrm>
              <a:off x="6961657" y="2592071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34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73AD2815-7280-82D5-0272-77F23F162769}"/>
                </a:ext>
              </a:extLst>
            </p:cNvPr>
            <p:cNvCxnSpPr>
              <a:cxnSpLocks/>
              <a:stCxn id="10" idx="5"/>
              <a:endCxn id="17" idx="0"/>
            </p:cNvCxnSpPr>
            <p:nvPr/>
          </p:nvCxnSpPr>
          <p:spPr>
            <a:xfrm>
              <a:off x="8722574" y="3254206"/>
              <a:ext cx="1050298" cy="46711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xmlns="" id="{AD224CE8-F25C-C0D1-360A-DCF3B2EC6402}"/>
                </a:ext>
              </a:extLst>
            </p:cNvPr>
            <p:cNvCxnSpPr>
              <a:cxnSpLocks/>
              <a:stCxn id="12" idx="4"/>
              <a:endCxn id="11" idx="1"/>
            </p:cNvCxnSpPr>
            <p:nvPr/>
          </p:nvCxnSpPr>
          <p:spPr>
            <a:xfrm>
              <a:off x="7349701" y="2177540"/>
              <a:ext cx="57482" cy="134517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xmlns="" id="{5EABC8A2-0327-1204-7471-2B859F858A5E}"/>
                </a:ext>
              </a:extLst>
            </p:cNvPr>
            <p:cNvSpPr txBox="1"/>
            <p:nvPr/>
          </p:nvSpPr>
          <p:spPr>
            <a:xfrm>
              <a:off x="7666489" y="2477563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17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CE0A79A9-D674-745E-C0A9-7A10422F831F}"/>
                </a:ext>
              </a:extLst>
            </p:cNvPr>
            <p:cNvSpPr txBox="1"/>
            <p:nvPr/>
          </p:nvSpPr>
          <p:spPr>
            <a:xfrm>
              <a:off x="8979985" y="30294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xmlns="" val="1617793200"/>
              </p:ext>
            </p:extLst>
          </p:nvPr>
        </p:nvGraphicFramePr>
        <p:xfrm>
          <a:off x="1104901" y="1749154"/>
          <a:ext cx="4549775" cy="15087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0660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98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713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713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31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649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顶点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xmlns="" val="241402415"/>
              </p:ext>
            </p:extLst>
          </p:nvPr>
        </p:nvGraphicFramePr>
        <p:xfrm>
          <a:off x="1104900" y="3576454"/>
          <a:ext cx="4549775" cy="15240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0660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98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713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713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31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649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顶点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</a:t>
                      </a:r>
                      <a:r>
                        <a:rPr lang="en-US" altLang="zh-C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E4C3082E-223E-ECAE-2DAF-3E513E662122}"/>
              </a:ext>
            </a:extLst>
          </p:cNvPr>
          <p:cNvGrpSpPr/>
          <p:nvPr/>
        </p:nvGrpSpPr>
        <p:grpSpPr>
          <a:xfrm>
            <a:off x="6537326" y="1749154"/>
            <a:ext cx="3397142" cy="2402296"/>
            <a:chOff x="6961657" y="1709638"/>
            <a:chExt cx="3397142" cy="2402296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3959EBA-F59E-C848-F904-64AE7E4FC8AE}"/>
                    </a:ext>
                  </a:extLst>
                </p:cNvPr>
                <p:cNvSpPr/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13959EBA-F59E-C848-F904-64AE7E4FC8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68245C23-0495-09F1-D6C6-AC32826F0020}"/>
                    </a:ext>
                  </a:extLst>
                </p:cNvPr>
                <p:cNvSpPr/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68245C23-0495-09F1-D6C6-AC32826F00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B2CF397A-10DB-6409-C119-63B7FF19EDFA}"/>
                    </a:ext>
                  </a:extLst>
                </p:cNvPr>
                <p:cNvSpPr/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B2CF397A-10DB-6409-C119-63B7FF19ED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49F3FA66-964F-60E5-7AB3-07798B6D3500}"/>
                    </a:ext>
                  </a:extLst>
                </p:cNvPr>
                <p:cNvSpPr/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49F3FA66-964F-60E5-7AB3-07798B6D35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3640DE70-1DCE-5BA7-F9D5-62E387D6FBE6}"/>
                </a:ext>
              </a:extLst>
            </p:cNvPr>
            <p:cNvCxnSpPr>
              <a:cxnSpLocks/>
              <a:stCxn id="9" idx="5"/>
              <a:endCxn id="15" idx="2"/>
            </p:cNvCxnSpPr>
            <p:nvPr/>
          </p:nvCxnSpPr>
          <p:spPr>
            <a:xfrm>
              <a:off x="7683391" y="3798923"/>
              <a:ext cx="1894172" cy="117702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18E322BF-72B3-1E0A-D18B-EC971119D1A2}"/>
                </a:ext>
              </a:extLst>
            </p:cNvPr>
            <p:cNvCxnSpPr>
              <a:cxnSpLocks/>
              <a:stCxn id="10" idx="5"/>
              <a:endCxn id="8" idx="1"/>
            </p:cNvCxnSpPr>
            <p:nvPr/>
          </p:nvCxnSpPr>
          <p:spPr>
            <a:xfrm>
              <a:off x="7487805" y="2120335"/>
              <a:ext cx="958561" cy="8576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E004CED8-AA7B-E6F2-39A7-F0659838FE88}"/>
                </a:ext>
              </a:extLst>
            </p:cNvPr>
            <p:cNvCxnSpPr>
              <a:cxnSpLocks/>
              <a:stCxn id="5" idx="3"/>
              <a:endCxn id="8" idx="6"/>
            </p:cNvCxnSpPr>
            <p:nvPr/>
          </p:nvCxnSpPr>
          <p:spPr>
            <a:xfrm flipH="1">
              <a:off x="8779779" y="2803702"/>
              <a:ext cx="1245607" cy="31240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81B5DDFB-A66F-E92E-30F2-0A1DC0CCA802}"/>
                </a:ext>
              </a:extLst>
            </p:cNvPr>
            <p:cNvCxnSpPr>
              <a:cxnSpLocks/>
              <a:stCxn id="9" idx="7"/>
              <a:endCxn id="8" idx="3"/>
            </p:cNvCxnSpPr>
            <p:nvPr/>
          </p:nvCxnSpPr>
          <p:spPr>
            <a:xfrm flipV="1">
              <a:off x="7683391" y="3254206"/>
              <a:ext cx="762975" cy="268509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ECD19142-3619-0533-F1B7-D233BA0033E8}"/>
                    </a:ext>
                  </a:extLst>
                </p:cNvPr>
                <p:cNvSpPr/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ECD19142-3619-0533-F1B7-D233BA0033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xmlns="" id="{7F31E7C4-857B-9A7C-1766-A6A57766038A}"/>
                </a:ext>
              </a:extLst>
            </p:cNvPr>
            <p:cNvCxnSpPr>
              <a:cxnSpLocks/>
              <a:stCxn id="5" idx="1"/>
              <a:endCxn id="10" idx="6"/>
            </p:cNvCxnSpPr>
            <p:nvPr/>
          </p:nvCxnSpPr>
          <p:spPr>
            <a:xfrm flipH="1" flipV="1">
              <a:off x="7545010" y="1982231"/>
              <a:ext cx="2480376" cy="5452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5072AA15-E436-88C7-1826-C670C7CF9203}"/>
                </a:ext>
              </a:extLst>
            </p:cNvPr>
            <p:cNvCxnSpPr>
              <a:cxnSpLocks/>
              <a:stCxn id="5" idx="4"/>
              <a:endCxn id="15" idx="7"/>
            </p:cNvCxnSpPr>
            <p:nvPr/>
          </p:nvCxnSpPr>
          <p:spPr>
            <a:xfrm flipH="1">
              <a:off x="9910976" y="2860907"/>
              <a:ext cx="252514" cy="917614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B4B188DA-3DA0-F61F-8242-75EC53894BAE}"/>
                </a:ext>
              </a:extLst>
            </p:cNvPr>
            <p:cNvSpPr txBox="1"/>
            <p:nvPr/>
          </p:nvSpPr>
          <p:spPr>
            <a:xfrm>
              <a:off x="8979984" y="24505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10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C0C371C1-6392-259C-2B09-FED40365137C}"/>
                </a:ext>
              </a:extLst>
            </p:cNvPr>
            <p:cNvSpPr txBox="1"/>
            <p:nvPr/>
          </p:nvSpPr>
          <p:spPr>
            <a:xfrm>
              <a:off x="8556053" y="17096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49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E8326946-5577-1DED-E46C-90D7A51929B5}"/>
                </a:ext>
              </a:extLst>
            </p:cNvPr>
            <p:cNvSpPr txBox="1"/>
            <p:nvPr/>
          </p:nvSpPr>
          <p:spPr>
            <a:xfrm>
              <a:off x="9601936" y="3043609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35F38C67-1558-9D7B-0CF6-3C357E5A3B26}"/>
                </a:ext>
              </a:extLst>
            </p:cNvPr>
            <p:cNvSpPr txBox="1"/>
            <p:nvPr/>
          </p:nvSpPr>
          <p:spPr>
            <a:xfrm>
              <a:off x="8405494" y="3449515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13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E7DFD008-5ADC-DB4B-23EB-4348B87C0F4A}"/>
                </a:ext>
              </a:extLst>
            </p:cNvPr>
            <p:cNvSpPr txBox="1"/>
            <p:nvPr/>
          </p:nvSpPr>
          <p:spPr>
            <a:xfrm>
              <a:off x="7700967" y="29598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72E1C8B2-113A-A3F1-2DE6-0374F3FD767E}"/>
                </a:ext>
              </a:extLst>
            </p:cNvPr>
            <p:cNvSpPr txBox="1"/>
            <p:nvPr/>
          </p:nvSpPr>
          <p:spPr>
            <a:xfrm>
              <a:off x="6961657" y="2592071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34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xmlns="" id="{78430575-2C34-355C-D1BF-CE2B0B88B90C}"/>
                </a:ext>
              </a:extLst>
            </p:cNvPr>
            <p:cNvCxnSpPr>
              <a:cxnSpLocks/>
              <a:stCxn id="8" idx="5"/>
              <a:endCxn id="15" idx="0"/>
            </p:cNvCxnSpPr>
            <p:nvPr/>
          </p:nvCxnSpPr>
          <p:spPr>
            <a:xfrm>
              <a:off x="8722574" y="3254206"/>
              <a:ext cx="1050298" cy="46711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8CA2DFAF-7F53-E8F7-B6D7-425ED17EECEB}"/>
                </a:ext>
              </a:extLst>
            </p:cNvPr>
            <p:cNvCxnSpPr>
              <a:cxnSpLocks/>
              <a:stCxn id="10" idx="4"/>
              <a:endCxn id="9" idx="1"/>
            </p:cNvCxnSpPr>
            <p:nvPr/>
          </p:nvCxnSpPr>
          <p:spPr>
            <a:xfrm>
              <a:off x="7349701" y="2177540"/>
              <a:ext cx="57482" cy="134517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17622369-AB03-3AA0-4587-C6D11527B86F}"/>
                </a:ext>
              </a:extLst>
            </p:cNvPr>
            <p:cNvSpPr txBox="1"/>
            <p:nvPr/>
          </p:nvSpPr>
          <p:spPr>
            <a:xfrm>
              <a:off x="7666489" y="2477563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17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DA9A246F-CB5E-5D9E-ECE8-D92DCE552835}"/>
                </a:ext>
              </a:extLst>
            </p:cNvPr>
            <p:cNvSpPr txBox="1"/>
            <p:nvPr/>
          </p:nvSpPr>
          <p:spPr>
            <a:xfrm>
              <a:off x="8979985" y="30294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015951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graphicFrame>
        <p:nvGraphicFramePr>
          <p:cNvPr id="16" name="表格 1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xmlns="" val="375551859"/>
              </p:ext>
            </p:extLst>
          </p:nvPr>
        </p:nvGraphicFramePr>
        <p:xfrm>
          <a:off x="1104899" y="1607520"/>
          <a:ext cx="4549775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60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98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713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713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31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649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顶点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</a:t>
                      </a:r>
                      <a:r>
                        <a:rPr lang="en-US" altLang="zh-C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xmlns="" val="1102792813"/>
              </p:ext>
            </p:extLst>
          </p:nvPr>
        </p:nvGraphicFramePr>
        <p:xfrm>
          <a:off x="1104899" y="3565878"/>
          <a:ext cx="4549775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60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98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713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713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327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639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顶点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Path[i]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0FA8DEB7-EAD2-BFCB-3C20-F14036069C27}"/>
              </a:ext>
            </a:extLst>
          </p:cNvPr>
          <p:cNvGrpSpPr/>
          <p:nvPr/>
        </p:nvGrpSpPr>
        <p:grpSpPr>
          <a:xfrm>
            <a:off x="6730837" y="2227852"/>
            <a:ext cx="3397142" cy="2402296"/>
            <a:chOff x="6961657" y="1709638"/>
            <a:chExt cx="3397142" cy="2402296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" name="椭圆 3">
                  <a:extLst>
                    <a:ext uri="{FF2B5EF4-FFF2-40B4-BE49-F238E27FC236}">
                      <a16:creationId xmlns:a16="http://schemas.microsoft.com/office/drawing/2014/main" id="{815E691F-D62A-A46E-B655-5B9F02F6EB1E}"/>
                    </a:ext>
                  </a:extLst>
                </p:cNvPr>
                <p:cNvSpPr/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>
            <p:sp>
              <p:nvSpPr>
                <p:cNvPr id="4" name="椭圆 3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815E691F-D62A-A46E-B655-5B9F02F6EB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DE1B8F21-FBA8-6237-392E-FABCD56AD8B4}"/>
                    </a:ext>
                  </a:extLst>
                </p:cNvPr>
                <p:cNvSpPr/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DE1B8F21-FBA8-6237-392E-FABCD56AD8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C1D7112F-7A33-83CF-9F22-5914C8C31217}"/>
                    </a:ext>
                  </a:extLst>
                </p:cNvPr>
                <p:cNvSpPr/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C1D7112F-7A33-83CF-9F22-5914C8C312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0C201FBD-809B-0422-2233-7FE88C0D1880}"/>
                    </a:ext>
                  </a:extLst>
                </p:cNvPr>
                <p:cNvSpPr/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C201FBD-809B-0422-2233-7FE88C0D18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xmlns="" id="{2BDDD003-12F0-9847-3889-A38FD48A2E50}"/>
                </a:ext>
              </a:extLst>
            </p:cNvPr>
            <p:cNvCxnSpPr>
              <a:cxnSpLocks/>
              <a:stCxn id="6" idx="5"/>
              <a:endCxn id="12" idx="2"/>
            </p:cNvCxnSpPr>
            <p:nvPr/>
          </p:nvCxnSpPr>
          <p:spPr>
            <a:xfrm>
              <a:off x="7683391" y="3798923"/>
              <a:ext cx="1894172" cy="117702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0A1BA12A-3EB9-13DA-5E45-E1ACBF6A5081}"/>
                </a:ext>
              </a:extLst>
            </p:cNvPr>
            <p:cNvCxnSpPr>
              <a:cxnSpLocks/>
              <a:stCxn id="7" idx="5"/>
              <a:endCxn id="5" idx="1"/>
            </p:cNvCxnSpPr>
            <p:nvPr/>
          </p:nvCxnSpPr>
          <p:spPr>
            <a:xfrm>
              <a:off x="7487805" y="2120335"/>
              <a:ext cx="958561" cy="8576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xmlns="" id="{1E73CEC8-E10D-A1BD-A327-6B5917B6A757}"/>
                </a:ext>
              </a:extLst>
            </p:cNvPr>
            <p:cNvCxnSpPr>
              <a:cxnSpLocks/>
              <a:stCxn id="4" idx="3"/>
              <a:endCxn id="5" idx="6"/>
            </p:cNvCxnSpPr>
            <p:nvPr/>
          </p:nvCxnSpPr>
          <p:spPr>
            <a:xfrm flipH="1">
              <a:off x="8779779" y="2803702"/>
              <a:ext cx="1245607" cy="31240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461F7D8B-0952-35C9-0EEC-C4F30A5F53F3}"/>
                </a:ext>
              </a:extLst>
            </p:cNvPr>
            <p:cNvCxnSpPr>
              <a:cxnSpLocks/>
              <a:stCxn id="6" idx="7"/>
              <a:endCxn id="5" idx="3"/>
            </p:cNvCxnSpPr>
            <p:nvPr/>
          </p:nvCxnSpPr>
          <p:spPr>
            <a:xfrm flipV="1">
              <a:off x="7683391" y="3254206"/>
              <a:ext cx="762975" cy="268509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F2DDC157-935D-3FD0-F65F-E32B409435F1}"/>
                    </a:ext>
                  </a:extLst>
                </p:cNvPr>
                <p:cNvSpPr/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F2DDC157-935D-3FD0-F65F-E32B409435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86BA9A76-A44A-2FEA-0D6B-8F38C9A5AD3C}"/>
                </a:ext>
              </a:extLst>
            </p:cNvPr>
            <p:cNvCxnSpPr>
              <a:cxnSpLocks/>
              <a:stCxn id="4" idx="1"/>
              <a:endCxn id="7" idx="6"/>
            </p:cNvCxnSpPr>
            <p:nvPr/>
          </p:nvCxnSpPr>
          <p:spPr>
            <a:xfrm flipH="1" flipV="1">
              <a:off x="7545010" y="1982231"/>
              <a:ext cx="2480376" cy="5452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75C9227D-CFFB-EE51-5FBF-B9BD07B4A237}"/>
                </a:ext>
              </a:extLst>
            </p:cNvPr>
            <p:cNvCxnSpPr>
              <a:cxnSpLocks/>
              <a:stCxn id="4" idx="4"/>
              <a:endCxn id="12" idx="7"/>
            </p:cNvCxnSpPr>
            <p:nvPr/>
          </p:nvCxnSpPr>
          <p:spPr>
            <a:xfrm flipH="1">
              <a:off x="9910976" y="2860907"/>
              <a:ext cx="252514" cy="917614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279F424F-ACBF-3F98-4616-2340353F42A0}"/>
                </a:ext>
              </a:extLst>
            </p:cNvPr>
            <p:cNvSpPr txBox="1"/>
            <p:nvPr/>
          </p:nvSpPr>
          <p:spPr>
            <a:xfrm>
              <a:off x="8979984" y="24505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10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8FDE4F44-31AB-67F3-FA35-B1F74A5FF498}"/>
                </a:ext>
              </a:extLst>
            </p:cNvPr>
            <p:cNvSpPr txBox="1"/>
            <p:nvPr/>
          </p:nvSpPr>
          <p:spPr>
            <a:xfrm>
              <a:off x="8556053" y="17096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49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9CC8A9D5-6016-C523-8BBA-3F8EE18C51B9}"/>
                </a:ext>
              </a:extLst>
            </p:cNvPr>
            <p:cNvSpPr txBox="1"/>
            <p:nvPr/>
          </p:nvSpPr>
          <p:spPr>
            <a:xfrm>
              <a:off x="9601936" y="3043609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6F862B8A-DB9C-E4E9-1B39-5C3ABB794F4E}"/>
                </a:ext>
              </a:extLst>
            </p:cNvPr>
            <p:cNvSpPr txBox="1"/>
            <p:nvPr/>
          </p:nvSpPr>
          <p:spPr>
            <a:xfrm>
              <a:off x="8405494" y="3449515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13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17A6D510-D276-F880-D809-6972AC58C34D}"/>
                </a:ext>
              </a:extLst>
            </p:cNvPr>
            <p:cNvSpPr txBox="1"/>
            <p:nvPr/>
          </p:nvSpPr>
          <p:spPr>
            <a:xfrm>
              <a:off x="7700967" y="29598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8153A618-F533-3BAE-12D0-D11F83E5BC65}"/>
                </a:ext>
              </a:extLst>
            </p:cNvPr>
            <p:cNvSpPr txBox="1"/>
            <p:nvPr/>
          </p:nvSpPr>
          <p:spPr>
            <a:xfrm>
              <a:off x="6961657" y="2592071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34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xmlns="" id="{BBA8DF60-7C80-1586-D3F3-20FB260EB9DE}"/>
                </a:ext>
              </a:extLst>
            </p:cNvPr>
            <p:cNvCxnSpPr>
              <a:cxnSpLocks/>
              <a:stCxn id="5" idx="5"/>
              <a:endCxn id="12" idx="0"/>
            </p:cNvCxnSpPr>
            <p:nvPr/>
          </p:nvCxnSpPr>
          <p:spPr>
            <a:xfrm>
              <a:off x="8722574" y="3254206"/>
              <a:ext cx="1050298" cy="46711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3AB9549D-B689-26F6-A610-7226D0E44120}"/>
                </a:ext>
              </a:extLst>
            </p:cNvPr>
            <p:cNvCxnSpPr>
              <a:cxnSpLocks/>
              <a:stCxn id="7" idx="4"/>
              <a:endCxn id="6" idx="1"/>
            </p:cNvCxnSpPr>
            <p:nvPr/>
          </p:nvCxnSpPr>
          <p:spPr>
            <a:xfrm>
              <a:off x="7349701" y="2177540"/>
              <a:ext cx="57482" cy="134517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E11AECAE-7E26-19FA-CF0F-705012B30D4F}"/>
                </a:ext>
              </a:extLst>
            </p:cNvPr>
            <p:cNvSpPr txBox="1"/>
            <p:nvPr/>
          </p:nvSpPr>
          <p:spPr>
            <a:xfrm>
              <a:off x="7666489" y="2477563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17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61DD3D5B-75B8-7608-DEB8-87A6B91B6FA2}"/>
                </a:ext>
              </a:extLst>
            </p:cNvPr>
            <p:cNvSpPr txBox="1"/>
            <p:nvPr/>
          </p:nvSpPr>
          <p:spPr>
            <a:xfrm>
              <a:off x="8979985" y="30294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xmlns="" val="1129741591"/>
              </p:ext>
            </p:extLst>
          </p:nvPr>
        </p:nvGraphicFramePr>
        <p:xfrm>
          <a:off x="1124509" y="1539081"/>
          <a:ext cx="4551362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63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00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73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73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343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672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顶点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59" marR="9145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F[i]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59" marR="9145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D[i]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59" marR="9145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Path[i]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59" marR="9145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59" marR="9145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xmlns="" val="1659379111"/>
              </p:ext>
            </p:extLst>
          </p:nvPr>
        </p:nvGraphicFramePr>
        <p:xfrm>
          <a:off x="1163728" y="3333999"/>
          <a:ext cx="4512143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66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66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514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0966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280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顶点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67" marR="91467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F[i]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67" marR="91467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D[i]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67" marR="91467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67" marR="9146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67" marR="91467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xmlns="" val="1842055416"/>
              </p:ext>
            </p:extLst>
          </p:nvPr>
        </p:nvGraphicFramePr>
        <p:xfrm>
          <a:off x="1124508" y="5048531"/>
          <a:ext cx="4551362" cy="1508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78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19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72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08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15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770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87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顶点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22" marR="91422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F[i]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91422" marR="91422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D[i]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22" marR="91422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2" marR="9142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2" marR="91422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D230F54D-3CA4-CCA9-C735-7D410334B4E4}"/>
              </a:ext>
            </a:extLst>
          </p:cNvPr>
          <p:cNvGrpSpPr/>
          <p:nvPr/>
        </p:nvGrpSpPr>
        <p:grpSpPr>
          <a:xfrm>
            <a:off x="6516131" y="2546676"/>
            <a:ext cx="3397142" cy="2402296"/>
            <a:chOff x="6961657" y="1709638"/>
            <a:chExt cx="3397142" cy="2402296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150AF346-A3A8-A111-8DEB-12119425B0A5}"/>
                    </a:ext>
                  </a:extLst>
                </p:cNvPr>
                <p:cNvSpPr/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150AF346-A3A8-A111-8DEB-12119425B0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957C25C5-731D-DFCC-5CCD-8721B93B1822}"/>
                    </a:ext>
                  </a:extLst>
                </p:cNvPr>
                <p:cNvSpPr/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957C25C5-731D-DFCC-5CCD-8721B93B18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0A0D0BCA-CCD0-E3BC-6532-25828CD7FFFB}"/>
                    </a:ext>
                  </a:extLst>
                </p:cNvPr>
                <p:cNvSpPr/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A0D0BCA-CCD0-E3BC-6532-25828CD7FF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F7B07B2D-D8D4-8348-B2BA-F5B6C08888FB}"/>
                    </a:ext>
                  </a:extLst>
                </p:cNvPr>
                <p:cNvSpPr/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F7B07B2D-D8D4-8348-B2BA-F5B6C08888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EB71CF32-4FB3-D2EF-F0F4-96BA3C70E5E1}"/>
                </a:ext>
              </a:extLst>
            </p:cNvPr>
            <p:cNvCxnSpPr>
              <a:cxnSpLocks/>
              <a:stCxn id="10" idx="5"/>
              <a:endCxn id="16" idx="2"/>
            </p:cNvCxnSpPr>
            <p:nvPr/>
          </p:nvCxnSpPr>
          <p:spPr>
            <a:xfrm>
              <a:off x="7683391" y="3798923"/>
              <a:ext cx="1894172" cy="117702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CAAF8C0F-8207-07E1-89CB-F07B26B842EB}"/>
                </a:ext>
              </a:extLst>
            </p:cNvPr>
            <p:cNvCxnSpPr>
              <a:cxnSpLocks/>
              <a:stCxn id="11" idx="5"/>
              <a:endCxn id="7" idx="1"/>
            </p:cNvCxnSpPr>
            <p:nvPr/>
          </p:nvCxnSpPr>
          <p:spPr>
            <a:xfrm>
              <a:off x="7487805" y="2120335"/>
              <a:ext cx="958561" cy="8576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0F563F88-640A-4798-FEDD-BAC09A704350}"/>
                </a:ext>
              </a:extLst>
            </p:cNvPr>
            <p:cNvCxnSpPr>
              <a:cxnSpLocks/>
              <a:stCxn id="6" idx="3"/>
              <a:endCxn id="7" idx="6"/>
            </p:cNvCxnSpPr>
            <p:nvPr/>
          </p:nvCxnSpPr>
          <p:spPr>
            <a:xfrm flipH="1">
              <a:off x="8779779" y="2803702"/>
              <a:ext cx="1245607" cy="31240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xmlns="" id="{321C125C-5EDA-9397-4FE7-A579B5746B97}"/>
                </a:ext>
              </a:extLst>
            </p:cNvPr>
            <p:cNvCxnSpPr>
              <a:cxnSpLocks/>
              <a:stCxn id="10" idx="7"/>
              <a:endCxn id="7" idx="3"/>
            </p:cNvCxnSpPr>
            <p:nvPr/>
          </p:nvCxnSpPr>
          <p:spPr>
            <a:xfrm flipV="1">
              <a:off x="7683391" y="3254206"/>
              <a:ext cx="762975" cy="268509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0A73B242-5F6C-62D3-DD26-9F2EF989797F}"/>
                    </a:ext>
                  </a:extLst>
                </p:cNvPr>
                <p:cNvSpPr/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A73B242-5F6C-62D3-DD26-9F2EF98979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90D5212E-E1C2-D9EF-F08E-F206675A5BD6}"/>
                </a:ext>
              </a:extLst>
            </p:cNvPr>
            <p:cNvCxnSpPr>
              <a:cxnSpLocks/>
              <a:stCxn id="6" idx="1"/>
              <a:endCxn id="11" idx="6"/>
            </p:cNvCxnSpPr>
            <p:nvPr/>
          </p:nvCxnSpPr>
          <p:spPr>
            <a:xfrm flipH="1" flipV="1">
              <a:off x="7545010" y="1982231"/>
              <a:ext cx="2480376" cy="5452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xmlns="" id="{E5644F0B-7FC2-8742-FCA5-5C5D9F5B13B0}"/>
                </a:ext>
              </a:extLst>
            </p:cNvPr>
            <p:cNvCxnSpPr>
              <a:cxnSpLocks/>
              <a:stCxn id="6" idx="4"/>
              <a:endCxn id="16" idx="7"/>
            </p:cNvCxnSpPr>
            <p:nvPr/>
          </p:nvCxnSpPr>
          <p:spPr>
            <a:xfrm flipH="1">
              <a:off x="9910976" y="2860907"/>
              <a:ext cx="252514" cy="917614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A1F772E5-6DF4-2285-AC18-99E8F8E9A937}"/>
                </a:ext>
              </a:extLst>
            </p:cNvPr>
            <p:cNvSpPr txBox="1"/>
            <p:nvPr/>
          </p:nvSpPr>
          <p:spPr>
            <a:xfrm>
              <a:off x="8979984" y="24505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10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682D98A6-92E4-517C-4539-73DCB216CF7B}"/>
                </a:ext>
              </a:extLst>
            </p:cNvPr>
            <p:cNvSpPr txBox="1"/>
            <p:nvPr/>
          </p:nvSpPr>
          <p:spPr>
            <a:xfrm>
              <a:off x="8556053" y="17096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49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5B7E6820-F321-DC15-A9CC-3D19DAC6940D}"/>
                </a:ext>
              </a:extLst>
            </p:cNvPr>
            <p:cNvSpPr txBox="1"/>
            <p:nvPr/>
          </p:nvSpPr>
          <p:spPr>
            <a:xfrm>
              <a:off x="9601936" y="3043609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44885EAF-7F56-CEEE-0DD9-FA7207E85F68}"/>
                </a:ext>
              </a:extLst>
            </p:cNvPr>
            <p:cNvSpPr txBox="1"/>
            <p:nvPr/>
          </p:nvSpPr>
          <p:spPr>
            <a:xfrm>
              <a:off x="8405494" y="3449515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13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F37346F0-1C3C-1F4E-7C9A-0ADF34374226}"/>
                </a:ext>
              </a:extLst>
            </p:cNvPr>
            <p:cNvSpPr txBox="1"/>
            <p:nvPr/>
          </p:nvSpPr>
          <p:spPr>
            <a:xfrm>
              <a:off x="7700967" y="29598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xmlns="" id="{24AEF158-1BA1-BDBD-6646-CD0CB5695601}"/>
                </a:ext>
              </a:extLst>
            </p:cNvPr>
            <p:cNvSpPr txBox="1"/>
            <p:nvPr/>
          </p:nvSpPr>
          <p:spPr>
            <a:xfrm>
              <a:off x="6961657" y="2592071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34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2BC564FB-37E2-F3D3-9C70-6522740E0D82}"/>
                </a:ext>
              </a:extLst>
            </p:cNvPr>
            <p:cNvCxnSpPr>
              <a:cxnSpLocks/>
              <a:stCxn id="7" idx="5"/>
              <a:endCxn id="16" idx="0"/>
            </p:cNvCxnSpPr>
            <p:nvPr/>
          </p:nvCxnSpPr>
          <p:spPr>
            <a:xfrm>
              <a:off x="8722574" y="3254206"/>
              <a:ext cx="1050298" cy="46711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DEF93AF5-62B8-F958-49E2-009695112F22}"/>
                </a:ext>
              </a:extLst>
            </p:cNvPr>
            <p:cNvCxnSpPr>
              <a:cxnSpLocks/>
              <a:stCxn id="11" idx="4"/>
              <a:endCxn id="10" idx="1"/>
            </p:cNvCxnSpPr>
            <p:nvPr/>
          </p:nvCxnSpPr>
          <p:spPr>
            <a:xfrm>
              <a:off x="7349701" y="2177540"/>
              <a:ext cx="57482" cy="134517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0A13DF8A-E33B-3481-CC88-374C68F401F5}"/>
                </a:ext>
              </a:extLst>
            </p:cNvPr>
            <p:cNvSpPr txBox="1"/>
            <p:nvPr/>
          </p:nvSpPr>
          <p:spPr>
            <a:xfrm>
              <a:off x="7666489" y="2477563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17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C98A32FC-9BCC-0915-733F-A858601DA4B1}"/>
                </a:ext>
              </a:extLst>
            </p:cNvPr>
            <p:cNvSpPr txBox="1"/>
            <p:nvPr/>
          </p:nvSpPr>
          <p:spPr>
            <a:xfrm>
              <a:off x="8979985" y="30294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07708" y="1951842"/>
            <a:ext cx="1949450" cy="45243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样例输入：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 </a:t>
            </a:r>
            <a:r>
              <a:rPr lang="en-US" altLang="zh-CN" noProof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1 2 10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1 5 7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2 3 17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2 4 7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2 5 5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3 4 34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4 5 </a:t>
            </a:r>
            <a:r>
              <a:rPr lang="zh-CN" altLang="en-US" noProof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</a:t>
            </a:r>
            <a:endParaRPr lang="en-US" altLang="zh-CN" noProof="1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1 3 49</a:t>
            </a:r>
            <a:endParaRPr lang="zh-CN" altLang="en-US" noProof="1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2857" y="1391961"/>
            <a:ext cx="9486265" cy="8728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dirty="0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zh-CN" altLang="en-US" dirty="0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已知下图中给定的关系，顶点个数n&lt;=100以及边数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&lt;=100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，按顺序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1~n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依次输出每个点到源点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的最短距离.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AF0F26E-0732-232F-EE4D-E5A39345BD39}"/>
              </a:ext>
            </a:extLst>
          </p:cNvPr>
          <p:cNvGrpSpPr/>
          <p:nvPr/>
        </p:nvGrpSpPr>
        <p:grpSpPr>
          <a:xfrm>
            <a:off x="4825734" y="2625312"/>
            <a:ext cx="3397142" cy="2402296"/>
            <a:chOff x="6961657" y="1709638"/>
            <a:chExt cx="3397142" cy="2402296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40FAF6D6-C12F-6377-8913-9101EC0AE4D0}"/>
                    </a:ext>
                  </a:extLst>
                </p:cNvPr>
                <p:cNvSpPr/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40FAF6D6-C12F-6377-8913-9101EC0AE4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8181" y="2470289"/>
                  <a:ext cx="390618" cy="390618"/>
                </a:xfrm>
                <a:prstGeom prst="ellipse">
                  <a:avLst/>
                </a:prstGeom>
                <a:blipFill>
                  <a:blip r:embed="rId2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844877B-76B8-D326-C97B-F4B5EA8D1A44}"/>
                    </a:ext>
                  </a:extLst>
                </p:cNvPr>
                <p:cNvSpPr/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B844877B-76B8-D326-C97B-F4B5EA8D1A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161" y="2920793"/>
                  <a:ext cx="390618" cy="390618"/>
                </a:xfrm>
                <a:prstGeom prst="ellipse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43E94F0C-91DE-1B39-A042-47D8F1544217}"/>
                    </a:ext>
                  </a:extLst>
                </p:cNvPr>
                <p:cNvSpPr/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43E94F0C-91DE-1B39-A042-47D8F15442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9978" y="3465510"/>
                  <a:ext cx="390618" cy="390618"/>
                </a:xfrm>
                <a:prstGeom prst="ellipse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B239331E-B411-6F81-006D-AEE6B5D0D897}"/>
                    </a:ext>
                  </a:extLst>
                </p:cNvPr>
                <p:cNvSpPr/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B239331E-B411-6F81-006D-AEE6B5D0D8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392" y="1786922"/>
                  <a:ext cx="390618" cy="390618"/>
                </a:xfrm>
                <a:prstGeom prst="ellipse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FA4E35C8-F9EE-F722-D6C5-1E10FC341012}"/>
                </a:ext>
              </a:extLst>
            </p:cNvPr>
            <p:cNvCxnSpPr>
              <a:cxnSpLocks/>
              <a:stCxn id="9" idx="5"/>
              <a:endCxn id="15" idx="2"/>
            </p:cNvCxnSpPr>
            <p:nvPr/>
          </p:nvCxnSpPr>
          <p:spPr>
            <a:xfrm>
              <a:off x="7683391" y="3798923"/>
              <a:ext cx="1894172" cy="117702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48692D3F-EB1F-608D-7171-107CD997EE20}"/>
                </a:ext>
              </a:extLst>
            </p:cNvPr>
            <p:cNvCxnSpPr>
              <a:cxnSpLocks/>
              <a:stCxn id="10" idx="5"/>
              <a:endCxn id="8" idx="1"/>
            </p:cNvCxnSpPr>
            <p:nvPr/>
          </p:nvCxnSpPr>
          <p:spPr>
            <a:xfrm>
              <a:off x="7487805" y="2120335"/>
              <a:ext cx="958561" cy="8576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8EF5DE35-CED0-ED65-64AF-FECC67AC36A4}"/>
                </a:ext>
              </a:extLst>
            </p:cNvPr>
            <p:cNvCxnSpPr>
              <a:cxnSpLocks/>
              <a:stCxn id="7" idx="3"/>
              <a:endCxn id="8" idx="6"/>
            </p:cNvCxnSpPr>
            <p:nvPr/>
          </p:nvCxnSpPr>
          <p:spPr>
            <a:xfrm flipH="1">
              <a:off x="8779779" y="2803702"/>
              <a:ext cx="1245607" cy="31240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9EB84B0E-59D8-2B6D-750A-7DFCDA4EBC67}"/>
                </a:ext>
              </a:extLst>
            </p:cNvPr>
            <p:cNvCxnSpPr>
              <a:cxnSpLocks/>
              <a:stCxn id="9" idx="7"/>
              <a:endCxn id="8" idx="3"/>
            </p:cNvCxnSpPr>
            <p:nvPr/>
          </p:nvCxnSpPr>
          <p:spPr>
            <a:xfrm flipV="1">
              <a:off x="7683391" y="3254206"/>
              <a:ext cx="762975" cy="268509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2C85DF36-C366-2852-F902-5037FDB969E3}"/>
                    </a:ext>
                  </a:extLst>
                </p:cNvPr>
                <p:cNvSpPr/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2C85DF36-C366-2852-F902-5037FDB969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7563" y="3721316"/>
                  <a:ext cx="390618" cy="390618"/>
                </a:xfrm>
                <a:prstGeom prst="ellipse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xmlns="" id="{1CC588D7-0654-756A-F73C-D3FFCA91F671}"/>
                </a:ext>
              </a:extLst>
            </p:cNvPr>
            <p:cNvCxnSpPr>
              <a:cxnSpLocks/>
              <a:stCxn id="7" idx="1"/>
              <a:endCxn id="10" idx="6"/>
            </p:cNvCxnSpPr>
            <p:nvPr/>
          </p:nvCxnSpPr>
          <p:spPr>
            <a:xfrm flipH="1" flipV="1">
              <a:off x="7545010" y="1982231"/>
              <a:ext cx="2480376" cy="545263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80341AB7-656B-2381-CFD5-256A175F2471}"/>
                </a:ext>
              </a:extLst>
            </p:cNvPr>
            <p:cNvCxnSpPr>
              <a:cxnSpLocks/>
              <a:stCxn id="7" idx="4"/>
              <a:endCxn id="15" idx="7"/>
            </p:cNvCxnSpPr>
            <p:nvPr/>
          </p:nvCxnSpPr>
          <p:spPr>
            <a:xfrm flipH="1">
              <a:off x="9910976" y="2860907"/>
              <a:ext cx="252514" cy="917614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FB784AF4-CEC5-7188-7CC4-7CE69896F805}"/>
                </a:ext>
              </a:extLst>
            </p:cNvPr>
            <p:cNvSpPr txBox="1"/>
            <p:nvPr/>
          </p:nvSpPr>
          <p:spPr>
            <a:xfrm>
              <a:off x="8979984" y="24505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10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894FCD27-FCB4-BC47-9F22-5D72C8BF72BC}"/>
                </a:ext>
              </a:extLst>
            </p:cNvPr>
            <p:cNvSpPr txBox="1"/>
            <p:nvPr/>
          </p:nvSpPr>
          <p:spPr>
            <a:xfrm>
              <a:off x="8556053" y="17096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49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3E919371-8A2C-DA48-96E0-3E0DF2D67C3B}"/>
                </a:ext>
              </a:extLst>
            </p:cNvPr>
            <p:cNvSpPr txBox="1"/>
            <p:nvPr/>
          </p:nvSpPr>
          <p:spPr>
            <a:xfrm>
              <a:off x="9601936" y="3043609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7D1C5BEE-1757-CFEF-9042-466C28AD69B2}"/>
                </a:ext>
              </a:extLst>
            </p:cNvPr>
            <p:cNvSpPr txBox="1"/>
            <p:nvPr/>
          </p:nvSpPr>
          <p:spPr>
            <a:xfrm>
              <a:off x="8405494" y="3449515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13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D89221C3-0D88-6DDF-8780-CBD1AA8BF208}"/>
                </a:ext>
              </a:extLst>
            </p:cNvPr>
            <p:cNvSpPr txBox="1"/>
            <p:nvPr/>
          </p:nvSpPr>
          <p:spPr>
            <a:xfrm>
              <a:off x="7700967" y="295984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7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EC2ED68E-A977-F995-517D-F60F76C76F38}"/>
                </a:ext>
              </a:extLst>
            </p:cNvPr>
            <p:cNvSpPr txBox="1"/>
            <p:nvPr/>
          </p:nvSpPr>
          <p:spPr>
            <a:xfrm>
              <a:off x="6961657" y="2592071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34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xmlns="" id="{B281E4B6-C22B-54A8-7DFE-6766B14A2BA2}"/>
                </a:ext>
              </a:extLst>
            </p:cNvPr>
            <p:cNvCxnSpPr>
              <a:cxnSpLocks/>
              <a:stCxn id="8" idx="5"/>
              <a:endCxn id="15" idx="0"/>
            </p:cNvCxnSpPr>
            <p:nvPr/>
          </p:nvCxnSpPr>
          <p:spPr>
            <a:xfrm>
              <a:off x="8722574" y="3254206"/>
              <a:ext cx="1050298" cy="46711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59D356AB-67F9-5121-681F-E02D9D00525B}"/>
                </a:ext>
              </a:extLst>
            </p:cNvPr>
            <p:cNvCxnSpPr>
              <a:cxnSpLocks/>
              <a:stCxn id="10" idx="4"/>
              <a:endCxn id="9" idx="1"/>
            </p:cNvCxnSpPr>
            <p:nvPr/>
          </p:nvCxnSpPr>
          <p:spPr>
            <a:xfrm>
              <a:off x="7349701" y="2177540"/>
              <a:ext cx="57482" cy="134517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5B87D275-9822-C817-97E6-FD8203959306}"/>
                </a:ext>
              </a:extLst>
            </p:cNvPr>
            <p:cNvSpPr txBox="1"/>
            <p:nvPr/>
          </p:nvSpPr>
          <p:spPr>
            <a:xfrm>
              <a:off x="7666489" y="2477563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17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01F81D14-1CE0-F490-6C6A-6E2F32B749E1}"/>
                </a:ext>
              </a:extLst>
            </p:cNvPr>
            <p:cNvSpPr txBox="1"/>
            <p:nvPr/>
          </p:nvSpPr>
          <p:spPr>
            <a:xfrm>
              <a:off x="8979985" y="3029438"/>
              <a:ext cx="509523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5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95D7128F-812F-0A77-353F-83BBF5623F81}"/>
              </a:ext>
            </a:extLst>
          </p:cNvPr>
          <p:cNvSpPr txBox="1"/>
          <p:nvPr/>
        </p:nvSpPr>
        <p:spPr>
          <a:xfrm>
            <a:off x="2680975" y="1956616"/>
            <a:ext cx="1949450" cy="28050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endParaRPr lang="zh-CN" altLang="en-US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样例</a:t>
            </a: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输出：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04899" y="1326261"/>
            <a:ext cx="983238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&lt;bits/stdc++.h&gt;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</a:t>
            </a:r>
            <a:r>
              <a:rPr lang="en-US" altLang="zh-CN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n,m,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a[3010][3010], d[3010];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bool v[3010];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dijkstra() {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memset(d, 0x3f, sizeof(d)); // dist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</a:t>
            </a: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memset(v, 0, sizeof(v)); // 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节点标记</a:t>
            </a: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d[1] = 0;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for (int i = 1; i &lt; n; i++) { // 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重复进行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x = 0;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// 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找到未标记节点中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最小的</a:t>
            </a: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(int j = 1; j &lt;= n; j++)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if (!v[j] &amp;&amp; (x == 0 || d[j] &lt; d[x])) x = j;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v[x] = 1;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// 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用全局最小值点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更新其它节点</a:t>
            </a:r>
          </a:p>
          <a:p>
            <a:r>
              <a:rPr lang="zh-CN" altLang="en-US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(int y = 1; y &lt;= n; y++)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d[y] = min(d[y], d[x] + a[x][y]);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B137AD26-5F57-13C5-546C-AB929DD8615C}"/>
              </a:ext>
            </a:extLst>
          </p:cNvPr>
          <p:cNvSpPr txBox="1"/>
          <p:nvPr/>
        </p:nvSpPr>
        <p:spPr>
          <a:xfrm>
            <a:off x="1104900" y="1472416"/>
            <a:ext cx="5705771" cy="42473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int main() 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cin &gt;&gt; n &gt;&gt; m;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//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构建邻接矩阵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memset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(a, 0x3f,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sizeof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(a));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for (int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++) a[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][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] = 0;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for (int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&lt;= m;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++) 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	int x, y, z;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d%d%d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", &amp;x, &amp;y, &amp;z);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	a[x][y] = min(a[x][y], z); //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重边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}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//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求单源最短路径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dijkstra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for (int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("%d\n", d[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return 0;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文本框 2"/>
              <p:cNvSpPr txBox="1"/>
              <p:nvPr/>
            </p:nvSpPr>
            <p:spPr>
              <a:xfrm>
                <a:off x="1028126" y="1295048"/>
                <a:ext cx="10134230" cy="4020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200000"/>
                  </a:lnSpc>
                  <a:buClrTx/>
                  <a:buSzTx/>
                  <a:buFontTx/>
                </a:pPr>
                <a:r>
                  <a:rPr lang="zh-CN" altLang="en-US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堆优化</a:t>
                </a:r>
              </a:p>
              <a:p>
                <a:pPr algn="l">
                  <a:lnSpc>
                    <a:spcPct val="200000"/>
                  </a:lnSpc>
                  <a:buClrTx/>
                  <a:buSzTx/>
                  <a:buFontTx/>
                </a:pPr>
                <a:r>
                  <a:rPr lang="en-US" altLang="zh-CN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Dijkstra</a:t>
                </a: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的功能虽然强大，不过其时间复杂度比较大，对于</a:t>
                </a:r>
                <a:r>
                  <a:rPr lang="en-US" altLang="zh-CN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n</a:t>
                </a: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个点，每次最坏要枚举</a:t>
                </a:r>
                <a:r>
                  <a:rPr lang="en-US" altLang="zh-CN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n</a:t>
                </a: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次，时间复杂度是</a:t>
                </a:r>
                <a:r>
                  <a:rPr lang="en-US" altLang="zh-CN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O</a:t>
                </a:r>
                <a:r>
                  <a:rPr lang="zh-CN" altLang="en-US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noProof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1" i="1" noProof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e>
                      <m:sup>
                        <m:r>
                          <a:rPr lang="en-US" altLang="zh-CN" b="1" i="1" noProof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）</a:t>
                </a: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的。</a:t>
                </a:r>
              </a:p>
              <a:p>
                <a:pPr algn="l">
                  <a:lnSpc>
                    <a:spcPct val="200000"/>
                  </a:lnSpc>
                  <a:buClrTx/>
                  <a:buSzTx/>
                  <a:buFontTx/>
                </a:pP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这个复杂度有点大，我们考虑如何来优化呢？</a:t>
                </a:r>
              </a:p>
              <a:p>
                <a:pPr algn="l">
                  <a:lnSpc>
                    <a:spcPct val="200000"/>
                  </a:lnSpc>
                  <a:buClrTx/>
                  <a:buSzTx/>
                  <a:buFontTx/>
                </a:pPr>
                <a:r>
                  <a:rPr lang="en-US" altLang="zh-CN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Dijkstra</a:t>
                </a: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是</a:t>
                </a:r>
                <a:r>
                  <a:rPr lang="zh-CN" altLang="en-US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基于贪心</a:t>
                </a: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的，每次都是找当前</a:t>
                </a:r>
                <a:r>
                  <a:rPr lang="en-US" altLang="zh-CN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dis</a:t>
                </a: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值最小的那一个点来继续更新。这样的话，每次的枚举就显得无用，我们直接</a:t>
                </a:r>
                <a:r>
                  <a:rPr lang="zh-CN" altLang="en-US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维护当前最小值</a:t>
                </a:r>
                <a:r>
                  <a:rPr lang="zh-CN" altLang="en-US" noProof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就可以了！我们可以用堆对dis数组进行维护,用O(log n)的时间取出堆顶元素并删除,用O(log n)遍历每条边,总复杂度</a:t>
                </a:r>
                <a:r>
                  <a:rPr lang="zh-CN" altLang="en-US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O((n+m)log n)</a:t>
                </a: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126" y="1295048"/>
                <a:ext cx="10134230" cy="4020396"/>
              </a:xfrm>
              <a:prstGeom prst="rect">
                <a:avLst/>
              </a:prstGeom>
              <a:blipFill>
                <a:blip r:embed="rId2" cstate="print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+mn-ea"/>
                <a:sym typeface="+mn-ea"/>
              </a:rPr>
              <a:t>dijkstra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04900" y="1244184"/>
            <a:ext cx="10124440" cy="57349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dijkstra(){	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ts val="2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priority_queue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&lt;pair&lt;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int,int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&gt;q;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memset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(d,0x3f,sizeof(d))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d[s]=0;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q.push(make_pair(0,s));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while(q.size())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int x=q.top().second;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q.pop();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if(vis[x]) continue;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每个点只入队一次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vis[x]=1;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for(int i=head[x];i;i=edge[i].next)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int v=edge[i].to;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if(d[v]&gt;d[x]+edge[i].w) 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{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d[v]=d[x]+edge[i].w;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q.push(make_pair(-d[v],v));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}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fontAlgn="auto">
              <a:lnSpc>
                <a:spcPts val="2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Bellman-Ford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006475" y="1285240"/>
            <a:ext cx="10079107" cy="541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Ford（福特）算法，同样是用来计算从一个点到其他所有点的最短路径的算法，也是一种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单源最短路径算法。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算法时间复杂度：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O(NE)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是顶点数，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是边数。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算法实现：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设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为起点，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dis[v]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即为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的最短距离，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pre[v]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为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前驱。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w[j]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是边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的长度，且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连接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初始化：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dis[s]=0,dis[v]=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∞（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≠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），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rPr>
              <a:t>pre[s]=0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For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(i = 1; i &lt;= n-1; i++)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For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(j = 1; j &lt;= E; j++)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//注意要枚举所有边，不能枚举点。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if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dis[u]+w[j]&lt;dis[v]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  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//u、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分别是这条边连接的两个点。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{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dis[v]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=dis[u]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w[j];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pre[v]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u;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  }</a:t>
            </a:r>
            <a:endParaRPr lang="zh-CN" altLang="en-US" noProof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Bellman-Ford</a:t>
            </a:r>
            <a:endParaRPr lang="zh-CN" altLang="en-US" dirty="0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016123" y="1300579"/>
            <a:ext cx="9180195" cy="1987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算法分析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思想讲解：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Bellman-Ford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算法的思想很简单。一开始认为起点是白点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(dis[1]=0)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，每一次都枚举所有的边，必然会有一些边，连接着白点和蓝点。因此每次都能用所有的白点去修改所有的蓝点，每次循环也必然会有至少一个蓝点变成白点。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4900" y="3415848"/>
            <a:ext cx="7524195" cy="2668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32162" y="6218703"/>
            <a:ext cx="69135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在上面这个简单的模拟中能看到白点的“蔓延”情况。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Bellman-Ford</a:t>
            </a:r>
            <a:endParaRPr lang="zh-CN" alt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020700" y="1253101"/>
            <a:ext cx="9644189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3【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问题描述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平面上有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个点（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n&lt;=100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），每个点的坐标均在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-10000~10000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之间。其中的一些点之间有连线。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若有连线，则表示可从一个点到达另一个点，即两点间有通路，通路的距离为两点间的直线距离。现在的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任务是找出从一点到另一点之间的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最短路径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输入格式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】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输入共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n+m+3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行，其中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第一行为整数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。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行到第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n+1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行（共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行） ，每行两个整数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x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y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，描述了一个点的坐标。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n+2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行为一个整数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m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，表示图中连线的个数。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此后的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m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行，每行描述一条连线，由两个整数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j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组成，表示第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个点和第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j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个点之间有连线。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最后一行：两个整数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s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t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，分别表示源点和目标点。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输出格式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】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输出仅一行，一个实数（保留两位小数），表示从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s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到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t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的最短路径长度。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020314" y="5013008"/>
            <a:ext cx="5708434" cy="204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【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输入样例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】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5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0 0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2 0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2 2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0 2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3 1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024347" y="5099725"/>
            <a:ext cx="917877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rPr>
              <a:t>5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rPr>
              <a:t>1 2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rPr>
              <a:t>1 3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rPr>
              <a:t>1 4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rPr>
              <a:t>2 5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rPr>
              <a:t>3 5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rPr>
              <a:t>1 5 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109210" y="5075714"/>
            <a:ext cx="1774646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b="1" kern="0" dirty="0">
                <a:latin typeface="宋体" panose="02010600030101010101" pitchFamily="2" charset="-122"/>
                <a:sym typeface="宋体" panose="02010600030101010101" pitchFamily="2" charset="-122"/>
              </a:rPr>
              <a:t>【</a:t>
            </a:r>
            <a:r>
              <a:rPr lang="zh-CN" altLang="en-US" sz="1600" b="1" kern="0" dirty="0">
                <a:latin typeface="宋体" panose="02010600030101010101" pitchFamily="2" charset="-122"/>
                <a:sym typeface="宋体" panose="02010600030101010101" pitchFamily="2" charset="-122"/>
              </a:rPr>
              <a:t>输出样例</a:t>
            </a:r>
            <a:r>
              <a:rPr lang="en-US" altLang="zh-CN" sz="1600" b="1" kern="0" dirty="0">
                <a:latin typeface="宋体" panose="02010600030101010101" pitchFamily="2" charset="-122"/>
                <a:sym typeface="宋体" panose="02010600030101010101" pitchFamily="2" charset="-122"/>
              </a:rPr>
              <a:t>】</a:t>
            </a:r>
            <a:endParaRPr lang="en-US" altLang="zh-CN" sz="1600" b="1" kern="0" dirty="0">
              <a:latin typeface="宋体" panose="02010600030101010101" pitchFamily="2" charset="-122"/>
              <a:sym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b="1" kern="0" dirty="0">
                <a:latin typeface="宋体" panose="02010600030101010101" pitchFamily="2" charset="-122"/>
                <a:sym typeface="Times New Roman" panose="02020603050405020304" pitchFamily="18" charset="0"/>
              </a:rPr>
              <a:t>3.41</a:t>
            </a:r>
            <a:endParaRPr lang="en-US" altLang="zh-CN" sz="1600" b="1" kern="0" dirty="0">
              <a:latin typeface="宋体" panose="02010600030101010101" pitchFamily="2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2485507" y="5075714"/>
            <a:ext cx="0" cy="17060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4570370" y="5075714"/>
            <a:ext cx="0" cy="17060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Bellman-Ford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05205" y="1357490"/>
            <a:ext cx="515563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#include&lt;bits/stdc++.h&gt;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double a[101][3],dis[1001],w[1001];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int n,m,x,y,k,f[1001][3],s,t;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cin&gt;&gt;n;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for (int i=1;i&lt;=n;i++)   cin&gt;&gt;a[i][1]&gt;&gt;a[i][2];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memset(dis,0x3f,sizeof(dis));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cin&gt;&gt;m;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for (int i=1;i&lt;=m;i++)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   cin&gt;&gt;x&gt;&gt;y;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   f[i][1]=x; 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   f[i][2]=y;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   w[i]=sqrt(pow(a[x][1]-a[y][1],2)+pow(a[x][2]-a[y][2],2));</a:t>
            </a:r>
          </a:p>
          <a:p>
            <a:pPr algn="l">
              <a:buClrTx/>
              <a:buSzTx/>
              <a:buFontTx/>
            </a:pP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l">
              <a:buClrTx/>
              <a:buSzTx/>
              <a:buFontTx/>
            </a:pPr>
            <a:endParaRPr lang="en-US" altLang="zh-CN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719586" y="1770626"/>
            <a:ext cx="52049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cin&gt;&gt;s&gt;&gt;t;</a:t>
            </a: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dis[s]=0; </a:t>
            </a: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i=1;i&lt;=n-1;i++)                                            for (int j=1;j&lt;=m;j++)</a:t>
            </a: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if (dis[f[j][1]]+w[j]&lt;dis[f[j][2]])        	dis[f[j][2]]=dis[f[j][1]]+w[j];</a:t>
            </a: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if (dis[f[j][2]]+w[j]&lt;dis[f[j][1]]) 	dis[f[j][1]]=dis[f[j][2]]+w[j];</a:t>
            </a: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printf("%.2f",dis[t]);</a:t>
            </a:r>
          </a:p>
          <a:p>
            <a:pPr algn="l">
              <a:buClrTx/>
              <a:buSzTx/>
              <a:buFontTx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377219" y="1357490"/>
            <a:ext cx="0" cy="5555357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SPFA</a:t>
            </a:r>
            <a:r>
              <a:rPr lang="zh-CN" altLang="en-US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算法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006475" y="1406538"/>
            <a:ext cx="10319385" cy="4450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Bellman—Ford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算法的时间复杂度比较高，原因在于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Bellman—Ford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算法要递推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次，每次递推，扫描所有的边，在递推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次的过程中很多判断是多余的，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SPFA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算法是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Bellman—Ford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算法的一种队列实现，减少了不必要的冗余判断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。主要思想是：</a:t>
            </a:r>
          </a:p>
          <a:p>
            <a:pPr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初始时将起点加入队列。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每次从队列中取出一个元素，并对所有与它相邻的点进行修改，若某个相邻的点修改成功，则将其入队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。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一个节点可能会入队、出队多次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。直到队列为空时算法结束。</a:t>
            </a:r>
          </a:p>
          <a:p>
            <a:pPr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算法时间复杂度：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宋体" panose="02010600030101010101" pitchFamily="2" charset="-122"/>
            </a:endParaRPr>
          </a:p>
          <a:p>
            <a:pPr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在稀疏图上运行效率较高，为O(kE)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，E是边数。K是常数，平均值为2。但在稠密图或特殊构造的网格上，该算法仍然可能退化为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O(nm)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宋体" panose="02010600030101010101" pitchFamily="2" charset="-122"/>
            </a:endParaRPr>
          </a:p>
          <a:p>
            <a:pPr algn="l" fontAlgn="auto">
              <a:lnSpc>
                <a:spcPct val="200000"/>
              </a:lnSpc>
              <a:buClrTx/>
              <a:buSzTx/>
              <a:buFontTx/>
            </a:pPr>
            <a:endParaRPr lang="zh-CN" altLang="en-US" sz="160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SPFA</a:t>
            </a:r>
            <a:r>
              <a:rPr lang="zh-CN" altLang="en-US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算法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5FB50116-7ACB-4E51-9708-BA4664CC7C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0" y="1277865"/>
            <a:ext cx="5537060" cy="5594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SPFA</a:t>
            </a:r>
            <a:r>
              <a:rPr lang="zh-CN" altLang="en-US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算法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935548" y="1269162"/>
            <a:ext cx="10319385" cy="5588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【例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】香甜的黄油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(Sweet Butter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】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农夫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John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发现做出全威斯康辛州最甜的黄油的方法：糖。把糖放在一片牧场上，他知道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1&lt;=N&lt;=500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）只奶牛会过来舔它，这样就能做出能卖好价钱的超甜黄油。当然，他将付出额外的费用在奶牛上。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农夫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John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很狡猾。像以前的巴甫洛夫，他知道他可以训练这些奶牛，让它们在听到铃声时去一个特定的牧场。他打算将糖放在那里然后下午发出铃声，以至他可以在晚上挤奶。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农夫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John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知道每只奶牛都在各自喜欢的牧场（一个牧场不一定只有一头牛）。给出各头牛在的牧场和牧场间的路线，找出使所有牛到达的路程和最短的牧场（他将把糖放在那）。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】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第一行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三个数：奶牛数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，牧场数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2&lt;=P&lt;=800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），牧场间道路数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C(1&lt;=C&lt;=1450)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第二行到第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: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头奶牛所在的牧场号。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N+2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行到第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N+C+1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行：每行有三个数：相连的牧场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，两牧场间距（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1&lt;=D&lt;=255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），当然，连接是双向的。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】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一行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输出奶牛必须行走的最小的距离和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endParaRPr lang="zh-CN" altLang="en-US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SPFA</a:t>
            </a:r>
            <a:r>
              <a:rPr lang="zh-CN" altLang="en-US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算法</a:t>
            </a:r>
            <a:endParaRPr lang="zh-CN" altLang="en-US" dirty="0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105214" y="1464736"/>
            <a:ext cx="2742252" cy="461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【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输入样例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】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3 4 5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4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1 2 1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1 3 5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2 3 7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2 4 3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3 4 5</a:t>
            </a:r>
          </a:p>
          <a:p>
            <a:pPr eaLnBrk="1" hangingPunct="1">
              <a:lnSpc>
                <a:spcPct val="150000"/>
              </a:lnSpc>
            </a:pPr>
            <a:endParaRPr lang="zh-CN" altLang="en-US" dirty="0">
              <a:latin typeface="Times New Roman" panose="02020603050405020304" pitchFamily="18" charset="0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45610" y="1464945"/>
            <a:ext cx="6275705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样例图形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         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P2 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P1 @--1--@ C1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    \    |\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     \   | \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      5  7  3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       \ |   \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        \|    \ C3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      C2 @--5--@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         P3    P4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【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输出样例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】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8             //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说明：放在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号牧场最优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SPFA</a:t>
            </a:r>
            <a:r>
              <a:rPr lang="zh-CN" altLang="en-US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算法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45" y="1390172"/>
            <a:ext cx="3711020" cy="535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n,p,c,i,j,x,y,t,min1,head,tail,tot,u;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a[801][801],b[501],dis[801],num[801],w[801][801],team[1601];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exist[801];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cin&gt;&gt;n&gt;&gt;p&gt;&gt;c;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num[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for(j=1;j&lt;=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p;j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][j]=0x7fffffff/3;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cin&gt;&gt;b[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</p:txBody>
      </p:sp>
      <p:sp>
        <p:nvSpPr>
          <p:cNvPr id="6" name="矩形 5"/>
          <p:cNvSpPr/>
          <p:nvPr/>
        </p:nvSpPr>
        <p:spPr>
          <a:xfrm>
            <a:off x="5087627" y="940296"/>
            <a:ext cx="7698556" cy="6185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                     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邻接矩阵存储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cin&gt;&gt;x&gt;&gt;y&gt;&gt;t;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w[x][y]=t;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a[x][++num[x]]=y;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a[y][++num[y]]=x;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w[y][x]=w[x][y];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min1=0x7fffffff/3;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for(j=1;j&lt;=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p;j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dis[j]=0x7fffffff/3;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memset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(team,0,sizeof(team));           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队列数组初始化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memset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exist,false,sizeof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(exist));                   //exist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标志初始化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]=0;team[1]=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i;head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=0;tail=1;exist[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]=true;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起始点入队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head++;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head=((head-1)%1601)+1;             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循环队列处理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u=team[head];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exist[u]=false;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839970" y="1410970"/>
            <a:ext cx="14605" cy="5244465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SPFA</a:t>
            </a:r>
            <a:r>
              <a:rPr lang="zh-CN" altLang="en-US" dirty="0">
                <a:latin typeface="Times New Roman" panose="02020603050405020304" pitchFamily="18" charset="0"/>
                <a:cs typeface="+mn-ea"/>
                <a:sym typeface="宋体" panose="02010600030101010101" pitchFamily="2" charset="-122"/>
              </a:rPr>
              <a:t>算法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04900" y="1247140"/>
            <a:ext cx="8213090" cy="5908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for(j=1;j&lt;=num[u];j++)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(dis[a[u][j]]&gt;dis[u]+w[u][a[u][j]])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dis[a[u][j]]=dis[u]+w[u][a[u][j]];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if (!exist[a[u][j]])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{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tail++;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tail=((tail-1)%1601)+1;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team[tail]=a[u][j];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exist[a[u][j]]=true;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}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}while(head!=tail);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tot=0;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for(j=1;j&lt;=n;j++)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tot+=dis[b[j]];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if (tot&lt;min1) min1=tot;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cout&lt;&lt;min1;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l"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60331" y="1882242"/>
            <a:ext cx="8938089" cy="3093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习题练习</a:t>
            </a:r>
          </a:p>
        </p:txBody>
      </p:sp>
      <p:sp>
        <p:nvSpPr>
          <p:cNvPr id="5" name="矩形 4"/>
          <p:cNvSpPr/>
          <p:nvPr/>
        </p:nvSpPr>
        <p:spPr>
          <a:xfrm>
            <a:off x="964399" y="1342208"/>
            <a:ext cx="10121183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P3371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P4779 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P1414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P1629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P1522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P1119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P1462</a:t>
            </a:r>
          </a:p>
          <a:p>
            <a:pPr>
              <a:lnSpc>
                <a:spcPct val="200000"/>
              </a:lnSpc>
            </a:pP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590c7ca-c853-4c92-8634-0d0a209a907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f72a519-bc51-4715-b9c0-3f616090ce9d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49748ce-e388-4c0f-9066-225501df6ff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912d449-cc13-4a6b-8b60-c5b54042eaf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fa61f11-1302-43d5-9154-f14417347db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900c063-b48c-4014-8537-11f9630942e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46656d7-1802-489d-b7f5-8de0bcae6d00}"/>
</p:tagLst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4362</Words>
  <Application>Microsoft Office PowerPoint</Application>
  <PresentationFormat>自定义</PresentationFormat>
  <Paragraphs>915</Paragraphs>
  <Slides>41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2" baseType="lpstr">
      <vt:lpstr>学术文献 16x9</vt:lpstr>
      <vt:lpstr>最短路径</vt:lpstr>
      <vt:lpstr>学习目标</vt:lpstr>
      <vt:lpstr>最短路径</vt:lpstr>
      <vt:lpstr>最短路径</vt:lpstr>
      <vt:lpstr>floyed</vt:lpstr>
      <vt:lpstr>floyed</vt:lpstr>
      <vt:lpstr>floyed</vt:lpstr>
      <vt:lpstr>floyed</vt:lpstr>
      <vt:lpstr>floyed</vt:lpstr>
      <vt:lpstr>floyed</vt:lpstr>
      <vt:lpstr>floyed</vt:lpstr>
      <vt:lpstr>floyed</vt:lpstr>
      <vt:lpstr>floyed</vt:lpstr>
      <vt:lpstr>floyed</vt:lpstr>
      <vt:lpstr>传递闭包</vt:lpstr>
      <vt:lpstr>传递闭包</vt:lpstr>
      <vt:lpstr>传递闭包</vt:lpstr>
      <vt:lpstr>传递闭包</vt:lpstr>
      <vt:lpstr>dijkstra</vt:lpstr>
      <vt:lpstr>dijkstra</vt:lpstr>
      <vt:lpstr>dijkstra</vt:lpstr>
      <vt:lpstr>dijkstra</vt:lpstr>
      <vt:lpstr>dijkstra</vt:lpstr>
      <vt:lpstr>dijkstra</vt:lpstr>
      <vt:lpstr>dijkstra</vt:lpstr>
      <vt:lpstr>dijkstra</vt:lpstr>
      <vt:lpstr>dijkstra</vt:lpstr>
      <vt:lpstr>dijkstra</vt:lpstr>
      <vt:lpstr>Bellman-Ford</vt:lpstr>
      <vt:lpstr>Bellman-Ford</vt:lpstr>
      <vt:lpstr>Bellman-Ford</vt:lpstr>
      <vt:lpstr>Bellman-Ford</vt:lpstr>
      <vt:lpstr>SPFA算法</vt:lpstr>
      <vt:lpstr>SPFA算法</vt:lpstr>
      <vt:lpstr>SPFA算法</vt:lpstr>
      <vt:lpstr>SPFA算法</vt:lpstr>
      <vt:lpstr>SPFA算法</vt:lpstr>
      <vt:lpstr>SPFA算法</vt:lpstr>
      <vt:lpstr>小结</vt:lpstr>
      <vt:lpstr>习题练习</vt:lpstr>
      <vt:lpstr>谢谢！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</cp:revision>
  <dcterms:created xsi:type="dcterms:W3CDTF">2017-11-04T04:56:00Z</dcterms:created>
  <dcterms:modified xsi:type="dcterms:W3CDTF">2023-04-05T12:44:11Z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2052-11.1.0.9440</vt:lpwstr>
  </property>
</Properties>
</file>