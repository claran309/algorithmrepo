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612" r:id="rId3"/>
    <p:sldId id="668" r:id="rId4"/>
    <p:sldId id="766" r:id="rId5"/>
    <p:sldId id="767" r:id="rId6"/>
    <p:sldId id="772" r:id="rId7"/>
    <p:sldId id="786" r:id="rId8"/>
    <p:sldId id="769" r:id="rId9"/>
    <p:sldId id="701" r:id="rId10"/>
    <p:sldId id="765" r:id="rId11"/>
    <p:sldId id="771" r:id="rId12"/>
    <p:sldId id="759" r:id="rId13"/>
    <p:sldId id="774" r:id="rId14"/>
    <p:sldId id="773" r:id="rId15"/>
    <p:sldId id="775" r:id="rId16"/>
    <p:sldId id="776" r:id="rId17"/>
    <p:sldId id="777" r:id="rId18"/>
    <p:sldId id="779" r:id="rId19"/>
    <p:sldId id="780" r:id="rId20"/>
    <p:sldId id="781" r:id="rId21"/>
    <p:sldId id="782" r:id="rId22"/>
    <p:sldId id="783" r:id="rId23"/>
    <p:sldId id="784" r:id="rId24"/>
    <p:sldId id="789" r:id="rId25"/>
    <p:sldId id="785" r:id="rId26"/>
    <p:sldId id="787" r:id="rId27"/>
    <p:sldId id="788" r:id="rId28"/>
    <p:sldId id="753" r:id="rId29"/>
    <p:sldId id="502" r:id="rId30"/>
  </p:sldIdLst>
  <p:sldSz cx="12192000" cy="6858000"/>
  <p:notesSz cx="6858000" cy="9144000"/>
  <p:custDataLst>
    <p:tags r:id="rId33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38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114" d="100"/>
          <a:sy n="114" d="100"/>
        </p:scale>
        <p:origin x="468" y="108"/>
      </p:cViewPr>
      <p:guideLst>
        <p:guide orient="horz" pos="2170"/>
        <p:guide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2022/7/30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2022/7/30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2022/7/30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2022/7/30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550110" y="2036029"/>
            <a:ext cx="2900779" cy="1954514"/>
          </a:xfrm>
        </p:spPr>
        <p:txBody>
          <a:bodyPr rtlCol="0" anchor="ctr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基环树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473661" y="3844714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理解基环树的含义。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掌握处理基环树的基本方法：段环法。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矩形 4"/>
          <p:cNvSpPr/>
          <p:nvPr/>
        </p:nvSpPr>
        <p:spPr>
          <a:xfrm>
            <a:off x="1064950" y="1216114"/>
            <a:ext cx="9899224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个点的树有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n-1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条边。若在树上任意添加一条边，则会形成一个环。除了环之外，其余部分由若干子树构成。我们把这种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个点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条边的连通无向图，即在树上加一条边构成的恰好包含一个环的图，称为“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基环树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”。以下是几种特殊的基环树的形态。如果不保证连通，那么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个点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条边的无向图也可能是若干基环树组成的森林，称为“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基环树森林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5" y="3375583"/>
            <a:ext cx="3148165" cy="258034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300" y="3291622"/>
            <a:ext cx="3353041" cy="274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849" y="3330807"/>
            <a:ext cx="3187611" cy="261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矩形 69"/>
          <p:cNvSpPr/>
          <p:nvPr/>
        </p:nvSpPr>
        <p:spPr>
          <a:xfrm>
            <a:off x="1003540" y="5758499"/>
            <a:ext cx="281663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无向树（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边无向图）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619997" y="5758498"/>
            <a:ext cx="318761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外向树（每个点只有一条入边）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332385" y="5758498"/>
            <a:ext cx="318761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内向树（每个点只有一条出边）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10" name="矩形 9"/>
          <p:cNvSpPr/>
          <p:nvPr/>
        </p:nvSpPr>
        <p:spPr>
          <a:xfrm>
            <a:off x="1025000" y="1361797"/>
            <a:ext cx="10060582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环树的结构任然简单，但比树稍微复杂些，因此常作为一些经典模型的扩充，以适当增加题目的难度。例如基环树的直径、基环树两点间的距离、基环树动态规划等。无论哪种模型，求解基环树相关问题的方法一般都是先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找出图中唯一的环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，把环作为基环树的广义“根节点”，把除了环之外的部分按照若干棵树处理，再考虑与环一起计算。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10" name="矩形 9"/>
          <p:cNvSpPr/>
          <p:nvPr/>
        </p:nvSpPr>
        <p:spPr>
          <a:xfrm>
            <a:off x="1104900" y="1343369"/>
            <a:ext cx="10060582" cy="1012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无向图找环</a:t>
            </a: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拓扑排序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70" y="2380251"/>
            <a:ext cx="5462301" cy="424294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765930" y="5964808"/>
            <a:ext cx="366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入度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&gt;=2 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的点就是环上的点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7456658" y="3018922"/>
            <a:ext cx="2545209" cy="2315994"/>
            <a:chOff x="7456658" y="3018922"/>
            <a:chExt cx="2545209" cy="2315994"/>
          </a:xfrm>
        </p:grpSpPr>
        <p:sp>
          <p:nvSpPr>
            <p:cNvPr id="7" name="椭圆 6"/>
            <p:cNvSpPr/>
            <p:nvPr/>
          </p:nvSpPr>
          <p:spPr>
            <a:xfrm>
              <a:off x="8097937" y="319318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36910" y="413683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7456658" y="4120748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>
              <a:endCxn id="12" idx="7"/>
            </p:cNvCxnSpPr>
            <p:nvPr/>
          </p:nvCxnSpPr>
          <p:spPr>
            <a:xfrm flipH="1">
              <a:off x="7859222" y="3628897"/>
              <a:ext cx="371793" cy="56092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9530234" y="48632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/>
            <p:cNvCxnSpPr>
              <a:endCxn id="16" idx="1"/>
            </p:cNvCxnSpPr>
            <p:nvPr/>
          </p:nvCxnSpPr>
          <p:spPr>
            <a:xfrm>
              <a:off x="9138332" y="4553439"/>
              <a:ext cx="460971" cy="3789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2" idx="6"/>
              <a:endCxn id="9" idx="2"/>
            </p:cNvCxnSpPr>
            <p:nvPr/>
          </p:nvCxnSpPr>
          <p:spPr>
            <a:xfrm>
              <a:off x="7928291" y="4356565"/>
              <a:ext cx="908619" cy="1608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9376914" y="3018922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>
              <a:stCxn id="7" idx="5"/>
              <a:endCxn id="9" idx="1"/>
            </p:cNvCxnSpPr>
            <p:nvPr/>
          </p:nvCxnSpPr>
          <p:spPr>
            <a:xfrm>
              <a:off x="8500501" y="3595747"/>
              <a:ext cx="405478" cy="61015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23" idx="2"/>
            </p:cNvCxnSpPr>
            <p:nvPr/>
          </p:nvCxnSpPr>
          <p:spPr>
            <a:xfrm flipH="1">
              <a:off x="8562823" y="3254739"/>
              <a:ext cx="814091" cy="13972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10" name="矩形 9"/>
          <p:cNvSpPr/>
          <p:nvPr/>
        </p:nvSpPr>
        <p:spPr>
          <a:xfrm>
            <a:off x="1104900" y="1310039"/>
            <a:ext cx="10060582" cy="1012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无向图找环</a:t>
            </a: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2.dfs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时间戳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95" y="2459990"/>
            <a:ext cx="7644130" cy="34328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025" y="3208655"/>
            <a:ext cx="2609850" cy="237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10" name="矩形 9"/>
          <p:cNvSpPr/>
          <p:nvPr/>
        </p:nvSpPr>
        <p:spPr>
          <a:xfrm>
            <a:off x="1104900" y="1343369"/>
            <a:ext cx="10060582" cy="1012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有向图找环</a:t>
            </a: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dfs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43" y="2556675"/>
            <a:ext cx="6682680" cy="2688186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8448348" y="2387629"/>
            <a:ext cx="2545209" cy="3026278"/>
            <a:chOff x="7456658" y="2241873"/>
            <a:chExt cx="2545209" cy="3093043"/>
          </a:xfrm>
        </p:grpSpPr>
        <p:sp>
          <p:nvSpPr>
            <p:cNvPr id="21" name="椭圆 20"/>
            <p:cNvSpPr/>
            <p:nvPr/>
          </p:nvSpPr>
          <p:spPr>
            <a:xfrm>
              <a:off x="8097937" y="319318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8836910" y="413683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7456658" y="4120748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/>
            <p:cNvCxnSpPr>
              <a:endCxn id="26" idx="7"/>
            </p:cNvCxnSpPr>
            <p:nvPr/>
          </p:nvCxnSpPr>
          <p:spPr>
            <a:xfrm flipH="1">
              <a:off x="7859222" y="3628897"/>
              <a:ext cx="371793" cy="56092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9530234" y="48632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/>
            <p:cNvCxnSpPr>
              <a:endCxn id="28" idx="1"/>
            </p:cNvCxnSpPr>
            <p:nvPr/>
          </p:nvCxnSpPr>
          <p:spPr>
            <a:xfrm>
              <a:off x="9138332" y="4553439"/>
              <a:ext cx="460971" cy="378913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26" idx="6"/>
              <a:endCxn id="22" idx="2"/>
            </p:cNvCxnSpPr>
            <p:nvPr/>
          </p:nvCxnSpPr>
          <p:spPr>
            <a:xfrm>
              <a:off x="7928291" y="4356565"/>
              <a:ext cx="908619" cy="16085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8166311" y="224187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>
              <a:stCxn id="22" idx="1"/>
              <a:endCxn id="21" idx="5"/>
            </p:cNvCxnSpPr>
            <p:nvPr/>
          </p:nvCxnSpPr>
          <p:spPr>
            <a:xfrm flipH="1" flipV="1">
              <a:off x="8500501" y="3595747"/>
              <a:ext cx="405478" cy="610155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31" idx="4"/>
              <a:endCxn id="21" idx="0"/>
            </p:cNvCxnSpPr>
            <p:nvPr/>
          </p:nvCxnSpPr>
          <p:spPr>
            <a:xfrm flipH="1">
              <a:off x="8333754" y="2713506"/>
              <a:ext cx="68374" cy="479676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10" name="矩形 9"/>
          <p:cNvSpPr/>
          <p:nvPr/>
        </p:nvSpPr>
        <p:spPr>
          <a:xfrm>
            <a:off x="1025000" y="1361797"/>
            <a:ext cx="10060582" cy="5358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一般问题的解决方法</a:t>
            </a: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段环法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每次断开环上的一条边跑一遍答案，然后取最大值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适用：数据较小，且环不会影响答案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1】NOIP2018 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旅行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题意：给定一棵树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可能是基环树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，从结点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出发遍历这棵树，每到达一个新的点就记录下编号。求一种走法使得记录下来的编号字典序最小。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第一行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，表示树边的两个节点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一行，表示字典序最小的序列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的数据和所有样例，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1≤n≤5000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m=n−1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m=n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104900" y="1919346"/>
                <a:ext cx="9876526" cy="3163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m==n-1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时，该无向图为一棵树，要使遍历字典序最小，可对每个点的出边做排序后遍历（可利用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vector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存图，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sort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排序实现）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m==n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时，该无向图为一棵基环树，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暴力删边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将基环树变为一棵普通的树，然后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dfs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计算答案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919346"/>
                <a:ext cx="9876526" cy="3163495"/>
              </a:xfrm>
              <a:prstGeom prst="rect">
                <a:avLst/>
              </a:prstGeom>
              <a:blipFill rotWithShape="1">
                <a:blip r:embed="rId2"/>
                <a:stretch>
                  <a:fillRect t="-12" r="4" b="-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5302477" y="3755522"/>
            <a:ext cx="2545209" cy="3026278"/>
            <a:chOff x="7456658" y="2241873"/>
            <a:chExt cx="2545209" cy="3093043"/>
          </a:xfrm>
        </p:grpSpPr>
        <p:sp>
          <p:nvSpPr>
            <p:cNvPr id="7" name="椭圆 6"/>
            <p:cNvSpPr/>
            <p:nvPr/>
          </p:nvSpPr>
          <p:spPr>
            <a:xfrm>
              <a:off x="8097937" y="319318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36910" y="413683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7456658" y="4120748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endCxn id="10" idx="7"/>
            </p:cNvCxnSpPr>
            <p:nvPr/>
          </p:nvCxnSpPr>
          <p:spPr>
            <a:xfrm flipH="1">
              <a:off x="7859222" y="3628897"/>
              <a:ext cx="371793" cy="56092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9530234" y="48632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>
              <a:endCxn id="12" idx="1"/>
            </p:cNvCxnSpPr>
            <p:nvPr/>
          </p:nvCxnSpPr>
          <p:spPr>
            <a:xfrm>
              <a:off x="9138332" y="4553439"/>
              <a:ext cx="460971" cy="378913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6"/>
              <a:endCxn id="9" idx="2"/>
            </p:cNvCxnSpPr>
            <p:nvPr/>
          </p:nvCxnSpPr>
          <p:spPr>
            <a:xfrm>
              <a:off x="7928291" y="4356565"/>
              <a:ext cx="908619" cy="16085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8166311" y="224187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>
              <a:stCxn id="9" idx="1"/>
              <a:endCxn id="7" idx="5"/>
            </p:cNvCxnSpPr>
            <p:nvPr/>
          </p:nvCxnSpPr>
          <p:spPr>
            <a:xfrm flipH="1" flipV="1">
              <a:off x="8500501" y="3595747"/>
              <a:ext cx="405478" cy="610155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5" idx="4"/>
              <a:endCxn id="7" idx="0"/>
            </p:cNvCxnSpPr>
            <p:nvPr/>
          </p:nvCxnSpPr>
          <p:spPr>
            <a:xfrm flipH="1">
              <a:off x="8333754" y="2713506"/>
              <a:ext cx="68374" cy="479676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59" y="1414854"/>
            <a:ext cx="6066492" cy="5289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266" y="1414854"/>
            <a:ext cx="5418571" cy="5274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780295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：岛屿 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IOI2008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4900" y="2288598"/>
            <a:ext cx="9672592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你准备浏览一个公园，该公园由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个岛屿组成，当地管理部门从每个岛屿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出发向另外一个岛屿建了一座长度为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L_i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的桥，不过桥是可以双向行走的。同时，每对岛屿之间都有一艘专用的往来两岛之间的渡船。相对于乘船而言，你更喜欢步行。你希望经过的桥的总长度尽可能长，但受到以下的限制：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可以自行挑选一个岛开始游览。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任何一个岛都不能游览一次以上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无论任何时间，你都可以由当前所在的岛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去另一个从未到过的岛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有如下方法：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步行：仅当两个岛之间有一座桥时才有可能。对于这种情况，桥的长度会累加到你步行的总距离中。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渡船：你可以选择这种方法，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仅当没有任何桥和以前使用过的渡船的组合可以由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走到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当检查是否可到达时，你应该考虑所有的路径，包括经过你曾游览过的那些岛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注意，你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不必游览所有的岛，也可能无法走完所有的桥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请你编写一个程序，给定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座桥以及它们的长度，按照上述的规则，计算你可以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走过的桥的长度之和的最大值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04900" y="1407654"/>
            <a:ext cx="8460357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2.</a:t>
            </a:r>
            <a:r>
              <a:rPr lang="zh-CN" altLang="en-US" sz="1600" b="1" dirty="0">
                <a:solidFill>
                  <a:schemeClr val="accent2"/>
                </a:solidFill>
              </a:rPr>
              <a:t>断环复制法：</a:t>
            </a:r>
            <a:r>
              <a:rPr lang="zh-CN" altLang="en-US" sz="1600" dirty="0"/>
              <a:t>断开环将断开后的链复制到两倍的长度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297450"/>
            <a:ext cx="10060582" cy="125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：岛屿 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IOI2008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025001" y="1800802"/>
                <a:ext cx="5393554" cy="4538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第一行包含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个整数，即公园内岛屿的数目。岛屿由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编号。随后的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行每一行用来表示一个岛。第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行由两个以单空格分隔的整数，表示由岛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筑的桥。第一个整数表示桥另一端的岛，第二个整数表示该桥的长度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。你可以假设对于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每座桥，其端点总是位于不同的岛上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输出包含一个整数，即可能的最大步行距离。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数据范围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01" y="1800802"/>
                <a:ext cx="5393554" cy="4538743"/>
              </a:xfrm>
              <a:prstGeom prst="rect">
                <a:avLst/>
              </a:prstGeom>
              <a:blipFill rotWithShape="1">
                <a:blip r:embed="rId2"/>
                <a:stretch>
                  <a:fillRect l="-2" t="-13" r="1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554081" y="1598900"/>
            <a:ext cx="2291253" cy="460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样例输入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7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3 8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7 2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4 2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1 4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1 9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/>
              <a:t>2 3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样例输出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24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6853561" y="1518082"/>
            <a:ext cx="0" cy="472188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759" y="1392172"/>
            <a:ext cx="7431857" cy="525646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4274" y="1392172"/>
            <a:ext cx="6094520" cy="4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样例解释</a:t>
            </a:r>
            <a:r>
              <a:rPr lang="en-US" altLang="zh-CN" dirty="0"/>
              <a:t>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4900" y="1784186"/>
            <a:ext cx="9876526" cy="447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根据题意，整个公园是一个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个点的基环树森林。按照题目中规定的乘坐渡船规则，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一旦离开某棵基环树，就不能再通过渡船回来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。因此，这道题的答案就是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各棵基环树的直径之和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。我们考虑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先找到环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，然后把环当作当前这颗基环树的“根节点”，我们发现直径有两种情况：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在“根节点”的某一棵子树中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经过“根节点”，在“根节点”的某两棵子树中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情况一我们直接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以环的每一个点为根找它的子树的直径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，这里我们直接用树形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即可，如果用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会爆栈。最后取最大值。同时还可以计算出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，表示节点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出发走向以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为根的子树能够到达的最远节点距离。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6978" y="1784186"/>
            <a:ext cx="9876526" cy="434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情况二我们需要找到环上的两个节点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D[x]+ D[y]+dis(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最大。其中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在环上的距离，有逆时针、顺时针的两种走法，取较长的一种。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这里可以断开环，将断开后的链复制到两倍的长度。令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为环链序列的距离前缀和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那么式子变为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d[x]+d[y]+sum[y]-sum[x]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。我们直接对于环上每个点枚举另外一个点来算直径，时间复杂度是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O(n^2)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，需要做优化。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spcBef>
                <a:spcPts val="10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可以把上面的式子转化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:d[x]-sum[x]+d[y]+sum[y]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是独立的。枚举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[y-size+1,y-1]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d[x]-sum[x]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的最大值就行了。我们用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单调队列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来维护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d[x]-sum[x]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（假设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x&lt;y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）的值即可，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spcBef>
                <a:spcPts val="10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最后把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所有连通块的直径相加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即为题目所求。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510196"/>
            <a:ext cx="9686925" cy="3476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04900" y="1962525"/>
            <a:ext cx="663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找环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52" y="2076450"/>
            <a:ext cx="8486775" cy="270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04" y="1905628"/>
            <a:ext cx="8124825" cy="4772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24" y="1869196"/>
            <a:ext cx="9345283" cy="4559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780295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[ZJOI2008]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骑士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4900" y="2288598"/>
            <a:ext cx="9672592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国的骑士团是一个很有势力的组织，帮会中汇聚了来自各地的精英。他们劫富济贫，惩恶扬善，受到社会各界的赞扬。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最近发生了一件可怕的事情，邪恶的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国发动了一场针对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国的侵略战争。战火绵延五百里，在和平环境中安逸了数百年的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国又怎能抵挡的住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国的军队。于是人们把所有的希望都寄托在了骑士团的身上，就像期待有一个真龙天子的降生，带领正义打败邪恶。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骑士团是肯定具有打败邪恶势力的能力的，但是骑士们互相之间往往有一些矛盾。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每个骑士都有且仅有一个自己最厌恶的骑士（当然不是他自己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），他是绝对不会与自己最厌恶的人一同出征的。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战火绵延，人民生灵涂炭，组织起一个骑士军团加入战斗刻不容缓！国王交给了你一个艰巨的任务，从所有的骑士中选出一个骑士军团，使得军团内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没有矛盾的两人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（不存在一个骑士与他最痛恨的人一同被选入骑士军团的情况），并且，使得这支骑士军团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最具有战斗力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为了描述战斗力，我们将骑士按照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编号，给每名骑士一个战斗力的估计，一个军团的战斗力为所有骑士的战斗力总和。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04900" y="1407654"/>
            <a:ext cx="8460357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3.</a:t>
            </a:r>
            <a:r>
              <a:rPr lang="zh-CN" altLang="en-US" sz="1600" b="1" dirty="0">
                <a:solidFill>
                  <a:schemeClr val="accent2"/>
                </a:solidFill>
              </a:rPr>
              <a:t>二次</a:t>
            </a:r>
            <a:r>
              <a:rPr lang="en-US" altLang="zh-CN" sz="1600" b="1" dirty="0" err="1">
                <a:solidFill>
                  <a:schemeClr val="accent2"/>
                </a:solidFill>
              </a:rPr>
              <a:t>dp</a:t>
            </a:r>
            <a:r>
              <a:rPr lang="zh-CN" altLang="en-US" sz="1600" b="1" dirty="0">
                <a:solidFill>
                  <a:schemeClr val="accent2"/>
                </a:solidFill>
              </a:rPr>
              <a:t>法：</a:t>
            </a:r>
            <a:r>
              <a:rPr lang="zh-CN" altLang="en-US" sz="1600" dirty="0"/>
              <a:t>可以像环形</a:t>
            </a:r>
            <a:r>
              <a:rPr lang="en-US" altLang="zh-CN" sz="1600" dirty="0" err="1"/>
              <a:t>dp</a:t>
            </a:r>
            <a:r>
              <a:rPr lang="zh-CN" altLang="en-US" sz="1600" dirty="0"/>
              <a:t>一样将一条边强行断开处理一遍，然后强行连上再处理一遍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100772"/>
            <a:ext cx="10060582" cy="125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[ZJOI2008]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骑士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104900" y="1507082"/>
                <a:ext cx="6266243" cy="692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输入格式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第一行包含一个整数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，描述骑士团的人数。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接下来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行，每行两个整数，按顺序描述每一名骑士的战斗力和他最痛恨的骑士。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输出格式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应输出一行，包含一个整数，表示你所选出的骑士军团的战斗力。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数据范围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每名骑士的战斗力都是不大于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10^6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的正整数。</m:t>
                      </m:r>
                    </m:oMath>
                  </m:oMathPara>
                </a14:m>
                <a:endParaRPr lang="zh-CN" altLang="en-US" sz="16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对于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的测试数据，满足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对于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80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的测试数据，满足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对于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60%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的测试数据，满足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≤100；对于 30% 的测试数据，满足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≤10；</m:t>
                      </m:r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507082"/>
                <a:ext cx="6266243" cy="6929755"/>
              </a:xfrm>
              <a:prstGeom prst="rect">
                <a:avLst/>
              </a:prstGeom>
              <a:blipFill rotWithShape="1">
                <a:blip r:embed="rId2"/>
                <a:stretch>
                  <a:fillRect t="-3" r="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8157194" y="1506632"/>
            <a:ext cx="2291253" cy="387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样例输入</a:t>
            </a:r>
            <a:r>
              <a:rPr lang="en-US" altLang="zh-CN" dirty="0"/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10 2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20 3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30 1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样例输出</a:t>
            </a:r>
            <a:r>
              <a:rPr lang="en-US" altLang="zh-CN" dirty="0"/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30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560928" y="1587727"/>
            <a:ext cx="0" cy="472188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810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14367" y="1784186"/>
                <a:ext cx="10071215" cy="4757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个点，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条边，是一个树型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问题：父节点选，则子节点不选；父节点不选，子节点可选或者不选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f[u][0]: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节点不选的最大战斗力；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  <a:spcBef>
                    <a:spcPts val="1000"/>
                  </a:spcBef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f[u][1]: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节点必选的最大战斗力；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[0]</m:t>
                          </m:r>
                        </m:e>
                      </m:nary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u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max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⁡(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但题中图为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个点，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条边，是一棵基环树，需要处理环的影响。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67" y="1784186"/>
                <a:ext cx="10071215" cy="4757584"/>
              </a:xfrm>
              <a:prstGeom prst="rect">
                <a:avLst/>
              </a:prstGeom>
              <a:blipFill>
                <a:blip r:embed="rId2"/>
                <a:stretch>
                  <a:fillRect l="-302" b="-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810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4367" y="1784186"/>
            <a:ext cx="10071215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中基环树的形态，由于一个节点只会有一个仇恨的人，可以存有向图，将我的仇人连向我。这个时候，每个点只连向另一个节点（只有一条入边），建出来的树为一棵外向树。不会出现有两条边指向同一个点的情况。所以在找环的时候，一路回退，一定能找到当前基环树的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67" y="3503090"/>
            <a:ext cx="3402312" cy="32787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501" y="4332820"/>
            <a:ext cx="2295525" cy="1619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848" y="3218488"/>
            <a:ext cx="3288915" cy="321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810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4367" y="1784186"/>
            <a:ext cx="5904017" cy="35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基环树就是在树的基础上增加了一条边，可以考虑找到环后随机删去某条边。假设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是被删掉的边的两端，显然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是不能同时选中的，于是我们跑两遍树形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，一次让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不选，一次让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不选，最后求两者的较大值即可。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另外，题目数据给的图不一定是个联通图，也就是可能有多棵基环树，所以对于每棵基环树我们都要跑树形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，最后答案就是每一棵基环树的答案和。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069134" y="2351328"/>
            <a:ext cx="2545209" cy="3026278"/>
            <a:chOff x="7456658" y="2241873"/>
            <a:chExt cx="2545209" cy="3093043"/>
          </a:xfrm>
        </p:grpSpPr>
        <p:sp>
          <p:nvSpPr>
            <p:cNvPr id="7" name="椭圆 6"/>
            <p:cNvSpPr/>
            <p:nvPr/>
          </p:nvSpPr>
          <p:spPr>
            <a:xfrm>
              <a:off x="8097937" y="319318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36910" y="413683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7456658" y="4120748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endCxn id="10" idx="7"/>
            </p:cNvCxnSpPr>
            <p:nvPr/>
          </p:nvCxnSpPr>
          <p:spPr>
            <a:xfrm flipH="1">
              <a:off x="7859222" y="3628897"/>
              <a:ext cx="371793" cy="56092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9530234" y="48632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>
              <a:endCxn id="12" idx="1"/>
            </p:cNvCxnSpPr>
            <p:nvPr/>
          </p:nvCxnSpPr>
          <p:spPr>
            <a:xfrm>
              <a:off x="9138332" y="4553439"/>
              <a:ext cx="460971" cy="3789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6"/>
              <a:endCxn id="9" idx="2"/>
            </p:cNvCxnSpPr>
            <p:nvPr/>
          </p:nvCxnSpPr>
          <p:spPr>
            <a:xfrm>
              <a:off x="7928291" y="4356565"/>
              <a:ext cx="908619" cy="1608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8166311" y="224187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>
              <a:stCxn id="7" idx="5"/>
              <a:endCxn id="9" idx="1"/>
            </p:cNvCxnSpPr>
            <p:nvPr/>
          </p:nvCxnSpPr>
          <p:spPr>
            <a:xfrm>
              <a:off x="8500501" y="3595747"/>
              <a:ext cx="405478" cy="61015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5" idx="4"/>
              <a:endCxn id="7" idx="0"/>
            </p:cNvCxnSpPr>
            <p:nvPr/>
          </p:nvCxnSpPr>
          <p:spPr>
            <a:xfrm flipH="1">
              <a:off x="8333754" y="2713506"/>
              <a:ext cx="68374" cy="47967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08" y="1949615"/>
            <a:ext cx="5886450" cy="312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基环树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66" y="2025878"/>
            <a:ext cx="5790621" cy="2890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5YjNhZTMxNjc0MWRkOTUyNjkwOTU1ZTg1YWZlMWYifQ=="/>
</p:tagLst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Microsoft Office PowerPoint</Application>
  <PresentationFormat>宽屏</PresentationFormat>
  <Paragraphs>142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Arial</vt:lpstr>
      <vt:lpstr>Cambria Math</vt:lpstr>
      <vt:lpstr>Euphemia</vt:lpstr>
      <vt:lpstr>Wingdings</vt:lpstr>
      <vt:lpstr>学术文献 16x9</vt:lpstr>
      <vt:lpstr>基环树</vt:lpstr>
      <vt:lpstr>学习目标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基环树</vt:lpstr>
      <vt:lpstr>习题练习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</cp:revision>
  <dcterms:created xsi:type="dcterms:W3CDTF">2017-11-04T04:56:00Z</dcterms:created>
  <dcterms:modified xsi:type="dcterms:W3CDTF">2022-07-30T04:58:16Z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2052-11.1.0.11875</vt:lpwstr>
  </property>
  <property fmtid="{D5CDD505-2E9C-101B-9397-08002B2CF9AE}" pid="9" name="ICV">
    <vt:lpwstr>BA361B135B424737B5A8BD0105D12E0B</vt:lpwstr>
  </property>
</Properties>
</file>