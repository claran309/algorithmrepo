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24"/>
  </p:notesMasterIdLst>
  <p:handoutMasterIdLst>
    <p:handoutMasterId r:id="rId25"/>
  </p:handoutMasterIdLst>
  <p:sldIdLst>
    <p:sldId id="256" r:id="rId2"/>
    <p:sldId id="612" r:id="rId3"/>
    <p:sldId id="668" r:id="rId4"/>
    <p:sldId id="676" r:id="rId5"/>
    <p:sldId id="677" r:id="rId6"/>
    <p:sldId id="678" r:id="rId7"/>
    <p:sldId id="679" r:id="rId8"/>
    <p:sldId id="680" r:id="rId9"/>
    <p:sldId id="681" r:id="rId10"/>
    <p:sldId id="682" r:id="rId11"/>
    <p:sldId id="711" r:id="rId12"/>
    <p:sldId id="700" r:id="rId13"/>
    <p:sldId id="701" r:id="rId14"/>
    <p:sldId id="683" r:id="rId15"/>
    <p:sldId id="712" r:id="rId16"/>
    <p:sldId id="713" r:id="rId17"/>
    <p:sldId id="670" r:id="rId18"/>
    <p:sldId id="650" r:id="rId19"/>
    <p:sldId id="709" r:id="rId20"/>
    <p:sldId id="710" r:id="rId21"/>
    <p:sldId id="708" r:id="rId22"/>
    <p:sldId id="502" r:id="rId23"/>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9E9"/>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autoAdjust="0"/>
  </p:normalViewPr>
  <p:slideViewPr>
    <p:cSldViewPr snapToGrid="0" showGuides="1">
      <p:cViewPr varScale="1">
        <p:scale>
          <a:sx n="86" d="100"/>
          <a:sy n="86" d="100"/>
        </p:scale>
        <p:origin x="562"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notesViewPr>
    <p:cSldViewPr snapToGrid="0">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2023/5/3</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2023/5/3</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2023/5/3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4445" y="0"/>
            <a:ext cx="1747524" cy="22920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2023/5/3</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2023/5/3</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pPr/>
              <a:t>2023/5/3</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2023/5/3</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2023/5/3</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2023/5/3</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2023/5/3</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2023/5/3</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2023/5/3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2023/5/3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pPr/>
              <a:t>2023/5/3</a:t>
            </a:fld>
            <a:r>
              <a:rPr lang="zh-CN" altLang="en-US" dirty="0"/>
              <a:t>​</a:t>
            </a:r>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2405849" y="2103263"/>
            <a:ext cx="3986074" cy="1954514"/>
          </a:xfrm>
        </p:spPr>
        <p:txBody>
          <a:bodyPr rtlCol="0" anchor="ctr"/>
          <a:lstStyle/>
          <a:p>
            <a:pPr rtl="0"/>
            <a:r>
              <a:rPr lang="zh-CN" altLang="en-US" dirty="0">
                <a:latin typeface="微软雅黑" panose="020B0503020204020204" pitchFamily="34" charset="-122"/>
                <a:ea typeface="微软雅黑" panose="020B0503020204020204" pitchFamily="34" charset="-122"/>
              </a:rPr>
              <a:t>并查集</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508075" y="3862469"/>
            <a:ext cx="5734050" cy="955565"/>
          </a:xfrm>
        </p:spPr>
        <p:txBody>
          <a:bodyPr rtlCol="0">
            <a:normAutofit/>
          </a:bodyPr>
          <a:lstStyle/>
          <a:p>
            <a:pPr algn="ctr" rtl="0">
              <a:lnSpc>
                <a:spcPct val="150000"/>
              </a:lnSpc>
            </a:pPr>
            <a:r>
              <a:rPr lang="zh-CN" altLang="en-US" sz="2400" dirty="0"/>
              <a:t>代伟</a:t>
            </a:r>
            <a:endParaRPr lang="en-US" altLang="zh-CN" sz="24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latin typeface="微软雅黑" panose="020B0503020204020204" pitchFamily="34" charset="-122"/>
                <a:ea typeface="微软雅黑" panose="020B0503020204020204" pitchFamily="34" charset="-122"/>
              </a:rPr>
              <a:t>学习目标</a:t>
            </a:r>
            <a:endParaRPr lang="en-US" dirty="0">
              <a:latin typeface="微软雅黑" panose="020B0503020204020204" pitchFamily="34" charset="-122"/>
              <a:ea typeface="微软雅黑" panose="020B0503020204020204" pitchFamily="34" charset="-122"/>
            </a:endParaRPr>
          </a:p>
        </p:txBody>
      </p:sp>
      <p:sp>
        <p:nvSpPr>
          <p:cNvPr id="6" name="矩形 5"/>
          <p:cNvSpPr/>
          <p:nvPr/>
        </p:nvSpPr>
        <p:spPr>
          <a:xfrm>
            <a:off x="423124" y="1582702"/>
            <a:ext cx="9999260" cy="1023614"/>
          </a:xfrm>
          <a:prstGeom prst="rect">
            <a:avLst/>
          </a:prstGeom>
        </p:spPr>
        <p:txBody>
          <a:bodyPr wrap="square">
            <a:spAutoFit/>
          </a:bodyPr>
          <a:lstStyle/>
          <a:p>
            <a:pPr indent="574675">
              <a:lnSpc>
                <a:spcPts val="3200"/>
              </a:lnSpc>
              <a:spcAft>
                <a:spcPts val="1200"/>
              </a:spcAft>
              <a:buClr>
                <a:schemeClr val="accent2"/>
              </a:buClr>
              <a:buSzPct val="80000"/>
            </a:pPr>
            <a:r>
              <a:rPr lang="en-US" altLang="zh-CN" sz="2000" dirty="0"/>
              <a:t>1. </a:t>
            </a:r>
            <a:r>
              <a:rPr lang="zh-CN" altLang="en-US" sz="2000" dirty="0"/>
              <a:t>理解并查集的基本概念。</a:t>
            </a:r>
          </a:p>
          <a:p>
            <a:pPr indent="574675">
              <a:lnSpc>
                <a:spcPts val="3200"/>
              </a:lnSpc>
              <a:spcAft>
                <a:spcPts val="1200"/>
              </a:spcAft>
              <a:buClr>
                <a:schemeClr val="accent2"/>
              </a:buClr>
              <a:buSzPct val="80000"/>
            </a:pPr>
            <a:r>
              <a:rPr lang="en-US" altLang="zh-CN" sz="2000" dirty="0"/>
              <a:t>2. </a:t>
            </a:r>
            <a:r>
              <a:rPr lang="zh-CN" altLang="en-US" sz="2000" dirty="0"/>
              <a:t>掌握并查集的实现方式。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引例</a:t>
            </a:r>
          </a:p>
        </p:txBody>
      </p:sp>
      <p:sp>
        <p:nvSpPr>
          <p:cNvPr id="5" name="矩形 4"/>
          <p:cNvSpPr/>
          <p:nvPr/>
        </p:nvSpPr>
        <p:spPr>
          <a:xfrm>
            <a:off x="993928" y="1253061"/>
            <a:ext cx="10431633" cy="4567725"/>
          </a:xfrm>
          <a:prstGeom prst="rect">
            <a:avLst/>
          </a:prstGeom>
        </p:spPr>
        <p:txBody>
          <a:bodyPr wrap="square">
            <a:spAutoFit/>
          </a:bodyPr>
          <a:lstStyle/>
          <a:p>
            <a:pPr>
              <a:lnSpc>
                <a:spcPct val="150000"/>
              </a:lnSpc>
            </a:pPr>
            <a:r>
              <a:rPr lang="zh-CN" altLang="en-US" b="1" dirty="0">
                <a:solidFill>
                  <a:schemeClr val="accent2"/>
                </a:solidFill>
                <a:latin typeface="微软雅黑" panose="020B0503020204020204" pitchFamily="34" charset="-122"/>
                <a:ea typeface="微软雅黑" panose="020B0503020204020204" pitchFamily="34" charset="-122"/>
              </a:rPr>
              <a:t>亲戚</a:t>
            </a:r>
            <a:r>
              <a:rPr lang="en-US" altLang="zh-CN" b="1" dirty="0">
                <a:solidFill>
                  <a:schemeClr val="accent2"/>
                </a:solidFill>
                <a:latin typeface="微软雅黑" panose="020B0503020204020204" pitchFamily="34" charset="-122"/>
                <a:ea typeface="微软雅黑" panose="020B0503020204020204" pitchFamily="34" charset="-122"/>
              </a:rPr>
              <a:t>(relation)</a:t>
            </a:r>
          </a:p>
          <a:p>
            <a:pPr>
              <a:lnSpc>
                <a:spcPct val="150000"/>
              </a:lnSpc>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问题描述</a:t>
            </a:r>
            <a:r>
              <a:rPr lang="en-US" altLang="zh-CN" sz="1600" dirty="0">
                <a:latin typeface="微软雅黑" panose="020B0503020204020204" pitchFamily="34" charset="-122"/>
                <a:ea typeface="微软雅黑" panose="020B0503020204020204" pitchFamily="34" charset="-122"/>
              </a:rPr>
              <a:t>】</a:t>
            </a:r>
          </a:p>
          <a:p>
            <a:pPr>
              <a:lnSpc>
                <a:spcPct val="150000"/>
              </a:lnSpc>
            </a:pPr>
            <a:r>
              <a:rPr lang="zh-CN" altLang="en-US" sz="1600" dirty="0">
                <a:latin typeface="微软雅黑" panose="020B0503020204020204" pitchFamily="34" charset="-122"/>
                <a:ea typeface="微软雅黑" panose="020B0503020204020204" pitchFamily="34" charset="-122"/>
              </a:rPr>
              <a:t>或许你并不知道，你的某个朋友是你的亲戚。他可能是你的曾祖父的外公的女婿的外甥女的表姐的孙子。如果能得到完整的家谱，判断两个人是否亲戚应该是可行的，但如果两个人的最近公共祖先与他们相隔好几代，使得家谱十分庞大，那么检验亲戚关系实非人力所能及。在这种情况下，最好的帮手就是计算机。为了将问题简化，你将得到一些亲戚关系的信息，如</a:t>
            </a:r>
            <a:r>
              <a:rPr lang="en-US" altLang="zh-CN" sz="1600" dirty="0">
                <a:latin typeface="微软雅黑" panose="020B0503020204020204" pitchFamily="34" charset="-122"/>
                <a:ea typeface="微软雅黑" panose="020B0503020204020204" pitchFamily="34" charset="-122"/>
              </a:rPr>
              <a:t>Marry</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Tom</a:t>
            </a:r>
            <a:r>
              <a:rPr lang="zh-CN" altLang="en-US" sz="1600" dirty="0">
                <a:latin typeface="微软雅黑" panose="020B0503020204020204" pitchFamily="34" charset="-122"/>
                <a:ea typeface="微软雅黑" panose="020B0503020204020204" pitchFamily="34" charset="-122"/>
              </a:rPr>
              <a:t>是亲戚，</a:t>
            </a:r>
            <a:r>
              <a:rPr lang="en-US" altLang="zh-CN" sz="1600" dirty="0">
                <a:latin typeface="微软雅黑" panose="020B0503020204020204" pitchFamily="34" charset="-122"/>
                <a:ea typeface="微软雅黑" panose="020B0503020204020204" pitchFamily="34" charset="-122"/>
              </a:rPr>
              <a:t>Tom</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Ben</a:t>
            </a:r>
            <a:r>
              <a:rPr lang="zh-CN" altLang="en-US" sz="1600" dirty="0">
                <a:latin typeface="微软雅黑" panose="020B0503020204020204" pitchFamily="34" charset="-122"/>
                <a:ea typeface="微软雅黑" panose="020B0503020204020204" pitchFamily="34" charset="-122"/>
              </a:rPr>
              <a:t>是亲戚，等等。从这些信息中，你可以推出</a:t>
            </a:r>
            <a:r>
              <a:rPr lang="en-US" altLang="zh-CN" sz="1600" dirty="0">
                <a:latin typeface="微软雅黑" panose="020B0503020204020204" pitchFamily="34" charset="-122"/>
                <a:ea typeface="微软雅黑" panose="020B0503020204020204" pitchFamily="34" charset="-122"/>
              </a:rPr>
              <a:t>Marry</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Ben</a:t>
            </a:r>
            <a:r>
              <a:rPr lang="zh-CN" altLang="en-US" sz="1600" dirty="0">
                <a:latin typeface="微软雅黑" panose="020B0503020204020204" pitchFamily="34" charset="-122"/>
                <a:ea typeface="微软雅黑" panose="020B0503020204020204" pitchFamily="34" charset="-122"/>
              </a:rPr>
              <a:t>是亲戚。请写一个程序，对于我们的关于亲戚关系的提问，以最快的速度给出答案。</a:t>
            </a:r>
          </a:p>
          <a:p>
            <a:pPr>
              <a:lnSpc>
                <a:spcPct val="150000"/>
              </a:lnSpc>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输入格式</a:t>
            </a:r>
            <a:r>
              <a:rPr lang="en-US" altLang="zh-CN" sz="1600" dirty="0">
                <a:latin typeface="微软雅黑" panose="020B0503020204020204" pitchFamily="34" charset="-122"/>
                <a:ea typeface="微软雅黑" panose="020B0503020204020204" pitchFamily="34" charset="-122"/>
              </a:rPr>
              <a:t>】</a:t>
            </a:r>
          </a:p>
          <a:p>
            <a:pPr>
              <a:lnSpc>
                <a:spcPct val="150000"/>
              </a:lnSpc>
            </a:pPr>
            <a:r>
              <a:rPr lang="zh-CN" altLang="en-US" sz="1600" dirty="0">
                <a:latin typeface="微软雅黑" panose="020B0503020204020204" pitchFamily="34" charset="-122"/>
                <a:ea typeface="微软雅黑" panose="020B0503020204020204" pitchFamily="34" charset="-122"/>
              </a:rPr>
              <a:t>输入由两部分组成。</a:t>
            </a:r>
          </a:p>
          <a:p>
            <a:pPr>
              <a:lnSpc>
                <a:spcPct val="150000"/>
              </a:lnSpc>
            </a:pPr>
            <a:r>
              <a:rPr lang="zh-CN" altLang="en-US" sz="1600" dirty="0">
                <a:latin typeface="微软雅黑" panose="020B0503020204020204" pitchFamily="34" charset="-122"/>
                <a:ea typeface="微软雅黑" panose="020B0503020204020204" pitchFamily="34" charset="-122"/>
              </a:rPr>
              <a:t>第一部分以</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开始。</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为问题涉及的人的个数</a:t>
            </a:r>
            <a:r>
              <a:rPr lang="en-US" altLang="zh-CN" sz="1600" dirty="0">
                <a:latin typeface="微软雅黑" panose="020B0503020204020204" pitchFamily="34" charset="-122"/>
                <a:ea typeface="微软雅黑" panose="020B0503020204020204" pitchFamily="34" charset="-122"/>
              </a:rPr>
              <a:t>(1≤N≤20000)</a:t>
            </a:r>
            <a:r>
              <a:rPr lang="zh-CN" altLang="en-US" sz="1600" dirty="0">
                <a:latin typeface="微软雅黑" panose="020B0503020204020204" pitchFamily="34" charset="-122"/>
                <a:ea typeface="微软雅黑" panose="020B0503020204020204" pitchFamily="34" charset="-122"/>
              </a:rPr>
              <a:t>。这些人的编号为</a:t>
            </a:r>
            <a:r>
              <a:rPr lang="en-US" altLang="zh-CN" sz="1600" dirty="0">
                <a:latin typeface="微软雅黑" panose="020B0503020204020204" pitchFamily="34" charset="-122"/>
                <a:ea typeface="微软雅黑" panose="020B0503020204020204" pitchFamily="34" charset="-122"/>
              </a:rPr>
              <a:t>1,2,3,…, N</a:t>
            </a:r>
            <a:r>
              <a:rPr lang="zh-CN" altLang="en-US" sz="1600" dirty="0">
                <a:latin typeface="微软雅黑" panose="020B0503020204020204" pitchFamily="34" charset="-122"/>
                <a:ea typeface="微软雅黑" panose="020B0503020204020204" pitchFamily="34" charset="-122"/>
              </a:rPr>
              <a:t>。下面有</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(1≤M≤1 000 000)</a:t>
            </a:r>
            <a:r>
              <a:rPr lang="zh-CN" altLang="en-US" sz="1600" dirty="0">
                <a:latin typeface="微软雅黑" panose="020B0503020204020204" pitchFamily="34" charset="-122"/>
                <a:ea typeface="微软雅黑" panose="020B0503020204020204" pitchFamily="34" charset="-122"/>
              </a:rPr>
              <a:t>，每行有两个数</a:t>
            </a:r>
            <a:r>
              <a:rPr lang="en-US" altLang="zh-CN" sz="1600" dirty="0">
                <a:latin typeface="微软雅黑" panose="020B0503020204020204" pitchFamily="34" charset="-122"/>
                <a:ea typeface="微软雅黑" panose="020B0503020204020204" pitchFamily="34" charset="-122"/>
              </a:rPr>
              <a:t>ai, bi</a:t>
            </a:r>
            <a:r>
              <a:rPr lang="zh-CN" altLang="en-US" sz="1600" dirty="0">
                <a:latin typeface="微软雅黑" panose="020B0503020204020204" pitchFamily="34" charset="-122"/>
                <a:ea typeface="微软雅黑" panose="020B0503020204020204" pitchFamily="34" charset="-122"/>
              </a:rPr>
              <a:t>，表示已知</a:t>
            </a:r>
            <a:r>
              <a:rPr lang="en-US" altLang="zh-CN" sz="1600" dirty="0">
                <a:latin typeface="微软雅黑" panose="020B0503020204020204" pitchFamily="34" charset="-122"/>
                <a:ea typeface="微软雅黑" panose="020B0503020204020204" pitchFamily="34" charset="-122"/>
              </a:rPr>
              <a:t>ai</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bi</a:t>
            </a:r>
            <a:r>
              <a:rPr lang="zh-CN" altLang="en-US" sz="1600" dirty="0">
                <a:latin typeface="微软雅黑" panose="020B0503020204020204" pitchFamily="34" charset="-122"/>
                <a:ea typeface="微软雅黑" panose="020B0503020204020204" pitchFamily="34" charset="-122"/>
              </a:rPr>
              <a:t>是亲戚。</a:t>
            </a:r>
          </a:p>
          <a:p>
            <a:pPr>
              <a:lnSpc>
                <a:spcPct val="150000"/>
              </a:lnSpc>
            </a:pPr>
            <a:r>
              <a:rPr lang="zh-CN" altLang="en-US" sz="1600" dirty="0">
                <a:latin typeface="微软雅黑" panose="020B0503020204020204" pitchFamily="34" charset="-122"/>
                <a:ea typeface="微软雅黑" panose="020B0503020204020204" pitchFamily="34" charset="-122"/>
              </a:rPr>
              <a:t>第二部分以</a:t>
            </a:r>
            <a:r>
              <a:rPr lang="en-US" altLang="zh-CN" sz="1600" dirty="0">
                <a:latin typeface="微软雅黑" panose="020B0503020204020204" pitchFamily="34" charset="-122"/>
                <a:ea typeface="微软雅黑" panose="020B0503020204020204" pitchFamily="34" charset="-122"/>
              </a:rPr>
              <a:t>Q</a:t>
            </a:r>
            <a:r>
              <a:rPr lang="zh-CN" altLang="en-US" sz="1600" dirty="0">
                <a:latin typeface="微软雅黑" panose="020B0503020204020204" pitchFamily="34" charset="-122"/>
                <a:ea typeface="微软雅黑" panose="020B0503020204020204" pitchFamily="34" charset="-122"/>
              </a:rPr>
              <a:t>开始。以下</a:t>
            </a:r>
            <a:r>
              <a:rPr lang="en-US" altLang="zh-CN" sz="1600" dirty="0">
                <a:latin typeface="微软雅黑" panose="020B0503020204020204" pitchFamily="34" charset="-122"/>
                <a:ea typeface="微软雅黑" panose="020B0503020204020204" pitchFamily="34" charset="-122"/>
              </a:rPr>
              <a:t>Q</a:t>
            </a:r>
            <a:r>
              <a:rPr lang="zh-CN" altLang="en-US" sz="1600" dirty="0">
                <a:latin typeface="微软雅黑" panose="020B0503020204020204" pitchFamily="34" charset="-122"/>
                <a:ea typeface="微软雅黑" panose="020B0503020204020204" pitchFamily="34" charset="-122"/>
              </a:rPr>
              <a:t>行有</a:t>
            </a:r>
            <a:r>
              <a:rPr lang="en-US" altLang="zh-CN" sz="1600" dirty="0">
                <a:latin typeface="微软雅黑" panose="020B0503020204020204" pitchFamily="34" charset="-122"/>
                <a:ea typeface="微软雅黑" panose="020B0503020204020204" pitchFamily="34" charset="-122"/>
              </a:rPr>
              <a:t>Q</a:t>
            </a:r>
            <a:r>
              <a:rPr lang="zh-CN" altLang="en-US" sz="1600" dirty="0">
                <a:latin typeface="微软雅黑" panose="020B0503020204020204" pitchFamily="34" charset="-122"/>
                <a:ea typeface="微软雅黑" panose="020B0503020204020204" pitchFamily="34" charset="-122"/>
              </a:rPr>
              <a:t>个询问</a:t>
            </a:r>
            <a:r>
              <a:rPr lang="en-US" altLang="zh-CN" sz="1600" dirty="0">
                <a:latin typeface="微软雅黑" panose="020B0503020204020204" pitchFamily="34" charset="-122"/>
                <a:ea typeface="微软雅黑" panose="020B0503020204020204" pitchFamily="34" charset="-122"/>
              </a:rPr>
              <a:t>(1≤Q≤1 000 000)</a:t>
            </a:r>
            <a:r>
              <a:rPr lang="zh-CN" altLang="en-US" sz="1600" dirty="0">
                <a:latin typeface="微软雅黑" panose="020B0503020204020204" pitchFamily="34" charset="-122"/>
                <a:ea typeface="微软雅黑" panose="020B0503020204020204" pitchFamily="34" charset="-122"/>
              </a:rPr>
              <a:t>，每行为</a:t>
            </a:r>
            <a:r>
              <a:rPr lang="en-US" altLang="zh-CN" sz="1600" dirty="0">
                <a:latin typeface="微软雅黑" panose="020B0503020204020204" pitchFamily="34" charset="-122"/>
                <a:ea typeface="微软雅黑" panose="020B0503020204020204" pitchFamily="34" charset="-122"/>
              </a:rPr>
              <a:t>ci, di</a:t>
            </a:r>
            <a:r>
              <a:rPr lang="zh-CN" altLang="en-US" sz="1600" dirty="0">
                <a:latin typeface="微软雅黑" panose="020B0503020204020204" pitchFamily="34" charset="-122"/>
                <a:ea typeface="微软雅黑" panose="020B0503020204020204" pitchFamily="34" charset="-122"/>
              </a:rPr>
              <a:t>，表示询问</a:t>
            </a:r>
            <a:r>
              <a:rPr lang="en-US" altLang="zh-CN" sz="1600" dirty="0">
                <a:latin typeface="微软雅黑" panose="020B0503020204020204" pitchFamily="34" charset="-122"/>
                <a:ea typeface="微软雅黑" panose="020B0503020204020204" pitchFamily="34" charset="-122"/>
              </a:rPr>
              <a:t>ci</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di</a:t>
            </a:r>
            <a:r>
              <a:rPr lang="zh-CN" altLang="en-US" sz="1600" dirty="0">
                <a:latin typeface="微软雅黑" panose="020B0503020204020204" pitchFamily="34" charset="-122"/>
                <a:ea typeface="微软雅黑" panose="020B0503020204020204" pitchFamily="34" charset="-122"/>
              </a:rPr>
              <a:t>是否为亲戚。</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1025000" y="1269162"/>
            <a:ext cx="10060582" cy="5588838"/>
          </a:xfrm>
          <a:prstGeom prst="rect">
            <a:avLst/>
          </a:prstGeom>
        </p:spPr>
        <p:txBody>
          <a:bodyPr wrap="square">
            <a:spAutoFit/>
          </a:bodyPr>
          <a:lstStyle/>
          <a:p>
            <a:pPr>
              <a:lnSpc>
                <a:spcPct val="150000"/>
              </a:lnSpc>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输出格式</a:t>
            </a:r>
            <a:r>
              <a:rPr lang="en-US" altLang="zh-CN" sz="1600" dirty="0">
                <a:latin typeface="微软雅黑" panose="020B0503020204020204" pitchFamily="34" charset="-122"/>
                <a:ea typeface="微软雅黑" panose="020B0503020204020204" pitchFamily="34" charset="-122"/>
              </a:rPr>
              <a:t>】</a:t>
            </a:r>
          </a:p>
          <a:p>
            <a:pPr>
              <a:lnSpc>
                <a:spcPct val="150000"/>
              </a:lnSpc>
            </a:pPr>
            <a:r>
              <a:rPr lang="zh-CN" altLang="en-US" sz="1600" dirty="0">
                <a:latin typeface="微软雅黑" panose="020B0503020204020204" pitchFamily="34" charset="-122"/>
                <a:ea typeface="微软雅黑" panose="020B0503020204020204" pitchFamily="34" charset="-122"/>
              </a:rPr>
              <a:t>对于每个询问</a:t>
            </a:r>
            <a:r>
              <a:rPr lang="en-US" altLang="zh-CN" sz="1600" dirty="0">
                <a:latin typeface="微软雅黑" panose="020B0503020204020204" pitchFamily="34" charset="-122"/>
                <a:ea typeface="微软雅黑" panose="020B0503020204020204" pitchFamily="34" charset="-122"/>
              </a:rPr>
              <a:t>ci, di</a:t>
            </a:r>
            <a:r>
              <a:rPr lang="zh-CN" altLang="en-US" sz="1600" dirty="0">
                <a:latin typeface="微软雅黑" panose="020B0503020204020204" pitchFamily="34" charset="-122"/>
                <a:ea typeface="微软雅黑" panose="020B0503020204020204" pitchFamily="34" charset="-122"/>
              </a:rPr>
              <a:t>，输出一行：若</a:t>
            </a:r>
            <a:r>
              <a:rPr lang="en-US" altLang="zh-CN" sz="1600" dirty="0">
                <a:latin typeface="微软雅黑" panose="020B0503020204020204" pitchFamily="34" charset="-122"/>
                <a:ea typeface="微软雅黑" panose="020B0503020204020204" pitchFamily="34" charset="-122"/>
              </a:rPr>
              <a:t>ci</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di</a:t>
            </a:r>
            <a:r>
              <a:rPr lang="zh-CN" altLang="en-US" sz="1600" dirty="0">
                <a:latin typeface="微软雅黑" panose="020B0503020204020204" pitchFamily="34" charset="-122"/>
                <a:ea typeface="微软雅黑" panose="020B0503020204020204" pitchFamily="34" charset="-122"/>
              </a:rPr>
              <a:t>为亲戚，则输出“</a:t>
            </a:r>
            <a:r>
              <a:rPr lang="en-US" altLang="zh-CN" sz="1600" dirty="0">
                <a:latin typeface="微软雅黑" panose="020B0503020204020204" pitchFamily="34" charset="-122"/>
                <a:ea typeface="微软雅黑" panose="020B0503020204020204" pitchFamily="34" charset="-122"/>
              </a:rPr>
              <a:t>Yes”</a:t>
            </a:r>
            <a:r>
              <a:rPr lang="zh-CN" altLang="en-US" sz="1600" dirty="0">
                <a:latin typeface="微软雅黑" panose="020B0503020204020204" pitchFamily="34" charset="-122"/>
                <a:ea typeface="微软雅黑" panose="020B0503020204020204" pitchFamily="34" charset="-122"/>
              </a:rPr>
              <a:t>，否则输出“</a:t>
            </a:r>
            <a:r>
              <a:rPr lang="en-US" altLang="zh-CN" sz="1600" dirty="0">
                <a:latin typeface="微软雅黑" panose="020B0503020204020204" pitchFamily="34" charset="-122"/>
                <a:ea typeface="微软雅黑" panose="020B0503020204020204" pitchFamily="34" charset="-122"/>
              </a:rPr>
              <a:t>No”</a:t>
            </a:r>
            <a:r>
              <a:rPr lang="zh-CN" altLang="en-US" sz="1600" dirty="0">
                <a:latin typeface="微软雅黑" panose="020B0503020204020204" pitchFamily="34" charset="-122"/>
                <a:ea typeface="微软雅黑" panose="020B0503020204020204" pitchFamily="34" charset="-122"/>
              </a:rPr>
              <a:t>。</a:t>
            </a:r>
          </a:p>
          <a:p>
            <a:pPr>
              <a:lnSpc>
                <a:spcPct val="150000"/>
              </a:lnSpc>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输入样例</a:t>
            </a:r>
            <a:r>
              <a:rPr lang="en-US" altLang="zh-CN" sz="1600" dirty="0">
                <a:latin typeface="微软雅黑" panose="020B0503020204020204" pitchFamily="34" charset="-122"/>
                <a:ea typeface="微软雅黑" panose="020B0503020204020204" pitchFamily="34" charset="-122"/>
              </a:rPr>
              <a:t>】</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10 7</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2 4</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5 7</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1 3</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8 9</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1 2</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5 6</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2 3</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3</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3 4</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7 10</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8 9</a:t>
            </a:r>
          </a:p>
        </p:txBody>
      </p:sp>
      <p:sp>
        <p:nvSpPr>
          <p:cNvPr id="3" name="矩形 2">
            <a:extLst>
              <a:ext uri="{FF2B5EF4-FFF2-40B4-BE49-F238E27FC236}">
                <a16:creationId xmlns:a16="http://schemas.microsoft.com/office/drawing/2014/main" id="{A501FB76-BFE1-406B-893F-A24CC63F7D7D}"/>
              </a:ext>
            </a:extLst>
          </p:cNvPr>
          <p:cNvSpPr/>
          <p:nvPr/>
        </p:nvSpPr>
        <p:spPr>
          <a:xfrm>
            <a:off x="3997911" y="1997852"/>
            <a:ext cx="6096000" cy="1526187"/>
          </a:xfrm>
          <a:prstGeom prst="rect">
            <a:avLst/>
          </a:prstGeom>
        </p:spPr>
        <p:txBody>
          <a:bodyPr>
            <a:spAutoFit/>
          </a:bodyPr>
          <a:lstStyle/>
          <a:p>
            <a:pPr>
              <a:lnSpc>
                <a:spcPct val="150000"/>
              </a:lnSpc>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输出样例</a:t>
            </a:r>
            <a:r>
              <a:rPr lang="en-US" altLang="zh-CN" sz="1600" dirty="0">
                <a:latin typeface="微软雅黑" panose="020B0503020204020204" pitchFamily="34" charset="-122"/>
                <a:ea typeface="微软雅黑" panose="020B0503020204020204" pitchFamily="34" charset="-122"/>
              </a:rPr>
              <a:t>】</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Yes</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No</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Yes</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60600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962857" y="1292256"/>
            <a:ext cx="9980682" cy="1495409"/>
          </a:xfrm>
          <a:prstGeom prst="rect">
            <a:avLst/>
          </a:prstGeom>
        </p:spPr>
        <p:txBody>
          <a:bodyPr wrap="square">
            <a:spAutoFit/>
          </a:bodyPr>
          <a:lstStyle/>
          <a:p>
            <a:pPr marL="285750" lvl="0" indent="-285750">
              <a:lnSpc>
                <a:spcPct val="200000"/>
              </a:lnSpc>
              <a:buFont typeface="Wingdings" panose="05000000000000000000" pitchFamily="2" charset="2"/>
              <a:buChar char="n"/>
            </a:pPr>
            <a:r>
              <a:rPr lang="zh-CN" altLang="en-US" sz="1600" dirty="0">
                <a:solidFill>
                  <a:srgbClr val="514843"/>
                </a:solidFill>
                <a:latin typeface="微软雅黑" panose="020B0503020204020204" pitchFamily="34" charset="-122"/>
                <a:ea typeface="微软雅黑" panose="020B0503020204020204" pitchFamily="34" charset="-122"/>
              </a:rPr>
              <a:t>用集合的思路，对于每个人建立一个集合，开始的时候集合元素是这个人本身，表示开始时不知道任何人是他的亲戚。以后每次给出一个亲戚关系时，就将两个集合合并。这样实时地得到了在当前状态下的集合关系。如果有提问，即在当前得到的结果中看两元素是否属于同一集合。对于样例数据的解释如下图</a:t>
            </a:r>
            <a:r>
              <a:rPr lang="en-US" altLang="zh-CN" sz="1600" dirty="0">
                <a:solidFill>
                  <a:srgbClr val="514843"/>
                </a:solidFill>
                <a:latin typeface="微软雅黑" panose="020B0503020204020204" pitchFamily="34" charset="-122"/>
                <a:ea typeface="微软雅黑" panose="020B0503020204020204" pitchFamily="34" charset="-122"/>
              </a:rPr>
              <a:t>1</a:t>
            </a:r>
          </a:p>
        </p:txBody>
      </p:sp>
      <p:sp>
        <p:nvSpPr>
          <p:cNvPr id="4" name="矩形 3">
            <a:extLst>
              <a:ext uri="{FF2B5EF4-FFF2-40B4-BE49-F238E27FC236}">
                <a16:creationId xmlns:a16="http://schemas.microsoft.com/office/drawing/2014/main" id="{377B7525-45F4-432D-A5C1-087D0492432B}"/>
              </a:ext>
            </a:extLst>
          </p:cNvPr>
          <p:cNvSpPr/>
          <p:nvPr/>
        </p:nvSpPr>
        <p:spPr>
          <a:xfrm>
            <a:off x="2654423" y="2921895"/>
            <a:ext cx="5545584" cy="3741730"/>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                   </a:t>
            </a:r>
            <a:r>
              <a:rPr lang="zh-CN" altLang="en-US" sz="1600" b="1" dirty="0">
                <a:solidFill>
                  <a:schemeClr val="accent2"/>
                </a:solidFill>
                <a:latin typeface="微软雅黑" panose="020B0503020204020204" pitchFamily="34" charset="-122"/>
                <a:ea typeface="微软雅黑" panose="020B0503020204020204" pitchFamily="34" charset="-122"/>
              </a:rPr>
              <a:t>输入关系               分离集合</a:t>
            </a:r>
          </a:p>
          <a:p>
            <a:pPr algn="ctr">
              <a:lnSpc>
                <a:spcPct val="150000"/>
              </a:lnSpc>
            </a:pPr>
            <a:r>
              <a:rPr lang="zh-CN" altLang="en-US" sz="1600" dirty="0">
                <a:latin typeface="微软雅黑" panose="020B0503020204020204" pitchFamily="34" charset="-122"/>
                <a:ea typeface="微软雅黑" panose="020B0503020204020204" pitchFamily="34" charset="-122"/>
              </a:rPr>
              <a:t>     初始状态  </a:t>
            </a:r>
            <a:r>
              <a:rPr lang="en-US" altLang="zh-CN" sz="1600" dirty="0">
                <a:latin typeface="微软雅黑" panose="020B0503020204020204" pitchFamily="34" charset="-122"/>
                <a:ea typeface="微软雅黑" panose="020B0503020204020204" pitchFamily="34" charset="-122"/>
              </a:rPr>
              <a:t>{1}{2}{3}{4}{5}{6}{7}{8}{9}{10}</a:t>
            </a:r>
          </a:p>
          <a:p>
            <a:pPr algn="ctr">
              <a:lnSpc>
                <a:spcPct val="150000"/>
              </a:lnSpc>
            </a:pPr>
            <a:r>
              <a:rPr lang="en-US" altLang="zh-CN" sz="1600" dirty="0">
                <a:latin typeface="微软雅黑" panose="020B0503020204020204" pitchFamily="34" charset="-122"/>
                <a:ea typeface="微软雅黑" panose="020B0503020204020204" pitchFamily="34" charset="-122"/>
              </a:rPr>
              <a:t>      (2,4)       {1}{2,4}{3}{5}{6}{7}{8}{9}{10}</a:t>
            </a:r>
          </a:p>
          <a:p>
            <a:pPr algn="ctr">
              <a:lnSpc>
                <a:spcPct val="150000"/>
              </a:lnSpc>
            </a:pPr>
            <a:r>
              <a:rPr lang="en-US" altLang="zh-CN" sz="1600" dirty="0">
                <a:latin typeface="微软雅黑" panose="020B0503020204020204" pitchFamily="34" charset="-122"/>
                <a:ea typeface="微软雅黑" panose="020B0503020204020204" pitchFamily="34" charset="-122"/>
              </a:rPr>
              <a:t>     (5,7)       {1}{2,4}{3}{5,7}{6}{8}{9}{10}</a:t>
            </a:r>
          </a:p>
          <a:p>
            <a:pPr algn="ctr">
              <a:lnSpc>
                <a:spcPct val="150000"/>
              </a:lnSpc>
            </a:pPr>
            <a:r>
              <a:rPr lang="en-US" altLang="zh-CN" sz="1600" dirty="0">
                <a:latin typeface="微软雅黑" panose="020B0503020204020204" pitchFamily="34" charset="-122"/>
                <a:ea typeface="微软雅黑" panose="020B0503020204020204" pitchFamily="34" charset="-122"/>
              </a:rPr>
              <a:t>    (1,3)	   {1,3}{2,4}{5,7}{6}{8}{9}{10}</a:t>
            </a:r>
          </a:p>
          <a:p>
            <a:pPr algn="ctr">
              <a:lnSpc>
                <a:spcPct val="150000"/>
              </a:lnSpc>
            </a:pPr>
            <a:r>
              <a:rPr lang="en-US" altLang="zh-CN" sz="1600" dirty="0">
                <a:latin typeface="微软雅黑" panose="020B0503020204020204" pitchFamily="34" charset="-122"/>
                <a:ea typeface="微软雅黑" panose="020B0503020204020204" pitchFamily="34" charset="-122"/>
              </a:rPr>
              <a:t>  (8,9)       {1,3}{2,4}{5,7}{6}{8,9}{10}</a:t>
            </a:r>
          </a:p>
          <a:p>
            <a:pPr algn="ctr">
              <a:lnSpc>
                <a:spcPct val="150000"/>
              </a:lnSpc>
            </a:pPr>
            <a:r>
              <a:rPr lang="en-US" altLang="zh-CN" sz="1600" dirty="0">
                <a:latin typeface="微软雅黑" panose="020B0503020204020204" pitchFamily="34" charset="-122"/>
                <a:ea typeface="微软雅黑" panose="020B0503020204020204" pitchFamily="34" charset="-122"/>
              </a:rPr>
              <a:t> (1,2)       {1,2,3,4}{5,7}{6}{8,9}{10}</a:t>
            </a:r>
          </a:p>
          <a:p>
            <a:pPr algn="ctr">
              <a:lnSpc>
                <a:spcPct val="150000"/>
              </a:lnSpc>
            </a:pPr>
            <a:r>
              <a:rPr lang="en-US" altLang="zh-CN" sz="1600" dirty="0">
                <a:latin typeface="微软雅黑" panose="020B0503020204020204" pitchFamily="34" charset="-122"/>
                <a:ea typeface="微软雅黑" panose="020B0503020204020204" pitchFamily="34" charset="-122"/>
              </a:rPr>
              <a:t>(5,6)       {1,2,3,4}{5,6,7}{8,9}{10}</a:t>
            </a:r>
          </a:p>
          <a:p>
            <a:pPr algn="ctr">
              <a:lnSpc>
                <a:spcPct val="150000"/>
              </a:lnSpc>
            </a:pPr>
            <a:r>
              <a:rPr lang="en-US" altLang="zh-CN" sz="1600" dirty="0">
                <a:latin typeface="微软雅黑" panose="020B0503020204020204" pitchFamily="34" charset="-122"/>
                <a:ea typeface="微软雅黑" panose="020B0503020204020204" pitchFamily="34" charset="-122"/>
              </a:rPr>
              <a:t>(2,3)       {1,2,3,4}{5,6,7}{8,9}{10}</a:t>
            </a:r>
          </a:p>
          <a:p>
            <a:pPr algn="ctr">
              <a:lnSpc>
                <a:spcPct val="150000"/>
              </a:lnSpc>
            </a:pPr>
            <a:r>
              <a:rPr lang="zh-CN" altLang="en-US" sz="1600" dirty="0">
                <a:latin typeface="微软雅黑" panose="020B0503020204020204" pitchFamily="34" charset="-122"/>
                <a:ea typeface="微软雅黑" panose="020B0503020204020204" pitchFamily="34" charset="-122"/>
              </a:rPr>
              <a:t>           图</a:t>
            </a:r>
            <a:r>
              <a:rPr lang="en-US" altLang="zh-CN" sz="1600" dirty="0">
                <a:latin typeface="微软雅黑" panose="020B0503020204020204" pitchFamily="34" charset="-122"/>
                <a:ea typeface="微软雅黑" panose="020B0503020204020204" pitchFamily="34" charset="-122"/>
              </a:rPr>
              <a:t>1</a:t>
            </a:r>
          </a:p>
        </p:txBody>
      </p:sp>
    </p:spTree>
    <p:extLst>
      <p:ext uri="{BB962C8B-B14F-4D97-AF65-F5344CB8AC3E}">
        <p14:creationId xmlns:p14="http://schemas.microsoft.com/office/powerpoint/2010/main" val="1092984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980612" y="1420559"/>
            <a:ext cx="10104969" cy="3834511"/>
          </a:xfrm>
          <a:prstGeom prst="rect">
            <a:avLst/>
          </a:prstGeom>
        </p:spPr>
        <p:txBody>
          <a:bodyPr wrap="square">
            <a:spAutoFit/>
          </a:bodyPr>
          <a:lstStyle/>
          <a:p>
            <a:pPr lvl="0">
              <a:lnSpc>
                <a:spcPct val="200000"/>
              </a:lnSpc>
            </a:pPr>
            <a:r>
              <a:rPr lang="zh-CN" altLang="en-US" dirty="0">
                <a:solidFill>
                  <a:srgbClr val="514843"/>
                </a:solidFill>
                <a:latin typeface="微软雅黑" panose="020B0503020204020204" pitchFamily="34" charset="-122"/>
                <a:ea typeface="微软雅黑" panose="020B0503020204020204" pitchFamily="34" charset="-122"/>
              </a:rPr>
              <a:t>        </a:t>
            </a:r>
            <a:r>
              <a:rPr lang="zh-CN" altLang="en-US" b="1" dirty="0">
                <a:solidFill>
                  <a:schemeClr val="accent2"/>
                </a:solidFill>
                <a:latin typeface="微软雅黑" panose="020B0503020204020204" pitchFamily="34" charset="-122"/>
                <a:ea typeface="微软雅黑" panose="020B0503020204020204" pitchFamily="34" charset="-122"/>
              </a:rPr>
              <a:t>并查集</a:t>
            </a:r>
            <a:r>
              <a:rPr lang="zh-CN" altLang="en-US" dirty="0">
                <a:solidFill>
                  <a:srgbClr val="514843"/>
                </a:solidFill>
                <a:latin typeface="微软雅黑" panose="020B0503020204020204" pitchFamily="34" charset="-122"/>
                <a:ea typeface="微软雅黑" panose="020B0503020204020204" pitchFamily="34" charset="-122"/>
              </a:rPr>
              <a:t>（</a:t>
            </a:r>
            <a:r>
              <a:rPr lang="en-US" altLang="zh-CN" dirty="0">
                <a:solidFill>
                  <a:srgbClr val="514843"/>
                </a:solidFill>
                <a:latin typeface="微软雅黑" panose="020B0503020204020204" pitchFamily="34" charset="-122"/>
                <a:ea typeface="微软雅黑" panose="020B0503020204020204" pitchFamily="34" charset="-122"/>
              </a:rPr>
              <a:t>union-find set</a:t>
            </a:r>
            <a:r>
              <a:rPr lang="zh-CN" altLang="en-US" dirty="0">
                <a:solidFill>
                  <a:srgbClr val="514843"/>
                </a:solidFill>
                <a:latin typeface="微软雅黑" panose="020B0503020204020204" pitchFamily="34" charset="-122"/>
                <a:ea typeface="微软雅黑" panose="020B0503020204020204" pitchFamily="34" charset="-122"/>
              </a:rPr>
              <a:t>）是一种用于分离集合操作的抽象数据类型。它所处理的是“集合”之间的关系，即</a:t>
            </a:r>
            <a:r>
              <a:rPr lang="zh-CN" altLang="en-US" b="1" dirty="0">
                <a:solidFill>
                  <a:schemeClr val="accent2"/>
                </a:solidFill>
                <a:latin typeface="微软雅黑" panose="020B0503020204020204" pitchFamily="34" charset="-122"/>
                <a:ea typeface="微软雅黑" panose="020B0503020204020204" pitchFamily="34" charset="-122"/>
              </a:rPr>
              <a:t>动态地维护和处理</a:t>
            </a:r>
            <a:r>
              <a:rPr lang="zh-CN" altLang="en-US" dirty="0">
                <a:solidFill>
                  <a:srgbClr val="514843"/>
                </a:solidFill>
                <a:latin typeface="微软雅黑" panose="020B0503020204020204" pitchFamily="34" charset="-122"/>
                <a:ea typeface="微软雅黑" panose="020B0503020204020204" pitchFamily="34" charset="-122"/>
              </a:rPr>
              <a:t>集合元素之间复杂的关系，当给出两个元素的一个无序对</a:t>
            </a:r>
            <a:r>
              <a:rPr lang="en-US" altLang="zh-CN" dirty="0">
                <a:solidFill>
                  <a:srgbClr val="514843"/>
                </a:solidFill>
                <a:latin typeface="微软雅黑" panose="020B0503020204020204" pitchFamily="34" charset="-122"/>
                <a:ea typeface="微软雅黑" panose="020B0503020204020204" pitchFamily="34" charset="-122"/>
              </a:rPr>
              <a:t>(</a:t>
            </a:r>
            <a:r>
              <a:rPr lang="en-US" altLang="zh-CN" dirty="0" err="1">
                <a:solidFill>
                  <a:srgbClr val="514843"/>
                </a:solidFill>
                <a:latin typeface="微软雅黑" panose="020B0503020204020204" pitchFamily="34" charset="-122"/>
                <a:ea typeface="微软雅黑" panose="020B0503020204020204" pitchFamily="34" charset="-122"/>
              </a:rPr>
              <a:t>a,b</a:t>
            </a:r>
            <a:r>
              <a:rPr lang="en-US" altLang="zh-CN" dirty="0">
                <a:solidFill>
                  <a:srgbClr val="514843"/>
                </a:solidFill>
                <a:latin typeface="微软雅黑" panose="020B0503020204020204" pitchFamily="34" charset="-122"/>
                <a:ea typeface="微软雅黑" panose="020B0503020204020204" pitchFamily="34" charset="-122"/>
              </a:rPr>
              <a:t>)</a:t>
            </a:r>
            <a:r>
              <a:rPr lang="zh-CN" altLang="en-US" dirty="0">
                <a:solidFill>
                  <a:srgbClr val="514843"/>
                </a:solidFill>
                <a:latin typeface="微软雅黑" panose="020B0503020204020204" pitchFamily="34" charset="-122"/>
                <a:ea typeface="微软雅黑" panose="020B0503020204020204" pitchFamily="34" charset="-122"/>
              </a:rPr>
              <a:t>时，需要快速“合并”</a:t>
            </a:r>
            <a:r>
              <a:rPr lang="en-US" altLang="zh-CN" dirty="0">
                <a:solidFill>
                  <a:srgbClr val="514843"/>
                </a:solidFill>
                <a:latin typeface="微软雅黑" panose="020B0503020204020204" pitchFamily="34" charset="-122"/>
                <a:ea typeface="微软雅黑" panose="020B0503020204020204" pitchFamily="34" charset="-122"/>
              </a:rPr>
              <a:t>a</a:t>
            </a:r>
            <a:r>
              <a:rPr lang="zh-CN" altLang="en-US" dirty="0">
                <a:solidFill>
                  <a:srgbClr val="514843"/>
                </a:solidFill>
                <a:latin typeface="微软雅黑" panose="020B0503020204020204" pitchFamily="34" charset="-122"/>
                <a:ea typeface="微软雅黑" panose="020B0503020204020204" pitchFamily="34" charset="-122"/>
              </a:rPr>
              <a:t>和</a:t>
            </a:r>
            <a:r>
              <a:rPr lang="en-US" altLang="zh-CN" dirty="0">
                <a:solidFill>
                  <a:srgbClr val="514843"/>
                </a:solidFill>
                <a:latin typeface="微软雅黑" panose="020B0503020204020204" pitchFamily="34" charset="-122"/>
                <a:ea typeface="微软雅黑" panose="020B0503020204020204" pitchFamily="34" charset="-122"/>
              </a:rPr>
              <a:t>b</a:t>
            </a:r>
            <a:r>
              <a:rPr lang="zh-CN" altLang="en-US" dirty="0">
                <a:solidFill>
                  <a:srgbClr val="514843"/>
                </a:solidFill>
                <a:latin typeface="微软雅黑" panose="020B0503020204020204" pitchFamily="34" charset="-122"/>
                <a:ea typeface="微软雅黑" panose="020B0503020204020204" pitchFamily="34" charset="-122"/>
              </a:rPr>
              <a:t>分别所在的集合，这其间需要反复“查找”某元素所在的集合。“并”、“查”和“集”三字由此而来。在这种数据类型中，</a:t>
            </a:r>
            <a:r>
              <a:rPr lang="en-US" altLang="zh-CN" dirty="0">
                <a:solidFill>
                  <a:srgbClr val="514843"/>
                </a:solidFill>
                <a:latin typeface="微软雅黑" panose="020B0503020204020204" pitchFamily="34" charset="-122"/>
                <a:ea typeface="微软雅黑" panose="020B0503020204020204" pitchFamily="34" charset="-122"/>
              </a:rPr>
              <a:t>n</a:t>
            </a:r>
            <a:r>
              <a:rPr lang="zh-CN" altLang="en-US" dirty="0">
                <a:solidFill>
                  <a:srgbClr val="514843"/>
                </a:solidFill>
                <a:latin typeface="微软雅黑" panose="020B0503020204020204" pitchFamily="34" charset="-122"/>
                <a:ea typeface="微软雅黑" panose="020B0503020204020204" pitchFamily="34" charset="-122"/>
              </a:rPr>
              <a:t>个不同的元素被分为若干组。每组是一个集合，这种集合叫做分离集合（</a:t>
            </a:r>
            <a:r>
              <a:rPr lang="en-US" altLang="zh-CN" dirty="0">
                <a:solidFill>
                  <a:srgbClr val="514843"/>
                </a:solidFill>
                <a:latin typeface="微软雅黑" panose="020B0503020204020204" pitchFamily="34" charset="-122"/>
                <a:ea typeface="微软雅黑" panose="020B0503020204020204" pitchFamily="34" charset="-122"/>
              </a:rPr>
              <a:t>disjoint set</a:t>
            </a:r>
            <a:r>
              <a:rPr lang="zh-CN" altLang="en-US" dirty="0">
                <a:solidFill>
                  <a:srgbClr val="514843"/>
                </a:solidFill>
                <a:latin typeface="微软雅黑" panose="020B0503020204020204" pitchFamily="34" charset="-122"/>
                <a:ea typeface="微软雅黑" panose="020B0503020204020204" pitchFamily="34" charset="-122"/>
              </a:rPr>
              <a:t>）。并查集支持查找一个元素所属的集合以及两个元素各自所属的集合的合并。</a:t>
            </a:r>
            <a:endParaRPr lang="zh-CN" altLang="en-US" sz="1600" dirty="0">
              <a:solidFill>
                <a:srgbClr val="514843"/>
              </a:solidFill>
              <a:latin typeface="微软雅黑" panose="020B0503020204020204" pitchFamily="34" charset="-122"/>
              <a:ea typeface="微软雅黑" panose="020B0503020204020204" pitchFamily="34" charset="-122"/>
            </a:endParaRP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230856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1104900" y="1331782"/>
            <a:ext cx="9980681" cy="4450064"/>
          </a:xfrm>
          <a:prstGeom prst="rect">
            <a:avLst/>
          </a:prstGeom>
        </p:spPr>
        <p:txBody>
          <a:bodyPr wrap="square">
            <a:spAutoFit/>
          </a:bodyPr>
          <a:lstStyle/>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并查集支持的操作</a:t>
            </a: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并查集的数据结构记录了一组分离的动态集合</a:t>
            </a:r>
            <a:r>
              <a:rPr lang="en-US" altLang="zh-CN" sz="1600" dirty="0">
                <a:solidFill>
                  <a:srgbClr val="514843"/>
                </a:solidFill>
                <a:latin typeface="微软雅黑" panose="020B0503020204020204" pitchFamily="34" charset="-122"/>
                <a:ea typeface="微软雅黑" panose="020B0503020204020204" pitchFamily="34" charset="-122"/>
              </a:rPr>
              <a:t>S={S1,S2,…,</a:t>
            </a:r>
            <a:r>
              <a:rPr lang="en-US" altLang="zh-CN" sz="1600" dirty="0" err="1">
                <a:solidFill>
                  <a:srgbClr val="514843"/>
                </a:solidFill>
                <a:latin typeface="微软雅黑" panose="020B0503020204020204" pitchFamily="34" charset="-122"/>
                <a:ea typeface="微软雅黑" panose="020B0503020204020204" pitchFamily="34" charset="-122"/>
              </a:rPr>
              <a:t>Sk</a:t>
            </a:r>
            <a:r>
              <a:rPr lang="en-US" altLang="zh-CN" sz="1600" dirty="0">
                <a:solidFill>
                  <a:srgbClr val="514843"/>
                </a:solidFill>
                <a:latin typeface="微软雅黑" panose="020B0503020204020204" pitchFamily="34" charset="-122"/>
                <a:ea typeface="微软雅黑" panose="020B0503020204020204" pitchFamily="34" charset="-122"/>
              </a:rPr>
              <a:t>}</a:t>
            </a:r>
            <a:r>
              <a:rPr lang="zh-CN" altLang="en-US" sz="1600" dirty="0">
                <a:solidFill>
                  <a:srgbClr val="514843"/>
                </a:solidFill>
                <a:latin typeface="微软雅黑" panose="020B0503020204020204" pitchFamily="34" charset="-122"/>
                <a:ea typeface="微软雅黑" panose="020B0503020204020204" pitchFamily="34" charset="-122"/>
              </a:rPr>
              <a:t>。</a:t>
            </a: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动态集合中的每一元素是由一个对象来表示的，设</a:t>
            </a:r>
            <a:r>
              <a:rPr lang="en-US" altLang="zh-CN" sz="1600" dirty="0">
                <a:solidFill>
                  <a:srgbClr val="514843"/>
                </a:solidFill>
                <a:latin typeface="微软雅黑" panose="020B0503020204020204" pitchFamily="34" charset="-122"/>
                <a:ea typeface="微软雅黑" panose="020B0503020204020204" pitchFamily="34" charset="-122"/>
              </a:rPr>
              <a:t>x</a:t>
            </a:r>
            <a:r>
              <a:rPr lang="zh-CN" altLang="en-US" sz="1600" dirty="0">
                <a:solidFill>
                  <a:srgbClr val="514843"/>
                </a:solidFill>
                <a:latin typeface="微软雅黑" panose="020B0503020204020204" pitchFamily="34" charset="-122"/>
                <a:ea typeface="微软雅黑" panose="020B0503020204020204" pitchFamily="34" charset="-122"/>
              </a:rPr>
              <a:t>表示一个对象，并查集的实现需要支持如下操作：</a:t>
            </a: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a:t>
            </a:r>
            <a:r>
              <a:rPr lang="en-US" altLang="zh-CN" sz="1600" b="1" dirty="0">
                <a:solidFill>
                  <a:schemeClr val="accent2"/>
                </a:solidFill>
                <a:latin typeface="微软雅黑" panose="020B0503020204020204" pitchFamily="34" charset="-122"/>
                <a:ea typeface="微软雅黑" panose="020B0503020204020204" pitchFamily="34" charset="-122"/>
              </a:rPr>
              <a:t>MAKE(x)</a:t>
            </a:r>
            <a:r>
              <a:rPr lang="zh-CN" altLang="en-US" sz="1600" dirty="0">
                <a:solidFill>
                  <a:srgbClr val="514843"/>
                </a:solidFill>
                <a:latin typeface="微软雅黑" panose="020B0503020204020204" pitchFamily="34" charset="-122"/>
                <a:ea typeface="微软雅黑" panose="020B0503020204020204" pitchFamily="34" charset="-122"/>
              </a:rPr>
              <a:t>：建立一个新的集合，其仅有的成员（同时就是代表）是</a:t>
            </a:r>
            <a:r>
              <a:rPr lang="en-US" altLang="zh-CN" sz="1600" dirty="0">
                <a:solidFill>
                  <a:srgbClr val="514843"/>
                </a:solidFill>
                <a:latin typeface="微软雅黑" panose="020B0503020204020204" pitchFamily="34" charset="-122"/>
                <a:ea typeface="微软雅黑" panose="020B0503020204020204" pitchFamily="34" charset="-122"/>
              </a:rPr>
              <a:t>x</a:t>
            </a:r>
            <a:r>
              <a:rPr lang="zh-CN" altLang="en-US" sz="1600" dirty="0">
                <a:solidFill>
                  <a:srgbClr val="514843"/>
                </a:solidFill>
                <a:latin typeface="微软雅黑" panose="020B0503020204020204" pitchFamily="34" charset="-122"/>
                <a:ea typeface="微软雅黑" panose="020B0503020204020204" pitchFamily="34" charset="-122"/>
              </a:rPr>
              <a:t>。由于各集合是分离的，要求</a:t>
            </a:r>
            <a:r>
              <a:rPr lang="en-US" altLang="zh-CN" sz="1600" dirty="0">
                <a:solidFill>
                  <a:srgbClr val="514843"/>
                </a:solidFill>
                <a:latin typeface="微软雅黑" panose="020B0503020204020204" pitchFamily="34" charset="-122"/>
                <a:ea typeface="微软雅黑" panose="020B0503020204020204" pitchFamily="34" charset="-122"/>
              </a:rPr>
              <a:t>x</a:t>
            </a:r>
            <a:r>
              <a:rPr lang="zh-CN" altLang="en-US" sz="1600" dirty="0">
                <a:solidFill>
                  <a:srgbClr val="514843"/>
                </a:solidFill>
                <a:latin typeface="微软雅黑" panose="020B0503020204020204" pitchFamily="34" charset="-122"/>
                <a:ea typeface="微软雅黑" panose="020B0503020204020204" pitchFamily="34" charset="-122"/>
              </a:rPr>
              <a:t>没有在其它集合中出现过。</a:t>
            </a: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a:t>
            </a:r>
            <a:r>
              <a:rPr lang="en-US" altLang="zh-CN" sz="1600" b="1" dirty="0">
                <a:solidFill>
                  <a:schemeClr val="accent2"/>
                </a:solidFill>
                <a:latin typeface="微软雅黑" panose="020B0503020204020204" pitchFamily="34" charset="-122"/>
                <a:ea typeface="微软雅黑" panose="020B0503020204020204" pitchFamily="34" charset="-122"/>
              </a:rPr>
              <a:t>UNIONN(</a:t>
            </a:r>
            <a:r>
              <a:rPr lang="en-US" altLang="zh-CN" sz="1600" b="1" dirty="0" err="1">
                <a:solidFill>
                  <a:schemeClr val="accent2"/>
                </a:solidFill>
                <a:latin typeface="微软雅黑" panose="020B0503020204020204" pitchFamily="34" charset="-122"/>
                <a:ea typeface="微软雅黑" panose="020B0503020204020204" pitchFamily="34" charset="-122"/>
              </a:rPr>
              <a:t>x,y</a:t>
            </a:r>
            <a:r>
              <a:rPr lang="en-US" altLang="zh-CN" sz="1600" b="1" dirty="0">
                <a:solidFill>
                  <a:schemeClr val="accent2"/>
                </a:solidFill>
                <a:latin typeface="微软雅黑" panose="020B0503020204020204" pitchFamily="34" charset="-122"/>
                <a:ea typeface="微软雅黑" panose="020B0503020204020204" pitchFamily="34" charset="-122"/>
              </a:rPr>
              <a:t>)</a:t>
            </a:r>
            <a:r>
              <a:rPr lang="zh-CN" altLang="en-US" sz="1600" dirty="0">
                <a:solidFill>
                  <a:srgbClr val="514843"/>
                </a:solidFill>
                <a:latin typeface="微软雅黑" panose="020B0503020204020204" pitchFamily="34" charset="-122"/>
                <a:ea typeface="微软雅黑" panose="020B0503020204020204" pitchFamily="34" charset="-122"/>
              </a:rPr>
              <a:t>：将包含</a:t>
            </a:r>
            <a:r>
              <a:rPr lang="en-US" altLang="zh-CN" sz="1600" dirty="0">
                <a:solidFill>
                  <a:srgbClr val="514843"/>
                </a:solidFill>
                <a:latin typeface="微软雅黑" panose="020B0503020204020204" pitchFamily="34" charset="-122"/>
                <a:ea typeface="微软雅黑" panose="020B0503020204020204" pitchFamily="34" charset="-122"/>
              </a:rPr>
              <a:t>x</a:t>
            </a:r>
            <a:r>
              <a:rPr lang="zh-CN" altLang="en-US" sz="1600" dirty="0">
                <a:solidFill>
                  <a:srgbClr val="514843"/>
                </a:solidFill>
                <a:latin typeface="微软雅黑" panose="020B0503020204020204" pitchFamily="34" charset="-122"/>
                <a:ea typeface="微软雅黑" panose="020B0503020204020204" pitchFamily="34" charset="-122"/>
              </a:rPr>
              <a:t>和</a:t>
            </a:r>
            <a:r>
              <a:rPr lang="en-US" altLang="zh-CN" sz="1600" dirty="0">
                <a:solidFill>
                  <a:srgbClr val="514843"/>
                </a:solidFill>
                <a:latin typeface="微软雅黑" panose="020B0503020204020204" pitchFamily="34" charset="-122"/>
                <a:ea typeface="微软雅黑" panose="020B0503020204020204" pitchFamily="34" charset="-122"/>
              </a:rPr>
              <a:t>y</a:t>
            </a:r>
            <a:r>
              <a:rPr lang="zh-CN" altLang="en-US" sz="1600" dirty="0">
                <a:solidFill>
                  <a:srgbClr val="514843"/>
                </a:solidFill>
                <a:latin typeface="微软雅黑" panose="020B0503020204020204" pitchFamily="34" charset="-122"/>
                <a:ea typeface="微软雅黑" panose="020B0503020204020204" pitchFamily="34" charset="-122"/>
              </a:rPr>
              <a:t>的动态集合（例如</a:t>
            </a:r>
            <a:r>
              <a:rPr lang="en-US" altLang="zh-CN" sz="1600" dirty="0" err="1">
                <a:solidFill>
                  <a:srgbClr val="514843"/>
                </a:solidFill>
                <a:latin typeface="微软雅黑" panose="020B0503020204020204" pitchFamily="34" charset="-122"/>
                <a:ea typeface="微软雅黑" panose="020B0503020204020204" pitchFamily="34" charset="-122"/>
              </a:rPr>
              <a:t>Sx</a:t>
            </a:r>
            <a:r>
              <a:rPr lang="zh-CN" altLang="en-US" sz="1600" dirty="0">
                <a:solidFill>
                  <a:srgbClr val="514843"/>
                </a:solidFill>
                <a:latin typeface="微软雅黑" panose="020B0503020204020204" pitchFamily="34" charset="-122"/>
                <a:ea typeface="微软雅黑" panose="020B0503020204020204" pitchFamily="34" charset="-122"/>
              </a:rPr>
              <a:t>和</a:t>
            </a:r>
            <a:r>
              <a:rPr lang="en-US" altLang="zh-CN" sz="1600" dirty="0">
                <a:solidFill>
                  <a:srgbClr val="514843"/>
                </a:solidFill>
                <a:latin typeface="微软雅黑" panose="020B0503020204020204" pitchFamily="34" charset="-122"/>
                <a:ea typeface="微软雅黑" panose="020B0503020204020204" pitchFamily="34" charset="-122"/>
              </a:rPr>
              <a:t>Sy</a:t>
            </a:r>
            <a:r>
              <a:rPr lang="zh-CN" altLang="en-US" sz="1600" dirty="0">
                <a:solidFill>
                  <a:srgbClr val="514843"/>
                </a:solidFill>
                <a:latin typeface="微软雅黑" panose="020B0503020204020204" pitchFamily="34" charset="-122"/>
                <a:ea typeface="微软雅黑" panose="020B0503020204020204" pitchFamily="34" charset="-122"/>
              </a:rPr>
              <a:t>）合并为一个新的集合，假定在此操作前这两个集合是分离的。结果的集合代表是</a:t>
            </a:r>
            <a:r>
              <a:rPr lang="en-US" altLang="zh-CN" sz="1600" dirty="0" err="1">
                <a:solidFill>
                  <a:srgbClr val="514843"/>
                </a:solidFill>
                <a:latin typeface="微软雅黑" panose="020B0503020204020204" pitchFamily="34" charset="-122"/>
                <a:ea typeface="微软雅黑" panose="020B0503020204020204" pitchFamily="34" charset="-122"/>
              </a:rPr>
              <a:t>Sx∪Sy</a:t>
            </a:r>
            <a:r>
              <a:rPr lang="zh-CN" altLang="en-US" sz="1600" dirty="0">
                <a:solidFill>
                  <a:srgbClr val="514843"/>
                </a:solidFill>
                <a:latin typeface="微软雅黑" panose="020B0503020204020204" pitchFamily="34" charset="-122"/>
                <a:ea typeface="微软雅黑" panose="020B0503020204020204" pitchFamily="34" charset="-122"/>
              </a:rPr>
              <a:t>的某个成员。一般来说，在不同的实现中通常都以</a:t>
            </a:r>
            <a:r>
              <a:rPr lang="en-US" altLang="zh-CN" sz="1600" dirty="0" err="1">
                <a:solidFill>
                  <a:srgbClr val="514843"/>
                </a:solidFill>
                <a:latin typeface="微软雅黑" panose="020B0503020204020204" pitchFamily="34" charset="-122"/>
                <a:ea typeface="微软雅黑" panose="020B0503020204020204" pitchFamily="34" charset="-122"/>
              </a:rPr>
              <a:t>Sx</a:t>
            </a:r>
            <a:r>
              <a:rPr lang="zh-CN" altLang="en-US" sz="1600" dirty="0">
                <a:solidFill>
                  <a:srgbClr val="514843"/>
                </a:solidFill>
                <a:latin typeface="微软雅黑" panose="020B0503020204020204" pitchFamily="34" charset="-122"/>
                <a:ea typeface="微软雅黑" panose="020B0503020204020204" pitchFamily="34" charset="-122"/>
              </a:rPr>
              <a:t>或者</a:t>
            </a:r>
            <a:r>
              <a:rPr lang="en-US" altLang="zh-CN" sz="1600" dirty="0">
                <a:solidFill>
                  <a:srgbClr val="514843"/>
                </a:solidFill>
                <a:latin typeface="微软雅黑" panose="020B0503020204020204" pitchFamily="34" charset="-122"/>
                <a:ea typeface="微软雅黑" panose="020B0503020204020204" pitchFamily="34" charset="-122"/>
              </a:rPr>
              <a:t>Sy</a:t>
            </a:r>
            <a:r>
              <a:rPr lang="zh-CN" altLang="en-US" sz="1600" dirty="0">
                <a:solidFill>
                  <a:srgbClr val="514843"/>
                </a:solidFill>
                <a:latin typeface="微软雅黑" panose="020B0503020204020204" pitchFamily="34" charset="-122"/>
                <a:ea typeface="微软雅黑" panose="020B0503020204020204" pitchFamily="34" charset="-122"/>
              </a:rPr>
              <a:t>的代表作为新集合的代表。此后，由新的集合</a:t>
            </a:r>
            <a:r>
              <a:rPr lang="en-US" altLang="zh-CN" sz="1600" dirty="0">
                <a:solidFill>
                  <a:srgbClr val="514843"/>
                </a:solidFill>
                <a:latin typeface="微软雅黑" panose="020B0503020204020204" pitchFamily="34" charset="-122"/>
                <a:ea typeface="微软雅黑" panose="020B0503020204020204" pitchFamily="34" charset="-122"/>
              </a:rPr>
              <a:t>S</a:t>
            </a:r>
            <a:r>
              <a:rPr lang="zh-CN" altLang="en-US" sz="1600" dirty="0">
                <a:solidFill>
                  <a:srgbClr val="514843"/>
                </a:solidFill>
                <a:latin typeface="微软雅黑" panose="020B0503020204020204" pitchFamily="34" charset="-122"/>
                <a:ea typeface="微软雅黑" panose="020B0503020204020204" pitchFamily="34" charset="-122"/>
              </a:rPr>
              <a:t>代替了原来的</a:t>
            </a:r>
            <a:r>
              <a:rPr lang="en-US" altLang="zh-CN" sz="1600" dirty="0" err="1">
                <a:solidFill>
                  <a:srgbClr val="514843"/>
                </a:solidFill>
                <a:latin typeface="微软雅黑" panose="020B0503020204020204" pitchFamily="34" charset="-122"/>
                <a:ea typeface="微软雅黑" panose="020B0503020204020204" pitchFamily="34" charset="-122"/>
              </a:rPr>
              <a:t>Sx</a:t>
            </a:r>
            <a:r>
              <a:rPr lang="zh-CN" altLang="en-US" sz="1600" dirty="0">
                <a:solidFill>
                  <a:srgbClr val="514843"/>
                </a:solidFill>
                <a:latin typeface="微软雅黑" panose="020B0503020204020204" pitchFamily="34" charset="-122"/>
                <a:ea typeface="微软雅黑" panose="020B0503020204020204" pitchFamily="34" charset="-122"/>
              </a:rPr>
              <a:t>和</a:t>
            </a:r>
            <a:r>
              <a:rPr lang="en-US" altLang="zh-CN" sz="1600" dirty="0">
                <a:solidFill>
                  <a:srgbClr val="514843"/>
                </a:solidFill>
                <a:latin typeface="微软雅黑" panose="020B0503020204020204" pitchFamily="34" charset="-122"/>
                <a:ea typeface="微软雅黑" panose="020B0503020204020204" pitchFamily="34" charset="-122"/>
              </a:rPr>
              <a:t>Sy</a:t>
            </a:r>
            <a:r>
              <a:rPr lang="zh-CN" altLang="en-US" sz="1600" dirty="0">
                <a:solidFill>
                  <a:srgbClr val="514843"/>
                </a:solidFill>
                <a:latin typeface="微软雅黑" panose="020B0503020204020204" pitchFamily="34" charset="-122"/>
                <a:ea typeface="微软雅黑" panose="020B0503020204020204" pitchFamily="34" charset="-122"/>
              </a:rPr>
              <a:t>。</a:t>
            </a: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a:t>
            </a:r>
            <a:r>
              <a:rPr lang="en-US" altLang="zh-CN" sz="1600" b="1" dirty="0">
                <a:solidFill>
                  <a:schemeClr val="accent2"/>
                </a:solidFill>
                <a:latin typeface="微软雅黑" panose="020B0503020204020204" pitchFamily="34" charset="-122"/>
                <a:ea typeface="微软雅黑" panose="020B0503020204020204" pitchFamily="34" charset="-122"/>
              </a:rPr>
              <a:t>FIND(x)</a:t>
            </a:r>
            <a:r>
              <a:rPr lang="zh-CN" altLang="en-US" sz="1600" dirty="0">
                <a:solidFill>
                  <a:srgbClr val="514843"/>
                </a:solidFill>
                <a:latin typeface="微软雅黑" panose="020B0503020204020204" pitchFamily="34" charset="-122"/>
                <a:ea typeface="微软雅黑" panose="020B0503020204020204" pitchFamily="34" charset="-122"/>
              </a:rPr>
              <a:t>：返回一个指向包含</a:t>
            </a:r>
            <a:r>
              <a:rPr lang="en-US" altLang="zh-CN" sz="1600" dirty="0">
                <a:solidFill>
                  <a:srgbClr val="514843"/>
                </a:solidFill>
                <a:latin typeface="微软雅黑" panose="020B0503020204020204" pitchFamily="34" charset="-122"/>
                <a:ea typeface="微软雅黑" panose="020B0503020204020204" pitchFamily="34" charset="-122"/>
              </a:rPr>
              <a:t>x</a:t>
            </a:r>
            <a:r>
              <a:rPr lang="zh-CN" altLang="en-US" sz="1600" dirty="0">
                <a:solidFill>
                  <a:srgbClr val="514843"/>
                </a:solidFill>
                <a:latin typeface="微软雅黑" panose="020B0503020204020204" pitchFamily="34" charset="-122"/>
                <a:ea typeface="微软雅黑" panose="020B0503020204020204" pitchFamily="34" charset="-122"/>
              </a:rPr>
              <a:t>的集合的代表。</a:t>
            </a:r>
          </a:p>
        </p:txBody>
      </p:sp>
    </p:spTree>
    <p:extLst>
      <p:ext uri="{BB962C8B-B14F-4D97-AF65-F5344CB8AC3E}">
        <p14:creationId xmlns:p14="http://schemas.microsoft.com/office/powerpoint/2010/main" val="3332900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29" name="Rectangle 3">
            <a:extLst>
              <a:ext uri="{FF2B5EF4-FFF2-40B4-BE49-F238E27FC236}">
                <a16:creationId xmlns:a16="http://schemas.microsoft.com/office/drawing/2014/main" id="{4E098452-0165-4A2B-B412-E57CF0D2F085}"/>
              </a:ext>
            </a:extLst>
          </p:cNvPr>
          <p:cNvSpPr txBox="1">
            <a:spLocks noChangeArrowheads="1"/>
          </p:cNvSpPr>
          <p:nvPr/>
        </p:nvSpPr>
        <p:spPr>
          <a:xfrm>
            <a:off x="1230419" y="1799936"/>
            <a:ext cx="8229600" cy="532765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1800">
                <a:solidFill>
                  <a:srgbClr val="12012D"/>
                </a:solidFill>
                <a:latin typeface="微软雅黑"/>
                <a:ea typeface="微软雅黑"/>
              </a:rPr>
              <a:t>      </a:t>
            </a:r>
          </a:p>
          <a:p>
            <a:pPr>
              <a:buFontTx/>
              <a:buNone/>
            </a:pPr>
            <a:r>
              <a:rPr lang="zh-CN" altLang="en-US" sz="1800">
                <a:solidFill>
                  <a:srgbClr val="12012D"/>
                </a:solidFill>
                <a:latin typeface="微软雅黑"/>
                <a:ea typeface="微软雅黑"/>
              </a:rPr>
              <a:t>      </a:t>
            </a:r>
            <a:endParaRPr lang="zh-CN" altLang="en-US" sz="1800" dirty="0">
              <a:solidFill>
                <a:srgbClr val="12012D"/>
              </a:solidFill>
              <a:latin typeface="微软雅黑"/>
              <a:ea typeface="微软雅黑"/>
            </a:endParaRPr>
          </a:p>
        </p:txBody>
      </p:sp>
      <p:sp>
        <p:nvSpPr>
          <p:cNvPr id="55" name="Text Box 6">
            <a:extLst>
              <a:ext uri="{FF2B5EF4-FFF2-40B4-BE49-F238E27FC236}">
                <a16:creationId xmlns:a16="http://schemas.microsoft.com/office/drawing/2014/main" id="{1DC81F78-AE57-4895-8310-78E30F6614F8}"/>
              </a:ext>
            </a:extLst>
          </p:cNvPr>
          <p:cNvSpPr txBox="1">
            <a:spLocks noChangeArrowheads="1"/>
          </p:cNvSpPr>
          <p:nvPr/>
        </p:nvSpPr>
        <p:spPr bwMode="auto">
          <a:xfrm>
            <a:off x="1009755" y="1302113"/>
            <a:ext cx="8505825" cy="78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lnSpc>
                <a:spcPct val="150000"/>
              </a:lnSpc>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对于引例的问题，我们可以运用并查集简单地进行如下做法：</a:t>
            </a:r>
          </a:p>
          <a:p>
            <a:pPr fontAlgn="base">
              <a:lnSpc>
                <a:spcPct val="150000"/>
              </a:lnSpc>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⑴、元素的合并图示：</a:t>
            </a:r>
          </a:p>
        </p:txBody>
      </p:sp>
      <p:sp>
        <p:nvSpPr>
          <p:cNvPr id="56" name="Text Box 7">
            <a:extLst>
              <a:ext uri="{FF2B5EF4-FFF2-40B4-BE49-F238E27FC236}">
                <a16:creationId xmlns:a16="http://schemas.microsoft.com/office/drawing/2014/main" id="{FB417D32-8DBE-4328-8B07-61FBA11065D6}"/>
              </a:ext>
            </a:extLst>
          </p:cNvPr>
          <p:cNvSpPr txBox="1">
            <a:spLocks noChangeArrowheads="1"/>
          </p:cNvSpPr>
          <p:nvPr/>
        </p:nvSpPr>
        <p:spPr bwMode="auto">
          <a:xfrm>
            <a:off x="1916218" y="2404832"/>
            <a:ext cx="3222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endParaRPr lang="zh-CN" altLang="zh-CN">
              <a:solidFill>
                <a:srgbClr val="12012D"/>
              </a:solidFill>
              <a:latin typeface="微软雅黑"/>
              <a:ea typeface="微软雅黑"/>
            </a:endParaRPr>
          </a:p>
        </p:txBody>
      </p:sp>
      <p:grpSp>
        <p:nvGrpSpPr>
          <p:cNvPr id="57" name="Group 8">
            <a:extLst>
              <a:ext uri="{FF2B5EF4-FFF2-40B4-BE49-F238E27FC236}">
                <a16:creationId xmlns:a16="http://schemas.microsoft.com/office/drawing/2014/main" id="{73688AB3-7132-4FFC-A6FF-3C1FA34E96D1}"/>
              </a:ext>
            </a:extLst>
          </p:cNvPr>
          <p:cNvGrpSpPr/>
          <p:nvPr/>
        </p:nvGrpSpPr>
        <p:grpSpPr bwMode="auto">
          <a:xfrm>
            <a:off x="2238480" y="2217507"/>
            <a:ext cx="431800" cy="431800"/>
            <a:chOff x="0" y="0"/>
            <a:chExt cx="680" cy="680"/>
          </a:xfrm>
        </p:grpSpPr>
        <p:sp>
          <p:nvSpPr>
            <p:cNvPr id="58" name="Oval 9">
              <a:extLst>
                <a:ext uri="{FF2B5EF4-FFF2-40B4-BE49-F238E27FC236}">
                  <a16:creationId xmlns:a16="http://schemas.microsoft.com/office/drawing/2014/main" id="{21A05BDB-E28E-4B11-BD00-FD2E7C573ADC}"/>
                </a:ext>
              </a:extLst>
            </p:cNvPr>
            <p:cNvSpPr>
              <a:spLocks noChangeArrowheads="1"/>
            </p:cNvSpPr>
            <p:nvPr/>
          </p:nvSpPr>
          <p:spPr bwMode="auto">
            <a:xfrm>
              <a:off x="0" y="0"/>
              <a:ext cx="680" cy="680"/>
            </a:xfrm>
            <a:prstGeom prst="ellipse">
              <a:avLst/>
            </a:prstGeom>
            <a:solidFill>
              <a:srgbClr val="0F6FC6"/>
            </a:solidFill>
            <a:ln w="9525"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59" name="Text Box 10">
              <a:extLst>
                <a:ext uri="{FF2B5EF4-FFF2-40B4-BE49-F238E27FC236}">
                  <a16:creationId xmlns:a16="http://schemas.microsoft.com/office/drawing/2014/main" id="{EC6ACF2C-7C83-4A2A-9FBE-2BB1F9D75DB9}"/>
                </a:ext>
              </a:extLst>
            </p:cNvPr>
            <p:cNvSpPr txBox="1">
              <a:spLocks noChangeArrowheads="1"/>
            </p:cNvSpPr>
            <p:nvPr/>
          </p:nvSpPr>
          <p:spPr bwMode="auto">
            <a:xfrm>
              <a:off x="113" y="0"/>
              <a:ext cx="550"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1</a:t>
              </a:r>
            </a:p>
          </p:txBody>
        </p:sp>
      </p:grpSp>
      <p:grpSp>
        <p:nvGrpSpPr>
          <p:cNvPr id="60" name="Group 11">
            <a:extLst>
              <a:ext uri="{FF2B5EF4-FFF2-40B4-BE49-F238E27FC236}">
                <a16:creationId xmlns:a16="http://schemas.microsoft.com/office/drawing/2014/main" id="{75DA242D-D3FE-48E9-8AE6-E607EBE9399E}"/>
              </a:ext>
            </a:extLst>
          </p:cNvPr>
          <p:cNvGrpSpPr/>
          <p:nvPr/>
        </p:nvGrpSpPr>
        <p:grpSpPr bwMode="auto">
          <a:xfrm>
            <a:off x="3102080" y="2217507"/>
            <a:ext cx="431800" cy="431800"/>
            <a:chOff x="0" y="0"/>
            <a:chExt cx="680" cy="680"/>
          </a:xfrm>
        </p:grpSpPr>
        <p:sp>
          <p:nvSpPr>
            <p:cNvPr id="61" name="Oval 12">
              <a:extLst>
                <a:ext uri="{FF2B5EF4-FFF2-40B4-BE49-F238E27FC236}">
                  <a16:creationId xmlns:a16="http://schemas.microsoft.com/office/drawing/2014/main" id="{3056DBEE-89B4-4E85-B251-85966CE85187}"/>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62" name="Text Box 13">
              <a:extLst>
                <a:ext uri="{FF2B5EF4-FFF2-40B4-BE49-F238E27FC236}">
                  <a16:creationId xmlns:a16="http://schemas.microsoft.com/office/drawing/2014/main" id="{4D5155DD-2793-468E-B48A-B2194DB0E70C}"/>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2</a:t>
              </a:r>
            </a:p>
          </p:txBody>
        </p:sp>
      </p:grpSp>
      <p:grpSp>
        <p:nvGrpSpPr>
          <p:cNvPr id="63" name="Group 14">
            <a:extLst>
              <a:ext uri="{FF2B5EF4-FFF2-40B4-BE49-F238E27FC236}">
                <a16:creationId xmlns:a16="http://schemas.microsoft.com/office/drawing/2014/main" id="{8B98B4F6-8F7C-4731-B752-AF5D721482E3}"/>
              </a:ext>
            </a:extLst>
          </p:cNvPr>
          <p:cNvGrpSpPr/>
          <p:nvPr/>
        </p:nvGrpSpPr>
        <p:grpSpPr bwMode="auto">
          <a:xfrm>
            <a:off x="3965680" y="2217507"/>
            <a:ext cx="431800" cy="431800"/>
            <a:chOff x="0" y="0"/>
            <a:chExt cx="680" cy="680"/>
          </a:xfrm>
        </p:grpSpPr>
        <p:sp>
          <p:nvSpPr>
            <p:cNvPr id="64" name="Oval 15">
              <a:extLst>
                <a:ext uri="{FF2B5EF4-FFF2-40B4-BE49-F238E27FC236}">
                  <a16:creationId xmlns:a16="http://schemas.microsoft.com/office/drawing/2014/main" id="{36B0199D-C7D5-4E6E-939C-35F372A5F8F8}"/>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65" name="Text Box 16">
              <a:extLst>
                <a:ext uri="{FF2B5EF4-FFF2-40B4-BE49-F238E27FC236}">
                  <a16:creationId xmlns:a16="http://schemas.microsoft.com/office/drawing/2014/main" id="{E0C05E82-C4AA-4904-AD6C-697F4977538A}"/>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3</a:t>
              </a:r>
            </a:p>
          </p:txBody>
        </p:sp>
      </p:grpSp>
      <p:grpSp>
        <p:nvGrpSpPr>
          <p:cNvPr id="66" name="Group 17">
            <a:extLst>
              <a:ext uri="{FF2B5EF4-FFF2-40B4-BE49-F238E27FC236}">
                <a16:creationId xmlns:a16="http://schemas.microsoft.com/office/drawing/2014/main" id="{00F56CDB-213C-47A5-A9CC-4BECC544F5F6}"/>
              </a:ext>
            </a:extLst>
          </p:cNvPr>
          <p:cNvGrpSpPr/>
          <p:nvPr/>
        </p:nvGrpSpPr>
        <p:grpSpPr bwMode="auto">
          <a:xfrm>
            <a:off x="4830868" y="2217507"/>
            <a:ext cx="431800" cy="431800"/>
            <a:chOff x="0" y="0"/>
            <a:chExt cx="680" cy="680"/>
          </a:xfrm>
        </p:grpSpPr>
        <p:sp>
          <p:nvSpPr>
            <p:cNvPr id="67" name="Oval 18">
              <a:extLst>
                <a:ext uri="{FF2B5EF4-FFF2-40B4-BE49-F238E27FC236}">
                  <a16:creationId xmlns:a16="http://schemas.microsoft.com/office/drawing/2014/main" id="{4090DBD6-F189-4377-B520-790DAECA5C4C}"/>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68" name="Text Box 19">
              <a:extLst>
                <a:ext uri="{FF2B5EF4-FFF2-40B4-BE49-F238E27FC236}">
                  <a16:creationId xmlns:a16="http://schemas.microsoft.com/office/drawing/2014/main" id="{40C46BC9-D560-4E75-9BD7-B891E45DDB7B}"/>
                </a:ext>
              </a:extLst>
            </p:cNvPr>
            <p:cNvSpPr txBox="1">
              <a:spLocks noChangeArrowheads="1"/>
            </p:cNvSpPr>
            <p:nvPr/>
          </p:nvSpPr>
          <p:spPr bwMode="auto">
            <a:xfrm>
              <a:off x="114"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4</a:t>
              </a:r>
            </a:p>
          </p:txBody>
        </p:sp>
      </p:grpSp>
      <p:grpSp>
        <p:nvGrpSpPr>
          <p:cNvPr id="69" name="Group 20">
            <a:extLst>
              <a:ext uri="{FF2B5EF4-FFF2-40B4-BE49-F238E27FC236}">
                <a16:creationId xmlns:a16="http://schemas.microsoft.com/office/drawing/2014/main" id="{98B7B57B-AFBB-4BF8-A976-CDDDD9CCD113}"/>
              </a:ext>
            </a:extLst>
          </p:cNvPr>
          <p:cNvGrpSpPr/>
          <p:nvPr/>
        </p:nvGrpSpPr>
        <p:grpSpPr bwMode="auto">
          <a:xfrm>
            <a:off x="5694468" y="2217507"/>
            <a:ext cx="454025" cy="431800"/>
            <a:chOff x="0" y="0"/>
            <a:chExt cx="715" cy="680"/>
          </a:xfrm>
        </p:grpSpPr>
        <p:sp>
          <p:nvSpPr>
            <p:cNvPr id="70" name="Oval 21">
              <a:extLst>
                <a:ext uri="{FF2B5EF4-FFF2-40B4-BE49-F238E27FC236}">
                  <a16:creationId xmlns:a16="http://schemas.microsoft.com/office/drawing/2014/main" id="{54FB00E7-136F-432B-B795-CCAE5EE3C44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71" name="Text Box 22">
              <a:extLst>
                <a:ext uri="{FF2B5EF4-FFF2-40B4-BE49-F238E27FC236}">
                  <a16:creationId xmlns:a16="http://schemas.microsoft.com/office/drawing/2014/main" id="{D678638E-A685-4D3F-A853-9381E26EB89E}"/>
                </a:ext>
              </a:extLst>
            </p:cNvPr>
            <p:cNvSpPr txBox="1">
              <a:spLocks noChangeArrowheads="1"/>
            </p:cNvSpPr>
            <p:nvPr/>
          </p:nvSpPr>
          <p:spPr bwMode="auto">
            <a:xfrm>
              <a:off x="113" y="0"/>
              <a:ext cx="602"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5</a:t>
              </a:r>
            </a:p>
          </p:txBody>
        </p:sp>
      </p:grpSp>
      <p:sp>
        <p:nvSpPr>
          <p:cNvPr id="72" name="Text Box 23">
            <a:extLst>
              <a:ext uri="{FF2B5EF4-FFF2-40B4-BE49-F238E27FC236}">
                <a16:creationId xmlns:a16="http://schemas.microsoft.com/office/drawing/2014/main" id="{A7CA1B96-C278-4B5B-9036-3F1994FB21A9}"/>
              </a:ext>
            </a:extLst>
          </p:cNvPr>
          <p:cNvSpPr txBox="1">
            <a:spLocks noChangeArrowheads="1"/>
          </p:cNvSpPr>
          <p:nvPr/>
        </p:nvSpPr>
        <p:spPr bwMode="auto">
          <a:xfrm>
            <a:off x="1568556" y="2840376"/>
            <a:ext cx="191452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① 合并1和2</a:t>
            </a:r>
          </a:p>
        </p:txBody>
      </p:sp>
      <p:grpSp>
        <p:nvGrpSpPr>
          <p:cNvPr id="73" name="Group 24">
            <a:extLst>
              <a:ext uri="{FF2B5EF4-FFF2-40B4-BE49-F238E27FC236}">
                <a16:creationId xmlns:a16="http://schemas.microsoft.com/office/drawing/2014/main" id="{46F98E85-6AA9-4B59-A148-3A611F73D1B9}"/>
              </a:ext>
            </a:extLst>
          </p:cNvPr>
          <p:cNvGrpSpPr/>
          <p:nvPr/>
        </p:nvGrpSpPr>
        <p:grpSpPr bwMode="auto">
          <a:xfrm>
            <a:off x="2330556" y="3359489"/>
            <a:ext cx="431800" cy="431800"/>
            <a:chOff x="0" y="0"/>
            <a:chExt cx="680" cy="680"/>
          </a:xfrm>
        </p:grpSpPr>
        <p:sp>
          <p:nvSpPr>
            <p:cNvPr id="74" name="Oval 25">
              <a:extLst>
                <a:ext uri="{FF2B5EF4-FFF2-40B4-BE49-F238E27FC236}">
                  <a16:creationId xmlns:a16="http://schemas.microsoft.com/office/drawing/2014/main" id="{46BF8D3E-986D-4FE9-9F3D-D8DB06A9130E}"/>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75" name="Text Box 26">
              <a:extLst>
                <a:ext uri="{FF2B5EF4-FFF2-40B4-BE49-F238E27FC236}">
                  <a16:creationId xmlns:a16="http://schemas.microsoft.com/office/drawing/2014/main" id="{F9682FF9-A76B-4B71-B6D3-3F86674D2C46}"/>
                </a:ext>
              </a:extLst>
            </p:cNvPr>
            <p:cNvSpPr txBox="1">
              <a:spLocks noChangeArrowheads="1"/>
            </p:cNvSpPr>
            <p:nvPr/>
          </p:nvSpPr>
          <p:spPr bwMode="auto">
            <a:xfrm>
              <a:off x="113" y="0"/>
              <a:ext cx="550"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1</a:t>
              </a:r>
            </a:p>
          </p:txBody>
        </p:sp>
      </p:grpSp>
      <p:grpSp>
        <p:nvGrpSpPr>
          <p:cNvPr id="76" name="Group 27">
            <a:extLst>
              <a:ext uri="{FF2B5EF4-FFF2-40B4-BE49-F238E27FC236}">
                <a16:creationId xmlns:a16="http://schemas.microsoft.com/office/drawing/2014/main" id="{01CDA84A-2251-44C6-B5DD-90318BB59A92}"/>
              </a:ext>
            </a:extLst>
          </p:cNvPr>
          <p:cNvGrpSpPr/>
          <p:nvPr/>
        </p:nvGrpSpPr>
        <p:grpSpPr bwMode="auto">
          <a:xfrm>
            <a:off x="1827319" y="3935751"/>
            <a:ext cx="431800" cy="431800"/>
            <a:chOff x="0" y="0"/>
            <a:chExt cx="680" cy="680"/>
          </a:xfrm>
        </p:grpSpPr>
        <p:sp>
          <p:nvSpPr>
            <p:cNvPr id="77" name="Oval 28">
              <a:extLst>
                <a:ext uri="{FF2B5EF4-FFF2-40B4-BE49-F238E27FC236}">
                  <a16:creationId xmlns:a16="http://schemas.microsoft.com/office/drawing/2014/main" id="{257FAC39-43B5-4579-85EF-BEECB9C4F97A}"/>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78" name="Text Box 29">
              <a:extLst>
                <a:ext uri="{FF2B5EF4-FFF2-40B4-BE49-F238E27FC236}">
                  <a16:creationId xmlns:a16="http://schemas.microsoft.com/office/drawing/2014/main" id="{60583EFE-09DF-4AB6-8E56-9C5019F211B9}"/>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2</a:t>
              </a:r>
            </a:p>
          </p:txBody>
        </p:sp>
      </p:grpSp>
      <p:sp>
        <p:nvSpPr>
          <p:cNvPr id="79" name="Line 30">
            <a:extLst>
              <a:ext uri="{FF2B5EF4-FFF2-40B4-BE49-F238E27FC236}">
                <a16:creationId xmlns:a16="http://schemas.microsoft.com/office/drawing/2014/main" id="{A4E59E93-5E8F-444E-A64E-665C06E5A8F4}"/>
              </a:ext>
            </a:extLst>
          </p:cNvPr>
          <p:cNvSpPr>
            <a:spLocks noChangeShapeType="1"/>
          </p:cNvSpPr>
          <p:nvPr/>
        </p:nvSpPr>
        <p:spPr bwMode="auto">
          <a:xfrm flipH="1">
            <a:off x="2187681" y="3719851"/>
            <a:ext cx="215900" cy="290513"/>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80" name="Text Box 31">
            <a:extLst>
              <a:ext uri="{FF2B5EF4-FFF2-40B4-BE49-F238E27FC236}">
                <a16:creationId xmlns:a16="http://schemas.microsoft.com/office/drawing/2014/main" id="{8E718043-99C5-4CE0-8C58-5033B4DBF58B}"/>
              </a:ext>
            </a:extLst>
          </p:cNvPr>
          <p:cNvSpPr txBox="1">
            <a:spLocks noChangeArrowheads="1"/>
          </p:cNvSpPr>
          <p:nvPr/>
        </p:nvSpPr>
        <p:spPr bwMode="auto">
          <a:xfrm>
            <a:off x="3987906" y="2856251"/>
            <a:ext cx="18796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② 合并1和3</a:t>
            </a:r>
          </a:p>
        </p:txBody>
      </p:sp>
      <p:grpSp>
        <p:nvGrpSpPr>
          <p:cNvPr id="81" name="Group 32">
            <a:extLst>
              <a:ext uri="{FF2B5EF4-FFF2-40B4-BE49-F238E27FC236}">
                <a16:creationId xmlns:a16="http://schemas.microsoft.com/office/drawing/2014/main" id="{FD027DE7-80D0-4CB6-ADE8-70A2ACDB55E3}"/>
              </a:ext>
            </a:extLst>
          </p:cNvPr>
          <p:cNvGrpSpPr/>
          <p:nvPr/>
        </p:nvGrpSpPr>
        <p:grpSpPr bwMode="auto">
          <a:xfrm>
            <a:off x="4562581" y="3288051"/>
            <a:ext cx="431800" cy="431800"/>
            <a:chOff x="0" y="0"/>
            <a:chExt cx="680" cy="680"/>
          </a:xfrm>
        </p:grpSpPr>
        <p:sp>
          <p:nvSpPr>
            <p:cNvPr id="82" name="Oval 33">
              <a:extLst>
                <a:ext uri="{FF2B5EF4-FFF2-40B4-BE49-F238E27FC236}">
                  <a16:creationId xmlns:a16="http://schemas.microsoft.com/office/drawing/2014/main" id="{7B13F06B-2C22-40CA-8791-74E8A01B6E85}"/>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83" name="Text Box 34">
              <a:extLst>
                <a:ext uri="{FF2B5EF4-FFF2-40B4-BE49-F238E27FC236}">
                  <a16:creationId xmlns:a16="http://schemas.microsoft.com/office/drawing/2014/main" id="{7DB82980-F35B-4384-B90F-CFF222D2CC30}"/>
                </a:ext>
              </a:extLst>
            </p:cNvPr>
            <p:cNvSpPr txBox="1">
              <a:spLocks noChangeArrowheads="1"/>
            </p:cNvSpPr>
            <p:nvPr/>
          </p:nvSpPr>
          <p:spPr bwMode="auto">
            <a:xfrm>
              <a:off x="113" y="0"/>
              <a:ext cx="550"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1</a:t>
              </a:r>
            </a:p>
          </p:txBody>
        </p:sp>
      </p:grpSp>
      <p:grpSp>
        <p:nvGrpSpPr>
          <p:cNvPr id="84" name="Group 35">
            <a:extLst>
              <a:ext uri="{FF2B5EF4-FFF2-40B4-BE49-F238E27FC236}">
                <a16:creationId xmlns:a16="http://schemas.microsoft.com/office/drawing/2014/main" id="{575DC532-8ED7-45F6-A03F-0EC3AA66325B}"/>
              </a:ext>
            </a:extLst>
          </p:cNvPr>
          <p:cNvGrpSpPr/>
          <p:nvPr/>
        </p:nvGrpSpPr>
        <p:grpSpPr bwMode="auto">
          <a:xfrm>
            <a:off x="3987906" y="3864314"/>
            <a:ext cx="431800" cy="431800"/>
            <a:chOff x="0" y="0"/>
            <a:chExt cx="680" cy="680"/>
          </a:xfrm>
        </p:grpSpPr>
        <p:sp>
          <p:nvSpPr>
            <p:cNvPr id="85" name="Oval 36">
              <a:extLst>
                <a:ext uri="{FF2B5EF4-FFF2-40B4-BE49-F238E27FC236}">
                  <a16:creationId xmlns:a16="http://schemas.microsoft.com/office/drawing/2014/main" id="{9DCABE7B-DB3B-4353-AEEC-165294D8D71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86" name="Text Box 37">
              <a:extLst>
                <a:ext uri="{FF2B5EF4-FFF2-40B4-BE49-F238E27FC236}">
                  <a16:creationId xmlns:a16="http://schemas.microsoft.com/office/drawing/2014/main" id="{C673AFC1-EC32-4F3B-B3F1-9B7E65BD5BF8}"/>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2</a:t>
              </a:r>
            </a:p>
          </p:txBody>
        </p:sp>
      </p:grpSp>
      <p:grpSp>
        <p:nvGrpSpPr>
          <p:cNvPr id="87" name="Group 38">
            <a:extLst>
              <a:ext uri="{FF2B5EF4-FFF2-40B4-BE49-F238E27FC236}">
                <a16:creationId xmlns:a16="http://schemas.microsoft.com/office/drawing/2014/main" id="{35763122-45E2-4327-9E5D-7DA9B8D1C468}"/>
              </a:ext>
            </a:extLst>
          </p:cNvPr>
          <p:cNvGrpSpPr/>
          <p:nvPr/>
        </p:nvGrpSpPr>
        <p:grpSpPr bwMode="auto">
          <a:xfrm>
            <a:off x="5067406" y="3864314"/>
            <a:ext cx="431800" cy="431800"/>
            <a:chOff x="0" y="0"/>
            <a:chExt cx="680" cy="680"/>
          </a:xfrm>
        </p:grpSpPr>
        <p:sp>
          <p:nvSpPr>
            <p:cNvPr id="88" name="Oval 39">
              <a:extLst>
                <a:ext uri="{FF2B5EF4-FFF2-40B4-BE49-F238E27FC236}">
                  <a16:creationId xmlns:a16="http://schemas.microsoft.com/office/drawing/2014/main" id="{F28E09BA-B1EC-4BBB-8F00-70143C670FFE}"/>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89" name="Text Box 40">
              <a:extLst>
                <a:ext uri="{FF2B5EF4-FFF2-40B4-BE49-F238E27FC236}">
                  <a16:creationId xmlns:a16="http://schemas.microsoft.com/office/drawing/2014/main" id="{517329E1-C209-4A26-A8B0-05B305DF13A9}"/>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3</a:t>
              </a:r>
            </a:p>
          </p:txBody>
        </p:sp>
      </p:grpSp>
      <p:sp>
        <p:nvSpPr>
          <p:cNvPr id="90" name="Line 41">
            <a:extLst>
              <a:ext uri="{FF2B5EF4-FFF2-40B4-BE49-F238E27FC236}">
                <a16:creationId xmlns:a16="http://schemas.microsoft.com/office/drawing/2014/main" id="{0F25C2FF-AB38-4DBD-8B83-1E13C5416FD0}"/>
              </a:ext>
            </a:extLst>
          </p:cNvPr>
          <p:cNvSpPr>
            <a:spLocks noChangeShapeType="1"/>
          </p:cNvSpPr>
          <p:nvPr/>
        </p:nvSpPr>
        <p:spPr bwMode="auto">
          <a:xfrm flipH="1">
            <a:off x="4346681" y="3648414"/>
            <a:ext cx="288925" cy="287337"/>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91" name="Line 42">
            <a:extLst>
              <a:ext uri="{FF2B5EF4-FFF2-40B4-BE49-F238E27FC236}">
                <a16:creationId xmlns:a16="http://schemas.microsoft.com/office/drawing/2014/main" id="{E467E559-F840-476C-818D-94A2A8B54A58}"/>
              </a:ext>
            </a:extLst>
          </p:cNvPr>
          <p:cNvSpPr>
            <a:spLocks noChangeShapeType="1"/>
          </p:cNvSpPr>
          <p:nvPr/>
        </p:nvSpPr>
        <p:spPr bwMode="auto">
          <a:xfrm>
            <a:off x="4922944" y="3648414"/>
            <a:ext cx="215900" cy="287337"/>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92" name="Text Box 43">
            <a:extLst>
              <a:ext uri="{FF2B5EF4-FFF2-40B4-BE49-F238E27FC236}">
                <a16:creationId xmlns:a16="http://schemas.microsoft.com/office/drawing/2014/main" id="{81662367-735C-4AA5-9832-E7123E0EFB4D}"/>
              </a:ext>
            </a:extLst>
          </p:cNvPr>
          <p:cNvSpPr txBox="1">
            <a:spLocks noChangeArrowheads="1"/>
          </p:cNvSpPr>
          <p:nvPr/>
        </p:nvSpPr>
        <p:spPr bwMode="auto">
          <a:xfrm>
            <a:off x="6867631" y="2856251"/>
            <a:ext cx="19319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③ 合并5和4</a:t>
            </a:r>
          </a:p>
        </p:txBody>
      </p:sp>
      <p:grpSp>
        <p:nvGrpSpPr>
          <p:cNvPr id="93" name="Group 44">
            <a:extLst>
              <a:ext uri="{FF2B5EF4-FFF2-40B4-BE49-F238E27FC236}">
                <a16:creationId xmlns:a16="http://schemas.microsoft.com/office/drawing/2014/main" id="{AB08B094-F399-4064-B98B-CB62C3E4B1DC}"/>
              </a:ext>
            </a:extLst>
          </p:cNvPr>
          <p:cNvGrpSpPr/>
          <p:nvPr/>
        </p:nvGrpSpPr>
        <p:grpSpPr bwMode="auto">
          <a:xfrm>
            <a:off x="7083531" y="3288051"/>
            <a:ext cx="431800" cy="431800"/>
            <a:chOff x="0" y="0"/>
            <a:chExt cx="680" cy="680"/>
          </a:xfrm>
        </p:grpSpPr>
        <p:sp>
          <p:nvSpPr>
            <p:cNvPr id="94" name="Oval 45">
              <a:extLst>
                <a:ext uri="{FF2B5EF4-FFF2-40B4-BE49-F238E27FC236}">
                  <a16:creationId xmlns:a16="http://schemas.microsoft.com/office/drawing/2014/main" id="{E8881B87-C7BF-40D1-8138-18506C6F7E77}"/>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95" name="Text Box 46">
              <a:extLst>
                <a:ext uri="{FF2B5EF4-FFF2-40B4-BE49-F238E27FC236}">
                  <a16:creationId xmlns:a16="http://schemas.microsoft.com/office/drawing/2014/main" id="{94A68F0C-E648-4A17-A8CD-69A043E1A9CF}"/>
                </a:ext>
              </a:extLst>
            </p:cNvPr>
            <p:cNvSpPr txBox="1">
              <a:spLocks noChangeArrowheads="1"/>
            </p:cNvSpPr>
            <p:nvPr/>
          </p:nvSpPr>
          <p:spPr bwMode="auto">
            <a:xfrm>
              <a:off x="113" y="0"/>
              <a:ext cx="550"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1</a:t>
              </a:r>
            </a:p>
          </p:txBody>
        </p:sp>
      </p:grpSp>
      <p:grpSp>
        <p:nvGrpSpPr>
          <p:cNvPr id="96" name="Group 47">
            <a:extLst>
              <a:ext uri="{FF2B5EF4-FFF2-40B4-BE49-F238E27FC236}">
                <a16:creationId xmlns:a16="http://schemas.microsoft.com/office/drawing/2014/main" id="{7690B403-A9C4-4A9E-84BC-50A32E48ACFB}"/>
              </a:ext>
            </a:extLst>
          </p:cNvPr>
          <p:cNvGrpSpPr/>
          <p:nvPr/>
        </p:nvGrpSpPr>
        <p:grpSpPr bwMode="auto">
          <a:xfrm>
            <a:off x="6507269" y="3864314"/>
            <a:ext cx="431800" cy="431800"/>
            <a:chOff x="0" y="0"/>
            <a:chExt cx="680" cy="680"/>
          </a:xfrm>
        </p:grpSpPr>
        <p:sp>
          <p:nvSpPr>
            <p:cNvPr id="97" name="Oval 48">
              <a:extLst>
                <a:ext uri="{FF2B5EF4-FFF2-40B4-BE49-F238E27FC236}">
                  <a16:creationId xmlns:a16="http://schemas.microsoft.com/office/drawing/2014/main" id="{FDC6D77D-30A2-4406-B14A-A54729F130BA}"/>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98" name="Text Box 49">
              <a:extLst>
                <a:ext uri="{FF2B5EF4-FFF2-40B4-BE49-F238E27FC236}">
                  <a16:creationId xmlns:a16="http://schemas.microsoft.com/office/drawing/2014/main" id="{5803B661-026E-4F2D-8D2A-EBA782C74D90}"/>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2</a:t>
              </a:r>
            </a:p>
          </p:txBody>
        </p:sp>
      </p:grpSp>
      <p:grpSp>
        <p:nvGrpSpPr>
          <p:cNvPr id="99" name="Group 50">
            <a:extLst>
              <a:ext uri="{FF2B5EF4-FFF2-40B4-BE49-F238E27FC236}">
                <a16:creationId xmlns:a16="http://schemas.microsoft.com/office/drawing/2014/main" id="{146CA6EC-9965-45F5-9974-C4E6AD24D56A}"/>
              </a:ext>
            </a:extLst>
          </p:cNvPr>
          <p:cNvGrpSpPr/>
          <p:nvPr/>
        </p:nvGrpSpPr>
        <p:grpSpPr bwMode="auto">
          <a:xfrm>
            <a:off x="7588356" y="3864314"/>
            <a:ext cx="431800" cy="431800"/>
            <a:chOff x="0" y="0"/>
            <a:chExt cx="680" cy="680"/>
          </a:xfrm>
        </p:grpSpPr>
        <p:sp>
          <p:nvSpPr>
            <p:cNvPr id="100" name="Oval 51">
              <a:extLst>
                <a:ext uri="{FF2B5EF4-FFF2-40B4-BE49-F238E27FC236}">
                  <a16:creationId xmlns:a16="http://schemas.microsoft.com/office/drawing/2014/main" id="{C3906468-D6F9-497B-BFCC-19C0B7FAB96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01" name="Text Box 52">
              <a:extLst>
                <a:ext uri="{FF2B5EF4-FFF2-40B4-BE49-F238E27FC236}">
                  <a16:creationId xmlns:a16="http://schemas.microsoft.com/office/drawing/2014/main" id="{E5DBFE34-6A9E-49B6-A122-3CF85801A723}"/>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3</a:t>
              </a:r>
            </a:p>
          </p:txBody>
        </p:sp>
      </p:grpSp>
      <p:sp>
        <p:nvSpPr>
          <p:cNvPr id="102" name="Line 53">
            <a:extLst>
              <a:ext uri="{FF2B5EF4-FFF2-40B4-BE49-F238E27FC236}">
                <a16:creationId xmlns:a16="http://schemas.microsoft.com/office/drawing/2014/main" id="{2517718F-F497-4A3A-8E8A-DD33B70C2E4E}"/>
              </a:ext>
            </a:extLst>
          </p:cNvPr>
          <p:cNvSpPr>
            <a:spLocks noChangeShapeType="1"/>
          </p:cNvSpPr>
          <p:nvPr/>
        </p:nvSpPr>
        <p:spPr bwMode="auto">
          <a:xfrm flipH="1">
            <a:off x="6867631" y="3648414"/>
            <a:ext cx="288925" cy="287337"/>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03" name="Line 54">
            <a:extLst>
              <a:ext uri="{FF2B5EF4-FFF2-40B4-BE49-F238E27FC236}">
                <a16:creationId xmlns:a16="http://schemas.microsoft.com/office/drawing/2014/main" id="{49465999-0F06-4C14-9480-18C265AEFEBB}"/>
              </a:ext>
            </a:extLst>
          </p:cNvPr>
          <p:cNvSpPr>
            <a:spLocks noChangeShapeType="1"/>
          </p:cNvSpPr>
          <p:nvPr/>
        </p:nvSpPr>
        <p:spPr bwMode="auto">
          <a:xfrm>
            <a:off x="7443894" y="3648414"/>
            <a:ext cx="215900" cy="287337"/>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grpSp>
        <p:nvGrpSpPr>
          <p:cNvPr id="104" name="Group 55">
            <a:extLst>
              <a:ext uri="{FF2B5EF4-FFF2-40B4-BE49-F238E27FC236}">
                <a16:creationId xmlns:a16="http://schemas.microsoft.com/office/drawing/2014/main" id="{B7291860-B2F5-4144-9D33-ED3518B5704A}"/>
              </a:ext>
            </a:extLst>
          </p:cNvPr>
          <p:cNvGrpSpPr/>
          <p:nvPr/>
        </p:nvGrpSpPr>
        <p:grpSpPr bwMode="auto">
          <a:xfrm>
            <a:off x="9028219" y="3862726"/>
            <a:ext cx="431800" cy="431800"/>
            <a:chOff x="0" y="0"/>
            <a:chExt cx="680" cy="680"/>
          </a:xfrm>
        </p:grpSpPr>
        <p:sp>
          <p:nvSpPr>
            <p:cNvPr id="105" name="Oval 56">
              <a:extLst>
                <a:ext uri="{FF2B5EF4-FFF2-40B4-BE49-F238E27FC236}">
                  <a16:creationId xmlns:a16="http://schemas.microsoft.com/office/drawing/2014/main" id="{574C7086-3861-4D1D-B8DF-A63C61EDDC84}"/>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06" name="Text Box 57">
              <a:extLst>
                <a:ext uri="{FF2B5EF4-FFF2-40B4-BE49-F238E27FC236}">
                  <a16:creationId xmlns:a16="http://schemas.microsoft.com/office/drawing/2014/main" id="{1DED40E4-0CF4-4505-A4F8-CDF49C3CEFAB}"/>
                </a:ext>
              </a:extLst>
            </p:cNvPr>
            <p:cNvSpPr txBox="1">
              <a:spLocks noChangeArrowheads="1"/>
            </p:cNvSpPr>
            <p:nvPr/>
          </p:nvSpPr>
          <p:spPr bwMode="auto">
            <a:xfrm>
              <a:off x="114"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4</a:t>
              </a:r>
            </a:p>
          </p:txBody>
        </p:sp>
      </p:grpSp>
      <p:grpSp>
        <p:nvGrpSpPr>
          <p:cNvPr id="107" name="Group 58">
            <a:extLst>
              <a:ext uri="{FF2B5EF4-FFF2-40B4-BE49-F238E27FC236}">
                <a16:creationId xmlns:a16="http://schemas.microsoft.com/office/drawing/2014/main" id="{17A4219E-3625-4D6E-88AE-7DCC4BEDDC0D}"/>
              </a:ext>
            </a:extLst>
          </p:cNvPr>
          <p:cNvGrpSpPr/>
          <p:nvPr/>
        </p:nvGrpSpPr>
        <p:grpSpPr bwMode="auto">
          <a:xfrm>
            <a:off x="8451956" y="3215026"/>
            <a:ext cx="454025" cy="431800"/>
            <a:chOff x="0" y="0"/>
            <a:chExt cx="715" cy="680"/>
          </a:xfrm>
        </p:grpSpPr>
        <p:sp>
          <p:nvSpPr>
            <p:cNvPr id="108" name="Oval 59">
              <a:extLst>
                <a:ext uri="{FF2B5EF4-FFF2-40B4-BE49-F238E27FC236}">
                  <a16:creationId xmlns:a16="http://schemas.microsoft.com/office/drawing/2014/main" id="{BE054558-6F5A-4E81-9A6D-6C7F587C87AC}"/>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09" name="Text Box 60">
              <a:extLst>
                <a:ext uri="{FF2B5EF4-FFF2-40B4-BE49-F238E27FC236}">
                  <a16:creationId xmlns:a16="http://schemas.microsoft.com/office/drawing/2014/main" id="{F8868931-2470-4CA9-B65F-E76134130857}"/>
                </a:ext>
              </a:extLst>
            </p:cNvPr>
            <p:cNvSpPr txBox="1">
              <a:spLocks noChangeArrowheads="1"/>
            </p:cNvSpPr>
            <p:nvPr/>
          </p:nvSpPr>
          <p:spPr bwMode="auto">
            <a:xfrm>
              <a:off x="113" y="0"/>
              <a:ext cx="602"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5</a:t>
              </a:r>
            </a:p>
          </p:txBody>
        </p:sp>
      </p:grpSp>
      <p:sp>
        <p:nvSpPr>
          <p:cNvPr id="110" name="Line 61">
            <a:extLst>
              <a:ext uri="{FF2B5EF4-FFF2-40B4-BE49-F238E27FC236}">
                <a16:creationId xmlns:a16="http://schemas.microsoft.com/office/drawing/2014/main" id="{B55A24FC-07B9-422E-9707-5A264E747D7E}"/>
              </a:ext>
            </a:extLst>
          </p:cNvPr>
          <p:cNvSpPr>
            <a:spLocks noChangeShapeType="1"/>
          </p:cNvSpPr>
          <p:nvPr/>
        </p:nvSpPr>
        <p:spPr bwMode="auto">
          <a:xfrm>
            <a:off x="8812319" y="3576976"/>
            <a:ext cx="287337" cy="358775"/>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11" name="Text Box 62">
            <a:extLst>
              <a:ext uri="{FF2B5EF4-FFF2-40B4-BE49-F238E27FC236}">
                <a16:creationId xmlns:a16="http://schemas.microsoft.com/office/drawing/2014/main" id="{CD1299BF-889A-4234-9F13-38640BE53E37}"/>
              </a:ext>
            </a:extLst>
          </p:cNvPr>
          <p:cNvSpPr txBox="1">
            <a:spLocks noChangeArrowheads="1"/>
          </p:cNvSpPr>
          <p:nvPr/>
        </p:nvSpPr>
        <p:spPr bwMode="auto">
          <a:xfrm>
            <a:off x="1271535" y="4678344"/>
            <a:ext cx="187483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④ 合并3和5</a:t>
            </a:r>
          </a:p>
        </p:txBody>
      </p:sp>
      <p:grpSp>
        <p:nvGrpSpPr>
          <p:cNvPr id="112" name="Group 63">
            <a:extLst>
              <a:ext uri="{FF2B5EF4-FFF2-40B4-BE49-F238E27FC236}">
                <a16:creationId xmlns:a16="http://schemas.microsoft.com/office/drawing/2014/main" id="{483F3E09-9DE3-430C-9ED8-DCFF2FE69A3A}"/>
              </a:ext>
            </a:extLst>
          </p:cNvPr>
          <p:cNvGrpSpPr/>
          <p:nvPr/>
        </p:nvGrpSpPr>
        <p:grpSpPr bwMode="auto">
          <a:xfrm>
            <a:off x="3399556" y="4418589"/>
            <a:ext cx="431800" cy="431800"/>
            <a:chOff x="0" y="0"/>
            <a:chExt cx="680" cy="680"/>
          </a:xfrm>
        </p:grpSpPr>
        <p:sp>
          <p:nvSpPr>
            <p:cNvPr id="113" name="Oval 64">
              <a:extLst>
                <a:ext uri="{FF2B5EF4-FFF2-40B4-BE49-F238E27FC236}">
                  <a16:creationId xmlns:a16="http://schemas.microsoft.com/office/drawing/2014/main" id="{AB5D686E-A6E5-49E8-9246-4700643A6F02}"/>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14" name="Text Box 65">
              <a:extLst>
                <a:ext uri="{FF2B5EF4-FFF2-40B4-BE49-F238E27FC236}">
                  <a16:creationId xmlns:a16="http://schemas.microsoft.com/office/drawing/2014/main" id="{2447FB30-D81A-468C-BCFA-0E5EB4291DD0}"/>
                </a:ext>
              </a:extLst>
            </p:cNvPr>
            <p:cNvSpPr txBox="1">
              <a:spLocks noChangeArrowheads="1"/>
            </p:cNvSpPr>
            <p:nvPr/>
          </p:nvSpPr>
          <p:spPr bwMode="auto">
            <a:xfrm>
              <a:off x="113" y="0"/>
              <a:ext cx="550"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1</a:t>
              </a:r>
            </a:p>
          </p:txBody>
        </p:sp>
      </p:grpSp>
      <p:grpSp>
        <p:nvGrpSpPr>
          <p:cNvPr id="115" name="Group 66">
            <a:extLst>
              <a:ext uri="{FF2B5EF4-FFF2-40B4-BE49-F238E27FC236}">
                <a16:creationId xmlns:a16="http://schemas.microsoft.com/office/drawing/2014/main" id="{DAD97A55-7CA6-42A5-B12C-91BBB112396E}"/>
              </a:ext>
            </a:extLst>
          </p:cNvPr>
          <p:cNvGrpSpPr/>
          <p:nvPr/>
        </p:nvGrpSpPr>
        <p:grpSpPr bwMode="auto">
          <a:xfrm>
            <a:off x="2835381" y="5026542"/>
            <a:ext cx="431800" cy="431800"/>
            <a:chOff x="0" y="0"/>
            <a:chExt cx="680" cy="680"/>
          </a:xfrm>
        </p:grpSpPr>
        <p:sp>
          <p:nvSpPr>
            <p:cNvPr id="116" name="Oval 67">
              <a:extLst>
                <a:ext uri="{FF2B5EF4-FFF2-40B4-BE49-F238E27FC236}">
                  <a16:creationId xmlns:a16="http://schemas.microsoft.com/office/drawing/2014/main" id="{FFE677AB-E700-41A8-94BF-B7904EF18125}"/>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17" name="Text Box 68">
              <a:extLst>
                <a:ext uri="{FF2B5EF4-FFF2-40B4-BE49-F238E27FC236}">
                  <a16:creationId xmlns:a16="http://schemas.microsoft.com/office/drawing/2014/main" id="{74F00681-4C00-4728-A2F3-01C060D160A8}"/>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2</a:t>
              </a:r>
            </a:p>
          </p:txBody>
        </p:sp>
      </p:grpSp>
      <p:grpSp>
        <p:nvGrpSpPr>
          <p:cNvPr id="118" name="Group 69">
            <a:extLst>
              <a:ext uri="{FF2B5EF4-FFF2-40B4-BE49-F238E27FC236}">
                <a16:creationId xmlns:a16="http://schemas.microsoft.com/office/drawing/2014/main" id="{CAC9D2D3-3C2F-4672-9C21-0D7867895521}"/>
              </a:ext>
            </a:extLst>
          </p:cNvPr>
          <p:cNvGrpSpPr/>
          <p:nvPr/>
        </p:nvGrpSpPr>
        <p:grpSpPr bwMode="auto">
          <a:xfrm>
            <a:off x="3914881" y="5026542"/>
            <a:ext cx="431800" cy="431800"/>
            <a:chOff x="0" y="0"/>
            <a:chExt cx="680" cy="680"/>
          </a:xfrm>
        </p:grpSpPr>
        <p:sp>
          <p:nvSpPr>
            <p:cNvPr id="119" name="Oval 70">
              <a:extLst>
                <a:ext uri="{FF2B5EF4-FFF2-40B4-BE49-F238E27FC236}">
                  <a16:creationId xmlns:a16="http://schemas.microsoft.com/office/drawing/2014/main" id="{209AA3EF-278B-4B6E-AC75-AD716CD8D51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20" name="Text Box 71">
              <a:extLst>
                <a:ext uri="{FF2B5EF4-FFF2-40B4-BE49-F238E27FC236}">
                  <a16:creationId xmlns:a16="http://schemas.microsoft.com/office/drawing/2014/main" id="{0B3DFD7C-9DC0-4145-B2BC-89F923446A63}"/>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3</a:t>
              </a:r>
            </a:p>
          </p:txBody>
        </p:sp>
      </p:grpSp>
      <p:sp>
        <p:nvSpPr>
          <p:cNvPr id="121" name="Line 72">
            <a:extLst>
              <a:ext uri="{FF2B5EF4-FFF2-40B4-BE49-F238E27FC236}">
                <a16:creationId xmlns:a16="http://schemas.microsoft.com/office/drawing/2014/main" id="{6D884C67-5A5D-4C49-98BE-15B6E7FD8C66}"/>
              </a:ext>
            </a:extLst>
          </p:cNvPr>
          <p:cNvSpPr>
            <a:spLocks noChangeShapeType="1"/>
          </p:cNvSpPr>
          <p:nvPr/>
        </p:nvSpPr>
        <p:spPr bwMode="auto">
          <a:xfrm flipH="1">
            <a:off x="3194156" y="4810642"/>
            <a:ext cx="288925" cy="287337"/>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22" name="Line 73">
            <a:extLst>
              <a:ext uri="{FF2B5EF4-FFF2-40B4-BE49-F238E27FC236}">
                <a16:creationId xmlns:a16="http://schemas.microsoft.com/office/drawing/2014/main" id="{52F8C8FE-449D-4E68-86F8-E80513B06044}"/>
              </a:ext>
            </a:extLst>
          </p:cNvPr>
          <p:cNvSpPr>
            <a:spLocks noChangeShapeType="1"/>
          </p:cNvSpPr>
          <p:nvPr/>
        </p:nvSpPr>
        <p:spPr bwMode="auto">
          <a:xfrm>
            <a:off x="3770419" y="4812229"/>
            <a:ext cx="215900" cy="287338"/>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grpSp>
        <p:nvGrpSpPr>
          <p:cNvPr id="123" name="Group 74">
            <a:extLst>
              <a:ext uri="{FF2B5EF4-FFF2-40B4-BE49-F238E27FC236}">
                <a16:creationId xmlns:a16="http://schemas.microsoft.com/office/drawing/2014/main" id="{2283C4EE-3118-4FEA-BB27-87675F08FDB8}"/>
              </a:ext>
            </a:extLst>
          </p:cNvPr>
          <p:cNvGrpSpPr/>
          <p:nvPr/>
        </p:nvGrpSpPr>
        <p:grpSpPr bwMode="auto">
          <a:xfrm>
            <a:off x="5067406" y="6323529"/>
            <a:ext cx="431800" cy="431800"/>
            <a:chOff x="0" y="0"/>
            <a:chExt cx="680" cy="680"/>
          </a:xfrm>
        </p:grpSpPr>
        <p:sp>
          <p:nvSpPr>
            <p:cNvPr id="124" name="Oval 75">
              <a:extLst>
                <a:ext uri="{FF2B5EF4-FFF2-40B4-BE49-F238E27FC236}">
                  <a16:creationId xmlns:a16="http://schemas.microsoft.com/office/drawing/2014/main" id="{E78C17E4-434A-447E-AFAD-964AD274815E}"/>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25" name="Text Box 76">
              <a:extLst>
                <a:ext uri="{FF2B5EF4-FFF2-40B4-BE49-F238E27FC236}">
                  <a16:creationId xmlns:a16="http://schemas.microsoft.com/office/drawing/2014/main" id="{52FA7C71-D88B-4032-9DD6-29753C876A01}"/>
                </a:ext>
              </a:extLst>
            </p:cNvPr>
            <p:cNvSpPr txBox="1">
              <a:spLocks noChangeArrowheads="1"/>
            </p:cNvSpPr>
            <p:nvPr/>
          </p:nvSpPr>
          <p:spPr bwMode="auto">
            <a:xfrm>
              <a:off x="114"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4</a:t>
              </a:r>
            </a:p>
          </p:txBody>
        </p:sp>
      </p:grpSp>
      <p:grpSp>
        <p:nvGrpSpPr>
          <p:cNvPr id="126" name="Group 77">
            <a:extLst>
              <a:ext uri="{FF2B5EF4-FFF2-40B4-BE49-F238E27FC236}">
                <a16:creationId xmlns:a16="http://schemas.microsoft.com/office/drawing/2014/main" id="{AA66F3D3-C367-447B-BFDD-9F1FF30AEDC6}"/>
              </a:ext>
            </a:extLst>
          </p:cNvPr>
          <p:cNvGrpSpPr/>
          <p:nvPr/>
        </p:nvGrpSpPr>
        <p:grpSpPr bwMode="auto">
          <a:xfrm>
            <a:off x="4491144" y="5675829"/>
            <a:ext cx="454025" cy="431800"/>
            <a:chOff x="0" y="0"/>
            <a:chExt cx="715" cy="680"/>
          </a:xfrm>
        </p:grpSpPr>
        <p:sp>
          <p:nvSpPr>
            <p:cNvPr id="127" name="Oval 78">
              <a:extLst>
                <a:ext uri="{FF2B5EF4-FFF2-40B4-BE49-F238E27FC236}">
                  <a16:creationId xmlns:a16="http://schemas.microsoft.com/office/drawing/2014/main" id="{93402621-639E-4687-A652-0825B562B1F6}"/>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28" name="Text Box 79">
              <a:extLst>
                <a:ext uri="{FF2B5EF4-FFF2-40B4-BE49-F238E27FC236}">
                  <a16:creationId xmlns:a16="http://schemas.microsoft.com/office/drawing/2014/main" id="{FF7D1787-2A32-4923-8F6C-4ACB536EB335}"/>
                </a:ext>
              </a:extLst>
            </p:cNvPr>
            <p:cNvSpPr txBox="1">
              <a:spLocks noChangeArrowheads="1"/>
            </p:cNvSpPr>
            <p:nvPr/>
          </p:nvSpPr>
          <p:spPr bwMode="auto">
            <a:xfrm>
              <a:off x="113" y="0"/>
              <a:ext cx="602"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5</a:t>
              </a:r>
            </a:p>
          </p:txBody>
        </p:sp>
      </p:grpSp>
      <p:sp>
        <p:nvSpPr>
          <p:cNvPr id="129" name="Line 80">
            <a:extLst>
              <a:ext uri="{FF2B5EF4-FFF2-40B4-BE49-F238E27FC236}">
                <a16:creationId xmlns:a16="http://schemas.microsoft.com/office/drawing/2014/main" id="{C1A99C89-8A48-4AEC-BAC3-AC7F2740B796}"/>
              </a:ext>
            </a:extLst>
          </p:cNvPr>
          <p:cNvSpPr>
            <a:spLocks noChangeShapeType="1"/>
          </p:cNvSpPr>
          <p:nvPr/>
        </p:nvSpPr>
        <p:spPr bwMode="auto">
          <a:xfrm>
            <a:off x="4851506" y="6036192"/>
            <a:ext cx="287338" cy="360362"/>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30" name="Line 81">
            <a:extLst>
              <a:ext uri="{FF2B5EF4-FFF2-40B4-BE49-F238E27FC236}">
                <a16:creationId xmlns:a16="http://schemas.microsoft.com/office/drawing/2014/main" id="{28C5D489-38A3-43EA-9D44-850A144E4844}"/>
              </a:ext>
            </a:extLst>
          </p:cNvPr>
          <p:cNvSpPr>
            <a:spLocks noChangeShapeType="1"/>
          </p:cNvSpPr>
          <p:nvPr/>
        </p:nvSpPr>
        <p:spPr bwMode="auto">
          <a:xfrm>
            <a:off x="4275244" y="5386904"/>
            <a:ext cx="287337" cy="360363"/>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31" name="Text Box 82">
            <a:extLst>
              <a:ext uri="{FF2B5EF4-FFF2-40B4-BE49-F238E27FC236}">
                <a16:creationId xmlns:a16="http://schemas.microsoft.com/office/drawing/2014/main" id="{DE29189E-3594-4194-A4DF-BCC9D8C50E4F}"/>
              </a:ext>
            </a:extLst>
          </p:cNvPr>
          <p:cNvSpPr txBox="1">
            <a:spLocks noChangeArrowheads="1"/>
          </p:cNvSpPr>
          <p:nvPr/>
        </p:nvSpPr>
        <p:spPr bwMode="auto">
          <a:xfrm>
            <a:off x="6036416" y="5067808"/>
            <a:ext cx="4235048" cy="78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lnSpc>
                <a:spcPct val="150000"/>
              </a:lnSpc>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用father[i]表示元素i的父亲结点，进行不断并到不同的集合中</a:t>
            </a:r>
          </a:p>
        </p:txBody>
      </p:sp>
    </p:spTree>
    <p:extLst>
      <p:ext uri="{BB962C8B-B14F-4D97-AF65-F5344CB8AC3E}">
        <p14:creationId xmlns:p14="http://schemas.microsoft.com/office/powerpoint/2010/main" val="2407720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4" name="矩形 3">
            <a:extLst>
              <a:ext uri="{FF2B5EF4-FFF2-40B4-BE49-F238E27FC236}">
                <a16:creationId xmlns:a16="http://schemas.microsoft.com/office/drawing/2014/main" id="{2C8D514C-0B2E-44CF-8F8F-D573CB8829B0}"/>
              </a:ext>
            </a:extLst>
          </p:cNvPr>
          <p:cNvSpPr/>
          <p:nvPr/>
        </p:nvSpPr>
        <p:spPr>
          <a:xfrm>
            <a:off x="1025001" y="1291091"/>
            <a:ext cx="6096000" cy="5632311"/>
          </a:xfrm>
          <a:prstGeom prst="rect">
            <a:avLst/>
          </a:prstGeom>
        </p:spPr>
        <p:txBody>
          <a:bodyPr>
            <a:spAutoFit/>
          </a:bodyPr>
          <a:lstStyle/>
          <a:p>
            <a:r>
              <a:rPr lang="zh-CN" altLang="en-US" dirty="0">
                <a:latin typeface="Times New Roman" panose="02020603050405020304" pitchFamily="18" charset="0"/>
                <a:cs typeface="Times New Roman" panose="02020603050405020304" pitchFamily="18" charset="0"/>
              </a:rPr>
              <a:t>具体程序如下：</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#include&lt;bits/</a:t>
            </a:r>
            <a:r>
              <a:rPr lang="en-US" altLang="zh-CN" dirty="0" err="1">
                <a:latin typeface="Times New Roman" panose="02020603050405020304" pitchFamily="18" charset="0"/>
                <a:cs typeface="Times New Roman" panose="02020603050405020304" pitchFamily="18" charset="0"/>
              </a:rPr>
              <a:t>stdc</a:t>
            </a:r>
            <a:r>
              <a:rPr lang="en-US" altLang="zh-CN" dirty="0">
                <a:latin typeface="Times New Roman" panose="02020603050405020304" pitchFamily="18" charset="0"/>
                <a:cs typeface="Times New Roman" panose="02020603050405020304" pitchFamily="18" charset="0"/>
              </a:rPr>
              <a:t>++.h&gt;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using namespace std;</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#define </a:t>
            </a:r>
            <a:r>
              <a:rPr lang="en-US" altLang="zh-CN" dirty="0" err="1">
                <a:latin typeface="Times New Roman" panose="02020603050405020304" pitchFamily="18" charset="0"/>
                <a:cs typeface="Times New Roman" panose="02020603050405020304" pitchFamily="18" charset="0"/>
              </a:rPr>
              <a:t>maxn</a:t>
            </a:r>
            <a:r>
              <a:rPr lang="en-US" altLang="zh-CN" dirty="0">
                <a:latin typeface="Times New Roman" panose="02020603050405020304" pitchFamily="18" charset="0"/>
                <a:cs typeface="Times New Roman" panose="02020603050405020304" pitchFamily="18" charset="0"/>
              </a:rPr>
              <a:t> 20001</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father[</a:t>
            </a:r>
            <a:r>
              <a:rPr lang="en-US" altLang="zh-CN" dirty="0" err="1">
                <a:latin typeface="Times New Roman" panose="02020603050405020304" pitchFamily="18" charset="0"/>
                <a:cs typeface="Times New Roman" panose="02020603050405020304" pitchFamily="18" charset="0"/>
              </a:rPr>
              <a:t>maxn</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a:t>
            </a:r>
            <a:r>
              <a:rPr lang="en-US" altLang="zh-CN" dirty="0" err="1">
                <a:latin typeface="Times New Roman" panose="02020603050405020304" pitchFamily="18" charset="0"/>
                <a:cs typeface="Times New Roman" panose="02020603050405020304" pitchFamily="18" charset="0"/>
              </a:rPr>
              <a:t>m,n,i,x,y,q</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find(int x)                  //</a:t>
            </a:r>
            <a:r>
              <a:rPr lang="zh-CN" altLang="en-US" dirty="0">
                <a:latin typeface="Times New Roman" panose="02020603050405020304" pitchFamily="18" charset="0"/>
                <a:cs typeface="Times New Roman" panose="02020603050405020304" pitchFamily="18" charset="0"/>
              </a:rPr>
              <a:t>用非递归的实现</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while (father[x] != x) x = father[x];</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return x;</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find(int x)                   //</a:t>
            </a:r>
            <a:r>
              <a:rPr lang="zh-CN" altLang="en-US" dirty="0">
                <a:latin typeface="Times New Roman" panose="02020603050405020304" pitchFamily="18" charset="0"/>
                <a:cs typeface="Times New Roman" panose="02020603050405020304" pitchFamily="18" charset="0"/>
              </a:rPr>
              <a:t>用递归的实现</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if (father[x] != x) return find(father[x]);</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else return x;</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unionn</a:t>
            </a:r>
            <a:r>
              <a:rPr lang="en-US" altLang="zh-CN" dirty="0">
                <a:latin typeface="Times New Roman" panose="02020603050405020304" pitchFamily="18" charset="0"/>
                <a:cs typeface="Times New Roman" panose="02020603050405020304" pitchFamily="18" charset="0"/>
              </a:rPr>
              <a:t>(int r1,int r2)</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father[r2] = r1;</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2601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7" name="矩形 6">
            <a:extLst>
              <a:ext uri="{FF2B5EF4-FFF2-40B4-BE49-F238E27FC236}">
                <a16:creationId xmlns:a16="http://schemas.microsoft.com/office/drawing/2014/main" id="{C9CD0508-9C72-4A9F-8AD8-48B83D6E59D1}"/>
              </a:ext>
            </a:extLst>
          </p:cNvPr>
          <p:cNvSpPr/>
          <p:nvPr/>
        </p:nvSpPr>
        <p:spPr>
          <a:xfrm>
            <a:off x="1015013" y="1239577"/>
            <a:ext cx="10641367" cy="5632311"/>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int main()</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cin</a:t>
            </a:r>
            <a:r>
              <a:rPr lang="en-US" altLang="zh-CN" dirty="0">
                <a:latin typeface="Times New Roman" panose="02020603050405020304" pitchFamily="18" charset="0"/>
                <a:cs typeface="Times New Roman" panose="02020603050405020304" pitchFamily="18" charset="0"/>
              </a:rPr>
              <a:t> &gt;&gt; n &gt;&gt; m;</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&lt;= n;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father[</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建立新的集合，其仅有的成员是</a:t>
            </a:r>
            <a:r>
              <a:rPr lang="en-US" altLang="zh-CN" dirty="0" err="1">
                <a:latin typeface="Times New Roman" panose="02020603050405020304" pitchFamily="18" charset="0"/>
                <a:cs typeface="Times New Roman" panose="02020603050405020304" pitchFamily="18" charset="0"/>
              </a:rPr>
              <a:t>i</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&lt;= m;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scanf</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d%d</a:t>
            </a:r>
            <a:r>
              <a:rPr lang="en-US" altLang="zh-CN" dirty="0">
                <a:latin typeface="Times New Roman" panose="02020603050405020304" pitchFamily="18" charset="0"/>
                <a:cs typeface="Times New Roman" panose="02020603050405020304" pitchFamily="18" charset="0"/>
              </a:rPr>
              <a:t>",&amp;</a:t>
            </a:r>
            <a:r>
              <a:rPr lang="en-US" altLang="zh-CN" dirty="0" err="1">
                <a:latin typeface="Times New Roman" panose="02020603050405020304" pitchFamily="18" charset="0"/>
                <a:cs typeface="Times New Roman" panose="02020603050405020304" pitchFamily="18" charset="0"/>
              </a:rPr>
              <a:t>x,&amp;y</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r1 = find(x), r2 = find(y);</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if (r1 != r2) </a:t>
            </a:r>
            <a:r>
              <a:rPr lang="en-US" altLang="zh-CN" dirty="0" err="1">
                <a:latin typeface="Times New Roman" panose="02020603050405020304" pitchFamily="18" charset="0"/>
                <a:cs typeface="Times New Roman" panose="02020603050405020304" pitchFamily="18" charset="0"/>
              </a:rPr>
              <a:t>unionn</a:t>
            </a:r>
            <a:r>
              <a:rPr lang="en-US" altLang="zh-CN" dirty="0">
                <a:latin typeface="Times New Roman" panose="02020603050405020304" pitchFamily="18" charset="0"/>
                <a:cs typeface="Times New Roman" panose="02020603050405020304" pitchFamily="18" charset="0"/>
              </a:rPr>
              <a:t>(r1,r2);</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p>
          <a:p>
            <a:r>
              <a:rPr lang="zh-CN" altLang="en-US"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cin</a:t>
            </a:r>
            <a:r>
              <a:rPr lang="en-US" altLang="zh-CN" dirty="0">
                <a:latin typeface="Times New Roman" panose="02020603050405020304" pitchFamily="18" charset="0"/>
                <a:cs typeface="Times New Roman" panose="02020603050405020304" pitchFamily="18" charset="0"/>
              </a:rPr>
              <a:t> &gt;&gt; q;</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&lt;= q;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scanf</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d%d</a:t>
            </a:r>
            <a:r>
              <a:rPr lang="en-US" altLang="zh-CN" dirty="0">
                <a:latin typeface="Times New Roman" panose="02020603050405020304" pitchFamily="18" charset="0"/>
                <a:cs typeface="Times New Roman" panose="02020603050405020304" pitchFamily="18" charset="0"/>
              </a:rPr>
              <a:t>",&amp;</a:t>
            </a:r>
            <a:r>
              <a:rPr lang="en-US" altLang="zh-CN" dirty="0" err="1">
                <a:latin typeface="Times New Roman" panose="02020603050405020304" pitchFamily="18" charset="0"/>
                <a:cs typeface="Times New Roman" panose="02020603050405020304" pitchFamily="18" charset="0"/>
              </a:rPr>
              <a:t>x,&amp;y</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if (find(x) == find(y)) </a:t>
            </a:r>
            <a:r>
              <a:rPr lang="en-US" altLang="zh-CN" dirty="0" err="1">
                <a:latin typeface="Times New Roman" panose="02020603050405020304" pitchFamily="18" charset="0"/>
                <a:cs typeface="Times New Roman" panose="02020603050405020304" pitchFamily="18" charset="0"/>
              </a:rPr>
              <a:t>printf</a:t>
            </a:r>
            <a:r>
              <a:rPr lang="en-US" altLang="zh-CN" dirty="0">
                <a:latin typeface="Times New Roman" panose="02020603050405020304" pitchFamily="18" charset="0"/>
                <a:cs typeface="Times New Roman" panose="02020603050405020304" pitchFamily="18" charset="0"/>
              </a:rPr>
              <a:t>("Yes\n");</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else </a:t>
            </a:r>
            <a:r>
              <a:rPr lang="en-US" altLang="zh-CN" dirty="0" err="1">
                <a:latin typeface="Times New Roman" panose="02020603050405020304" pitchFamily="18" charset="0"/>
                <a:cs typeface="Times New Roman" panose="02020603050405020304" pitchFamily="18" charset="0"/>
              </a:rPr>
              <a:t>printf</a:t>
            </a:r>
            <a:r>
              <a:rPr lang="en-US" altLang="zh-CN" dirty="0">
                <a:latin typeface="Times New Roman" panose="02020603050405020304" pitchFamily="18" charset="0"/>
                <a:cs typeface="Times New Roman" panose="02020603050405020304" pitchFamily="18" charset="0"/>
              </a:rPr>
              <a:t>("No\n");</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return 0;</a:t>
            </a:r>
          </a:p>
          <a:p>
            <a:r>
              <a:rPr lang="en-US" altLang="zh-CN" dirty="0">
                <a:latin typeface="Times New Roman" panose="02020603050405020304" pitchFamily="18" charset="0"/>
                <a:cs typeface="Times New Roman" panose="02020603050405020304" pitchFamily="18" charset="0"/>
              </a:rPr>
              <a:t>        }</a:t>
            </a:r>
          </a:p>
          <a:p>
            <a:r>
              <a:rPr lang="zh-CN" altLang="en-US" dirty="0">
                <a:latin typeface="Times New Roman" panose="02020603050405020304" pitchFamily="18" charset="0"/>
                <a:cs typeface="Times New Roman" panose="02020603050405020304" pitchFamily="18" charset="0"/>
              </a:rPr>
              <a:t>　　以上做法当数据比较特殊的时候，比如一条单链老长，数据这种“并”与“查”的方式肯定会超时。</a:t>
            </a:r>
          </a:p>
        </p:txBody>
      </p:sp>
    </p:spTree>
    <p:extLst>
      <p:ext uri="{BB962C8B-B14F-4D97-AF65-F5344CB8AC3E}">
        <p14:creationId xmlns:p14="http://schemas.microsoft.com/office/powerpoint/2010/main" val="676324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9" name="Text Box 9">
            <a:extLst>
              <a:ext uri="{FF2B5EF4-FFF2-40B4-BE49-F238E27FC236}">
                <a16:creationId xmlns:a16="http://schemas.microsoft.com/office/drawing/2014/main" id="{305EE4C9-BC03-457A-B804-A39A4671EF84}"/>
              </a:ext>
            </a:extLst>
          </p:cNvPr>
          <p:cNvSpPr txBox="1">
            <a:spLocks noChangeArrowheads="1"/>
          </p:cNvSpPr>
          <p:nvPr/>
        </p:nvSpPr>
        <p:spPr bwMode="auto">
          <a:xfrm>
            <a:off x="967555" y="1362312"/>
            <a:ext cx="9980682" cy="2043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优化的方法</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路径压缩</a:t>
            </a:r>
          </a:p>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　　此种做法就是将元素的父亲结点指来指去地指，当这棵树是链的时候，可见判断两个元素是否属于同一集合需要</a:t>
            </a:r>
            <a:r>
              <a:rPr lang="en-US" altLang="zh-CN" sz="1600" dirty="0">
                <a:latin typeface="微软雅黑" panose="020B0503020204020204" pitchFamily="34" charset="-122"/>
                <a:ea typeface="微软雅黑" panose="020B0503020204020204" pitchFamily="34" charset="-122"/>
              </a:rPr>
              <a:t>O(n)</a:t>
            </a:r>
            <a:r>
              <a:rPr lang="zh-CN" altLang="en-US" sz="1600" dirty="0">
                <a:latin typeface="微软雅黑" panose="020B0503020204020204" pitchFamily="34" charset="-122"/>
                <a:ea typeface="微软雅黑" panose="020B0503020204020204" pitchFamily="34" charset="-122"/>
              </a:rPr>
              <a:t>的时间，于是路径压缩产生了作用。</a:t>
            </a:r>
          </a:p>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　　路径压缩实际上是在找完根结点之后，在递归回来的时候顺便把</a:t>
            </a:r>
            <a:r>
              <a:rPr lang="zh-CN" altLang="en-US" sz="1600" b="1" dirty="0">
                <a:solidFill>
                  <a:schemeClr val="accent2"/>
                </a:solidFill>
                <a:latin typeface="微软雅黑" panose="020B0503020204020204" pitchFamily="34" charset="-122"/>
                <a:ea typeface="微软雅黑" panose="020B0503020204020204" pitchFamily="34" charset="-122"/>
              </a:rPr>
              <a:t>路径上元素的父亲指针都指向根结点</a:t>
            </a:r>
            <a:r>
              <a:rPr lang="zh-CN" altLang="en-US" sz="1600" dirty="0">
                <a:latin typeface="微软雅黑" panose="020B0503020204020204" pitchFamily="34" charset="-122"/>
                <a:ea typeface="微软雅黑" panose="020B0503020204020204" pitchFamily="34" charset="-122"/>
              </a:rPr>
              <a:t>。</a:t>
            </a:r>
          </a:p>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　　这就是说，我们在“合并</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的时候，不是简单地将</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的父亲指向</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，而是直接指向根节点</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，如图：</a:t>
            </a:r>
          </a:p>
        </p:txBody>
      </p:sp>
      <p:sp>
        <p:nvSpPr>
          <p:cNvPr id="29" name="Text Box 27">
            <a:extLst>
              <a:ext uri="{FF2B5EF4-FFF2-40B4-BE49-F238E27FC236}">
                <a16:creationId xmlns:a16="http://schemas.microsoft.com/office/drawing/2014/main" id="{2B10EE33-1F04-4CB5-8827-D545B52BB2CE}"/>
              </a:ext>
            </a:extLst>
          </p:cNvPr>
          <p:cNvSpPr txBox="1">
            <a:spLocks noChangeArrowheads="1"/>
          </p:cNvSpPr>
          <p:nvPr/>
        </p:nvSpPr>
        <p:spPr bwMode="auto">
          <a:xfrm>
            <a:off x="1273576" y="5114240"/>
            <a:ext cx="8072437" cy="152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zh-CN" sz="1600" dirty="0">
                <a:latin typeface="微软雅黑" panose="020B0503020204020204" pitchFamily="34" charset="-122"/>
                <a:ea typeface="微软雅黑" panose="020B0503020204020204" pitchFamily="34" charset="-122"/>
              </a:rPr>
              <a:t>【程序清单】</a:t>
            </a:r>
          </a:p>
          <a:p>
            <a:pPr>
              <a:lnSpc>
                <a:spcPct val="150000"/>
              </a:lnSpc>
            </a:pPr>
            <a:r>
              <a:rPr lang="zh-CN" altLang="zh-CN" sz="1600" dirty="0">
                <a:latin typeface="微软雅黑" panose="020B0503020204020204" pitchFamily="34" charset="-122"/>
                <a:ea typeface="微软雅黑" panose="020B0503020204020204" pitchFamily="34" charset="-122"/>
              </a:rPr>
              <a:t>（1）初始化：</a:t>
            </a:r>
          </a:p>
          <a:p>
            <a:pPr>
              <a:lnSpc>
                <a:spcPct val="150000"/>
              </a:lnSpc>
            </a:pPr>
            <a:r>
              <a:rPr lang="zh-CN" altLang="zh-CN" sz="1600" dirty="0">
                <a:latin typeface="微软雅黑" panose="020B0503020204020204" pitchFamily="34" charset="-122"/>
                <a:ea typeface="微软雅黑" panose="020B0503020204020204" pitchFamily="34" charset="-122"/>
              </a:rPr>
              <a:t>　for (i = 1; i &lt;= n; i++) father[i] = i;</a:t>
            </a:r>
          </a:p>
          <a:p>
            <a:pPr>
              <a:lnSpc>
                <a:spcPct val="150000"/>
              </a:lnSpc>
            </a:pPr>
            <a:r>
              <a:rPr lang="zh-CN" altLang="zh-CN" sz="1600" dirty="0">
                <a:latin typeface="微软雅黑" panose="020B0503020204020204" pitchFamily="34" charset="-122"/>
                <a:ea typeface="微软雅黑" panose="020B0503020204020204" pitchFamily="34" charset="-122"/>
              </a:rPr>
              <a:t>　因为每个元素属于单独的一个集合，所以每个元素以自己作为根结点。</a:t>
            </a:r>
          </a:p>
        </p:txBody>
      </p:sp>
      <p:grpSp>
        <p:nvGrpSpPr>
          <p:cNvPr id="30" name="Group 7">
            <a:extLst>
              <a:ext uri="{FF2B5EF4-FFF2-40B4-BE49-F238E27FC236}">
                <a16:creationId xmlns:a16="http://schemas.microsoft.com/office/drawing/2014/main" id="{96ED1B81-CDC5-4507-8F2A-5A608C1A00C5}"/>
              </a:ext>
            </a:extLst>
          </p:cNvPr>
          <p:cNvGrpSpPr/>
          <p:nvPr/>
        </p:nvGrpSpPr>
        <p:grpSpPr bwMode="auto">
          <a:xfrm>
            <a:off x="3582996" y="3780284"/>
            <a:ext cx="431800" cy="431800"/>
            <a:chOff x="0" y="0"/>
            <a:chExt cx="680" cy="680"/>
          </a:xfrm>
        </p:grpSpPr>
        <p:sp>
          <p:nvSpPr>
            <p:cNvPr id="31" name="Oval 8">
              <a:extLst>
                <a:ext uri="{FF2B5EF4-FFF2-40B4-BE49-F238E27FC236}">
                  <a16:creationId xmlns:a16="http://schemas.microsoft.com/office/drawing/2014/main" id="{6B2E7D91-DF9B-4B71-B122-E2F0CF77B8E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32" name="Text Box 9">
              <a:extLst>
                <a:ext uri="{FF2B5EF4-FFF2-40B4-BE49-F238E27FC236}">
                  <a16:creationId xmlns:a16="http://schemas.microsoft.com/office/drawing/2014/main" id="{9DFD7105-C48F-4487-A18A-5870B1D1A919}"/>
                </a:ext>
              </a:extLst>
            </p:cNvPr>
            <p:cNvSpPr txBox="1">
              <a:spLocks noChangeArrowheads="1"/>
            </p:cNvSpPr>
            <p:nvPr/>
          </p:nvSpPr>
          <p:spPr bwMode="auto">
            <a:xfrm>
              <a:off x="113" y="0"/>
              <a:ext cx="550"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rPr>
                <a:t>1</a:t>
              </a:r>
            </a:p>
          </p:txBody>
        </p:sp>
      </p:grpSp>
      <p:grpSp>
        <p:nvGrpSpPr>
          <p:cNvPr id="33" name="Group 10">
            <a:extLst>
              <a:ext uri="{FF2B5EF4-FFF2-40B4-BE49-F238E27FC236}">
                <a16:creationId xmlns:a16="http://schemas.microsoft.com/office/drawing/2014/main" id="{28FB4657-7EA2-4AD2-B236-B5DB7E836369}"/>
              </a:ext>
            </a:extLst>
          </p:cNvPr>
          <p:cNvGrpSpPr/>
          <p:nvPr/>
        </p:nvGrpSpPr>
        <p:grpSpPr bwMode="auto">
          <a:xfrm>
            <a:off x="1422408" y="4499421"/>
            <a:ext cx="431800" cy="431800"/>
            <a:chOff x="0" y="0"/>
            <a:chExt cx="680" cy="680"/>
          </a:xfrm>
        </p:grpSpPr>
        <p:sp>
          <p:nvSpPr>
            <p:cNvPr id="34" name="Oval 11">
              <a:extLst>
                <a:ext uri="{FF2B5EF4-FFF2-40B4-BE49-F238E27FC236}">
                  <a16:creationId xmlns:a16="http://schemas.microsoft.com/office/drawing/2014/main" id="{BD13EDE3-A286-445B-BDC3-640090B7855A}"/>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35" name="Text Box 12">
              <a:extLst>
                <a:ext uri="{FF2B5EF4-FFF2-40B4-BE49-F238E27FC236}">
                  <a16:creationId xmlns:a16="http://schemas.microsoft.com/office/drawing/2014/main" id="{22B537AF-35DB-4E43-BE2F-41375DD71A68}"/>
                </a:ext>
              </a:extLst>
            </p:cNvPr>
            <p:cNvSpPr txBox="1">
              <a:spLocks noChangeArrowheads="1"/>
            </p:cNvSpPr>
            <p:nvPr/>
          </p:nvSpPr>
          <p:spPr bwMode="auto">
            <a:xfrm>
              <a:off x="113" y="0"/>
              <a:ext cx="48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rPr>
                <a:t>2</a:t>
              </a:r>
            </a:p>
          </p:txBody>
        </p:sp>
      </p:grpSp>
      <p:grpSp>
        <p:nvGrpSpPr>
          <p:cNvPr id="36" name="Group 13">
            <a:extLst>
              <a:ext uri="{FF2B5EF4-FFF2-40B4-BE49-F238E27FC236}">
                <a16:creationId xmlns:a16="http://schemas.microsoft.com/office/drawing/2014/main" id="{B882D9A0-4039-4C63-AE58-DC31E664B835}"/>
              </a:ext>
            </a:extLst>
          </p:cNvPr>
          <p:cNvGrpSpPr/>
          <p:nvPr/>
        </p:nvGrpSpPr>
        <p:grpSpPr bwMode="auto">
          <a:xfrm>
            <a:off x="3149608" y="4499421"/>
            <a:ext cx="431800" cy="431800"/>
            <a:chOff x="0" y="0"/>
            <a:chExt cx="680" cy="680"/>
          </a:xfrm>
        </p:grpSpPr>
        <p:sp>
          <p:nvSpPr>
            <p:cNvPr id="37" name="Oval 14">
              <a:extLst>
                <a:ext uri="{FF2B5EF4-FFF2-40B4-BE49-F238E27FC236}">
                  <a16:creationId xmlns:a16="http://schemas.microsoft.com/office/drawing/2014/main" id="{DF8ED8A5-CF80-448A-A3C6-D402CA21F555}"/>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38" name="Text Box 15">
              <a:extLst>
                <a:ext uri="{FF2B5EF4-FFF2-40B4-BE49-F238E27FC236}">
                  <a16:creationId xmlns:a16="http://schemas.microsoft.com/office/drawing/2014/main" id="{8046AEF2-B5A7-40C3-B029-378E4E2AFA98}"/>
                </a:ext>
              </a:extLst>
            </p:cNvPr>
            <p:cNvSpPr txBox="1">
              <a:spLocks noChangeArrowheads="1"/>
            </p:cNvSpPr>
            <p:nvPr/>
          </p:nvSpPr>
          <p:spPr bwMode="auto">
            <a:xfrm>
              <a:off x="113" y="0"/>
              <a:ext cx="48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rPr>
                <a:t>3</a:t>
              </a:r>
            </a:p>
          </p:txBody>
        </p:sp>
      </p:grpSp>
      <p:grpSp>
        <p:nvGrpSpPr>
          <p:cNvPr id="39" name="Group 16">
            <a:extLst>
              <a:ext uri="{FF2B5EF4-FFF2-40B4-BE49-F238E27FC236}">
                <a16:creationId xmlns:a16="http://schemas.microsoft.com/office/drawing/2014/main" id="{B8C3284C-0B5B-49A2-B1DD-85BCFA9C8EBA}"/>
              </a:ext>
            </a:extLst>
          </p:cNvPr>
          <p:cNvGrpSpPr/>
          <p:nvPr/>
        </p:nvGrpSpPr>
        <p:grpSpPr bwMode="auto">
          <a:xfrm>
            <a:off x="5526096" y="4572446"/>
            <a:ext cx="431800" cy="431800"/>
            <a:chOff x="0" y="0"/>
            <a:chExt cx="680" cy="680"/>
          </a:xfrm>
        </p:grpSpPr>
        <p:sp>
          <p:nvSpPr>
            <p:cNvPr id="40" name="Oval 17">
              <a:extLst>
                <a:ext uri="{FF2B5EF4-FFF2-40B4-BE49-F238E27FC236}">
                  <a16:creationId xmlns:a16="http://schemas.microsoft.com/office/drawing/2014/main" id="{1F8E6148-1409-4EF5-90B2-90E78C6686BD}"/>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41" name="Text Box 18">
              <a:extLst>
                <a:ext uri="{FF2B5EF4-FFF2-40B4-BE49-F238E27FC236}">
                  <a16:creationId xmlns:a16="http://schemas.microsoft.com/office/drawing/2014/main" id="{1C247A9B-5C5E-4974-AA09-3DFFE146A9B4}"/>
                </a:ext>
              </a:extLst>
            </p:cNvPr>
            <p:cNvSpPr txBox="1">
              <a:spLocks noChangeArrowheads="1"/>
            </p:cNvSpPr>
            <p:nvPr/>
          </p:nvSpPr>
          <p:spPr bwMode="auto">
            <a:xfrm>
              <a:off x="114" y="0"/>
              <a:ext cx="48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rPr>
                <a:t>4</a:t>
              </a:r>
            </a:p>
          </p:txBody>
        </p:sp>
      </p:grpSp>
      <p:grpSp>
        <p:nvGrpSpPr>
          <p:cNvPr id="42" name="Group 19">
            <a:extLst>
              <a:ext uri="{FF2B5EF4-FFF2-40B4-BE49-F238E27FC236}">
                <a16:creationId xmlns:a16="http://schemas.microsoft.com/office/drawing/2014/main" id="{C15AEC38-A0E1-44A1-B114-CF869CF8188D}"/>
              </a:ext>
            </a:extLst>
          </p:cNvPr>
          <p:cNvGrpSpPr/>
          <p:nvPr/>
        </p:nvGrpSpPr>
        <p:grpSpPr bwMode="auto">
          <a:xfrm>
            <a:off x="4159258" y="4572446"/>
            <a:ext cx="454025" cy="431800"/>
            <a:chOff x="0" y="0"/>
            <a:chExt cx="715" cy="680"/>
          </a:xfrm>
        </p:grpSpPr>
        <p:sp>
          <p:nvSpPr>
            <p:cNvPr id="43" name="Oval 20">
              <a:extLst>
                <a:ext uri="{FF2B5EF4-FFF2-40B4-BE49-F238E27FC236}">
                  <a16:creationId xmlns:a16="http://schemas.microsoft.com/office/drawing/2014/main" id="{9FEE3DB8-A29A-4602-9C1A-08AAAE46896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44" name="Text Box 21">
              <a:extLst>
                <a:ext uri="{FF2B5EF4-FFF2-40B4-BE49-F238E27FC236}">
                  <a16:creationId xmlns:a16="http://schemas.microsoft.com/office/drawing/2014/main" id="{FBC06536-D48E-4EFE-A5CA-E7953BCABEB6}"/>
                </a:ext>
              </a:extLst>
            </p:cNvPr>
            <p:cNvSpPr txBox="1">
              <a:spLocks noChangeArrowheads="1"/>
            </p:cNvSpPr>
            <p:nvPr/>
          </p:nvSpPr>
          <p:spPr bwMode="auto">
            <a:xfrm>
              <a:off x="113" y="0"/>
              <a:ext cx="602"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rPr>
                <a:t>5</a:t>
              </a:r>
            </a:p>
          </p:txBody>
        </p:sp>
      </p:grpSp>
      <p:sp>
        <p:nvSpPr>
          <p:cNvPr id="45" name="Line 22">
            <a:extLst>
              <a:ext uri="{FF2B5EF4-FFF2-40B4-BE49-F238E27FC236}">
                <a16:creationId xmlns:a16="http://schemas.microsoft.com/office/drawing/2014/main" id="{4387B79D-FF2B-458E-A4A2-B1635D52DBB5}"/>
              </a:ext>
            </a:extLst>
          </p:cNvPr>
          <p:cNvSpPr>
            <a:spLocks noChangeShapeType="1"/>
          </p:cNvSpPr>
          <p:nvPr/>
        </p:nvSpPr>
        <p:spPr bwMode="auto">
          <a:xfrm flipH="1">
            <a:off x="1782771" y="4067621"/>
            <a:ext cx="1800225" cy="504825"/>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46" name="Line 23">
            <a:extLst>
              <a:ext uri="{FF2B5EF4-FFF2-40B4-BE49-F238E27FC236}">
                <a16:creationId xmlns:a16="http://schemas.microsoft.com/office/drawing/2014/main" id="{FA534B95-B03E-452E-9BDC-DF64FA3A615B}"/>
              </a:ext>
            </a:extLst>
          </p:cNvPr>
          <p:cNvSpPr>
            <a:spLocks noChangeShapeType="1"/>
          </p:cNvSpPr>
          <p:nvPr/>
        </p:nvSpPr>
        <p:spPr bwMode="auto">
          <a:xfrm flipH="1">
            <a:off x="3438533" y="4140646"/>
            <a:ext cx="215900" cy="360363"/>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47" name="Line 24">
            <a:extLst>
              <a:ext uri="{FF2B5EF4-FFF2-40B4-BE49-F238E27FC236}">
                <a16:creationId xmlns:a16="http://schemas.microsoft.com/office/drawing/2014/main" id="{C28642FD-F3B9-4FA8-89CC-6CD0C1FD7E4C}"/>
              </a:ext>
            </a:extLst>
          </p:cNvPr>
          <p:cNvSpPr>
            <a:spLocks noChangeShapeType="1"/>
          </p:cNvSpPr>
          <p:nvPr/>
        </p:nvSpPr>
        <p:spPr bwMode="auto">
          <a:xfrm>
            <a:off x="3943358" y="4140646"/>
            <a:ext cx="358775" cy="431800"/>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48" name="Line 25">
            <a:extLst>
              <a:ext uri="{FF2B5EF4-FFF2-40B4-BE49-F238E27FC236}">
                <a16:creationId xmlns:a16="http://schemas.microsoft.com/office/drawing/2014/main" id="{661C672F-C073-45D7-86FA-9305793652D5}"/>
              </a:ext>
            </a:extLst>
          </p:cNvPr>
          <p:cNvSpPr>
            <a:spLocks noChangeShapeType="1"/>
          </p:cNvSpPr>
          <p:nvPr/>
        </p:nvSpPr>
        <p:spPr bwMode="auto">
          <a:xfrm>
            <a:off x="4014796" y="4067621"/>
            <a:ext cx="1584325" cy="576263"/>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15967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04900" y="76200"/>
            <a:ext cx="9980682" cy="1096962"/>
          </a:xfrm>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4509E89E-4358-4EDE-B56F-B033D448DBD6}"/>
                  </a:ext>
                </a:extLst>
              </p:cNvPr>
              <p:cNvSpPr/>
              <p:nvPr/>
            </p:nvSpPr>
            <p:spPr>
              <a:xfrm>
                <a:off x="979504" y="1260222"/>
                <a:ext cx="6096000" cy="5444054"/>
              </a:xfrm>
              <a:prstGeom prst="rect">
                <a:avLst/>
              </a:prstGeom>
            </p:spPr>
            <p:txBody>
              <a:bodyPr>
                <a:spAutoFit/>
              </a:bodyPr>
              <a:lstStyle/>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（2）寻找根结点编号并压缩路径：</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find (int x)</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时间复杂度</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O</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func>
                      <m:funcPr>
                        <m:ctrlPr>
                          <a:rPr lang="en-US" altLang="zh-CN" i="1" smtClean="0">
                            <a:solidFill>
                              <a:srgbClr val="12012D"/>
                            </a:solidFill>
                            <a:latin typeface="Cambria Math" panose="02040503050406030204" pitchFamily="18" charset="0"/>
                            <a:ea typeface="黑体" panose="02010609060101010101" pitchFamily="49" charset="-122"/>
                            <a:cs typeface="Times New Roman" panose="02020603050405020304" pitchFamily="18" charset="0"/>
                          </a:rPr>
                        </m:ctrlPr>
                      </m:funcPr>
                      <m:fName>
                        <m:r>
                          <m:rPr>
                            <m:sty m:val="p"/>
                          </m:rPr>
                          <a:rPr lang="en-US" altLang="zh-CN" i="0" smtClean="0">
                            <a:solidFill>
                              <a:srgbClr val="12012D"/>
                            </a:solidFill>
                            <a:latin typeface="Cambria Math" panose="02040503050406030204" pitchFamily="18" charset="0"/>
                            <a:ea typeface="黑体" panose="02010609060101010101" pitchFamily="49" charset="-122"/>
                            <a:cs typeface="Times New Roman" panose="02020603050405020304" pitchFamily="18" charset="0"/>
                          </a:rPr>
                          <m:t>log</m:t>
                        </m:r>
                      </m:fName>
                      <m:e>
                        <m:r>
                          <m:rPr>
                            <m:sty m:val="p"/>
                          </m:rPr>
                          <a:rPr lang="en-US" altLang="zh-CN" i="1">
                            <a:solidFill>
                              <a:srgbClr val="12012D"/>
                            </a:solidFill>
                            <a:latin typeface="Cambria Math" panose="02040503050406030204" pitchFamily="18" charset="0"/>
                            <a:ea typeface="黑体" panose="02010609060101010101" pitchFamily="49" charset="-122"/>
                            <a:cs typeface="Times New Roman" panose="02020603050405020304" pitchFamily="18" charset="0"/>
                          </a:rPr>
                          <m:t>n</m:t>
                        </m:r>
                      </m:e>
                    </m:func>
                  </m:oMath>
                </a14:m>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if (father[x] != x) father[x] = find (father[x]);</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return father[x];</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pPr>
                  <a:lnSpc>
                    <a:spcPct val="150000"/>
                  </a:lnSpc>
                </a:pPr>
                <a:endPar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（3）合并两个集合： </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void unionn(int x,int y)</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x = find(x);y = find(y);</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father[y] = x;</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p:txBody>
          </p:sp>
        </mc:Choice>
        <mc:Fallback>
          <p:sp>
            <p:nvSpPr>
              <p:cNvPr id="4" name="矩形 3">
                <a:extLst>
                  <a:ext uri="{FF2B5EF4-FFF2-40B4-BE49-F238E27FC236}">
                    <a16:creationId xmlns:a16="http://schemas.microsoft.com/office/drawing/2014/main" id="{4509E89E-4358-4EDE-B56F-B033D448DBD6}"/>
                  </a:ext>
                </a:extLst>
              </p:cNvPr>
              <p:cNvSpPr>
                <a:spLocks noRot="1" noChangeAspect="1" noMove="1" noResize="1" noEditPoints="1" noAdjustHandles="1" noChangeArrowheads="1" noChangeShapeType="1" noTextEdit="1"/>
              </p:cNvSpPr>
              <p:nvPr/>
            </p:nvSpPr>
            <p:spPr>
              <a:xfrm>
                <a:off x="979504" y="1260222"/>
                <a:ext cx="6096000" cy="5444054"/>
              </a:xfrm>
              <a:prstGeom prst="rect">
                <a:avLst/>
              </a:prstGeom>
              <a:blipFill>
                <a:blip r:embed="rId2"/>
                <a:stretch>
                  <a:fillRect l="-900" b="-896"/>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EC7E8BC4-932C-4883-A39A-5BB45A0850A1}"/>
              </a:ext>
            </a:extLst>
          </p:cNvPr>
          <p:cNvSpPr/>
          <p:nvPr/>
        </p:nvSpPr>
        <p:spPr>
          <a:xfrm>
            <a:off x="6388963" y="1384313"/>
            <a:ext cx="6096000" cy="3779240"/>
          </a:xfrm>
          <a:prstGeom prst="rect">
            <a:avLst/>
          </a:prstGeom>
        </p:spPr>
        <p:txBody>
          <a:bodyPr>
            <a:spAutoFit/>
          </a:bodyPr>
          <a:lstStyle/>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（4）判断元素是否属于同一集合：</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bool  judge(int x,int y)</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x = find(x);</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y = find(y);</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if  (x == y)  return true;</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else return false;</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这个的引题已经完全阐述了并查集的基本操作和作用。</a:t>
            </a:r>
            <a:endParaRPr lang="zh-CN" altLang="zh-CN" dirty="0">
              <a:solidFill>
                <a:srgbClr val="12012D"/>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1053706" y="1192465"/>
            <a:ext cx="10015434" cy="562783"/>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程序实现</a:t>
            </a:r>
            <a:endParaRPr kumimoji="0"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
        <p:nvSpPr>
          <p:cNvPr id="6" name="矩形 5">
            <a:extLst>
              <a:ext uri="{FF2B5EF4-FFF2-40B4-BE49-F238E27FC236}">
                <a16:creationId xmlns:a16="http://schemas.microsoft.com/office/drawing/2014/main" id="{D86C2DF7-BF87-434E-93F0-0B9D233A4AB7}"/>
              </a:ext>
            </a:extLst>
          </p:cNvPr>
          <p:cNvSpPr/>
          <p:nvPr/>
        </p:nvSpPr>
        <p:spPr>
          <a:xfrm>
            <a:off x="1053706" y="1838003"/>
            <a:ext cx="6096000" cy="4247317"/>
          </a:xfrm>
          <a:prstGeom prst="rect">
            <a:avLst/>
          </a:prstGeom>
        </p:spPr>
        <p:txBody>
          <a:bodyPr>
            <a:spAutoFit/>
          </a:bodyPr>
          <a:lstStyle/>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#include&lt;</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bits/</a:t>
            </a:r>
            <a:r>
              <a:rPr lang="en-US" altLang="zh-CN" dirty="0" err="1">
                <a:solidFill>
                  <a:srgbClr val="12012D"/>
                </a:solidFill>
                <a:latin typeface="Times New Roman" panose="02020603050405020304" pitchFamily="18" charset="0"/>
                <a:ea typeface="黑体" panose="02010609060101010101" pitchFamily="49" charset="-122"/>
                <a:cs typeface="Times New Roman" panose="02020603050405020304" pitchFamily="18" charset="0"/>
              </a:rPr>
              <a:t>stdc</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++.h</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&gt;</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using namespace std;</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#define maxn 20001</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father[maxn];</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m,n,i,x,y,q;</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find(int x)                  //用递归的实现</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if (father[x] != x) father[x] = find(father[x]);</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路径压缩</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return father[x];</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void unionn(int r1,int r2)</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father[r2] = r1;</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dirty="0"/>
          </a:p>
        </p:txBody>
      </p:sp>
      <p:sp>
        <p:nvSpPr>
          <p:cNvPr id="8" name="Text Box 6">
            <a:extLst>
              <a:ext uri="{FF2B5EF4-FFF2-40B4-BE49-F238E27FC236}">
                <a16:creationId xmlns:a16="http://schemas.microsoft.com/office/drawing/2014/main" id="{C0A50A2E-FA70-4019-8859-B03C158D2C26}"/>
              </a:ext>
            </a:extLst>
          </p:cNvPr>
          <p:cNvSpPr txBox="1">
            <a:spLocks noChangeArrowheads="1"/>
          </p:cNvSpPr>
          <p:nvPr/>
        </p:nvSpPr>
        <p:spPr bwMode="auto">
          <a:xfrm>
            <a:off x="6211536" y="1007006"/>
            <a:ext cx="8505825"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solidFill>
                  <a:srgbClr val="12012D"/>
                </a:solidFill>
                <a:latin typeface="黑体" panose="02010609060101010101" pitchFamily="49" charset="-122"/>
                <a:ea typeface="黑体" panose="02010609060101010101" pitchFamily="49" charset="-122"/>
              </a:rPr>
              <a:t>　　</a:t>
            </a:r>
            <a:endPar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main()</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cin &gt;&gt; n &gt;&gt; m;</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for (i = 1; i &lt;= n; i++)    father[i] = i; </a:t>
            </a:r>
            <a:endPar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for (i = 1; i &lt;= m; i++)</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solidFill>
                  <a:srgbClr val="12012D"/>
                </a:solidFill>
                <a:latin typeface="Times New Roman" panose="02020603050405020304" pitchFamily="18" charset="0"/>
                <a:cs typeface="Times New Roman" panose="02020603050405020304" pitchFamily="18" charset="0"/>
              </a:rPr>
              <a:t>cin</a:t>
            </a:r>
            <a:r>
              <a:rPr lang="en-US" altLang="zh-CN" dirty="0">
                <a:solidFill>
                  <a:srgbClr val="12012D"/>
                </a:solidFill>
                <a:latin typeface="Times New Roman" panose="02020603050405020304" pitchFamily="18" charset="0"/>
                <a:cs typeface="Times New Roman" panose="02020603050405020304" pitchFamily="18" charset="0"/>
              </a:rPr>
              <a:t>&gt;&gt;</a:t>
            </a:r>
            <a:r>
              <a:rPr lang="zh-CN" altLang="en-US" dirty="0">
                <a:solidFill>
                  <a:srgbClr val="12012D"/>
                </a:solidFill>
                <a:latin typeface="Times New Roman" panose="02020603050405020304" pitchFamily="18" charset="0"/>
                <a:cs typeface="Times New Roman" panose="02020603050405020304" pitchFamily="18" charset="0"/>
              </a:rPr>
              <a:t>x</a:t>
            </a:r>
            <a:r>
              <a:rPr lang="en-US" altLang="zh-CN" dirty="0">
                <a:solidFill>
                  <a:srgbClr val="12012D"/>
                </a:solidFill>
                <a:latin typeface="Times New Roman" panose="02020603050405020304" pitchFamily="18" charset="0"/>
                <a:cs typeface="Times New Roman" panose="02020603050405020304" pitchFamily="18" charset="0"/>
              </a:rPr>
              <a:t>&gt;&gt;</a:t>
            </a:r>
            <a:r>
              <a:rPr lang="zh-CN" altLang="en-US" dirty="0">
                <a:solidFill>
                  <a:srgbClr val="12012D"/>
                </a:solidFill>
                <a:latin typeface="Times New Roman" panose="02020603050405020304" pitchFamily="18" charset="0"/>
                <a:cs typeface="Times New Roman" panose="02020603050405020304" pitchFamily="18" charset="0"/>
              </a:rPr>
              <a:t>y;</a:t>
            </a:r>
            <a:endPar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r1 = find(x);</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r2 = find(y);</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if (r1 != r2) unionn(r1,r2);</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    </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cin &gt;&gt; q;</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for (i = 1; i &lt;= q; i++)</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solidFill>
                  <a:srgbClr val="12012D"/>
                </a:solidFill>
                <a:latin typeface="Times New Roman" panose="02020603050405020304" pitchFamily="18" charset="0"/>
                <a:cs typeface="Times New Roman" panose="02020603050405020304" pitchFamily="18" charset="0"/>
              </a:rPr>
              <a:t> </a:t>
            </a:r>
            <a:r>
              <a:rPr lang="en-US" altLang="zh-CN" dirty="0" err="1">
                <a:solidFill>
                  <a:srgbClr val="12012D"/>
                </a:solidFill>
                <a:latin typeface="Times New Roman" panose="02020603050405020304" pitchFamily="18" charset="0"/>
                <a:cs typeface="Times New Roman" panose="02020603050405020304" pitchFamily="18" charset="0"/>
              </a:rPr>
              <a:t>cin</a:t>
            </a:r>
            <a:r>
              <a:rPr lang="en-US" altLang="zh-CN" dirty="0">
                <a:solidFill>
                  <a:srgbClr val="12012D"/>
                </a:solidFill>
                <a:latin typeface="Times New Roman" panose="02020603050405020304" pitchFamily="18" charset="0"/>
                <a:cs typeface="Times New Roman" panose="02020603050405020304" pitchFamily="18" charset="0"/>
              </a:rPr>
              <a:t>&gt;&gt;x&gt;&gt;y</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r>
              <a:rPr lang="zh-CN" altLang="en-US" dirty="0">
                <a:solidFill>
                  <a:srgbClr val="12012D"/>
                </a:solidFill>
                <a:latin typeface="Times New Roman" panose="02020603050405020304" pitchFamily="18" charset="0"/>
                <a:cs typeface="Times New Roman" panose="02020603050405020304" pitchFamily="18" charset="0"/>
              </a:rPr>
              <a:t>　　        </a:t>
            </a:r>
            <a:r>
              <a:rPr lang="en-US" altLang="zh-CN" dirty="0">
                <a:solidFill>
                  <a:srgbClr val="12012D"/>
                </a:solidFill>
                <a:latin typeface="Times New Roman" panose="02020603050405020304" pitchFamily="18" charset="0"/>
                <a:cs typeface="Times New Roman" panose="02020603050405020304" pitchFamily="18" charset="0"/>
              </a:rPr>
              <a:t>      </a:t>
            </a:r>
            <a:r>
              <a:rPr lang="zh-CN" altLang="en-US" dirty="0">
                <a:solidFill>
                  <a:srgbClr val="12012D"/>
                </a:solidFill>
                <a:latin typeface="Times New Roman" panose="02020603050405020304" pitchFamily="18" charset="0"/>
                <a:cs typeface="Times New Roman" panose="02020603050405020304" pitchFamily="18" charset="0"/>
              </a:rPr>
              <a:t>if (find(x) == find(y)) printf("Yes\n");</a:t>
            </a:r>
          </a:p>
          <a:p>
            <a:r>
              <a:rPr lang="zh-CN" altLang="en-US" dirty="0">
                <a:solidFill>
                  <a:srgbClr val="12012D"/>
                </a:solidFill>
                <a:latin typeface="Times New Roman" panose="02020603050405020304" pitchFamily="18" charset="0"/>
                <a:cs typeface="Times New Roman" panose="02020603050405020304" pitchFamily="18" charset="0"/>
              </a:rPr>
              <a:t>　　           </a:t>
            </a:r>
            <a:r>
              <a:rPr lang="en-US" altLang="zh-CN" dirty="0">
                <a:solidFill>
                  <a:srgbClr val="12012D"/>
                </a:solidFill>
                <a:latin typeface="Times New Roman" panose="02020603050405020304" pitchFamily="18" charset="0"/>
                <a:cs typeface="Times New Roman" panose="02020603050405020304" pitchFamily="18" charset="0"/>
              </a:rPr>
              <a:t>  </a:t>
            </a:r>
            <a:r>
              <a:rPr lang="zh-CN" altLang="en-US" dirty="0">
                <a:solidFill>
                  <a:srgbClr val="12012D"/>
                </a:solidFill>
                <a:latin typeface="Times New Roman" panose="02020603050405020304" pitchFamily="18" charset="0"/>
                <a:cs typeface="Times New Roman" panose="02020603050405020304" pitchFamily="18" charset="0"/>
              </a:rPr>
              <a:t> else printf("No\n");</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return 0;</a:t>
            </a:r>
            <a:endPar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p:txBody>
      </p:sp>
      <p:cxnSp>
        <p:nvCxnSpPr>
          <p:cNvPr id="11" name="直接连接符 10">
            <a:extLst>
              <a:ext uri="{FF2B5EF4-FFF2-40B4-BE49-F238E27FC236}">
                <a16:creationId xmlns:a16="http://schemas.microsoft.com/office/drawing/2014/main" id="{001E13A0-EC73-4331-A596-D8914651FBF5}"/>
              </a:ext>
            </a:extLst>
          </p:cNvPr>
          <p:cNvCxnSpPr/>
          <p:nvPr/>
        </p:nvCxnSpPr>
        <p:spPr>
          <a:xfrm>
            <a:off x="6061423" y="1473856"/>
            <a:ext cx="0" cy="5255491"/>
          </a:xfrm>
          <a:prstGeom prst="line">
            <a:avLst/>
          </a:prstGeom>
          <a:ln w="19050">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9" name="Text Box 9">
            <a:extLst>
              <a:ext uri="{FF2B5EF4-FFF2-40B4-BE49-F238E27FC236}">
                <a16:creationId xmlns:a16="http://schemas.microsoft.com/office/drawing/2014/main" id="{305EE4C9-BC03-457A-B804-A39A4671EF84}"/>
              </a:ext>
            </a:extLst>
          </p:cNvPr>
          <p:cNvSpPr txBox="1">
            <a:spLocks noChangeArrowheads="1"/>
          </p:cNvSpPr>
          <p:nvPr/>
        </p:nvSpPr>
        <p:spPr bwMode="auto">
          <a:xfrm>
            <a:off x="967555" y="1362312"/>
            <a:ext cx="9980682" cy="1575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优化的方法</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按秩合并</a:t>
            </a:r>
          </a:p>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有些人可能有一个误解，以为路径压缩优化后，并查集始终都是一个菊花图（只有两层的树的俗称）。但其实，由于</a:t>
            </a:r>
            <a:r>
              <a:rPr lang="zh-CN" altLang="en-US" sz="1600" b="1" dirty="0">
                <a:solidFill>
                  <a:schemeClr val="accent2"/>
                </a:solidFill>
                <a:latin typeface="微软雅黑" panose="020B0503020204020204" pitchFamily="34" charset="-122"/>
                <a:ea typeface="微软雅黑" panose="020B0503020204020204" pitchFamily="34" charset="-122"/>
              </a:rPr>
              <a:t>路径压缩只在查询时进行</a:t>
            </a:r>
            <a:r>
              <a:rPr lang="zh-CN" altLang="en-US" sz="1600" dirty="0">
                <a:latin typeface="微软雅黑" panose="020B0503020204020204" pitchFamily="34" charset="-122"/>
                <a:ea typeface="微软雅黑" panose="020B0503020204020204" pitchFamily="34" charset="-122"/>
              </a:rPr>
              <a:t>，也只压缩一条路径，所以并查集最终的结构仍然可能是比较复杂的。例如，现在我们有一棵较复杂的树需要与一个单元素的集合合并：</a:t>
            </a:r>
          </a:p>
        </p:txBody>
      </p:sp>
      <p:pic>
        <p:nvPicPr>
          <p:cNvPr id="1026" name="Picture 2">
            <a:extLst>
              <a:ext uri="{FF2B5EF4-FFF2-40B4-BE49-F238E27FC236}">
                <a16:creationId xmlns:a16="http://schemas.microsoft.com/office/drawing/2014/main" id="{68CA9A99-84FE-4FB0-9833-8BE6028A76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3126893"/>
            <a:ext cx="2968605" cy="3067742"/>
          </a:xfrm>
          <a:prstGeom prst="rect">
            <a:avLst/>
          </a:prstGeom>
          <a:noFill/>
          <a:extLst>
            <a:ext uri="{909E8E84-426E-40DD-AFC4-6F175D3DCCD1}">
              <a14:hiddenFill xmlns:a14="http://schemas.microsoft.com/office/drawing/2010/main">
                <a:solidFill>
                  <a:srgbClr val="FFFFFF"/>
                </a:solidFill>
              </a14:hiddenFill>
            </a:ext>
          </a:extLst>
        </p:spPr>
      </p:pic>
      <p:sp>
        <p:nvSpPr>
          <p:cNvPr id="26" name="文本框 25">
            <a:extLst>
              <a:ext uri="{FF2B5EF4-FFF2-40B4-BE49-F238E27FC236}">
                <a16:creationId xmlns:a16="http://schemas.microsoft.com/office/drawing/2014/main" id="{2E633729-4CDA-4810-9751-CD11302F9F96}"/>
              </a:ext>
            </a:extLst>
          </p:cNvPr>
          <p:cNvSpPr txBox="1"/>
          <p:nvPr/>
        </p:nvSpPr>
        <p:spPr>
          <a:xfrm>
            <a:off x="4645241" y="3787961"/>
            <a:ext cx="6094520" cy="872803"/>
          </a:xfrm>
          <a:prstGeom prst="rect">
            <a:avLst/>
          </a:prstGeom>
          <a:noFill/>
        </p:spPr>
        <p:txBody>
          <a:bodyPr wrap="square">
            <a:spAutoFit/>
          </a:bodyPr>
          <a:lstStyle/>
          <a:p>
            <a:pPr>
              <a:lnSpc>
                <a:spcPct val="150000"/>
              </a:lnSpc>
            </a:pPr>
            <a:r>
              <a:rPr lang="zh-CN" altLang="en-US" dirty="0"/>
              <a:t>假如这时我们要</a:t>
            </a:r>
            <a:r>
              <a:rPr lang="en-US" altLang="zh-CN" dirty="0"/>
              <a:t>merge(7,8)</a:t>
            </a:r>
            <a:r>
              <a:rPr lang="zh-CN" altLang="en-US" dirty="0"/>
              <a:t>，如果我们可以选择的话，是把</a:t>
            </a:r>
            <a:r>
              <a:rPr lang="en-US" altLang="zh-CN" dirty="0"/>
              <a:t>7</a:t>
            </a:r>
            <a:r>
              <a:rPr lang="zh-CN" altLang="en-US" dirty="0"/>
              <a:t>的父节点设为</a:t>
            </a:r>
            <a:r>
              <a:rPr lang="en-US" altLang="zh-CN" dirty="0"/>
              <a:t>8</a:t>
            </a:r>
            <a:r>
              <a:rPr lang="zh-CN" altLang="en-US" dirty="0"/>
              <a:t>好，还是把</a:t>
            </a:r>
            <a:r>
              <a:rPr lang="en-US" altLang="zh-CN" dirty="0"/>
              <a:t>8</a:t>
            </a:r>
            <a:r>
              <a:rPr lang="zh-CN" altLang="en-US" dirty="0"/>
              <a:t>的父节点设为</a:t>
            </a:r>
            <a:r>
              <a:rPr lang="en-US" altLang="zh-CN" dirty="0"/>
              <a:t>7</a:t>
            </a:r>
            <a:r>
              <a:rPr lang="zh-CN" altLang="en-US" dirty="0"/>
              <a:t>好呢？</a:t>
            </a:r>
          </a:p>
        </p:txBody>
      </p:sp>
    </p:spTree>
    <p:extLst>
      <p:ext uri="{BB962C8B-B14F-4D97-AF65-F5344CB8AC3E}">
        <p14:creationId xmlns:p14="http://schemas.microsoft.com/office/powerpoint/2010/main" val="3808111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9" name="Text Box 9">
            <a:extLst>
              <a:ext uri="{FF2B5EF4-FFF2-40B4-BE49-F238E27FC236}">
                <a16:creationId xmlns:a16="http://schemas.microsoft.com/office/drawing/2014/main" id="{305EE4C9-BC03-457A-B804-A39A4671EF84}"/>
              </a:ext>
            </a:extLst>
          </p:cNvPr>
          <p:cNvSpPr txBox="1">
            <a:spLocks noChangeArrowheads="1"/>
          </p:cNvSpPr>
          <p:nvPr/>
        </p:nvSpPr>
        <p:spPr bwMode="auto">
          <a:xfrm>
            <a:off x="967555" y="1322362"/>
            <a:ext cx="9980682" cy="1575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优化的方法</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按秩合并</a:t>
            </a:r>
          </a:p>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当然是后者。因为如果把</a:t>
            </a:r>
            <a:r>
              <a:rPr lang="en-US" altLang="zh-CN" sz="1600" dirty="0">
                <a:latin typeface="微软雅黑" panose="020B0503020204020204" pitchFamily="34" charset="-122"/>
                <a:ea typeface="微软雅黑" panose="020B0503020204020204" pitchFamily="34" charset="-122"/>
              </a:rPr>
              <a:t>7</a:t>
            </a:r>
            <a:r>
              <a:rPr lang="zh-CN" altLang="en-US" sz="1600" dirty="0">
                <a:latin typeface="微软雅黑" panose="020B0503020204020204" pitchFamily="34" charset="-122"/>
                <a:ea typeface="微软雅黑" panose="020B0503020204020204" pitchFamily="34" charset="-122"/>
              </a:rPr>
              <a:t>的父节点设为</a:t>
            </a:r>
            <a:r>
              <a:rPr lang="en-US" altLang="zh-CN" sz="1600" dirty="0">
                <a:latin typeface="微软雅黑" panose="020B0503020204020204" pitchFamily="34" charset="-122"/>
                <a:ea typeface="微软雅黑" panose="020B0503020204020204" pitchFamily="34" charset="-122"/>
              </a:rPr>
              <a:t>8</a:t>
            </a:r>
            <a:r>
              <a:rPr lang="zh-CN" altLang="en-US" sz="1600" dirty="0">
                <a:latin typeface="微软雅黑" panose="020B0503020204020204" pitchFamily="34" charset="-122"/>
                <a:ea typeface="微软雅黑" panose="020B0503020204020204" pitchFamily="34" charset="-122"/>
              </a:rPr>
              <a:t>，会使树的深度（树中最长链的长度）加深，原来的树中每个元素到根节点的距离都变长了，之后我们寻找根节点的路径也就会相应变长。虽然我们有路径压缩，但路径压缩也是会消耗时间的。而把</a:t>
            </a:r>
            <a:r>
              <a:rPr lang="en-US" altLang="zh-CN" sz="1600" dirty="0">
                <a:latin typeface="微软雅黑" panose="020B0503020204020204" pitchFamily="34" charset="-122"/>
                <a:ea typeface="微软雅黑" panose="020B0503020204020204" pitchFamily="34" charset="-122"/>
              </a:rPr>
              <a:t>8</a:t>
            </a:r>
            <a:r>
              <a:rPr lang="zh-CN" altLang="en-US" sz="1600" dirty="0">
                <a:latin typeface="微软雅黑" panose="020B0503020204020204" pitchFamily="34" charset="-122"/>
                <a:ea typeface="微软雅黑" panose="020B0503020204020204" pitchFamily="34" charset="-122"/>
              </a:rPr>
              <a:t>的父节点设为</a:t>
            </a:r>
            <a:r>
              <a:rPr lang="en-US" altLang="zh-CN" sz="1600" dirty="0">
                <a:latin typeface="微软雅黑" panose="020B0503020204020204" pitchFamily="34" charset="-122"/>
                <a:ea typeface="微软雅黑" panose="020B0503020204020204" pitchFamily="34" charset="-122"/>
              </a:rPr>
              <a:t>7</a:t>
            </a:r>
            <a:r>
              <a:rPr lang="zh-CN" altLang="en-US" sz="1600" dirty="0">
                <a:latin typeface="微软雅黑" panose="020B0503020204020204" pitchFamily="34" charset="-122"/>
                <a:ea typeface="微软雅黑" panose="020B0503020204020204" pitchFamily="34" charset="-122"/>
              </a:rPr>
              <a:t>，则不会有这个问题，因为它没有影响到不相关的节点。</a:t>
            </a:r>
          </a:p>
        </p:txBody>
      </p:sp>
      <p:pic>
        <p:nvPicPr>
          <p:cNvPr id="2050" name="Picture 2">
            <a:extLst>
              <a:ext uri="{FF2B5EF4-FFF2-40B4-BE49-F238E27FC236}">
                <a16:creationId xmlns:a16="http://schemas.microsoft.com/office/drawing/2014/main" id="{F9289258-931B-4929-B633-C1FE8505E6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3046993"/>
            <a:ext cx="4486294" cy="3570343"/>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0B88608A-2E80-4288-88FB-DA0213D7F656}"/>
              </a:ext>
            </a:extLst>
          </p:cNvPr>
          <p:cNvSpPr txBox="1"/>
          <p:nvPr/>
        </p:nvSpPr>
        <p:spPr>
          <a:xfrm>
            <a:off x="5860241" y="3829197"/>
            <a:ext cx="6094520" cy="1002967"/>
          </a:xfrm>
          <a:prstGeom prst="rect">
            <a:avLst/>
          </a:prstGeom>
          <a:noFill/>
        </p:spPr>
        <p:txBody>
          <a:bodyPr wrap="square">
            <a:spAutoFit/>
          </a:bodyPr>
          <a:lstStyle/>
          <a:p>
            <a:pPr>
              <a:lnSpc>
                <a:spcPct val="200000"/>
              </a:lnSpc>
            </a:pPr>
            <a:r>
              <a:rPr lang="zh-CN" altLang="en-US" sz="1600" dirty="0">
                <a:latin typeface="微软雅黑" panose="020B0503020204020204" pitchFamily="34" charset="-122"/>
                <a:ea typeface="微软雅黑" panose="020B0503020204020204" pitchFamily="34" charset="-122"/>
              </a:rPr>
              <a:t>这启发我们：我们应该</a:t>
            </a:r>
            <a:r>
              <a:rPr lang="zh-CN" altLang="en-US" sz="1600" b="1" dirty="0">
                <a:solidFill>
                  <a:schemeClr val="accent2"/>
                </a:solidFill>
                <a:latin typeface="微软雅黑" panose="020B0503020204020204" pitchFamily="34" charset="-122"/>
                <a:ea typeface="微软雅黑" panose="020B0503020204020204" pitchFamily="34" charset="-122"/>
              </a:rPr>
              <a:t>把简单的树往复杂的树上合并，而不是相反。因为这样合并后，到根节点距离变长的节点个数比较少</a:t>
            </a:r>
            <a:r>
              <a:rPr lang="zh-CN" altLang="en-US" sz="1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801925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04900" y="76200"/>
            <a:ext cx="9980682" cy="1096962"/>
          </a:xfrm>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4" name="矩形 3">
            <a:extLst>
              <a:ext uri="{FF2B5EF4-FFF2-40B4-BE49-F238E27FC236}">
                <a16:creationId xmlns:a16="http://schemas.microsoft.com/office/drawing/2014/main" id="{4509E89E-4358-4EDE-B56F-B033D448DBD6}"/>
              </a:ext>
            </a:extLst>
          </p:cNvPr>
          <p:cNvSpPr/>
          <p:nvPr/>
        </p:nvSpPr>
        <p:spPr>
          <a:xfrm>
            <a:off x="1104900" y="1339735"/>
            <a:ext cx="6096000" cy="3782061"/>
          </a:xfrm>
          <a:prstGeom prst="rect">
            <a:avLst/>
          </a:prstGeom>
        </p:spPr>
        <p:txBody>
          <a:bodyPr>
            <a:spAutoFit/>
          </a:bodyPr>
          <a:lstStyle/>
          <a:p>
            <a:pPr>
              <a:lnSpc>
                <a:spcPct val="150000"/>
              </a:lnSpc>
            </a:pP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初始化（按秩合并）</a:t>
            </a:r>
            <a:endPar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void init(int n)</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for (int i = 1; i &lt;= n; ++i)</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fa[i] = i;</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rank[i] = 1;</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矩形 6">
            <a:extLst>
              <a:ext uri="{FF2B5EF4-FFF2-40B4-BE49-F238E27FC236}">
                <a16:creationId xmlns:a16="http://schemas.microsoft.com/office/drawing/2014/main" id="{EC7E8BC4-932C-4883-A39A-5BB45A0850A1}"/>
              </a:ext>
            </a:extLst>
          </p:cNvPr>
          <p:cNvSpPr/>
          <p:nvPr/>
        </p:nvSpPr>
        <p:spPr>
          <a:xfrm>
            <a:off x="5067060" y="1434009"/>
            <a:ext cx="6621358" cy="4890057"/>
          </a:xfrm>
          <a:prstGeom prst="rect">
            <a:avLst/>
          </a:prstGeom>
        </p:spPr>
        <p:txBody>
          <a:bodyPr wrap="square">
            <a:spAutoFit/>
          </a:bodyPr>
          <a:lstStyle/>
          <a:p>
            <a:pPr algn="l"/>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合并（按秩合并）</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inline void merge(int </a:t>
            </a:r>
            <a:r>
              <a:rPr lang="en-US" altLang="zh-CN" dirty="0" err="1">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j)</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x = find(</a:t>
            </a:r>
            <a:r>
              <a:rPr lang="en-US" altLang="zh-CN" dirty="0" err="1">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y = find(j);    //</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先找到两个根节点</a:t>
            </a:r>
          </a:p>
          <a:p>
            <a:pPr>
              <a:lnSpc>
                <a:spcPct val="150000"/>
              </a:lnSpc>
            </a:pP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if (rank[x] &lt;= rank[y])</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fa[x] = y;</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else</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fa[y] = x;</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if (rank[x] == rank[y] &amp;&amp; x != y)</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rank[y]++;                   //</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如果深度相同且根节点不同，则新的根节点的深度</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+1</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5" name="直接连接符 4">
            <a:extLst>
              <a:ext uri="{FF2B5EF4-FFF2-40B4-BE49-F238E27FC236}">
                <a16:creationId xmlns:a16="http://schemas.microsoft.com/office/drawing/2014/main" id="{692F37EA-0A49-4FD6-B195-5F18C356F3FA}"/>
              </a:ext>
            </a:extLst>
          </p:cNvPr>
          <p:cNvCxnSpPr/>
          <p:nvPr/>
        </p:nvCxnSpPr>
        <p:spPr>
          <a:xfrm>
            <a:off x="4452729" y="1434009"/>
            <a:ext cx="0" cy="4807765"/>
          </a:xfrm>
          <a:prstGeom prst="line">
            <a:avLst/>
          </a:prstGeom>
          <a:ln w="19050">
            <a:solidFill>
              <a:schemeClr val="accent2"/>
            </a:solidFill>
            <a:prstDash val="sysDot"/>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654121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900170" y="1367865"/>
            <a:ext cx="10489880" cy="5509200"/>
          </a:xfrm>
          <a:prstGeom prst="rect">
            <a:avLst/>
          </a:prstGeom>
        </p:spPr>
        <p:txBody>
          <a:bodyPr wrap="square">
            <a:spAutoFit/>
          </a:bodyPr>
          <a:lstStyle/>
          <a:p>
            <a:r>
              <a:rPr lang="en-US" altLang="zh-CN" sz="1600" b="1" dirty="0">
                <a:solidFill>
                  <a:schemeClr val="accent2"/>
                </a:solidFill>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例</a:t>
            </a:r>
            <a:r>
              <a:rPr lang="en-US" altLang="zh-CN" sz="1600" b="1" dirty="0">
                <a:solidFill>
                  <a:schemeClr val="accent2"/>
                </a:solidFill>
                <a:latin typeface="微软雅黑" panose="020B0503020204020204" pitchFamily="34" charset="-122"/>
                <a:ea typeface="微软雅黑" panose="020B0503020204020204" pitchFamily="34" charset="-122"/>
              </a:rPr>
              <a:t>1】</a:t>
            </a:r>
            <a:r>
              <a:rPr lang="zh-CN" altLang="en-US" sz="1600" b="1" dirty="0">
                <a:solidFill>
                  <a:schemeClr val="accent2"/>
                </a:solidFill>
                <a:latin typeface="微软雅黑" panose="020B0503020204020204" pitchFamily="34" charset="-122"/>
                <a:ea typeface="微软雅黑" panose="020B0503020204020204" pitchFamily="34" charset="-122"/>
              </a:rPr>
              <a:t>格子游戏</a:t>
            </a: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问题描述</a:t>
            </a:r>
            <a:r>
              <a:rPr lang="en-US" altLang="zh-CN" sz="1600" dirty="0">
                <a:latin typeface="微软雅黑" panose="020B0503020204020204" pitchFamily="34" charset="-122"/>
                <a:ea typeface="微软雅黑" panose="020B0503020204020204" pitchFamily="34" charset="-122"/>
              </a:rPr>
              <a:t>】</a:t>
            </a:r>
          </a:p>
          <a:p>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Alice</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Bob</a:t>
            </a:r>
            <a:r>
              <a:rPr lang="zh-CN" altLang="en-US" sz="1600" dirty="0">
                <a:latin typeface="微软雅黑" panose="020B0503020204020204" pitchFamily="34" charset="-122"/>
                <a:ea typeface="微软雅黑" panose="020B0503020204020204" pitchFamily="34" charset="-122"/>
              </a:rPr>
              <a:t>玩了一个古老的游戏：首先画一个</a:t>
            </a:r>
            <a:r>
              <a:rPr lang="en-US" altLang="zh-CN" sz="1600" dirty="0">
                <a:latin typeface="微软雅黑" panose="020B0503020204020204" pitchFamily="34" charset="-122"/>
                <a:ea typeface="微软雅黑" panose="020B0503020204020204" pitchFamily="34" charset="-122"/>
              </a:rPr>
              <a:t>n * n</a:t>
            </a:r>
            <a:r>
              <a:rPr lang="zh-CN" altLang="en-US" sz="1600" dirty="0">
                <a:latin typeface="微软雅黑" panose="020B0503020204020204" pitchFamily="34" charset="-122"/>
                <a:ea typeface="微软雅黑" panose="020B0503020204020204" pitchFamily="34" charset="-122"/>
              </a:rPr>
              <a:t>的点阵（下图</a:t>
            </a:r>
            <a:r>
              <a:rPr lang="en-US" altLang="zh-CN" sz="1600" dirty="0">
                <a:latin typeface="微软雅黑" panose="020B0503020204020204" pitchFamily="34" charset="-122"/>
                <a:ea typeface="微软雅黑" panose="020B0503020204020204" pitchFamily="34" charset="-122"/>
              </a:rPr>
              <a:t>n = 3</a:t>
            </a:r>
            <a:r>
              <a:rPr lang="zh-CN" altLang="en-US" sz="1600" dirty="0">
                <a:latin typeface="微软雅黑" panose="020B0503020204020204" pitchFamily="34" charset="-122"/>
                <a:ea typeface="微软雅黑" panose="020B0503020204020204" pitchFamily="34" charset="-122"/>
              </a:rPr>
              <a:t>） 接着，他们两个轮流在相邻的点之间画上红边和蓝边：</a:t>
            </a:r>
          </a:p>
          <a:p>
            <a:r>
              <a:rPr lang="zh-CN" altLang="en-US" sz="1600" dirty="0">
                <a:latin typeface="微软雅黑" panose="020B0503020204020204" pitchFamily="34" charset="-122"/>
                <a:ea typeface="微软雅黑" panose="020B0503020204020204" pitchFamily="34" charset="-122"/>
              </a:rPr>
              <a:t>    直到围成一个封闭的圈（面积不必为</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）为止，“封圈”的那个人就是赢家。因为棋盘实在是太大了</a:t>
            </a:r>
            <a:r>
              <a:rPr lang="en-US" altLang="zh-CN" sz="1600" dirty="0">
                <a:latin typeface="微软雅黑" panose="020B0503020204020204" pitchFamily="34" charset="-122"/>
                <a:ea typeface="微软雅黑" panose="020B0503020204020204" pitchFamily="34" charset="-122"/>
              </a:rPr>
              <a:t>(n &lt;= 200)</a:t>
            </a:r>
            <a:r>
              <a:rPr lang="zh-CN" altLang="en-US" sz="1600" dirty="0">
                <a:latin typeface="微软雅黑" panose="020B0503020204020204" pitchFamily="34" charset="-122"/>
                <a:ea typeface="微软雅黑" panose="020B0503020204020204" pitchFamily="34" charset="-122"/>
              </a:rPr>
              <a:t>，他们的游戏实在是太长了！他们甚至在游戏中都不知道谁赢得了游戏。于是请你写一个程序，帮助他们计算他们是否结束了游戏？ </a:t>
            </a: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输入格式</a:t>
            </a:r>
            <a:r>
              <a:rPr lang="en-US" altLang="zh-CN" sz="1600" dirty="0">
                <a:latin typeface="微软雅黑" panose="020B0503020204020204" pitchFamily="34" charset="-122"/>
                <a:ea typeface="微软雅黑" panose="020B0503020204020204" pitchFamily="34" charset="-122"/>
              </a:rPr>
              <a:t>】</a:t>
            </a:r>
          </a:p>
          <a:p>
            <a:r>
              <a:rPr lang="zh-CN" altLang="en-US" sz="1600" dirty="0">
                <a:latin typeface="微软雅黑" panose="020B0503020204020204" pitchFamily="34" charset="-122"/>
                <a:ea typeface="微软雅黑" panose="020B0503020204020204" pitchFamily="34" charset="-122"/>
              </a:rPr>
              <a:t>　　输入数据第一行为两个整数</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表示一共画了</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条线。以后</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行，每行首先有两个数字</a:t>
            </a:r>
            <a:r>
              <a:rPr lang="en-US" altLang="zh-CN" sz="1600" dirty="0">
                <a:latin typeface="微软雅黑" panose="020B0503020204020204" pitchFamily="34" charset="-122"/>
                <a:ea typeface="微软雅黑" panose="020B0503020204020204" pitchFamily="34" charset="-122"/>
              </a:rPr>
              <a:t>(x, y)</a:t>
            </a:r>
            <a:r>
              <a:rPr lang="zh-CN" altLang="en-US" sz="1600" dirty="0">
                <a:latin typeface="微软雅黑" panose="020B0503020204020204" pitchFamily="34" charset="-122"/>
                <a:ea typeface="微软雅黑" panose="020B0503020204020204" pitchFamily="34" charset="-122"/>
              </a:rPr>
              <a:t>，代表了画线的起点坐标，接着用空格隔开一个字符，假如字符是</a:t>
            </a:r>
            <a:r>
              <a:rPr lang="en-US" altLang="zh-CN" sz="1600" dirty="0">
                <a:latin typeface="微软雅黑" panose="020B0503020204020204" pitchFamily="34" charset="-122"/>
                <a:ea typeface="微软雅黑" panose="020B0503020204020204" pitchFamily="34" charset="-122"/>
              </a:rPr>
              <a:t>"D "</a:t>
            </a:r>
            <a:r>
              <a:rPr lang="zh-CN" altLang="en-US" sz="1600" dirty="0">
                <a:latin typeface="微软雅黑" panose="020B0503020204020204" pitchFamily="34" charset="-122"/>
                <a:ea typeface="微软雅黑" panose="020B0503020204020204" pitchFamily="34" charset="-122"/>
              </a:rPr>
              <a:t>，则是向下连一条边，如果是</a:t>
            </a:r>
            <a:r>
              <a:rPr lang="en-US" altLang="zh-CN" sz="1600" dirty="0">
                <a:latin typeface="微软雅黑" panose="020B0503020204020204" pitchFamily="34" charset="-122"/>
                <a:ea typeface="微软雅黑" panose="020B0503020204020204" pitchFamily="34" charset="-122"/>
              </a:rPr>
              <a:t>"R "</a:t>
            </a:r>
            <a:r>
              <a:rPr lang="zh-CN" altLang="en-US" sz="1600" dirty="0">
                <a:latin typeface="微软雅黑" panose="020B0503020204020204" pitchFamily="34" charset="-122"/>
                <a:ea typeface="微软雅黑" panose="020B0503020204020204" pitchFamily="34" charset="-122"/>
              </a:rPr>
              <a:t>就是向右连一条边。输入数据不会有重复的边且保证正确。 </a:t>
            </a: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输出格式</a:t>
            </a:r>
            <a:r>
              <a:rPr lang="en-US" altLang="zh-CN" sz="1600" dirty="0">
                <a:latin typeface="微软雅黑" panose="020B0503020204020204" pitchFamily="34" charset="-122"/>
                <a:ea typeface="微软雅黑" panose="020B0503020204020204" pitchFamily="34" charset="-122"/>
              </a:rPr>
              <a:t>】</a:t>
            </a:r>
          </a:p>
          <a:p>
            <a:r>
              <a:rPr lang="zh-CN" altLang="en-US" sz="1600" dirty="0">
                <a:latin typeface="微软雅黑" panose="020B0503020204020204" pitchFamily="34" charset="-122"/>
                <a:ea typeface="微软雅黑" panose="020B0503020204020204" pitchFamily="34" charset="-122"/>
              </a:rPr>
              <a:t>　　输出一行：在第几步的时候结束。假如</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步之后也没有结束，则输出一行“</a:t>
            </a:r>
            <a:r>
              <a:rPr lang="en-US" altLang="zh-CN" sz="1600" dirty="0">
                <a:latin typeface="微软雅黑" panose="020B0503020204020204" pitchFamily="34" charset="-122"/>
                <a:ea typeface="微软雅黑" panose="020B0503020204020204" pitchFamily="34" charset="-122"/>
              </a:rPr>
              <a:t>draw”</a:t>
            </a:r>
            <a:r>
              <a:rPr lang="zh-CN" altLang="en-US" sz="1600" dirty="0">
                <a:latin typeface="微软雅黑" panose="020B0503020204020204" pitchFamily="34" charset="-122"/>
                <a:ea typeface="微软雅黑" panose="020B0503020204020204" pitchFamily="34" charset="-122"/>
              </a:rPr>
              <a:t>。 </a:t>
            </a: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输入样例</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3 5</a:t>
            </a:r>
          </a:p>
          <a:p>
            <a:r>
              <a:rPr lang="en-US" altLang="zh-CN" sz="1600" dirty="0">
                <a:latin typeface="微软雅黑" panose="020B0503020204020204" pitchFamily="34" charset="-122"/>
                <a:ea typeface="微软雅黑" panose="020B0503020204020204" pitchFamily="34" charset="-122"/>
              </a:rPr>
              <a:t>1 1 D</a:t>
            </a:r>
          </a:p>
          <a:p>
            <a:r>
              <a:rPr lang="en-US" altLang="zh-CN" sz="1600" dirty="0">
                <a:latin typeface="微软雅黑" panose="020B0503020204020204" pitchFamily="34" charset="-122"/>
                <a:ea typeface="微软雅黑" panose="020B0503020204020204" pitchFamily="34" charset="-122"/>
              </a:rPr>
              <a:t>1 1 R</a:t>
            </a:r>
          </a:p>
          <a:p>
            <a:r>
              <a:rPr lang="en-US" altLang="zh-CN" sz="1600" dirty="0">
                <a:latin typeface="微软雅黑" panose="020B0503020204020204" pitchFamily="34" charset="-122"/>
                <a:ea typeface="微软雅黑" panose="020B0503020204020204" pitchFamily="34" charset="-122"/>
              </a:rPr>
              <a:t>1 2 D</a:t>
            </a:r>
          </a:p>
          <a:p>
            <a:r>
              <a:rPr lang="en-US" altLang="zh-CN" sz="1600" dirty="0">
                <a:latin typeface="微软雅黑" panose="020B0503020204020204" pitchFamily="34" charset="-122"/>
                <a:ea typeface="微软雅黑" panose="020B0503020204020204" pitchFamily="34" charset="-122"/>
              </a:rPr>
              <a:t>2 1 R</a:t>
            </a:r>
          </a:p>
          <a:p>
            <a:r>
              <a:rPr lang="en-US" altLang="zh-CN" sz="1600" dirty="0">
                <a:latin typeface="微软雅黑" panose="020B0503020204020204" pitchFamily="34" charset="-122"/>
                <a:ea typeface="微软雅黑" panose="020B0503020204020204" pitchFamily="34" charset="-122"/>
              </a:rPr>
              <a:t>2 2 D</a:t>
            </a: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输出样例</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4</a:t>
            </a:r>
          </a:p>
        </p:txBody>
      </p:sp>
      <p:pic>
        <p:nvPicPr>
          <p:cNvPr id="4" name="Picture 7" descr="1226">
            <a:extLst>
              <a:ext uri="{FF2B5EF4-FFF2-40B4-BE49-F238E27FC236}">
                <a16:creationId xmlns:a16="http://schemas.microsoft.com/office/drawing/2014/main" id="{C4CEBEE5-CA7D-477F-9B41-2B285311D2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04668" y="4689504"/>
            <a:ext cx="4937491" cy="195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870898" y="1375540"/>
            <a:ext cx="10448686" cy="3293209"/>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auto" latinLnBrk="0" hangingPunct="1">
              <a:lnSpc>
                <a:spcPct val="200000"/>
              </a:lnSpc>
              <a:spcBef>
                <a:spcPts val="0"/>
              </a:spcBef>
              <a:spcAft>
                <a:spcPts val="0"/>
              </a:spcAft>
              <a:buClrTx/>
              <a:buSzTx/>
              <a:buFontTx/>
              <a:buNone/>
              <a:defRPr/>
            </a:pP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结构体存贮点坐标；</a:t>
            </a:r>
            <a:endParaRPr lang="en-US" altLang="zh-CN" sz="16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200000"/>
              </a:lnSpc>
              <a:spcBef>
                <a:spcPts val="0"/>
              </a:spcBef>
              <a:spcAft>
                <a:spcPts val="0"/>
              </a:spcAft>
              <a:buClrTx/>
              <a:buSzTx/>
              <a:buFontTx/>
              <a:buNone/>
              <a:defRPr/>
            </a:pP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如果一条边的两个点未在同一集合，则进行合并，否则输出当前步数</a:t>
            </a:r>
            <a:endParaRPr lang="en-US" altLang="zh-CN" sz="16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1" dirty="0">
              <a:solidFill>
                <a:srgbClr val="6D7D66"/>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endParaRPr>
          </a:p>
          <a:p>
            <a:pPr lvl="0">
              <a:lnSpc>
                <a:spcPct val="200000"/>
              </a:lnSpc>
              <a:defRPr/>
            </a:pPr>
            <a:endParaRPr lang="en-US" altLang="zh-CN" dirty="0">
              <a:solidFill>
                <a:srgbClr val="514843"/>
              </a:solidFill>
              <a:latin typeface="微软雅黑" panose="020B0503020204020204" pitchFamily="34" charset="-122"/>
              <a:ea typeface="微软雅黑" panose="020B0503020204020204" pitchFamily="34" charset="-122"/>
            </a:endParaRPr>
          </a:p>
          <a:p>
            <a:pPr lvl="0">
              <a:lnSpc>
                <a:spcPct val="200000"/>
              </a:lnSpc>
              <a:defRPr/>
            </a:pPr>
            <a:endParaRPr kumimoji="0"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1053706" y="1192465"/>
            <a:ext cx="10015434" cy="562783"/>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程序实现</a:t>
            </a:r>
            <a:endParaRPr kumimoji="0"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pic>
        <p:nvPicPr>
          <p:cNvPr id="4" name="图片 3">
            <a:extLst>
              <a:ext uri="{FF2B5EF4-FFF2-40B4-BE49-F238E27FC236}">
                <a16:creationId xmlns:a16="http://schemas.microsoft.com/office/drawing/2014/main" id="{5486C24A-978E-4780-B4A1-B0D57863ACBE}"/>
              </a:ext>
            </a:extLst>
          </p:cNvPr>
          <p:cNvPicPr>
            <a:picLocks noChangeAspect="1"/>
          </p:cNvPicPr>
          <p:nvPr/>
        </p:nvPicPr>
        <p:blipFill>
          <a:blip r:embed="rId2"/>
          <a:stretch>
            <a:fillRect/>
          </a:stretch>
        </p:blipFill>
        <p:spPr>
          <a:xfrm>
            <a:off x="1104900" y="1774551"/>
            <a:ext cx="7727350" cy="3772227"/>
          </a:xfrm>
          <a:prstGeom prst="rect">
            <a:avLst/>
          </a:prstGeom>
        </p:spPr>
      </p:pic>
    </p:spTree>
    <p:extLst>
      <p:ext uri="{BB962C8B-B14F-4D97-AF65-F5344CB8AC3E}">
        <p14:creationId xmlns:p14="http://schemas.microsoft.com/office/powerpoint/2010/main" val="1306940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1053706" y="1192465"/>
            <a:ext cx="10015434" cy="562783"/>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程序实现</a:t>
            </a:r>
            <a:endParaRPr kumimoji="0"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CDD5E260-E904-4D07-81F3-99CB3E9FFFFD}"/>
              </a:ext>
            </a:extLst>
          </p:cNvPr>
          <p:cNvPicPr>
            <a:picLocks noChangeAspect="1"/>
          </p:cNvPicPr>
          <p:nvPr/>
        </p:nvPicPr>
        <p:blipFill>
          <a:blip r:embed="rId2"/>
          <a:stretch>
            <a:fillRect/>
          </a:stretch>
        </p:blipFill>
        <p:spPr>
          <a:xfrm>
            <a:off x="2255855" y="1371131"/>
            <a:ext cx="6621816" cy="5288515"/>
          </a:xfrm>
          <a:prstGeom prst="rect">
            <a:avLst/>
          </a:prstGeom>
        </p:spPr>
      </p:pic>
    </p:spTree>
    <p:extLst>
      <p:ext uri="{BB962C8B-B14F-4D97-AF65-F5344CB8AC3E}">
        <p14:creationId xmlns:p14="http://schemas.microsoft.com/office/powerpoint/2010/main" val="1443276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870898" y="1375540"/>
            <a:ext cx="10448686" cy="757130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zh-CN" altLang="en-US" b="1" dirty="0">
                <a:solidFill>
                  <a:srgbClr val="6D7D66"/>
                </a:solidFill>
                <a:latin typeface="微软雅黑" panose="020B0503020204020204" pitchFamily="34" charset="-122"/>
                <a:ea typeface="微软雅黑" panose="020B0503020204020204" pitchFamily="34" charset="-122"/>
              </a:rPr>
              <a:t>习题练习</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a:p>
            <a:pPr>
              <a:lnSpc>
                <a:spcPct val="200000"/>
              </a:lnSpc>
              <a:defRPr/>
            </a:pPr>
            <a:r>
              <a:rPr lang="en-US" altLang="en-US" b="1" dirty="0"/>
              <a:t>P3367</a:t>
            </a:r>
          </a:p>
          <a:p>
            <a:pPr>
              <a:lnSpc>
                <a:spcPct val="200000"/>
              </a:lnSpc>
              <a:defRPr/>
            </a:pPr>
            <a:r>
              <a:rPr lang="en-US" altLang="en-US" b="1" dirty="0"/>
              <a:t>P1551</a:t>
            </a:r>
          </a:p>
          <a:p>
            <a:pPr>
              <a:lnSpc>
                <a:spcPct val="200000"/>
              </a:lnSpc>
              <a:defRPr/>
            </a:pPr>
            <a:r>
              <a:rPr lang="en-US" b="1" dirty="0"/>
              <a:t>P3958</a:t>
            </a:r>
          </a:p>
          <a:p>
            <a:pPr>
              <a:lnSpc>
                <a:spcPct val="200000"/>
              </a:lnSpc>
              <a:defRPr/>
            </a:pPr>
            <a:r>
              <a:rPr lang="en-US" b="1" dirty="0"/>
              <a:t>P3144</a:t>
            </a:r>
          </a:p>
          <a:p>
            <a:pPr>
              <a:lnSpc>
                <a:spcPct val="200000"/>
              </a:lnSpc>
              <a:defRPr/>
            </a:pPr>
            <a:r>
              <a:rPr lang="en-US" b="1" dirty="0"/>
              <a:t>P2078</a:t>
            </a:r>
          </a:p>
          <a:p>
            <a:pPr>
              <a:lnSpc>
                <a:spcPct val="200000"/>
              </a:lnSpc>
              <a:defRPr/>
            </a:pPr>
            <a:r>
              <a:rPr lang="en-US" b="1" dirty="0"/>
              <a:t>P2256</a:t>
            </a:r>
            <a:endParaRPr lang="en-US" altLang="zh-CN" b="1" dirty="0"/>
          </a:p>
          <a:p>
            <a:pPr lvl="0">
              <a:lnSpc>
                <a:spcPct val="200000"/>
              </a:lnSpc>
              <a:defRPr/>
            </a:pPr>
            <a:r>
              <a:rPr lang="en-US" altLang="zh-CN" b="1" dirty="0"/>
              <a:t>P2661 </a:t>
            </a:r>
            <a:r>
              <a:rPr lang="zh-CN" altLang="en-US" b="1" dirty="0"/>
              <a:t>信息传递</a:t>
            </a:r>
            <a:endParaRPr lang="en-US" altLang="zh-CN" b="1" dirty="0"/>
          </a:p>
          <a:p>
            <a:pPr lvl="0">
              <a:lnSpc>
                <a:spcPct val="200000"/>
              </a:lnSpc>
              <a:defRPr/>
            </a:pPr>
            <a:endParaRPr lang="en-US" altLang="zh-CN" b="1" dirty="0"/>
          </a:p>
          <a:p>
            <a:pPr lvl="0">
              <a:lnSpc>
                <a:spcPct val="200000"/>
              </a:lnSpc>
              <a:defRPr/>
            </a:pPr>
            <a:endParaRPr lang="en-US" altLang="zh-CN" dirty="0">
              <a:solidFill>
                <a:srgbClr val="514843"/>
              </a:solidFill>
              <a:latin typeface="微软雅黑" panose="020B0503020204020204" pitchFamily="34" charset="-122"/>
              <a:ea typeface="微软雅黑" panose="020B0503020204020204" pitchFamily="34" charset="-122"/>
            </a:endParaRPr>
          </a:p>
          <a:p>
            <a:pPr lvl="0">
              <a:lnSpc>
                <a:spcPct val="200000"/>
              </a:lnSpc>
              <a:defRPr/>
            </a:pPr>
            <a:endParaRPr lang="en-US" altLang="zh-CN" dirty="0">
              <a:solidFill>
                <a:srgbClr val="514843"/>
              </a:solidFill>
              <a:latin typeface="微软雅黑" panose="020B0503020204020204" pitchFamily="34" charset="-122"/>
              <a:ea typeface="微软雅黑" panose="020B0503020204020204" pitchFamily="34" charset="-122"/>
            </a:endParaRPr>
          </a:p>
          <a:p>
            <a:pPr lvl="0">
              <a:lnSpc>
                <a:spcPct val="200000"/>
              </a:lnSpc>
              <a:defRPr/>
            </a:pPr>
            <a:endParaRPr lang="en-US" altLang="zh-CN" dirty="0">
              <a:solidFill>
                <a:srgbClr val="514843"/>
              </a:solidFill>
              <a:latin typeface="微软雅黑" panose="020B0503020204020204" pitchFamily="34" charset="-122"/>
              <a:ea typeface="微软雅黑" panose="020B0503020204020204" pitchFamily="34" charset="-122"/>
            </a:endParaRPr>
          </a:p>
          <a:p>
            <a:pPr lvl="0">
              <a:lnSpc>
                <a:spcPct val="200000"/>
              </a:lnSpc>
              <a:defRPr/>
            </a:pPr>
            <a:endParaRPr lang="en-US" altLang="zh-CN" dirty="0">
              <a:solidFill>
                <a:srgbClr val="514843"/>
              </a:solidFill>
              <a:latin typeface="微软雅黑" panose="020B0503020204020204" pitchFamily="34" charset="-122"/>
              <a:ea typeface="微软雅黑" panose="020B0503020204020204" pitchFamily="34" charset="-122"/>
            </a:endParaRPr>
          </a:p>
          <a:p>
            <a:pPr lvl="0">
              <a:lnSpc>
                <a:spcPct val="200000"/>
              </a:lnSpc>
              <a:defRPr/>
            </a:pPr>
            <a:endParaRPr kumimoji="0"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889533" y="5567986"/>
            <a:ext cx="838628" cy="369332"/>
          </a:xfrm>
          <a:prstGeom prst="rect">
            <a:avLst/>
          </a:prstGeom>
        </p:spPr>
        <p:txBody>
          <a:bodyPr wrap="none">
            <a:spAutoFit/>
          </a:bodyPr>
          <a:lstStyle/>
          <a:p>
            <a:r>
              <a:rPr lang="en-US" b="1" dirty="0"/>
              <a:t>P1892</a:t>
            </a:r>
          </a:p>
        </p:txBody>
      </p:sp>
    </p:spTree>
    <p:extLst>
      <p:ext uri="{BB962C8B-B14F-4D97-AF65-F5344CB8AC3E}">
        <p14:creationId xmlns:p14="http://schemas.microsoft.com/office/powerpoint/2010/main" val="195032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谢谢！</a:t>
            </a:r>
          </a:p>
        </p:txBody>
      </p:sp>
      <p:pic>
        <p:nvPicPr>
          <p:cNvPr id="5" name="图片占位符 4"/>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3409" r="13409"/>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2832</Words>
  <Application>Microsoft Office PowerPoint</Application>
  <PresentationFormat>宽屏</PresentationFormat>
  <Paragraphs>274</Paragraphs>
  <Slides>22</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黑体</vt:lpstr>
      <vt:lpstr>微软雅黑</vt:lpstr>
      <vt:lpstr>Arial</vt:lpstr>
      <vt:lpstr>Cambria Math</vt:lpstr>
      <vt:lpstr>Euphemia</vt:lpstr>
      <vt:lpstr>Times New Roman</vt:lpstr>
      <vt:lpstr>Wingdings</vt:lpstr>
      <vt:lpstr>学术文献 16x9</vt:lpstr>
      <vt:lpstr>并查集</vt:lpstr>
      <vt:lpstr>学习目标</vt:lpstr>
      <vt:lpstr>引例</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cp:revision>
  <dcterms:created xsi:type="dcterms:W3CDTF">2017-11-04T04:56:00Z</dcterms:created>
  <dcterms:modified xsi:type="dcterms:W3CDTF">2023-05-03T07:56:08Z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2052-11.1.0.8696</vt:lpwstr>
  </property>
</Properties>
</file>