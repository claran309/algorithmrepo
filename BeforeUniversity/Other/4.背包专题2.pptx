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612" r:id="rId3"/>
    <p:sldId id="668" r:id="rId4"/>
    <p:sldId id="669" r:id="rId5"/>
    <p:sldId id="613" r:id="rId6"/>
    <p:sldId id="672" r:id="rId7"/>
    <p:sldId id="642" r:id="rId8"/>
    <p:sldId id="673" r:id="rId9"/>
    <p:sldId id="677" r:id="rId10"/>
    <p:sldId id="678" r:id="rId11"/>
    <p:sldId id="680" r:id="rId12"/>
    <p:sldId id="679" r:id="rId13"/>
    <p:sldId id="667" r:id="rId14"/>
    <p:sldId id="681" r:id="rId15"/>
    <p:sldId id="682" r:id="rId16"/>
    <p:sldId id="683" r:id="rId17"/>
    <p:sldId id="684" r:id="rId18"/>
    <p:sldId id="685" r:id="rId19"/>
    <p:sldId id="687" r:id="rId20"/>
    <p:sldId id="693" r:id="rId21"/>
    <p:sldId id="688" r:id="rId22"/>
    <p:sldId id="689" r:id="rId23"/>
    <p:sldId id="690" r:id="rId24"/>
    <p:sldId id="691" r:id="rId25"/>
    <p:sldId id="692" r:id="rId26"/>
    <p:sldId id="686" r:id="rId27"/>
    <p:sldId id="502" r:id="rId28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FF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21" autoAdjust="0"/>
    <p:restoredTop sz="94660" autoAdjust="0"/>
  </p:normalViewPr>
  <p:slideViewPr>
    <p:cSldViewPr snapToGrid="0" showGuides="1">
      <p:cViewPr varScale="1">
        <p:scale>
          <a:sx n="86" d="100"/>
          <a:sy n="86" d="100"/>
        </p:scale>
        <p:origin x="691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2022/1/7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  <a:t>1</a:t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t>2022/1/7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t>2022/1/7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t>2022/1/7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2109926" y="2129897"/>
            <a:ext cx="3986074" cy="1954514"/>
          </a:xfrm>
        </p:spPr>
        <p:txBody>
          <a:bodyPr rtlCol="0" anchor="ctr"/>
          <a:lstStyle/>
          <a:p>
            <a:pPr rtl="0"/>
            <a:r>
              <a:rPr lang="zh-CN" altLang="en-US" dirty="0"/>
              <a:t>背包专题</a:t>
            </a:r>
            <a:r>
              <a:rPr lang="en-US" altLang="zh-CN" dirty="0"/>
              <a:t>2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508075" y="3862469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3124" y="1582702"/>
            <a:ext cx="9999260" cy="1587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1. </a:t>
            </a:r>
            <a:r>
              <a:rPr lang="zh-CN" altLang="en-US" sz="2000" dirty="0"/>
              <a:t>理解各种背包问题及其算法。</a:t>
            </a:r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2. </a:t>
            </a:r>
            <a:r>
              <a:rPr lang="zh-CN" altLang="en-US" sz="2000" dirty="0"/>
              <a:t>体会背包问题的优化策略。</a:t>
            </a:r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3. </a:t>
            </a:r>
            <a:r>
              <a:rPr lang="zh-CN" altLang="en-US" sz="2000" dirty="0"/>
              <a:t>熟练应用背包模型解决一些实际问题。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背包问题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17927" y="1485049"/>
            <a:ext cx="10067655" cy="1116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背包问题指这样一类问题，题意往往可以抽象成：给定一组物品，每种物品都有自己的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重量和价格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限定的总重量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内，我们如何选择，才能使得物品的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总价格最高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471" y="2993616"/>
            <a:ext cx="3806339" cy="325936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背包问题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" t="-294" r="-155" b="6158"/>
          <a:stretch>
            <a:fillRect/>
          </a:stretch>
        </p:blipFill>
        <p:spPr>
          <a:xfrm>
            <a:off x="1032140" y="1461125"/>
            <a:ext cx="10125427" cy="5019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完全背包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00713" y="1111018"/>
            <a:ext cx="10184869" cy="6183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完全背包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种物品，每种物品有一个重量及一个价值。但每种物品的数量是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的，同时有一个背包，最大载重量为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，今从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种物品中选取若干件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同一种物品可以多次选取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，使其重量的和小于等于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，而价值的和为最大。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第一行：两个整数，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背包容量，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M&lt;=200)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物品数量，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N&lt;=30)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2..N+1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行：每行二个整数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Wi,Ci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，表示每个物品的重量和价值。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仅一行，一个数，表示最大总价值。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10  4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2  1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3  3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4  5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7  9</a:t>
            </a:r>
          </a:p>
          <a:p>
            <a:pPr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88708" y="4590127"/>
            <a:ext cx="6096000" cy="115685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max=12</a:t>
            </a: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dirty="0"/>
              <a:t>完全背包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4305" y="1490060"/>
            <a:ext cx="10241872" cy="471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动态规划思想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：在前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件物品中，选取若干件物品放入背包中；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在前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件物品中，选取若干件物品放入所剩空间为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的背包中的所能获得的最大价值；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从第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件物品中放一个；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表示在前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件物品中选择若干件放在所剩空间为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的背包里所能获得的最大价值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状态转移方程：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]=max{ f[i-1,j]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-ci]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(j&gt;=ci)} 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件物品中取出若干件放进背包能获得的最大价值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n,m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背包相同，可以省略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数组的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这一维度，不过采取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正序循环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完全背包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361624"/>
            <a:ext cx="10131602" cy="54963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#include&lt;bits/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stdc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++.h&gt;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const 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maxm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=2001,maxn=31;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n,m,v,i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 c[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],w[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], f[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maxm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main()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scanf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("%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d%d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",&amp;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n,&amp;m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);            //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背包容量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和物品数量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nn-NO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for(i=1;i&lt;=n;i++) scanf("%d",&amp;c[i]);</a:t>
            </a:r>
          </a:p>
          <a:p>
            <a:pPr>
              <a:lnSpc>
                <a:spcPct val="150000"/>
              </a:lnSpc>
            </a:pPr>
            <a:r>
              <a:rPr lang="nn-NO" altLang="zh-CN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for(i=1;i&lt;=n;i++) scanf("%d",&amp;w[i]);</a:t>
            </a: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for(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=1;i&lt;=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n;i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for(v=w[</a:t>
            </a:r>
            <a:r>
              <a:rPr lang="en-US" altLang="zh-CN" sz="1600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];v&lt;=</a:t>
            </a:r>
            <a:r>
              <a:rPr lang="en-US" altLang="zh-CN" sz="1600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m;v</a:t>
            </a:r>
            <a:r>
              <a:rPr lang="en-US" altLang="zh-CN" sz="1600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           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//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设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f[v]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表示重量不超过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公斤的最大价值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f[v]=max(f[v],f[v-c[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]]+w[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printf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("max=%d\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n",f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[m]);         // f[m]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为最优解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return 0;}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完全背包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4305" y="1490060"/>
            <a:ext cx="10241872" cy="1455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变化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367164"/>
              </p:ext>
            </p:extLst>
          </p:nvPr>
        </p:nvGraphicFramePr>
        <p:xfrm>
          <a:off x="1015004" y="2556288"/>
          <a:ext cx="10394341" cy="19523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6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285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692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295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</a:tblGrid>
              <a:tr h="469013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28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B69A2384-6693-4923-B644-7A1F2213C0AF}"/>
              </a:ext>
            </a:extLst>
          </p:cNvPr>
          <p:cNvSpPr txBox="1"/>
          <p:nvPr/>
        </p:nvSpPr>
        <p:spPr>
          <a:xfrm>
            <a:off x="974305" y="4629297"/>
            <a:ext cx="1958081" cy="1875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【</a:t>
            </a:r>
            <a:r>
              <a:rPr lang="zh-CN" altLang="en-US" sz="2000" dirty="0"/>
              <a:t>样例输入</a:t>
            </a:r>
            <a:r>
              <a:rPr lang="en-US" altLang="zh-CN" sz="2000" dirty="0"/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4 20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8 9 5 2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5 6 7 3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完全背包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4305" y="1468243"/>
            <a:ext cx="10241872" cy="839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内层循环采取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正序循环</a:t>
            </a:r>
            <a:endParaRPr lang="en-US" altLang="zh-CN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74305" y="2422009"/>
            <a:ext cx="10111277" cy="1670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前半部分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f[0-j-1]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处于第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个阶段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个物品已更新；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不断增大，意味着总是用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个阶段状态向第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个阶段的状态转移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，违背了线性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的原则，保证第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个物品被使用了两次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1039603" y="4458836"/>
            <a:ext cx="5055638" cy="1078428"/>
            <a:chOff x="974304" y="4813942"/>
            <a:chExt cx="5055638" cy="1078428"/>
          </a:xfrm>
        </p:grpSpPr>
        <p:cxnSp>
          <p:nvCxnSpPr>
            <p:cNvPr id="4" name="直接箭头连接符 3"/>
            <p:cNvCxnSpPr/>
            <p:nvPr/>
          </p:nvCxnSpPr>
          <p:spPr>
            <a:xfrm>
              <a:off x="1837442" y="5367940"/>
              <a:ext cx="41925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974304" y="5183274"/>
              <a:ext cx="12476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F</a:t>
              </a:r>
              <a:r>
                <a:rPr lang="zh-CN" altLang="en-US" dirty="0"/>
                <a:t>数组 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528421" y="5500754"/>
              <a:ext cx="12476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j-c[</a:t>
              </a:r>
              <a:r>
                <a:rPr lang="en-US" altLang="zh-CN" dirty="0" err="1"/>
                <a:t>i</a:t>
              </a:r>
              <a:r>
                <a:rPr lang="en-US" altLang="zh-CN" dirty="0"/>
                <a:t>]</a:t>
              </a:r>
              <a:endParaRPr lang="zh-CN" altLang="en-US" dirty="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293442" y="5523038"/>
              <a:ext cx="12476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j</a:t>
              </a:r>
              <a:endParaRPr lang="zh-CN" altLang="en-US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410432" y="4843511"/>
              <a:ext cx="12476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i</a:t>
              </a:r>
              <a:r>
                <a:rPr lang="zh-CN" altLang="en-US" dirty="0"/>
                <a:t>阶段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064195" y="4813942"/>
              <a:ext cx="12476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i</a:t>
              </a:r>
              <a:r>
                <a:rPr lang="zh-CN" altLang="en-US" dirty="0"/>
                <a:t>阶段</a:t>
              </a:r>
            </a:p>
          </p:txBody>
        </p:sp>
        <p:cxnSp>
          <p:nvCxnSpPr>
            <p:cNvPr id="22" name="连接符: 曲线 21"/>
            <p:cNvCxnSpPr>
              <a:endCxn id="12" idx="1"/>
            </p:cNvCxnSpPr>
            <p:nvPr/>
          </p:nvCxnSpPr>
          <p:spPr>
            <a:xfrm flipV="1">
              <a:off x="3274142" y="4998608"/>
              <a:ext cx="790053" cy="214235"/>
            </a:xfrm>
            <a:prstGeom prst="curvedConnector3">
              <a:avLst>
                <a:gd name="adj1" fmla="val 52489"/>
              </a:avLst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完全背包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885675" y="1307664"/>
            <a:ext cx="4298883" cy="4511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自然数拆分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Lunatic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输入自然数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，然后将其拆分成由若干数相加的形式，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参与加法运算的数可以重复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求拆分的方案数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mod2147483648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的结果（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1&lt;=N&lt;=4000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样例输入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样例输出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</a:p>
        </p:txBody>
      </p:sp>
      <p:sp>
        <p:nvSpPr>
          <p:cNvPr id="3" name="矩形 2"/>
          <p:cNvSpPr/>
          <p:nvPr/>
        </p:nvSpPr>
        <p:spPr>
          <a:xfrm>
            <a:off x="5808957" y="1173162"/>
            <a:ext cx="6024978" cy="55888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样例解释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7=1+6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7=1+1+5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7=1+1+1+4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7=1+1+1+1+3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7=1+1+1+1+1+2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7=1+1+1+1+1+1+1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7=1+1+1+2+2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7=1+1+2+3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7=1+2+4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7=1+2+2+2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7=1+3+3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7=2+5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7=2+2+3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7=3+4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一共有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种情况，所以输出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 mod 2147483648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5406501" y="1455938"/>
            <a:ext cx="0" cy="5220070"/>
          </a:xfrm>
          <a:prstGeom prst="line">
            <a:avLst/>
          </a:prstGeom>
          <a:ln w="28575">
            <a:prstDash val="sys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完全背包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1104900" y="1421234"/>
            <a:ext cx="10241872" cy="2778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动态规划思想 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这是一个典型的完全背包问题，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1~N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个自然数构成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种物品，每种物品都可以无限制使用，背包容积也是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。本题要求是求方案总数，我们在完全背包基础上，把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函数改为求和即可。最后结果为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f[n]-1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，去掉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n==n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本身这种情况。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完全背包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361624"/>
            <a:ext cx="10131602" cy="54963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#include&lt;bits/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stdc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++.h&gt;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main()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long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long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n,f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[4005];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&gt;&gt;n;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memset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(f,0,sizeof(f));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f[0]=1;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for 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= 1;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       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		for (int j =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; j&lt;=n;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j++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			  f[j]=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f[j]+f[j-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%2147483648;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  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cout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&lt;&lt;f[n]-1;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return 0;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} 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完全背包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45858" y="1331092"/>
            <a:ext cx="506656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习题练习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4900" y="1663135"/>
            <a:ext cx="9980681" cy="3886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P1616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疯狂的采药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P2918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买干草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P5020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货币系统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P1474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货币系统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Money Systems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P1853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投资的最大效益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多重背包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00713" y="1253061"/>
            <a:ext cx="10184869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3】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庆功会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为了庆贺班级在校运动会上取得全校第一名成绩，班主任决定开一场庆功会，为此拨款购买奖品犒劳运动员。期望拨款金额能购买最大价值的奖品，可以补充他们的精力和体力。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第一行二个数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n(n&lt;=500)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m(m&lt;=6000)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，其中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代表希望购买的奖品的种数，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表示拨款金额。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行，每行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，分别表示第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种奖品的价格、价值（价格与价值是不同的概念）和购买的数量（买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件均可），其中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v&lt;=100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w&lt;=1000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s&lt;=10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第一行：一个数，表示此次购买能获得的最大的价值（注意！不是价格）。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5 1000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80 20 4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40 50 9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30 50 7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40 30 6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20 20 1</a:t>
            </a:r>
          </a:p>
        </p:txBody>
      </p:sp>
      <p:sp>
        <p:nvSpPr>
          <p:cNvPr id="4" name="矩形 3"/>
          <p:cNvSpPr/>
          <p:nvPr/>
        </p:nvSpPr>
        <p:spPr>
          <a:xfrm>
            <a:off x="2293398" y="4900496"/>
            <a:ext cx="6096000" cy="78752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1040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dirty="0"/>
              <a:t>多重背包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4305" y="1490060"/>
            <a:ext cx="10241872" cy="3609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动态规划思想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这题目和完全背包问题很类似。基本的方程只需将完全背包问题的方程略微一改即可，因为对于第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种物品有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]+1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种策略：取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件，取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件。令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][v]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表示前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种物品恰放入一个容量为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的背包的最大权值，则：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][v]=max{ 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][v], 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f[i-1][v-k*w[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]]+ k*c[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0&lt;=k&lt;=n[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]}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复杂度是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O(V*∑n[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转化为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背包问题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多重背包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361624"/>
            <a:ext cx="10131602" cy="54963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#include&lt;bits/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stdc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++.h&gt;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v[6002], w[6002], s[6002], f[6002],n, m;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main(){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&gt;&gt;n&gt;&gt;m;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for 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= 1;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scanf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("%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d%d%d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",&amp;v[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],&amp;w[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],&amp;s[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for 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= 1;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for (int j = m; j &gt;= 0; j--)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for (int k = 0; k &lt;= s[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 k++){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    if (j-k*v[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]&lt;0) break;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    f[j] = max(f[j],f[j-k*v[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]]+k*w[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}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cout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&lt;&lt;f[m];   return 0;} 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多重背包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4305" y="1468243"/>
            <a:ext cx="10241872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程序优化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二进制拆分法</a:t>
            </a:r>
            <a:endParaRPr lang="en-US" altLang="zh-CN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1039602" y="2283237"/>
                <a:ext cx="10111277" cy="47115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p>
                    </m:sSup>
                  </m:oMath>
                </a14:m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en-US" altLang="zh-CN" sz="1600" b="1" dirty="0">
                    <a:solidFill>
                      <a:schemeClr val="accent2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altLang="zh-CN" sz="1600" b="1" dirty="0">
                    <a:solidFill>
                      <a:schemeClr val="accent2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600" b="1" dirty="0">
                    <a:solidFill>
                      <a:schemeClr val="accent2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solidFill>
                      <a:schemeClr val="accent2"/>
                    </a:solidFill>
                    <a:ea typeface="微软雅黑" panose="020B0503020204020204" pitchFamily="34" charset="-122"/>
                  </a:rPr>
                  <a:t> …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𝒌</m:t>
                        </m:r>
                        <m: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</a:t>
                </a:r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</a:t>
                </a:r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的整数次幂选出若干相加，可以表示出</a:t>
                </a:r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0~</a:t>
                </a:r>
                <a:r>
                  <a:rPr lang="en-US" altLang="zh-CN" sz="1600" b="1" dirty="0">
                    <a:solidFill>
                      <a:schemeClr val="accent2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e>
                      <m:sup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𝒌</m:t>
                        </m:r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之间的任何整数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。考虑二进制的思想，我们考虑把第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种物品换成若干件物品，使得原问题中第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种物品可取的每种策略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0..n[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件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均能等价于取若干件代换以后的物品。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　　方法是：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将第</a:t>
                </a:r>
                <a:r>
                  <a:rPr lang="en-US" altLang="zh-CN" sz="1600" b="1" dirty="0" err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种物品分成若干件物品，其中每件物品有一个系数，这件物品的费用和价值均是原来的费用和价值乘以这个系数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。使这些系数分别为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1,2,4,...,2^(k-1),n[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]-2^k+1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，且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是满足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n[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]-2^k+1&gt;0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的最大整数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注意：这些系数已经可以组合出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1~n[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内的所有数字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。例如，如果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n[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13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，就将这种物品分成系数分别为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1,2,4,6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的四件物品。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时间复杂度</a:t>
                </a:r>
                <a:r>
                  <a:rPr lang="en-US" altLang="zh-CN" sz="20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O(m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𝒍𝒐𝒈</m:t>
                        </m:r>
                      </m:e>
                      <m:sub>
                        <m:nary>
                          <m:naryPr>
                            <m:chr m:val="∏"/>
                            <m:ctrlPr>
                              <a:rPr lang="en-US" altLang="zh-CN" sz="2000" b="1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000" b="1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𝒊</m:t>
                            </m:r>
                            <m:r>
                              <a:rPr lang="en-US" altLang="zh-CN" sz="2000" b="1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2000" b="1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sz="2000" b="1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𝒏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000" b="1" i="1" dirty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 dirty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2000" b="1" i="1" dirty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𝒌</m:t>
                                </m:r>
                              </m:sub>
                            </m:sSub>
                          </m:e>
                        </m:nary>
                      </m:sub>
                    </m:sSub>
                  </m:oMath>
                </a14:m>
                <a:r>
                  <a:rPr lang="en-US" altLang="zh-CN" sz="20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endPara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602" y="2283237"/>
                <a:ext cx="10111277" cy="4711546"/>
              </a:xfrm>
              <a:prstGeom prst="rect">
                <a:avLst/>
              </a:prstGeom>
              <a:blipFill>
                <a:blip r:embed="rId2"/>
                <a:stretch>
                  <a:fillRect l="-3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多重背包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80612" y="1503667"/>
            <a:ext cx="3484855" cy="401904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#include&lt;bits/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stdc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++.h&gt;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v[10001],w[10001], f[6001],n,m,n1;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main(){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scanf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("%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d%d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",&amp;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n,&amp;m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for(int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=1;i&lt;=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n;i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++){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x,y,s,t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scanf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("%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d%d%d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",&amp;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x,&amp;y,&amp;s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486732" y="1300790"/>
            <a:ext cx="6096000" cy="558806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while (s&gt;=t) 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v[++n1]=x*t;                     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w[n1]=y*t;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s-=t;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t*=2;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}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v[++n1]=x*s;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w[n1]=y*s;                           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把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的指数分堆：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2^(k-1)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s-2^k+1,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=1;i&lt;=n1;i++)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for(int j=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m;j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&gt;=v[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];j--)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f[j]=max(f[j],f[j-v[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]]+w[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]);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("%d\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n",f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[m]);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return 0;}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5069150" y="1503667"/>
            <a:ext cx="0" cy="5220070"/>
          </a:xfrm>
          <a:prstGeom prst="line">
            <a:avLst/>
          </a:prstGeom>
          <a:ln w="28575">
            <a:prstDash val="sys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多重背包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1068075" y="1270816"/>
            <a:ext cx="10054331" cy="5711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程序优化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单调队列</a:t>
            </a:r>
            <a:endParaRPr lang="en-US" altLang="zh-CN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时间复杂度可降低到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NM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背包和完全背包中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算法效率相同。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多重背包的最原始的状态转移方程：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令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= min(num[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], j / v[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])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][j] = max(f[i-1][j-k*v[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]] + k*w[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])     (1 &lt;= k &lt;= c[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])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这里的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是指取第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种物品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如果令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= j / v[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, x = j % v[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那么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 = x* v[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+ b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那么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][x* v[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+ b] = max(f[i-1][b+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x-k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*v[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]] + k*w[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      (0 &lt;= k &lt;= c[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])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令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t=x-k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，代入上式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][x* v[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+ b] = max(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f[i-1][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b+t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v[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]] –t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w[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]+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x*w[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      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x-c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&lt;= t &lt;= x)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可以发现，一对（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）唯一对应一个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，固定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f[i-1][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b+t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*v[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]] - t*w[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只与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有关，而这个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是一段连续的（滑动区间为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无关，可以用单调队列来维护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多重背包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18468" y="1238123"/>
            <a:ext cx="8518495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495F1FE-B1C0-4F88-A092-8E881D197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037" y="428625"/>
            <a:ext cx="6096000" cy="6353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多重背包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00713" y="1253061"/>
            <a:ext cx="10184869" cy="55888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4】coins</a:t>
            </a:r>
            <a:endParaRPr lang="zh-CN" altLang="en-US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种硬币，其中第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种硬币的面值为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，共有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个，从中选出若干个硬币，把面值相加，若结果为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，则称“面值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能被拼成”。求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1~M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之间能被拼成的面值有多少个。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1&lt;=n&lt;=100,1&lt;=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M,Ai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&lt;=10^5,1&lt;=Ci&lt;=1000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3 10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1 2 4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2 1 1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2 5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1 4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dirty="0"/>
              <a:t>多重背包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4305" y="1490060"/>
            <a:ext cx="10241872" cy="3055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动态规划思想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本题是一个多重背包模型，“硬币”为物品，“面值”为体积，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为背包容积。这道题目没有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物品价值属性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，不是一个最优化问题，而是一个可行性问题。可以考虑每种硬币是否被用于拼成最终的面值（是否放入背包），以“已经考虑过的物品种数”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的阶段，在阶段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f[j]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表示前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种硬币能否拼成面值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。用“直接拆分法”朴素求解。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多重背包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361624"/>
            <a:ext cx="10131602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460" y="1361624"/>
            <a:ext cx="6447079" cy="53192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dirty="0"/>
              <a:t>多重背包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4305" y="1321383"/>
            <a:ext cx="10241872" cy="535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问题优化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动态规划思想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上述算法时间复杂度过高，不能通过本题的测试数据，可以利用“二进制拆分法”或者“单调队列”进行优化。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自行完成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但是本题仅关注“可行性”（面值能被拼成）而不是最优性，分析动态规划过程可发现。若前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种硬币能够拼成面值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，只有两类可能情况：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种硬币就能够拼成面值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，即在第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阶段开始前，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f[j]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已经为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使用了第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种硬币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，即在第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阶段的递推中，发现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f[j-a[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，从而变量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f[j]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于是考虑一种贪心策略：设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used[j]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f[j]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在阶段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至少使用多少枚第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种硬币，并且尽量选择第一类情况。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多重背包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361624"/>
            <a:ext cx="10131602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267" y="1264457"/>
            <a:ext cx="6353691" cy="55935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多重背包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45858" y="1331092"/>
            <a:ext cx="506656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习题练习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4900" y="1663135"/>
            <a:ext cx="9980681" cy="1116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24096A-C58A-4B1A-84F9-D687F6E69E87}"/>
              </a:ext>
            </a:extLst>
          </p:cNvPr>
          <p:cNvSpPr txBox="1"/>
          <p:nvPr/>
        </p:nvSpPr>
        <p:spPr>
          <a:xfrm>
            <a:off x="1104900" y="18246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P1077 </a:t>
            </a:r>
            <a:r>
              <a:rPr lang="zh-CN" altLang="en-US" dirty="0"/>
              <a:t>摆花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2892</Words>
  <Application>Microsoft Office PowerPoint</Application>
  <PresentationFormat>宽屏</PresentationFormat>
  <Paragraphs>353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3" baseType="lpstr">
      <vt:lpstr>微软雅黑</vt:lpstr>
      <vt:lpstr>Cambria Math</vt:lpstr>
      <vt:lpstr>Euphemia</vt:lpstr>
      <vt:lpstr>Times New Roman</vt:lpstr>
      <vt:lpstr>Wingdings</vt:lpstr>
      <vt:lpstr>学术文献 16x9</vt:lpstr>
      <vt:lpstr>背包专题2</vt:lpstr>
      <vt:lpstr>学习目标</vt:lpstr>
      <vt:lpstr>背包问题</vt:lpstr>
      <vt:lpstr>背包问题</vt:lpstr>
      <vt:lpstr>完全背包</vt:lpstr>
      <vt:lpstr>完全背包</vt:lpstr>
      <vt:lpstr>完全背包</vt:lpstr>
      <vt:lpstr>完全背包</vt:lpstr>
      <vt:lpstr>完全背包</vt:lpstr>
      <vt:lpstr>完全背包</vt:lpstr>
      <vt:lpstr>完全背包</vt:lpstr>
      <vt:lpstr>完全背包</vt:lpstr>
      <vt:lpstr>完全背包</vt:lpstr>
      <vt:lpstr>多重背包</vt:lpstr>
      <vt:lpstr>多重背包</vt:lpstr>
      <vt:lpstr>多重背包</vt:lpstr>
      <vt:lpstr>多重背包</vt:lpstr>
      <vt:lpstr>多重背包</vt:lpstr>
      <vt:lpstr>多重背包</vt:lpstr>
      <vt:lpstr>多重背包</vt:lpstr>
      <vt:lpstr>多重背包</vt:lpstr>
      <vt:lpstr>多重背包</vt:lpstr>
      <vt:lpstr>多重背包</vt:lpstr>
      <vt:lpstr>多重背包</vt:lpstr>
      <vt:lpstr>多重背包</vt:lpstr>
      <vt:lpstr>多重背包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</cp:revision>
  <dcterms:created xsi:type="dcterms:W3CDTF">2017-11-04T04:56:00Z</dcterms:created>
  <dcterms:modified xsi:type="dcterms:W3CDTF">2022-01-07T03:37:27Z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2052-11.1.0.8976</vt:lpwstr>
  </property>
</Properties>
</file>