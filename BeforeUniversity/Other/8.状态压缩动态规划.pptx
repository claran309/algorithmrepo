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docProps/custom.xml" ContentType="application/vnd.openxmlformats-officedocument.custom-properties+xml"/>
  <Default Extension="wdp" ContentType="image/vnd.ms-photo"/>
  <Override PartName="/ppt/commentAuthors.xml" ContentType="application/vnd.openxmlformats-officedocument.presentationml.commentAuthors+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61" r:id="rId2"/>
  </p:sldMasterIdLst>
  <p:notesMasterIdLst>
    <p:notesMasterId r:id="rId24"/>
  </p:notesMasterIdLst>
  <p:handoutMasterIdLst>
    <p:handoutMasterId r:id="rId25"/>
  </p:handoutMasterIdLst>
  <p:sldIdLst>
    <p:sldId id="706" r:id="rId3"/>
    <p:sldId id="612" r:id="rId4"/>
    <p:sldId id="668" r:id="rId5"/>
    <p:sldId id="669" r:id="rId6"/>
    <p:sldId id="573" r:id="rId7"/>
    <p:sldId id="729" r:id="rId8"/>
    <p:sldId id="710" r:id="rId9"/>
    <p:sldId id="713" r:id="rId10"/>
    <p:sldId id="730" r:id="rId11"/>
    <p:sldId id="731" r:id="rId12"/>
    <p:sldId id="732" r:id="rId13"/>
    <p:sldId id="733" r:id="rId14"/>
    <p:sldId id="714" r:id="rId15"/>
    <p:sldId id="719" r:id="rId16"/>
    <p:sldId id="720" r:id="rId17"/>
    <p:sldId id="721" r:id="rId18"/>
    <p:sldId id="734" r:id="rId19"/>
    <p:sldId id="667" r:id="rId20"/>
    <p:sldId id="735" r:id="rId21"/>
    <p:sldId id="736" r:id="rId22"/>
    <p:sldId id="707" r:id="rId23"/>
  </p:sldIdLst>
  <p:sldSz cx="12192000" cy="6858000"/>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 uri="{2D200454-40CA-4A62-9FC3-DE9A4176ACB9}">
      <p15:notes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E9E9E9"/>
    <a:srgbClr val="FFFFF3"/>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autoAdjust="0"/>
  </p:normalViewPr>
  <p:slideViewPr>
    <p:cSldViewPr snapToGrid="0" showGuides="1">
      <p:cViewPr varScale="1">
        <p:scale>
          <a:sx n="112" d="100"/>
          <a:sy n="112" d="100"/>
        </p:scale>
        <p:origin x="-510"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20" d="100"/>
        <a:sy n="20" d="100"/>
      </p:scale>
      <p:origin x="0" y="0"/>
    </p:cViewPr>
  </p:sorterViewPr>
  <p:notesViewPr>
    <p:cSldViewPr snapToGrid="0">
      <p:cViewPr varScale="1">
        <p:scale>
          <a:sx n="99" d="100"/>
          <a:sy n="99" d="100"/>
        </p:scale>
        <p:origin x="3570" y="90"/>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91C0301E-2321-4F52-B85E-5901506D265C}" type="datetime1">
              <a:rPr lang="zh-CN" altLang="en-US" smtClean="0">
                <a:latin typeface="微软雅黑" panose="020B0503020204020204" pitchFamily="34" charset="-122"/>
                <a:ea typeface="微软雅黑" panose="020B0503020204020204" pitchFamily="34" charset="-122"/>
              </a:rPr>
              <a:pPr algn="r" rtl="0"/>
              <a:t>2022/1/28</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rtl="0"/>
            <a:fld id="{06834459-7356-44BF-850D-8B30C4FB3B6B}" type="slidenum">
              <a:rPr lang="en-US" altLang="zh-CN" smtClean="0">
                <a:latin typeface="微软雅黑" panose="020B0503020204020204" pitchFamily="34" charset="-122"/>
                <a:ea typeface="微软雅黑" panose="020B0503020204020204" pitchFamily="34" charset="-122"/>
              </a:rPr>
              <a:pPr algn="r" rtl="0"/>
              <a:t>‹#›</a:t>
            </a:fld>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xmlns=""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微软雅黑" panose="020B0503020204020204" pitchFamily="34" charset="-122"/>
                <a:ea typeface="微软雅黑" panose="020B0503020204020204" pitchFamily="34" charset="-122"/>
              </a:defRPr>
            </a:lvl1pPr>
          </a:lstStyle>
          <a:p>
            <a:fld id="{229B22C3-6CB1-491B-AD00-E0837F23A3F3}" type="datetime1">
              <a:rPr lang="zh-CN" altLang="en-US" smtClean="0"/>
              <a:pPr/>
              <a:t>2022/1/28</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微软雅黑" panose="020B0503020204020204" pitchFamily="34" charset="-122"/>
                <a:ea typeface="微软雅黑" panose="020B0503020204020204" pitchFamily="34" charset="-122"/>
              </a:defRPr>
            </a:lvl1pPr>
          </a:lstStyle>
          <a:p>
            <a:fld id="{0A3C37BE-C303-496D-B5CD-85F2937540FC}" type="slidenum">
              <a:rPr lang="en-US" altLang="zh-CN" smtClean="0"/>
              <a:pPr/>
              <a:t>‹#›</a:t>
            </a:fld>
            <a:endParaRPr lang="en-US" altLang="zh-C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3C37BE-C303-496D-B5CD-85F2937540FC}" type="slidenum">
              <a:rPr kumimoji="0" lang="en-US" altLang="zh-CN" sz="1200" b="0" i="0" u="none" strike="noStrike" kern="1200" cap="none" spc="0" normalizeH="0" baseline="0" noProof="0" smtClean="0">
                <a:ln>
                  <a:noFill/>
                </a:ln>
                <a:solidFill>
                  <a:srgbClr val="514843"/>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altLang="zh-CN" sz="12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DCE1B89-F6FA-4386-AE58-9FE75DA57933}" type="slidenum">
              <a:rPr lang="zh-CN" altLang="en-US" smtClean="0"/>
              <a:pPr/>
              <a:t>5</a:t>
            </a:fld>
            <a:endParaRPr lang="zh-CN" altLang="en-US"/>
          </a:p>
        </p:txBody>
      </p:sp>
    </p:spTree>
    <p:extLst>
      <p:ext uri="{BB962C8B-B14F-4D97-AF65-F5344CB8AC3E}">
        <p14:creationId xmlns:p14="http://schemas.microsoft.com/office/powerpoint/2010/main" xmlns="" val="84068422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NULL"/><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NULL"/><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2" name="标题 1"/>
          <p:cNvSpPr>
            <a:spLocks noGrp="1"/>
          </p:cNvSpPr>
          <p:nvPr>
            <p:ph type="ctrTitle"/>
          </p:nvPr>
        </p:nvSpPr>
        <p:spPr>
          <a:xfrm>
            <a:off x="1104900" y="2292094"/>
            <a:ext cx="10096500" cy="2219691"/>
          </a:xfrm>
        </p:spPr>
        <p:txBody>
          <a:bodyPr rtlCol="0" anchor="ctr">
            <a:normAutofit/>
          </a:bodyPr>
          <a:lstStyle>
            <a:lvl1pPr algn="l" rtl="0">
              <a:defRPr sz="44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898" y="4511784"/>
            <a:ext cx="10096501" cy="955565"/>
          </a:xfrm>
        </p:spPr>
        <p:txBody>
          <a:bodyPr rtlCol="0">
            <a:normAutofit/>
          </a:bodyPr>
          <a:lstStyle>
            <a:lvl1pPr marL="0" indent="0" algn="l" rtl="0">
              <a:spcBef>
                <a:spcPts val="0"/>
              </a:spcBef>
              <a:buNone/>
              <a:defRPr sz="1800"/>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pPr/>
              <a:t>2022/1/28</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xmlns="">
                  <a14:imgLayer r:embed="rId3">
                    <a14:imgEffect>
                      <a14:saturation sat="30000"/>
                    </a14:imgEffect>
                  </a14:imgLayer>
                </a14:imgProps>
              </a:ext>
              <a:ext uri="{28A0092B-C50C-407E-A947-70E740481C1C}">
                <a14:useLocalDpi xmlns:a14="http://schemas.microsoft.com/office/drawing/2010/main" xmlns="" val="0"/>
              </a:ext>
            </a:extLst>
          </a:blip>
          <a:srcRect/>
          <a:stretch>
            <a:fillRect/>
          </a:stretch>
        </p:blipFill>
        <p:spPr>
          <a:xfrm>
            <a:off x="1324445" y="0"/>
            <a:ext cx="1747524" cy="2292094"/>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3"/>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pPr/>
              <a:t>2022/1/28</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0"/>
            <a:ext cx="12192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0"/>
            <a:ext cx="12192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1104900" y="2292094"/>
            <a:ext cx="5734050" cy="2219691"/>
          </a:xfrm>
        </p:spPr>
        <p:txBody>
          <a:bodyPr rtlCol="0" anchor="ctr">
            <a:normAutofit/>
          </a:bodyPr>
          <a:lstStyle>
            <a:lvl1pPr algn="l" rtl="0">
              <a:defRPr sz="44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900" y="4511784"/>
            <a:ext cx="5734050" cy="955565"/>
          </a:xfrm>
        </p:spPr>
        <p:txBody>
          <a:bodyPr rtlCol="0">
            <a:normAutofit/>
          </a:bodyPr>
          <a:lstStyle>
            <a:lvl1pPr marL="0" indent="0" algn="l" rtl="0">
              <a:spcBef>
                <a:spcPts val="0"/>
              </a:spcBef>
              <a:buNone/>
              <a:defRPr sz="1800">
                <a:latin typeface="微软雅黑" panose="020B0503020204020204" pitchFamily="34" charset="-122"/>
                <a:ea typeface="微软雅黑" panose="020B0503020204020204" pitchFamily="34" charset="-122"/>
              </a:defRPr>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xmlns="">
                  <a14:imgLayer r:embed="rId3">
                    <a14:imgEffect>
                      <a14:saturation sat="30000"/>
                    </a14:imgEffect>
                  </a14:imgLayer>
                </a14:imgProps>
              </a:ext>
              <a:ext uri="{28A0092B-C50C-407E-A947-70E740481C1C}">
                <a14:useLocalDpi xmlns:a14="http://schemas.microsoft.com/office/drawing/2010/main" xmlns="" val="0"/>
              </a:ext>
            </a:extLst>
          </a:blip>
          <a:srcRect/>
          <a:stretch>
            <a:fillRect/>
          </a:stretch>
        </p:blipFill>
        <p:spPr>
          <a:xfrm>
            <a:off x="1325880" y="0"/>
            <a:ext cx="1747524" cy="2292094"/>
          </a:xfrm>
          <a:prstGeom prst="rect">
            <a:avLst/>
          </a:prstGeom>
        </p:spPr>
      </p:pic>
      <p:sp>
        <p:nvSpPr>
          <p:cNvPr id="11" name="图片占位符 10"/>
          <p:cNvSpPr>
            <a:spLocks noGrp="1"/>
          </p:cNvSpPr>
          <p:nvPr>
            <p:ph type="pic" sz="quarter" idx="13"/>
          </p:nvPr>
        </p:nvSpPr>
        <p:spPr>
          <a:xfrm>
            <a:off x="6981063" y="1310656"/>
            <a:ext cx="5210937"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12344400" y="0"/>
            <a:ext cx="129540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rtl="0"/>
            <a:r>
              <a:rPr lang="zh-CN" altLang="en-US" sz="1200" b="1" i="1" noProof="0" dirty="0">
                <a:latin typeface="微软雅黑" panose="020B0503020204020204" pitchFamily="34" charset="-122"/>
                <a:ea typeface="微软雅黑" panose="020B0503020204020204" pitchFamily="34" charset="-122"/>
                <a:cs typeface="Arial" panose="020B0604020202020204" pitchFamily="34" charset="0"/>
              </a:rPr>
              <a:t>注意：</a:t>
            </a:r>
          </a:p>
          <a:p>
            <a:pPr rtl="0"/>
            <a:r>
              <a:rPr lang="zh-CN" altLang="en-US" sz="1200" i="1" noProof="0" dirty="0">
                <a:latin typeface="微软雅黑" panose="020B0503020204020204" pitchFamily="34" charset="-122"/>
                <a:ea typeface="微软雅黑" panose="020B0503020204020204" pitchFamily="34" charset="-122"/>
                <a:cs typeface="Arial" panose="020B0604020202020204" pitchFamily="34" charset="0"/>
              </a:rPr>
              <a:t>若要更改此幻灯片上的图像，请选择该图片，并将其删除。然后单击占位符中的图片图标以插入自己的图像。</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0"/>
            <a:ext cx="12192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1104899" y="2971806"/>
            <a:ext cx="10071099" cy="1684150"/>
          </a:xfrm>
        </p:spPr>
        <p:txBody>
          <a:bodyPr rtlCol="0" anchor="ctr">
            <a:normAutofit/>
          </a:bodyPr>
          <a:lstStyle>
            <a:lvl1pPr algn="l" rtl="0">
              <a:defRPr sz="44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899" y="4655956"/>
            <a:ext cx="10071099" cy="509750"/>
          </a:xfrm>
        </p:spPr>
        <p:txBody>
          <a:bodyPr rtlCol="0">
            <a:normAutofit/>
          </a:bodyPr>
          <a:lstStyle>
            <a:lvl1pPr marL="0" indent="0" algn="l" rtl="0">
              <a:spcBef>
                <a:spcPts val="0"/>
              </a:spcBef>
              <a:buNone/>
              <a:defRPr sz="1600">
                <a:solidFill>
                  <a:schemeClr val="bg1"/>
                </a:solidFill>
                <a:latin typeface="微软雅黑" panose="020B0503020204020204" pitchFamily="34" charset="-122"/>
                <a:ea typeface="微软雅黑" panose="020B0503020204020204" pitchFamily="34" charset="-122"/>
              </a:defRPr>
            </a:lvl1pPr>
            <a:lvl2pPr marL="457200" indent="0" algn="l" rtl="0">
              <a:buNone/>
              <a:defRPr sz="2000">
                <a:solidFill>
                  <a:schemeClr val="tx1">
                    <a:tint val="75000"/>
                  </a:schemeClr>
                </a:solidFill>
              </a:defRPr>
            </a:lvl2pPr>
            <a:lvl3pPr marL="914400" indent="0" algn="l" rtl="0">
              <a:buNone/>
              <a:defRPr sz="1800">
                <a:solidFill>
                  <a:schemeClr val="tx1">
                    <a:tint val="75000"/>
                  </a:schemeClr>
                </a:solidFill>
              </a:defRPr>
            </a:lvl3pPr>
            <a:lvl4pPr marL="1371600" indent="0" algn="l" rtl="0">
              <a:buNone/>
              <a:defRPr sz="1600">
                <a:solidFill>
                  <a:schemeClr val="tx1">
                    <a:tint val="75000"/>
                  </a:schemeClr>
                </a:solidFill>
              </a:defRPr>
            </a:lvl4pPr>
            <a:lvl5pPr marL="1828800" indent="0" algn="l" rtl="0">
              <a:buNone/>
              <a:defRPr sz="1600">
                <a:solidFill>
                  <a:schemeClr val="tx1">
                    <a:tint val="75000"/>
                  </a:schemeClr>
                </a:solidFill>
              </a:defRPr>
            </a:lvl5pPr>
            <a:lvl6pPr marL="2286000" indent="0" algn="l" rtl="0">
              <a:buNone/>
              <a:defRPr sz="1600">
                <a:solidFill>
                  <a:schemeClr val="tx1">
                    <a:tint val="75000"/>
                  </a:schemeClr>
                </a:solidFill>
              </a:defRPr>
            </a:lvl6pPr>
            <a:lvl7pPr marL="2743200" indent="0" algn="l" rtl="0">
              <a:buNone/>
              <a:defRPr sz="1600">
                <a:solidFill>
                  <a:schemeClr val="tx1">
                    <a:tint val="75000"/>
                  </a:schemeClr>
                </a:solidFill>
              </a:defRPr>
            </a:lvl7pPr>
            <a:lvl8pPr marL="3200400" indent="0" algn="l" rtl="0">
              <a:buNone/>
              <a:defRPr sz="1600">
                <a:solidFill>
                  <a:schemeClr val="tx1">
                    <a:tint val="75000"/>
                  </a:schemeClr>
                </a:solidFill>
              </a:defRPr>
            </a:lvl8pPr>
            <a:lvl9pPr marL="3657600" indent="0" algn="l" rtl="0">
              <a:buNone/>
              <a:defRPr sz="1600">
                <a:solidFill>
                  <a:schemeClr val="tx1">
                    <a:tint val="75000"/>
                  </a:schemeClr>
                </a:solidFill>
              </a:defRPr>
            </a:lvl9pPr>
          </a:lstStyle>
          <a:p>
            <a:pPr lvl="0" rtl="0"/>
            <a:r>
              <a:rPr lang="zh-CN" altLang="en-US" noProof="0"/>
              <a:t>单击此处编辑母版文本样式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pPr/>
              <a:t>2022/1/28</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xmlns="" val="0"/>
              </a:ext>
            </a:extLst>
          </a:blip>
          <a:stretch>
            <a:fillRect/>
          </a:stretch>
        </p:blipFill>
        <p:spPr>
          <a:xfrm>
            <a:off x="1325880" y="0"/>
            <a:ext cx="1783188" cy="2971806"/>
          </a:xfrm>
          <a:prstGeom prst="rect">
            <a:avLst/>
          </a:prstGeom>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11049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61722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dirty="0" smtClean="0"/>
              <a:pPr/>
              <a:t>2022/1/28</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90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4" name="内容占位符 3"/>
          <p:cNvSpPr>
            <a:spLocks noGrp="1"/>
          </p:cNvSpPr>
          <p:nvPr>
            <p:ph sz="half" idx="2"/>
          </p:nvPr>
        </p:nvSpPr>
        <p:spPr>
          <a:xfrm>
            <a:off x="110490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616611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6" name="内容占位符 5"/>
          <p:cNvSpPr>
            <a:spLocks noGrp="1"/>
          </p:cNvSpPr>
          <p:nvPr>
            <p:ph sz="quarter" idx="4"/>
          </p:nvPr>
        </p:nvSpPr>
        <p:spPr>
          <a:xfrm>
            <a:off x="616611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pPr/>
              <a:t>2022/1/28</a:t>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pPr/>
              <a:t>2022/1/28</a:t>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pPr/>
              <a:t>2022/1/28</a:t>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5641848" y="1600199"/>
            <a:ext cx="5445252" cy="4572001"/>
          </a:xfrm>
        </p:spPr>
        <p:txBody>
          <a:bodyPr rtlCol="0">
            <a:normAutofit/>
          </a:bodyPr>
          <a:lstStyle>
            <a:lvl1pPr algn="l" rtl="0">
              <a:defRPr sz="2000"/>
            </a:lvl1pPr>
            <a:lvl2pPr algn="l" rtl="0">
              <a:defRPr sz="1600"/>
            </a:lvl2pPr>
            <a:lvl3pPr algn="l" rtl="0">
              <a:defRPr sz="1600"/>
            </a:lvl3pPr>
            <a:lvl4pPr algn="l" rtl="0">
              <a:defRPr sz="1400"/>
            </a:lvl4pPr>
            <a:lvl5pPr algn="l" rtl="0">
              <a:defRPr sz="1400"/>
            </a:lvl5pPr>
            <a:lvl6pPr algn="l" rtl="0">
              <a:defRPr sz="1400"/>
            </a:lvl6pPr>
            <a:lvl7pPr algn="l" rtl="0">
              <a:defRPr sz="1400"/>
            </a:lvl7pPr>
            <a:lvl8pPr algn="l" rtl="0">
              <a:defRPr sz="1400"/>
            </a:lvl8pPr>
            <a:lvl9pPr algn="l" rtl="0">
              <a:defRPr sz="1400"/>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1104900" y="1600200"/>
            <a:ext cx="4384548" cy="4572000"/>
          </a:xfrm>
        </p:spPr>
        <p:txBody>
          <a:bodyPr rtlCol="0">
            <a:normAutofit/>
          </a:bodyPr>
          <a:lstStyle>
            <a:lvl1pPr marL="0" indent="0" algn="l" rtl="0">
              <a:spcBef>
                <a:spcPts val="1200"/>
              </a:spcBef>
              <a:buNone/>
              <a:defRPr sz="18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pPr/>
              <a:t>2022/1/28</a:t>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4654671" y="1600199"/>
            <a:ext cx="6430912" cy="4572001"/>
          </a:xfrm>
        </p:spPr>
        <p:txBody>
          <a:bodyPr tIns="1188720" rtlCol="0">
            <a:normAutofit/>
          </a:bodyPr>
          <a:lstStyle>
            <a:lvl1pPr marL="0" indent="0" algn="ctr" rtl="0">
              <a:buNone/>
              <a:defRPr sz="2000">
                <a:latin typeface="微软雅黑" panose="020B0503020204020204" pitchFamily="34" charset="-122"/>
                <a:ea typeface="微软雅黑" panose="020B0503020204020204" pitchFamily="34" charset="-122"/>
              </a:defRPr>
            </a:lvl1pPr>
            <a:lvl2pPr marL="457200" indent="0" algn="l" rtl="0">
              <a:buNone/>
              <a:defRPr sz="2800"/>
            </a:lvl2pPr>
            <a:lvl3pPr marL="914400" indent="0" algn="l" rtl="0">
              <a:buNone/>
              <a:defRPr sz="2400"/>
            </a:lvl3pPr>
            <a:lvl4pPr marL="1371600" indent="0" algn="l" rtl="0">
              <a:buNone/>
              <a:defRPr sz="2000"/>
            </a:lvl4pPr>
            <a:lvl5pPr marL="1828800" indent="0" algn="l" rtl="0">
              <a:buNone/>
              <a:defRPr sz="2000"/>
            </a:lvl5pPr>
            <a:lvl6pPr marL="2286000" indent="0" algn="l" rtl="0">
              <a:buNone/>
              <a:defRPr sz="2000"/>
            </a:lvl6pPr>
            <a:lvl7pPr marL="2743200" indent="0" algn="l" rtl="0">
              <a:buNone/>
              <a:defRPr sz="2000"/>
            </a:lvl7pPr>
            <a:lvl8pPr marL="3200400" indent="0" algn="l" rtl="0">
              <a:buNone/>
              <a:defRPr sz="2000"/>
            </a:lvl8pPr>
            <a:lvl9pPr marL="3657600" indent="0" algn="l" rtl="0">
              <a:buNone/>
              <a:defRPr sz="20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104900" y="1600200"/>
            <a:ext cx="3396996" cy="4572000"/>
          </a:xfrm>
        </p:spPr>
        <p:txBody>
          <a:bodyPr rtlCol="0">
            <a:normAutofit/>
          </a:bodyPr>
          <a:lstStyle>
            <a:lvl1pPr marL="0" indent="0" algn="l" rtl="0">
              <a:spcBef>
                <a:spcPts val="1200"/>
              </a:spcBef>
              <a:buNone/>
              <a:defRPr sz="1800">
                <a:latin typeface="微软雅黑" panose="020B0503020204020204" pitchFamily="34" charset="-122"/>
                <a:ea typeface="微软雅黑" panose="020B0503020204020204" pitchFamily="34" charset="-122"/>
              </a:defRPr>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pPr/>
              <a:t>2022/1/28</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pPr/>
              <a:t>2022/1/28</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9372600" y="365125"/>
            <a:ext cx="1714500"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1104900" y="365125"/>
            <a:ext cx="8098896" cy="5811838"/>
          </a:xfrm>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pPr/>
              <a:t>2022/1/28</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grpSp>
        <p:nvGrpSpPr>
          <p:cNvPr id="7" name="组 6"/>
          <p:cNvGrpSpPr/>
          <p:nvPr/>
        </p:nvGrpSpPr>
        <p:grpSpPr>
          <a:xfrm rot="5400000">
            <a:off x="6514047" y="3228843"/>
            <a:ext cx="5632704" cy="84403"/>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2" name="标题 1"/>
          <p:cNvSpPr>
            <a:spLocks noGrp="1"/>
          </p:cNvSpPr>
          <p:nvPr>
            <p:ph type="ctrTitle"/>
          </p:nvPr>
        </p:nvSpPr>
        <p:spPr>
          <a:xfrm>
            <a:off x="1104900" y="2292094"/>
            <a:ext cx="10096500" cy="2219691"/>
          </a:xfrm>
        </p:spPr>
        <p:txBody>
          <a:bodyPr rtlCol="0" anchor="ctr">
            <a:normAutofit/>
          </a:bodyPr>
          <a:lstStyle>
            <a:lvl1pPr algn="l" rtl="0">
              <a:defRPr sz="44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898" y="4511784"/>
            <a:ext cx="10096501" cy="955565"/>
          </a:xfrm>
        </p:spPr>
        <p:txBody>
          <a:bodyPr rtlCol="0">
            <a:normAutofit/>
          </a:bodyPr>
          <a:lstStyle>
            <a:lvl1pPr marL="0" indent="0" algn="l" rtl="0">
              <a:spcBef>
                <a:spcPts val="0"/>
              </a:spcBef>
              <a:buNone/>
              <a:defRPr sz="1800"/>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pPr/>
              <a:t>2022/1/28</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xmlns="">
                  <a14:imgLayer r:embed="rId3">
                    <a14:imgEffect>
                      <a14:saturation sat="30000"/>
                    </a14:imgEffect>
                  </a14:imgLayer>
                </a14:imgProps>
              </a:ext>
              <a:ext uri="{28A0092B-C50C-407E-A947-70E740481C1C}">
                <a14:useLocalDpi xmlns:a14="http://schemas.microsoft.com/office/drawing/2010/main" xmlns="" val="0"/>
              </a:ext>
            </a:extLst>
          </a:blip>
          <a:srcRect/>
          <a:stretch>
            <a:fillRect/>
          </a:stretch>
        </p:blipFill>
        <p:spPr>
          <a:xfrm>
            <a:off x="1324445" y="0"/>
            <a:ext cx="1747524" cy="2292094"/>
          </a:xfrm>
          <a:prstGeom prst="rect">
            <a:avLst/>
          </a:prstGeom>
        </p:spPr>
      </p:pic>
    </p:spTree>
    <p:extLst>
      <p:ext uri="{BB962C8B-B14F-4D97-AF65-F5344CB8AC3E}">
        <p14:creationId xmlns:p14="http://schemas.microsoft.com/office/powerpoint/2010/main" xmlns="" val="123299557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3"/>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pPr/>
              <a:t>2022/1/28</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xmlns="" val="7057476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0"/>
            <a:ext cx="12192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0"/>
            <a:ext cx="12192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1104900" y="2292094"/>
            <a:ext cx="5734050" cy="2219691"/>
          </a:xfrm>
        </p:spPr>
        <p:txBody>
          <a:bodyPr rtlCol="0" anchor="ctr">
            <a:normAutofit/>
          </a:bodyPr>
          <a:lstStyle>
            <a:lvl1pPr algn="l" rtl="0">
              <a:defRPr sz="44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900" y="4511784"/>
            <a:ext cx="5734050" cy="955565"/>
          </a:xfrm>
        </p:spPr>
        <p:txBody>
          <a:bodyPr rtlCol="0">
            <a:normAutofit/>
          </a:bodyPr>
          <a:lstStyle>
            <a:lvl1pPr marL="0" indent="0" algn="l" rtl="0">
              <a:spcBef>
                <a:spcPts val="0"/>
              </a:spcBef>
              <a:buNone/>
              <a:defRPr sz="1800">
                <a:latin typeface="微软雅黑" panose="020B0503020204020204" pitchFamily="34" charset="-122"/>
                <a:ea typeface="微软雅黑" panose="020B0503020204020204" pitchFamily="34" charset="-122"/>
              </a:defRPr>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xmlns="">
                  <a14:imgLayer r:embed="rId3">
                    <a14:imgEffect>
                      <a14:saturation sat="30000"/>
                    </a14:imgEffect>
                  </a14:imgLayer>
                </a14:imgProps>
              </a:ext>
              <a:ext uri="{28A0092B-C50C-407E-A947-70E740481C1C}">
                <a14:useLocalDpi xmlns:a14="http://schemas.microsoft.com/office/drawing/2010/main" xmlns="" val="0"/>
              </a:ext>
            </a:extLst>
          </a:blip>
          <a:srcRect/>
          <a:stretch>
            <a:fillRect/>
          </a:stretch>
        </p:blipFill>
        <p:spPr>
          <a:xfrm>
            <a:off x="1325880" y="0"/>
            <a:ext cx="1747524" cy="2292094"/>
          </a:xfrm>
          <a:prstGeom prst="rect">
            <a:avLst/>
          </a:prstGeom>
        </p:spPr>
      </p:pic>
      <p:sp>
        <p:nvSpPr>
          <p:cNvPr id="11" name="图片占位符 10"/>
          <p:cNvSpPr>
            <a:spLocks noGrp="1"/>
          </p:cNvSpPr>
          <p:nvPr>
            <p:ph type="pic" sz="quarter" idx="13"/>
          </p:nvPr>
        </p:nvSpPr>
        <p:spPr>
          <a:xfrm>
            <a:off x="6981063" y="1310656"/>
            <a:ext cx="5210937"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12344400" y="0"/>
            <a:ext cx="129540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rtl="0"/>
            <a:r>
              <a:rPr lang="zh-CN" altLang="en-US" sz="1200" b="1" i="1" noProof="0" dirty="0">
                <a:latin typeface="微软雅黑" panose="020B0503020204020204" pitchFamily="34" charset="-122"/>
                <a:ea typeface="微软雅黑" panose="020B0503020204020204" pitchFamily="34" charset="-122"/>
                <a:cs typeface="Arial" panose="020B0604020202020204" pitchFamily="34" charset="0"/>
              </a:rPr>
              <a:t>注意：</a:t>
            </a:r>
          </a:p>
          <a:p>
            <a:pPr rtl="0"/>
            <a:r>
              <a:rPr lang="zh-CN" altLang="en-US" sz="1200" i="1" noProof="0" dirty="0">
                <a:latin typeface="微软雅黑" panose="020B0503020204020204" pitchFamily="34" charset="-122"/>
                <a:ea typeface="微软雅黑" panose="020B0503020204020204" pitchFamily="34" charset="-122"/>
                <a:cs typeface="Arial" panose="020B0604020202020204" pitchFamily="34" charset="0"/>
              </a:rPr>
              <a:t>若要更改此幻灯片上的图像，请选择该图片，并将其删除。然后单击占位符中的图片图标以插入自己的图像。</a:t>
            </a:r>
          </a:p>
        </p:txBody>
      </p:sp>
    </p:spTree>
    <p:extLst>
      <p:ext uri="{BB962C8B-B14F-4D97-AF65-F5344CB8AC3E}">
        <p14:creationId xmlns:p14="http://schemas.microsoft.com/office/powerpoint/2010/main" xmlns="" val="198811914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0"/>
            <a:ext cx="12192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1104899" y="2971806"/>
            <a:ext cx="10071099" cy="1684150"/>
          </a:xfrm>
        </p:spPr>
        <p:txBody>
          <a:bodyPr rtlCol="0" anchor="ctr">
            <a:normAutofit/>
          </a:bodyPr>
          <a:lstStyle>
            <a:lvl1pPr algn="l" rtl="0">
              <a:defRPr sz="44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899" y="4655956"/>
            <a:ext cx="10071099" cy="509750"/>
          </a:xfrm>
        </p:spPr>
        <p:txBody>
          <a:bodyPr rtlCol="0">
            <a:normAutofit/>
          </a:bodyPr>
          <a:lstStyle>
            <a:lvl1pPr marL="0" indent="0" algn="l" rtl="0">
              <a:spcBef>
                <a:spcPts val="0"/>
              </a:spcBef>
              <a:buNone/>
              <a:defRPr sz="1600">
                <a:solidFill>
                  <a:schemeClr val="bg1"/>
                </a:solidFill>
                <a:latin typeface="微软雅黑" panose="020B0503020204020204" pitchFamily="34" charset="-122"/>
                <a:ea typeface="微软雅黑" panose="020B0503020204020204" pitchFamily="34" charset="-122"/>
              </a:defRPr>
            </a:lvl1pPr>
            <a:lvl2pPr marL="457200" indent="0" algn="l" rtl="0">
              <a:buNone/>
              <a:defRPr sz="2000">
                <a:solidFill>
                  <a:schemeClr val="tx1">
                    <a:tint val="75000"/>
                  </a:schemeClr>
                </a:solidFill>
              </a:defRPr>
            </a:lvl2pPr>
            <a:lvl3pPr marL="914400" indent="0" algn="l" rtl="0">
              <a:buNone/>
              <a:defRPr sz="1800">
                <a:solidFill>
                  <a:schemeClr val="tx1">
                    <a:tint val="75000"/>
                  </a:schemeClr>
                </a:solidFill>
              </a:defRPr>
            </a:lvl3pPr>
            <a:lvl4pPr marL="1371600" indent="0" algn="l" rtl="0">
              <a:buNone/>
              <a:defRPr sz="1600">
                <a:solidFill>
                  <a:schemeClr val="tx1">
                    <a:tint val="75000"/>
                  </a:schemeClr>
                </a:solidFill>
              </a:defRPr>
            </a:lvl4pPr>
            <a:lvl5pPr marL="1828800" indent="0" algn="l" rtl="0">
              <a:buNone/>
              <a:defRPr sz="1600">
                <a:solidFill>
                  <a:schemeClr val="tx1">
                    <a:tint val="75000"/>
                  </a:schemeClr>
                </a:solidFill>
              </a:defRPr>
            </a:lvl5pPr>
            <a:lvl6pPr marL="2286000" indent="0" algn="l" rtl="0">
              <a:buNone/>
              <a:defRPr sz="1600">
                <a:solidFill>
                  <a:schemeClr val="tx1">
                    <a:tint val="75000"/>
                  </a:schemeClr>
                </a:solidFill>
              </a:defRPr>
            </a:lvl6pPr>
            <a:lvl7pPr marL="2743200" indent="0" algn="l" rtl="0">
              <a:buNone/>
              <a:defRPr sz="1600">
                <a:solidFill>
                  <a:schemeClr val="tx1">
                    <a:tint val="75000"/>
                  </a:schemeClr>
                </a:solidFill>
              </a:defRPr>
            </a:lvl7pPr>
            <a:lvl8pPr marL="3200400" indent="0" algn="l" rtl="0">
              <a:buNone/>
              <a:defRPr sz="1600">
                <a:solidFill>
                  <a:schemeClr val="tx1">
                    <a:tint val="75000"/>
                  </a:schemeClr>
                </a:solidFill>
              </a:defRPr>
            </a:lvl8pPr>
            <a:lvl9pPr marL="3657600" indent="0" algn="l" rtl="0">
              <a:buNone/>
              <a:defRPr sz="1600">
                <a:solidFill>
                  <a:schemeClr val="tx1">
                    <a:tint val="75000"/>
                  </a:schemeClr>
                </a:solidFill>
              </a:defRPr>
            </a:lvl9pPr>
          </a:lstStyle>
          <a:p>
            <a:pPr lvl="0" rtl="0"/>
            <a:r>
              <a:rPr lang="zh-CN" altLang="en-US" noProof="0"/>
              <a:t>单击此处编辑母版文本样式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pPr/>
              <a:t>2022/1/28</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xmlns="" val="0"/>
              </a:ext>
            </a:extLst>
          </a:blip>
          <a:stretch>
            <a:fillRect/>
          </a:stretch>
        </p:blipFill>
        <p:spPr>
          <a:xfrm>
            <a:off x="1325880" y="0"/>
            <a:ext cx="1783188" cy="2971806"/>
          </a:xfrm>
          <a:prstGeom prst="rect">
            <a:avLst/>
          </a:prstGeom>
        </p:spPr>
      </p:pic>
    </p:spTree>
    <p:extLst>
      <p:ext uri="{BB962C8B-B14F-4D97-AF65-F5344CB8AC3E}">
        <p14:creationId xmlns:p14="http://schemas.microsoft.com/office/powerpoint/2010/main" xmlns="" val="345358151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11049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61722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dirty="0" smtClean="0"/>
              <a:pPr/>
              <a:t>2022/1/28</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xmlns="" val="70985732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90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4" name="内容占位符 3"/>
          <p:cNvSpPr>
            <a:spLocks noGrp="1"/>
          </p:cNvSpPr>
          <p:nvPr>
            <p:ph sz="half" idx="2"/>
          </p:nvPr>
        </p:nvSpPr>
        <p:spPr>
          <a:xfrm>
            <a:off x="110490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616611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6" name="内容占位符 5"/>
          <p:cNvSpPr>
            <a:spLocks noGrp="1"/>
          </p:cNvSpPr>
          <p:nvPr>
            <p:ph sz="quarter" idx="4"/>
          </p:nvPr>
        </p:nvSpPr>
        <p:spPr>
          <a:xfrm>
            <a:off x="616611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pPr/>
              <a:t>2022/1/28</a:t>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xmlns="" val="321204982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pPr/>
              <a:t>2022/1/28</a:t>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xmlns="" val="267801096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pPr/>
              <a:t>2022/1/28</a:t>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xmlns="" val="166201872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5641848" y="1600199"/>
            <a:ext cx="5445252" cy="4572001"/>
          </a:xfrm>
        </p:spPr>
        <p:txBody>
          <a:bodyPr rtlCol="0">
            <a:normAutofit/>
          </a:bodyPr>
          <a:lstStyle>
            <a:lvl1pPr algn="l" rtl="0">
              <a:defRPr sz="2000"/>
            </a:lvl1pPr>
            <a:lvl2pPr algn="l" rtl="0">
              <a:defRPr sz="1600"/>
            </a:lvl2pPr>
            <a:lvl3pPr algn="l" rtl="0">
              <a:defRPr sz="1600"/>
            </a:lvl3pPr>
            <a:lvl4pPr algn="l" rtl="0">
              <a:defRPr sz="1400"/>
            </a:lvl4pPr>
            <a:lvl5pPr algn="l" rtl="0">
              <a:defRPr sz="1400"/>
            </a:lvl5pPr>
            <a:lvl6pPr algn="l" rtl="0">
              <a:defRPr sz="1400"/>
            </a:lvl6pPr>
            <a:lvl7pPr algn="l" rtl="0">
              <a:defRPr sz="1400"/>
            </a:lvl7pPr>
            <a:lvl8pPr algn="l" rtl="0">
              <a:defRPr sz="1400"/>
            </a:lvl8pPr>
            <a:lvl9pPr algn="l" rtl="0">
              <a:defRPr sz="1400"/>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1104900" y="1600200"/>
            <a:ext cx="4384548" cy="4572000"/>
          </a:xfrm>
        </p:spPr>
        <p:txBody>
          <a:bodyPr rtlCol="0">
            <a:normAutofit/>
          </a:bodyPr>
          <a:lstStyle>
            <a:lvl1pPr marL="0" indent="0" algn="l" rtl="0">
              <a:spcBef>
                <a:spcPts val="1200"/>
              </a:spcBef>
              <a:buNone/>
              <a:defRPr sz="18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pPr/>
              <a:t>2022/1/28</a:t>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xmlns="" val="304817811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4654671" y="1600199"/>
            <a:ext cx="6430912" cy="4572001"/>
          </a:xfrm>
        </p:spPr>
        <p:txBody>
          <a:bodyPr tIns="1188720" rtlCol="0">
            <a:normAutofit/>
          </a:bodyPr>
          <a:lstStyle>
            <a:lvl1pPr marL="0" indent="0" algn="ctr" rtl="0">
              <a:buNone/>
              <a:defRPr sz="2000">
                <a:latin typeface="微软雅黑" panose="020B0503020204020204" pitchFamily="34" charset="-122"/>
                <a:ea typeface="微软雅黑" panose="020B0503020204020204" pitchFamily="34" charset="-122"/>
              </a:defRPr>
            </a:lvl1pPr>
            <a:lvl2pPr marL="457200" indent="0" algn="l" rtl="0">
              <a:buNone/>
              <a:defRPr sz="2800"/>
            </a:lvl2pPr>
            <a:lvl3pPr marL="914400" indent="0" algn="l" rtl="0">
              <a:buNone/>
              <a:defRPr sz="2400"/>
            </a:lvl3pPr>
            <a:lvl4pPr marL="1371600" indent="0" algn="l" rtl="0">
              <a:buNone/>
              <a:defRPr sz="2000"/>
            </a:lvl4pPr>
            <a:lvl5pPr marL="1828800" indent="0" algn="l" rtl="0">
              <a:buNone/>
              <a:defRPr sz="2000"/>
            </a:lvl5pPr>
            <a:lvl6pPr marL="2286000" indent="0" algn="l" rtl="0">
              <a:buNone/>
              <a:defRPr sz="2000"/>
            </a:lvl6pPr>
            <a:lvl7pPr marL="2743200" indent="0" algn="l" rtl="0">
              <a:buNone/>
              <a:defRPr sz="2000"/>
            </a:lvl7pPr>
            <a:lvl8pPr marL="3200400" indent="0" algn="l" rtl="0">
              <a:buNone/>
              <a:defRPr sz="2000"/>
            </a:lvl8pPr>
            <a:lvl9pPr marL="3657600" indent="0" algn="l" rtl="0">
              <a:buNone/>
              <a:defRPr sz="20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104900" y="1600200"/>
            <a:ext cx="3396996" cy="4572000"/>
          </a:xfrm>
        </p:spPr>
        <p:txBody>
          <a:bodyPr rtlCol="0">
            <a:normAutofit/>
          </a:bodyPr>
          <a:lstStyle>
            <a:lvl1pPr marL="0" indent="0" algn="l" rtl="0">
              <a:spcBef>
                <a:spcPts val="1200"/>
              </a:spcBef>
              <a:buNone/>
              <a:defRPr sz="1800">
                <a:latin typeface="微软雅黑" panose="020B0503020204020204" pitchFamily="34" charset="-122"/>
                <a:ea typeface="微软雅黑" panose="020B0503020204020204" pitchFamily="34" charset="-122"/>
              </a:defRPr>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pPr/>
              <a:t>2022/1/28</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xmlns="" val="124828601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pPr/>
              <a:t>2022/1/28</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xmlns="" val="370991641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9372600" y="365125"/>
            <a:ext cx="1714500"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1104900" y="365125"/>
            <a:ext cx="8098896" cy="5811838"/>
          </a:xfrm>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pPr/>
              <a:t>2022/1/28</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grpSp>
        <p:nvGrpSpPr>
          <p:cNvPr id="7" name="组 6"/>
          <p:cNvGrpSpPr/>
          <p:nvPr/>
        </p:nvGrpSpPr>
        <p:grpSpPr>
          <a:xfrm rot="5400000">
            <a:off x="6514047" y="3228843"/>
            <a:ext cx="5632704" cy="84403"/>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xmlns="" val="13787800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dirty="0" smtClean="0"/>
              <a:pPr/>
              <a:t>2022/1/28</a:t>
            </a:fld>
            <a:r>
              <a:rPr lang="zh-CN" altLang="en-US" dirty="0"/>
              <a:t>​</a:t>
            </a:r>
          </a:p>
        </p:txBody>
      </p:sp>
      <p:sp>
        <p:nvSpPr>
          <p:cNvPr id="5" name="页脚占位符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pPr algn="r"/>
              <a:t>‹#›</a:t>
            </a:fld>
            <a:endParaRPr lang="zh-CN" altLang="en-US" noProof="0" dirty="0"/>
          </a:p>
        </p:txBody>
      </p:sp>
      <p:grpSp>
        <p:nvGrpSpPr>
          <p:cNvPr id="15" name="组 14"/>
          <p:cNvGrpSpPr/>
          <p:nvPr/>
        </p:nvGrpSpPr>
        <p:grpSpPr>
          <a:xfrm>
            <a:off x="1103376" y="1219201"/>
            <a:ext cx="9985248"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dirty="0" smtClean="0"/>
              <a:pPr/>
              <a:t>2022/1/28</a:t>
            </a:fld>
            <a:r>
              <a:rPr lang="zh-CN" altLang="en-US" dirty="0"/>
              <a:t>​</a:t>
            </a:r>
          </a:p>
        </p:txBody>
      </p:sp>
      <p:sp>
        <p:nvSpPr>
          <p:cNvPr id="5" name="页脚占位符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pPr algn="r"/>
              <a:t>‹#›</a:t>
            </a:fld>
            <a:endParaRPr lang="zh-CN" altLang="en-US" noProof="0" dirty="0"/>
          </a:p>
        </p:txBody>
      </p:sp>
      <p:grpSp>
        <p:nvGrpSpPr>
          <p:cNvPr id="15" name="组 14"/>
          <p:cNvGrpSpPr/>
          <p:nvPr/>
        </p:nvGrpSpPr>
        <p:grpSpPr>
          <a:xfrm>
            <a:off x="1103376" y="1219201"/>
            <a:ext cx="9985248"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xmlns="" val="312265146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5.v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mlDrawing" Target="../drawings/vmlDrawing6.v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7.v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vmlDrawing" Target="../drawings/vmlDrawing8.v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vmlDrawing" Target="../drawings/vmlDrawing9.v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10.v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11.v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vmlDrawing" Target="../drawings/vmlDrawing12.v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mlDrawing" Target="../drawings/vmlDrawing13.v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1535837" y="2147652"/>
            <a:ext cx="4776186" cy="1954514"/>
          </a:xfrm>
        </p:spPr>
        <p:txBody>
          <a:bodyPr rtlCol="0" anchor="ctr"/>
          <a:lstStyle/>
          <a:p>
            <a:pPr rtl="0"/>
            <a:r>
              <a:rPr lang="zh-CN" altLang="en-US" dirty="0"/>
              <a:t>状态压缩动态规划</a:t>
            </a:r>
            <a:endParaRPr lang="en-US" dirty="0">
              <a:latin typeface="微软雅黑" panose="020B0503020204020204" pitchFamily="34" charset="-122"/>
              <a:ea typeface="微软雅黑" panose="020B0503020204020204" pitchFamily="34" charset="-122"/>
            </a:endParaRPr>
          </a:p>
        </p:txBody>
      </p:sp>
      <p:sp>
        <p:nvSpPr>
          <p:cNvPr id="7" name="副标题 6"/>
          <p:cNvSpPr>
            <a:spLocks noGrp="1"/>
          </p:cNvSpPr>
          <p:nvPr>
            <p:ph type="subTitle" idx="1"/>
          </p:nvPr>
        </p:nvSpPr>
        <p:spPr>
          <a:xfrm>
            <a:off x="577973" y="3791447"/>
            <a:ext cx="5734050" cy="955565"/>
          </a:xfrm>
        </p:spPr>
        <p:txBody>
          <a:bodyPr rtlCol="0">
            <a:normAutofit/>
          </a:bodyPr>
          <a:lstStyle/>
          <a:p>
            <a:pPr algn="ctr" rtl="0">
              <a:lnSpc>
                <a:spcPct val="150000"/>
              </a:lnSpc>
            </a:pPr>
            <a:r>
              <a:rPr lang="zh-CN" altLang="en-US" sz="2400" dirty="0"/>
              <a:t>代伟</a:t>
            </a:r>
            <a:endParaRPr lang="en-US" altLang="zh-CN" sz="2400" dirty="0">
              <a:latin typeface="微软雅黑" panose="020B0503020204020204" pitchFamily="34" charset="-122"/>
              <a:ea typeface="微软雅黑" panose="020B0503020204020204" pitchFamily="34" charset="-122"/>
            </a:endParaRPr>
          </a:p>
        </p:txBody>
      </p:sp>
      <p:pic>
        <p:nvPicPr>
          <p:cNvPr id="4" name="图片占位符 3" descr="桌上一本打开的书，书架在背景中模糊显示"/>
          <p:cNvPicPr>
            <a:picLocks noGrp="1" noChangeAspect="1"/>
          </p:cNvPicPr>
          <p:nvPr>
            <p:ph type="pic" sz="quarter" idx="13"/>
          </p:nvPr>
        </p:nvPicPr>
        <p:blipFill>
          <a:blip r:embed="rId3" cstate="print">
            <a:extLst>
              <a:ext uri="{28A0092B-C50C-407E-A947-70E740481C1C}">
                <a14:useLocalDpi xmlns:a14="http://schemas.microsoft.com/office/drawing/2010/main" xmlns="" val="0"/>
              </a:ext>
            </a:extLst>
          </a:blip>
          <a:srcRect l="8890" r="8890"/>
          <a:stretch>
            <a:fillRect/>
          </a:stretch>
        </p:blipFill>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rtl="0"/>
            <a:r>
              <a:rPr lang="zh-CN" altLang="en-US" dirty="0">
                <a:latin typeface="微软雅黑" panose="020B0503020204020204" pitchFamily="34" charset="-122"/>
                <a:ea typeface="微软雅黑" panose="020B0503020204020204" pitchFamily="34" charset="-122"/>
              </a:rPr>
              <a:t>学习目标</a:t>
            </a:r>
            <a:endParaRPr lang="en-US" dirty="0">
              <a:latin typeface="微软雅黑" panose="020B0503020204020204" pitchFamily="34" charset="-122"/>
              <a:ea typeface="微软雅黑" panose="020B0503020204020204" pitchFamily="34" charset="-122"/>
            </a:endParaRPr>
          </a:p>
        </p:txBody>
      </p:sp>
      <p:sp>
        <p:nvSpPr>
          <p:cNvPr id="6" name="矩形 5"/>
          <p:cNvSpPr/>
          <p:nvPr/>
        </p:nvSpPr>
        <p:spPr>
          <a:xfrm>
            <a:off x="423124" y="1582702"/>
            <a:ext cx="9999260" cy="1023614"/>
          </a:xfrm>
          <a:prstGeom prst="rect">
            <a:avLst/>
          </a:prstGeom>
        </p:spPr>
        <p:txBody>
          <a:bodyPr wrap="square">
            <a:spAutoFit/>
          </a:bodyPr>
          <a:lstStyle/>
          <a:p>
            <a:pPr indent="574675">
              <a:lnSpc>
                <a:spcPts val="3200"/>
              </a:lnSpc>
              <a:spcAft>
                <a:spcPts val="1200"/>
              </a:spcAft>
              <a:buClr>
                <a:schemeClr val="accent2"/>
              </a:buClr>
              <a:buSzPct val="80000"/>
            </a:pPr>
            <a:r>
              <a:rPr lang="en-US" altLang="zh-CN" sz="2000" dirty="0"/>
              <a:t>1. </a:t>
            </a:r>
            <a:r>
              <a:rPr lang="zh-CN" altLang="en-US" sz="2000" dirty="0"/>
              <a:t>理解基本的位操作运算。</a:t>
            </a:r>
          </a:p>
          <a:p>
            <a:pPr indent="574675">
              <a:lnSpc>
                <a:spcPts val="3200"/>
              </a:lnSpc>
              <a:spcAft>
                <a:spcPts val="1200"/>
              </a:spcAft>
              <a:buClr>
                <a:schemeClr val="accent2"/>
              </a:buClr>
              <a:buSzPct val="80000"/>
            </a:pPr>
            <a:r>
              <a:rPr lang="en-US" altLang="zh-CN" sz="2000" dirty="0"/>
              <a:t>2. </a:t>
            </a:r>
            <a:r>
              <a:rPr lang="zh-CN" altLang="en-US" sz="2000" dirty="0"/>
              <a:t>学会运用状态压缩的动态规划的思想求解实际问题。</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p:cNvSpPr/>
          <p:nvPr/>
        </p:nvSpPr>
        <p:spPr>
          <a:xfrm>
            <a:off x="1025000" y="1344042"/>
            <a:ext cx="10060582" cy="4994765"/>
          </a:xfrm>
          <a:prstGeom prst="rect">
            <a:avLst/>
          </a:prstGeom>
        </p:spPr>
        <p:txBody>
          <a:bodyPr wrap="square">
            <a:spAutoFit/>
          </a:bodyPr>
          <a:lstStyle/>
          <a:p>
            <a:pPr marL="285750" indent="-285750">
              <a:lnSpc>
                <a:spcPct val="200000"/>
              </a:lnSpc>
              <a:buFont typeface="Wingdings" panose="05000000000000000000" pitchFamily="2" charset="2"/>
              <a:buChar char="n"/>
            </a:pPr>
            <a:r>
              <a:rPr lang="zh-CN" altLang="en-US" dirty="0">
                <a:latin typeface="微软雅黑" panose="020B0503020204020204" pitchFamily="34" charset="-122"/>
                <a:ea typeface="微软雅黑" panose="020B0503020204020204" pitchFamily="34" charset="-122"/>
              </a:rPr>
              <a:t>定义：把</a:t>
            </a:r>
            <a:r>
              <a:rPr lang="zh-CN" altLang="en-US" b="1" dirty="0">
                <a:solidFill>
                  <a:schemeClr val="accent2"/>
                </a:solidFill>
                <a:latin typeface="微软雅黑" panose="020B0503020204020204" pitchFamily="34" charset="-122"/>
                <a:ea typeface="微软雅黑" panose="020B0503020204020204" pitchFamily="34" charset="-122"/>
              </a:rPr>
              <a:t>集合转化为整数（二进制数）</a:t>
            </a:r>
            <a:r>
              <a:rPr lang="zh-CN" altLang="en-US" dirty="0">
                <a:latin typeface="微软雅黑" panose="020B0503020204020204" pitchFamily="34" charset="-122"/>
                <a:ea typeface="微软雅黑" panose="020B0503020204020204" pitchFamily="34" charset="-122"/>
              </a:rPr>
              <a:t>记录在</a:t>
            </a:r>
            <a:r>
              <a:rPr lang="en-US" altLang="zh-CN" dirty="0">
                <a:latin typeface="微软雅黑" panose="020B0503020204020204" pitchFamily="34" charset="-122"/>
                <a:ea typeface="微软雅黑" panose="020B0503020204020204" pitchFamily="34" charset="-122"/>
              </a:rPr>
              <a:t>DP</a:t>
            </a:r>
            <a:r>
              <a:rPr lang="zh-CN" altLang="en-US" dirty="0">
                <a:latin typeface="微软雅黑" panose="020B0503020204020204" pitchFamily="34" charset="-122"/>
                <a:ea typeface="微软雅黑" panose="020B0503020204020204" pitchFamily="34" charset="-122"/>
              </a:rPr>
              <a:t>状态中的一类算法</a:t>
            </a:r>
          </a:p>
          <a:p>
            <a:pPr>
              <a:lnSpc>
                <a:spcPct val="200000"/>
              </a:lnSpc>
            </a:pPr>
            <a:r>
              <a:rPr lang="zh-CN" altLang="en-US" dirty="0">
                <a:latin typeface="微软雅黑" panose="020B0503020204020204" pitchFamily="34" charset="-122"/>
                <a:ea typeface="微软雅黑" panose="020B0503020204020204" pitchFamily="34" charset="-122"/>
              </a:rPr>
              <a:t>适用的题目符合以下的条件： </a:t>
            </a:r>
          </a:p>
          <a:p>
            <a:pPr marL="285750" indent="-285750">
              <a:lnSpc>
                <a:spcPct val="200000"/>
              </a:lnSpc>
              <a:buFont typeface="Wingdings" panose="05000000000000000000" pitchFamily="2" charset="2"/>
              <a:buChar char="n"/>
            </a:pPr>
            <a:r>
              <a:rPr lang="zh-CN" altLang="en-US" dirty="0">
                <a:latin typeface="微软雅黑" panose="020B0503020204020204" pitchFamily="34" charset="-122"/>
                <a:ea typeface="微软雅黑" panose="020B0503020204020204" pitchFamily="34" charset="-122"/>
              </a:rPr>
              <a:t>解法需要保存一定的状态数据（表示一种状态的一个数据值），每个状态数据通常情况下是可以通过</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进制来表示的。这就要求状态数据的</a:t>
            </a:r>
            <a:r>
              <a:rPr lang="zh-CN" altLang="en-US" b="1" dirty="0">
                <a:solidFill>
                  <a:schemeClr val="accent2"/>
                </a:solidFill>
                <a:latin typeface="微软雅黑" panose="020B0503020204020204" pitchFamily="34" charset="-122"/>
                <a:ea typeface="微软雅黑" panose="020B0503020204020204" pitchFamily="34" charset="-122"/>
              </a:rPr>
              <a:t>每个单元只有两种状态</a:t>
            </a:r>
            <a:r>
              <a:rPr lang="zh-CN" altLang="en-US" dirty="0">
                <a:latin typeface="微软雅黑" panose="020B0503020204020204" pitchFamily="34" charset="-122"/>
                <a:ea typeface="微软雅黑" panose="020B0503020204020204" pitchFamily="34" charset="-122"/>
              </a:rPr>
              <a:t>，比如说棋盘上的格子，放棋子或者不放，或者是硬币的正反两面。这样用</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或者</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来表示状态数据的每个单元，而整个状态数据就是一个一串</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组成的二进制数。 </a:t>
            </a:r>
          </a:p>
          <a:p>
            <a:pPr marL="285750" indent="-285750">
              <a:lnSpc>
                <a:spcPct val="200000"/>
              </a:lnSpc>
              <a:buFont typeface="Wingdings" panose="05000000000000000000" pitchFamily="2" charset="2"/>
              <a:buChar char="n"/>
            </a:pPr>
            <a:r>
              <a:rPr lang="zh-CN" altLang="en-US" dirty="0">
                <a:latin typeface="微软雅黑" panose="020B0503020204020204" pitchFamily="34" charset="-122"/>
                <a:ea typeface="微软雅黑" panose="020B0503020204020204" pitchFamily="34" charset="-122"/>
              </a:rPr>
              <a:t>解法需要将状态数据实现为一个基本数据类型，比如</a:t>
            </a:r>
            <a:r>
              <a:rPr lang="en-US" altLang="zh-CN" dirty="0">
                <a:latin typeface="微软雅黑" panose="020B0503020204020204" pitchFamily="34" charset="-122"/>
                <a:ea typeface="微软雅黑" panose="020B0503020204020204" pitchFamily="34" charset="-122"/>
              </a:rPr>
              <a:t>int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long</a:t>
            </a:r>
            <a:r>
              <a:rPr lang="zh-CN" altLang="en-US" dirty="0">
                <a:latin typeface="微软雅黑" panose="020B0503020204020204" pitchFamily="34" charset="-122"/>
                <a:ea typeface="微软雅黑" panose="020B0503020204020204" pitchFamily="34" charset="-122"/>
              </a:rPr>
              <a:t>等等，即所谓的</a:t>
            </a:r>
            <a:r>
              <a:rPr lang="zh-CN" altLang="en-US" b="1" dirty="0">
                <a:solidFill>
                  <a:schemeClr val="accent2"/>
                </a:solidFill>
                <a:latin typeface="微软雅黑" panose="020B0503020204020204" pitchFamily="34" charset="-122"/>
                <a:ea typeface="微软雅黑" panose="020B0503020204020204" pitchFamily="34" charset="-122"/>
              </a:rPr>
              <a:t>状态压缩</a:t>
            </a:r>
            <a:r>
              <a:rPr lang="zh-CN" altLang="en-US" dirty="0">
                <a:latin typeface="微软雅黑" panose="020B0503020204020204" pitchFamily="34" charset="-122"/>
                <a:ea typeface="微软雅黑" panose="020B0503020204020204" pitchFamily="34" charset="-122"/>
              </a:rPr>
              <a:t>。状态压缩的目的一方面是缩小了数据存储的空间，另一方面是在状态对比和状态整体处理时能够提高效率。</a:t>
            </a:r>
          </a:p>
        </p:txBody>
      </p:sp>
    </p:spTree>
    <p:extLst>
      <p:ext uri="{BB962C8B-B14F-4D97-AF65-F5344CB8AC3E}">
        <p14:creationId xmlns:p14="http://schemas.microsoft.com/office/powerpoint/2010/main" xmlns="" val="176996176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3" name="矩形 2">
            <a:extLst>
              <a:ext uri="{FF2B5EF4-FFF2-40B4-BE49-F238E27FC236}">
                <a16:creationId xmlns:a16="http://schemas.microsoft.com/office/drawing/2014/main" xmlns="" id="{56795C70-519C-480C-AA46-E51F52E64578}"/>
              </a:ext>
            </a:extLst>
          </p:cNvPr>
          <p:cNvSpPr/>
          <p:nvPr/>
        </p:nvSpPr>
        <p:spPr>
          <a:xfrm>
            <a:off x="1104899" y="1796486"/>
            <a:ext cx="9980682" cy="4994765"/>
          </a:xfrm>
          <a:prstGeom prst="rect">
            <a:avLst/>
          </a:prstGeom>
        </p:spPr>
        <p:txBody>
          <a:bodyPr wrap="square">
            <a:spAutoFit/>
          </a:bodyPr>
          <a:lstStyle/>
          <a:p>
            <a:pPr>
              <a:lnSpc>
                <a:spcPct val="20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 </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&amp;</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符号，</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x&amp;y</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，会将两个十进制数在二进制下进行与运算，然后返回其十进制下的值。例如</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3(11)&amp;2(10)=2(10)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p>
          <a:p>
            <a:pPr>
              <a:lnSpc>
                <a:spcPct val="20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 </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符号，</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x|y</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，会将两个十进制数在二进制下进行或运算，然后返回其十进制下的值。例如</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3(11)|2(10)=3(11)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p>
          <a:p>
            <a:pPr>
              <a:lnSpc>
                <a:spcPct val="20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3. </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符号，</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x^y</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，会将两个十进制数在二进制下进行异或运算，然后返回其十进制下的值。例如</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3(11)^2(10)=1(01)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p>
          <a:p>
            <a:pPr>
              <a:lnSpc>
                <a:spcPct val="20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4. </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&lt;&lt;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符号，左移操作，</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x&lt;&lt;2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，将</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x</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在二进制下的每一位向左移动两位，最右边用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填充，</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x&lt;&lt;2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相当于让</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x</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乘以</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。相应的，</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&gt;&gt;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是右移操作，</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x&gt;&gt;1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相当于给</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x/2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，去掉</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x</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二进制下的最后一位。</a:t>
            </a:r>
          </a:p>
          <a:p>
            <a:pPr marL="285750" indent="-285750">
              <a:lnSpc>
                <a:spcPct val="200000"/>
              </a:lnSpc>
              <a:buFont typeface="Arial" panose="020B0604020202020204" pitchFamily="34" charset="0"/>
              <a:buChar char="•"/>
            </a:pP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矩形 3">
            <a:extLst>
              <a:ext uri="{FF2B5EF4-FFF2-40B4-BE49-F238E27FC236}">
                <a16:creationId xmlns:a16="http://schemas.microsoft.com/office/drawing/2014/main" xmlns="" id="{4FC0B3D0-71EC-4DC9-93C7-C03AF128A8AF}"/>
              </a:ext>
            </a:extLst>
          </p:cNvPr>
          <p:cNvSpPr/>
          <p:nvPr/>
        </p:nvSpPr>
        <p:spPr>
          <a:xfrm>
            <a:off x="1104899" y="1233703"/>
            <a:ext cx="1992262" cy="562783"/>
          </a:xfrm>
          <a:prstGeom prst="rect">
            <a:avLst/>
          </a:prstGeom>
        </p:spPr>
        <p:txBody>
          <a:bodyPr wrap="square">
            <a:spAutoFit/>
          </a:bodyPr>
          <a:lstStyle/>
          <a:p>
            <a:pPr>
              <a:lnSpc>
                <a:spcPct val="200000"/>
              </a:lnSpc>
            </a:pPr>
            <a:r>
              <a:rPr lang="zh-CN" altLang="en-US" b="1" dirty="0">
                <a:solidFill>
                  <a:schemeClr val="accent2"/>
                </a:solidFill>
                <a:latin typeface="微软雅黑" panose="020B0503020204020204" pitchFamily="34" charset="-122"/>
                <a:ea typeface="微软雅黑" panose="020B0503020204020204" pitchFamily="34" charset="-122"/>
              </a:rPr>
              <a:t>基本位操作运算</a:t>
            </a:r>
          </a:p>
        </p:txBody>
      </p:sp>
    </p:spTree>
    <p:extLst>
      <p:ext uri="{BB962C8B-B14F-4D97-AF65-F5344CB8AC3E}">
        <p14:creationId xmlns:p14="http://schemas.microsoft.com/office/powerpoint/2010/main" xmlns="" val="113398859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4" name="矩形 3">
            <a:extLst>
              <a:ext uri="{FF2B5EF4-FFF2-40B4-BE49-F238E27FC236}">
                <a16:creationId xmlns:a16="http://schemas.microsoft.com/office/drawing/2014/main" xmlns="" id="{60D389AF-03F3-45C0-9746-A8B1A8B07550}"/>
              </a:ext>
            </a:extLst>
          </p:cNvPr>
          <p:cNvSpPr/>
          <p:nvPr/>
        </p:nvSpPr>
        <p:spPr>
          <a:xfrm>
            <a:off x="1024602" y="1663586"/>
            <a:ext cx="10249856" cy="1116781"/>
          </a:xfrm>
          <a:prstGeom prst="rect">
            <a:avLst/>
          </a:prstGeom>
        </p:spPr>
        <p:txBody>
          <a:bodyPr wrap="square">
            <a:spAutoFit/>
          </a:bodyPr>
          <a:lstStyle/>
          <a:p>
            <a:pPr>
              <a:lnSpc>
                <a:spcPct val="200000"/>
              </a:lnSpc>
            </a:pPr>
            <a:r>
              <a:rPr lang="zh-CN" altLang="en-US" dirty="0">
                <a:solidFill>
                  <a:srgbClr val="514843"/>
                </a:solidFill>
                <a:latin typeface="微软雅黑" panose="020B0503020204020204" pitchFamily="34" charset="-122"/>
                <a:ea typeface="微软雅黑" panose="020B0503020204020204" pitchFamily="34" charset="-122"/>
              </a:rPr>
              <a:t>二进制状态压缩，是指将一个长度为</a:t>
            </a:r>
            <a:r>
              <a:rPr lang="en-US" altLang="zh-CN" dirty="0">
                <a:solidFill>
                  <a:srgbClr val="514843"/>
                </a:solidFill>
                <a:latin typeface="微软雅黑" panose="020B0503020204020204" pitchFamily="34" charset="-122"/>
                <a:ea typeface="微软雅黑" panose="020B0503020204020204" pitchFamily="34" charset="-122"/>
              </a:rPr>
              <a:t>m</a:t>
            </a:r>
            <a:r>
              <a:rPr lang="zh-CN" altLang="en-US" dirty="0">
                <a:solidFill>
                  <a:srgbClr val="514843"/>
                </a:solidFill>
                <a:latin typeface="微软雅黑" panose="020B0503020204020204" pitchFamily="34" charset="-122"/>
                <a:ea typeface="微软雅黑" panose="020B0503020204020204" pitchFamily="34" charset="-122"/>
              </a:rPr>
              <a:t>的</a:t>
            </a:r>
            <a:r>
              <a:rPr lang="en-US" altLang="zh-CN" dirty="0">
                <a:solidFill>
                  <a:srgbClr val="514843"/>
                </a:solidFill>
                <a:latin typeface="微软雅黑" panose="020B0503020204020204" pitchFamily="34" charset="-122"/>
                <a:ea typeface="微软雅黑" panose="020B0503020204020204" pitchFamily="34" charset="-122"/>
              </a:rPr>
              <a:t>bool</a:t>
            </a:r>
            <a:r>
              <a:rPr lang="zh-CN" altLang="en-US" dirty="0">
                <a:solidFill>
                  <a:srgbClr val="514843"/>
                </a:solidFill>
                <a:latin typeface="微软雅黑" panose="020B0503020204020204" pitchFamily="34" charset="-122"/>
                <a:ea typeface="微软雅黑" panose="020B0503020204020204" pitchFamily="34" charset="-122"/>
              </a:rPr>
              <a:t>数组用一个</a:t>
            </a:r>
            <a:r>
              <a:rPr lang="en-US" altLang="zh-CN" dirty="0">
                <a:solidFill>
                  <a:srgbClr val="514843"/>
                </a:solidFill>
                <a:latin typeface="微软雅黑" panose="020B0503020204020204" pitchFamily="34" charset="-122"/>
                <a:ea typeface="微软雅黑" panose="020B0503020204020204" pitchFamily="34" charset="-122"/>
              </a:rPr>
              <a:t>m</a:t>
            </a:r>
            <a:r>
              <a:rPr lang="zh-CN" altLang="en-US" dirty="0">
                <a:solidFill>
                  <a:srgbClr val="514843"/>
                </a:solidFill>
                <a:latin typeface="微软雅黑" panose="020B0503020204020204" pitchFamily="34" charset="-122"/>
                <a:ea typeface="微软雅黑" panose="020B0503020204020204" pitchFamily="34" charset="-122"/>
              </a:rPr>
              <a:t>位二进制整数示并存储的方法。利用下列位运算操作可以实现原</a:t>
            </a:r>
            <a:r>
              <a:rPr lang="en-US" altLang="zh-CN" dirty="0">
                <a:solidFill>
                  <a:srgbClr val="514843"/>
                </a:solidFill>
                <a:latin typeface="微软雅黑" panose="020B0503020204020204" pitchFamily="34" charset="-122"/>
                <a:ea typeface="微软雅黑" panose="020B0503020204020204" pitchFamily="34" charset="-122"/>
              </a:rPr>
              <a:t>bool</a:t>
            </a:r>
            <a:r>
              <a:rPr lang="zh-CN" altLang="en-US" dirty="0">
                <a:solidFill>
                  <a:srgbClr val="514843"/>
                </a:solidFill>
                <a:latin typeface="微软雅黑" panose="020B0503020204020204" pitchFamily="34" charset="-122"/>
                <a:ea typeface="微软雅黑" panose="020B0503020204020204" pitchFamily="34" charset="-122"/>
              </a:rPr>
              <a:t>数组中对应下标元素的存取</a:t>
            </a:r>
          </a:p>
        </p:txBody>
      </p:sp>
      <p:sp>
        <p:nvSpPr>
          <p:cNvPr id="6" name="矩形 5">
            <a:extLst>
              <a:ext uri="{FF2B5EF4-FFF2-40B4-BE49-F238E27FC236}">
                <a16:creationId xmlns:a16="http://schemas.microsoft.com/office/drawing/2014/main" xmlns="" id="{FC20E334-46CE-4E0F-BFDC-F99D72BB67D1}"/>
              </a:ext>
            </a:extLst>
          </p:cNvPr>
          <p:cNvSpPr/>
          <p:nvPr/>
        </p:nvSpPr>
        <p:spPr>
          <a:xfrm>
            <a:off x="1024602" y="1173162"/>
            <a:ext cx="1992262" cy="615040"/>
          </a:xfrm>
          <a:prstGeom prst="rect">
            <a:avLst/>
          </a:prstGeom>
        </p:spPr>
        <p:txBody>
          <a:bodyPr wrap="square">
            <a:spAutoFit/>
          </a:bodyPr>
          <a:lstStyle/>
          <a:p>
            <a:pPr>
              <a:lnSpc>
                <a:spcPct val="200000"/>
              </a:lnSpc>
            </a:pPr>
            <a:r>
              <a:rPr lang="zh-CN" altLang="en-US" sz="2000" b="1" dirty="0">
                <a:solidFill>
                  <a:schemeClr val="accent2"/>
                </a:solidFill>
                <a:latin typeface="微软雅黑" panose="020B0503020204020204" pitchFamily="34" charset="-122"/>
                <a:ea typeface="微软雅黑" panose="020B0503020204020204" pitchFamily="34" charset="-122"/>
              </a:rPr>
              <a:t>基本位操作运算</a:t>
            </a:r>
          </a:p>
        </p:txBody>
      </p:sp>
      <p:graphicFrame>
        <p:nvGraphicFramePr>
          <p:cNvPr id="3" name="表格 4">
            <a:extLst>
              <a:ext uri="{FF2B5EF4-FFF2-40B4-BE49-F238E27FC236}">
                <a16:creationId xmlns:a16="http://schemas.microsoft.com/office/drawing/2014/main" xmlns="" id="{358136ED-C188-4842-8F32-02C80794E642}"/>
              </a:ext>
            </a:extLst>
          </p:cNvPr>
          <p:cNvGraphicFramePr>
            <a:graphicFrameLocks noGrp="1"/>
          </p:cNvGraphicFramePr>
          <p:nvPr>
            <p:extLst>
              <p:ext uri="{D42A27DB-BD31-4B8C-83A1-F6EECF244321}">
                <p14:modId xmlns:p14="http://schemas.microsoft.com/office/powerpoint/2010/main" xmlns="" val="2899330942"/>
              </p:ext>
            </p:extLst>
          </p:nvPr>
        </p:nvGraphicFramePr>
        <p:xfrm>
          <a:off x="1104900" y="2885164"/>
          <a:ext cx="9426806" cy="2352040"/>
        </p:xfrm>
        <a:graphic>
          <a:graphicData uri="http://schemas.openxmlformats.org/drawingml/2006/table">
            <a:tbl>
              <a:tblPr firstRow="1" bandRow="1">
                <a:tableStyleId>{21E4AEA4-8DFA-4A89-87EB-49C32662AFE0}</a:tableStyleId>
              </a:tblPr>
              <a:tblGrid>
                <a:gridCol w="5858752">
                  <a:extLst>
                    <a:ext uri="{9D8B030D-6E8A-4147-A177-3AD203B41FA5}">
                      <a16:colId xmlns:a16="http://schemas.microsoft.com/office/drawing/2014/main" xmlns="" val="4290706117"/>
                    </a:ext>
                  </a:extLst>
                </a:gridCol>
                <a:gridCol w="3568054">
                  <a:extLst>
                    <a:ext uri="{9D8B030D-6E8A-4147-A177-3AD203B41FA5}">
                      <a16:colId xmlns:a16="http://schemas.microsoft.com/office/drawing/2014/main" xmlns="" val="194170440"/>
                    </a:ext>
                  </a:extLst>
                </a:gridCol>
              </a:tblGrid>
              <a:tr h="370840">
                <a:tc>
                  <a:txBody>
                    <a:bodyPr/>
                    <a:lstStyle/>
                    <a:p>
                      <a:pPr algn="ctr"/>
                      <a:r>
                        <a:rPr lang="zh-CN" altLang="en-US" dirty="0"/>
                        <a:t>操作</a:t>
                      </a:r>
                    </a:p>
                  </a:txBody>
                  <a:tcPr/>
                </a:tc>
                <a:tc>
                  <a:txBody>
                    <a:bodyPr/>
                    <a:lstStyle/>
                    <a:p>
                      <a:pPr algn="ctr"/>
                      <a:r>
                        <a:rPr lang="zh-CN" altLang="en-US" dirty="0"/>
                        <a:t>运算</a:t>
                      </a:r>
                    </a:p>
                  </a:txBody>
                  <a:tcPr/>
                </a:tc>
                <a:extLst>
                  <a:ext uri="{0D108BD9-81ED-4DB2-BD59-A6C34878D82A}">
                    <a16:rowId xmlns:a16="http://schemas.microsoft.com/office/drawing/2014/main" xmlns="" val="1835022507"/>
                  </a:ext>
                </a:extLst>
              </a:tr>
              <a:tr h="370840">
                <a:tc>
                  <a:txBody>
                    <a:bodyPr/>
                    <a:lstStyle/>
                    <a:p>
                      <a:pPr algn="ctr"/>
                      <a:r>
                        <a:rPr lang="zh-CN" altLang="en-US" sz="1800" kern="1200" dirty="0">
                          <a:solidFill>
                            <a:srgbClr val="514843"/>
                          </a:solidFill>
                          <a:latin typeface="微软雅黑" panose="020B0503020204020204" pitchFamily="34" charset="-122"/>
                          <a:ea typeface="微软雅黑" panose="020B0503020204020204" pitchFamily="34" charset="-122"/>
                          <a:cs typeface="+mn-cs"/>
                        </a:rPr>
                        <a:t>取出整数 </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n </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在二进制表示下的第</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k</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位</a:t>
                      </a:r>
                    </a:p>
                  </a:txBody>
                  <a:tcPr/>
                </a:tc>
                <a:tc>
                  <a:txBody>
                    <a:bodyPr/>
                    <a:lstStyle/>
                    <a:p>
                      <a:pPr algn="ctr"/>
                      <a:r>
                        <a:rPr lang="en-US" altLang="zh-CN"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rPr>
                        <a:t>(n&gt;&gt; k) &amp; 1</a:t>
                      </a:r>
                      <a:endParaRPr lang="zh-CN" altLang="en-US"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xmlns="" val="2918263057"/>
                  </a:ext>
                </a:extLst>
              </a:tr>
              <a:tr h="370840">
                <a:tc>
                  <a:txBody>
                    <a:bodyPr/>
                    <a:lstStyle/>
                    <a:p>
                      <a:pPr algn="ctr"/>
                      <a:r>
                        <a:rPr lang="zh-CN" altLang="en-US" sz="1800" kern="1200" dirty="0">
                          <a:solidFill>
                            <a:srgbClr val="514843"/>
                          </a:solidFill>
                          <a:latin typeface="微软雅黑" panose="020B0503020204020204" pitchFamily="34" charset="-122"/>
                          <a:ea typeface="微软雅黑" panose="020B0503020204020204" pitchFamily="34" charset="-122"/>
                          <a:cs typeface="+mn-cs"/>
                        </a:rPr>
                        <a:t>取出整数</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n</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在二进制表示下的第</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0~k-1</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位</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后</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k</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位</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 </a:t>
                      </a:r>
                      <a:endParaRPr lang="zh-CN" altLang="en-US" sz="1800" kern="1200" dirty="0">
                        <a:solidFill>
                          <a:srgbClr val="514843"/>
                        </a:solidFill>
                        <a:latin typeface="微软雅黑" panose="020B0503020204020204" pitchFamily="34" charset="-122"/>
                        <a:ea typeface="微软雅黑" panose="020B0503020204020204" pitchFamily="34" charset="-122"/>
                        <a:cs typeface="+mn-cs"/>
                      </a:endParaRPr>
                    </a:p>
                  </a:txBody>
                  <a:tcPr/>
                </a:tc>
                <a:tc>
                  <a:txBody>
                    <a:bodyPr/>
                    <a:lstStyle/>
                    <a:p>
                      <a:pPr algn="ctr"/>
                      <a:r>
                        <a:rPr lang="en-US" altLang="zh-CN"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rPr>
                        <a:t>n &amp;((1&lt;&lt;k)-1)</a:t>
                      </a:r>
                      <a:endParaRPr lang="zh-CN" altLang="en-US"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xmlns="" val="2561456047"/>
                  </a:ext>
                </a:extLst>
              </a:tr>
              <a:tr h="370840">
                <a:tc>
                  <a:txBody>
                    <a:bodyPr/>
                    <a:lstStyle/>
                    <a:p>
                      <a:pPr algn="ctr"/>
                      <a:r>
                        <a:rPr lang="zh-CN" altLang="en-US" sz="1800" kern="1200" dirty="0">
                          <a:solidFill>
                            <a:srgbClr val="514843"/>
                          </a:solidFill>
                          <a:latin typeface="微软雅黑" panose="020B0503020204020204" pitchFamily="34" charset="-122"/>
                          <a:ea typeface="微软雅黑" panose="020B0503020204020204" pitchFamily="34" charset="-122"/>
                          <a:cs typeface="+mn-cs"/>
                        </a:rPr>
                        <a:t>把整数 </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n</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在二进制表示下的第 </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k </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位取反 </a:t>
                      </a:r>
                    </a:p>
                  </a:txBody>
                  <a:tcPr/>
                </a:tc>
                <a:tc>
                  <a:txBody>
                    <a:bodyPr/>
                    <a:lstStyle/>
                    <a:p>
                      <a:pPr algn="ctr"/>
                      <a:r>
                        <a:rPr lang="en-US" altLang="zh-CN"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rPr>
                        <a:t>n </a:t>
                      </a:r>
                      <a:r>
                        <a:rPr lang="en-US" altLang="zh-CN" sz="2000" kern="1200" dirty="0" err="1">
                          <a:solidFill>
                            <a:srgbClr val="514843"/>
                          </a:solidFill>
                          <a:latin typeface="Times New Roman" panose="02020603050405020304" pitchFamily="18" charset="0"/>
                          <a:ea typeface="微软雅黑" panose="020B0503020204020204" pitchFamily="34" charset="-122"/>
                          <a:cs typeface="Times New Roman" panose="02020603050405020304" pitchFamily="18" charset="0"/>
                        </a:rPr>
                        <a:t>xor</a:t>
                      </a:r>
                      <a:r>
                        <a:rPr lang="en-US" altLang="zh-CN"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rPr>
                        <a:t> (1&lt;&lt;k)</a:t>
                      </a:r>
                      <a:endParaRPr lang="zh-CN" altLang="en-US"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xmlns="" val="2016373584"/>
                  </a:ext>
                </a:extLst>
              </a:tr>
              <a:tr h="370840">
                <a:tc>
                  <a:txBody>
                    <a:bodyPr/>
                    <a:lstStyle/>
                    <a:p>
                      <a:pPr algn="ctr"/>
                      <a:r>
                        <a:rPr lang="zh-CN" altLang="en-US" sz="1800" kern="1200" dirty="0">
                          <a:solidFill>
                            <a:srgbClr val="514843"/>
                          </a:solidFill>
                          <a:latin typeface="微软雅黑" panose="020B0503020204020204" pitchFamily="34" charset="-122"/>
                          <a:ea typeface="微软雅黑" panose="020B0503020204020204" pitchFamily="34" charset="-122"/>
                          <a:cs typeface="+mn-cs"/>
                        </a:rPr>
                        <a:t>对整数</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n</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在二进制表示下的第</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k</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位赋值</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1 </a:t>
                      </a:r>
                      <a:endParaRPr lang="zh-CN" altLang="en-US" sz="1800" kern="1200" dirty="0">
                        <a:solidFill>
                          <a:srgbClr val="514843"/>
                        </a:solidFill>
                        <a:latin typeface="微软雅黑" panose="020B0503020204020204" pitchFamily="34" charset="-122"/>
                        <a:ea typeface="微软雅黑" panose="020B0503020204020204" pitchFamily="34" charset="-122"/>
                        <a:cs typeface="+mn-cs"/>
                      </a:endParaRPr>
                    </a:p>
                  </a:txBody>
                  <a:tcPr/>
                </a:tc>
                <a:tc>
                  <a:txBody>
                    <a:bodyPr/>
                    <a:lstStyle/>
                    <a:p>
                      <a:pPr algn="ctr"/>
                      <a:r>
                        <a:rPr lang="en-US" altLang="zh-CN"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rPr>
                        <a:t>n |(1&lt;&lt;k)</a:t>
                      </a:r>
                      <a:endParaRPr lang="zh-CN" altLang="en-US"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xmlns="" val="1818717411"/>
                  </a:ext>
                </a:extLst>
              </a:tr>
              <a:tr h="370840">
                <a:tc>
                  <a:txBody>
                    <a:bodyPr/>
                    <a:lstStyle/>
                    <a:p>
                      <a:pPr algn="ctr"/>
                      <a:r>
                        <a:rPr lang="zh-CN" altLang="en-US" sz="1800" kern="1200" dirty="0">
                          <a:solidFill>
                            <a:srgbClr val="514843"/>
                          </a:solidFill>
                          <a:latin typeface="微软雅黑" panose="020B0503020204020204" pitchFamily="34" charset="-122"/>
                          <a:ea typeface="微软雅黑" panose="020B0503020204020204" pitchFamily="34" charset="-122"/>
                          <a:cs typeface="+mn-cs"/>
                        </a:rPr>
                        <a:t>对整数</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n</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在二进制表示下的第</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k</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位赋值</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0</a:t>
                      </a:r>
                      <a:endParaRPr lang="zh-CN" altLang="en-US" sz="1800" kern="1200" dirty="0">
                        <a:solidFill>
                          <a:srgbClr val="514843"/>
                        </a:solidFill>
                        <a:latin typeface="微软雅黑" panose="020B0503020204020204" pitchFamily="34" charset="-122"/>
                        <a:ea typeface="微软雅黑" panose="020B0503020204020204" pitchFamily="34" charset="-122"/>
                        <a:cs typeface="+mn-cs"/>
                      </a:endParaRPr>
                    </a:p>
                  </a:txBody>
                  <a:tcPr/>
                </a:tc>
                <a:tc>
                  <a:txBody>
                    <a:bodyPr/>
                    <a:lstStyle/>
                    <a:p>
                      <a:pPr algn="ctr"/>
                      <a:r>
                        <a:rPr lang="en-US" altLang="zh-CN" sz="2000" kern="120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rPr>
                        <a:t>&amp;(~(1&lt;&lt;k))</a:t>
                      </a:r>
                      <a:endParaRPr lang="zh-CN" altLang="en-US"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xmlns="" val="2732181284"/>
                  </a:ext>
                </a:extLst>
              </a:tr>
            </a:tbl>
          </a:graphicData>
        </a:graphic>
      </p:graphicFrame>
      <p:sp>
        <p:nvSpPr>
          <p:cNvPr id="7" name="文本框 6">
            <a:extLst>
              <a:ext uri="{FF2B5EF4-FFF2-40B4-BE49-F238E27FC236}">
                <a16:creationId xmlns:a16="http://schemas.microsoft.com/office/drawing/2014/main" xmlns="" id="{5536B992-AB52-4422-B75D-94A6855AA8E4}"/>
              </a:ext>
            </a:extLst>
          </p:cNvPr>
          <p:cNvSpPr txBox="1"/>
          <p:nvPr/>
        </p:nvSpPr>
        <p:spPr>
          <a:xfrm>
            <a:off x="1104900" y="5342001"/>
            <a:ext cx="9980682" cy="1289905"/>
          </a:xfrm>
          <a:prstGeom prst="rect">
            <a:avLst/>
          </a:prstGeom>
          <a:noFill/>
        </p:spPr>
        <p:txBody>
          <a:bodyPr wrap="square">
            <a:spAutoFit/>
          </a:bodyPr>
          <a:lstStyle/>
          <a:p>
            <a:pPr>
              <a:lnSpc>
                <a:spcPct val="150000"/>
              </a:lnSpc>
            </a:pPr>
            <a:r>
              <a:rPr lang="zh-CN" altLang="en-US" dirty="0">
                <a:solidFill>
                  <a:srgbClr val="514843"/>
                </a:solidFill>
                <a:latin typeface="微软雅黑" panose="020B0503020204020204" pitchFamily="34" charset="-122"/>
                <a:ea typeface="微软雅黑" panose="020B0503020204020204" pitchFamily="34" charset="-122"/>
              </a:rPr>
              <a:t>这种方法运算简便，并且节省了程序运行的时间和空间。当</a:t>
            </a:r>
            <a:r>
              <a:rPr lang="en-US" altLang="zh-CN" dirty="0">
                <a:solidFill>
                  <a:srgbClr val="514843"/>
                </a:solidFill>
                <a:latin typeface="微软雅黑" panose="020B0503020204020204" pitchFamily="34" charset="-122"/>
                <a:ea typeface="微软雅黑" panose="020B0503020204020204" pitchFamily="34" charset="-122"/>
              </a:rPr>
              <a:t>m</a:t>
            </a:r>
            <a:r>
              <a:rPr lang="zh-CN" altLang="en-US" dirty="0">
                <a:solidFill>
                  <a:srgbClr val="514843"/>
                </a:solidFill>
                <a:latin typeface="微软雅黑" panose="020B0503020204020204" pitchFamily="34" charset="-122"/>
                <a:ea typeface="微软雅黑" panose="020B0503020204020204" pitchFamily="34" charset="-122"/>
              </a:rPr>
              <a:t>不太大时，可以直接使用一个整数类型存储。当</a:t>
            </a:r>
            <a:r>
              <a:rPr lang="en-US" altLang="zh-CN" dirty="0">
                <a:solidFill>
                  <a:srgbClr val="514843"/>
                </a:solidFill>
                <a:latin typeface="微软雅黑" panose="020B0503020204020204" pitchFamily="34" charset="-122"/>
                <a:ea typeface="微软雅黑" panose="020B0503020204020204" pitchFamily="34" charset="-122"/>
              </a:rPr>
              <a:t>m</a:t>
            </a:r>
            <a:r>
              <a:rPr lang="zh-CN" altLang="en-US" dirty="0">
                <a:solidFill>
                  <a:srgbClr val="514843"/>
                </a:solidFill>
                <a:latin typeface="微软雅黑" panose="020B0503020204020204" pitchFamily="34" charset="-122"/>
                <a:ea typeface="微软雅黑" panose="020B0503020204020204" pitchFamily="34" charset="-122"/>
              </a:rPr>
              <a:t>较大时，可以使用若干个整数类型</a:t>
            </a:r>
            <a:r>
              <a:rPr lang="en-US" altLang="zh-CN" dirty="0">
                <a:solidFill>
                  <a:srgbClr val="514843"/>
                </a:solidFill>
                <a:latin typeface="微软雅黑" panose="020B0503020204020204" pitchFamily="34" charset="-122"/>
                <a:ea typeface="微软雅黑" panose="020B0503020204020204" pitchFamily="34" charset="-122"/>
              </a:rPr>
              <a:t>(int</a:t>
            </a:r>
            <a:r>
              <a:rPr lang="zh-CN" altLang="en-US" dirty="0">
                <a:solidFill>
                  <a:srgbClr val="514843"/>
                </a:solidFill>
                <a:latin typeface="微软雅黑" panose="020B0503020204020204" pitchFamily="34" charset="-122"/>
                <a:ea typeface="微软雅黑" panose="020B0503020204020204" pitchFamily="34" charset="-122"/>
              </a:rPr>
              <a:t>数组</a:t>
            </a:r>
            <a:r>
              <a:rPr lang="en-US" altLang="zh-CN" dirty="0">
                <a:solidFill>
                  <a:srgbClr val="514843"/>
                </a:solidFill>
                <a:latin typeface="微软雅黑" panose="020B0503020204020204" pitchFamily="34" charset="-122"/>
                <a:ea typeface="微软雅黑" panose="020B0503020204020204" pitchFamily="34" charset="-122"/>
              </a:rPr>
              <a:t>)</a:t>
            </a:r>
            <a:r>
              <a:rPr lang="zh-CN" altLang="en-US" dirty="0">
                <a:solidFill>
                  <a:srgbClr val="514843"/>
                </a:solidFill>
                <a:latin typeface="微软雅黑" panose="020B0503020204020204" pitchFamily="34" charset="-122"/>
                <a:ea typeface="微软雅黑" panose="020B0503020204020204" pitchFamily="34" charset="-122"/>
              </a:rPr>
              <a:t>，也可以直接利用</a:t>
            </a:r>
            <a:r>
              <a:rPr lang="en-US" altLang="zh-CN" dirty="0">
                <a:solidFill>
                  <a:srgbClr val="514843"/>
                </a:solidFill>
                <a:latin typeface="微软雅黑" panose="020B0503020204020204" pitchFamily="34" charset="-122"/>
                <a:ea typeface="微软雅黑" panose="020B0503020204020204" pitchFamily="34" charset="-122"/>
              </a:rPr>
              <a:t>C++STL</a:t>
            </a:r>
            <a:r>
              <a:rPr lang="zh-CN" altLang="en-US" dirty="0">
                <a:solidFill>
                  <a:srgbClr val="514843"/>
                </a:solidFill>
                <a:latin typeface="微软雅黑" panose="020B0503020204020204" pitchFamily="34" charset="-122"/>
                <a:ea typeface="微软雅黑" panose="020B0503020204020204" pitchFamily="34" charset="-122"/>
              </a:rPr>
              <a:t>为我们提供的</a:t>
            </a:r>
            <a:r>
              <a:rPr lang="en-US" altLang="zh-CN" dirty="0" err="1">
                <a:solidFill>
                  <a:srgbClr val="514843"/>
                </a:solidFill>
                <a:latin typeface="微软雅黑" panose="020B0503020204020204" pitchFamily="34" charset="-122"/>
                <a:ea typeface="微软雅黑" panose="020B0503020204020204" pitchFamily="34" charset="-122"/>
              </a:rPr>
              <a:t>bitset</a:t>
            </a:r>
            <a:r>
              <a:rPr lang="en-US" altLang="zh-CN" dirty="0">
                <a:solidFill>
                  <a:srgbClr val="514843"/>
                </a:solidFill>
                <a:latin typeface="微软雅黑" panose="020B0503020204020204" pitchFamily="34" charset="-122"/>
                <a:ea typeface="微软雅黑" panose="020B0503020204020204" pitchFamily="34" charset="-122"/>
              </a:rPr>
              <a:t> </a:t>
            </a:r>
            <a:r>
              <a:rPr lang="zh-CN" altLang="en-US" dirty="0">
                <a:solidFill>
                  <a:srgbClr val="514843"/>
                </a:solidFill>
                <a:latin typeface="微软雅黑" panose="020B0503020204020204" pitchFamily="34" charset="-122"/>
                <a:ea typeface="微软雅黑" panose="020B0503020204020204" pitchFamily="34" charset="-122"/>
              </a:rPr>
              <a:t>实现</a:t>
            </a:r>
          </a:p>
        </p:txBody>
      </p:sp>
    </p:spTree>
    <p:extLst>
      <p:ext uri="{BB962C8B-B14F-4D97-AF65-F5344CB8AC3E}">
        <p14:creationId xmlns:p14="http://schemas.microsoft.com/office/powerpoint/2010/main" xmlns="" val="100377013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4" name="矩形 3">
            <a:extLst>
              <a:ext uri="{FF2B5EF4-FFF2-40B4-BE49-F238E27FC236}">
                <a16:creationId xmlns:a16="http://schemas.microsoft.com/office/drawing/2014/main" xmlns="" id="{4FC0B3D0-71EC-4DC9-93C7-C03AF128A8AF}"/>
              </a:ext>
            </a:extLst>
          </p:cNvPr>
          <p:cNvSpPr/>
          <p:nvPr/>
        </p:nvSpPr>
        <p:spPr>
          <a:xfrm>
            <a:off x="1104899" y="1233703"/>
            <a:ext cx="1992262" cy="562783"/>
          </a:xfrm>
          <a:prstGeom prst="rect">
            <a:avLst/>
          </a:prstGeom>
        </p:spPr>
        <p:txBody>
          <a:bodyPr wrap="square">
            <a:spAutoFit/>
          </a:bodyPr>
          <a:lstStyle/>
          <a:p>
            <a:pPr>
              <a:lnSpc>
                <a:spcPct val="200000"/>
              </a:lnSpc>
            </a:pPr>
            <a:r>
              <a:rPr lang="zh-CN" altLang="en-US" b="1" dirty="0">
                <a:solidFill>
                  <a:schemeClr val="accent2"/>
                </a:solidFill>
                <a:latin typeface="微软雅黑" panose="020B0503020204020204" pitchFamily="34" charset="-122"/>
                <a:ea typeface="微软雅黑" panose="020B0503020204020204" pitchFamily="34" charset="-122"/>
              </a:rPr>
              <a:t>基本位操作运算</a:t>
            </a:r>
          </a:p>
        </p:txBody>
      </p:sp>
      <p:sp>
        <p:nvSpPr>
          <p:cNvPr id="5" name="内容占位符 2">
            <a:extLst>
              <a:ext uri="{FF2B5EF4-FFF2-40B4-BE49-F238E27FC236}">
                <a16:creationId xmlns:a16="http://schemas.microsoft.com/office/drawing/2014/main" xmlns="" id="{2AEFC8AF-A586-4CCE-811A-F6A1A61B7063}"/>
              </a:ext>
            </a:extLst>
          </p:cNvPr>
          <p:cNvSpPr txBox="1">
            <a:spLocks/>
          </p:cNvSpPr>
          <p:nvPr/>
        </p:nvSpPr>
        <p:spPr bwMode="auto">
          <a:xfrm>
            <a:off x="1104899" y="1857027"/>
            <a:ext cx="10054714" cy="4686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50000"/>
              </a:lnSpc>
              <a:spcBef>
                <a:spcPct val="20000"/>
              </a:spcBef>
              <a:spcAft>
                <a:spcPct val="0"/>
              </a:spcAft>
              <a:buClrTx/>
              <a:buSzTx/>
              <a:buFont typeface="Arial" panose="020B0604020202020204" pitchFamily="34" charset="0"/>
              <a:buChar char="•"/>
              <a:tabLst/>
              <a:defRPr/>
            </a:pP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若当前状态为</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对</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有下列操作：</a:t>
            </a:r>
            <a:endPar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742950" marR="0" lvl="1" indent="-285750" algn="l" defTabSz="914400" rtl="0" eaLnBrk="1" fontAlgn="base" latinLnBrk="0" hangingPunct="1">
              <a:lnSpc>
                <a:spcPct val="150000"/>
              </a:lnSpc>
              <a:spcBef>
                <a:spcPct val="20000"/>
              </a:spcBef>
              <a:spcAft>
                <a:spcPct val="0"/>
              </a:spcAft>
              <a:buClrTx/>
              <a:buSzTx/>
              <a:buFont typeface="Arial" panose="020B0604020202020204" pitchFamily="34" charset="0"/>
              <a:buChar char="–"/>
              <a:tabLst/>
              <a:defRPr/>
            </a:pP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判断第</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位是否为</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0</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Wingdings" panose="05000000000000000000" pitchFamily="2" charset="2"/>
              </a:rPr>
              <a:t> (</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  &amp; 1 &lt;&lt; </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 0</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，意思是将</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1</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左移</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位与</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进行与运算后，看结果是否为</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0.</a:t>
            </a:r>
          </a:p>
          <a:p>
            <a:pPr marL="742950" marR="0" lvl="1" indent="-285750" algn="l" defTabSz="914400" rtl="0" eaLnBrk="1" fontAlgn="base" latinLnBrk="0" hangingPunct="1">
              <a:lnSpc>
                <a:spcPct val="150000"/>
              </a:lnSpc>
              <a:spcBef>
                <a:spcPct val="20000"/>
              </a:spcBef>
              <a:spcAft>
                <a:spcPct val="0"/>
              </a:spcAft>
              <a:buClrTx/>
              <a:buSzTx/>
              <a:buFont typeface="Arial" panose="020B0604020202020204" pitchFamily="34" charset="0"/>
              <a:buChar char="–"/>
              <a:tabLst/>
              <a:defRPr/>
            </a:pP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将第</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位置</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1</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Wingdings" panose="05000000000000000000" pitchFamily="2" charset="2"/>
              </a:rPr>
              <a:t>  </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  | 1 &lt;&lt; </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，意思是将</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1</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左移动</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位与</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进行或运算</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a:t>
            </a:r>
          </a:p>
          <a:p>
            <a:pPr marL="742950" marR="0" lvl="1" indent="-285750" algn="l" defTabSz="914400" rtl="0" eaLnBrk="1" fontAlgn="base" latinLnBrk="0" hangingPunct="1">
              <a:lnSpc>
                <a:spcPct val="150000"/>
              </a:lnSpc>
              <a:spcBef>
                <a:spcPct val="20000"/>
              </a:spcBef>
              <a:spcAft>
                <a:spcPct val="0"/>
              </a:spcAft>
              <a:buClrTx/>
              <a:buSzTx/>
              <a:buFont typeface="Arial" panose="020B0604020202020204" pitchFamily="34" charset="0"/>
              <a:buChar char="–"/>
              <a:tabLst/>
              <a:defRPr/>
            </a:pP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将第</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位置</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0</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Wingdings" panose="05000000000000000000" pitchFamily="2" charset="2"/>
              </a:rPr>
              <a:t>  </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  &amp; ~(1 &lt;&lt; </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，意思是</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与第</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位为</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0</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，其余位为</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1</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的数进行与运算。</a:t>
            </a:r>
            <a:endPar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base" latinLnBrk="0" hangingPunct="1">
              <a:lnSpc>
                <a:spcPct val="150000"/>
              </a:lnSpc>
              <a:spcBef>
                <a:spcPct val="20000"/>
              </a:spcBef>
              <a:spcAft>
                <a:spcPct val="0"/>
              </a:spcAft>
              <a:buClrTx/>
              <a:buSzTx/>
              <a:buFont typeface="Arial" panose="020B0604020202020204" pitchFamily="34" charset="0"/>
              <a:buChar char="•"/>
              <a:tabLst/>
              <a:defRPr/>
            </a:pP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例如：</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s=1010101</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=5</a:t>
            </a:r>
          </a:p>
          <a:p>
            <a:pPr marL="342900" marR="0" lvl="0" indent="-342900" algn="l" defTabSz="914400" rtl="0" eaLnBrk="1" fontAlgn="base" latinLnBrk="0" hangingPunct="1">
              <a:lnSpc>
                <a:spcPct val="150000"/>
              </a:lnSpc>
              <a:spcBef>
                <a:spcPct val="20000"/>
              </a:spcBef>
              <a:spcAft>
                <a:spcPct val="0"/>
              </a:spcAft>
              <a:buClrTx/>
              <a:buSzTx/>
              <a:buFont typeface="Arial" panose="020B0604020202020204" pitchFamily="34" charset="0"/>
              <a:buNone/>
              <a:tabLst/>
              <a:defRPr/>
            </a:pP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  &amp; 1 &lt;&lt; </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1010101 &amp; 0100000</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0</a:t>
            </a:r>
          </a:p>
          <a:p>
            <a:pPr marL="742950" marR="0" lvl="1" indent="-285750" algn="l" defTabSz="914400" rtl="0" eaLnBrk="1" fontAlgn="base" latinLnBrk="0" hangingPunct="1">
              <a:lnSpc>
                <a:spcPct val="150000"/>
              </a:lnSpc>
              <a:spcBef>
                <a:spcPct val="20000"/>
              </a:spcBef>
              <a:spcAft>
                <a:spcPct val="0"/>
              </a:spcAft>
              <a:buClrTx/>
              <a:buSzTx/>
              <a:buFont typeface="Arial" panose="020B0604020202020204" pitchFamily="34" charset="0"/>
              <a:buChar char="–"/>
              <a:tabLst/>
              <a:defRPr/>
            </a:pP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  | 1 &lt;&lt; i: 1010101 | 0100000 =</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1110101</a:t>
            </a:r>
          </a:p>
          <a:p>
            <a:pPr marL="742950" marR="0" lvl="1" indent="-285750" algn="l" defTabSz="914400" rtl="0" eaLnBrk="1" fontAlgn="base" latinLnBrk="0" hangingPunct="1">
              <a:lnSpc>
                <a:spcPct val="150000"/>
              </a:lnSpc>
              <a:spcBef>
                <a:spcPct val="20000"/>
              </a:spcBef>
              <a:spcAft>
                <a:spcPct val="0"/>
              </a:spcAft>
              <a:buClrTx/>
              <a:buSzTx/>
              <a:buFont typeface="Arial" panose="020B0604020202020204" pitchFamily="34" charset="0"/>
              <a:buChar char="–"/>
              <a:tabLst/>
              <a:defRPr/>
            </a:pP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  &amp; ~(1 &lt;&lt; </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1010101 &amp; 1011111</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1010101</a:t>
            </a:r>
          </a:p>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endParaRPr kumimoji="0" lang="en-US" altLang="zh-CN" sz="2400" b="1" i="0" u="none" strike="noStrike" kern="1200" cap="none" spc="0" normalizeH="0" baseline="0" noProof="0" dirty="0">
              <a:ln>
                <a:noFill/>
              </a:ln>
              <a:solidFill>
                <a:sysClr val="windowText" lastClr="000000"/>
              </a:solidFill>
              <a:effectLst/>
              <a:uLnTx/>
              <a:uFillTx/>
              <a:latin typeface="Calibri"/>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endParaRPr kumimoji="0" lang="en-US" altLang="zh-CN" sz="2400" b="1" i="0" u="none" strike="noStrike" kern="1200" cap="none" spc="0" normalizeH="0" baseline="0" noProof="0" dirty="0">
              <a:ln>
                <a:noFill/>
              </a:ln>
              <a:solidFill>
                <a:sysClr val="windowText" lastClr="000000"/>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xmlns="" val="351172600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p:cNvSpPr/>
          <p:nvPr/>
        </p:nvSpPr>
        <p:spPr>
          <a:xfrm>
            <a:off x="1034649" y="1173162"/>
            <a:ext cx="10050933" cy="3228897"/>
          </a:xfrm>
          <a:prstGeom prst="rect">
            <a:avLst/>
          </a:prstGeom>
        </p:spPr>
        <p:txBody>
          <a:bodyPr wrap="square">
            <a:spAutoFit/>
          </a:bodyPr>
          <a:lstStyle/>
          <a:p>
            <a:pPr>
              <a:lnSpc>
                <a:spcPct val="200000"/>
              </a:lnSpc>
            </a:pPr>
            <a:r>
              <a:rPr lang="en-US" altLang="zh-CN" b="1" dirty="0">
                <a:solidFill>
                  <a:schemeClr val="accent2"/>
                </a:solidFill>
                <a:latin typeface="微软雅黑" panose="020B0503020204020204" pitchFamily="34" charset="-122"/>
                <a:ea typeface="微软雅黑" panose="020B0503020204020204" pitchFamily="34" charset="-122"/>
              </a:rPr>
              <a:t>【</a:t>
            </a:r>
            <a:r>
              <a:rPr lang="zh-CN" altLang="en-US" b="1" dirty="0">
                <a:solidFill>
                  <a:schemeClr val="accent2"/>
                </a:solidFill>
                <a:latin typeface="微软雅黑" panose="020B0503020204020204" pitchFamily="34" charset="-122"/>
                <a:ea typeface="微软雅黑" panose="020B0503020204020204" pitchFamily="34" charset="-122"/>
              </a:rPr>
              <a:t>例</a:t>
            </a:r>
            <a:r>
              <a:rPr lang="en-US" altLang="zh-CN" b="1" dirty="0">
                <a:solidFill>
                  <a:schemeClr val="accent2"/>
                </a:solidFill>
                <a:latin typeface="微软雅黑" panose="020B0503020204020204" pitchFamily="34" charset="-122"/>
                <a:ea typeface="微软雅黑" panose="020B0503020204020204" pitchFamily="34" charset="-122"/>
              </a:rPr>
              <a:t>2】Mondriaan’s Dream POJ2411</a:t>
            </a:r>
            <a:endParaRPr lang="zh-CN" altLang="en-US" b="1" dirty="0">
              <a:solidFill>
                <a:schemeClr val="accent2"/>
              </a:solidFill>
              <a:latin typeface="微软雅黑" panose="020B0503020204020204" pitchFamily="34" charset="-122"/>
              <a:ea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rPr>
              <a:t>给出一个</a:t>
            </a:r>
            <a:r>
              <a:rPr lang="en-US" altLang="zh-CN" dirty="0">
                <a:latin typeface="微软雅黑" panose="020B0503020204020204" pitchFamily="34" charset="-122"/>
                <a:ea typeface="微软雅黑" panose="020B0503020204020204" pitchFamily="34" charset="-122"/>
              </a:rPr>
              <a:t>W</a:t>
            </a:r>
            <a:r>
              <a:rPr lang="zh-CN" altLang="en-US" dirty="0">
                <a:latin typeface="微软雅黑" panose="020B0503020204020204" pitchFamily="34" charset="-122"/>
                <a:ea typeface="微软雅黑" panose="020B0503020204020204" pitchFamily="34" charset="-122"/>
              </a:rPr>
              <a:t>行</a:t>
            </a:r>
            <a:r>
              <a:rPr lang="en-US" altLang="zh-CN" dirty="0">
                <a:latin typeface="微软雅黑" panose="020B0503020204020204" pitchFamily="34" charset="-122"/>
                <a:ea typeface="微软雅黑" panose="020B0503020204020204" pitchFamily="34" charset="-122"/>
              </a:rPr>
              <a:t>H</a:t>
            </a:r>
            <a:r>
              <a:rPr lang="zh-CN" altLang="en-US" dirty="0">
                <a:latin typeface="微软雅黑" panose="020B0503020204020204" pitchFamily="34" charset="-122"/>
                <a:ea typeface="微软雅黑" panose="020B0503020204020204" pitchFamily="34" charset="-122"/>
              </a:rPr>
              <a:t>列的广场</a:t>
            </a:r>
          </a:p>
          <a:p>
            <a:pPr>
              <a:lnSpc>
                <a:spcPct val="200000"/>
              </a:lnSpc>
            </a:pPr>
            <a:r>
              <a:rPr lang="zh-CN" altLang="en-US" dirty="0">
                <a:latin typeface="微软雅黑" panose="020B0503020204020204" pitchFamily="34" charset="-122"/>
                <a:ea typeface="微软雅黑" panose="020B0503020204020204" pitchFamily="34" charset="-122"/>
              </a:rPr>
              <a:t>用</a:t>
            </a:r>
            <a:r>
              <a:rPr lang="en-US" altLang="zh-CN" dirty="0">
                <a:latin typeface="微软雅黑" panose="020B0503020204020204" pitchFamily="34" charset="-122"/>
                <a:ea typeface="微软雅黑" panose="020B0503020204020204" pitchFamily="34" charset="-122"/>
              </a:rPr>
              <a:t>1*2</a:t>
            </a:r>
            <a:r>
              <a:rPr lang="zh-CN" altLang="en-US" dirty="0">
                <a:latin typeface="微软雅黑" panose="020B0503020204020204" pitchFamily="34" charset="-122"/>
                <a:ea typeface="微软雅黑" panose="020B0503020204020204" pitchFamily="34" charset="-122"/>
              </a:rPr>
              <a:t>小砖铺盖，小砖之间互相不能重叠</a:t>
            </a:r>
          </a:p>
          <a:p>
            <a:pPr>
              <a:lnSpc>
                <a:spcPct val="200000"/>
              </a:lnSpc>
            </a:pPr>
            <a:r>
              <a:rPr lang="zh-CN" altLang="en-US" dirty="0">
                <a:latin typeface="微软雅黑" panose="020B0503020204020204" pitchFamily="34" charset="-122"/>
                <a:ea typeface="微软雅黑" panose="020B0503020204020204" pitchFamily="34" charset="-122"/>
              </a:rPr>
              <a:t>问有多少种不同的铺法？</a:t>
            </a:r>
          </a:p>
          <a:p>
            <a:pPr>
              <a:lnSpc>
                <a:spcPct val="200000"/>
              </a:lnSpc>
            </a:pPr>
            <a:r>
              <a:rPr lang="en-US" altLang="zh-CN" dirty="0">
                <a:latin typeface="微软雅黑" panose="020B0503020204020204" pitchFamily="34" charset="-122"/>
                <a:ea typeface="微软雅黑" panose="020B0503020204020204" pitchFamily="34" charset="-122"/>
              </a:rPr>
              <a:t>1&lt;=W</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H&lt;=11</a:t>
            </a:r>
          </a:p>
          <a:p>
            <a:pPr>
              <a:lnSpc>
                <a:spcPct val="150000"/>
              </a:lnSpc>
            </a:pPr>
            <a:endParaRPr lang="en-US" altLang="zh-CN" dirty="0">
              <a:latin typeface="微软雅黑" panose="020B0503020204020204" pitchFamily="34" charset="-122"/>
              <a:ea typeface="微软雅黑" panose="020B0503020204020204" pitchFamily="34" charset="-122"/>
            </a:endParaRPr>
          </a:p>
        </p:txBody>
      </p:sp>
      <p:sp>
        <p:nvSpPr>
          <p:cNvPr id="16385" name="Rectangle 1"/>
          <p:cNvSpPr>
            <a:spLocks noChangeArrowheads="1"/>
          </p:cNvSpPr>
          <p:nvPr/>
        </p:nvSpPr>
        <p:spPr bwMode="auto">
          <a:xfrm>
            <a:off x="1124125" y="3889815"/>
            <a:ext cx="1657826" cy="296818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lang="zh-CN" altLang="zh-CN" dirty="0" smtClean="0">
                <a:latin typeface="微软雅黑" pitchFamily="34" charset="-122"/>
                <a:ea typeface="微软雅黑" pitchFamily="34" charset="-122"/>
              </a:rPr>
              <a:t>Sample Input</a:t>
            </a: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200" b="0" i="0" u="none" strike="noStrike" cap="none" normalizeH="0" baseline="0" dirty="0" smtClean="0">
                <a:ln>
                  <a:noFill/>
                </a:ln>
                <a:solidFill>
                  <a:srgbClr val="000000"/>
                </a:solidFill>
                <a:effectLst/>
                <a:latin typeface="微软雅黑" pitchFamily="34" charset="-122"/>
                <a:ea typeface="微软雅黑" pitchFamily="34" charset="-122"/>
                <a:cs typeface="Courier New" pitchFamily="49" charset="0"/>
              </a:rPr>
              <a:t>1 2 </a:t>
            </a:r>
            <a:endParaRPr kumimoji="0" lang="en-US" altLang="zh-CN" sz="1200" b="0" i="0" u="none" strike="noStrike" cap="none" normalizeH="0" baseline="0" dirty="0" smtClean="0">
              <a:ln>
                <a:noFill/>
              </a:ln>
              <a:solidFill>
                <a:srgbClr val="000000"/>
              </a:solidFill>
              <a:effectLst/>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200" b="0" i="0" u="none" strike="noStrike" cap="none" normalizeH="0" baseline="0" dirty="0" smtClean="0">
                <a:ln>
                  <a:noFill/>
                </a:ln>
                <a:solidFill>
                  <a:srgbClr val="000000"/>
                </a:solidFill>
                <a:effectLst/>
                <a:latin typeface="微软雅黑" pitchFamily="34" charset="-122"/>
                <a:ea typeface="微软雅黑" pitchFamily="34" charset="-122"/>
                <a:cs typeface="Courier New" pitchFamily="49" charset="0"/>
              </a:rPr>
              <a:t>1 3 </a:t>
            </a:r>
            <a:endParaRPr kumimoji="0" lang="en-US" altLang="zh-CN" sz="1200" b="0" i="0" u="none" strike="noStrike" cap="none" normalizeH="0" baseline="0" dirty="0" smtClean="0">
              <a:ln>
                <a:noFill/>
              </a:ln>
              <a:solidFill>
                <a:srgbClr val="000000"/>
              </a:solidFill>
              <a:effectLst/>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200" b="0" i="0" u="none" strike="noStrike" cap="none" normalizeH="0" baseline="0" dirty="0" smtClean="0">
                <a:ln>
                  <a:noFill/>
                </a:ln>
                <a:solidFill>
                  <a:srgbClr val="000000"/>
                </a:solidFill>
                <a:effectLst/>
                <a:latin typeface="微软雅黑" pitchFamily="34" charset="-122"/>
                <a:ea typeface="微软雅黑" pitchFamily="34" charset="-122"/>
                <a:cs typeface="Courier New" pitchFamily="49" charset="0"/>
              </a:rPr>
              <a:t>1 4 </a:t>
            </a:r>
            <a:endParaRPr kumimoji="0" lang="en-US" altLang="zh-CN" sz="1200" b="0" i="0" u="none" strike="noStrike" cap="none" normalizeH="0" baseline="0" dirty="0" smtClean="0">
              <a:ln>
                <a:noFill/>
              </a:ln>
              <a:solidFill>
                <a:srgbClr val="000000"/>
              </a:solidFill>
              <a:effectLst/>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200" b="0" i="0" u="none" strike="noStrike" cap="none" normalizeH="0" baseline="0" dirty="0" smtClean="0">
                <a:ln>
                  <a:noFill/>
                </a:ln>
                <a:solidFill>
                  <a:srgbClr val="000000"/>
                </a:solidFill>
                <a:effectLst/>
                <a:latin typeface="微软雅黑" pitchFamily="34" charset="-122"/>
                <a:ea typeface="微软雅黑" pitchFamily="34" charset="-122"/>
                <a:cs typeface="Courier New" pitchFamily="49" charset="0"/>
              </a:rPr>
              <a:t>2 2 </a:t>
            </a:r>
            <a:endParaRPr kumimoji="0" lang="en-US" altLang="zh-CN" sz="1200" b="0" i="0" u="none" strike="noStrike" cap="none" normalizeH="0" baseline="0" dirty="0" smtClean="0">
              <a:ln>
                <a:noFill/>
              </a:ln>
              <a:solidFill>
                <a:srgbClr val="000000"/>
              </a:solidFill>
              <a:effectLst/>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200" b="0" i="0" u="none" strike="noStrike" cap="none" normalizeH="0" baseline="0" dirty="0" smtClean="0">
                <a:ln>
                  <a:noFill/>
                </a:ln>
                <a:solidFill>
                  <a:srgbClr val="000000"/>
                </a:solidFill>
                <a:effectLst/>
                <a:latin typeface="微软雅黑" pitchFamily="34" charset="-122"/>
                <a:ea typeface="微软雅黑" pitchFamily="34" charset="-122"/>
                <a:cs typeface="Courier New" pitchFamily="49" charset="0"/>
              </a:rPr>
              <a:t>2 3</a:t>
            </a:r>
            <a:endParaRPr kumimoji="0" lang="en-US" altLang="zh-CN" sz="1200" b="0" i="0" u="none" strike="noStrike" cap="none" normalizeH="0" baseline="0" dirty="0" smtClean="0">
              <a:ln>
                <a:noFill/>
              </a:ln>
              <a:solidFill>
                <a:srgbClr val="000000"/>
              </a:solidFill>
              <a:effectLst/>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200" b="0" i="0" u="none" strike="noStrike" cap="none" normalizeH="0" baseline="0" dirty="0" smtClean="0">
                <a:ln>
                  <a:noFill/>
                </a:ln>
                <a:solidFill>
                  <a:srgbClr val="000000"/>
                </a:solidFill>
                <a:effectLst/>
                <a:latin typeface="微软雅黑" pitchFamily="34" charset="-122"/>
                <a:ea typeface="微软雅黑" pitchFamily="34" charset="-122"/>
                <a:cs typeface="Courier New" pitchFamily="49" charset="0"/>
              </a:rPr>
              <a:t>2 4 </a:t>
            </a:r>
            <a:endParaRPr kumimoji="0" lang="en-US" altLang="zh-CN" sz="1200" b="0" i="0" u="none" strike="noStrike" cap="none" normalizeH="0" baseline="0" dirty="0" smtClean="0">
              <a:ln>
                <a:noFill/>
              </a:ln>
              <a:solidFill>
                <a:srgbClr val="000000"/>
              </a:solidFill>
              <a:effectLst/>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200" b="0" i="0" u="none" strike="noStrike" cap="none" normalizeH="0" baseline="0" dirty="0" smtClean="0">
                <a:ln>
                  <a:noFill/>
                </a:ln>
                <a:solidFill>
                  <a:srgbClr val="000000"/>
                </a:solidFill>
                <a:effectLst/>
                <a:latin typeface="微软雅黑" pitchFamily="34" charset="-122"/>
                <a:ea typeface="微软雅黑" pitchFamily="34" charset="-122"/>
                <a:cs typeface="Courier New" pitchFamily="49" charset="0"/>
              </a:rPr>
              <a:t>2 11 </a:t>
            </a:r>
            <a:endParaRPr kumimoji="0" lang="en-US" altLang="zh-CN" sz="1200" b="0" i="0" u="none" strike="noStrike" cap="none" normalizeH="0" baseline="0" dirty="0" smtClean="0">
              <a:ln>
                <a:noFill/>
              </a:ln>
              <a:solidFill>
                <a:srgbClr val="000000"/>
              </a:solidFill>
              <a:effectLst/>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200" b="0" i="0" u="none" strike="noStrike" cap="none" normalizeH="0" baseline="0" dirty="0" smtClean="0">
                <a:ln>
                  <a:noFill/>
                </a:ln>
                <a:solidFill>
                  <a:srgbClr val="000000"/>
                </a:solidFill>
                <a:effectLst/>
                <a:latin typeface="微软雅黑" pitchFamily="34" charset="-122"/>
                <a:ea typeface="微软雅黑" pitchFamily="34" charset="-122"/>
                <a:cs typeface="Courier New" pitchFamily="49" charset="0"/>
              </a:rPr>
              <a:t>4 11 </a:t>
            </a:r>
            <a:endParaRPr kumimoji="0" lang="en-US" altLang="zh-CN" sz="1200" b="0" i="0" u="none" strike="noStrike" cap="none" normalizeH="0" baseline="0" dirty="0" smtClean="0">
              <a:ln>
                <a:noFill/>
              </a:ln>
              <a:solidFill>
                <a:srgbClr val="000000"/>
              </a:solidFill>
              <a:effectLst/>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200" b="0" i="0" u="none" strike="noStrike" cap="none" normalizeH="0" baseline="0" dirty="0" smtClean="0">
                <a:ln>
                  <a:noFill/>
                </a:ln>
                <a:solidFill>
                  <a:srgbClr val="000000"/>
                </a:solidFill>
                <a:effectLst/>
                <a:latin typeface="微软雅黑" pitchFamily="34" charset="-122"/>
                <a:ea typeface="微软雅黑" pitchFamily="34" charset="-122"/>
                <a:cs typeface="Courier New" pitchFamily="49" charset="0"/>
              </a:rPr>
              <a:t>0 0</a:t>
            </a:r>
            <a:r>
              <a:rPr kumimoji="0" lang="zh-CN" altLang="zh-CN" sz="1050" b="0" i="0" u="none" strike="noStrike" cap="none" normalizeH="0" baseline="0" dirty="0" smtClean="0">
                <a:ln>
                  <a:noFill/>
                </a:ln>
                <a:solidFill>
                  <a:schemeClr val="tx1"/>
                </a:solidFill>
                <a:effectLst/>
                <a:latin typeface="微软雅黑" pitchFamily="34" charset="-122"/>
                <a:ea typeface="微软雅黑" pitchFamily="34" charset="-122"/>
                <a:cs typeface="宋体" pitchFamily="2" charset="-122"/>
              </a:rPr>
              <a:t> </a:t>
            </a:r>
            <a:endParaRPr kumimoji="0" lang="zh-CN" altLang="zh-CN" sz="2800" b="0" i="0" u="none" strike="noStrike" cap="none" normalizeH="0" baseline="0" dirty="0" smtClean="0">
              <a:ln>
                <a:noFill/>
              </a:ln>
              <a:solidFill>
                <a:schemeClr val="tx1"/>
              </a:solidFill>
              <a:effectLst/>
              <a:latin typeface="微软雅黑" pitchFamily="34" charset="-122"/>
              <a:ea typeface="微软雅黑" pitchFamily="34" charset="-122"/>
              <a:cs typeface="宋体" pitchFamily="2" charset="-122"/>
            </a:endParaRPr>
          </a:p>
        </p:txBody>
      </p:sp>
      <p:sp>
        <p:nvSpPr>
          <p:cNvPr id="16386" name="Rectangle 2"/>
          <p:cNvSpPr>
            <a:spLocks noChangeArrowheads="1"/>
          </p:cNvSpPr>
          <p:nvPr/>
        </p:nvSpPr>
        <p:spPr bwMode="auto">
          <a:xfrm>
            <a:off x="3145871" y="3994504"/>
            <a:ext cx="3022600" cy="25853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zh-CN" altLang="zh-CN" dirty="0" smtClean="0">
                <a:latin typeface="微软雅黑" pitchFamily="34" charset="-122"/>
                <a:ea typeface="微软雅黑" pitchFamily="34" charset="-122"/>
              </a:rPr>
              <a:t>Sample Output</a:t>
            </a:r>
          </a:p>
          <a:p>
            <a:pPr marL="0" marR="0" lvl="0" indent="0" algn="l" defTabSz="914400" rtl="0" eaLnBrk="0" fontAlgn="base" latinLnBrk="0" hangingPunct="0">
              <a:lnSpc>
                <a:spcPct val="150000"/>
              </a:lnSpc>
              <a:spcBef>
                <a:spcPct val="0"/>
              </a:spcBef>
              <a:spcAft>
                <a:spcPct val="0"/>
              </a:spcAft>
              <a:buClrTx/>
              <a:buSzTx/>
              <a:buFontTx/>
              <a:buNone/>
              <a:tabLst/>
            </a:pPr>
            <a:r>
              <a:rPr lang="zh-CN" altLang="zh-CN" sz="1200" dirty="0" smtClean="0">
                <a:solidFill>
                  <a:srgbClr val="000000"/>
                </a:solidFill>
                <a:latin typeface="微软雅黑" pitchFamily="34" charset="-122"/>
                <a:ea typeface="微软雅黑" pitchFamily="34" charset="-122"/>
                <a:cs typeface="Courier New" pitchFamily="49" charset="0"/>
              </a:rPr>
              <a:t>1 </a:t>
            </a:r>
            <a:endParaRPr lang="en-US" altLang="zh-CN" sz="1200" dirty="0" smtClean="0">
              <a:solidFill>
                <a:srgbClr val="000000"/>
              </a:solidFill>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zh-CN" altLang="zh-CN" sz="1200" dirty="0" smtClean="0">
                <a:solidFill>
                  <a:srgbClr val="000000"/>
                </a:solidFill>
                <a:latin typeface="微软雅黑" pitchFamily="34" charset="-122"/>
                <a:ea typeface="微软雅黑" pitchFamily="34" charset="-122"/>
                <a:cs typeface="Courier New" pitchFamily="49" charset="0"/>
              </a:rPr>
              <a:t>0</a:t>
            </a:r>
            <a:endParaRPr lang="en-US" altLang="zh-CN" sz="1200" dirty="0" smtClean="0">
              <a:solidFill>
                <a:srgbClr val="000000"/>
              </a:solidFill>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zh-CN" altLang="zh-CN" sz="1200" dirty="0" smtClean="0">
                <a:solidFill>
                  <a:srgbClr val="000000"/>
                </a:solidFill>
                <a:latin typeface="微软雅黑" pitchFamily="34" charset="-122"/>
                <a:ea typeface="微软雅黑" pitchFamily="34" charset="-122"/>
                <a:cs typeface="Courier New" pitchFamily="49" charset="0"/>
              </a:rPr>
              <a:t>1 </a:t>
            </a:r>
            <a:endParaRPr lang="en-US" altLang="zh-CN" sz="1200" dirty="0" smtClean="0">
              <a:solidFill>
                <a:srgbClr val="000000"/>
              </a:solidFill>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zh-CN" altLang="zh-CN" sz="1200" dirty="0" smtClean="0">
                <a:solidFill>
                  <a:srgbClr val="000000"/>
                </a:solidFill>
                <a:latin typeface="微软雅黑" pitchFamily="34" charset="-122"/>
                <a:ea typeface="微软雅黑" pitchFamily="34" charset="-122"/>
                <a:cs typeface="Courier New" pitchFamily="49" charset="0"/>
              </a:rPr>
              <a:t>2 </a:t>
            </a:r>
            <a:endParaRPr lang="en-US" altLang="zh-CN" sz="1200" dirty="0" smtClean="0">
              <a:solidFill>
                <a:srgbClr val="000000"/>
              </a:solidFill>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zh-CN" altLang="zh-CN" sz="1200" dirty="0" smtClean="0">
                <a:solidFill>
                  <a:srgbClr val="000000"/>
                </a:solidFill>
                <a:latin typeface="微软雅黑" pitchFamily="34" charset="-122"/>
                <a:ea typeface="微软雅黑" pitchFamily="34" charset="-122"/>
                <a:cs typeface="Courier New" pitchFamily="49" charset="0"/>
              </a:rPr>
              <a:t>3 </a:t>
            </a:r>
            <a:endParaRPr lang="en-US" altLang="zh-CN" sz="1200" dirty="0" smtClean="0">
              <a:solidFill>
                <a:srgbClr val="000000"/>
              </a:solidFill>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zh-CN" altLang="zh-CN" sz="1200" dirty="0" smtClean="0">
                <a:solidFill>
                  <a:srgbClr val="000000"/>
                </a:solidFill>
                <a:latin typeface="微软雅黑" pitchFamily="34" charset="-122"/>
                <a:ea typeface="微软雅黑" pitchFamily="34" charset="-122"/>
                <a:cs typeface="Courier New" pitchFamily="49" charset="0"/>
              </a:rPr>
              <a:t>5 </a:t>
            </a:r>
            <a:endParaRPr lang="en-US" altLang="zh-CN" sz="1200" dirty="0" smtClean="0">
              <a:solidFill>
                <a:srgbClr val="000000"/>
              </a:solidFill>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zh-CN" altLang="zh-CN" sz="1200" dirty="0" smtClean="0">
                <a:solidFill>
                  <a:srgbClr val="000000"/>
                </a:solidFill>
                <a:latin typeface="微软雅黑" pitchFamily="34" charset="-122"/>
                <a:ea typeface="微软雅黑" pitchFamily="34" charset="-122"/>
                <a:cs typeface="Courier New" pitchFamily="49" charset="0"/>
              </a:rPr>
              <a:t>144 </a:t>
            </a:r>
            <a:endParaRPr lang="en-US" altLang="zh-CN" sz="1200" dirty="0" smtClean="0">
              <a:solidFill>
                <a:srgbClr val="000000"/>
              </a:solidFill>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zh-CN" altLang="zh-CN" sz="1200" dirty="0" smtClean="0">
                <a:solidFill>
                  <a:srgbClr val="000000"/>
                </a:solidFill>
                <a:latin typeface="微软雅黑" pitchFamily="34" charset="-122"/>
                <a:ea typeface="微软雅黑" pitchFamily="34" charset="-122"/>
                <a:cs typeface="Courier New" pitchFamily="49" charset="0"/>
              </a:rPr>
              <a:t>51205 </a:t>
            </a:r>
          </a:p>
        </p:txBody>
      </p:sp>
    </p:spTree>
    <p:extLst>
      <p:ext uri="{BB962C8B-B14F-4D97-AF65-F5344CB8AC3E}">
        <p14:creationId xmlns:p14="http://schemas.microsoft.com/office/powerpoint/2010/main" xmlns="" val="154770225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a:extLst>
              <a:ext uri="{FF2B5EF4-FFF2-40B4-BE49-F238E27FC236}">
                <a16:creationId xmlns:a16="http://schemas.microsoft.com/office/drawing/2014/main" xmlns="" id="{56752723-DE7F-47E0-8824-38387C444C3E}"/>
              </a:ext>
            </a:extLst>
          </p:cNvPr>
          <p:cNvSpPr/>
          <p:nvPr/>
        </p:nvSpPr>
        <p:spPr>
          <a:xfrm>
            <a:off x="899604" y="1352496"/>
            <a:ext cx="1005281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问题分析</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p:txBody>
      </p:sp>
      <p:sp>
        <p:nvSpPr>
          <p:cNvPr id="4" name="矩形 3">
            <a:extLst>
              <a:ext uri="{FF2B5EF4-FFF2-40B4-BE49-F238E27FC236}">
                <a16:creationId xmlns:a16="http://schemas.microsoft.com/office/drawing/2014/main" xmlns="" id="{C30FA300-C328-4A21-90B3-63EA3C650C05}"/>
              </a:ext>
            </a:extLst>
          </p:cNvPr>
          <p:cNvSpPr/>
          <p:nvPr/>
        </p:nvSpPr>
        <p:spPr>
          <a:xfrm>
            <a:off x="-636233" y="1549251"/>
            <a:ext cx="9980682" cy="561179"/>
          </a:xfrm>
          <a:prstGeom prst="rect">
            <a:avLst/>
          </a:prstGeom>
        </p:spPr>
        <p:txBody>
          <a:bodyPr wrap="square">
            <a:spAutoFit/>
          </a:bodyPr>
          <a:lstStyle/>
          <a:p>
            <a:pPr>
              <a:lnSpc>
                <a:spcPct val="200000"/>
              </a:lnSpc>
            </a:pPr>
            <a:r>
              <a:rPr lang="en-US" altLang="zh-CN" dirty="0">
                <a:solidFill>
                  <a:srgbClr val="514843"/>
                </a:solidFill>
                <a:latin typeface="微软雅黑" panose="020B0503020204020204" pitchFamily="34" charset="-122"/>
                <a:ea typeface="微软雅黑" panose="020B0503020204020204" pitchFamily="34" charset="-122"/>
              </a:rPr>
              <a:t> </a:t>
            </a:r>
            <a:endParaRPr lang="zh-CN" altLang="en-US" sz="1600" dirty="0"/>
          </a:p>
        </p:txBody>
      </p:sp>
      <p:sp>
        <p:nvSpPr>
          <p:cNvPr id="6" name="矩形 5">
            <a:extLst>
              <a:ext uri="{FF2B5EF4-FFF2-40B4-BE49-F238E27FC236}">
                <a16:creationId xmlns:a16="http://schemas.microsoft.com/office/drawing/2014/main" xmlns="" id="{C83FBD9F-DA46-4D87-88B9-20AB80647106}"/>
              </a:ext>
            </a:extLst>
          </p:cNvPr>
          <p:cNvSpPr/>
          <p:nvPr/>
        </p:nvSpPr>
        <p:spPr>
          <a:xfrm>
            <a:off x="1104899" y="1829840"/>
            <a:ext cx="9980681" cy="3465179"/>
          </a:xfrm>
          <a:prstGeom prst="rect">
            <a:avLst/>
          </a:prstGeom>
        </p:spPr>
        <p:txBody>
          <a:bodyPr wrap="square">
            <a:spAutoFit/>
          </a:bodyPr>
          <a:lstStyle/>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该题给出的广场的面积很小，给出了一种</a:t>
            </a:r>
            <a:r>
              <a:rPr lang="en-US" altLang="zh-CN" sz="1600" dirty="0">
                <a:latin typeface="微软雅黑" panose="020B0503020204020204" pitchFamily="34" charset="-122"/>
                <a:ea typeface="微软雅黑" panose="020B0503020204020204" pitchFamily="34" charset="-122"/>
              </a:rPr>
              <a:t>1*2</a:t>
            </a:r>
            <a:r>
              <a:rPr lang="zh-CN" altLang="en-US" sz="1600" dirty="0">
                <a:latin typeface="微软雅黑" panose="020B0503020204020204" pitchFamily="34" charset="-122"/>
                <a:ea typeface="微软雅黑" panose="020B0503020204020204" pitchFamily="34" charset="-122"/>
              </a:rPr>
              <a:t>的砖，问用砖去铺广场有多少种铺法？</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因为</a:t>
            </a:r>
            <a:r>
              <a:rPr lang="en-US" altLang="zh-CN" sz="1600" dirty="0" err="1">
                <a:latin typeface="微软雅黑" panose="020B0503020204020204" pitchFamily="34" charset="-122"/>
                <a:ea typeface="微软雅黑" panose="020B0503020204020204" pitchFamily="34" charset="-122"/>
              </a:rPr>
              <a:t>w,h</a:t>
            </a:r>
            <a:r>
              <a:rPr lang="en-US" altLang="zh-CN" sz="1600" dirty="0">
                <a:latin typeface="微软雅黑" panose="020B0503020204020204" pitchFamily="34" charset="-122"/>
                <a:ea typeface="微软雅黑" panose="020B0503020204020204" pitchFamily="34" charset="-122"/>
              </a:rPr>
              <a:t>&lt;=11,</a:t>
            </a:r>
            <a:r>
              <a:rPr lang="zh-CN" altLang="en-US" sz="1600" dirty="0">
                <a:latin typeface="微软雅黑" panose="020B0503020204020204" pitchFamily="34" charset="-122"/>
                <a:ea typeface="微软雅黑" panose="020B0503020204020204" pitchFamily="34" charset="-122"/>
              </a:rPr>
              <a:t>很容易想到采用搜索的方法，可以采用深搜或宽搜均可。</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尽管</a:t>
            </a:r>
            <a:r>
              <a:rPr lang="en-US" altLang="zh-CN" sz="1600" dirty="0" err="1">
                <a:latin typeface="微软雅黑" panose="020B0503020204020204" pitchFamily="34" charset="-122"/>
                <a:ea typeface="微软雅黑" panose="020B0503020204020204" pitchFamily="34" charset="-122"/>
              </a:rPr>
              <a:t>w,h</a:t>
            </a:r>
            <a:r>
              <a:rPr lang="en-US" altLang="zh-CN" sz="1600" dirty="0">
                <a:latin typeface="微软雅黑" panose="020B0503020204020204" pitchFamily="34" charset="-122"/>
                <a:ea typeface="微软雅黑" panose="020B0503020204020204" pitchFamily="34" charset="-122"/>
              </a:rPr>
              <a:t>&lt;=11</a:t>
            </a:r>
            <a:r>
              <a:rPr lang="zh-CN" altLang="en-US" sz="1600" dirty="0">
                <a:latin typeface="微软雅黑" panose="020B0503020204020204" pitchFamily="34" charset="-122"/>
                <a:ea typeface="微软雅黑" panose="020B0503020204020204" pitchFamily="34" charset="-122"/>
              </a:rPr>
              <a:t>，不很大，但是用</a:t>
            </a:r>
            <a:r>
              <a:rPr lang="en-US" altLang="zh-CN" sz="1600" dirty="0">
                <a:latin typeface="微软雅黑" panose="020B0503020204020204" pitchFamily="34" charset="-122"/>
                <a:ea typeface="微软雅黑" panose="020B0503020204020204" pitchFamily="34" charset="-122"/>
              </a:rPr>
              <a:t>1*2</a:t>
            </a:r>
            <a:r>
              <a:rPr lang="zh-CN" altLang="en-US" sz="1600" dirty="0">
                <a:latin typeface="微软雅黑" panose="020B0503020204020204" pitchFamily="34" charset="-122"/>
                <a:ea typeface="微软雅黑" panose="020B0503020204020204" pitchFamily="34" charset="-122"/>
              </a:rPr>
              <a:t>的砖铺，深度最大可达到</a:t>
            </a:r>
            <a:r>
              <a:rPr lang="en-US" altLang="zh-CN" sz="1600" dirty="0">
                <a:latin typeface="微软雅黑" panose="020B0503020204020204" pitchFamily="34" charset="-122"/>
                <a:ea typeface="微软雅黑" panose="020B0503020204020204" pitchFamily="34" charset="-122"/>
              </a:rPr>
              <a:t>11</a:t>
            </a:r>
            <a:r>
              <a:rPr lang="zh-CN" altLang="en-US" sz="1600" dirty="0">
                <a:latin typeface="微软雅黑" panose="020B0503020204020204" pitchFamily="34" charset="-122"/>
                <a:ea typeface="微软雅黑" panose="020B0503020204020204" pitchFamily="34" charset="-122"/>
              </a:rPr>
              <a:t>，这样，如果采用深搜，对于每一层都需要回溯，时间复杂度也很高。</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如果采用宽搜，每一个点都有</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种铺法，因此可以扩展出</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个结点，要求所有的解，必须扩展全部树结构，如果</a:t>
            </a:r>
            <a:r>
              <a:rPr lang="en-US" altLang="zh-CN" sz="1600" dirty="0">
                <a:latin typeface="微软雅黑" panose="020B0503020204020204" pitchFamily="34" charset="-122"/>
                <a:ea typeface="微软雅黑" panose="020B0503020204020204" pitchFamily="34" charset="-122"/>
              </a:rPr>
              <a:t>11</a:t>
            </a:r>
            <a:r>
              <a:rPr lang="zh-CN" altLang="en-US" sz="1600" dirty="0">
                <a:latin typeface="微软雅黑" panose="020B0503020204020204" pitchFamily="34" charset="-122"/>
                <a:ea typeface="微软雅黑" panose="020B0503020204020204" pitchFamily="34" charset="-122"/>
              </a:rPr>
              <a:t>层结点，是个完全二叉树，结点数量可达</a:t>
            </a:r>
            <a:r>
              <a:rPr lang="en-US" altLang="zh-CN" sz="1600" dirty="0">
                <a:latin typeface="微软雅黑" panose="020B0503020204020204" pitchFamily="34" charset="-122"/>
                <a:ea typeface="微软雅黑" panose="020B0503020204020204" pitchFamily="34" charset="-122"/>
              </a:rPr>
              <a:t>211*11 =2121 </a:t>
            </a:r>
            <a:r>
              <a:rPr lang="zh-CN" altLang="en-US" sz="1600" dirty="0">
                <a:latin typeface="微软雅黑" panose="020B0503020204020204" pitchFamily="34" charset="-122"/>
                <a:ea typeface="微软雅黑" panose="020B0503020204020204" pitchFamily="34" charset="-122"/>
              </a:rPr>
              <a:t>，无论空间和时间都难以承受。</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因此我们需要采用其他方法。</a:t>
            </a:r>
            <a:endParaRPr lang="zh-CN" altLang="en-US" sz="1600" b="1" dirty="0">
              <a:solidFill>
                <a:schemeClr val="accent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xmlns="" val="104029182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a:extLst>
              <a:ext uri="{FF2B5EF4-FFF2-40B4-BE49-F238E27FC236}">
                <a16:creationId xmlns:a16="http://schemas.microsoft.com/office/drawing/2014/main" xmlns="" id="{56752723-DE7F-47E0-8824-38387C444C3E}"/>
              </a:ext>
            </a:extLst>
          </p:cNvPr>
          <p:cNvSpPr/>
          <p:nvPr/>
        </p:nvSpPr>
        <p:spPr>
          <a:xfrm>
            <a:off x="899604" y="1352496"/>
            <a:ext cx="1005281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问题分析</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p:txBody>
      </p:sp>
      <p:sp>
        <p:nvSpPr>
          <p:cNvPr id="4" name="矩形 3">
            <a:extLst>
              <a:ext uri="{FF2B5EF4-FFF2-40B4-BE49-F238E27FC236}">
                <a16:creationId xmlns:a16="http://schemas.microsoft.com/office/drawing/2014/main" xmlns="" id="{C30FA300-C328-4A21-90B3-63EA3C650C05}"/>
              </a:ext>
            </a:extLst>
          </p:cNvPr>
          <p:cNvSpPr/>
          <p:nvPr/>
        </p:nvSpPr>
        <p:spPr>
          <a:xfrm>
            <a:off x="-636233" y="1549251"/>
            <a:ext cx="9980682" cy="561179"/>
          </a:xfrm>
          <a:prstGeom prst="rect">
            <a:avLst/>
          </a:prstGeom>
        </p:spPr>
        <p:txBody>
          <a:bodyPr wrap="square">
            <a:spAutoFit/>
          </a:bodyPr>
          <a:lstStyle/>
          <a:p>
            <a:pPr>
              <a:lnSpc>
                <a:spcPct val="200000"/>
              </a:lnSpc>
            </a:pPr>
            <a:r>
              <a:rPr lang="en-US" altLang="zh-CN" dirty="0">
                <a:solidFill>
                  <a:srgbClr val="514843"/>
                </a:solidFill>
                <a:latin typeface="微软雅黑" panose="020B0503020204020204" pitchFamily="34" charset="-122"/>
                <a:ea typeface="微软雅黑" panose="020B0503020204020204" pitchFamily="34" charset="-122"/>
              </a:rPr>
              <a:t> </a:t>
            </a:r>
            <a:endParaRPr lang="zh-CN" altLang="en-US" sz="1600" dirty="0"/>
          </a:p>
        </p:txBody>
      </p:sp>
      <p:sp>
        <p:nvSpPr>
          <p:cNvPr id="6" name="矩形 5">
            <a:extLst>
              <a:ext uri="{FF2B5EF4-FFF2-40B4-BE49-F238E27FC236}">
                <a16:creationId xmlns:a16="http://schemas.microsoft.com/office/drawing/2014/main" xmlns="" id="{C83FBD9F-DA46-4D87-88B9-20AB80647106}"/>
              </a:ext>
            </a:extLst>
          </p:cNvPr>
          <p:cNvSpPr/>
          <p:nvPr/>
        </p:nvSpPr>
        <p:spPr>
          <a:xfrm>
            <a:off x="1104900" y="1670994"/>
            <a:ext cx="9980681" cy="3465179"/>
          </a:xfrm>
          <a:prstGeom prst="rect">
            <a:avLst/>
          </a:prstGeom>
        </p:spPr>
        <p:txBody>
          <a:bodyPr wrap="square">
            <a:spAutoFit/>
          </a:bodyPr>
          <a:lstStyle/>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性质</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：如果</a:t>
            </a:r>
            <a:r>
              <a:rPr lang="en-US" altLang="zh-CN" sz="1600" dirty="0">
                <a:latin typeface="微软雅黑" panose="020B0503020204020204" pitchFamily="34" charset="-122"/>
                <a:ea typeface="微软雅黑" panose="020B0503020204020204" pitchFamily="34" charset="-122"/>
              </a:rPr>
              <a:t>w</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h</a:t>
            </a:r>
            <a:r>
              <a:rPr lang="zh-CN" altLang="en-US" sz="1600" dirty="0">
                <a:latin typeface="微软雅黑" panose="020B0503020204020204" pitchFamily="34" charset="-122"/>
                <a:ea typeface="微软雅黑" panose="020B0503020204020204" pitchFamily="34" charset="-122"/>
              </a:rPr>
              <a:t>都是奇数，则无解，否则有解。</a:t>
            </a:r>
          </a:p>
          <a:p>
            <a:pPr>
              <a:lnSpc>
                <a:spcPct val="200000"/>
              </a:lnSpc>
            </a:pPr>
            <a:r>
              <a:rPr lang="zh-CN" altLang="en-US" sz="1600" dirty="0">
                <a:latin typeface="微软雅黑" panose="020B0503020204020204" pitchFamily="34" charset="-122"/>
                <a:ea typeface="微软雅黑" panose="020B0503020204020204" pitchFamily="34" charset="-122"/>
              </a:rPr>
              <a:t>     证明：</a:t>
            </a:r>
            <a:r>
              <a:rPr lang="en-US" altLang="zh-CN" sz="1600" dirty="0" err="1">
                <a:latin typeface="微软雅黑" panose="020B0503020204020204" pitchFamily="34" charset="-122"/>
                <a:ea typeface="微软雅黑" panose="020B0503020204020204" pitchFamily="34" charset="-122"/>
              </a:rPr>
              <a:t>w,h</a:t>
            </a:r>
            <a:r>
              <a:rPr lang="zh-CN" altLang="en-US" sz="1600" dirty="0">
                <a:latin typeface="微软雅黑" panose="020B0503020204020204" pitchFamily="34" charset="-122"/>
                <a:ea typeface="微软雅黑" panose="020B0503020204020204" pitchFamily="34" charset="-122"/>
              </a:rPr>
              <a:t>都是奇数，则</a:t>
            </a:r>
            <a:r>
              <a:rPr lang="en-US" altLang="zh-CN" sz="1600" dirty="0">
                <a:latin typeface="微软雅黑" panose="020B0503020204020204" pitchFamily="34" charset="-122"/>
                <a:ea typeface="微软雅黑" panose="020B0503020204020204" pitchFamily="34" charset="-122"/>
              </a:rPr>
              <a:t>w*h</a:t>
            </a:r>
            <a:r>
              <a:rPr lang="zh-CN" altLang="en-US" sz="1600" dirty="0">
                <a:latin typeface="微软雅黑" panose="020B0503020204020204" pitchFamily="34" charset="-122"/>
                <a:ea typeface="微软雅黑" panose="020B0503020204020204" pitchFamily="34" charset="-122"/>
              </a:rPr>
              <a:t>也是奇数，由于</a:t>
            </a:r>
            <a:r>
              <a:rPr lang="en-US" altLang="zh-CN" sz="1600" dirty="0">
                <a:latin typeface="微软雅黑" panose="020B0503020204020204" pitchFamily="34" charset="-122"/>
                <a:ea typeface="微软雅黑" panose="020B0503020204020204" pitchFamily="34" charset="-122"/>
              </a:rPr>
              <a:t>1×2</a:t>
            </a:r>
            <a:r>
              <a:rPr lang="zh-CN" altLang="en-US" sz="1600" dirty="0">
                <a:latin typeface="微软雅黑" panose="020B0503020204020204" pitchFamily="34" charset="-122"/>
                <a:ea typeface="微软雅黑" panose="020B0503020204020204" pitchFamily="34" charset="-122"/>
              </a:rPr>
              <a:t>的砖有</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块，因此无论铺多少块都是偶数，因此不能覆盖所有的地板。如果地板的面积</a:t>
            </a:r>
            <a:r>
              <a:rPr lang="en-US" altLang="zh-CN" sz="1600" dirty="0">
                <a:latin typeface="微软雅黑" panose="020B0503020204020204" pitchFamily="34" charset="-122"/>
                <a:ea typeface="微软雅黑" panose="020B0503020204020204" pitchFamily="34" charset="-122"/>
              </a:rPr>
              <a:t>S</a:t>
            </a:r>
            <a:r>
              <a:rPr lang="zh-CN" altLang="en-US" sz="1600" dirty="0">
                <a:latin typeface="微软雅黑" panose="020B0503020204020204" pitchFamily="34" charset="-122"/>
                <a:ea typeface="微软雅黑" panose="020B0503020204020204" pitchFamily="34" charset="-122"/>
              </a:rPr>
              <a:t>是偶数，肯定能被</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整除，因此可以用</a:t>
            </a:r>
            <a:r>
              <a:rPr lang="en-US" altLang="zh-CN" sz="1600" dirty="0">
                <a:latin typeface="微软雅黑" panose="020B0503020204020204" pitchFamily="34" charset="-122"/>
                <a:ea typeface="微软雅黑" panose="020B0503020204020204" pitchFamily="34" charset="-122"/>
              </a:rPr>
              <a:t>S/2</a:t>
            </a:r>
            <a:r>
              <a:rPr lang="zh-CN" altLang="en-US" sz="1600" dirty="0">
                <a:latin typeface="微软雅黑" panose="020B0503020204020204" pitchFamily="34" charset="-122"/>
                <a:ea typeface="微软雅黑" panose="020B0503020204020204" pitchFamily="34" charset="-122"/>
              </a:rPr>
              <a:t>块砖铺满整个地板。</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性质</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：对于每铺一次地板，只会影响所铺的上下两行。</a:t>
            </a:r>
          </a:p>
          <a:p>
            <a:pPr>
              <a:lnSpc>
                <a:spcPct val="200000"/>
              </a:lnSpc>
            </a:pPr>
            <a:r>
              <a:rPr lang="zh-CN" altLang="en-US" sz="1600" dirty="0">
                <a:latin typeface="微软雅黑" panose="020B0503020204020204" pitchFamily="34" charset="-122"/>
                <a:ea typeface="微软雅黑" panose="020B0503020204020204" pitchFamily="34" charset="-122"/>
              </a:rPr>
              <a:t>     证明：因为是</a:t>
            </a:r>
            <a:r>
              <a:rPr lang="en-US" altLang="zh-CN" sz="1600" dirty="0">
                <a:latin typeface="微软雅黑" panose="020B0503020204020204" pitchFamily="34" charset="-122"/>
                <a:ea typeface="微软雅黑" panose="020B0503020204020204" pitchFamily="34" charset="-122"/>
              </a:rPr>
              <a:t>1×2</a:t>
            </a:r>
            <a:r>
              <a:rPr lang="zh-CN" altLang="en-US" sz="1600" dirty="0">
                <a:latin typeface="微软雅黑" panose="020B0503020204020204" pitchFamily="34" charset="-122"/>
                <a:ea typeface="微软雅黑" panose="020B0503020204020204" pitchFamily="34" charset="-122"/>
              </a:rPr>
              <a:t>的砖铺，性质显然。</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性质</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：如果按行铺地板，每一行的铺法都类似。</a:t>
            </a:r>
          </a:p>
          <a:p>
            <a:pPr>
              <a:lnSpc>
                <a:spcPct val="200000"/>
              </a:lnSpc>
            </a:pPr>
            <a:r>
              <a:rPr lang="zh-CN" altLang="en-US" sz="1600" dirty="0">
                <a:latin typeface="微软雅黑" panose="020B0503020204020204" pitchFamily="34" charset="-122"/>
                <a:ea typeface="微软雅黑" panose="020B0503020204020204" pitchFamily="34" charset="-122"/>
              </a:rPr>
              <a:t>     证明：显然！</a:t>
            </a:r>
          </a:p>
        </p:txBody>
      </p:sp>
    </p:spTree>
    <p:extLst>
      <p:ext uri="{BB962C8B-B14F-4D97-AF65-F5344CB8AC3E}">
        <p14:creationId xmlns:p14="http://schemas.microsoft.com/office/powerpoint/2010/main" xmlns="" val="30999118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a:extLst>
              <a:ext uri="{FF2B5EF4-FFF2-40B4-BE49-F238E27FC236}">
                <a16:creationId xmlns:a16="http://schemas.microsoft.com/office/drawing/2014/main" xmlns="" id="{56752723-DE7F-47E0-8824-38387C444C3E}"/>
              </a:ext>
            </a:extLst>
          </p:cNvPr>
          <p:cNvSpPr/>
          <p:nvPr/>
        </p:nvSpPr>
        <p:spPr>
          <a:xfrm>
            <a:off x="899604" y="1352496"/>
            <a:ext cx="1005281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问题分析</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p:txBody>
      </p:sp>
      <p:sp>
        <p:nvSpPr>
          <p:cNvPr id="4" name="矩形 3">
            <a:extLst>
              <a:ext uri="{FF2B5EF4-FFF2-40B4-BE49-F238E27FC236}">
                <a16:creationId xmlns:a16="http://schemas.microsoft.com/office/drawing/2014/main" xmlns="" id="{C30FA300-C328-4A21-90B3-63EA3C650C05}"/>
              </a:ext>
            </a:extLst>
          </p:cNvPr>
          <p:cNvSpPr/>
          <p:nvPr/>
        </p:nvSpPr>
        <p:spPr>
          <a:xfrm>
            <a:off x="-636233" y="1549251"/>
            <a:ext cx="9980682" cy="561179"/>
          </a:xfrm>
          <a:prstGeom prst="rect">
            <a:avLst/>
          </a:prstGeom>
        </p:spPr>
        <p:txBody>
          <a:bodyPr wrap="square">
            <a:spAutoFit/>
          </a:bodyPr>
          <a:lstStyle/>
          <a:p>
            <a:pPr>
              <a:lnSpc>
                <a:spcPct val="200000"/>
              </a:lnSpc>
            </a:pPr>
            <a:r>
              <a:rPr lang="en-US" altLang="zh-CN" dirty="0">
                <a:solidFill>
                  <a:srgbClr val="514843"/>
                </a:solidFill>
                <a:latin typeface="微软雅黑" panose="020B0503020204020204" pitchFamily="34" charset="-122"/>
                <a:ea typeface="微软雅黑" panose="020B0503020204020204" pitchFamily="34" charset="-122"/>
              </a:rPr>
              <a:t> </a:t>
            </a:r>
            <a:endParaRPr lang="zh-CN" altLang="en-US" sz="1600" dirty="0"/>
          </a:p>
        </p:txBody>
      </p:sp>
      <p:pic>
        <p:nvPicPr>
          <p:cNvPr id="10" name="图片 3">
            <a:extLst>
              <a:ext uri="{FF2B5EF4-FFF2-40B4-BE49-F238E27FC236}">
                <a16:creationId xmlns:a16="http://schemas.microsoft.com/office/drawing/2014/main" xmlns="" id="{2F9CDF62-FD1D-48D3-80A7-0DC2A9F83986}"/>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182624" y="2550445"/>
            <a:ext cx="7042150" cy="2409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 name="矩形 2">
            <a:extLst>
              <a:ext uri="{FF2B5EF4-FFF2-40B4-BE49-F238E27FC236}">
                <a16:creationId xmlns:a16="http://schemas.microsoft.com/office/drawing/2014/main" xmlns="" id="{AD5A8238-85C0-444F-BDD5-97143E00A07D}"/>
              </a:ext>
            </a:extLst>
          </p:cNvPr>
          <p:cNvSpPr/>
          <p:nvPr/>
        </p:nvSpPr>
        <p:spPr>
          <a:xfrm>
            <a:off x="1106418" y="1721828"/>
            <a:ext cx="9902958" cy="4391523"/>
          </a:xfrm>
          <a:prstGeom prst="rect">
            <a:avLst/>
          </a:prstGeom>
        </p:spPr>
        <p:txBody>
          <a:bodyPr wrap="square">
            <a:spAutoFit/>
          </a:bodyPr>
          <a:lstStyle/>
          <a:p>
            <a:pPr marL="342900" lvl="0" indent="-342900">
              <a:lnSpc>
                <a:spcPct val="200000"/>
              </a:lnSpc>
              <a:spcBef>
                <a:spcPct val="20000"/>
              </a:spcBef>
              <a:buFont typeface="Arial" panose="020B0604020202020204" pitchFamily="34" charset="0"/>
              <a:buChar char="•"/>
              <a:defRPr/>
            </a:pPr>
            <a:r>
              <a:rPr lang="zh-CN" altLang="en-US" dirty="0">
                <a:latin typeface="微软雅黑" panose="020B0503020204020204" pitchFamily="34" charset="-122"/>
                <a:ea typeface="微软雅黑" panose="020B0503020204020204" pitchFamily="34" charset="-122"/>
              </a:rPr>
              <a:t>一个</a:t>
            </a:r>
            <a:r>
              <a:rPr lang="en-US" altLang="zh-CN" dirty="0">
                <a:latin typeface="微软雅黑" panose="020B0503020204020204" pitchFamily="34" charset="-122"/>
                <a:ea typeface="微软雅黑" panose="020B0503020204020204" pitchFamily="34" charset="-122"/>
              </a:rPr>
              <a:t>6×9</a:t>
            </a:r>
            <a:r>
              <a:rPr lang="zh-CN" altLang="en-US" dirty="0">
                <a:latin typeface="微软雅黑" panose="020B0503020204020204" pitchFamily="34" charset="-122"/>
                <a:ea typeface="微软雅黑" panose="020B0503020204020204" pitchFamily="34" charset="-122"/>
              </a:rPr>
              <a:t>的面积铺法如下图</a:t>
            </a:r>
            <a:endParaRPr lang="en-US" altLang="zh-CN" sz="3200" b="1" dirty="0">
              <a:solidFill>
                <a:sysClr val="windowText" lastClr="000000"/>
              </a:solidFill>
              <a:latin typeface="微软雅黑" panose="020B0503020204020204" pitchFamily="34" charset="-122"/>
              <a:ea typeface="微软雅黑" panose="020B0503020204020204" pitchFamily="34" charset="-122"/>
            </a:endParaRPr>
          </a:p>
          <a:p>
            <a:pPr marL="342900" lvl="0" indent="-342900">
              <a:lnSpc>
                <a:spcPct val="200000"/>
              </a:lnSpc>
              <a:spcBef>
                <a:spcPct val="20000"/>
              </a:spcBef>
              <a:buFont typeface="Arial" panose="020B0604020202020204" pitchFamily="34" charset="0"/>
              <a:buChar char="•"/>
              <a:defRPr/>
            </a:pPr>
            <a:endParaRPr lang="en-US" altLang="zh-CN" sz="3200" b="1" dirty="0">
              <a:solidFill>
                <a:sysClr val="windowText" lastClr="000000"/>
              </a:solidFill>
              <a:latin typeface="微软雅黑" panose="020B0503020204020204" pitchFamily="34" charset="-122"/>
              <a:ea typeface="微软雅黑" panose="020B0503020204020204" pitchFamily="34" charset="-122"/>
            </a:endParaRPr>
          </a:p>
          <a:p>
            <a:pPr lvl="0">
              <a:lnSpc>
                <a:spcPct val="200000"/>
              </a:lnSpc>
              <a:spcBef>
                <a:spcPct val="20000"/>
              </a:spcBef>
              <a:defRPr/>
            </a:pPr>
            <a:endParaRPr lang="en-US" altLang="zh-CN" sz="3200" b="1" dirty="0">
              <a:solidFill>
                <a:sysClr val="windowText" lastClr="000000"/>
              </a:solidFill>
              <a:latin typeface="微软雅黑" panose="020B0503020204020204" pitchFamily="34" charset="-122"/>
              <a:ea typeface="微软雅黑" panose="020B0503020204020204" pitchFamily="34" charset="-122"/>
            </a:endParaRPr>
          </a:p>
          <a:p>
            <a:pPr>
              <a:lnSpc>
                <a:spcPct val="200000"/>
              </a:lnSpc>
              <a:defRPr/>
            </a:pPr>
            <a:endParaRPr lang="en-US" altLang="zh-CN" dirty="0">
              <a:latin typeface="微软雅黑" panose="020B0503020204020204" pitchFamily="34" charset="-122"/>
              <a:ea typeface="微软雅黑" panose="020B0503020204020204" pitchFamily="34" charset="-122"/>
            </a:endParaRPr>
          </a:p>
          <a:p>
            <a:pPr>
              <a:lnSpc>
                <a:spcPct val="200000"/>
              </a:lnSpc>
              <a:defRPr/>
            </a:pPr>
            <a:r>
              <a:rPr lang="zh-CN" altLang="en-US" dirty="0">
                <a:latin typeface="微软雅黑" panose="020B0503020204020204" pitchFamily="34" charset="-122"/>
                <a:ea typeface="微软雅黑" panose="020B0503020204020204" pitchFamily="34" charset="-122"/>
              </a:rPr>
              <a:t>可以看出，在按行铺的过程中，某些砖会分成两半，如图</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，但最多也是向下突出一格，在图</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中，我们将图</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的空隙填满，则又转移到了下一种状态。</a:t>
            </a:r>
          </a:p>
        </p:txBody>
      </p:sp>
    </p:spTree>
    <p:extLst>
      <p:ext uri="{BB962C8B-B14F-4D97-AF65-F5344CB8AC3E}">
        <p14:creationId xmlns:p14="http://schemas.microsoft.com/office/powerpoint/2010/main" xmlns="" val="373440494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a:extLst>
              <a:ext uri="{FF2B5EF4-FFF2-40B4-BE49-F238E27FC236}">
                <a16:creationId xmlns:a16="http://schemas.microsoft.com/office/drawing/2014/main" xmlns="" id="{56752723-DE7F-47E0-8824-38387C444C3E}"/>
              </a:ext>
            </a:extLst>
          </p:cNvPr>
          <p:cNvSpPr/>
          <p:nvPr/>
        </p:nvSpPr>
        <p:spPr>
          <a:xfrm>
            <a:off x="899604" y="1352496"/>
            <a:ext cx="1005281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问题分析</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p:txBody>
      </p:sp>
      <p:sp>
        <p:nvSpPr>
          <p:cNvPr id="4" name="矩形 3">
            <a:extLst>
              <a:ext uri="{FF2B5EF4-FFF2-40B4-BE49-F238E27FC236}">
                <a16:creationId xmlns:a16="http://schemas.microsoft.com/office/drawing/2014/main" xmlns="" id="{C30FA300-C328-4A21-90B3-63EA3C650C05}"/>
              </a:ext>
            </a:extLst>
          </p:cNvPr>
          <p:cNvSpPr/>
          <p:nvPr/>
        </p:nvSpPr>
        <p:spPr>
          <a:xfrm>
            <a:off x="-636233" y="1549251"/>
            <a:ext cx="9980682" cy="561179"/>
          </a:xfrm>
          <a:prstGeom prst="rect">
            <a:avLst/>
          </a:prstGeom>
        </p:spPr>
        <p:txBody>
          <a:bodyPr wrap="square">
            <a:spAutoFit/>
          </a:bodyPr>
          <a:lstStyle/>
          <a:p>
            <a:pPr>
              <a:lnSpc>
                <a:spcPct val="200000"/>
              </a:lnSpc>
            </a:pPr>
            <a:r>
              <a:rPr lang="en-US" altLang="zh-CN" dirty="0">
                <a:solidFill>
                  <a:srgbClr val="514843"/>
                </a:solidFill>
                <a:latin typeface="微软雅黑" panose="020B0503020204020204" pitchFamily="34" charset="-122"/>
                <a:ea typeface="微软雅黑" panose="020B0503020204020204" pitchFamily="34" charset="-122"/>
              </a:rPr>
              <a:t> </a:t>
            </a:r>
            <a:endParaRPr lang="zh-CN" altLang="en-US" sz="1600" dirty="0"/>
          </a:p>
        </p:txBody>
      </p:sp>
      <p:sp>
        <p:nvSpPr>
          <p:cNvPr id="6" name="矩形 5">
            <a:extLst>
              <a:ext uri="{FF2B5EF4-FFF2-40B4-BE49-F238E27FC236}">
                <a16:creationId xmlns:a16="http://schemas.microsoft.com/office/drawing/2014/main" xmlns="" id="{C83FBD9F-DA46-4D87-88B9-20AB80647106}"/>
              </a:ext>
            </a:extLst>
          </p:cNvPr>
          <p:cNvSpPr/>
          <p:nvPr/>
        </p:nvSpPr>
        <p:spPr>
          <a:xfrm>
            <a:off x="1042756" y="1635483"/>
            <a:ext cx="10052813" cy="3957622"/>
          </a:xfrm>
          <a:prstGeom prst="rect">
            <a:avLst/>
          </a:prstGeom>
        </p:spPr>
        <p:txBody>
          <a:bodyPr wrap="square">
            <a:spAutoFit/>
          </a:bodyPr>
          <a:lstStyle/>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行号作为</a:t>
            </a:r>
            <a:r>
              <a:rPr lang="en-US" altLang="zh-CN" sz="1600" dirty="0">
                <a:latin typeface="微软雅黑" panose="020B0503020204020204" pitchFamily="34" charset="-122"/>
                <a:ea typeface="微软雅黑" panose="020B0503020204020204" pitchFamily="34" charset="-122"/>
              </a:rPr>
              <a:t>DP</a:t>
            </a:r>
            <a:r>
              <a:rPr lang="zh-CN" altLang="en-US" sz="1600" dirty="0">
                <a:latin typeface="微软雅黑" panose="020B0503020204020204" pitchFamily="34" charset="-122"/>
                <a:ea typeface="微软雅黑" panose="020B0503020204020204" pitchFamily="34" charset="-122"/>
              </a:rPr>
              <a:t>的阶段，把上半部分不断向下扩展，直至确定整个棋盘的的分割方法。我们使用一个</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位二进制，其中第</a:t>
            </a:r>
            <a:r>
              <a:rPr lang="en-US" altLang="zh-CN" sz="1600" dirty="0">
                <a:latin typeface="微软雅黑" panose="020B0503020204020204" pitchFamily="34" charset="-122"/>
                <a:ea typeface="微软雅黑" panose="020B0503020204020204" pitchFamily="34" charset="-122"/>
              </a:rPr>
              <a:t>k</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0&lt;=k&lt;M</a:t>
            </a:r>
            <a:r>
              <a:rPr lang="zh-CN" altLang="en-US" sz="1600" dirty="0">
                <a:latin typeface="微软雅黑" panose="020B0503020204020204" pitchFamily="34" charset="-122"/>
                <a:ea typeface="微软雅黑" panose="020B0503020204020204" pitchFamily="34" charset="-122"/>
              </a:rPr>
              <a:t>）位为</a:t>
            </a:r>
            <a:r>
              <a:rPr lang="en-US" altLang="zh-CN" sz="1600" b="1" dirty="0">
                <a:solidFill>
                  <a:schemeClr val="accent2"/>
                </a:solidFill>
                <a:latin typeface="微软雅黑" panose="020B0503020204020204" pitchFamily="34" charset="-122"/>
                <a:ea typeface="微软雅黑" panose="020B0503020204020204" pitchFamily="34" charset="-122"/>
              </a:rPr>
              <a:t>1</a:t>
            </a:r>
            <a:r>
              <a:rPr lang="zh-CN" altLang="en-US" sz="1600" b="1" dirty="0">
                <a:solidFill>
                  <a:schemeClr val="accent2"/>
                </a:solidFill>
                <a:latin typeface="微软雅黑" panose="020B0503020204020204" pitchFamily="34" charset="-122"/>
                <a:ea typeface="微软雅黑" panose="020B0503020204020204" pitchFamily="34" charset="-122"/>
              </a:rPr>
              <a:t>表示第</a:t>
            </a:r>
            <a:r>
              <a:rPr lang="en-US" altLang="zh-CN" sz="1600" b="1" dirty="0">
                <a:solidFill>
                  <a:schemeClr val="accent2"/>
                </a:solidFill>
                <a:latin typeface="微软雅黑" panose="020B0503020204020204" pitchFamily="34" charset="-122"/>
                <a:ea typeface="微软雅黑" panose="020B0503020204020204" pitchFamily="34" charset="-122"/>
              </a:rPr>
              <a:t>k</a:t>
            </a:r>
            <a:r>
              <a:rPr lang="zh-CN" altLang="en-US" sz="1600" b="1" dirty="0">
                <a:solidFill>
                  <a:schemeClr val="accent2"/>
                </a:solidFill>
                <a:latin typeface="微软雅黑" panose="020B0503020204020204" pitchFamily="34" charset="-122"/>
                <a:ea typeface="微软雅黑" panose="020B0503020204020204" pitchFamily="34" charset="-122"/>
              </a:rPr>
              <a:t>列是一个竖着的</a:t>
            </a:r>
            <a:r>
              <a:rPr lang="en-US" altLang="zh-CN" sz="1600" b="1" dirty="0">
                <a:solidFill>
                  <a:schemeClr val="accent2"/>
                </a:solidFill>
                <a:latin typeface="微软雅黑" panose="020B0503020204020204" pitchFamily="34" charset="-122"/>
                <a:ea typeface="微软雅黑" panose="020B0503020204020204" pitchFamily="34" charset="-122"/>
              </a:rPr>
              <a:t>1*2</a:t>
            </a:r>
            <a:r>
              <a:rPr lang="zh-CN" altLang="en-US" sz="1600" b="1" dirty="0">
                <a:solidFill>
                  <a:schemeClr val="accent2"/>
                </a:solidFill>
                <a:latin typeface="微软雅黑" panose="020B0503020204020204" pitchFamily="34" charset="-122"/>
                <a:ea typeface="微软雅黑" panose="020B0503020204020204" pitchFamily="34" charset="-122"/>
              </a:rPr>
              <a:t>长方形的上面一半 </a:t>
            </a:r>
            <a:r>
              <a:rPr lang="zh-CN" altLang="en-US" sz="1600" dirty="0">
                <a:latin typeface="微软雅黑" panose="020B0503020204020204" pitchFamily="34" charset="-122"/>
                <a:ea typeface="微软雅黑" panose="020B0503020204020204" pitchFamily="34" charset="-122"/>
              </a:rPr>
              <a:t>，</a:t>
            </a:r>
            <a:r>
              <a:rPr lang="zh-CN" altLang="en-US" sz="1600" b="1" dirty="0">
                <a:solidFill>
                  <a:schemeClr val="accent2"/>
                </a:solidFill>
                <a:latin typeface="微软雅黑" panose="020B0503020204020204" pitchFamily="34" charset="-122"/>
                <a:ea typeface="微软雅黑" panose="020B0503020204020204" pitchFamily="34" charset="-122"/>
              </a:rPr>
              <a:t>第</a:t>
            </a:r>
            <a:r>
              <a:rPr lang="en-US" altLang="zh-CN" sz="1600" b="1" dirty="0">
                <a:solidFill>
                  <a:schemeClr val="accent2"/>
                </a:solidFill>
                <a:latin typeface="微软雅黑" panose="020B0503020204020204" pitchFamily="34" charset="-122"/>
                <a:ea typeface="微软雅黑" panose="020B0503020204020204" pitchFamily="34" charset="-122"/>
              </a:rPr>
              <a:t>k</a:t>
            </a:r>
            <a:r>
              <a:rPr lang="zh-CN" altLang="en-US" sz="1600" b="1" dirty="0">
                <a:solidFill>
                  <a:schemeClr val="accent2"/>
                </a:solidFill>
                <a:latin typeface="微软雅黑" panose="020B0503020204020204" pitchFamily="34" charset="-122"/>
                <a:ea typeface="微软雅黑" panose="020B0503020204020204" pitchFamily="34" charset="-122"/>
              </a:rPr>
              <a:t>为</a:t>
            </a:r>
            <a:r>
              <a:rPr lang="en-US" altLang="zh-CN" sz="1600" b="1" dirty="0">
                <a:solidFill>
                  <a:schemeClr val="accent2"/>
                </a:solidFill>
                <a:latin typeface="微软雅黑" panose="020B0503020204020204" pitchFamily="34" charset="-122"/>
                <a:ea typeface="微软雅黑" panose="020B0503020204020204" pitchFamily="34" charset="-122"/>
              </a:rPr>
              <a:t>0</a:t>
            </a:r>
            <a:r>
              <a:rPr lang="zh-CN" altLang="en-US" sz="1600" b="1" dirty="0">
                <a:solidFill>
                  <a:schemeClr val="accent2"/>
                </a:solidFill>
                <a:latin typeface="微软雅黑" panose="020B0503020204020204" pitchFamily="34" charset="-122"/>
                <a:ea typeface="微软雅黑" panose="020B0503020204020204" pitchFamily="34" charset="-122"/>
              </a:rPr>
              <a:t>表示其他情况</a:t>
            </a:r>
            <a:r>
              <a:rPr lang="zh-CN" altLang="en-US" sz="1600" dirty="0">
                <a:latin typeface="微软雅黑" panose="020B0503020204020204" pitchFamily="34" charset="-122"/>
                <a:ea typeface="微软雅黑" panose="020B0503020204020204" pitchFamily="34" charset="-122"/>
              </a:rPr>
              <a:t>。</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设</a:t>
            </a:r>
            <a:r>
              <a:rPr lang="en-US" altLang="zh-CN" sz="1600" b="1" dirty="0">
                <a:solidFill>
                  <a:schemeClr val="accent2"/>
                </a:solidFill>
                <a:latin typeface="微软雅黑" panose="020B0503020204020204" pitchFamily="34" charset="-122"/>
                <a:ea typeface="微软雅黑" panose="020B0503020204020204" pitchFamily="34" charset="-122"/>
              </a:rPr>
              <a:t>F[</a:t>
            </a:r>
            <a:r>
              <a:rPr lang="en-US" altLang="zh-CN" sz="1600" b="1" dirty="0" err="1">
                <a:solidFill>
                  <a:schemeClr val="accent2"/>
                </a:solidFill>
                <a:latin typeface="微软雅黑" panose="020B0503020204020204" pitchFamily="34" charset="-122"/>
                <a:ea typeface="微软雅黑" panose="020B0503020204020204" pitchFamily="34" charset="-122"/>
              </a:rPr>
              <a:t>i,j</a:t>
            </a:r>
            <a:r>
              <a:rPr lang="en-US" altLang="zh-CN" sz="1600" b="1" dirty="0">
                <a:solidFill>
                  <a:schemeClr val="accent2"/>
                </a:solidFill>
                <a:latin typeface="微软雅黑" panose="020B0503020204020204" pitchFamily="34" charset="-122"/>
                <a:ea typeface="微软雅黑" panose="020B0503020204020204" pitchFamily="34" charset="-122"/>
              </a:rPr>
              <a:t>]</a:t>
            </a:r>
            <a:r>
              <a:rPr lang="zh-CN" altLang="en-US" sz="1600" b="1" dirty="0">
                <a:solidFill>
                  <a:schemeClr val="accent2"/>
                </a:solidFill>
                <a:latin typeface="微软雅黑" panose="020B0503020204020204" pitchFamily="34" charset="-122"/>
                <a:ea typeface="微软雅黑" panose="020B0503020204020204" pitchFamily="34" charset="-122"/>
              </a:rPr>
              <a:t>表示第</a:t>
            </a:r>
            <a:r>
              <a:rPr lang="en-US" altLang="zh-CN" sz="1600" b="1" dirty="0" err="1">
                <a:solidFill>
                  <a:schemeClr val="accent2"/>
                </a:solidFill>
                <a:latin typeface="微软雅黑" panose="020B0503020204020204" pitchFamily="34" charset="-122"/>
                <a:ea typeface="微软雅黑" panose="020B0503020204020204" pitchFamily="34" charset="-122"/>
              </a:rPr>
              <a:t>i</a:t>
            </a:r>
            <a:r>
              <a:rPr lang="zh-CN" altLang="en-US" sz="1600" b="1" dirty="0">
                <a:solidFill>
                  <a:schemeClr val="accent2"/>
                </a:solidFill>
                <a:latin typeface="微软雅黑" panose="020B0503020204020204" pitchFamily="34" charset="-122"/>
                <a:ea typeface="微软雅黑" panose="020B0503020204020204" pitchFamily="34" charset="-122"/>
              </a:rPr>
              <a:t>行的形态为</a:t>
            </a:r>
            <a:r>
              <a:rPr lang="en-US" altLang="zh-CN" sz="1600" b="1" dirty="0">
                <a:solidFill>
                  <a:schemeClr val="accent2"/>
                </a:solidFill>
                <a:latin typeface="微软雅黑" panose="020B0503020204020204" pitchFamily="34" charset="-122"/>
                <a:ea typeface="微软雅黑" panose="020B0503020204020204" pitchFamily="34" charset="-122"/>
              </a:rPr>
              <a:t>j</a:t>
            </a:r>
            <a:r>
              <a:rPr lang="zh-CN" altLang="en-US" sz="1600" b="1" dirty="0">
                <a:solidFill>
                  <a:schemeClr val="accent2"/>
                </a:solidFill>
                <a:latin typeface="微软雅黑" panose="020B0503020204020204" pitchFamily="34" charset="-122"/>
                <a:ea typeface="微软雅黑" panose="020B0503020204020204" pitchFamily="34" charset="-122"/>
              </a:rPr>
              <a:t>时，前</a:t>
            </a:r>
            <a:r>
              <a:rPr lang="en-US" altLang="zh-CN" sz="1600" b="1" dirty="0" err="1">
                <a:solidFill>
                  <a:schemeClr val="accent2"/>
                </a:solidFill>
                <a:latin typeface="微软雅黑" panose="020B0503020204020204" pitchFamily="34" charset="-122"/>
                <a:ea typeface="微软雅黑" panose="020B0503020204020204" pitchFamily="34" charset="-122"/>
              </a:rPr>
              <a:t>i</a:t>
            </a:r>
            <a:r>
              <a:rPr lang="zh-CN" altLang="en-US" sz="1600" b="1" dirty="0">
                <a:solidFill>
                  <a:schemeClr val="accent2"/>
                </a:solidFill>
                <a:latin typeface="微软雅黑" panose="020B0503020204020204" pitchFamily="34" charset="-122"/>
                <a:ea typeface="微软雅黑" panose="020B0503020204020204" pitchFamily="34" charset="-122"/>
              </a:rPr>
              <a:t>行分割方案的总数</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j</a:t>
            </a:r>
            <a:r>
              <a:rPr lang="zh-CN" altLang="en-US" sz="1600" dirty="0">
                <a:latin typeface="微软雅黑" panose="020B0503020204020204" pitchFamily="34" charset="-122"/>
                <a:ea typeface="微软雅黑" panose="020B0503020204020204" pitchFamily="34" charset="-122"/>
              </a:rPr>
              <a:t>是用进制整数记录的</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位二进制</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i-1</a:t>
            </a:r>
            <a:r>
              <a:rPr lang="zh-CN" altLang="en-US" sz="1600" dirty="0">
                <a:latin typeface="微软雅黑" panose="020B0503020204020204" pitchFamily="34" charset="-122"/>
                <a:ea typeface="微软雅黑" panose="020B0503020204020204" pitchFamily="34" charset="-122"/>
              </a:rPr>
              <a:t>行的形态</a:t>
            </a:r>
            <a:r>
              <a:rPr lang="en-US" altLang="zh-CN" sz="1600" dirty="0">
                <a:latin typeface="微软雅黑" panose="020B0503020204020204" pitchFamily="34" charset="-122"/>
                <a:ea typeface="微软雅黑" panose="020B0503020204020204" pitchFamily="34" charset="-122"/>
              </a:rPr>
              <a:t>k</a:t>
            </a:r>
            <a:r>
              <a:rPr lang="zh-CN" altLang="en-US" sz="1600" dirty="0">
                <a:latin typeface="微软雅黑" panose="020B0503020204020204" pitchFamily="34" charset="-122"/>
                <a:ea typeface="微软雅黑" panose="020B0503020204020204" pitchFamily="34" charset="-122"/>
              </a:rPr>
              <a:t>能转移到第</a:t>
            </a:r>
            <a:r>
              <a:rPr lang="en-US" altLang="zh-CN" sz="1600" dirty="0" err="1">
                <a:latin typeface="微软雅黑" panose="020B0503020204020204" pitchFamily="34" charset="-122"/>
                <a:ea typeface="微软雅黑" panose="020B0503020204020204" pitchFamily="34" charset="-122"/>
              </a:rPr>
              <a:t>i</a:t>
            </a:r>
            <a:r>
              <a:rPr lang="zh-CN" altLang="en-US" sz="1600" dirty="0">
                <a:latin typeface="微软雅黑" panose="020B0503020204020204" pitchFamily="34" charset="-122"/>
                <a:ea typeface="微软雅黑" panose="020B0503020204020204" pitchFamily="34" charset="-122"/>
              </a:rPr>
              <a:t>行的形态</a:t>
            </a:r>
            <a:r>
              <a:rPr lang="en-US" altLang="zh-CN" sz="1600" dirty="0">
                <a:latin typeface="微软雅黑" panose="020B0503020204020204" pitchFamily="34" charset="-122"/>
                <a:ea typeface="微软雅黑" panose="020B0503020204020204" pitchFamily="34" charset="-122"/>
              </a:rPr>
              <a:t>j</a:t>
            </a:r>
            <a:r>
              <a:rPr lang="zh-CN" altLang="en-US" sz="1600" dirty="0">
                <a:latin typeface="微软雅黑" panose="020B0503020204020204" pitchFamily="34" charset="-122"/>
                <a:ea typeface="微软雅黑" panose="020B0503020204020204" pitchFamily="34" charset="-122"/>
              </a:rPr>
              <a:t>，当且仅当：</a:t>
            </a:r>
            <a:endParaRPr lang="en-US" altLang="zh-CN" sz="1600" dirty="0">
              <a:latin typeface="微软雅黑" panose="020B0503020204020204" pitchFamily="34" charset="-122"/>
              <a:ea typeface="微软雅黑" panose="020B0503020204020204" pitchFamily="34" charset="-122"/>
            </a:endParaRPr>
          </a:p>
          <a:p>
            <a:pPr>
              <a:lnSpc>
                <a:spcPct val="20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1.</a:t>
            </a:r>
            <a:r>
              <a:rPr lang="en-US" altLang="zh-CN" sz="1600" b="1" dirty="0">
                <a:solidFill>
                  <a:schemeClr val="accent2"/>
                </a:solidFill>
                <a:latin typeface="微软雅黑" panose="020B0503020204020204" pitchFamily="34" charset="-122"/>
                <a:ea typeface="微软雅黑" panose="020B0503020204020204" pitchFamily="34" charset="-122"/>
              </a:rPr>
              <a:t>J</a:t>
            </a:r>
            <a:r>
              <a:rPr lang="zh-CN" altLang="en-US" sz="1600" b="1" dirty="0">
                <a:solidFill>
                  <a:schemeClr val="accent2"/>
                </a:solidFill>
                <a:latin typeface="微软雅黑" panose="020B0503020204020204" pitchFamily="34" charset="-122"/>
                <a:ea typeface="微软雅黑" panose="020B0503020204020204" pitchFamily="34" charset="-122"/>
              </a:rPr>
              <a:t>和</a:t>
            </a:r>
            <a:r>
              <a:rPr lang="en-US" altLang="zh-CN" sz="1600" b="1" dirty="0">
                <a:solidFill>
                  <a:schemeClr val="accent2"/>
                </a:solidFill>
                <a:latin typeface="微软雅黑" panose="020B0503020204020204" pitchFamily="34" charset="-122"/>
                <a:ea typeface="微软雅黑" panose="020B0503020204020204" pitchFamily="34" charset="-122"/>
              </a:rPr>
              <a:t>k</a:t>
            </a:r>
            <a:r>
              <a:rPr lang="zh-CN" altLang="en-US" sz="1600" b="1" dirty="0">
                <a:solidFill>
                  <a:schemeClr val="accent2"/>
                </a:solidFill>
                <a:latin typeface="微软雅黑" panose="020B0503020204020204" pitchFamily="34" charset="-122"/>
                <a:ea typeface="微软雅黑" panose="020B0503020204020204" pitchFamily="34" charset="-122"/>
              </a:rPr>
              <a:t>执行按位与运算的结果是</a:t>
            </a:r>
            <a:r>
              <a:rPr lang="en-US" altLang="zh-CN" sz="1600" b="1" dirty="0">
                <a:solidFill>
                  <a:schemeClr val="accent2"/>
                </a:solidFill>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a:lnSpc>
                <a:spcPct val="200000"/>
              </a:lnSpc>
            </a:pPr>
            <a:r>
              <a:rPr lang="zh-CN" altLang="en-US" sz="1600" dirty="0">
                <a:latin typeface="微软雅黑" panose="020B0503020204020204" pitchFamily="34" charset="-122"/>
                <a:ea typeface="微软雅黑" panose="020B0503020204020204" pitchFamily="34" charset="-122"/>
              </a:rPr>
              <a:t>保证每个数字</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的下方必须是数字</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，代表继续补全竖着的</a:t>
            </a:r>
            <a:r>
              <a:rPr lang="en-US" altLang="zh-CN" sz="1600" dirty="0">
                <a:latin typeface="微软雅黑" panose="020B0503020204020204" pitchFamily="34" charset="-122"/>
                <a:ea typeface="微软雅黑" panose="020B0503020204020204" pitchFamily="34" charset="-122"/>
              </a:rPr>
              <a:t>1*2</a:t>
            </a:r>
            <a:r>
              <a:rPr lang="zh-CN" altLang="en-US" sz="1600" dirty="0">
                <a:latin typeface="微软雅黑" panose="020B0503020204020204" pitchFamily="34" charset="-122"/>
                <a:ea typeface="微软雅黑" panose="020B0503020204020204" pitchFamily="34" charset="-122"/>
              </a:rPr>
              <a:t>长方形；</a:t>
            </a:r>
          </a:p>
          <a:p>
            <a:pPr>
              <a:lnSpc>
                <a:spcPct val="200000"/>
              </a:lnSpc>
            </a:pPr>
            <a:r>
              <a:rPr lang="en-US" altLang="zh-CN" sz="1600" dirty="0">
                <a:latin typeface="微软雅黑" panose="020B0503020204020204" pitchFamily="34" charset="-122"/>
                <a:ea typeface="微软雅黑" panose="020B0503020204020204" pitchFamily="34" charset="-122"/>
              </a:rPr>
              <a:t>2.</a:t>
            </a:r>
            <a:r>
              <a:rPr lang="en-US" altLang="zh-CN" sz="1600" b="1" dirty="0">
                <a:solidFill>
                  <a:schemeClr val="accent2"/>
                </a:solidFill>
                <a:latin typeface="微软雅黑" panose="020B0503020204020204" pitchFamily="34" charset="-122"/>
                <a:ea typeface="微软雅黑" panose="020B0503020204020204" pitchFamily="34" charset="-122"/>
              </a:rPr>
              <a:t>J</a:t>
            </a:r>
            <a:r>
              <a:rPr lang="zh-CN" altLang="en-US" sz="1600" b="1" dirty="0">
                <a:solidFill>
                  <a:schemeClr val="accent2"/>
                </a:solidFill>
                <a:latin typeface="微软雅黑" panose="020B0503020204020204" pitchFamily="34" charset="-122"/>
                <a:ea typeface="微软雅黑" panose="020B0503020204020204" pitchFamily="34" charset="-122"/>
              </a:rPr>
              <a:t>和</a:t>
            </a:r>
            <a:r>
              <a:rPr lang="en-US" altLang="zh-CN" sz="1600" b="1" dirty="0">
                <a:solidFill>
                  <a:schemeClr val="accent2"/>
                </a:solidFill>
                <a:latin typeface="微软雅黑" panose="020B0503020204020204" pitchFamily="34" charset="-122"/>
                <a:ea typeface="微软雅黑" panose="020B0503020204020204" pitchFamily="34" charset="-122"/>
              </a:rPr>
              <a:t>k</a:t>
            </a:r>
            <a:r>
              <a:rPr lang="zh-CN" altLang="en-US" sz="1600" b="1" dirty="0">
                <a:solidFill>
                  <a:schemeClr val="accent2"/>
                </a:solidFill>
                <a:latin typeface="微软雅黑" panose="020B0503020204020204" pitchFamily="34" charset="-122"/>
                <a:ea typeface="微软雅黑" panose="020B0503020204020204" pitchFamily="34" charset="-122"/>
              </a:rPr>
              <a:t>执行按位或运算的结果的二进制表示中，每一段连续的</a:t>
            </a:r>
            <a:r>
              <a:rPr lang="en-US" altLang="zh-CN" sz="1600" b="1" dirty="0">
                <a:solidFill>
                  <a:schemeClr val="accent2"/>
                </a:solidFill>
                <a:latin typeface="微软雅黑" panose="020B0503020204020204" pitchFamily="34" charset="-122"/>
                <a:ea typeface="微软雅黑" panose="020B0503020204020204" pitchFamily="34" charset="-122"/>
              </a:rPr>
              <a:t>0</a:t>
            </a:r>
            <a:r>
              <a:rPr lang="zh-CN" altLang="en-US" sz="1600" b="1" dirty="0">
                <a:solidFill>
                  <a:schemeClr val="accent2"/>
                </a:solidFill>
                <a:latin typeface="微软雅黑" panose="020B0503020204020204" pitchFamily="34" charset="-122"/>
                <a:ea typeface="微软雅黑" panose="020B0503020204020204" pitchFamily="34" charset="-122"/>
              </a:rPr>
              <a:t>都必须有偶数个</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a:lnSpc>
                <a:spcPct val="200000"/>
              </a:lnSpc>
            </a:pPr>
            <a:r>
              <a:rPr lang="zh-CN" altLang="en-US" sz="1600" dirty="0">
                <a:latin typeface="微软雅黑" panose="020B0503020204020204" pitchFamily="34" charset="-122"/>
                <a:ea typeface="微软雅黑" panose="020B0503020204020204" pitchFamily="34" charset="-122"/>
              </a:rPr>
              <a:t>这些</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表示若干横着的</a:t>
            </a:r>
            <a:r>
              <a:rPr lang="en-US" altLang="zh-CN" sz="1600" dirty="0">
                <a:latin typeface="微软雅黑" panose="020B0503020204020204" pitchFamily="34" charset="-122"/>
                <a:ea typeface="微软雅黑" panose="020B0503020204020204" pitchFamily="34" charset="-122"/>
              </a:rPr>
              <a:t>1*2</a:t>
            </a:r>
            <a:r>
              <a:rPr lang="zh-CN" altLang="en-US" sz="1600" dirty="0">
                <a:latin typeface="微软雅黑" panose="020B0503020204020204" pitchFamily="34" charset="-122"/>
                <a:ea typeface="微软雅黑" panose="020B0503020204020204" pitchFamily="34" charset="-122"/>
              </a:rPr>
              <a:t>长方形，奇数个</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无法分割这种状态</a:t>
            </a:r>
          </a:p>
        </p:txBody>
      </p:sp>
    </p:spTree>
    <p:extLst>
      <p:ext uri="{BB962C8B-B14F-4D97-AF65-F5344CB8AC3E}">
        <p14:creationId xmlns:p14="http://schemas.microsoft.com/office/powerpoint/2010/main" xmlns="" val="112568044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a:extLst>
              <a:ext uri="{FF2B5EF4-FFF2-40B4-BE49-F238E27FC236}">
                <a16:creationId xmlns:a16="http://schemas.microsoft.com/office/drawing/2014/main" xmlns="" id="{56752723-DE7F-47E0-8824-38387C444C3E}"/>
              </a:ext>
            </a:extLst>
          </p:cNvPr>
          <p:cNvSpPr/>
          <p:nvPr/>
        </p:nvSpPr>
        <p:spPr>
          <a:xfrm>
            <a:off x="899604" y="1352496"/>
            <a:ext cx="1005281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问题分析</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p:txBody>
      </p:sp>
      <p:sp>
        <p:nvSpPr>
          <p:cNvPr id="4" name="矩形 3">
            <a:extLst>
              <a:ext uri="{FF2B5EF4-FFF2-40B4-BE49-F238E27FC236}">
                <a16:creationId xmlns:a16="http://schemas.microsoft.com/office/drawing/2014/main" xmlns="" id="{C30FA300-C328-4A21-90B3-63EA3C650C05}"/>
              </a:ext>
            </a:extLst>
          </p:cNvPr>
          <p:cNvSpPr/>
          <p:nvPr/>
        </p:nvSpPr>
        <p:spPr>
          <a:xfrm>
            <a:off x="-636233" y="1549251"/>
            <a:ext cx="9980682" cy="561179"/>
          </a:xfrm>
          <a:prstGeom prst="rect">
            <a:avLst/>
          </a:prstGeom>
        </p:spPr>
        <p:txBody>
          <a:bodyPr wrap="square">
            <a:spAutoFit/>
          </a:bodyPr>
          <a:lstStyle/>
          <a:p>
            <a:pPr>
              <a:lnSpc>
                <a:spcPct val="200000"/>
              </a:lnSpc>
            </a:pPr>
            <a:r>
              <a:rPr lang="en-US" altLang="zh-CN" dirty="0">
                <a:solidFill>
                  <a:srgbClr val="514843"/>
                </a:solidFill>
                <a:latin typeface="微软雅黑" panose="020B0503020204020204" pitchFamily="34" charset="-122"/>
                <a:ea typeface="微软雅黑" panose="020B0503020204020204" pitchFamily="34" charset="-122"/>
              </a:rPr>
              <a:t> </a:t>
            </a:r>
            <a:endParaRPr lang="zh-CN" altLang="en-US" sz="1600" dirty="0"/>
          </a:p>
        </p:txBody>
      </p:sp>
      <mc:AlternateContent xmlns:mc="http://schemas.openxmlformats.org/markup-compatibility/2006">
        <mc:Choice xmlns:a14="http://schemas.microsoft.com/office/drawing/2010/main" xmlns="" Requires="a14">
          <p:sp>
            <p:nvSpPr>
              <p:cNvPr id="6" name="矩形 5">
                <a:extLst>
                  <a:ext uri="{FF2B5EF4-FFF2-40B4-BE49-F238E27FC236}">
                    <a16:creationId xmlns:a16="http://schemas.microsoft.com/office/drawing/2014/main" id="{C83FBD9F-DA46-4D87-88B9-20AB80647106}"/>
                  </a:ext>
                </a:extLst>
              </p:cNvPr>
              <p:cNvSpPr/>
              <p:nvPr/>
            </p:nvSpPr>
            <p:spPr>
              <a:xfrm>
                <a:off x="1032769" y="1721828"/>
                <a:ext cx="10052813" cy="3575274"/>
              </a:xfrm>
              <a:prstGeom prst="rect">
                <a:avLst/>
              </a:prstGeom>
            </p:spPr>
            <p:txBody>
              <a:bodyPr wrap="square">
                <a:spAutoFit/>
              </a:bodyPr>
              <a:lstStyle/>
              <a:p>
                <a:pPr marL="285750" indent="-285750">
                  <a:lnSpc>
                    <a:spcPct val="20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我们可以在</a:t>
                </a:r>
                <a:r>
                  <a:rPr lang="en-US" altLang="zh-CN" dirty="0" err="1">
                    <a:latin typeface="微软雅黑" panose="020B0503020204020204" pitchFamily="34" charset="-122"/>
                    <a:ea typeface="微软雅黑" panose="020B0503020204020204" pitchFamily="34" charset="-122"/>
                  </a:rPr>
                  <a:t>dp</a:t>
                </a:r>
                <a:r>
                  <a:rPr lang="zh-CN" altLang="en-US" dirty="0">
                    <a:latin typeface="微软雅黑" panose="020B0503020204020204" pitchFamily="34" charset="-122"/>
                    <a:ea typeface="微软雅黑" panose="020B0503020204020204" pitchFamily="34" charset="-122"/>
                  </a:rPr>
                  <a:t>前</a:t>
                </a:r>
                <a:r>
                  <a:rPr lang="zh-CN" altLang="en-US" b="1" dirty="0">
                    <a:solidFill>
                      <a:schemeClr val="accent2"/>
                    </a:solidFill>
                    <a:latin typeface="微软雅黑" panose="020B0503020204020204" pitchFamily="34" charset="-122"/>
                    <a:ea typeface="微软雅黑" panose="020B0503020204020204" pitchFamily="34" charset="-122"/>
                  </a:rPr>
                  <a:t>预处理</a:t>
                </a:r>
                <a:r>
                  <a:rPr lang="en-US" altLang="zh-CN" dirty="0">
                    <a:latin typeface="微软雅黑" panose="020B0503020204020204" pitchFamily="34" charset="-122"/>
                    <a:ea typeface="微软雅黑" panose="020B0503020204020204" pitchFamily="34" charset="-122"/>
                  </a:rPr>
                  <a:t>[0,2^M-1]</a:t>
                </a:r>
                <a:r>
                  <a:rPr lang="zh-CN" altLang="en-US" dirty="0">
                    <a:latin typeface="微软雅黑" panose="020B0503020204020204" pitchFamily="34" charset="-122"/>
                    <a:ea typeface="微软雅黑" panose="020B0503020204020204" pitchFamily="34" charset="-122"/>
                  </a:rPr>
                  <a:t>内所有满足“二进制”表示每一段连续的</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都有偶数个的整数，记录在集合</a:t>
                </a:r>
                <a:r>
                  <a:rPr lang="en-US" altLang="zh-CN" dirty="0">
                    <a:latin typeface="微软雅黑" panose="020B0503020204020204" pitchFamily="34" charset="-122"/>
                    <a:ea typeface="微软雅黑" panose="020B0503020204020204" pitchFamily="34" charset="-122"/>
                  </a:rPr>
                  <a:t>S</a:t>
                </a:r>
                <a:r>
                  <a:rPr lang="zh-CN" altLang="en-US" dirty="0">
                    <a:latin typeface="微软雅黑" panose="020B0503020204020204" pitchFamily="34" charset="-122"/>
                    <a:ea typeface="微软雅黑" panose="020B0503020204020204" pitchFamily="34" charset="-122"/>
                  </a:rPr>
                  <a:t>中；</a:t>
                </a:r>
                <a:endParaRPr lang="en-US" altLang="zh-CN" dirty="0">
                  <a:latin typeface="微软雅黑" panose="020B0503020204020204" pitchFamily="34" charset="-122"/>
                  <a:ea typeface="微软雅黑" panose="020B0503020204020204" pitchFamily="34" charset="-122"/>
                </a:endParaRPr>
              </a:p>
              <a:p>
                <a:pPr marL="285750" indent="-285750">
                  <a:lnSpc>
                    <a:spcPct val="200000"/>
                  </a:lnSpc>
                  <a:buFont typeface="Arial" panose="020B0604020202020204" pitchFamily="34" charset="0"/>
                  <a:buChar char="•"/>
                </a:pPr>
                <a14:m>
                  <m:oMath xmlns:m="http://schemas.openxmlformats.org/officeDocument/2006/math">
                    <m:r>
                      <a:rPr lang="en-US" altLang="zh-CN" sz="2000" i="1">
                        <a:solidFill>
                          <a:prstClr val="black"/>
                        </a:solidFill>
                        <a:latin typeface="Cambria Math" panose="02040503050406030204" pitchFamily="18" charset="0"/>
                        <a:ea typeface="宋体" panose="02010600030101010101" pitchFamily="2" charset="-122"/>
                      </a:rPr>
                      <m:t>𝐹</m:t>
                    </m:r>
                    <m:d>
                      <m:dPr>
                        <m:begChr m:val="["/>
                        <m:endChr m:val="]"/>
                        <m:ctrlPr>
                          <a:rPr lang="en-US" altLang="zh-CN" sz="2000" i="1">
                            <a:solidFill>
                              <a:prstClr val="black"/>
                            </a:solidFill>
                            <a:latin typeface="Cambria Math" panose="02040503050406030204" pitchFamily="18" charset="0"/>
                            <a:ea typeface="宋体" panose="02010600030101010101" pitchFamily="2" charset="-122"/>
                          </a:rPr>
                        </m:ctrlPr>
                      </m:dPr>
                      <m:e>
                        <m:r>
                          <a:rPr lang="en-US" altLang="zh-CN" sz="2000" i="1">
                            <a:solidFill>
                              <a:prstClr val="black"/>
                            </a:solidFill>
                            <a:latin typeface="Cambria Math" panose="02040503050406030204" pitchFamily="18" charset="0"/>
                            <a:ea typeface="宋体" panose="02010600030101010101" pitchFamily="2" charset="-122"/>
                          </a:rPr>
                          <m:t>𝑖</m:t>
                        </m:r>
                        <m:r>
                          <a:rPr lang="en-US" altLang="zh-CN" sz="2000" i="1">
                            <a:solidFill>
                              <a:prstClr val="black"/>
                            </a:solidFill>
                            <a:latin typeface="Cambria Math" panose="02040503050406030204" pitchFamily="18" charset="0"/>
                            <a:ea typeface="宋体" panose="02010600030101010101" pitchFamily="2" charset="-122"/>
                          </a:rPr>
                          <m:t>,</m:t>
                        </m:r>
                        <m:r>
                          <m:rPr>
                            <m:sty m:val="p"/>
                          </m:rPr>
                          <a:rPr lang="en-US" altLang="zh-CN" sz="2000" i="1">
                            <a:solidFill>
                              <a:prstClr val="black"/>
                            </a:solidFill>
                            <a:latin typeface="Cambria Math" panose="02040503050406030204" pitchFamily="18" charset="0"/>
                            <a:ea typeface="宋体" panose="02010600030101010101" pitchFamily="2" charset="-122"/>
                          </a:rPr>
                          <m:t>j</m:t>
                        </m:r>
                      </m:e>
                    </m:d>
                    <m:r>
                      <a:rPr lang="en-US" altLang="zh-CN" sz="2000" i="1">
                        <a:solidFill>
                          <a:prstClr val="black"/>
                        </a:solidFill>
                        <a:latin typeface="Cambria Math" panose="02040503050406030204" pitchFamily="18" charset="0"/>
                        <a:ea typeface="宋体" panose="02010600030101010101" pitchFamily="2" charset="-122"/>
                      </a:rPr>
                      <m:t> </m:t>
                    </m:r>
                  </m:oMath>
                </a14:m>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nary>
                      <m:naryPr>
                        <m:chr m:val="∑"/>
                        <m:supHide m:val="on"/>
                        <m:ctrlPr>
                          <a:rPr lang="en-US" altLang="zh-CN" sz="2000" i="1">
                            <a:solidFill>
                              <a:prstClr val="black"/>
                            </a:solidFill>
                            <a:latin typeface="Cambria Math" panose="02040503050406030204" pitchFamily="18" charset="0"/>
                            <a:ea typeface="宋体" panose="02010600030101010101" pitchFamily="2" charset="-122"/>
                          </a:rPr>
                        </m:ctrlPr>
                      </m:naryPr>
                      <m:sub>
                        <m:r>
                          <m:rPr>
                            <m:sty m:val="p"/>
                            <m:brk m:alnAt="7"/>
                          </m:rPr>
                          <a:rPr lang="en-US" altLang="zh-CN" sz="2000" i="1">
                            <a:solidFill>
                              <a:prstClr val="black"/>
                            </a:solidFill>
                            <a:latin typeface="Cambria Math" panose="02040503050406030204" pitchFamily="18" charset="0"/>
                            <a:ea typeface="宋体" panose="02010600030101010101" pitchFamily="2" charset="-122"/>
                          </a:rPr>
                          <m:t>j</m:t>
                        </m:r>
                        <m:r>
                          <a:rPr lang="en-US" altLang="zh-CN" sz="2000" i="1">
                            <a:solidFill>
                              <a:prstClr val="black"/>
                            </a:solidFill>
                            <a:latin typeface="Cambria Math" panose="02040503050406030204" pitchFamily="18" charset="0"/>
                            <a:ea typeface="宋体" panose="02010600030101010101" pitchFamily="2" charset="-122"/>
                          </a:rPr>
                          <m:t>&amp;</m:t>
                        </m:r>
                        <m:r>
                          <m:rPr>
                            <m:sty m:val="p"/>
                          </m:rPr>
                          <a:rPr lang="en-US" altLang="zh-CN" sz="2000" i="1">
                            <a:solidFill>
                              <a:prstClr val="black"/>
                            </a:solidFill>
                            <a:latin typeface="Cambria Math" panose="02040503050406030204" pitchFamily="18" charset="0"/>
                            <a:ea typeface="宋体" panose="02010600030101010101" pitchFamily="2" charset="-122"/>
                          </a:rPr>
                          <m:t>k</m:t>
                        </m:r>
                        <m:r>
                          <a:rPr lang="en-US" altLang="zh-CN" sz="2000" i="1">
                            <a:solidFill>
                              <a:prstClr val="black"/>
                            </a:solidFill>
                            <a:latin typeface="Cambria Math" panose="02040503050406030204" pitchFamily="18" charset="0"/>
                            <a:ea typeface="宋体" panose="02010600030101010101" pitchFamily="2" charset="-122"/>
                          </a:rPr>
                          <m:t>=0 &amp;&amp; </m:t>
                        </m:r>
                        <m:r>
                          <m:rPr>
                            <m:sty m:val="p"/>
                          </m:rPr>
                          <a:rPr lang="en-US" altLang="zh-CN" sz="2000" i="1">
                            <a:solidFill>
                              <a:prstClr val="black"/>
                            </a:solidFill>
                            <a:latin typeface="Cambria Math" panose="02040503050406030204" pitchFamily="18" charset="0"/>
                            <a:ea typeface="宋体" panose="02010600030101010101" pitchFamily="2" charset="-122"/>
                          </a:rPr>
                          <m:t>j</m:t>
                        </m:r>
                        <m:r>
                          <a:rPr lang="en-US" altLang="zh-CN" sz="2000" i="1">
                            <a:solidFill>
                              <a:prstClr val="black"/>
                            </a:solidFill>
                            <a:latin typeface="Cambria Math" panose="02040503050406030204" pitchFamily="18" charset="0"/>
                            <a:ea typeface="宋体" panose="02010600030101010101" pitchFamily="2" charset="-122"/>
                          </a:rPr>
                          <m:t>|</m:t>
                        </m:r>
                        <m:r>
                          <m:rPr>
                            <m:sty m:val="p"/>
                          </m:rPr>
                          <a:rPr lang="en-US" altLang="zh-CN" sz="2000" i="1">
                            <a:solidFill>
                              <a:prstClr val="black"/>
                            </a:solidFill>
                            <a:latin typeface="Cambria Math" panose="02040503050406030204" pitchFamily="18" charset="0"/>
                            <a:ea typeface="宋体" panose="02010600030101010101" pitchFamily="2" charset="-122"/>
                          </a:rPr>
                          <m:t>k</m:t>
                        </m:r>
                        <m:r>
                          <a:rPr lang="en-US" altLang="zh-CN" sz="2000" i="1">
                            <a:solidFill>
                              <a:prstClr val="black"/>
                            </a:solidFill>
                            <a:latin typeface="Cambria Math" panose="02040503050406030204" pitchFamily="18" charset="0"/>
                            <a:ea typeface="宋体" panose="02010600030101010101" pitchFamily="2" charset="-122"/>
                          </a:rPr>
                          <m:t> ∈</m:t>
                        </m:r>
                        <m:r>
                          <a:rPr lang="en-US" altLang="zh-CN" sz="2000" i="1">
                            <a:solidFill>
                              <a:prstClr val="black"/>
                            </a:solidFill>
                            <a:latin typeface="Cambria Math" panose="02040503050406030204" pitchFamily="18" charset="0"/>
                            <a:ea typeface="宋体" panose="02010600030101010101" pitchFamily="2" charset="-122"/>
                          </a:rPr>
                          <m:t>𝑆</m:t>
                        </m:r>
                      </m:sub>
                      <m:sup/>
                      <m:e>
                        <m:r>
                          <a:rPr lang="en-US" altLang="zh-CN" sz="2000" i="1">
                            <a:solidFill>
                              <a:prstClr val="black"/>
                            </a:solidFill>
                            <a:latin typeface="Cambria Math" panose="02040503050406030204" pitchFamily="18" charset="0"/>
                            <a:ea typeface="宋体" panose="02010600030101010101" pitchFamily="2" charset="-122"/>
                          </a:rPr>
                          <m:t>𝐹</m:t>
                        </m:r>
                        <m:d>
                          <m:dPr>
                            <m:begChr m:val="["/>
                            <m:endChr m:val="]"/>
                            <m:ctrlPr>
                              <a:rPr lang="en-US" altLang="zh-CN" sz="2000" i="1">
                                <a:solidFill>
                                  <a:prstClr val="black"/>
                                </a:solidFill>
                                <a:latin typeface="Cambria Math" panose="02040503050406030204" pitchFamily="18" charset="0"/>
                                <a:ea typeface="宋体" panose="02010600030101010101" pitchFamily="2" charset="-122"/>
                              </a:rPr>
                            </m:ctrlPr>
                          </m:dPr>
                          <m:e>
                            <m:r>
                              <a:rPr lang="en-US" altLang="zh-CN" sz="2000" i="1">
                                <a:solidFill>
                                  <a:prstClr val="black"/>
                                </a:solidFill>
                                <a:latin typeface="Cambria Math" panose="02040503050406030204" pitchFamily="18" charset="0"/>
                                <a:ea typeface="宋体" panose="02010600030101010101" pitchFamily="2" charset="-122"/>
                              </a:rPr>
                              <m:t>𝑖</m:t>
                            </m:r>
                            <m:r>
                              <a:rPr lang="en-US" altLang="zh-CN" sz="2000" i="1">
                                <a:solidFill>
                                  <a:prstClr val="black"/>
                                </a:solidFill>
                                <a:latin typeface="Cambria Math" panose="02040503050406030204" pitchFamily="18" charset="0"/>
                                <a:ea typeface="宋体" panose="02010600030101010101" pitchFamily="2" charset="-122"/>
                              </a:rPr>
                              <m:t>−1,</m:t>
                            </m:r>
                            <m:r>
                              <a:rPr lang="en-US" altLang="zh-CN" sz="2000" i="1">
                                <a:solidFill>
                                  <a:prstClr val="black"/>
                                </a:solidFill>
                                <a:latin typeface="Cambria Math" panose="02040503050406030204" pitchFamily="18" charset="0"/>
                                <a:ea typeface="宋体" panose="02010600030101010101" pitchFamily="2" charset="-122"/>
                              </a:rPr>
                              <m:t>𝑘</m:t>
                            </m:r>
                          </m:e>
                        </m:d>
                      </m:e>
                    </m:nary>
                  </m:oMath>
                </a14:m>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20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初值： 𝐹</a:t>
                </a:r>
                <a:r>
                  <a:rPr lang="en-US" altLang="zh-CN" dirty="0">
                    <a:latin typeface="微软雅黑" panose="020B0503020204020204" pitchFamily="34" charset="-122"/>
                    <a:ea typeface="微软雅黑" panose="020B0503020204020204" pitchFamily="34" charset="-122"/>
                  </a:rPr>
                  <a:t>[0,0] =1</a:t>
                </a:r>
                <a:r>
                  <a:rPr lang="zh-CN" altLang="en-US" dirty="0">
                    <a:latin typeface="微软雅黑" panose="020B0503020204020204" pitchFamily="34" charset="-122"/>
                    <a:ea typeface="微软雅黑" panose="020B0503020204020204" pitchFamily="34" charset="-122"/>
                  </a:rPr>
                  <a:t>，其余为</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a:t>
                </a:r>
              </a:p>
              <a:p>
                <a:pPr marL="285750" indent="-285750">
                  <a:lnSpc>
                    <a:spcPct val="20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 目标： 𝐹</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𝑁</a:t>
                </a:r>
                <a:r>
                  <a:rPr lang="en-US" altLang="zh-CN" dirty="0">
                    <a:latin typeface="微软雅黑" panose="020B0503020204020204" pitchFamily="34" charset="-122"/>
                    <a:ea typeface="微软雅黑" panose="020B0503020204020204" pitchFamily="34" charset="-122"/>
                  </a:rPr>
                  <a:t>,0] </a:t>
                </a:r>
              </a:p>
              <a:p>
                <a:pPr marL="285750" indent="-285750">
                  <a:lnSpc>
                    <a:spcPct val="20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时间复杂度：</a:t>
                </a:r>
                <a:r>
                  <a:rPr lang="en-US" altLang="zh-CN" dirty="0">
                    <a:latin typeface="微软雅黑" panose="020B0503020204020204" pitchFamily="34" charset="-122"/>
                    <a:ea typeface="微软雅黑" panose="020B0503020204020204" pitchFamily="34" charset="-122"/>
                  </a:rPr>
                  <a:t>O</a:t>
                </a:r>
                <a:r>
                  <a:rPr lang="zh-CN" altLang="en-US" dirty="0">
                    <a:latin typeface="微软雅黑" panose="020B0503020204020204" pitchFamily="34" charset="-122"/>
                    <a:ea typeface="微软雅黑" panose="020B0503020204020204" pitchFamily="34" charset="-122"/>
                  </a:rPr>
                  <a:t>（</a:t>
                </a:r>
                <a14:m>
                  <m:oMath xmlns:m="http://schemas.openxmlformats.org/officeDocument/2006/math">
                    <m:sSup>
                      <m:sSupPr>
                        <m:ctrlPr>
                          <a:rPr lang="en-US" altLang="zh-CN"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2</m:t>
                        </m:r>
                      </m:e>
                      <m:sup>
                        <m:r>
                          <m:rPr>
                            <m:sty m:val="p"/>
                          </m:rPr>
                          <a:rPr lang="en-US" altLang="zh-CN" i="1">
                            <a:latin typeface="Cambria Math" panose="02040503050406030204" pitchFamily="18" charset="0"/>
                            <a:ea typeface="微软雅黑" panose="020B0503020204020204" pitchFamily="34" charset="-122"/>
                          </a:rPr>
                          <m:t>M</m:t>
                        </m:r>
                      </m:sup>
                    </m:sSup>
                  </m:oMath>
                </a14:m>
                <a:r>
                  <a:rPr lang="en-US" altLang="zh-CN" dirty="0">
                    <a:ea typeface="微软雅黑" panose="020B0503020204020204" pitchFamily="34" charset="-122"/>
                  </a:rPr>
                  <a:t> </a:t>
                </a:r>
                <a14:m>
                  <m:oMath xmlns:m="http://schemas.openxmlformats.org/officeDocument/2006/math">
                    <m:sSup>
                      <m:sSupPr>
                        <m:ctrlPr>
                          <a:rPr lang="en-US" altLang="zh-CN" i="1">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2</m:t>
                        </m:r>
                      </m:e>
                      <m:sup>
                        <m:r>
                          <m:rPr>
                            <m:sty m:val="p"/>
                          </m:rPr>
                          <a:rPr lang="en-US" altLang="zh-CN" i="1">
                            <a:latin typeface="Cambria Math" panose="02040503050406030204" pitchFamily="18" charset="0"/>
                            <a:ea typeface="微软雅黑" panose="020B0503020204020204" pitchFamily="34" charset="-122"/>
                          </a:rPr>
                          <m:t>M</m:t>
                        </m:r>
                      </m:sup>
                    </m:sSup>
                    <m:r>
                      <a:rPr lang="en-US" altLang="zh-CN" i="1">
                        <a:latin typeface="Cambria Math" panose="02040503050406030204" pitchFamily="18" charset="0"/>
                        <a:ea typeface="微软雅黑" panose="020B0503020204020204" pitchFamily="34" charset="-122"/>
                      </a:rPr>
                      <m:t> </m:t>
                    </m:r>
                  </m:oMath>
                </a14:m>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r>
                  <a:rPr lang="en-US" altLang="zh-CN" dirty="0">
                    <a:ea typeface="微软雅黑" panose="020B0503020204020204" pitchFamily="34" charset="-122"/>
                  </a:rPr>
                  <a:t> </a:t>
                </a:r>
                <a14:m>
                  <m:oMath xmlns:m="http://schemas.openxmlformats.org/officeDocument/2006/math">
                    <m:sSup>
                      <m:sSupPr>
                        <m:ctrlPr>
                          <a:rPr lang="en-US" altLang="zh-CN" i="1">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4</m:t>
                        </m:r>
                      </m:e>
                      <m:sup>
                        <m:r>
                          <m:rPr>
                            <m:sty m:val="p"/>
                          </m:rPr>
                          <a:rPr lang="en-US" altLang="zh-CN" i="1">
                            <a:latin typeface="Cambria Math" panose="02040503050406030204" pitchFamily="18" charset="0"/>
                            <a:ea typeface="微软雅黑" panose="020B0503020204020204" pitchFamily="34" charset="-122"/>
                          </a:rPr>
                          <m:t>M</m:t>
                        </m:r>
                      </m:sup>
                    </m:sSup>
                  </m:oMath>
                </a14:m>
                <a:r>
                  <a:rPr lang="en-US" altLang="zh-CN" dirty="0">
                    <a:latin typeface="微软雅黑" panose="020B0503020204020204" pitchFamily="34" charset="-122"/>
                    <a:ea typeface="微软雅黑" panose="020B0503020204020204" pitchFamily="34" charset="-122"/>
                  </a:rPr>
                  <a:t>N</a:t>
                </a:r>
                <a:endParaRPr lang="zh-CN" altLang="en-US" dirty="0">
                  <a:latin typeface="微软雅黑" panose="020B0503020204020204" pitchFamily="34" charset="-122"/>
                  <a:ea typeface="微软雅黑" panose="020B0503020204020204" pitchFamily="34" charset="-122"/>
                </a:endParaRPr>
              </a:p>
            </p:txBody>
          </p:sp>
        </mc:Choice>
        <mc:Fallback>
          <p:sp>
            <p:nvSpPr>
              <p:cNvPr id="6" name="矩形 5">
                <a:extLst>
                  <a:ext uri="{FF2B5EF4-FFF2-40B4-BE49-F238E27FC236}">
                    <a16:creationId xmlns:a16="http://schemas.microsoft.com/office/drawing/2014/main" xmlns="" xmlns:a14="http://schemas.microsoft.com/office/drawing/2010/main" id="{C83FBD9F-DA46-4D87-88B9-20AB80647106}"/>
                  </a:ext>
                </a:extLst>
              </p:cNvPr>
              <p:cNvSpPr>
                <a:spLocks noRot="1" noChangeAspect="1" noMove="1" noResize="1" noEditPoints="1" noAdjustHandles="1" noChangeArrowheads="1" noChangeShapeType="1" noTextEdit="1"/>
              </p:cNvSpPr>
              <p:nvPr/>
            </p:nvSpPr>
            <p:spPr>
              <a:xfrm>
                <a:off x="1032769" y="1721828"/>
                <a:ext cx="10052813" cy="3575274"/>
              </a:xfrm>
              <a:prstGeom prst="rect">
                <a:avLst/>
              </a:prstGeom>
              <a:blipFill>
                <a:blip r:embed="rId3" cstate="print"/>
                <a:stretch>
                  <a:fillRect l="-545" r="-2182"/>
                </a:stretch>
              </a:blipFill>
            </p:spPr>
            <p:txBody>
              <a:bodyPr/>
              <a:lstStyle/>
              <a:p>
                <a:r>
                  <a:rPr lang="zh-CN" altLang="en-US">
                    <a:noFill/>
                  </a:rPr>
                  <a:t> </a:t>
                </a:r>
              </a:p>
            </p:txBody>
          </p:sp>
        </mc:Fallback>
      </mc:AlternateContent>
    </p:spTree>
    <p:extLst>
      <p:ext uri="{BB962C8B-B14F-4D97-AF65-F5344CB8AC3E}">
        <p14:creationId xmlns:p14="http://schemas.microsoft.com/office/powerpoint/2010/main" xmlns="" val="269353336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a:extLst>
              <a:ext uri="{FF2B5EF4-FFF2-40B4-BE49-F238E27FC236}">
                <a16:creationId xmlns:a16="http://schemas.microsoft.com/office/drawing/2014/main" xmlns="" id="{56752723-DE7F-47E0-8824-38387C444C3E}"/>
              </a:ext>
            </a:extLst>
          </p:cNvPr>
          <p:cNvSpPr/>
          <p:nvPr/>
        </p:nvSpPr>
        <p:spPr>
          <a:xfrm>
            <a:off x="899604" y="1352496"/>
            <a:ext cx="1005281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lang="zh-CN" altLang="en-US" b="1" dirty="0">
                <a:solidFill>
                  <a:srgbClr val="6D7D66"/>
                </a:solidFill>
                <a:latin typeface="微软雅黑" panose="020B0503020204020204" pitchFamily="34" charset="-122"/>
                <a:ea typeface="微软雅黑" panose="020B0503020204020204" pitchFamily="34" charset="-122"/>
              </a:rPr>
              <a:t>参考程序</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p:txBody>
      </p:sp>
      <p:sp>
        <p:nvSpPr>
          <p:cNvPr id="4" name="矩形 3">
            <a:extLst>
              <a:ext uri="{FF2B5EF4-FFF2-40B4-BE49-F238E27FC236}">
                <a16:creationId xmlns:a16="http://schemas.microsoft.com/office/drawing/2014/main" xmlns="" id="{C30FA300-C328-4A21-90B3-63EA3C650C05}"/>
              </a:ext>
            </a:extLst>
          </p:cNvPr>
          <p:cNvSpPr/>
          <p:nvPr/>
        </p:nvSpPr>
        <p:spPr>
          <a:xfrm>
            <a:off x="-636233" y="1549251"/>
            <a:ext cx="9980682" cy="561179"/>
          </a:xfrm>
          <a:prstGeom prst="rect">
            <a:avLst/>
          </a:prstGeom>
        </p:spPr>
        <p:txBody>
          <a:bodyPr wrap="square">
            <a:spAutoFit/>
          </a:bodyPr>
          <a:lstStyle/>
          <a:p>
            <a:pPr>
              <a:lnSpc>
                <a:spcPct val="200000"/>
              </a:lnSpc>
            </a:pPr>
            <a:r>
              <a:rPr lang="en-US" altLang="zh-CN" dirty="0">
                <a:solidFill>
                  <a:srgbClr val="514843"/>
                </a:solidFill>
                <a:latin typeface="微软雅黑" panose="020B0503020204020204" pitchFamily="34" charset="-122"/>
                <a:ea typeface="微软雅黑" panose="020B0503020204020204" pitchFamily="34" charset="-122"/>
              </a:rPr>
              <a:t> </a:t>
            </a:r>
            <a:endParaRPr lang="zh-CN" altLang="en-US" sz="1600" dirty="0"/>
          </a:p>
        </p:txBody>
      </p:sp>
      <p:pic>
        <p:nvPicPr>
          <p:cNvPr id="6" name="图片 5">
            <a:extLst>
              <a:ext uri="{FF2B5EF4-FFF2-40B4-BE49-F238E27FC236}">
                <a16:creationId xmlns:a16="http://schemas.microsoft.com/office/drawing/2014/main" xmlns="" id="{CE992890-9BC6-4317-8219-B299317A918A}"/>
              </a:ext>
            </a:extLst>
          </p:cNvPr>
          <p:cNvPicPr>
            <a:picLocks noChangeAspect="1"/>
          </p:cNvPicPr>
          <p:nvPr/>
        </p:nvPicPr>
        <p:blipFill>
          <a:blip r:embed="rId3" cstate="print"/>
          <a:stretch>
            <a:fillRect/>
          </a:stretch>
        </p:blipFill>
        <p:spPr>
          <a:xfrm>
            <a:off x="1374004" y="1721828"/>
            <a:ext cx="8780718" cy="5059972"/>
          </a:xfrm>
          <a:prstGeom prst="rect">
            <a:avLst/>
          </a:prstGeom>
        </p:spPr>
      </p:pic>
    </p:spTree>
    <p:extLst>
      <p:ext uri="{BB962C8B-B14F-4D97-AF65-F5344CB8AC3E}">
        <p14:creationId xmlns:p14="http://schemas.microsoft.com/office/powerpoint/2010/main" xmlns="" val="155303861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p:cNvSpPr/>
          <p:nvPr/>
        </p:nvSpPr>
        <p:spPr>
          <a:xfrm>
            <a:off x="928117" y="1253061"/>
            <a:ext cx="10157465" cy="5687263"/>
          </a:xfrm>
          <a:prstGeom prst="rect">
            <a:avLst/>
          </a:prstGeom>
        </p:spPr>
        <p:txBody>
          <a:bodyPr wrap="square">
            <a:spAutoFit/>
          </a:bodyPr>
          <a:lstStyle/>
          <a:p>
            <a:pPr>
              <a:lnSpc>
                <a:spcPct val="200000"/>
              </a:lnSpc>
            </a:pPr>
            <a:r>
              <a:rPr lang="en-US" altLang="zh-CN" b="1" dirty="0">
                <a:solidFill>
                  <a:schemeClr val="accent2"/>
                </a:solidFill>
                <a:latin typeface="微软雅黑" panose="020B0503020204020204" pitchFamily="34" charset="-122"/>
                <a:ea typeface="微软雅黑" panose="020B0503020204020204" pitchFamily="34" charset="-122"/>
              </a:rPr>
              <a:t>【</a:t>
            </a:r>
            <a:r>
              <a:rPr lang="zh-CN" altLang="en-US" b="1" dirty="0">
                <a:solidFill>
                  <a:schemeClr val="accent2"/>
                </a:solidFill>
                <a:latin typeface="微软雅黑" panose="020B0503020204020204" pitchFamily="34" charset="-122"/>
                <a:ea typeface="微软雅黑" panose="020B0503020204020204" pitchFamily="34" charset="-122"/>
              </a:rPr>
              <a:t>例</a:t>
            </a:r>
            <a:r>
              <a:rPr lang="en-US" altLang="zh-CN" b="1" dirty="0">
                <a:solidFill>
                  <a:schemeClr val="accent2"/>
                </a:solidFill>
                <a:latin typeface="微软雅黑" panose="020B0503020204020204" pitchFamily="34" charset="-122"/>
                <a:ea typeface="微软雅黑" panose="020B0503020204020204" pitchFamily="34" charset="-122"/>
              </a:rPr>
              <a:t>2】</a:t>
            </a:r>
            <a:r>
              <a:rPr lang="zh-CN" altLang="en-US" b="1" dirty="0">
                <a:solidFill>
                  <a:schemeClr val="accent2"/>
                </a:solidFill>
                <a:latin typeface="微软雅黑" panose="020B0503020204020204" pitchFamily="34" charset="-122"/>
                <a:ea typeface="微软雅黑" panose="020B0503020204020204" pitchFamily="34" charset="-122"/>
              </a:rPr>
              <a:t>国王</a:t>
            </a:r>
            <a:endParaRPr lang="en-US" altLang="zh-CN" b="1" dirty="0">
              <a:solidFill>
                <a:schemeClr val="accent2"/>
              </a:solidFill>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题目描述</a:t>
            </a:r>
          </a:p>
          <a:p>
            <a:pPr>
              <a:lnSpc>
                <a:spcPct val="150000"/>
              </a:lnSpc>
            </a:pPr>
            <a:r>
              <a:rPr lang="zh-CN" altLang="en-US" dirty="0">
                <a:latin typeface="微软雅黑" panose="020B0503020204020204" pitchFamily="34" charset="-122"/>
                <a:ea typeface="微软雅黑" panose="020B0503020204020204" pitchFamily="34" charset="-122"/>
              </a:rPr>
              <a:t>给你一个尺寸为</a:t>
            </a:r>
            <a:r>
              <a:rPr lang="en-US" altLang="zh-CN" dirty="0" err="1">
                <a:latin typeface="微软雅黑" panose="020B0503020204020204" pitchFamily="34" charset="-122"/>
                <a:ea typeface="微软雅黑" panose="020B0503020204020204" pitchFamily="34" charset="-122"/>
              </a:rPr>
              <a:t>n×n</a:t>
            </a:r>
            <a:r>
              <a:rPr lang="en-US" altLang="zh-CN" dirty="0">
                <a:latin typeface="微软雅黑" panose="020B0503020204020204" pitchFamily="34" charset="-122"/>
                <a:ea typeface="微软雅黑" panose="020B0503020204020204" pitchFamily="34" charset="-122"/>
              </a:rPr>
              <a:t>(1&lt;=n&lt;=10)</a:t>
            </a:r>
            <a:r>
              <a:rPr lang="zh-CN" altLang="en-US" dirty="0">
                <a:latin typeface="微软雅黑" panose="020B0503020204020204" pitchFamily="34" charset="-122"/>
                <a:ea typeface="微软雅黑" panose="020B0503020204020204" pitchFamily="34" charset="-122"/>
              </a:rPr>
              <a:t>的棋盘，上面放</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个国王。每个国王的攻击范围为</a:t>
            </a:r>
            <a:r>
              <a:rPr lang="zh-CN" altLang="en-US" b="1" dirty="0">
                <a:solidFill>
                  <a:schemeClr val="accent2"/>
                </a:solidFill>
                <a:latin typeface="微软雅黑" panose="020B0503020204020204" pitchFamily="34" charset="-122"/>
                <a:ea typeface="微软雅黑" panose="020B0503020204020204" pitchFamily="34" charset="-122"/>
              </a:rPr>
              <a:t>周围一圈的</a:t>
            </a:r>
            <a:r>
              <a:rPr lang="en-US" altLang="zh-CN" b="1" dirty="0">
                <a:solidFill>
                  <a:schemeClr val="accent2"/>
                </a:solidFill>
                <a:latin typeface="微软雅黑" panose="020B0503020204020204" pitchFamily="34" charset="-122"/>
                <a:ea typeface="微软雅黑" panose="020B0503020204020204" pitchFamily="34" charset="-122"/>
              </a:rPr>
              <a:t>8</a:t>
            </a:r>
            <a:r>
              <a:rPr lang="zh-CN" altLang="en-US" b="1" dirty="0">
                <a:solidFill>
                  <a:schemeClr val="accent2"/>
                </a:solidFill>
                <a:latin typeface="微软雅黑" panose="020B0503020204020204" pitchFamily="34" charset="-122"/>
                <a:ea typeface="微软雅黑" panose="020B0503020204020204" pitchFamily="34" charset="-122"/>
              </a:rPr>
              <a:t>个格</a:t>
            </a:r>
            <a:r>
              <a:rPr lang="zh-CN" altLang="en-US" dirty="0">
                <a:latin typeface="微软雅黑" panose="020B0503020204020204" pitchFamily="34" charset="-122"/>
                <a:ea typeface="微软雅黑" panose="020B0503020204020204" pitchFamily="34" charset="-122"/>
              </a:rPr>
              <a:t>。现在问你尺寸</a:t>
            </a:r>
            <a:r>
              <a:rPr lang="en-US" altLang="zh-CN" dirty="0" err="1">
                <a:latin typeface="微软雅黑" panose="020B0503020204020204" pitchFamily="34" charset="-122"/>
                <a:ea typeface="微软雅黑" panose="020B0503020204020204" pitchFamily="34" charset="-122"/>
              </a:rPr>
              <a:t>n×n</a:t>
            </a:r>
            <a:r>
              <a:rPr lang="zh-CN" altLang="en-US" dirty="0">
                <a:latin typeface="微软雅黑" panose="020B0503020204020204" pitchFamily="34" charset="-122"/>
                <a:ea typeface="微软雅黑" panose="020B0503020204020204" pitchFamily="34" charset="-122"/>
              </a:rPr>
              <a:t>的棋盘放</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个国王有多少种放置方法。</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输入格式</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输入有多种方案，每组数据只有一行为两个整数</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输出格式</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每组数据一行为方案总数，若不能放置则输出</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样例输入</a:t>
            </a: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3 2</a:t>
            </a:r>
          </a:p>
          <a:p>
            <a:pPr>
              <a:lnSpc>
                <a:spcPct val="150000"/>
              </a:lnSpc>
            </a:pPr>
            <a:r>
              <a:rPr lang="en-US" altLang="zh-CN" dirty="0">
                <a:latin typeface="微软雅黑" panose="020B0503020204020204" pitchFamily="34" charset="-122"/>
                <a:ea typeface="微软雅黑" panose="020B0503020204020204" pitchFamily="34" charset="-122"/>
              </a:rPr>
              <a:t>4 4</a:t>
            </a:r>
          </a:p>
          <a:p>
            <a:pPr>
              <a:lnSpc>
                <a:spcPct val="150000"/>
              </a:lnSpc>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样例输出</a:t>
            </a:r>
            <a:r>
              <a:rPr lang="en-US" altLang="zh-CN" dirty="0">
                <a:latin typeface="微软雅黑" panose="020B0503020204020204" pitchFamily="34" charset="-122"/>
                <a:ea typeface="微软雅黑" panose="020B0503020204020204" pitchFamily="34" charset="-122"/>
              </a:rPr>
              <a:t>】</a:t>
            </a:r>
          </a:p>
          <a:p>
            <a:pPr>
              <a:lnSpc>
                <a:spcPct val="150000"/>
              </a:lnSpc>
            </a:pPr>
            <a:r>
              <a:rPr lang="en-US" altLang="zh-CN" dirty="0">
                <a:latin typeface="微软雅黑" panose="020B0503020204020204" pitchFamily="34" charset="-122"/>
                <a:ea typeface="微软雅黑" panose="020B0503020204020204" pitchFamily="34" charset="-122"/>
              </a:rPr>
              <a:t>16</a:t>
            </a:r>
          </a:p>
          <a:p>
            <a:pPr>
              <a:lnSpc>
                <a:spcPct val="150000"/>
              </a:lnSpc>
            </a:pPr>
            <a:r>
              <a:rPr lang="en-US" altLang="zh-CN" dirty="0">
                <a:latin typeface="微软雅黑" panose="020B0503020204020204" pitchFamily="34" charset="-122"/>
                <a:ea typeface="微软雅黑" panose="020B0503020204020204" pitchFamily="34" charset="-122"/>
              </a:rPr>
              <a:t>79</a:t>
            </a:r>
          </a:p>
          <a:p>
            <a:pPr>
              <a:lnSpc>
                <a:spcPct val="200000"/>
              </a:lnSpc>
            </a:pP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xmlns="" val="257338008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a:extLst>
              <a:ext uri="{FF2B5EF4-FFF2-40B4-BE49-F238E27FC236}">
                <a16:creationId xmlns:a16="http://schemas.microsoft.com/office/drawing/2014/main" xmlns="" id="{56752723-DE7F-47E0-8824-38387C444C3E}"/>
              </a:ext>
            </a:extLst>
          </p:cNvPr>
          <p:cNvSpPr/>
          <p:nvPr/>
        </p:nvSpPr>
        <p:spPr>
          <a:xfrm>
            <a:off x="881849" y="1477199"/>
            <a:ext cx="1005281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问题分析</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p:txBody>
      </p:sp>
      <p:sp>
        <p:nvSpPr>
          <p:cNvPr id="4" name="矩形 3">
            <a:extLst>
              <a:ext uri="{FF2B5EF4-FFF2-40B4-BE49-F238E27FC236}">
                <a16:creationId xmlns:a16="http://schemas.microsoft.com/office/drawing/2014/main" xmlns="" id="{C30FA300-C328-4A21-90B3-63EA3C650C05}"/>
              </a:ext>
            </a:extLst>
          </p:cNvPr>
          <p:cNvSpPr/>
          <p:nvPr/>
        </p:nvSpPr>
        <p:spPr>
          <a:xfrm>
            <a:off x="-636233" y="1549251"/>
            <a:ext cx="9980682" cy="561179"/>
          </a:xfrm>
          <a:prstGeom prst="rect">
            <a:avLst/>
          </a:prstGeom>
        </p:spPr>
        <p:txBody>
          <a:bodyPr wrap="square">
            <a:spAutoFit/>
          </a:bodyPr>
          <a:lstStyle/>
          <a:p>
            <a:pPr>
              <a:lnSpc>
                <a:spcPct val="200000"/>
              </a:lnSpc>
            </a:pPr>
            <a:r>
              <a:rPr lang="en-US" altLang="zh-CN" dirty="0">
                <a:solidFill>
                  <a:srgbClr val="514843"/>
                </a:solidFill>
                <a:latin typeface="微软雅黑" panose="020B0503020204020204" pitchFamily="34" charset="-122"/>
                <a:ea typeface="微软雅黑" panose="020B0503020204020204" pitchFamily="34" charset="-122"/>
              </a:rPr>
              <a:t> </a:t>
            </a:r>
            <a:endParaRPr lang="zh-CN" altLang="en-US" sz="1600" dirty="0"/>
          </a:p>
        </p:txBody>
      </p:sp>
      <p:sp>
        <p:nvSpPr>
          <p:cNvPr id="6" name="矩形 5">
            <a:extLst>
              <a:ext uri="{FF2B5EF4-FFF2-40B4-BE49-F238E27FC236}">
                <a16:creationId xmlns:a16="http://schemas.microsoft.com/office/drawing/2014/main" xmlns="" id="{C83FBD9F-DA46-4D87-88B9-20AB80647106}"/>
              </a:ext>
            </a:extLst>
          </p:cNvPr>
          <p:cNvSpPr/>
          <p:nvPr/>
        </p:nvSpPr>
        <p:spPr>
          <a:xfrm>
            <a:off x="1009935" y="1840612"/>
            <a:ext cx="10075647" cy="4942507"/>
          </a:xfrm>
          <a:prstGeom prst="rect">
            <a:avLst/>
          </a:prstGeom>
        </p:spPr>
        <p:txBody>
          <a:bodyPr wrap="square">
            <a:spAutoFit/>
          </a:bodyPr>
          <a:lstStyle/>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国王只能影响周围的一个格子，搜索剪枝条件减少；</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当我们摆放第</a:t>
            </a:r>
            <a:r>
              <a:rPr lang="en-US" altLang="zh-CN" sz="1600" dirty="0" err="1">
                <a:latin typeface="微软雅黑" panose="020B0503020204020204" pitchFamily="34" charset="-122"/>
                <a:ea typeface="微软雅黑" panose="020B0503020204020204" pitchFamily="34" charset="-122"/>
              </a:rPr>
              <a:t>i</a:t>
            </a:r>
            <a:r>
              <a:rPr lang="zh-CN" altLang="en-US" sz="1600" dirty="0">
                <a:latin typeface="微软雅黑" panose="020B0503020204020204" pitchFamily="34" charset="-122"/>
                <a:ea typeface="微软雅黑" panose="020B0503020204020204" pitchFamily="34" charset="-122"/>
              </a:rPr>
              <a:t>行时，这一行只会和前后一行互相影响，而这一行状态是可以确定的。可以把一行当做一个整体，每一行对下一行的影响就体现在这一行的摆放方式以及之前总共放了多少国王。</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把摆放方式作为状态，设</a:t>
            </a:r>
            <a:r>
              <a:rPr lang="en-US" altLang="zh-CN" sz="1600" b="1" dirty="0">
                <a:solidFill>
                  <a:schemeClr val="accent2"/>
                </a:solidFill>
                <a:latin typeface="微软雅黑" panose="020B0503020204020204" pitchFamily="34" charset="-122"/>
                <a:ea typeface="微软雅黑" panose="020B0503020204020204" pitchFamily="34" charset="-122"/>
              </a:rPr>
              <a:t>f[</a:t>
            </a:r>
            <a:r>
              <a:rPr lang="en-US" altLang="zh-CN" sz="1600" b="1" dirty="0" err="1">
                <a:solidFill>
                  <a:schemeClr val="accent2"/>
                </a:solidFill>
                <a:latin typeface="微软雅黑" panose="020B0503020204020204" pitchFamily="34" charset="-122"/>
                <a:ea typeface="微软雅黑" panose="020B0503020204020204" pitchFamily="34" charset="-122"/>
              </a:rPr>
              <a:t>i,j,s</a:t>
            </a:r>
            <a:r>
              <a:rPr lang="en-US" altLang="zh-CN" sz="1600" b="1" dirty="0">
                <a:solidFill>
                  <a:schemeClr val="accent2"/>
                </a:solidFill>
                <a:latin typeface="微软雅黑" panose="020B0503020204020204" pitchFamily="34" charset="-122"/>
                <a:ea typeface="微软雅黑" panose="020B0503020204020204" pitchFamily="34" charset="-122"/>
              </a:rPr>
              <a:t>]</a:t>
            </a:r>
            <a:r>
              <a:rPr lang="zh-CN" altLang="en-US" sz="1600" b="1" dirty="0">
                <a:solidFill>
                  <a:schemeClr val="accent2"/>
                </a:solidFill>
                <a:latin typeface="微软雅黑" panose="020B0503020204020204" pitchFamily="34" charset="-122"/>
                <a:ea typeface="微软雅黑" panose="020B0503020204020204" pitchFamily="34" charset="-122"/>
              </a:rPr>
              <a:t>表示第</a:t>
            </a:r>
            <a:r>
              <a:rPr lang="en-US" altLang="zh-CN" sz="1600" b="1" dirty="0" err="1">
                <a:solidFill>
                  <a:schemeClr val="accent2"/>
                </a:solidFill>
                <a:latin typeface="微软雅黑" panose="020B0503020204020204" pitchFamily="34" charset="-122"/>
                <a:ea typeface="微软雅黑" panose="020B0503020204020204" pitchFamily="34" charset="-122"/>
              </a:rPr>
              <a:t>i</a:t>
            </a:r>
            <a:r>
              <a:rPr lang="zh-CN" altLang="en-US" sz="1600" b="1" dirty="0">
                <a:solidFill>
                  <a:schemeClr val="accent2"/>
                </a:solidFill>
                <a:latin typeface="微软雅黑" panose="020B0503020204020204" pitchFamily="34" charset="-122"/>
                <a:ea typeface="微软雅黑" panose="020B0503020204020204" pitchFamily="34" charset="-122"/>
              </a:rPr>
              <a:t>行状态为</a:t>
            </a:r>
            <a:r>
              <a:rPr lang="en-US" altLang="zh-CN" sz="1600" b="1" dirty="0">
                <a:solidFill>
                  <a:schemeClr val="accent2"/>
                </a:solidFill>
                <a:latin typeface="微软雅黑" panose="020B0503020204020204" pitchFamily="34" charset="-122"/>
                <a:ea typeface="微软雅黑" panose="020B0503020204020204" pitchFamily="34" charset="-122"/>
              </a:rPr>
              <a:t>a[j]</a:t>
            </a:r>
            <a:r>
              <a:rPr lang="zh-CN" altLang="en-US" sz="1600" b="1" dirty="0">
                <a:solidFill>
                  <a:schemeClr val="accent2"/>
                </a:solidFill>
                <a:latin typeface="微软雅黑" panose="020B0503020204020204" pitchFamily="34" charset="-122"/>
                <a:ea typeface="微软雅黑" panose="020B0503020204020204" pitchFamily="34" charset="-122"/>
              </a:rPr>
              <a:t>且前</a:t>
            </a:r>
            <a:r>
              <a:rPr lang="en-US" altLang="zh-CN" sz="1600" b="1" dirty="0" err="1">
                <a:solidFill>
                  <a:schemeClr val="accent2"/>
                </a:solidFill>
                <a:latin typeface="微软雅黑" panose="020B0503020204020204" pitchFamily="34" charset="-122"/>
                <a:ea typeface="微软雅黑" panose="020B0503020204020204" pitchFamily="34" charset="-122"/>
              </a:rPr>
              <a:t>i</a:t>
            </a:r>
            <a:r>
              <a:rPr lang="zh-CN" altLang="en-US" sz="1600" b="1" dirty="0">
                <a:solidFill>
                  <a:schemeClr val="accent2"/>
                </a:solidFill>
                <a:latin typeface="微软雅黑" panose="020B0503020204020204" pitchFamily="34" charset="-122"/>
                <a:ea typeface="微软雅黑" panose="020B0503020204020204" pitchFamily="34" charset="-122"/>
              </a:rPr>
              <a:t>行已放</a:t>
            </a:r>
            <a:r>
              <a:rPr lang="en-US" altLang="zh-CN" sz="1600" b="1" dirty="0">
                <a:solidFill>
                  <a:schemeClr val="accent2"/>
                </a:solidFill>
                <a:latin typeface="微软雅黑" panose="020B0503020204020204" pitchFamily="34" charset="-122"/>
                <a:ea typeface="微软雅黑" panose="020B0503020204020204" pitchFamily="34" charset="-122"/>
              </a:rPr>
              <a:t>s</a:t>
            </a:r>
            <a:r>
              <a:rPr lang="zh-CN" altLang="en-US" sz="1600" b="1" dirty="0">
                <a:solidFill>
                  <a:schemeClr val="accent2"/>
                </a:solidFill>
                <a:latin typeface="微软雅黑" panose="020B0503020204020204" pitchFamily="34" charset="-122"/>
                <a:ea typeface="微软雅黑" panose="020B0503020204020204" pitchFamily="34" charset="-122"/>
              </a:rPr>
              <a:t>个国王的方案数</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状态转移方程如下：</a:t>
            </a:r>
          </a:p>
          <a:p>
            <a:pPr marL="285750" indent="-285750">
              <a:lnSpc>
                <a:spcPct val="200000"/>
              </a:lnSpc>
              <a:buFont typeface="Arial" panose="020B0604020202020204" pitchFamily="34" charset="0"/>
              <a:buChar char="•"/>
            </a:pPr>
            <a:r>
              <a:rPr lang="en-US" altLang="zh-CN" sz="1600" b="1" dirty="0">
                <a:solidFill>
                  <a:schemeClr val="accent2"/>
                </a:solidFill>
                <a:latin typeface="微软雅黑" panose="020B0503020204020204" pitchFamily="34" charset="-122"/>
                <a:ea typeface="微软雅黑" panose="020B0503020204020204" pitchFamily="34" charset="-122"/>
              </a:rPr>
              <a:t>f[</a:t>
            </a:r>
            <a:r>
              <a:rPr lang="en-US" altLang="zh-CN" sz="1600" b="1" dirty="0" err="1">
                <a:solidFill>
                  <a:schemeClr val="accent2"/>
                </a:solidFill>
                <a:latin typeface="微软雅黑" panose="020B0503020204020204" pitchFamily="34" charset="-122"/>
                <a:ea typeface="微软雅黑" panose="020B0503020204020204" pitchFamily="34" charset="-122"/>
              </a:rPr>
              <a:t>i,j,s</a:t>
            </a:r>
            <a:r>
              <a:rPr lang="en-US" altLang="zh-CN" sz="1600" b="1" dirty="0">
                <a:solidFill>
                  <a:schemeClr val="accent2"/>
                </a:solidFill>
                <a:latin typeface="微软雅黑" panose="020B0503020204020204" pitchFamily="34" charset="-122"/>
                <a:ea typeface="微软雅黑" panose="020B0503020204020204" pitchFamily="34" charset="-122"/>
              </a:rPr>
              <a:t>]+=f[i-1,t,s-num[j]]</a:t>
            </a:r>
          </a:p>
          <a:p>
            <a:pPr>
              <a:lnSpc>
                <a:spcPct val="200000"/>
              </a:lnSpc>
            </a:pPr>
            <a:r>
              <a:rPr lang="zh-CN" altLang="en-US" sz="1600" dirty="0">
                <a:latin typeface="微软雅黑" panose="020B0503020204020204" pitchFamily="34" charset="-122"/>
                <a:ea typeface="微软雅黑" panose="020B0503020204020204" pitchFamily="34" charset="-122"/>
              </a:rPr>
              <a:t>其中</a:t>
            </a:r>
            <a:r>
              <a:rPr lang="en-US" altLang="zh-CN" sz="1600" dirty="0">
                <a:latin typeface="微软雅黑" panose="020B0503020204020204" pitchFamily="34" charset="-122"/>
                <a:ea typeface="微软雅黑" panose="020B0503020204020204" pitchFamily="34" charset="-122"/>
              </a:rPr>
              <a:t>j</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t</a:t>
            </a:r>
            <a:r>
              <a:rPr lang="zh-CN" altLang="en-US" sz="1600" dirty="0">
                <a:latin typeface="微软雅黑" panose="020B0503020204020204" pitchFamily="34" charset="-122"/>
                <a:ea typeface="微软雅黑" panose="020B0503020204020204" pitchFamily="34" charset="-122"/>
              </a:rPr>
              <a:t>两个状态是可以放在上下两行的，</a:t>
            </a:r>
            <a:r>
              <a:rPr lang="en-US" altLang="zh-CN" sz="1600" dirty="0">
                <a:latin typeface="微软雅黑" panose="020B0503020204020204" pitchFamily="34" charset="-122"/>
                <a:ea typeface="微软雅黑" panose="020B0503020204020204" pitchFamily="34" charset="-122"/>
              </a:rPr>
              <a:t>num[j]</a:t>
            </a:r>
            <a:r>
              <a:rPr lang="zh-CN" altLang="en-US" sz="1600" dirty="0">
                <a:latin typeface="微软雅黑" panose="020B0503020204020204" pitchFamily="34" charset="-122"/>
                <a:ea typeface="微软雅黑" panose="020B0503020204020204" pitchFamily="34" charset="-122"/>
              </a:rPr>
              <a:t>表示第</a:t>
            </a:r>
            <a:r>
              <a:rPr lang="en-US" altLang="zh-CN" sz="1600" dirty="0" err="1">
                <a:latin typeface="微软雅黑" panose="020B0503020204020204" pitchFamily="34" charset="-122"/>
                <a:ea typeface="微软雅黑" panose="020B0503020204020204" pitchFamily="34" charset="-122"/>
              </a:rPr>
              <a:t>i</a:t>
            </a:r>
            <a:r>
              <a:rPr lang="zh-CN" altLang="en-US" sz="1600" dirty="0">
                <a:latin typeface="微软雅黑" panose="020B0503020204020204" pitchFamily="34" charset="-122"/>
                <a:ea typeface="微软雅黑" panose="020B0503020204020204" pitchFamily="34" charset="-122"/>
              </a:rPr>
              <a:t>行放置</a:t>
            </a:r>
            <a:r>
              <a:rPr lang="en-US" altLang="zh-CN" sz="1600" dirty="0">
                <a:latin typeface="微软雅黑" panose="020B0503020204020204" pitchFamily="34" charset="-122"/>
                <a:ea typeface="微软雅黑" panose="020B0503020204020204" pitchFamily="34" charset="-122"/>
              </a:rPr>
              <a:t>j</a:t>
            </a:r>
            <a:r>
              <a:rPr lang="zh-CN" altLang="en-US" sz="1600" dirty="0">
                <a:latin typeface="微软雅黑" panose="020B0503020204020204" pitchFamily="34" charset="-122"/>
                <a:ea typeface="微软雅黑" panose="020B0503020204020204" pitchFamily="34" charset="-122"/>
              </a:rPr>
              <a:t>这种方式放置的国王数</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每种状态用</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位二进制数表示：</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表示放置国王，</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表示不放（状态压缩）</a:t>
            </a:r>
          </a:p>
          <a:p>
            <a:pPr marL="285750" indent="-285750">
              <a:lnSpc>
                <a:spcPct val="200000"/>
              </a:lnSpc>
              <a:buFont typeface="Arial" panose="020B0604020202020204" pitchFamily="34" charset="0"/>
              <a:buChar char="•"/>
            </a:pPr>
            <a:r>
              <a:rPr lang="zh-CN" altLang="en-US" sz="1600" b="1" dirty="0">
                <a:solidFill>
                  <a:schemeClr val="accent2"/>
                </a:solidFill>
                <a:latin typeface="微软雅黑" panose="020B0503020204020204" pitchFamily="34" charset="-122"/>
                <a:ea typeface="微软雅黑" panose="020B0503020204020204" pitchFamily="34" charset="-122"/>
              </a:rPr>
              <a:t>预处理</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枚举每行可能状态（</a:t>
            </a:r>
            <a:r>
              <a:rPr lang="en-US" altLang="zh-CN" sz="1600" dirty="0">
                <a:latin typeface="微软雅黑" panose="020B0503020204020204" pitchFamily="34" charset="-122"/>
                <a:ea typeface="微软雅黑" panose="020B0503020204020204" pitchFamily="34" charset="-122"/>
              </a:rPr>
              <a:t>1&lt;&lt;n</a:t>
            </a:r>
            <a:r>
              <a:rPr lang="zh-CN" altLang="en-US" sz="1600" dirty="0">
                <a:latin typeface="微软雅黑" panose="020B0503020204020204" pitchFamily="34" charset="-122"/>
                <a:ea typeface="微软雅黑" panose="020B0503020204020204" pitchFamily="34" charset="-122"/>
              </a:rPr>
              <a:t>种）：不能互相攻击</a:t>
            </a:r>
          </a:p>
          <a:p>
            <a:pPr>
              <a:lnSpc>
                <a:spcPct val="20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每种状态放置的国王数</a:t>
            </a:r>
          </a:p>
          <a:p>
            <a:pPr>
              <a:lnSpc>
                <a:spcPct val="200000"/>
              </a:lnSpc>
            </a:pP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xmlns="" val="211726298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a:extLst>
              <a:ext uri="{FF2B5EF4-FFF2-40B4-BE49-F238E27FC236}">
                <a16:creationId xmlns:a16="http://schemas.microsoft.com/office/drawing/2014/main" xmlns="" id="{56752723-DE7F-47E0-8824-38387C444C3E}"/>
              </a:ext>
            </a:extLst>
          </p:cNvPr>
          <p:cNvSpPr/>
          <p:nvPr/>
        </p:nvSpPr>
        <p:spPr>
          <a:xfrm>
            <a:off x="899604" y="1352496"/>
            <a:ext cx="1005281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lang="zh-CN" altLang="en-US" b="1" dirty="0">
                <a:solidFill>
                  <a:srgbClr val="6D7D66"/>
                </a:solidFill>
                <a:latin typeface="微软雅黑" panose="020B0503020204020204" pitchFamily="34" charset="-122"/>
                <a:ea typeface="微软雅黑" panose="020B0503020204020204" pitchFamily="34" charset="-122"/>
              </a:rPr>
              <a:t>参考程序</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p:txBody>
      </p:sp>
      <p:sp>
        <p:nvSpPr>
          <p:cNvPr id="4" name="矩形 3">
            <a:extLst>
              <a:ext uri="{FF2B5EF4-FFF2-40B4-BE49-F238E27FC236}">
                <a16:creationId xmlns:a16="http://schemas.microsoft.com/office/drawing/2014/main" xmlns="" id="{C30FA300-C328-4A21-90B3-63EA3C650C05}"/>
              </a:ext>
            </a:extLst>
          </p:cNvPr>
          <p:cNvSpPr/>
          <p:nvPr/>
        </p:nvSpPr>
        <p:spPr>
          <a:xfrm>
            <a:off x="-636233" y="1549251"/>
            <a:ext cx="9980682" cy="561179"/>
          </a:xfrm>
          <a:prstGeom prst="rect">
            <a:avLst/>
          </a:prstGeom>
        </p:spPr>
        <p:txBody>
          <a:bodyPr wrap="square">
            <a:spAutoFit/>
          </a:bodyPr>
          <a:lstStyle/>
          <a:p>
            <a:pPr>
              <a:lnSpc>
                <a:spcPct val="200000"/>
              </a:lnSpc>
            </a:pPr>
            <a:r>
              <a:rPr lang="en-US" altLang="zh-CN" dirty="0">
                <a:solidFill>
                  <a:srgbClr val="514843"/>
                </a:solidFill>
                <a:latin typeface="微软雅黑" panose="020B0503020204020204" pitchFamily="34" charset="-122"/>
                <a:ea typeface="微软雅黑" panose="020B0503020204020204" pitchFamily="34" charset="-122"/>
              </a:rPr>
              <a:t> </a:t>
            </a:r>
            <a:endParaRPr lang="zh-CN" altLang="en-US" sz="1600" dirty="0"/>
          </a:p>
        </p:txBody>
      </p:sp>
      <p:pic>
        <p:nvPicPr>
          <p:cNvPr id="3" name="图片 2">
            <a:extLst>
              <a:ext uri="{FF2B5EF4-FFF2-40B4-BE49-F238E27FC236}">
                <a16:creationId xmlns:a16="http://schemas.microsoft.com/office/drawing/2014/main" xmlns="" id="{1CDCB15D-8892-41CF-95DF-1330BC97856E}"/>
              </a:ext>
            </a:extLst>
          </p:cNvPr>
          <p:cNvPicPr>
            <a:picLocks noChangeAspect="1"/>
          </p:cNvPicPr>
          <p:nvPr/>
        </p:nvPicPr>
        <p:blipFill>
          <a:blip r:embed="rId3" cstate="print"/>
          <a:stretch>
            <a:fillRect/>
          </a:stretch>
        </p:blipFill>
        <p:spPr>
          <a:xfrm>
            <a:off x="1104899" y="1774457"/>
            <a:ext cx="6873583" cy="3361716"/>
          </a:xfrm>
          <a:prstGeom prst="rect">
            <a:avLst/>
          </a:prstGeom>
        </p:spPr>
      </p:pic>
    </p:spTree>
    <p:extLst>
      <p:ext uri="{BB962C8B-B14F-4D97-AF65-F5344CB8AC3E}">
        <p14:creationId xmlns:p14="http://schemas.microsoft.com/office/powerpoint/2010/main" xmlns="" val="205459310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a:extLst>
              <a:ext uri="{FF2B5EF4-FFF2-40B4-BE49-F238E27FC236}">
                <a16:creationId xmlns:a16="http://schemas.microsoft.com/office/drawing/2014/main" xmlns="" id="{56752723-DE7F-47E0-8824-38387C444C3E}"/>
              </a:ext>
            </a:extLst>
          </p:cNvPr>
          <p:cNvSpPr/>
          <p:nvPr/>
        </p:nvSpPr>
        <p:spPr>
          <a:xfrm>
            <a:off x="899604" y="1352496"/>
            <a:ext cx="1005281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lang="zh-CN" altLang="en-US" b="1" dirty="0">
                <a:solidFill>
                  <a:srgbClr val="6D7D66"/>
                </a:solidFill>
                <a:latin typeface="微软雅黑" panose="020B0503020204020204" pitchFamily="34" charset="-122"/>
                <a:ea typeface="微软雅黑" panose="020B0503020204020204" pitchFamily="34" charset="-122"/>
              </a:rPr>
              <a:t>参考程序</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p:txBody>
      </p:sp>
      <p:sp>
        <p:nvSpPr>
          <p:cNvPr id="4" name="矩形 3">
            <a:extLst>
              <a:ext uri="{FF2B5EF4-FFF2-40B4-BE49-F238E27FC236}">
                <a16:creationId xmlns:a16="http://schemas.microsoft.com/office/drawing/2014/main" xmlns="" id="{C30FA300-C328-4A21-90B3-63EA3C650C05}"/>
              </a:ext>
            </a:extLst>
          </p:cNvPr>
          <p:cNvSpPr/>
          <p:nvPr/>
        </p:nvSpPr>
        <p:spPr>
          <a:xfrm>
            <a:off x="-636233" y="1549251"/>
            <a:ext cx="9980682" cy="561179"/>
          </a:xfrm>
          <a:prstGeom prst="rect">
            <a:avLst/>
          </a:prstGeom>
        </p:spPr>
        <p:txBody>
          <a:bodyPr wrap="square">
            <a:spAutoFit/>
          </a:bodyPr>
          <a:lstStyle/>
          <a:p>
            <a:pPr>
              <a:lnSpc>
                <a:spcPct val="200000"/>
              </a:lnSpc>
            </a:pPr>
            <a:r>
              <a:rPr lang="en-US" altLang="zh-CN" dirty="0">
                <a:solidFill>
                  <a:srgbClr val="514843"/>
                </a:solidFill>
                <a:latin typeface="微软雅黑" panose="020B0503020204020204" pitchFamily="34" charset="-122"/>
                <a:ea typeface="微软雅黑" panose="020B0503020204020204" pitchFamily="34" charset="-122"/>
              </a:rPr>
              <a:t> </a:t>
            </a:r>
            <a:endParaRPr lang="zh-CN" altLang="en-US" sz="1600" dirty="0"/>
          </a:p>
        </p:txBody>
      </p:sp>
      <p:pic>
        <p:nvPicPr>
          <p:cNvPr id="6" name="图片 5">
            <a:extLst>
              <a:ext uri="{FF2B5EF4-FFF2-40B4-BE49-F238E27FC236}">
                <a16:creationId xmlns:a16="http://schemas.microsoft.com/office/drawing/2014/main" xmlns="" id="{FA1D1B35-BA86-41F0-82FE-9DA4EA1E5F2D}"/>
              </a:ext>
            </a:extLst>
          </p:cNvPr>
          <p:cNvPicPr>
            <a:picLocks noChangeAspect="1"/>
          </p:cNvPicPr>
          <p:nvPr/>
        </p:nvPicPr>
        <p:blipFill>
          <a:blip r:embed="rId3" cstate="print"/>
          <a:stretch>
            <a:fillRect/>
          </a:stretch>
        </p:blipFill>
        <p:spPr>
          <a:xfrm>
            <a:off x="899604" y="1829840"/>
            <a:ext cx="10792287" cy="3509565"/>
          </a:xfrm>
          <a:prstGeom prst="rect">
            <a:avLst/>
          </a:prstGeom>
        </p:spPr>
      </p:pic>
    </p:spTree>
    <p:extLst>
      <p:ext uri="{BB962C8B-B14F-4D97-AF65-F5344CB8AC3E}">
        <p14:creationId xmlns:p14="http://schemas.microsoft.com/office/powerpoint/2010/main" xmlns="" val="302887690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endParaRPr lang="zh-CN" altLang="zh-CN" dirty="0"/>
          </a:p>
        </p:txBody>
      </p:sp>
      <p:sp>
        <p:nvSpPr>
          <p:cNvPr id="4" name="文本框 3"/>
          <p:cNvSpPr txBox="1"/>
          <p:nvPr/>
        </p:nvSpPr>
        <p:spPr>
          <a:xfrm>
            <a:off x="919222" y="1173162"/>
            <a:ext cx="10166360" cy="5878532"/>
          </a:xfrm>
          <a:prstGeom prst="rect">
            <a:avLst/>
          </a:prstGeom>
          <a:noFill/>
        </p:spPr>
        <p:txBody>
          <a:bodyPr wrap="square" rtlCol="0" anchor="t">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altLang="zh-CN"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习题练习</a:t>
            </a:r>
            <a:r>
              <a:rPr kumimoji="0" lang="en-US" altLang="zh-CN"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牧场的安排</a:t>
            </a:r>
            <a:endParaRPr kumimoji="0" lang="en-US" altLang="zh-CN"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endParaRPr>
          </a:p>
          <a:p>
            <a:pPr lvl="0">
              <a:lnSpc>
                <a:spcPct val="200000"/>
              </a:lnSpc>
              <a:defRPr/>
            </a:pPr>
            <a:r>
              <a:rPr lang="en-US" altLang="zh-CN" sz="1600" dirty="0">
                <a:latin typeface="微软雅黑" panose="020B0503020204020204" pitchFamily="34" charset="-122"/>
                <a:ea typeface="微软雅黑" panose="020B0503020204020204" pitchFamily="34" charset="-122"/>
              </a:rPr>
              <a:t>Farmer John</a:t>
            </a:r>
            <a:r>
              <a:rPr lang="zh-CN" altLang="en-US" sz="1600" dirty="0">
                <a:latin typeface="微软雅黑" panose="020B0503020204020204" pitchFamily="34" charset="-122"/>
                <a:ea typeface="微软雅黑" panose="020B0503020204020204" pitchFamily="34" charset="-122"/>
              </a:rPr>
              <a:t>新买了一块长方形的牧场，这块牧场被划分成</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列</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行</a:t>
            </a:r>
            <a:r>
              <a:rPr lang="en-US" altLang="zh-CN" sz="1600" dirty="0">
                <a:latin typeface="微软雅黑" panose="020B0503020204020204" pitchFamily="34" charset="-122"/>
                <a:ea typeface="微软雅黑" panose="020B0503020204020204" pitchFamily="34" charset="-122"/>
              </a:rPr>
              <a:t>(1&lt;=M&lt;=12; 1&lt;=N&lt;=12)</a:t>
            </a:r>
            <a:r>
              <a:rPr lang="zh-CN" altLang="en-US" sz="1600" dirty="0">
                <a:latin typeface="微软雅黑" panose="020B0503020204020204" pitchFamily="34" charset="-122"/>
                <a:ea typeface="微软雅黑" panose="020B0503020204020204" pitchFamily="34" charset="-122"/>
              </a:rPr>
              <a:t>，每一格都是一块正方形的土地。</a:t>
            </a:r>
            <a:r>
              <a:rPr lang="en-US" altLang="zh-CN" sz="1600" dirty="0">
                <a:latin typeface="微软雅黑" panose="020B0503020204020204" pitchFamily="34" charset="-122"/>
                <a:ea typeface="微软雅黑" panose="020B0503020204020204" pitchFamily="34" charset="-122"/>
              </a:rPr>
              <a:t>FJ</a:t>
            </a:r>
            <a:r>
              <a:rPr lang="zh-CN" altLang="en-US" sz="1600" dirty="0">
                <a:latin typeface="微软雅黑" panose="020B0503020204020204" pitchFamily="34" charset="-122"/>
                <a:ea typeface="微软雅黑" panose="020B0503020204020204" pitchFamily="34" charset="-122"/>
              </a:rPr>
              <a:t>打算在牧场上的某几格土地里种上美味的草，供他的奶牛们享用。遗憾的是，有些土地相当的贫瘠，不能用来放牧。并且，奶牛们喜欢独占一块草地的感觉，于是</a:t>
            </a:r>
            <a:r>
              <a:rPr lang="en-US" altLang="zh-CN" sz="1600" dirty="0">
                <a:latin typeface="微软雅黑" panose="020B0503020204020204" pitchFamily="34" charset="-122"/>
                <a:ea typeface="微软雅黑" panose="020B0503020204020204" pitchFamily="34" charset="-122"/>
              </a:rPr>
              <a:t>FJ</a:t>
            </a:r>
            <a:r>
              <a:rPr lang="zh-CN" altLang="en-US" sz="1600" dirty="0">
                <a:latin typeface="微软雅黑" panose="020B0503020204020204" pitchFamily="34" charset="-122"/>
                <a:ea typeface="微软雅黑" panose="020B0503020204020204" pitchFamily="34" charset="-122"/>
              </a:rPr>
              <a:t>不会选择两块相邻的土地，也就是说，没有哪两块草地有公共边。当然，</a:t>
            </a:r>
            <a:r>
              <a:rPr lang="en-US" altLang="zh-CN" sz="1600" dirty="0">
                <a:latin typeface="微软雅黑" panose="020B0503020204020204" pitchFamily="34" charset="-122"/>
                <a:ea typeface="微软雅黑" panose="020B0503020204020204" pitchFamily="34" charset="-122"/>
              </a:rPr>
              <a:t>FJ</a:t>
            </a:r>
            <a:r>
              <a:rPr lang="zh-CN" altLang="en-US" sz="1600" dirty="0">
                <a:latin typeface="微软雅黑" panose="020B0503020204020204" pitchFamily="34" charset="-122"/>
                <a:ea typeface="微软雅黑" panose="020B0503020204020204" pitchFamily="34" charset="-122"/>
              </a:rPr>
              <a:t>还没有决定在哪些土地上种草。 作为一个好奇的农场主，</a:t>
            </a:r>
            <a:r>
              <a:rPr lang="en-US" altLang="zh-CN" sz="1600" dirty="0">
                <a:latin typeface="微软雅黑" panose="020B0503020204020204" pitchFamily="34" charset="-122"/>
                <a:ea typeface="微软雅黑" panose="020B0503020204020204" pitchFamily="34" charset="-122"/>
              </a:rPr>
              <a:t>FJ</a:t>
            </a:r>
            <a:r>
              <a:rPr lang="zh-CN" altLang="en-US" sz="1600" dirty="0">
                <a:latin typeface="微软雅黑" panose="020B0503020204020204" pitchFamily="34" charset="-122"/>
                <a:ea typeface="微软雅黑" panose="020B0503020204020204" pitchFamily="34" charset="-122"/>
              </a:rPr>
              <a:t>想知道，如果不考虑草地的总块数，那么，一共有多少种种植方案可供他选择。当然，把新的牧场荒废，不在任何土地上种草，也算一种方案。请你帮</a:t>
            </a:r>
            <a:r>
              <a:rPr lang="en-US" altLang="zh-CN" sz="1600" dirty="0">
                <a:latin typeface="微软雅黑" panose="020B0503020204020204" pitchFamily="34" charset="-122"/>
                <a:ea typeface="微软雅黑" panose="020B0503020204020204" pitchFamily="34" charset="-122"/>
              </a:rPr>
              <a:t>FJ</a:t>
            </a:r>
            <a:r>
              <a:rPr lang="zh-CN" altLang="en-US" sz="1600" dirty="0">
                <a:latin typeface="微软雅黑" panose="020B0503020204020204" pitchFamily="34" charset="-122"/>
                <a:ea typeface="微软雅黑" panose="020B0503020204020204" pitchFamily="34" charset="-122"/>
              </a:rPr>
              <a:t>算一下这个总方案数。</a:t>
            </a:r>
          </a:p>
          <a:p>
            <a:pPr lvl="0">
              <a:lnSpc>
                <a:spcPct val="200000"/>
              </a:lnSpc>
              <a:defRPr/>
            </a:pPr>
            <a:r>
              <a:rPr lang="en-US" altLang="zh-CN" sz="1600" dirty="0">
                <a:latin typeface="微软雅黑" panose="020B0503020204020204" pitchFamily="34" charset="-122"/>
                <a:ea typeface="微软雅黑" panose="020B0503020204020204" pitchFamily="34" charset="-122"/>
              </a:rPr>
              <a:t>Input</a:t>
            </a:r>
          </a:p>
          <a:p>
            <a:pPr lvl="0">
              <a:lnSpc>
                <a:spcPct val="200000"/>
              </a:lnSpc>
              <a:defRPr/>
            </a:pP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行</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两个正整数</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，用空格隔开</a:t>
            </a:r>
          </a:p>
          <a:p>
            <a:pPr lvl="0">
              <a:lnSpc>
                <a:spcPct val="200000"/>
              </a:lnSpc>
              <a:defRPr/>
            </a:pPr>
            <a:r>
              <a:rPr lang="zh-CN" altLang="en-US" sz="1600" dirty="0">
                <a:latin typeface="微软雅黑" panose="020B0503020204020204" pitchFamily="34" charset="-122"/>
                <a:ea typeface="微软雅黑" panose="020B0503020204020204" pitchFamily="34" charset="-122"/>
              </a:rPr>
              <a:t>* 第</a:t>
            </a:r>
            <a:r>
              <a:rPr lang="en-US" altLang="zh-CN" sz="1600" dirty="0">
                <a:latin typeface="微软雅黑" panose="020B0503020204020204" pitchFamily="34" charset="-122"/>
                <a:ea typeface="微软雅黑" panose="020B0503020204020204" pitchFamily="34" charset="-122"/>
              </a:rPr>
              <a:t>2..M+1</a:t>
            </a:r>
            <a:r>
              <a:rPr lang="zh-CN" altLang="en-US" sz="1600" dirty="0">
                <a:latin typeface="微软雅黑" panose="020B0503020204020204" pitchFamily="34" charset="-122"/>
                <a:ea typeface="微软雅黑" panose="020B0503020204020204" pitchFamily="34" charset="-122"/>
              </a:rPr>
              <a:t>行</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每行包含</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个用空格隔开的整数，描述了每块土地的状态。输入的第</a:t>
            </a:r>
            <a:r>
              <a:rPr lang="en-US" altLang="zh-CN" sz="1600" dirty="0">
                <a:latin typeface="微软雅黑" panose="020B0503020204020204" pitchFamily="34" charset="-122"/>
                <a:ea typeface="微软雅黑" panose="020B0503020204020204" pitchFamily="34" charset="-122"/>
              </a:rPr>
              <a:t>i+1</a:t>
            </a:r>
            <a:r>
              <a:rPr lang="zh-CN" altLang="en-US" sz="1600" dirty="0">
                <a:latin typeface="微软雅黑" panose="020B0503020204020204" pitchFamily="34" charset="-122"/>
                <a:ea typeface="微软雅黑" panose="020B0503020204020204" pitchFamily="34" charset="-122"/>
              </a:rPr>
              <a:t>行描述了第</a:t>
            </a:r>
            <a:r>
              <a:rPr lang="en-US" altLang="zh-CN" sz="1600" dirty="0" err="1">
                <a:latin typeface="微软雅黑" panose="020B0503020204020204" pitchFamily="34" charset="-122"/>
                <a:ea typeface="微软雅黑" panose="020B0503020204020204" pitchFamily="34" charset="-122"/>
              </a:rPr>
              <a:t>i</a:t>
            </a:r>
            <a:r>
              <a:rPr lang="zh-CN" altLang="en-US" sz="1600" dirty="0">
                <a:latin typeface="微软雅黑" panose="020B0503020204020204" pitchFamily="34" charset="-122"/>
                <a:ea typeface="微软雅黑" panose="020B0503020204020204" pitchFamily="34" charset="-122"/>
              </a:rPr>
              <a:t>行的土地。所有整数均为</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或</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，是</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的话，表示这块土地足够肥沃，</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则表示这块地上不适合种草</a:t>
            </a:r>
          </a:p>
          <a:p>
            <a:pPr lvl="0">
              <a:defRPr/>
            </a:pPr>
            <a:r>
              <a:rPr lang="en-US" altLang="zh-CN" sz="1600" dirty="0">
                <a:latin typeface="微软雅黑" panose="020B0503020204020204" pitchFamily="34" charset="-122"/>
                <a:ea typeface="微软雅黑" panose="020B0503020204020204" pitchFamily="34" charset="-122"/>
                <a:sym typeface="+mn-ea"/>
              </a:rPr>
              <a:t>	</a:t>
            </a: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xmlns="" val="57461153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endParaRPr lang="zh-CN" altLang="zh-CN" dirty="0"/>
          </a:p>
        </p:txBody>
      </p:sp>
      <p:sp>
        <p:nvSpPr>
          <p:cNvPr id="4" name="文本框 3"/>
          <p:cNvSpPr txBox="1"/>
          <p:nvPr/>
        </p:nvSpPr>
        <p:spPr>
          <a:xfrm>
            <a:off x="919222" y="1173162"/>
            <a:ext cx="10248887" cy="6063198"/>
          </a:xfrm>
          <a:prstGeom prst="rect">
            <a:avLst/>
          </a:prstGeom>
          <a:noFill/>
        </p:spPr>
        <p:txBody>
          <a:bodyPr wrap="square" rtlCol="0" anchor="t">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altLang="zh-CN"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习题练习</a:t>
            </a:r>
            <a:r>
              <a:rPr kumimoji="0" lang="en-US" altLang="zh-CN"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牧场的安排</a:t>
            </a:r>
            <a:endParaRPr kumimoji="0" lang="en-US" altLang="zh-CN"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endParaRPr>
          </a:p>
          <a:p>
            <a:pPr lvl="0">
              <a:lnSpc>
                <a:spcPct val="150000"/>
              </a:lnSpc>
              <a:defRPr/>
            </a:pPr>
            <a:r>
              <a:rPr lang="en-US" altLang="zh-CN" sz="1600" dirty="0">
                <a:latin typeface="微软雅黑" panose="020B0503020204020204" pitchFamily="34" charset="-122"/>
                <a:ea typeface="微软雅黑" panose="020B0503020204020204" pitchFamily="34" charset="-122"/>
              </a:rPr>
              <a:t>Output</a:t>
            </a:r>
          </a:p>
          <a:p>
            <a:pPr lvl="0">
              <a:lnSpc>
                <a:spcPct val="150000"/>
              </a:lnSpc>
              <a:defRPr/>
            </a:pP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行</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输出一个整数，即牧场分配总方案数除以</a:t>
            </a:r>
            <a:r>
              <a:rPr lang="en-US" altLang="zh-CN" sz="1600" dirty="0">
                <a:latin typeface="微软雅黑" panose="020B0503020204020204" pitchFamily="34" charset="-122"/>
                <a:ea typeface="微软雅黑" panose="020B0503020204020204" pitchFamily="34" charset="-122"/>
              </a:rPr>
              <a:t>100,000,000</a:t>
            </a:r>
            <a:r>
              <a:rPr lang="zh-CN" altLang="en-US" sz="1600" dirty="0">
                <a:latin typeface="微软雅黑" panose="020B0503020204020204" pitchFamily="34" charset="-122"/>
                <a:ea typeface="微软雅黑" panose="020B0503020204020204" pitchFamily="34" charset="-122"/>
              </a:rPr>
              <a:t>的余数</a:t>
            </a:r>
          </a:p>
          <a:p>
            <a:pPr lvl="0">
              <a:lnSpc>
                <a:spcPct val="150000"/>
              </a:lnSpc>
              <a:defRPr/>
            </a:pPr>
            <a:r>
              <a:rPr lang="en-US" altLang="zh-CN" sz="1600" dirty="0">
                <a:latin typeface="微软雅黑" panose="020B0503020204020204" pitchFamily="34" charset="-122"/>
                <a:ea typeface="微软雅黑" panose="020B0503020204020204" pitchFamily="34" charset="-122"/>
              </a:rPr>
              <a:t>Sample Input</a:t>
            </a:r>
          </a:p>
          <a:p>
            <a:pPr lvl="0">
              <a:lnSpc>
                <a:spcPct val="150000"/>
              </a:lnSpc>
              <a:defRPr/>
            </a:pPr>
            <a:r>
              <a:rPr lang="en-US" altLang="zh-CN" sz="1600" dirty="0">
                <a:latin typeface="微软雅黑" panose="020B0503020204020204" pitchFamily="34" charset="-122"/>
                <a:ea typeface="微软雅黑" panose="020B0503020204020204" pitchFamily="34" charset="-122"/>
              </a:rPr>
              <a:t>2 3</a:t>
            </a:r>
          </a:p>
          <a:p>
            <a:pPr lvl="0">
              <a:lnSpc>
                <a:spcPct val="150000"/>
              </a:lnSpc>
              <a:defRPr/>
            </a:pPr>
            <a:r>
              <a:rPr lang="en-US" altLang="zh-CN" sz="1600" dirty="0">
                <a:latin typeface="微软雅黑" panose="020B0503020204020204" pitchFamily="34" charset="-122"/>
                <a:ea typeface="微软雅黑" panose="020B0503020204020204" pitchFamily="34" charset="-122"/>
              </a:rPr>
              <a:t>1 1 1</a:t>
            </a:r>
          </a:p>
          <a:p>
            <a:pPr lvl="0">
              <a:lnSpc>
                <a:spcPct val="150000"/>
              </a:lnSpc>
              <a:defRPr/>
            </a:pPr>
            <a:r>
              <a:rPr lang="en-US" altLang="zh-CN" sz="1600" dirty="0">
                <a:latin typeface="微软雅黑" panose="020B0503020204020204" pitchFamily="34" charset="-122"/>
                <a:ea typeface="微软雅黑" panose="020B0503020204020204" pitchFamily="34" charset="-122"/>
              </a:rPr>
              <a:t>0 1 0</a:t>
            </a:r>
          </a:p>
          <a:p>
            <a:pPr lvl="0">
              <a:lnSpc>
                <a:spcPct val="150000"/>
              </a:lnSpc>
              <a:defRPr/>
            </a:pPr>
            <a:r>
              <a:rPr lang="en-US" altLang="zh-CN" sz="1600" dirty="0">
                <a:latin typeface="微软雅黑" panose="020B0503020204020204" pitchFamily="34" charset="-122"/>
                <a:ea typeface="微软雅黑" panose="020B0503020204020204" pitchFamily="34" charset="-122"/>
              </a:rPr>
              <a:t>Sample Output</a:t>
            </a:r>
          </a:p>
          <a:p>
            <a:pPr lvl="0">
              <a:lnSpc>
                <a:spcPct val="150000"/>
              </a:lnSpc>
              <a:defRPr/>
            </a:pPr>
            <a:r>
              <a:rPr lang="en-US" altLang="zh-CN" sz="1600" dirty="0">
                <a:latin typeface="微软雅黑" panose="020B0503020204020204" pitchFamily="34" charset="-122"/>
                <a:ea typeface="微软雅黑" panose="020B0503020204020204" pitchFamily="34" charset="-122"/>
              </a:rPr>
              <a:t>9 </a:t>
            </a:r>
          </a:p>
          <a:p>
            <a:pPr lvl="0">
              <a:lnSpc>
                <a:spcPct val="150000"/>
              </a:lnSpc>
              <a:defRPr/>
            </a:pPr>
            <a:r>
              <a:rPr lang="zh-CN" altLang="en-US" sz="1600" dirty="0">
                <a:latin typeface="微软雅黑" panose="020B0503020204020204" pitchFamily="34" charset="-122"/>
                <a:ea typeface="微软雅黑" panose="020B0503020204020204" pitchFamily="34" charset="-122"/>
              </a:rPr>
              <a:t>输出说明</a:t>
            </a:r>
            <a:r>
              <a:rPr lang="en-US" altLang="zh-CN" sz="1600" dirty="0">
                <a:latin typeface="微软雅黑" panose="020B0503020204020204" pitchFamily="34" charset="-122"/>
                <a:ea typeface="微软雅黑" panose="020B0503020204020204" pitchFamily="34" charset="-122"/>
              </a:rPr>
              <a:t>:</a:t>
            </a:r>
          </a:p>
          <a:p>
            <a:pPr lvl="0">
              <a:lnSpc>
                <a:spcPct val="150000"/>
              </a:lnSpc>
              <a:defRPr/>
            </a:pPr>
            <a:r>
              <a:rPr lang="zh-CN" altLang="en-US" sz="1600" dirty="0">
                <a:latin typeface="微软雅黑" panose="020B0503020204020204" pitchFamily="34" charset="-122"/>
                <a:ea typeface="微软雅黑" panose="020B0503020204020204" pitchFamily="34" charset="-122"/>
              </a:rPr>
              <a:t>按下图把各块土地编号：</a:t>
            </a:r>
          </a:p>
          <a:p>
            <a:pPr lvl="0">
              <a:lnSpc>
                <a:spcPct val="150000"/>
              </a:lnSpc>
              <a:defRPr/>
            </a:pPr>
            <a:r>
              <a:rPr lang="en-US" altLang="zh-CN" sz="1600" dirty="0">
                <a:latin typeface="微软雅黑" panose="020B0503020204020204" pitchFamily="34" charset="-122"/>
                <a:ea typeface="微软雅黑" panose="020B0503020204020204" pitchFamily="34" charset="-122"/>
              </a:rPr>
              <a:t>1 2 3</a:t>
            </a:r>
          </a:p>
          <a:p>
            <a:pPr lvl="0">
              <a:lnSpc>
                <a:spcPct val="150000"/>
              </a:lnSpc>
              <a:defRPr/>
            </a:pPr>
            <a:r>
              <a:rPr lang="en-US" altLang="zh-CN" sz="1600" dirty="0">
                <a:latin typeface="微软雅黑" panose="020B0503020204020204" pitchFamily="34" charset="-122"/>
                <a:ea typeface="微软雅黑" panose="020B0503020204020204" pitchFamily="34" charset="-122"/>
              </a:rPr>
              <a:t>4</a:t>
            </a:r>
          </a:p>
          <a:p>
            <a:pPr lvl="0">
              <a:lnSpc>
                <a:spcPct val="150000"/>
              </a:lnSpc>
              <a:defRPr/>
            </a:pPr>
            <a:r>
              <a:rPr lang="zh-CN" altLang="en-US" sz="1600" dirty="0">
                <a:latin typeface="微软雅黑" panose="020B0503020204020204" pitchFamily="34" charset="-122"/>
                <a:ea typeface="微软雅黑" panose="020B0503020204020204" pitchFamily="34" charset="-122"/>
              </a:rPr>
              <a:t>只开辟一块草地的话，有</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种方案：选</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中的任一块。开辟两块草地的话，有</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种方案：</a:t>
            </a:r>
            <a:r>
              <a:rPr lang="en-US" altLang="zh-CN" sz="1600" dirty="0">
                <a:latin typeface="微软雅黑" panose="020B0503020204020204" pitchFamily="34" charset="-122"/>
                <a:ea typeface="微软雅黑" panose="020B0503020204020204" pitchFamily="34" charset="-122"/>
              </a:rPr>
              <a:t>13</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14</a:t>
            </a:r>
            <a:r>
              <a:rPr lang="zh-CN" altLang="en-US" sz="1600" dirty="0">
                <a:latin typeface="微软雅黑" panose="020B0503020204020204" pitchFamily="34" charset="-122"/>
                <a:ea typeface="微软雅黑" panose="020B0503020204020204" pitchFamily="34" charset="-122"/>
              </a:rPr>
              <a:t>以及</a:t>
            </a:r>
            <a:r>
              <a:rPr lang="en-US" altLang="zh-CN" sz="1600" dirty="0">
                <a:latin typeface="微软雅黑" panose="020B0503020204020204" pitchFamily="34" charset="-122"/>
                <a:ea typeface="微软雅黑" panose="020B0503020204020204" pitchFamily="34" charset="-122"/>
              </a:rPr>
              <a:t>34</a:t>
            </a:r>
            <a:r>
              <a:rPr lang="zh-CN" altLang="en-US" sz="1600" dirty="0">
                <a:latin typeface="微软雅黑" panose="020B0503020204020204" pitchFamily="34" charset="-122"/>
                <a:ea typeface="微软雅黑" panose="020B0503020204020204" pitchFamily="34" charset="-122"/>
              </a:rPr>
              <a:t>。选三块草地只有一种方案：</a:t>
            </a:r>
            <a:r>
              <a:rPr lang="en-US" altLang="zh-CN" sz="1600" dirty="0">
                <a:latin typeface="微软雅黑" panose="020B0503020204020204" pitchFamily="34" charset="-122"/>
                <a:ea typeface="微软雅黑" panose="020B0503020204020204" pitchFamily="34" charset="-122"/>
              </a:rPr>
              <a:t>134</a:t>
            </a:r>
            <a:r>
              <a:rPr lang="zh-CN" altLang="en-US" sz="1600" dirty="0">
                <a:latin typeface="微软雅黑" panose="020B0503020204020204" pitchFamily="34" charset="-122"/>
                <a:ea typeface="微软雅黑" panose="020B0503020204020204" pitchFamily="34" charset="-122"/>
              </a:rPr>
              <a:t>。再加把牧场荒废的那一种，总方案数为</a:t>
            </a:r>
            <a:r>
              <a:rPr lang="en-US" altLang="zh-CN" sz="1600" dirty="0">
                <a:latin typeface="微软雅黑" panose="020B0503020204020204" pitchFamily="34" charset="-122"/>
                <a:ea typeface="微软雅黑" panose="020B0503020204020204" pitchFamily="34" charset="-122"/>
              </a:rPr>
              <a:t>4+3+1+1=9</a:t>
            </a:r>
            <a:r>
              <a:rPr lang="zh-CN" altLang="en-US" sz="1600" dirty="0">
                <a:latin typeface="微软雅黑" panose="020B0503020204020204" pitchFamily="34" charset="-122"/>
                <a:ea typeface="微软雅黑" panose="020B0503020204020204" pitchFamily="34" charset="-122"/>
              </a:rPr>
              <a:t>种。</a:t>
            </a:r>
          </a:p>
          <a:p>
            <a:pPr lvl="0">
              <a:defRPr/>
            </a:pPr>
            <a:r>
              <a:rPr lang="en-US" altLang="zh-CN" sz="1600" dirty="0">
                <a:latin typeface="微软雅黑" panose="020B0503020204020204" pitchFamily="34" charset="-122"/>
                <a:ea typeface="微软雅黑" panose="020B0503020204020204" pitchFamily="34" charset="-122"/>
                <a:sym typeface="+mn-ea"/>
              </a:rPr>
              <a:t>	</a:t>
            </a: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xmlns="" val="189579700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a:extLst>
              <a:ext uri="{FF2B5EF4-FFF2-40B4-BE49-F238E27FC236}">
                <a16:creationId xmlns:a16="http://schemas.microsoft.com/office/drawing/2014/main" xmlns="" id="{56752723-DE7F-47E0-8824-38387C444C3E}"/>
              </a:ext>
            </a:extLst>
          </p:cNvPr>
          <p:cNvSpPr/>
          <p:nvPr/>
        </p:nvSpPr>
        <p:spPr>
          <a:xfrm>
            <a:off x="899604" y="1352496"/>
            <a:ext cx="1005281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lang="zh-CN" altLang="en-US" b="1" dirty="0">
                <a:solidFill>
                  <a:srgbClr val="6D7D66"/>
                </a:solidFill>
                <a:latin typeface="微软雅黑" panose="020B0503020204020204" pitchFamily="34" charset="-122"/>
                <a:ea typeface="微软雅黑" panose="020B0503020204020204" pitchFamily="34" charset="-122"/>
              </a:rPr>
              <a:t>参考程序</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p:txBody>
      </p:sp>
      <p:sp>
        <p:nvSpPr>
          <p:cNvPr id="4" name="矩形 3">
            <a:extLst>
              <a:ext uri="{FF2B5EF4-FFF2-40B4-BE49-F238E27FC236}">
                <a16:creationId xmlns:a16="http://schemas.microsoft.com/office/drawing/2014/main" xmlns="" id="{C30FA300-C328-4A21-90B3-63EA3C650C05}"/>
              </a:ext>
            </a:extLst>
          </p:cNvPr>
          <p:cNvSpPr/>
          <p:nvPr/>
        </p:nvSpPr>
        <p:spPr>
          <a:xfrm>
            <a:off x="-636233" y="1549251"/>
            <a:ext cx="9980682" cy="561179"/>
          </a:xfrm>
          <a:prstGeom prst="rect">
            <a:avLst/>
          </a:prstGeom>
        </p:spPr>
        <p:txBody>
          <a:bodyPr wrap="square">
            <a:spAutoFit/>
          </a:bodyPr>
          <a:lstStyle/>
          <a:p>
            <a:pPr>
              <a:lnSpc>
                <a:spcPct val="200000"/>
              </a:lnSpc>
            </a:pPr>
            <a:r>
              <a:rPr lang="en-US" altLang="zh-CN" dirty="0">
                <a:solidFill>
                  <a:srgbClr val="514843"/>
                </a:solidFill>
                <a:latin typeface="微软雅黑" panose="020B0503020204020204" pitchFamily="34" charset="-122"/>
                <a:ea typeface="微软雅黑" panose="020B0503020204020204" pitchFamily="34" charset="-122"/>
              </a:rPr>
              <a:t> </a:t>
            </a:r>
            <a:endParaRPr lang="zh-CN" altLang="en-US" sz="1600" dirty="0"/>
          </a:p>
        </p:txBody>
      </p:sp>
    </p:spTree>
    <p:extLst>
      <p:ext uri="{BB962C8B-B14F-4D97-AF65-F5344CB8AC3E}">
        <p14:creationId xmlns:p14="http://schemas.microsoft.com/office/powerpoint/2010/main" xmlns="" val="11452896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zh-CN" altLang="en-US" dirty="0"/>
              <a:t>谢谢！</a:t>
            </a:r>
          </a:p>
        </p:txBody>
      </p:sp>
      <p:pic>
        <p:nvPicPr>
          <p:cNvPr id="5" name="图片占位符 4"/>
          <p:cNvPicPr>
            <a:picLocks noGrp="1" noChangeAspect="1"/>
          </p:cNvPicPr>
          <p:nvPr>
            <p:ph type="pic" sz="quarter" idx="13"/>
          </p:nvPr>
        </p:nvPicPr>
        <p:blipFill>
          <a:blip r:embed="rId2" cstate="print">
            <a:extLst>
              <a:ext uri="{28A0092B-C50C-407E-A947-70E740481C1C}">
                <a14:useLocalDpi xmlns:a14="http://schemas.microsoft.com/office/drawing/2010/main" xmlns="" val="0"/>
              </a:ext>
            </a:extLst>
          </a:blip>
          <a:srcRect l="13409" r="13409"/>
          <a:stretch>
            <a:fillRect/>
          </a:stretch>
        </p:blipFill>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theme/theme1.xml><?xml version="1.0" encoding="utf-8"?>
<a:theme xmlns:a="http://schemas.openxmlformats.org/drawingml/2006/main" name="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1_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2116</Words>
  <Application>Microsoft Office PowerPoint</Application>
  <PresentationFormat>自定义</PresentationFormat>
  <Paragraphs>167</Paragraphs>
  <Slides>21</Slides>
  <Notes>2</Notes>
  <HiddenSlides>0</HiddenSlides>
  <MMClips>0</MMClips>
  <ScaleCrop>false</ScaleCrop>
  <HeadingPairs>
    <vt:vector size="4" baseType="variant">
      <vt:variant>
        <vt:lpstr>主题</vt:lpstr>
      </vt:variant>
      <vt:variant>
        <vt:i4>2</vt:i4>
      </vt:variant>
      <vt:variant>
        <vt:lpstr>幻灯片标题</vt:lpstr>
      </vt:variant>
      <vt:variant>
        <vt:i4>21</vt:i4>
      </vt:variant>
    </vt:vector>
  </HeadingPairs>
  <TitlesOfParts>
    <vt:vector size="23" baseType="lpstr">
      <vt:lpstr>学术文献 16x9</vt:lpstr>
      <vt:lpstr>1_学术文献 16x9</vt:lpstr>
      <vt:lpstr>状态压缩动态规划</vt:lpstr>
      <vt:lpstr>学习目标</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谢谢！</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9</cp:revision>
  <dcterms:created xsi:type="dcterms:W3CDTF">2017-11-04T04:56:00Z</dcterms:created>
  <dcterms:modified xsi:type="dcterms:W3CDTF">2022-01-28T08:49:46Z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y fmtid="{D5CDD505-2E9C-101B-9397-08002B2CF9AE}" pid="8" name="KSOProductBuildVer">
    <vt:lpwstr>2052-10.1.0.7520</vt:lpwstr>
  </property>
</Properties>
</file>