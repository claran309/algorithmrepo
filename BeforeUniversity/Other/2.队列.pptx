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512" r:id="rId3"/>
    <p:sldId id="514" r:id="rId4"/>
    <p:sldId id="557" r:id="rId5"/>
    <p:sldId id="580" r:id="rId6"/>
    <p:sldId id="588" r:id="rId7"/>
    <p:sldId id="581" r:id="rId8"/>
    <p:sldId id="582" r:id="rId9"/>
    <p:sldId id="579" r:id="rId10"/>
    <p:sldId id="540" r:id="rId11"/>
    <p:sldId id="583" r:id="rId12"/>
    <p:sldId id="560" r:id="rId13"/>
    <p:sldId id="561" r:id="rId14"/>
    <p:sldId id="584" r:id="rId15"/>
    <p:sldId id="577" r:id="rId16"/>
    <p:sldId id="566" r:id="rId17"/>
    <p:sldId id="567" r:id="rId18"/>
    <p:sldId id="565" r:id="rId19"/>
    <p:sldId id="568" r:id="rId20"/>
    <p:sldId id="585" r:id="rId21"/>
    <p:sldId id="586" r:id="rId22"/>
    <p:sldId id="587" r:id="rId23"/>
    <p:sldId id="578" r:id="rId24"/>
    <p:sldId id="502" r:id="rId25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562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2021/6/27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pPr/>
              <a:t>2021/6/27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pPr/>
              <a:t>2021/6/27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pPr/>
              <a:t>2021/6/27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pPr/>
              <a:t>2021/6/27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pPr/>
              <a:t>2021/6/27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pPr/>
              <a:t>2021/6/27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pPr/>
              <a:t>2021/6/27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pPr/>
              <a:t>2021/6/27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pPr/>
              <a:t>2021/6/27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pPr/>
              <a:t>2021/6/27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pPr/>
              <a:t>2021/6/27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pPr/>
              <a:t>2021/6/27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pPr/>
              <a:t>2021/6/27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pPr algn="r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115188" y="2227736"/>
            <a:ext cx="5734050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数据结构</a:t>
            </a:r>
            <a:r>
              <a:rPr lang="en-US" altLang="zh-CN" dirty="0"/>
              <a:t>——</a:t>
            </a:r>
            <a:r>
              <a:rPr lang="zh-CN" altLang="en-US" dirty="0"/>
              <a:t>队列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361950" y="3877450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8" name="图片占位符 3" descr="桌上一本打开的书，书架在背景中模糊显示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>
          <a:xfrm>
            <a:off x="6981063" y="1319123"/>
            <a:ext cx="5210937" cy="420860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714284E-AE49-4ACF-9408-156B8F7B5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841" y="1680839"/>
            <a:ext cx="7287519" cy="1087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719138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20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理解数据结构的含义。</a:t>
            </a:r>
          </a:p>
          <a:p>
            <a:pPr eaLnBrk="1" hangingPunct="1">
              <a:spcAft>
                <a:spcPts val="20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掌握队列的基本原理和应用。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1DCB32-C949-4662-BB8A-B96F00B94C06}"/>
              </a:ext>
            </a:extLst>
          </p:cNvPr>
          <p:cNvSpPr txBox="1"/>
          <p:nvPr/>
        </p:nvSpPr>
        <p:spPr>
          <a:xfrm>
            <a:off x="1013814" y="61074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学习目标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队列</a:t>
            </a:r>
            <a:endParaRPr lang="en-US" altLang="zh-CN" dirty="0"/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EDC142-C849-4F32-99C1-520F97CD5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81" y="1356957"/>
            <a:ext cx="10815206" cy="2589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000"/>
              </a:spcAft>
              <a:buClr>
                <a:schemeClr val="accent2"/>
              </a:buClr>
              <a:buSzPct val="80000"/>
            </a:pP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队列：是一种</a:t>
            </a:r>
            <a:r>
              <a:rPr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先进先出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的线性表（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FIFO)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，只允许在表的一端进行插入，另一端进行删除。</a:t>
            </a:r>
          </a:p>
          <a:p>
            <a:pPr>
              <a:lnSpc>
                <a:spcPct val="200000"/>
              </a:lnSpc>
              <a:spcAft>
                <a:spcPts val="1000"/>
              </a:spcAft>
              <a:buClr>
                <a:schemeClr val="accent2"/>
              </a:buClr>
              <a:buSzPct val="80000"/>
            </a:pP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在队列中，允许插入的一端叫做</a:t>
            </a:r>
            <a:r>
              <a:rPr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队尾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(rear)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，允许删除元素的一端则称为</a:t>
            </a:r>
            <a:r>
              <a:rPr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队头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(front)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。假设队列为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q=(a1, a2,…, an)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，那么，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就是队头元素，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则是队尾元素。当队列中没有任何元素时，称为“空队列”。 </a:t>
            </a:r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D4023752-A15F-43C7-B46F-C5CDBFF0CD5F}"/>
              </a:ext>
            </a:extLst>
          </p:cNvPr>
          <p:cNvGrpSpPr>
            <a:grpSpLocks/>
          </p:cNvGrpSpPr>
          <p:nvPr/>
        </p:nvGrpSpPr>
        <p:grpSpPr bwMode="auto">
          <a:xfrm>
            <a:off x="1532877" y="4595950"/>
            <a:ext cx="1143000" cy="381000"/>
            <a:chOff x="0" y="2496"/>
            <a:chExt cx="720" cy="240"/>
          </a:xfrm>
        </p:grpSpPr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C79A04EE-75D1-4D65-8BE0-BBC379DBB4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0" y="2736"/>
              <a:ext cx="720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E7E71418-2128-4B9C-B287-14839DE6E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96"/>
              <a:ext cx="67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ea typeface="楷体_GB2312" pitchFamily="49" charset="-122"/>
                </a:rPr>
                <a:t>出队列</a:t>
              </a:r>
            </a:p>
          </p:txBody>
        </p:sp>
      </p:grpSp>
      <p:grpSp>
        <p:nvGrpSpPr>
          <p:cNvPr id="10" name="Group 8">
            <a:extLst>
              <a:ext uri="{FF2B5EF4-FFF2-40B4-BE49-F238E27FC236}">
                <a16:creationId xmlns:a16="http://schemas.microsoft.com/office/drawing/2014/main" id="{1E1EF6D0-DAE2-4839-8962-A9F37DF1F580}"/>
              </a:ext>
            </a:extLst>
          </p:cNvPr>
          <p:cNvGrpSpPr>
            <a:grpSpLocks/>
          </p:cNvGrpSpPr>
          <p:nvPr/>
        </p:nvGrpSpPr>
        <p:grpSpPr bwMode="auto">
          <a:xfrm>
            <a:off x="7857477" y="4672150"/>
            <a:ext cx="1295400" cy="381000"/>
            <a:chOff x="3984" y="2544"/>
            <a:chExt cx="816" cy="240"/>
          </a:xfrm>
        </p:grpSpPr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F59490EB-C22F-4A14-A8EA-C9153D2236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2784"/>
              <a:ext cx="720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038EDC69-EB4D-4DD5-877B-41F473D482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544"/>
              <a:ext cx="67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入队列</a:t>
              </a:r>
            </a:p>
          </p:txBody>
        </p:sp>
      </p:grpSp>
      <p:grpSp>
        <p:nvGrpSpPr>
          <p:cNvPr id="13" name="Group 11">
            <a:extLst>
              <a:ext uri="{FF2B5EF4-FFF2-40B4-BE49-F238E27FC236}">
                <a16:creationId xmlns:a16="http://schemas.microsoft.com/office/drawing/2014/main" id="{3D2C2087-29DA-4A2A-A79D-85ECEF9C7402}"/>
              </a:ext>
            </a:extLst>
          </p:cNvPr>
          <p:cNvGrpSpPr>
            <a:grpSpLocks/>
          </p:cNvGrpSpPr>
          <p:nvPr/>
        </p:nvGrpSpPr>
        <p:grpSpPr bwMode="auto">
          <a:xfrm>
            <a:off x="2599677" y="4595950"/>
            <a:ext cx="5638800" cy="1660525"/>
            <a:chOff x="672" y="2496"/>
            <a:chExt cx="3552" cy="1046"/>
          </a:xfrm>
        </p:grpSpPr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C0BE841F-A13D-41CD-87C7-1E5BA90EB2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496"/>
              <a:ext cx="34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dirty="0" err="1">
                  <a:ea typeface="楷体_GB2312" pitchFamily="49" charset="-122"/>
                </a:rPr>
                <a:t>a</a:t>
              </a:r>
              <a:r>
                <a:rPr lang="en-US" altLang="zh-CN" sz="3200" b="1" baseline="-25000" dirty="0" err="1">
                  <a:ea typeface="楷体_GB2312" pitchFamily="49" charset="-122"/>
                </a:rPr>
                <a:t>1</a:t>
              </a:r>
              <a:r>
                <a:rPr lang="en-US" altLang="zh-CN" sz="3200" b="1" dirty="0">
                  <a:ea typeface="楷体_GB2312" pitchFamily="49" charset="-122"/>
                </a:rPr>
                <a:t>	</a:t>
              </a:r>
              <a:r>
                <a:rPr lang="en-US" altLang="zh-CN" sz="3200" b="1" dirty="0" err="1">
                  <a:ea typeface="楷体_GB2312" pitchFamily="49" charset="-122"/>
                </a:rPr>
                <a:t>a</a:t>
              </a:r>
              <a:r>
                <a:rPr lang="en-US" altLang="zh-CN" sz="3200" b="1" baseline="-25000" dirty="0" err="1">
                  <a:ea typeface="楷体_GB2312" pitchFamily="49" charset="-122"/>
                </a:rPr>
                <a:t>2</a:t>
              </a:r>
              <a:r>
                <a:rPr lang="en-US" altLang="zh-CN" sz="3200" b="1" dirty="0">
                  <a:ea typeface="楷体_GB2312" pitchFamily="49" charset="-122"/>
                </a:rPr>
                <a:t>	</a:t>
              </a:r>
              <a:r>
                <a:rPr lang="en-US" altLang="zh-CN" sz="3200" b="1" dirty="0" err="1">
                  <a:ea typeface="楷体_GB2312" pitchFamily="49" charset="-122"/>
                </a:rPr>
                <a:t>a</a:t>
              </a:r>
              <a:r>
                <a:rPr lang="en-US" altLang="zh-CN" sz="3200" b="1" baseline="-25000" dirty="0" err="1">
                  <a:ea typeface="楷体_GB2312" pitchFamily="49" charset="-122"/>
                </a:rPr>
                <a:t>3</a:t>
              </a:r>
              <a:r>
                <a:rPr lang="en-US" altLang="zh-CN" sz="3200" b="1" dirty="0">
                  <a:ea typeface="楷体_GB2312" pitchFamily="49" charset="-122"/>
                </a:rPr>
                <a:t>	…………	a</a:t>
              </a:r>
              <a:r>
                <a:rPr lang="en-US" altLang="zh-CN" sz="3200" b="1" baseline="-25000" dirty="0">
                  <a:ea typeface="楷体_GB2312" pitchFamily="49" charset="-122"/>
                </a:rPr>
                <a:t>n</a:t>
              </a: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0C5F25B6-3EDB-4B03-94C1-5E51FCF148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544"/>
              <a:ext cx="33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C90C609B-C49C-4758-8BB7-59888C9A37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976"/>
              <a:ext cx="33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C64A0953-9086-44F1-B2BF-7D7985D8D1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976"/>
              <a:ext cx="0" cy="28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A76E6E7B-8CEA-44E4-99BA-831C8A391C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976"/>
              <a:ext cx="0" cy="28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" name="Text Box 17">
              <a:extLst>
                <a:ext uri="{FF2B5EF4-FFF2-40B4-BE49-F238E27FC236}">
                  <a16:creationId xmlns:a16="http://schemas.microsoft.com/office/drawing/2014/main" id="{19F4A3A7-B930-4FA7-9132-C4494186A1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12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队头</a:t>
              </a:r>
            </a:p>
          </p:txBody>
        </p:sp>
        <p:sp>
          <p:nvSpPr>
            <p:cNvPr id="20" name="Text Box 18">
              <a:extLst>
                <a:ext uri="{FF2B5EF4-FFF2-40B4-BE49-F238E27FC236}">
                  <a16:creationId xmlns:a16="http://schemas.microsoft.com/office/drawing/2014/main" id="{0027B775-4E07-412F-9F2D-CBE6FE782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312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队尾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队列</a:t>
            </a:r>
            <a:endParaRPr lang="en-US" altLang="zh-CN" dirty="0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0F4EFBAF-263C-44A7-9BC4-693A3F6B3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3432" y="6096615"/>
            <a:ext cx="6934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楷体_GB2312" pitchFamily="49" charset="-122"/>
              </a:rPr>
              <a:t>队满的标志是</a:t>
            </a:r>
            <a:r>
              <a:rPr lang="en-US" altLang="zh-CN" sz="2000" b="1" dirty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rear=m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楷体_GB2312" pitchFamily="49" charset="-122"/>
              </a:rPr>
              <a:t>， 队空的标志是</a:t>
            </a:r>
            <a:r>
              <a:rPr lang="en-US" altLang="zh-CN" sz="2000" b="1" dirty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rear=front </a:t>
            </a:r>
          </a:p>
        </p:txBody>
      </p:sp>
      <p:grpSp>
        <p:nvGrpSpPr>
          <p:cNvPr id="9" name="Group 5">
            <a:extLst>
              <a:ext uri="{FF2B5EF4-FFF2-40B4-BE49-F238E27FC236}">
                <a16:creationId xmlns:a16="http://schemas.microsoft.com/office/drawing/2014/main" id="{D749AB4A-85ED-4413-90AF-6571556BE597}"/>
              </a:ext>
            </a:extLst>
          </p:cNvPr>
          <p:cNvGrpSpPr>
            <a:grpSpLocks/>
          </p:cNvGrpSpPr>
          <p:nvPr/>
        </p:nvGrpSpPr>
        <p:grpSpPr bwMode="auto">
          <a:xfrm>
            <a:off x="1364545" y="2136327"/>
            <a:ext cx="2771775" cy="1408113"/>
            <a:chOff x="472" y="1008"/>
            <a:chExt cx="1746" cy="887"/>
          </a:xfrm>
        </p:grpSpPr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165CF82A-ADFD-4390-BF17-F2BB4139B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1" y="1008"/>
              <a:ext cx="3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79E4C9BE-1196-4F22-81B9-29FF784BA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2" y="1008"/>
              <a:ext cx="409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30356717-100D-4168-8F4E-394AB79C5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" y="1008"/>
              <a:ext cx="461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B6B35116-CBC4-4B6E-A415-48CCFE62F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" y="1008"/>
              <a:ext cx="551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　</a:t>
              </a:r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9EDBFC5B-6D2B-40DF-9777-6F89D32F1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" y="1008"/>
              <a:ext cx="1728" cy="0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74A50D65-BAC8-40B6-B30D-CA26DE747C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" y="1295"/>
              <a:ext cx="1728" cy="0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0CC69D41-B4AA-4167-A968-75DACAA1A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" y="1008"/>
              <a:ext cx="0" cy="287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07CB3224-BE57-4857-B9E9-D62F287490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1" y="1008"/>
              <a:ext cx="0" cy="287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Line 14">
              <a:extLst>
                <a:ext uri="{FF2B5EF4-FFF2-40B4-BE49-F238E27FC236}">
                  <a16:creationId xmlns:a16="http://schemas.microsoft.com/office/drawing/2014/main" id="{88008DB9-74B6-4754-8A7D-E59E78FDE4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2" y="1008"/>
              <a:ext cx="0" cy="287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" name="Line 15">
              <a:extLst>
                <a:ext uri="{FF2B5EF4-FFF2-40B4-BE49-F238E27FC236}">
                  <a16:creationId xmlns:a16="http://schemas.microsoft.com/office/drawing/2014/main" id="{66B6C8C6-4A3B-43EE-8C6A-B7801C6826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1" y="1008"/>
              <a:ext cx="0" cy="287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" name="Line 16">
              <a:extLst>
                <a:ext uri="{FF2B5EF4-FFF2-40B4-BE49-F238E27FC236}">
                  <a16:creationId xmlns:a16="http://schemas.microsoft.com/office/drawing/2014/main" id="{83A7C01C-827D-411A-A036-44849EF560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8" y="1008"/>
              <a:ext cx="0" cy="287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Text Box 17">
              <a:extLst>
                <a:ext uri="{FF2B5EF4-FFF2-40B4-BE49-F238E27FC236}">
                  <a16:creationId xmlns:a16="http://schemas.microsoft.com/office/drawing/2014/main" id="{2F151B9E-7945-4B4F-A752-54B777CF62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422"/>
              <a:ext cx="528" cy="2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Front</a:t>
              </a:r>
            </a:p>
            <a:p>
              <a:pPr marL="0" marR="0" lvl="0" indent="0" defTabSz="91440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rear</a:t>
              </a:r>
            </a:p>
          </p:txBody>
        </p:sp>
        <p:sp>
          <p:nvSpPr>
            <p:cNvPr id="22" name="Rectangle 18">
              <a:extLst>
                <a:ext uri="{FF2B5EF4-FFF2-40B4-BE49-F238E27FC236}">
                  <a16:creationId xmlns:a16="http://schemas.microsoft.com/office/drawing/2014/main" id="{655EBE63-606B-401D-A92F-F140BA039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" y="1643"/>
              <a:ext cx="145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(a)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队列初始为空　</a:t>
              </a:r>
            </a:p>
          </p:txBody>
        </p:sp>
        <p:sp>
          <p:nvSpPr>
            <p:cNvPr id="23" name="Line 19">
              <a:extLst>
                <a:ext uri="{FF2B5EF4-FFF2-40B4-BE49-F238E27FC236}">
                  <a16:creationId xmlns:a16="http://schemas.microsoft.com/office/drawing/2014/main" id="{DAF10670-879F-4259-8D1D-C3B938AFA0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8" y="1296"/>
              <a:ext cx="0" cy="144"/>
            </a:xfrm>
            <a:prstGeom prst="line">
              <a:avLst/>
            </a:prstGeom>
            <a:noFill/>
            <a:ln w="9525">
              <a:solidFill>
                <a:srgbClr val="17406D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4" name="Group 20">
            <a:extLst>
              <a:ext uri="{FF2B5EF4-FFF2-40B4-BE49-F238E27FC236}">
                <a16:creationId xmlns:a16="http://schemas.microsoft.com/office/drawing/2014/main" id="{04EF4377-34B1-4958-96F6-091DCB025EC8}"/>
              </a:ext>
            </a:extLst>
          </p:cNvPr>
          <p:cNvGrpSpPr>
            <a:grpSpLocks/>
          </p:cNvGrpSpPr>
          <p:nvPr/>
        </p:nvGrpSpPr>
        <p:grpSpPr bwMode="auto">
          <a:xfrm>
            <a:off x="6306585" y="2136327"/>
            <a:ext cx="3687763" cy="1423988"/>
            <a:chOff x="2938" y="1056"/>
            <a:chExt cx="2323" cy="897"/>
          </a:xfrm>
        </p:grpSpPr>
        <p:sp>
          <p:nvSpPr>
            <p:cNvPr id="25" name="Rectangle 21">
              <a:extLst>
                <a:ext uri="{FF2B5EF4-FFF2-40B4-BE49-F238E27FC236}">
                  <a16:creationId xmlns:a16="http://schemas.microsoft.com/office/drawing/2014/main" id="{93B16E70-CA73-4B1F-97AD-578105382EE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994" y="1056"/>
              <a:ext cx="43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6" name="Rectangle 22">
              <a:extLst>
                <a:ext uri="{FF2B5EF4-FFF2-40B4-BE49-F238E27FC236}">
                  <a16:creationId xmlns:a16="http://schemas.microsoft.com/office/drawing/2014/main" id="{90489C44-3AD5-4C4D-A82A-2CAA4726004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658" y="1056"/>
              <a:ext cx="336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</a:p>
          </p:txBody>
        </p: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069DED87-340C-491E-B2CB-F2102AF1DC5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322" y="1056"/>
              <a:ext cx="336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</a:p>
          </p:txBody>
        </p:sp>
        <p:sp>
          <p:nvSpPr>
            <p:cNvPr id="28" name="Rectangle 24">
              <a:extLst>
                <a:ext uri="{FF2B5EF4-FFF2-40B4-BE49-F238E27FC236}">
                  <a16:creationId xmlns:a16="http://schemas.microsoft.com/office/drawing/2014/main" id="{870631DB-E56E-4731-B90C-EE347B6F56D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986" y="1056"/>
              <a:ext cx="336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</a:p>
          </p:txBody>
        </p:sp>
        <p:sp>
          <p:nvSpPr>
            <p:cNvPr id="29" name="Line 25">
              <a:extLst>
                <a:ext uri="{FF2B5EF4-FFF2-40B4-BE49-F238E27FC236}">
                  <a16:creationId xmlns:a16="http://schemas.microsoft.com/office/drawing/2014/main" id="{85A2E86D-A471-4272-8A52-FD91BB914A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6" y="1343"/>
              <a:ext cx="1440" cy="0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Line 26">
              <a:extLst>
                <a:ext uri="{FF2B5EF4-FFF2-40B4-BE49-F238E27FC236}">
                  <a16:creationId xmlns:a16="http://schemas.microsoft.com/office/drawing/2014/main" id="{0AB661C4-5214-4E6F-BC47-1764541BC7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6" y="1056"/>
              <a:ext cx="1440" cy="0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3DD6828C-77BC-4364-A86A-D833B92529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6" y="1056"/>
              <a:ext cx="0" cy="287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Line 28">
              <a:extLst>
                <a:ext uri="{FF2B5EF4-FFF2-40B4-BE49-F238E27FC236}">
                  <a16:creationId xmlns:a16="http://schemas.microsoft.com/office/drawing/2014/main" id="{61B75D29-AAA6-417C-A0B7-5DF4BDBC5B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22" y="1056"/>
              <a:ext cx="0" cy="287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29">
              <a:extLst>
                <a:ext uri="{FF2B5EF4-FFF2-40B4-BE49-F238E27FC236}">
                  <a16:creationId xmlns:a16="http://schemas.microsoft.com/office/drawing/2014/main" id="{B8C17C00-FB04-4C82-AA9B-553D8233CB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8" y="1056"/>
              <a:ext cx="0" cy="287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" name="Line 30">
              <a:extLst>
                <a:ext uri="{FF2B5EF4-FFF2-40B4-BE49-F238E27FC236}">
                  <a16:creationId xmlns:a16="http://schemas.microsoft.com/office/drawing/2014/main" id="{6C1D655A-EFC4-403F-92A4-41368A62AB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4" y="1056"/>
              <a:ext cx="0" cy="287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Line 31">
              <a:extLst>
                <a:ext uri="{FF2B5EF4-FFF2-40B4-BE49-F238E27FC236}">
                  <a16:creationId xmlns:a16="http://schemas.microsoft.com/office/drawing/2014/main" id="{5ED5440D-DAA0-4313-90E4-9AD4848B8F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6" y="1056"/>
              <a:ext cx="0" cy="287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" name="Text Box 32">
              <a:extLst>
                <a:ext uri="{FF2B5EF4-FFF2-40B4-BE49-F238E27FC236}">
                  <a16:creationId xmlns:a16="http://schemas.microsoft.com/office/drawing/2014/main" id="{5D42F000-EDB6-44E1-A744-5ED6B15C87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8" y="1440"/>
              <a:ext cx="163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Front             rear</a:t>
              </a:r>
            </a:p>
          </p:txBody>
        </p:sp>
        <p:sp>
          <p:nvSpPr>
            <p:cNvPr id="37" name="Text Box 33">
              <a:extLst>
                <a:ext uri="{FF2B5EF4-FFF2-40B4-BE49-F238E27FC236}">
                  <a16:creationId xmlns:a16="http://schemas.microsoft.com/office/drawing/2014/main" id="{7E120280-4FBE-4FCC-BA2D-4D58D8FEA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1" y="1701"/>
              <a:ext cx="217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（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b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）</a:t>
              </a:r>
              <a:r>
                <a:rPr kumimoji="0" lang="en-US" altLang="zh-CN" sz="20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a,b,c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入队</a:t>
              </a:r>
            </a:p>
          </p:txBody>
        </p:sp>
        <p:sp>
          <p:nvSpPr>
            <p:cNvPr id="38" name="Line 34">
              <a:extLst>
                <a:ext uri="{FF2B5EF4-FFF2-40B4-BE49-F238E27FC236}">
                  <a16:creationId xmlns:a16="http://schemas.microsoft.com/office/drawing/2014/main" id="{0CA8720D-2F47-4F27-BEA3-F7F79C677C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1368"/>
              <a:ext cx="0" cy="144"/>
            </a:xfrm>
            <a:prstGeom prst="line">
              <a:avLst/>
            </a:prstGeom>
            <a:noFill/>
            <a:ln w="9525">
              <a:solidFill>
                <a:srgbClr val="17406D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Line 35">
              <a:extLst>
                <a:ext uri="{FF2B5EF4-FFF2-40B4-BE49-F238E27FC236}">
                  <a16:creationId xmlns:a16="http://schemas.microsoft.com/office/drawing/2014/main" id="{57B82490-FD2B-437A-A06E-95539E659E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1368"/>
              <a:ext cx="0" cy="144"/>
            </a:xfrm>
            <a:prstGeom prst="line">
              <a:avLst/>
            </a:prstGeom>
            <a:noFill/>
            <a:ln w="9525">
              <a:solidFill>
                <a:srgbClr val="17406D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0" name="Group 36">
            <a:extLst>
              <a:ext uri="{FF2B5EF4-FFF2-40B4-BE49-F238E27FC236}">
                <a16:creationId xmlns:a16="http://schemas.microsoft.com/office/drawing/2014/main" id="{41942F73-9806-44B5-A2CA-8DD7B37BC8A1}"/>
              </a:ext>
            </a:extLst>
          </p:cNvPr>
          <p:cNvGrpSpPr>
            <a:grpSpLocks/>
          </p:cNvGrpSpPr>
          <p:nvPr/>
        </p:nvGrpSpPr>
        <p:grpSpPr bwMode="auto">
          <a:xfrm>
            <a:off x="1366611" y="4004600"/>
            <a:ext cx="3081338" cy="1520825"/>
            <a:chOff x="480" y="2112"/>
            <a:chExt cx="1941" cy="958"/>
          </a:xfrm>
        </p:grpSpPr>
        <p:sp>
          <p:nvSpPr>
            <p:cNvPr id="41" name="Rectangle 37">
              <a:extLst>
                <a:ext uri="{FF2B5EF4-FFF2-40B4-BE49-F238E27FC236}">
                  <a16:creationId xmlns:a16="http://schemas.microsoft.com/office/drawing/2014/main" id="{45D55D60-B91E-47DB-8475-6EE2F70C7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6" y="2112"/>
              <a:ext cx="486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2" name="Rectangle 38">
              <a:extLst>
                <a:ext uri="{FF2B5EF4-FFF2-40B4-BE49-F238E27FC236}">
                  <a16:creationId xmlns:a16="http://schemas.microsoft.com/office/drawing/2014/main" id="{12B90D2C-B951-4F2A-B112-80503ABA6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0" y="2112"/>
              <a:ext cx="486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 c</a:t>
              </a:r>
            </a:p>
          </p:txBody>
        </p:sp>
        <p:sp>
          <p:nvSpPr>
            <p:cNvPr id="43" name="Rectangle 39">
              <a:extLst>
                <a:ext uri="{FF2B5EF4-FFF2-40B4-BE49-F238E27FC236}">
                  <a16:creationId xmlns:a16="http://schemas.microsoft.com/office/drawing/2014/main" id="{E065E0CF-A410-44BB-8774-113310406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" y="2112"/>
              <a:ext cx="487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 b</a:t>
              </a:r>
            </a:p>
          </p:txBody>
        </p:sp>
        <p:sp>
          <p:nvSpPr>
            <p:cNvPr id="44" name="Rectangle 40">
              <a:extLst>
                <a:ext uri="{FF2B5EF4-FFF2-40B4-BE49-F238E27FC236}">
                  <a16:creationId xmlns:a16="http://schemas.microsoft.com/office/drawing/2014/main" id="{1CEB0466-BC82-4B95-AACC-0FD209815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112"/>
              <a:ext cx="413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5" name="Line 41">
              <a:extLst>
                <a:ext uri="{FF2B5EF4-FFF2-40B4-BE49-F238E27FC236}">
                  <a16:creationId xmlns:a16="http://schemas.microsoft.com/office/drawing/2014/main" id="{6764A983-6D6E-42CD-B395-7368AB4677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112"/>
              <a:ext cx="1872" cy="0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" name="Line 42">
              <a:extLst>
                <a:ext uri="{FF2B5EF4-FFF2-40B4-BE49-F238E27FC236}">
                  <a16:creationId xmlns:a16="http://schemas.microsoft.com/office/drawing/2014/main" id="{1A531C5A-8BB0-4B0D-B308-E3E340CD28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448"/>
              <a:ext cx="1872" cy="0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Line 43">
              <a:extLst>
                <a:ext uri="{FF2B5EF4-FFF2-40B4-BE49-F238E27FC236}">
                  <a16:creationId xmlns:a16="http://schemas.microsoft.com/office/drawing/2014/main" id="{5734D2DA-7F8B-4D15-B8DF-DB854BD6A6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112"/>
              <a:ext cx="0" cy="336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Line 44">
              <a:extLst>
                <a:ext uri="{FF2B5EF4-FFF2-40B4-BE49-F238E27FC236}">
                  <a16:creationId xmlns:a16="http://schemas.microsoft.com/office/drawing/2014/main" id="{0676C6FC-937D-466B-A9BD-BD2EAE6AD4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3" y="2112"/>
              <a:ext cx="0" cy="336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Line 45">
              <a:extLst>
                <a:ext uri="{FF2B5EF4-FFF2-40B4-BE49-F238E27FC236}">
                  <a16:creationId xmlns:a16="http://schemas.microsoft.com/office/drawing/2014/main" id="{F2FFD167-D71F-4972-B783-98AF314080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0" y="2112"/>
              <a:ext cx="0" cy="336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Line 46">
              <a:extLst>
                <a:ext uri="{FF2B5EF4-FFF2-40B4-BE49-F238E27FC236}">
                  <a16:creationId xmlns:a16="http://schemas.microsoft.com/office/drawing/2014/main" id="{0318D4B9-6B6F-4270-A970-E7388AFC99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2112"/>
              <a:ext cx="0" cy="336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" name="Line 47">
              <a:extLst>
                <a:ext uri="{FF2B5EF4-FFF2-40B4-BE49-F238E27FC236}">
                  <a16:creationId xmlns:a16="http://schemas.microsoft.com/office/drawing/2014/main" id="{80681DB9-D329-48C0-B864-6032A53F4D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112"/>
              <a:ext cx="0" cy="336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" name="Rectangle 48">
              <a:extLst>
                <a:ext uri="{FF2B5EF4-FFF2-40B4-BE49-F238E27FC236}">
                  <a16:creationId xmlns:a16="http://schemas.microsoft.com/office/drawing/2014/main" id="{E7141932-BFB6-4AFF-8692-A5D84A797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" y="2818"/>
              <a:ext cx="187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（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c) a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出队</a:t>
              </a:r>
            </a:p>
          </p:txBody>
        </p:sp>
        <p:sp>
          <p:nvSpPr>
            <p:cNvPr id="53" name="Rectangle 49">
              <a:extLst>
                <a:ext uri="{FF2B5EF4-FFF2-40B4-BE49-F238E27FC236}">
                  <a16:creationId xmlns:a16="http://schemas.microsoft.com/office/drawing/2014/main" id="{80585BD0-443F-4E5D-8A83-A9D4DDFF1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496"/>
              <a:ext cx="132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front            rear</a:t>
              </a:r>
            </a:p>
          </p:txBody>
        </p:sp>
        <p:sp>
          <p:nvSpPr>
            <p:cNvPr id="54" name="Line 50">
              <a:extLst>
                <a:ext uri="{FF2B5EF4-FFF2-40B4-BE49-F238E27FC236}">
                  <a16:creationId xmlns:a16="http://schemas.microsoft.com/office/drawing/2014/main" id="{249A41D7-4D32-42A3-9FD0-EEA814CE0A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2448"/>
              <a:ext cx="0" cy="144"/>
            </a:xfrm>
            <a:prstGeom prst="line">
              <a:avLst/>
            </a:prstGeom>
            <a:noFill/>
            <a:ln w="9525">
              <a:solidFill>
                <a:srgbClr val="17406D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" name="Line 51">
              <a:extLst>
                <a:ext uri="{FF2B5EF4-FFF2-40B4-BE49-F238E27FC236}">
                  <a16:creationId xmlns:a16="http://schemas.microsoft.com/office/drawing/2014/main" id="{BC269D9C-2B31-46C2-85EB-F19EA12FC3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448"/>
              <a:ext cx="0" cy="144"/>
            </a:xfrm>
            <a:prstGeom prst="line">
              <a:avLst/>
            </a:prstGeom>
            <a:noFill/>
            <a:ln w="9525">
              <a:solidFill>
                <a:srgbClr val="17406D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6" name="Group 52">
            <a:extLst>
              <a:ext uri="{FF2B5EF4-FFF2-40B4-BE49-F238E27FC236}">
                <a16:creationId xmlns:a16="http://schemas.microsoft.com/office/drawing/2014/main" id="{E65BE56F-EBC4-47D6-B680-83484FD38527}"/>
              </a:ext>
            </a:extLst>
          </p:cNvPr>
          <p:cNvGrpSpPr>
            <a:grpSpLocks/>
          </p:cNvGrpSpPr>
          <p:nvPr/>
        </p:nvGrpSpPr>
        <p:grpSpPr bwMode="auto">
          <a:xfrm>
            <a:off x="6306585" y="4037179"/>
            <a:ext cx="3382963" cy="1644650"/>
            <a:chOff x="2928" y="2352"/>
            <a:chExt cx="2131" cy="1036"/>
          </a:xfrm>
        </p:grpSpPr>
        <p:sp>
          <p:nvSpPr>
            <p:cNvPr id="57" name="Line 53">
              <a:extLst>
                <a:ext uri="{FF2B5EF4-FFF2-40B4-BE49-F238E27FC236}">
                  <a16:creationId xmlns:a16="http://schemas.microsoft.com/office/drawing/2014/main" id="{DA6EBB3F-7E19-4DA3-8D8C-B82E5D8EE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352"/>
              <a:ext cx="1920" cy="0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" name="Line 54">
              <a:extLst>
                <a:ext uri="{FF2B5EF4-FFF2-40B4-BE49-F238E27FC236}">
                  <a16:creationId xmlns:a16="http://schemas.microsoft.com/office/drawing/2014/main" id="{B75BF37B-C18E-4B05-A2E1-E738BB98F6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352"/>
              <a:ext cx="0" cy="326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9" name="Group 55">
              <a:extLst>
                <a:ext uri="{FF2B5EF4-FFF2-40B4-BE49-F238E27FC236}">
                  <a16:creationId xmlns:a16="http://schemas.microsoft.com/office/drawing/2014/main" id="{E7AA0CE2-956E-436F-A8C6-46DA2269AA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2352"/>
              <a:ext cx="2131" cy="1036"/>
              <a:chOff x="3024" y="2112"/>
              <a:chExt cx="2131" cy="1036"/>
            </a:xfrm>
          </p:grpSpPr>
          <p:sp>
            <p:nvSpPr>
              <p:cNvPr id="60" name="Rectangle 56">
                <a:extLst>
                  <a:ext uri="{FF2B5EF4-FFF2-40B4-BE49-F238E27FC236}">
                    <a16:creationId xmlns:a16="http://schemas.microsoft.com/office/drawing/2014/main" id="{8D3C4845-BD44-46BF-A15A-C2C378D47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2112"/>
                <a:ext cx="480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8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61" name="Rectangle 57">
                <a:extLst>
                  <a:ext uri="{FF2B5EF4-FFF2-40B4-BE49-F238E27FC236}">
                    <a16:creationId xmlns:a16="http://schemas.microsoft.com/office/drawing/2014/main" id="{9FD2A189-5A0B-41F6-A5F5-74EAB738DF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2" y="2112"/>
                <a:ext cx="50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8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62" name="Rectangle 58">
                <a:extLst>
                  <a:ext uri="{FF2B5EF4-FFF2-40B4-BE49-F238E27FC236}">
                    <a16:creationId xmlns:a16="http://schemas.microsoft.com/office/drawing/2014/main" id="{5CCAADD6-59D3-483A-9B41-20D8B03E73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2112"/>
                <a:ext cx="458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8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63" name="Rectangle 59">
                <a:extLst>
                  <a:ext uri="{FF2B5EF4-FFF2-40B4-BE49-F238E27FC236}">
                    <a16:creationId xmlns:a16="http://schemas.microsoft.com/office/drawing/2014/main" id="{5683F9FC-9515-40F2-B58C-AFD50C529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2112"/>
                <a:ext cx="480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8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64" name="Line 60">
                <a:extLst>
                  <a:ext uri="{FF2B5EF4-FFF2-40B4-BE49-F238E27FC236}">
                    <a16:creationId xmlns:a16="http://schemas.microsoft.com/office/drawing/2014/main" id="{1787BF08-2B0D-4B82-89C4-BE0D5ABA56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4" y="2438"/>
                <a:ext cx="1920" cy="0"/>
              </a:xfrm>
              <a:prstGeom prst="line">
                <a:avLst/>
              </a:prstGeom>
              <a:noFill/>
              <a:ln w="28575" cap="sq">
                <a:solidFill>
                  <a:sysClr val="windowText" lastClr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" name="Line 61">
                <a:extLst>
                  <a:ext uri="{FF2B5EF4-FFF2-40B4-BE49-F238E27FC236}">
                    <a16:creationId xmlns:a16="http://schemas.microsoft.com/office/drawing/2014/main" id="{89EE9FB7-109E-4E11-BF38-876BB5CFBD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2112"/>
                <a:ext cx="0" cy="326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" name="Line 62">
                <a:extLst>
                  <a:ext uri="{FF2B5EF4-FFF2-40B4-BE49-F238E27FC236}">
                    <a16:creationId xmlns:a16="http://schemas.microsoft.com/office/drawing/2014/main" id="{3FCDEDD7-E94C-45CD-83DC-1070D4E68C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2" y="2112"/>
                <a:ext cx="0" cy="326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" name="Line 63">
                <a:extLst>
                  <a:ext uri="{FF2B5EF4-FFF2-40B4-BE49-F238E27FC236}">
                    <a16:creationId xmlns:a16="http://schemas.microsoft.com/office/drawing/2014/main" id="{AE2408F8-388A-4ECF-807C-CF0880B225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2112"/>
                <a:ext cx="0" cy="326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8" name="Line 64">
                <a:extLst>
                  <a:ext uri="{FF2B5EF4-FFF2-40B4-BE49-F238E27FC236}">
                    <a16:creationId xmlns:a16="http://schemas.microsoft.com/office/drawing/2014/main" id="{DDE712C7-AC97-437D-B66C-7AB08B0EF5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2112"/>
                <a:ext cx="0" cy="326"/>
              </a:xfrm>
              <a:prstGeom prst="line">
                <a:avLst/>
              </a:prstGeom>
              <a:noFill/>
              <a:ln w="28575" cap="sq">
                <a:solidFill>
                  <a:sysClr val="windowText" lastClr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" name="Text Box 65">
                <a:extLst>
                  <a:ext uri="{FF2B5EF4-FFF2-40B4-BE49-F238E27FC236}">
                    <a16:creationId xmlns:a16="http://schemas.microsoft.com/office/drawing/2014/main" id="{A417524D-A973-4031-9D14-47C47F9F48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2496"/>
                <a:ext cx="1104" cy="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r" defTabSz="914400" eaLnBrk="1" fontAlgn="base" latinLnBrk="0" hangingPunct="1">
                  <a:lnSpc>
                    <a:spcPct val="7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楷体_GB2312" pitchFamily="49" charset="-122"/>
                  </a:rPr>
                  <a:t>front                                                     rear</a:t>
                </a:r>
              </a:p>
            </p:txBody>
          </p:sp>
          <p:sp>
            <p:nvSpPr>
              <p:cNvPr id="70" name="Rectangle 66">
                <a:extLst>
                  <a:ext uri="{FF2B5EF4-FFF2-40B4-BE49-F238E27FC236}">
                    <a16:creationId xmlns:a16="http://schemas.microsoft.com/office/drawing/2014/main" id="{DE51A2BA-BFBC-49EE-93CA-341D8388AE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7" y="2896"/>
                <a:ext cx="1968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楷体_GB2312" pitchFamily="49" charset="-122"/>
                  </a:rPr>
                  <a:t> (d) </a:t>
                </a:r>
                <a:r>
                  <a:rPr kumimoji="0" lang="en-US" altLang="zh-CN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楷体_GB2312" pitchFamily="49" charset="-122"/>
                  </a:rPr>
                  <a:t>b,c</a:t>
                </a: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楷体_GB2312" pitchFamily="49" charset="-122"/>
                  </a:rPr>
                  <a:t>出队，队为空</a:t>
                </a:r>
              </a:p>
            </p:txBody>
          </p:sp>
          <p:sp>
            <p:nvSpPr>
              <p:cNvPr id="71" name="Line 67">
                <a:extLst>
                  <a:ext uri="{FF2B5EF4-FFF2-40B4-BE49-F238E27FC236}">
                    <a16:creationId xmlns:a16="http://schemas.microsoft.com/office/drawing/2014/main" id="{74863BD3-FE2D-4863-9B89-A4ED707B4E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0" y="2400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17406D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72" name="矩形 71">
            <a:extLst>
              <a:ext uri="{FF2B5EF4-FFF2-40B4-BE49-F238E27FC236}">
                <a16:creationId xmlns:a16="http://schemas.microsoft.com/office/drawing/2014/main" id="{DABF615D-05AD-4B76-BBBB-85C76BEAEC27}"/>
              </a:ext>
            </a:extLst>
          </p:cNvPr>
          <p:cNvSpPr/>
          <p:nvPr/>
        </p:nvSpPr>
        <p:spPr>
          <a:xfrm>
            <a:off x="1039315" y="141395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队列的顺序存储结构</a:t>
            </a:r>
            <a:endParaRPr lang="zh-CN" altLang="en-US" sz="20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4089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队列</a:t>
            </a:r>
            <a:endParaRPr lang="en-US" altLang="zh-CN" dirty="0"/>
          </a:p>
        </p:txBody>
      </p:sp>
      <p:sp>
        <p:nvSpPr>
          <p:cNvPr id="73" name="Text Box 3">
            <a:extLst>
              <a:ext uri="{FF2B5EF4-FFF2-40B4-BE49-F238E27FC236}">
                <a16:creationId xmlns:a16="http://schemas.microsoft.com/office/drawing/2014/main" id="{0532D8AF-02A7-493C-80D7-4376B4BBA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039" y="2191772"/>
            <a:ext cx="4755982" cy="1976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36353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429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b="1" dirty="0">
                <a:solidFill>
                  <a:prstClr val="black"/>
                </a:solidFill>
                <a:ea typeface="楷体_GB2312" pitchFamily="49" charset="-122"/>
              </a:rPr>
              <a:t>  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用链表表示的队列简称为链队列，如下图所示。一个链队列需要两个分别指向队头和队尾的指针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分别称为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头指针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尾指针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才能唯一确定。</a:t>
            </a:r>
          </a:p>
        </p:txBody>
      </p:sp>
      <p:grpSp>
        <p:nvGrpSpPr>
          <p:cNvPr id="74" name="Group 4">
            <a:extLst>
              <a:ext uri="{FF2B5EF4-FFF2-40B4-BE49-F238E27FC236}">
                <a16:creationId xmlns:a16="http://schemas.microsoft.com/office/drawing/2014/main" id="{8964FB0E-47D6-450D-BB3B-BBAA8EA96789}"/>
              </a:ext>
            </a:extLst>
          </p:cNvPr>
          <p:cNvGrpSpPr>
            <a:grpSpLocks/>
          </p:cNvGrpSpPr>
          <p:nvPr/>
        </p:nvGrpSpPr>
        <p:grpSpPr bwMode="auto">
          <a:xfrm>
            <a:off x="5877461" y="1580048"/>
            <a:ext cx="4495800" cy="4876800"/>
            <a:chOff x="2928" y="912"/>
            <a:chExt cx="2832" cy="3072"/>
          </a:xfrm>
        </p:grpSpPr>
        <p:sp>
          <p:nvSpPr>
            <p:cNvPr id="75" name="Text Box 5">
              <a:extLst>
                <a:ext uri="{FF2B5EF4-FFF2-40B4-BE49-F238E27FC236}">
                  <a16:creationId xmlns:a16="http://schemas.microsoft.com/office/drawing/2014/main" id="{DF03E20D-233A-47BD-A9D4-F6BDF82A91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3408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Q.rear</a:t>
              </a:r>
            </a:p>
          </p:txBody>
        </p:sp>
        <p:sp>
          <p:nvSpPr>
            <p:cNvPr id="76" name="Text Box 6">
              <a:extLst>
                <a:ext uri="{FF2B5EF4-FFF2-40B4-BE49-F238E27FC236}">
                  <a16:creationId xmlns:a16="http://schemas.microsoft.com/office/drawing/2014/main" id="{24C9ED4B-269D-41D9-8C86-CE6C490D83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8" y="3504"/>
              <a:ext cx="288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^</a:t>
              </a:r>
            </a:p>
          </p:txBody>
        </p:sp>
        <p:sp>
          <p:nvSpPr>
            <p:cNvPr id="77" name="Line 7">
              <a:extLst>
                <a:ext uri="{FF2B5EF4-FFF2-40B4-BE49-F238E27FC236}">
                  <a16:creationId xmlns:a16="http://schemas.microsoft.com/office/drawing/2014/main" id="{66A34DB7-0913-419A-A7EC-6417C7E72E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4" y="1296"/>
              <a:ext cx="1182" cy="0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8" name="Line 8">
              <a:extLst>
                <a:ext uri="{FF2B5EF4-FFF2-40B4-BE49-F238E27FC236}">
                  <a16:creationId xmlns:a16="http://schemas.microsoft.com/office/drawing/2014/main" id="{156B2EAF-B02E-4346-929A-0890CA9FF8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4" y="1008"/>
              <a:ext cx="0" cy="288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" name="Line 9">
              <a:extLst>
                <a:ext uri="{FF2B5EF4-FFF2-40B4-BE49-F238E27FC236}">
                  <a16:creationId xmlns:a16="http://schemas.microsoft.com/office/drawing/2014/main" id="{1C7F451A-E2BA-47FC-845B-52209A7879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4" y="1008"/>
              <a:ext cx="0" cy="288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" name="Line 10">
              <a:extLst>
                <a:ext uri="{FF2B5EF4-FFF2-40B4-BE49-F238E27FC236}">
                  <a16:creationId xmlns:a16="http://schemas.microsoft.com/office/drawing/2014/main" id="{344FD381-1AC4-4365-B146-D8AB75886A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36" y="1008"/>
              <a:ext cx="0" cy="288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1" name="Line 11">
              <a:extLst>
                <a:ext uri="{FF2B5EF4-FFF2-40B4-BE49-F238E27FC236}">
                  <a16:creationId xmlns:a16="http://schemas.microsoft.com/office/drawing/2014/main" id="{7B2EA0EF-FA55-4461-9FAB-19586D520F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1008"/>
              <a:ext cx="1182" cy="0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" name="Line 12">
              <a:extLst>
                <a:ext uri="{FF2B5EF4-FFF2-40B4-BE49-F238E27FC236}">
                  <a16:creationId xmlns:a16="http://schemas.microsoft.com/office/drawing/2014/main" id="{F27B416B-9876-49E6-87E8-671D6B4AEF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152"/>
              <a:ext cx="0" cy="38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" name="Line 13">
              <a:extLst>
                <a:ext uri="{FF2B5EF4-FFF2-40B4-BE49-F238E27FC236}">
                  <a16:creationId xmlns:a16="http://schemas.microsoft.com/office/drawing/2014/main" id="{E4C48353-1400-4CE1-B68B-91898B87B0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" y="1872"/>
              <a:ext cx="1182" cy="0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4" name="Line 14">
              <a:extLst>
                <a:ext uri="{FF2B5EF4-FFF2-40B4-BE49-F238E27FC236}">
                  <a16:creationId xmlns:a16="http://schemas.microsoft.com/office/drawing/2014/main" id="{0CAAC7E3-F1DF-4500-A7B2-E0B441285A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" y="1584"/>
              <a:ext cx="0" cy="288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5" name="Line 15">
              <a:extLst>
                <a:ext uri="{FF2B5EF4-FFF2-40B4-BE49-F238E27FC236}">
                  <a16:creationId xmlns:a16="http://schemas.microsoft.com/office/drawing/2014/main" id="{29BEC473-5301-41FB-99B3-9477B8B3F0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0" y="1584"/>
              <a:ext cx="0" cy="288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6" name="Line 16">
              <a:extLst>
                <a:ext uri="{FF2B5EF4-FFF2-40B4-BE49-F238E27FC236}">
                  <a16:creationId xmlns:a16="http://schemas.microsoft.com/office/drawing/2014/main" id="{87A1892A-8B61-4B4E-9F14-931A3F0B14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42" y="1584"/>
              <a:ext cx="0" cy="288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" name="Line 17">
              <a:extLst>
                <a:ext uri="{FF2B5EF4-FFF2-40B4-BE49-F238E27FC236}">
                  <a16:creationId xmlns:a16="http://schemas.microsoft.com/office/drawing/2014/main" id="{BE123B25-F7FA-4F8E-83D1-C08B736E6E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2" y="1584"/>
              <a:ext cx="1182" cy="0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8" name="Line 18">
              <a:extLst>
                <a:ext uri="{FF2B5EF4-FFF2-40B4-BE49-F238E27FC236}">
                  <a16:creationId xmlns:a16="http://schemas.microsoft.com/office/drawing/2014/main" id="{6D9221EF-50CA-461F-BDAB-6C4EDC180B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4" y="1728"/>
              <a:ext cx="0" cy="38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" name="Line 19">
              <a:extLst>
                <a:ext uri="{FF2B5EF4-FFF2-40B4-BE49-F238E27FC236}">
                  <a16:creationId xmlns:a16="http://schemas.microsoft.com/office/drawing/2014/main" id="{2CBB1891-3D80-49FC-B729-56EC0C7080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" y="2400"/>
              <a:ext cx="1182" cy="0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" name="Line 20">
              <a:extLst>
                <a:ext uri="{FF2B5EF4-FFF2-40B4-BE49-F238E27FC236}">
                  <a16:creationId xmlns:a16="http://schemas.microsoft.com/office/drawing/2014/main" id="{2EB44350-C52D-4CAA-A124-C0BA0D194D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" y="2112"/>
              <a:ext cx="0" cy="288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" name="Line 21">
              <a:extLst>
                <a:ext uri="{FF2B5EF4-FFF2-40B4-BE49-F238E27FC236}">
                  <a16:creationId xmlns:a16="http://schemas.microsoft.com/office/drawing/2014/main" id="{0495CBBB-7C47-4A92-ABFE-426C785C45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0" y="2112"/>
              <a:ext cx="0" cy="288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" name="Line 22">
              <a:extLst>
                <a:ext uri="{FF2B5EF4-FFF2-40B4-BE49-F238E27FC236}">
                  <a16:creationId xmlns:a16="http://schemas.microsoft.com/office/drawing/2014/main" id="{7BA4F130-F0C2-4B64-A543-BD1FE03AD3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42" y="2112"/>
              <a:ext cx="0" cy="288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" name="Line 23">
              <a:extLst>
                <a:ext uri="{FF2B5EF4-FFF2-40B4-BE49-F238E27FC236}">
                  <a16:creationId xmlns:a16="http://schemas.microsoft.com/office/drawing/2014/main" id="{6BF92D7E-CF6D-4B60-B853-D70DAAD07E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2" y="2112"/>
              <a:ext cx="1182" cy="0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4" name="Line 24">
              <a:extLst>
                <a:ext uri="{FF2B5EF4-FFF2-40B4-BE49-F238E27FC236}">
                  <a16:creationId xmlns:a16="http://schemas.microsoft.com/office/drawing/2014/main" id="{A8BB6D34-0310-4DE2-BEA5-2EEB2607E0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4" y="2256"/>
              <a:ext cx="0" cy="38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5" name="Line 25">
              <a:extLst>
                <a:ext uri="{FF2B5EF4-FFF2-40B4-BE49-F238E27FC236}">
                  <a16:creationId xmlns:a16="http://schemas.microsoft.com/office/drawing/2014/main" id="{A6F6C3C5-4397-4BA6-A5D2-60292C47C7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4" y="3840"/>
              <a:ext cx="1182" cy="0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" name="Line 26">
              <a:extLst>
                <a:ext uri="{FF2B5EF4-FFF2-40B4-BE49-F238E27FC236}">
                  <a16:creationId xmlns:a16="http://schemas.microsoft.com/office/drawing/2014/main" id="{20ABC76F-1FB7-427C-9F43-A979C7F163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4" y="3552"/>
              <a:ext cx="0" cy="288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6B7F28D8-C6DB-4166-9B40-ED3D612239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4" y="3552"/>
              <a:ext cx="0" cy="288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8" name="Line 28">
              <a:extLst>
                <a:ext uri="{FF2B5EF4-FFF2-40B4-BE49-F238E27FC236}">
                  <a16:creationId xmlns:a16="http://schemas.microsoft.com/office/drawing/2014/main" id="{58F9F4FA-7272-40F3-91B7-753F2DA358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36" y="3552"/>
              <a:ext cx="0" cy="288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9" name="Line 29">
              <a:extLst>
                <a:ext uri="{FF2B5EF4-FFF2-40B4-BE49-F238E27FC236}">
                  <a16:creationId xmlns:a16="http://schemas.microsoft.com/office/drawing/2014/main" id="{45E9EE9B-B7FD-4959-9D42-A908C5C309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3552"/>
              <a:ext cx="1182" cy="0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0" name="Rectangle 30">
              <a:extLst>
                <a:ext uri="{FF2B5EF4-FFF2-40B4-BE49-F238E27FC236}">
                  <a16:creationId xmlns:a16="http://schemas.microsoft.com/office/drawing/2014/main" id="{1237D5E4-ECAB-419D-9131-1941C7214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912"/>
              <a:ext cx="7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Q.Front</a:t>
              </a:r>
            </a:p>
          </p:txBody>
        </p:sp>
        <p:sp>
          <p:nvSpPr>
            <p:cNvPr id="101" name="Line 31">
              <a:extLst>
                <a:ext uri="{FF2B5EF4-FFF2-40B4-BE49-F238E27FC236}">
                  <a16:creationId xmlns:a16="http://schemas.microsoft.com/office/drawing/2014/main" id="{8BD4ABBB-4C5C-412C-A5BF-17CF35351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3168"/>
              <a:ext cx="0" cy="38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" name="Line 32">
              <a:extLst>
                <a:ext uri="{FF2B5EF4-FFF2-40B4-BE49-F238E27FC236}">
                  <a16:creationId xmlns:a16="http://schemas.microsoft.com/office/drawing/2014/main" id="{5B7B1013-FA1D-4AC6-8D88-7133512762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2688"/>
              <a:ext cx="0" cy="38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prstDash val="dash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" name="Rectangle 33">
              <a:extLst>
                <a:ext uri="{FF2B5EF4-FFF2-40B4-BE49-F238E27FC236}">
                  <a16:creationId xmlns:a16="http://schemas.microsoft.com/office/drawing/2014/main" id="{D949ACBA-16BD-4AC9-A9BB-EEEC20DA4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008"/>
              <a:ext cx="624" cy="288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" name="Line 34">
              <a:extLst>
                <a:ext uri="{FF2B5EF4-FFF2-40B4-BE49-F238E27FC236}">
                  <a16:creationId xmlns:a16="http://schemas.microsoft.com/office/drawing/2014/main" id="{71436F7D-E306-4797-ABB1-3EB2D6DBA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152"/>
              <a:ext cx="624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" name="Line 35">
              <a:extLst>
                <a:ext uri="{FF2B5EF4-FFF2-40B4-BE49-F238E27FC236}">
                  <a16:creationId xmlns:a16="http://schemas.microsoft.com/office/drawing/2014/main" id="{70B1A69F-43A4-4F17-8704-4D69914784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696"/>
              <a:ext cx="624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" name="Text Box 36">
              <a:extLst>
                <a:ext uri="{FF2B5EF4-FFF2-40B4-BE49-F238E27FC236}">
                  <a16:creationId xmlns:a16="http://schemas.microsoft.com/office/drawing/2014/main" id="{0AEF0F73-EB5A-45DC-B551-8931D20A9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1584"/>
              <a:ext cx="52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队头</a:t>
              </a:r>
            </a:p>
          </p:txBody>
        </p:sp>
        <p:sp>
          <p:nvSpPr>
            <p:cNvPr id="107" name="Text Box 37">
              <a:extLst>
                <a:ext uri="{FF2B5EF4-FFF2-40B4-BE49-F238E27FC236}">
                  <a16:creationId xmlns:a16="http://schemas.microsoft.com/office/drawing/2014/main" id="{642C2111-2634-477C-BCFD-F3710F4A1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3552"/>
              <a:ext cx="52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队尾</a:t>
              </a:r>
            </a:p>
          </p:txBody>
        </p:sp>
      </p:grpSp>
      <p:sp>
        <p:nvSpPr>
          <p:cNvPr id="108" name="矩形 107">
            <a:extLst>
              <a:ext uri="{FF2B5EF4-FFF2-40B4-BE49-F238E27FC236}">
                <a16:creationId xmlns:a16="http://schemas.microsoft.com/office/drawing/2014/main" id="{B08F321B-1635-4177-91DF-A052FB97D87A}"/>
              </a:ext>
            </a:extLst>
          </p:cNvPr>
          <p:cNvSpPr/>
          <p:nvPr/>
        </p:nvSpPr>
        <p:spPr>
          <a:xfrm>
            <a:off x="1120696" y="1505858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队列的链表存储结构</a:t>
            </a:r>
          </a:p>
        </p:txBody>
      </p:sp>
    </p:spTree>
    <p:extLst>
      <p:ext uri="{BB962C8B-B14F-4D97-AF65-F5344CB8AC3E}">
        <p14:creationId xmlns:p14="http://schemas.microsoft.com/office/powerpoint/2010/main" val="107727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队列</a:t>
            </a:r>
            <a:endParaRPr lang="en-US" altLang="zh-CN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4DD268B-A9D8-452E-94D9-A007AF2F3E1B}"/>
              </a:ext>
            </a:extLst>
          </p:cNvPr>
          <p:cNvSpPr/>
          <p:nvPr/>
        </p:nvSpPr>
        <p:spPr>
          <a:xfrm>
            <a:off x="1001640" y="1356001"/>
            <a:ext cx="6709558" cy="453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双向队列</a:t>
            </a:r>
            <a:endParaRPr kumimoji="1" lang="en-US" altLang="zh-CN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994C88A-1A27-4DE6-B9BC-552425580446}"/>
              </a:ext>
            </a:extLst>
          </p:cNvPr>
          <p:cNvSpPr txBox="1"/>
          <p:nvPr/>
        </p:nvSpPr>
        <p:spPr>
          <a:xfrm>
            <a:off x="1001640" y="1809458"/>
            <a:ext cx="998146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双向队列，顾名思义就是</a:t>
            </a:r>
            <a:r>
              <a:rPr kumimoji="1"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队列二边都可以操作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的队列。</a:t>
            </a:r>
          </a:p>
          <a:p>
            <a:pPr>
              <a:lnSpc>
                <a:spcPct val="200000"/>
              </a:lnSpc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双向队列和向量很相似，但是它允许在容器头部快速插入和删除（就像在尾部一样）。双向都可以进行相应的操作。</a:t>
            </a:r>
          </a:p>
          <a:p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5015965-DDA2-4D08-A78A-BC29FBBD2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94" y="4007831"/>
            <a:ext cx="3771900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6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队列</a:t>
            </a:r>
            <a:endParaRPr lang="en-US" altLang="zh-CN" dirty="0"/>
          </a:p>
        </p:txBody>
      </p:sp>
      <p:sp>
        <p:nvSpPr>
          <p:cNvPr id="73" name="Text Box 3">
            <a:extLst>
              <a:ext uri="{FF2B5EF4-FFF2-40B4-BE49-F238E27FC236}">
                <a16:creationId xmlns:a16="http://schemas.microsoft.com/office/drawing/2014/main" id="{0532D8AF-02A7-493C-80D7-4376B4BBA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622" y="1190244"/>
            <a:ext cx="10768651" cy="182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36353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429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b="1" dirty="0">
                <a:solidFill>
                  <a:prstClr val="black"/>
                </a:solidFill>
                <a:ea typeface="楷体_GB2312" pitchFamily="49" charset="-122"/>
              </a:rPr>
              <a:t>  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问题：“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假上溢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在入队和出队的操作中，头尾指针只增加不减小，致使被删除元素的空间永远无法重新利用</a:t>
            </a:r>
          </a:p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5" name="Group 4">
            <a:extLst>
              <a:ext uri="{FF2B5EF4-FFF2-40B4-BE49-F238E27FC236}">
                <a16:creationId xmlns:a16="http://schemas.microsoft.com/office/drawing/2014/main" id="{059FD76F-4C1F-4F4A-9D4A-425E7E05CB7C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2886456"/>
            <a:ext cx="1676400" cy="3429000"/>
            <a:chOff x="2880" y="1824"/>
            <a:chExt cx="816" cy="1440"/>
          </a:xfrm>
        </p:grpSpPr>
        <p:sp>
          <p:nvSpPr>
            <p:cNvPr id="126" name="Rectangle 5">
              <a:extLst>
                <a:ext uri="{FF2B5EF4-FFF2-40B4-BE49-F238E27FC236}">
                  <a16:creationId xmlns:a16="http://schemas.microsoft.com/office/drawing/2014/main" id="{4772F49F-5C31-4BB1-A00B-A45D51624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82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7" name="Rectangle 6">
              <a:extLst>
                <a:ext uri="{FF2B5EF4-FFF2-40B4-BE49-F238E27FC236}">
                  <a16:creationId xmlns:a16="http://schemas.microsoft.com/office/drawing/2014/main" id="{47CFFC32-815C-44BB-84C4-B43171006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06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" name="Rectangle 7">
              <a:extLst>
                <a:ext uri="{FF2B5EF4-FFF2-40B4-BE49-F238E27FC236}">
                  <a16:creationId xmlns:a16="http://schemas.microsoft.com/office/drawing/2014/main" id="{77007D00-799E-48DD-872D-6B3D77F72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30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9" name="Rectangle 8">
              <a:extLst>
                <a:ext uri="{FF2B5EF4-FFF2-40B4-BE49-F238E27FC236}">
                  <a16:creationId xmlns:a16="http://schemas.microsoft.com/office/drawing/2014/main" id="{98E93E4D-B89F-4052-9D5B-79D538D12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54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J3</a:t>
              </a:r>
            </a:p>
          </p:txBody>
        </p:sp>
        <p:sp>
          <p:nvSpPr>
            <p:cNvPr id="130" name="Rectangle 9">
              <a:extLst>
                <a:ext uri="{FF2B5EF4-FFF2-40B4-BE49-F238E27FC236}">
                  <a16:creationId xmlns:a16="http://schemas.microsoft.com/office/drawing/2014/main" id="{3001DAE0-E832-4CBF-AA66-B0EFD5970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78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1" name="Rectangle 10">
              <a:extLst>
                <a:ext uri="{FF2B5EF4-FFF2-40B4-BE49-F238E27FC236}">
                  <a16:creationId xmlns:a16="http://schemas.microsoft.com/office/drawing/2014/main" id="{E56A85AA-A57A-4350-ACBF-27ABC089D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02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2" name="Line 11">
              <a:extLst>
                <a:ext uri="{FF2B5EF4-FFF2-40B4-BE49-F238E27FC236}">
                  <a16:creationId xmlns:a16="http://schemas.microsoft.com/office/drawing/2014/main" id="{99F87040-A1E5-4480-BC33-C301F7272A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448"/>
              <a:ext cx="240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" name="Rectangle 12">
              <a:extLst>
                <a:ext uri="{FF2B5EF4-FFF2-40B4-BE49-F238E27FC236}">
                  <a16:creationId xmlns:a16="http://schemas.microsoft.com/office/drawing/2014/main" id="{0598ED71-E86D-4A45-9CBA-3B054A6EF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256"/>
              <a:ext cx="33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Q.rear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34" name="Line 13">
              <a:extLst>
                <a:ext uri="{FF2B5EF4-FFF2-40B4-BE49-F238E27FC236}">
                  <a16:creationId xmlns:a16="http://schemas.microsoft.com/office/drawing/2014/main" id="{22B2014E-99F7-4DEB-B4EC-CEEDB6EBE3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688"/>
              <a:ext cx="240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5" name="Rectangle 14">
              <a:extLst>
                <a:ext uri="{FF2B5EF4-FFF2-40B4-BE49-F238E27FC236}">
                  <a16:creationId xmlns:a16="http://schemas.microsoft.com/office/drawing/2014/main" id="{94801C1F-0C0B-4ED2-85CA-24A8E633E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496"/>
              <a:ext cx="33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Q.front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136" name="Group 15">
            <a:extLst>
              <a:ext uri="{FF2B5EF4-FFF2-40B4-BE49-F238E27FC236}">
                <a16:creationId xmlns:a16="http://schemas.microsoft.com/office/drawing/2014/main" id="{B43D9DFD-767F-4FDE-BC0F-2082AE9F60AF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2886456"/>
            <a:ext cx="1676400" cy="3429000"/>
            <a:chOff x="1632" y="1824"/>
            <a:chExt cx="816" cy="1440"/>
          </a:xfrm>
        </p:grpSpPr>
        <p:sp>
          <p:nvSpPr>
            <p:cNvPr id="137" name="Rectangle 16">
              <a:extLst>
                <a:ext uri="{FF2B5EF4-FFF2-40B4-BE49-F238E27FC236}">
                  <a16:creationId xmlns:a16="http://schemas.microsoft.com/office/drawing/2014/main" id="{2454B484-5CE1-4A11-B8A6-63E72B89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82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8" name="Rectangle 17">
              <a:extLst>
                <a:ext uri="{FF2B5EF4-FFF2-40B4-BE49-F238E27FC236}">
                  <a16:creationId xmlns:a16="http://schemas.microsoft.com/office/drawing/2014/main" id="{ADAA1707-A63E-4CFA-8BC3-E2EC84A2B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06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9" name="Rectangle 18">
              <a:extLst>
                <a:ext uri="{FF2B5EF4-FFF2-40B4-BE49-F238E27FC236}">
                  <a16:creationId xmlns:a16="http://schemas.microsoft.com/office/drawing/2014/main" id="{177C88DE-DD00-47FF-978C-13D94C739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30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0" name="Rectangle 19">
              <a:extLst>
                <a:ext uri="{FF2B5EF4-FFF2-40B4-BE49-F238E27FC236}">
                  <a16:creationId xmlns:a16="http://schemas.microsoft.com/office/drawing/2014/main" id="{A84F0E2B-0672-4EF7-B9E7-C954DF671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54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J3</a:t>
              </a:r>
            </a:p>
          </p:txBody>
        </p:sp>
        <p:sp>
          <p:nvSpPr>
            <p:cNvPr id="141" name="Rectangle 20">
              <a:extLst>
                <a:ext uri="{FF2B5EF4-FFF2-40B4-BE49-F238E27FC236}">
                  <a16:creationId xmlns:a16="http://schemas.microsoft.com/office/drawing/2014/main" id="{0FE882A9-775C-4202-93C1-B327B2655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78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J2</a:t>
              </a:r>
            </a:p>
          </p:txBody>
        </p:sp>
        <p:sp>
          <p:nvSpPr>
            <p:cNvPr id="142" name="Rectangle 21">
              <a:extLst>
                <a:ext uri="{FF2B5EF4-FFF2-40B4-BE49-F238E27FC236}">
                  <a16:creationId xmlns:a16="http://schemas.microsoft.com/office/drawing/2014/main" id="{C5E8960E-CE82-4691-BABF-72F34E5B2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02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J1</a:t>
              </a:r>
            </a:p>
          </p:txBody>
        </p:sp>
        <p:sp>
          <p:nvSpPr>
            <p:cNvPr id="143" name="Line 22">
              <a:extLst>
                <a:ext uri="{FF2B5EF4-FFF2-40B4-BE49-F238E27FC236}">
                  <a16:creationId xmlns:a16="http://schemas.microsoft.com/office/drawing/2014/main" id="{E4E13290-6B98-4A8A-8B93-B81A83FD37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448"/>
              <a:ext cx="240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" name="Rectangle 23">
              <a:extLst>
                <a:ext uri="{FF2B5EF4-FFF2-40B4-BE49-F238E27FC236}">
                  <a16:creationId xmlns:a16="http://schemas.microsoft.com/office/drawing/2014/main" id="{EC47F80F-1856-48E8-B3BD-CDB3398A9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256"/>
              <a:ext cx="33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Q.rear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45" name="Line 24">
              <a:extLst>
                <a:ext uri="{FF2B5EF4-FFF2-40B4-BE49-F238E27FC236}">
                  <a16:creationId xmlns:a16="http://schemas.microsoft.com/office/drawing/2014/main" id="{97DB55FA-C095-4819-BF26-957A539373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168"/>
              <a:ext cx="240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6" name="Rectangle 25">
              <a:extLst>
                <a:ext uri="{FF2B5EF4-FFF2-40B4-BE49-F238E27FC236}">
                  <a16:creationId xmlns:a16="http://schemas.microsoft.com/office/drawing/2014/main" id="{A84A82BA-7C81-444C-A1C8-9117B4CDF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976"/>
              <a:ext cx="33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Q.front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147" name="Group 26">
            <a:extLst>
              <a:ext uri="{FF2B5EF4-FFF2-40B4-BE49-F238E27FC236}">
                <a16:creationId xmlns:a16="http://schemas.microsoft.com/office/drawing/2014/main" id="{6326E75C-CD73-4042-9982-C44A51D3104F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2657856"/>
            <a:ext cx="1676400" cy="3657600"/>
            <a:chOff x="4032" y="1728"/>
            <a:chExt cx="816" cy="1536"/>
          </a:xfrm>
        </p:grpSpPr>
        <p:sp>
          <p:nvSpPr>
            <p:cNvPr id="148" name="Rectangle 27">
              <a:extLst>
                <a:ext uri="{FF2B5EF4-FFF2-40B4-BE49-F238E27FC236}">
                  <a16:creationId xmlns:a16="http://schemas.microsoft.com/office/drawing/2014/main" id="{ECB53A9D-C089-4F3C-A46B-1A874B7A8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82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J6</a:t>
              </a:r>
            </a:p>
          </p:txBody>
        </p:sp>
        <p:sp>
          <p:nvSpPr>
            <p:cNvPr id="149" name="Rectangle 28">
              <a:extLst>
                <a:ext uri="{FF2B5EF4-FFF2-40B4-BE49-F238E27FC236}">
                  <a16:creationId xmlns:a16="http://schemas.microsoft.com/office/drawing/2014/main" id="{51F8F67F-2FD8-4AAA-B2C0-77BF3CDFD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06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J5</a:t>
              </a:r>
            </a:p>
          </p:txBody>
        </p:sp>
        <p:sp>
          <p:nvSpPr>
            <p:cNvPr id="150" name="Rectangle 29">
              <a:extLst>
                <a:ext uri="{FF2B5EF4-FFF2-40B4-BE49-F238E27FC236}">
                  <a16:creationId xmlns:a16="http://schemas.microsoft.com/office/drawing/2014/main" id="{AB8FF5B4-05B1-44C0-B56A-2F753659A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30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1" name="Rectangle 30">
              <a:extLst>
                <a:ext uri="{FF2B5EF4-FFF2-40B4-BE49-F238E27FC236}">
                  <a16:creationId xmlns:a16="http://schemas.microsoft.com/office/drawing/2014/main" id="{299E4620-8217-4CFB-AF88-D0F4EA01C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54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2" name="Rectangle 31">
              <a:extLst>
                <a:ext uri="{FF2B5EF4-FFF2-40B4-BE49-F238E27FC236}">
                  <a16:creationId xmlns:a16="http://schemas.microsoft.com/office/drawing/2014/main" id="{C4DF15DA-EF59-4808-BDFE-671A76911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78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" name="Rectangle 32">
              <a:extLst>
                <a:ext uri="{FF2B5EF4-FFF2-40B4-BE49-F238E27FC236}">
                  <a16:creationId xmlns:a16="http://schemas.microsoft.com/office/drawing/2014/main" id="{E0C4D273-5A4C-417D-A192-EB2563646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02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4" name="Line 33">
              <a:extLst>
                <a:ext uri="{FF2B5EF4-FFF2-40B4-BE49-F238E27FC236}">
                  <a16:creationId xmlns:a16="http://schemas.microsoft.com/office/drawing/2014/main" id="{1A70C604-FC01-4A36-9F23-E5D244E87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920"/>
              <a:ext cx="240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5" name="Rectangle 34">
              <a:extLst>
                <a:ext uri="{FF2B5EF4-FFF2-40B4-BE49-F238E27FC236}">
                  <a16:creationId xmlns:a16="http://schemas.microsoft.com/office/drawing/2014/main" id="{04E7B6BF-3EBF-4614-845C-F15236D4F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1728"/>
              <a:ext cx="33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Q.rear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56" name="Line 35">
              <a:extLst>
                <a:ext uri="{FF2B5EF4-FFF2-40B4-BE49-F238E27FC236}">
                  <a16:creationId xmlns:a16="http://schemas.microsoft.com/office/drawing/2014/main" id="{0CF2B35C-6EB7-44D6-9E7F-D22E520735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208"/>
              <a:ext cx="240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7" name="Rectangle 36">
              <a:extLst>
                <a:ext uri="{FF2B5EF4-FFF2-40B4-BE49-F238E27FC236}">
                  <a16:creationId xmlns:a16="http://schemas.microsoft.com/office/drawing/2014/main" id="{45B7692A-57B0-4E5D-A943-32EDF2072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016"/>
              <a:ext cx="33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Q.front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158" name="Group 37">
            <a:extLst>
              <a:ext uri="{FF2B5EF4-FFF2-40B4-BE49-F238E27FC236}">
                <a16:creationId xmlns:a16="http://schemas.microsoft.com/office/drawing/2014/main" id="{53C4E253-F835-40E9-916F-BAB894197D2F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2810256"/>
            <a:ext cx="2070100" cy="3657600"/>
            <a:chOff x="384" y="1824"/>
            <a:chExt cx="1008" cy="1536"/>
          </a:xfrm>
        </p:grpSpPr>
        <p:sp>
          <p:nvSpPr>
            <p:cNvPr id="159" name="Rectangle 38">
              <a:extLst>
                <a:ext uri="{FF2B5EF4-FFF2-40B4-BE49-F238E27FC236}">
                  <a16:creationId xmlns:a16="http://schemas.microsoft.com/office/drawing/2014/main" id="{6201D87C-77E7-44D5-AFBA-214A6E44B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82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0" name="Rectangle 39">
              <a:extLst>
                <a:ext uri="{FF2B5EF4-FFF2-40B4-BE49-F238E27FC236}">
                  <a16:creationId xmlns:a16="http://schemas.microsoft.com/office/drawing/2014/main" id="{2D0ECF68-7CF9-436C-8EAE-FEFDBA520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06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1" name="Rectangle 40">
              <a:extLst>
                <a:ext uri="{FF2B5EF4-FFF2-40B4-BE49-F238E27FC236}">
                  <a16:creationId xmlns:a16="http://schemas.microsoft.com/office/drawing/2014/main" id="{2FA6A1DE-AA7C-449C-B367-0F40EFE2F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30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2" name="Rectangle 41">
              <a:extLst>
                <a:ext uri="{FF2B5EF4-FFF2-40B4-BE49-F238E27FC236}">
                  <a16:creationId xmlns:a16="http://schemas.microsoft.com/office/drawing/2014/main" id="{75BE6632-0297-43E1-B927-6F627407A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54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" name="Rectangle 42">
              <a:extLst>
                <a:ext uri="{FF2B5EF4-FFF2-40B4-BE49-F238E27FC236}">
                  <a16:creationId xmlns:a16="http://schemas.microsoft.com/office/drawing/2014/main" id="{45DDE7CD-F585-4C8F-8111-4068F1792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78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" name="Rectangle 43">
              <a:extLst>
                <a:ext uri="{FF2B5EF4-FFF2-40B4-BE49-F238E27FC236}">
                  <a16:creationId xmlns:a16="http://schemas.microsoft.com/office/drawing/2014/main" id="{884D919F-7BB9-4CDE-960A-34A74672D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024"/>
              <a:ext cx="432" cy="240"/>
            </a:xfrm>
            <a:prstGeom prst="rect">
              <a:avLst/>
            </a:prstGeom>
            <a:noFill/>
            <a:ln w="12700">
              <a:solidFill>
                <a:srgbClr val="17406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5" name="Line 44">
              <a:extLst>
                <a:ext uri="{FF2B5EF4-FFF2-40B4-BE49-F238E27FC236}">
                  <a16:creationId xmlns:a16="http://schemas.microsoft.com/office/drawing/2014/main" id="{EAA1EFEB-615C-45F5-BA11-85959C70B9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3120"/>
              <a:ext cx="240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6" name="Rectangle 45">
              <a:extLst>
                <a:ext uri="{FF2B5EF4-FFF2-40B4-BE49-F238E27FC236}">
                  <a16:creationId xmlns:a16="http://schemas.microsoft.com/office/drawing/2014/main" id="{472FC60B-DEC0-47F8-8E51-B7C9649FF6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928"/>
              <a:ext cx="33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Q.rear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67" name="Line 46">
              <a:extLst>
                <a:ext uri="{FF2B5EF4-FFF2-40B4-BE49-F238E27FC236}">
                  <a16:creationId xmlns:a16="http://schemas.microsoft.com/office/drawing/2014/main" id="{37E17408-31B3-4CE9-A059-CEFB29A2E8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3216"/>
              <a:ext cx="240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8" name="Rectangle 47">
              <a:extLst>
                <a:ext uri="{FF2B5EF4-FFF2-40B4-BE49-F238E27FC236}">
                  <a16:creationId xmlns:a16="http://schemas.microsoft.com/office/drawing/2014/main" id="{B7F17D9A-B2D4-4C19-89C5-A91B327D8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3216"/>
              <a:ext cx="33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Q.front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69" name="Rectangle 48">
              <a:extLst>
                <a:ext uri="{FF2B5EF4-FFF2-40B4-BE49-F238E27FC236}">
                  <a16:creationId xmlns:a16="http://schemas.microsoft.com/office/drawing/2014/main" id="{49E0D872-5193-40D8-AC9F-C9DCDFB8F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120"/>
              <a:ext cx="14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0</a:t>
              </a:r>
            </a:p>
          </p:txBody>
        </p:sp>
        <p:sp>
          <p:nvSpPr>
            <p:cNvPr id="170" name="Rectangle 49">
              <a:extLst>
                <a:ext uri="{FF2B5EF4-FFF2-40B4-BE49-F238E27FC236}">
                  <a16:creationId xmlns:a16="http://schemas.microsoft.com/office/drawing/2014/main" id="{E7BBEC9D-A63D-4EE3-86FE-BA7C03A11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920"/>
              <a:ext cx="14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5</a:t>
              </a:r>
            </a:p>
          </p:txBody>
        </p:sp>
        <p:sp>
          <p:nvSpPr>
            <p:cNvPr id="171" name="Rectangle 50">
              <a:extLst>
                <a:ext uri="{FF2B5EF4-FFF2-40B4-BE49-F238E27FC236}">
                  <a16:creationId xmlns:a16="http://schemas.microsoft.com/office/drawing/2014/main" id="{C127E059-4D37-4764-AD5A-31905F1B4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160"/>
              <a:ext cx="14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4</a:t>
              </a:r>
            </a:p>
          </p:txBody>
        </p:sp>
        <p:sp>
          <p:nvSpPr>
            <p:cNvPr id="172" name="Rectangle 51">
              <a:extLst>
                <a:ext uri="{FF2B5EF4-FFF2-40B4-BE49-F238E27FC236}">
                  <a16:creationId xmlns:a16="http://schemas.microsoft.com/office/drawing/2014/main" id="{96F8A199-22A9-4AFD-8370-022799315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400"/>
              <a:ext cx="14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3</a:t>
              </a:r>
            </a:p>
          </p:txBody>
        </p:sp>
        <p:sp>
          <p:nvSpPr>
            <p:cNvPr id="173" name="Rectangle 52">
              <a:extLst>
                <a:ext uri="{FF2B5EF4-FFF2-40B4-BE49-F238E27FC236}">
                  <a16:creationId xmlns:a16="http://schemas.microsoft.com/office/drawing/2014/main" id="{A2F7BACA-2A58-4906-9E09-3858529BD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640"/>
              <a:ext cx="14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2</a:t>
              </a:r>
            </a:p>
          </p:txBody>
        </p:sp>
        <p:sp>
          <p:nvSpPr>
            <p:cNvPr id="174" name="Rectangle 53">
              <a:extLst>
                <a:ext uri="{FF2B5EF4-FFF2-40B4-BE49-F238E27FC236}">
                  <a16:creationId xmlns:a16="http://schemas.microsoft.com/office/drawing/2014/main" id="{BD9C6FFE-61BA-42B1-909B-ED1ABFBC8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880"/>
              <a:ext cx="14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2527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队列</a:t>
            </a:r>
            <a:endParaRPr lang="en-US" altLang="zh-CN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4DD268B-A9D8-452E-94D9-A007AF2F3E1B}"/>
              </a:ext>
            </a:extLst>
          </p:cNvPr>
          <p:cNvSpPr/>
          <p:nvPr/>
        </p:nvSpPr>
        <p:spPr>
          <a:xfrm>
            <a:off x="1001640" y="1356001"/>
            <a:ext cx="6709558" cy="453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循环队列</a:t>
            </a:r>
            <a:endParaRPr kumimoji="1" lang="en-US" altLang="zh-CN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5" name="Group 27">
            <a:extLst>
              <a:ext uri="{FF2B5EF4-FFF2-40B4-BE49-F238E27FC236}">
                <a16:creationId xmlns:a16="http://schemas.microsoft.com/office/drawing/2014/main" id="{221BA7CC-94A4-4D54-8F6D-CAFD14F8F714}"/>
              </a:ext>
            </a:extLst>
          </p:cNvPr>
          <p:cNvGrpSpPr>
            <a:grpSpLocks/>
          </p:cNvGrpSpPr>
          <p:nvPr/>
        </p:nvGrpSpPr>
        <p:grpSpPr bwMode="auto">
          <a:xfrm>
            <a:off x="6310745" y="1905000"/>
            <a:ext cx="5257800" cy="3657600"/>
            <a:chOff x="1200" y="1200"/>
            <a:chExt cx="3312" cy="2304"/>
          </a:xfrm>
        </p:grpSpPr>
        <p:sp>
          <p:nvSpPr>
            <p:cNvPr id="56" name="Oval 4">
              <a:extLst>
                <a:ext uri="{FF2B5EF4-FFF2-40B4-BE49-F238E27FC236}">
                  <a16:creationId xmlns:a16="http://schemas.microsoft.com/office/drawing/2014/main" id="{2CACB743-2FE4-45A1-9E72-A299E610E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200"/>
              <a:ext cx="1920" cy="181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Line 5">
              <a:extLst>
                <a:ext uri="{FF2B5EF4-FFF2-40B4-BE49-F238E27FC236}">
                  <a16:creationId xmlns:a16="http://schemas.microsoft.com/office/drawing/2014/main" id="{89AD3BE4-1F38-43F1-8FA5-0DBF871935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16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Rectangle 6">
              <a:extLst>
                <a:ext uri="{FF2B5EF4-FFF2-40B4-BE49-F238E27FC236}">
                  <a16:creationId xmlns:a16="http://schemas.microsoft.com/office/drawing/2014/main" id="{8C06CD2B-20EF-48EC-98E5-3DC7AEE8D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824"/>
              <a:ext cx="528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dirty="0" err="1">
                  <a:solidFill>
                    <a:srgbClr val="990000"/>
                  </a:solidFill>
                  <a:ea typeface="楷体_GB2312" pitchFamily="49" charset="-122"/>
                </a:rPr>
                <a:t>Q.rear</a:t>
              </a:r>
              <a:endParaRPr lang="en-US" altLang="zh-CN" dirty="0">
                <a:solidFill>
                  <a:srgbClr val="990000"/>
                </a:solidFill>
                <a:ea typeface="楷体_GB2312" pitchFamily="49" charset="-122"/>
              </a:endParaRPr>
            </a:p>
          </p:txBody>
        </p:sp>
        <p:sp>
          <p:nvSpPr>
            <p:cNvPr id="59" name="Line 7">
              <a:extLst>
                <a:ext uri="{FF2B5EF4-FFF2-40B4-BE49-F238E27FC236}">
                  <a16:creationId xmlns:a16="http://schemas.microsoft.com/office/drawing/2014/main" id="{A2E17B32-4006-420D-B6DA-8391D13506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2" y="254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Rectangle 8">
              <a:extLst>
                <a:ext uri="{FF2B5EF4-FFF2-40B4-BE49-F238E27FC236}">
                  <a16:creationId xmlns:a16="http://schemas.microsoft.com/office/drawing/2014/main" id="{090E03AE-10A2-46E0-B6B7-B4BB18C07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208"/>
              <a:ext cx="528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rgbClr val="990000"/>
                  </a:solidFill>
                  <a:ea typeface="楷体_GB2312" pitchFamily="49" charset="-122"/>
                </a:rPr>
                <a:t>Q.front</a:t>
              </a:r>
            </a:p>
          </p:txBody>
        </p:sp>
        <p:sp>
          <p:nvSpPr>
            <p:cNvPr id="61" name="Rectangle 9">
              <a:extLst>
                <a:ext uri="{FF2B5EF4-FFF2-40B4-BE49-F238E27FC236}">
                  <a16:creationId xmlns:a16="http://schemas.microsoft.com/office/drawing/2014/main" id="{C5A37359-211D-4BA9-9D67-5EED2B610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16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990000"/>
                  </a:solidFill>
                  <a:ea typeface="楷体_GB2312" pitchFamily="49" charset="-122"/>
                </a:rPr>
                <a:t>J5</a:t>
              </a:r>
            </a:p>
          </p:txBody>
        </p:sp>
        <p:sp>
          <p:nvSpPr>
            <p:cNvPr id="62" name="Rectangle 10">
              <a:extLst>
                <a:ext uri="{FF2B5EF4-FFF2-40B4-BE49-F238E27FC236}">
                  <a16:creationId xmlns:a16="http://schemas.microsoft.com/office/drawing/2014/main" id="{88DBF951-5255-430E-94FB-73639D2D3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44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990000"/>
                  </a:solidFill>
                  <a:ea typeface="楷体_GB2312" pitchFamily="49" charset="-122"/>
                </a:rPr>
                <a:t>J7</a:t>
              </a:r>
            </a:p>
          </p:txBody>
        </p:sp>
        <p:sp>
          <p:nvSpPr>
            <p:cNvPr id="63" name="Rectangle 11">
              <a:extLst>
                <a:ext uri="{FF2B5EF4-FFF2-40B4-BE49-F238E27FC236}">
                  <a16:creationId xmlns:a16="http://schemas.microsoft.com/office/drawing/2014/main" id="{1D6488B9-3AB7-43A5-95AD-B7B8EEABF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59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990000"/>
                  </a:solidFill>
                  <a:ea typeface="楷体_GB2312" pitchFamily="49" charset="-122"/>
                </a:rPr>
                <a:t>J6</a:t>
              </a:r>
            </a:p>
          </p:txBody>
        </p:sp>
        <p:sp>
          <p:nvSpPr>
            <p:cNvPr id="64" name="AutoShape 12">
              <a:extLst>
                <a:ext uri="{FF2B5EF4-FFF2-40B4-BE49-F238E27FC236}">
                  <a16:creationId xmlns:a16="http://schemas.microsoft.com/office/drawing/2014/main" id="{FA7FC9B8-015E-4307-AA4F-903C2C6BDC75}"/>
                </a:ext>
              </a:extLst>
            </p:cNvPr>
            <p:cNvSpPr>
              <a:spLocks/>
            </p:cNvSpPr>
            <p:nvPr/>
          </p:nvSpPr>
          <p:spPr bwMode="auto">
            <a:xfrm rot="15000000">
              <a:off x="3336" y="2376"/>
              <a:ext cx="96" cy="1488"/>
            </a:xfrm>
            <a:prstGeom prst="leftBrace">
              <a:avLst>
                <a:gd name="adj1" fmla="val 129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Rectangle 13">
              <a:extLst>
                <a:ext uri="{FF2B5EF4-FFF2-40B4-BE49-F238E27FC236}">
                  <a16:creationId xmlns:a16="http://schemas.microsoft.com/office/drawing/2014/main" id="{8A8C9DCD-1F23-49A9-8FD1-3E208F315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264"/>
              <a:ext cx="528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>
                  <a:solidFill>
                    <a:srgbClr val="990000"/>
                  </a:solidFill>
                  <a:ea typeface="楷体_GB2312" pitchFamily="49" charset="-122"/>
                </a:rPr>
                <a:t>队列</a:t>
              </a:r>
            </a:p>
          </p:txBody>
        </p:sp>
        <p:sp>
          <p:nvSpPr>
            <p:cNvPr id="66" name="Rectangle 14">
              <a:extLst>
                <a:ext uri="{FF2B5EF4-FFF2-40B4-BE49-F238E27FC236}">
                  <a16:creationId xmlns:a16="http://schemas.microsoft.com/office/drawing/2014/main" id="{96B678FC-B81E-463D-B7AD-73BC9C2AA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2256"/>
              <a:ext cx="14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990000"/>
                  </a:solidFill>
                  <a:ea typeface="楷体_GB2312" pitchFamily="49" charset="-122"/>
                </a:rPr>
                <a:t>0</a:t>
              </a:r>
            </a:p>
          </p:txBody>
        </p:sp>
        <p:sp>
          <p:nvSpPr>
            <p:cNvPr id="67" name="Rectangle 15">
              <a:extLst>
                <a:ext uri="{FF2B5EF4-FFF2-40B4-BE49-F238E27FC236}">
                  <a16:creationId xmlns:a16="http://schemas.microsoft.com/office/drawing/2014/main" id="{5BFAE010-19E4-4B76-801D-7D2EF40D0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352"/>
              <a:ext cx="14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990000"/>
                  </a:solidFill>
                  <a:ea typeface="楷体_GB2312" pitchFamily="49" charset="-122"/>
                </a:rPr>
                <a:t>5</a:t>
              </a:r>
            </a:p>
          </p:txBody>
        </p:sp>
        <p:sp>
          <p:nvSpPr>
            <p:cNvPr id="68" name="Rectangle 16">
              <a:extLst>
                <a:ext uri="{FF2B5EF4-FFF2-40B4-BE49-F238E27FC236}">
                  <a16:creationId xmlns:a16="http://schemas.microsoft.com/office/drawing/2014/main" id="{829F4B79-F2A0-4A61-8534-4C313819E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112"/>
              <a:ext cx="14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990000"/>
                  </a:solidFill>
                  <a:ea typeface="楷体_GB2312" pitchFamily="49" charset="-122"/>
                </a:rPr>
                <a:t>4</a:t>
              </a:r>
            </a:p>
          </p:txBody>
        </p:sp>
        <p:sp>
          <p:nvSpPr>
            <p:cNvPr id="69" name="Rectangle 17">
              <a:extLst>
                <a:ext uri="{FF2B5EF4-FFF2-40B4-BE49-F238E27FC236}">
                  <a16:creationId xmlns:a16="http://schemas.microsoft.com/office/drawing/2014/main" id="{DFA3124F-D967-4FBB-8F39-BD6907B53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824"/>
              <a:ext cx="14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990000"/>
                  </a:solidFill>
                  <a:ea typeface="楷体_GB2312" pitchFamily="49" charset="-122"/>
                </a:rPr>
                <a:t>3</a:t>
              </a:r>
            </a:p>
          </p:txBody>
        </p:sp>
        <p:sp>
          <p:nvSpPr>
            <p:cNvPr id="70" name="Rectangle 18">
              <a:extLst>
                <a:ext uri="{FF2B5EF4-FFF2-40B4-BE49-F238E27FC236}">
                  <a16:creationId xmlns:a16="http://schemas.microsoft.com/office/drawing/2014/main" id="{0ABF27DE-C7D0-445F-80F4-560E248E0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728"/>
              <a:ext cx="14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990000"/>
                  </a:solidFill>
                  <a:ea typeface="楷体_GB2312" pitchFamily="49" charset="-122"/>
                </a:rPr>
                <a:t>2</a:t>
              </a:r>
            </a:p>
          </p:txBody>
        </p:sp>
        <p:sp>
          <p:nvSpPr>
            <p:cNvPr id="71" name="Rectangle 19">
              <a:extLst>
                <a:ext uri="{FF2B5EF4-FFF2-40B4-BE49-F238E27FC236}">
                  <a16:creationId xmlns:a16="http://schemas.microsoft.com/office/drawing/2014/main" id="{50E74099-582E-435A-AA35-751216D12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968"/>
              <a:ext cx="14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990000"/>
                  </a:solidFill>
                  <a:ea typeface="楷体_GB2312" pitchFamily="49" charset="-122"/>
                </a:rPr>
                <a:t>1</a:t>
              </a:r>
            </a:p>
          </p:txBody>
        </p:sp>
        <p:sp>
          <p:nvSpPr>
            <p:cNvPr id="72" name="Line 20">
              <a:extLst>
                <a:ext uri="{FF2B5EF4-FFF2-40B4-BE49-F238E27FC236}">
                  <a16:creationId xmlns:a16="http://schemas.microsoft.com/office/drawing/2014/main" id="{EF0C23AB-FD09-433A-A2F9-46201D9674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240"/>
              <a:ext cx="412" cy="1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Line 21">
              <a:extLst>
                <a:ext uri="{FF2B5EF4-FFF2-40B4-BE49-F238E27FC236}">
                  <a16:creationId xmlns:a16="http://schemas.microsoft.com/office/drawing/2014/main" id="{82C70AA3-5DAC-4C61-B4E8-442A2EF872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8" y="1536"/>
              <a:ext cx="375" cy="2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Line 22">
              <a:extLst>
                <a:ext uri="{FF2B5EF4-FFF2-40B4-BE49-F238E27FC236}">
                  <a16:creationId xmlns:a16="http://schemas.microsoft.com/office/drawing/2014/main" id="{8758E841-471F-42DD-B139-D199D9F76B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6" y="2595"/>
              <a:ext cx="91" cy="3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Line 23">
              <a:extLst>
                <a:ext uri="{FF2B5EF4-FFF2-40B4-BE49-F238E27FC236}">
                  <a16:creationId xmlns:a16="http://schemas.microsoft.com/office/drawing/2014/main" id="{3872A78A-32A3-4E85-A785-14B23BD13E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8" y="1248"/>
              <a:ext cx="150" cy="4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Line 24">
              <a:extLst>
                <a:ext uri="{FF2B5EF4-FFF2-40B4-BE49-F238E27FC236}">
                  <a16:creationId xmlns:a16="http://schemas.microsoft.com/office/drawing/2014/main" id="{AA0A2510-272C-4C8F-A3E2-0A7AEC7EFA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99" y="1872"/>
              <a:ext cx="541" cy="1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25">
              <a:extLst>
                <a:ext uri="{FF2B5EF4-FFF2-40B4-BE49-F238E27FC236}">
                  <a16:creationId xmlns:a16="http://schemas.microsoft.com/office/drawing/2014/main" id="{1B179F8D-8316-4486-9088-9F5C05C8E2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87" y="2355"/>
              <a:ext cx="409" cy="2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Oval 26">
              <a:extLst>
                <a:ext uri="{FF2B5EF4-FFF2-40B4-BE49-F238E27FC236}">
                  <a16:creationId xmlns:a16="http://schemas.microsoft.com/office/drawing/2014/main" id="{C699BEC0-DEEB-4D89-9F66-3FF385C17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680"/>
              <a:ext cx="912" cy="9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0" name="矩形 79">
            <a:extLst>
              <a:ext uri="{FF2B5EF4-FFF2-40B4-BE49-F238E27FC236}">
                <a16:creationId xmlns:a16="http://schemas.microsoft.com/office/drawing/2014/main" id="{EE1C9A67-0476-4E3A-8009-0D8E8ED06C3A}"/>
              </a:ext>
            </a:extLst>
          </p:cNvPr>
          <p:cNvSpPr/>
          <p:nvPr/>
        </p:nvSpPr>
        <p:spPr>
          <a:xfrm>
            <a:off x="768719" y="1865928"/>
            <a:ext cx="5488410" cy="4192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   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克服假上溢现象的方法是将向量空间想象为一个首尾相接的圆环，并称这种向量为循环向量，存储在其中的队列称为循环队列（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Circular Queue)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在循环队列中进行出队、入队操作时，头尾指针仍要加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，朝前移动。只不过当头尾指针指向向量上界（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QueueSize-1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）时，其加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操作的结果是指向向量的下界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3059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队列</a:t>
            </a:r>
            <a:endParaRPr lang="en-US" altLang="zh-CN" dirty="0"/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EDC142-C849-4F32-99C1-520F97CD5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893" y="1234225"/>
            <a:ext cx="10136214" cy="4399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0">
              <a:lnSpc>
                <a:spcPct val="200000"/>
              </a:lnSpc>
              <a:spcAft>
                <a:spcPts val="1000"/>
              </a:spcAft>
              <a:buClr>
                <a:schemeClr val="accent2"/>
              </a:buClr>
              <a:buSzPct val="80000"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历年奥赛试题</a:t>
            </a:r>
          </a:p>
          <a:p>
            <a:pPr indent="0">
              <a:lnSpc>
                <a:spcPct val="200000"/>
              </a:lnSpc>
              <a:spcAft>
                <a:spcPts val="1000"/>
              </a:spcAft>
              <a:buClr>
                <a:schemeClr val="accent2"/>
              </a:buClr>
              <a:buSzPct val="80000"/>
            </a:pP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．已知队列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(13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34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41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77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15)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，第一个进入队列的元素是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，则第五个出队列的元素是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  )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pPr indent="0">
              <a:lnSpc>
                <a:spcPct val="200000"/>
              </a:lnSpc>
              <a:spcAft>
                <a:spcPts val="1000"/>
              </a:spcAft>
              <a:buClr>
                <a:schemeClr val="accent2"/>
              </a:buClr>
              <a:buSzPct val="80000"/>
            </a:pP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A)5      B)41       C)77        D)13      E)18 </a:t>
            </a:r>
          </a:p>
          <a:p>
            <a:pPr indent="0">
              <a:lnSpc>
                <a:spcPct val="200000"/>
              </a:lnSpc>
              <a:spcAft>
                <a:spcPts val="1000"/>
              </a:spcAft>
              <a:buClr>
                <a:schemeClr val="accent2"/>
              </a:buClr>
              <a:buSzPct val="80000"/>
            </a:pP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设栈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和队列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的初始状态为空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e1,e2,e3,e4,e5,e6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依次通过栈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S,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一个元素出栈后即进入队列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Q,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若出队的顺序为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e2,e4,e3,e6,e5,e1,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则栈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的容量至少应该为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    ) 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indent="0">
              <a:lnSpc>
                <a:spcPct val="200000"/>
              </a:lnSpc>
              <a:spcAft>
                <a:spcPts val="1000"/>
              </a:spcAft>
              <a:buClr>
                <a:schemeClr val="accent2"/>
              </a:buClr>
              <a:buSzPct val="80000"/>
            </a:pP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A) 2        B) 3       C) 4        D) 5</a:t>
            </a:r>
          </a:p>
        </p:txBody>
      </p:sp>
    </p:spTree>
    <p:extLst>
      <p:ext uri="{BB962C8B-B14F-4D97-AF65-F5344CB8AC3E}">
        <p14:creationId xmlns:p14="http://schemas.microsoft.com/office/powerpoint/2010/main" val="3546840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9E20A-1C8D-4579-9394-7E888985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</a:t>
            </a:r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CF57E6-1519-47A8-ABF2-E94A9D7926A6}"/>
              </a:ext>
            </a:extLst>
          </p:cNvPr>
          <p:cNvSpPr/>
          <p:nvPr/>
        </p:nvSpPr>
        <p:spPr>
          <a:xfrm>
            <a:off x="991994" y="1148460"/>
            <a:ext cx="5436238" cy="5636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、周末舞会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在周末舞会上，男士们和女士们进入舞厅时，各自排成一队。跳舞开始时，依次从男队和女队的队头上各出一人配成舞伴。规定每个舞曲只能有一对跳舞者。若两队初始人数不相同，则较长的那一队中未配对者等待下一轮舞曲。现要求写一个程序，模拟上述舞伴配对问题。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行两个正整数，表示男士人数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和女士人数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n≤1000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行一个正整数，表示舞曲的数目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k≤1000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4439EB9-E211-4B13-8FD2-2501408BAEC4}"/>
              </a:ext>
            </a:extLst>
          </p:cNvPr>
          <p:cNvSpPr txBox="1"/>
          <p:nvPr/>
        </p:nvSpPr>
        <p:spPr>
          <a:xfrm>
            <a:off x="6735318" y="1348999"/>
            <a:ext cx="4740402" cy="5436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行，每行两个数，之间用一个空格隔开，表示配对舞伴的序号，男士在前，女士在后。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2 4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输出样例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1 1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2 2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1 3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2 4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1 1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B9705DC-8573-4138-965D-CD6CEBEAFEE1}"/>
              </a:ext>
            </a:extLst>
          </p:cNvPr>
          <p:cNvCxnSpPr>
            <a:cxnSpLocks/>
          </p:cNvCxnSpPr>
          <p:nvPr/>
        </p:nvCxnSpPr>
        <p:spPr>
          <a:xfrm>
            <a:off x="6446727" y="1514301"/>
            <a:ext cx="0" cy="5105951"/>
          </a:xfrm>
          <a:prstGeom prst="line">
            <a:avLst/>
          </a:prstGeom>
          <a:ln w="1905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86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9E20A-1C8D-4579-9394-7E888985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</a:t>
            </a:r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CF57E6-1519-47A8-ABF2-E94A9D7926A6}"/>
              </a:ext>
            </a:extLst>
          </p:cNvPr>
          <p:cNvSpPr/>
          <p:nvPr/>
        </p:nvSpPr>
        <p:spPr>
          <a:xfrm>
            <a:off x="909697" y="1441903"/>
            <a:ext cx="10175885" cy="1835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2000" dirty="0"/>
              <a:t>【</a:t>
            </a:r>
            <a:r>
              <a:rPr lang="zh-CN" altLang="en-US" sz="2000" dirty="0"/>
              <a:t>问题分析</a:t>
            </a:r>
            <a:r>
              <a:rPr lang="en-US" altLang="zh-CN" sz="2000" dirty="0"/>
              <a:t>】</a:t>
            </a:r>
          </a:p>
          <a:p>
            <a:pPr eaLnBrk="1" hangingPunct="1">
              <a:lnSpc>
                <a:spcPct val="15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000" dirty="0"/>
              <a:t>显然，舞伴配对的顺序符合“先进先出”，所以用两个队列分别存放男士队伍和女士队伍。然后，模拟 </a:t>
            </a:r>
            <a:r>
              <a:rPr lang="en-US" altLang="zh-CN" sz="2000" dirty="0"/>
              <a:t>k </a:t>
            </a:r>
            <a:r>
              <a:rPr lang="zh-CN" altLang="en-US" sz="2000" dirty="0"/>
              <a:t>次配对：每次取各队队头元素“配对”输出，并进行“出队”和重新“入队”操作。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pic>
        <p:nvPicPr>
          <p:cNvPr id="4" name="图片 9218">
            <a:extLst>
              <a:ext uri="{FF2B5EF4-FFF2-40B4-BE49-F238E27FC236}">
                <a16:creationId xmlns:a16="http://schemas.microsoft.com/office/drawing/2014/main" id="{209B3AA0-6657-4678-9CAD-C18E9A3FE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585" y="3345043"/>
            <a:ext cx="6373091" cy="2199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3051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9E20A-1C8D-4579-9394-7E888985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F18623-A851-4927-A4A7-1E6748542230}"/>
              </a:ext>
            </a:extLst>
          </p:cNvPr>
          <p:cNvSpPr/>
          <p:nvPr/>
        </p:nvSpPr>
        <p:spPr>
          <a:xfrm>
            <a:off x="904753" y="1325208"/>
            <a:ext cx="73211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FAA7DB-B731-47F1-86F6-7CEE53BAA256}"/>
              </a:ext>
            </a:extLst>
          </p:cNvPr>
          <p:cNvSpPr/>
          <p:nvPr/>
        </p:nvSpPr>
        <p:spPr>
          <a:xfrm>
            <a:off x="2467356" y="1325208"/>
            <a:ext cx="963015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#include&lt;bits/stdc++.h&gt;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queue&lt;int&gt;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p,q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n,m,k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&gt;&gt;n&gt;&gt;m&gt;&gt;k;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p.push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q.push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int a=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p.front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(),b=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q.front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&lt;&lt;a&lt;&lt;" "&lt;&lt;b&lt;&lt;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p.pop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q.pop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p.push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q.push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0;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6081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9E20A-1C8D-4579-9394-7E888985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CF57E6-1519-47A8-ABF2-E94A9D7926A6}"/>
              </a:ext>
            </a:extLst>
          </p:cNvPr>
          <p:cNvSpPr/>
          <p:nvPr/>
        </p:nvSpPr>
        <p:spPr>
          <a:xfrm>
            <a:off x="729871" y="1273746"/>
            <a:ext cx="10355711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 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集合的前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个元素：编一个程序，按</a:t>
            </a:r>
            <a:r>
              <a:rPr kumimoji="1"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递增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次序生成集合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的最小的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的定义如下：</a:t>
            </a:r>
          </a:p>
          <a:p>
            <a:pPr>
              <a:lnSpc>
                <a:spcPct val="200000"/>
              </a:lnSpc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属于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200000"/>
              </a:lnSpc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属于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Y=2*x+1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Z=3*x+1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也属于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200000"/>
              </a:lnSpc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此外再没有别的数属于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6029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9E20A-1C8D-4579-9394-7E888985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CF57E6-1519-47A8-ABF2-E94A9D7926A6}"/>
              </a:ext>
            </a:extLst>
          </p:cNvPr>
          <p:cNvSpPr/>
          <p:nvPr/>
        </p:nvSpPr>
        <p:spPr>
          <a:xfrm>
            <a:off x="917385" y="1237170"/>
            <a:ext cx="10355711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kumimoji="1"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题目分析</a:t>
            </a:r>
            <a:r>
              <a:rPr kumimoji="1"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可以用两个队列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来存放新产生的数，然后通过比较大小决定是否输出，具体方法如下：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令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fb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分别为队列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和队列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的头指针，它们的尾指针分别为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rb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。初始时，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fa=fb=ra=</a:t>
            </a:r>
            <a:r>
              <a:rPr kumimoji="1"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rb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                               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2*x+1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3*x+1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分别放入队列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和队列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的队尾，尾指针加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                 即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:a[r]←2*x+1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b[r]←3*x+1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r←r+1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将队列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和队列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的头结点进行比较，可能有三种情况：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(A)a[fa]&gt;b[fb]      (B)a[fa]=b[fb]         (C)a[fa]&lt;b[fb]</a:t>
            </a: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将比较的小者取出送入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，取出数的队列的头指针相应加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重复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直至取出第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项为止。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243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9E20A-1C8D-4579-9394-7E888985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FAA7DB-B731-47F1-86F6-7CEE53BAA256}"/>
              </a:ext>
            </a:extLst>
          </p:cNvPr>
          <p:cNvSpPr/>
          <p:nvPr/>
        </p:nvSpPr>
        <p:spPr>
          <a:xfrm>
            <a:off x="1069851" y="1281888"/>
            <a:ext cx="1005078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#include&lt;bits/stdc++.h&gt;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 a[1001],b[1001],x=1,fa=1,fb=1,ra=0,rb=0,total=1,n,i;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d",&amp;n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while (total&lt;=n)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",x);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a[++ra]=2*x+1;    b[++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]=3*x+1;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if (a[fa]&gt;b[fb])  x=b[fb++];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else if (a[fa]&lt;b[fb])  x=a[fa++];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else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x=a[fa++];   fb++;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total++;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0;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396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9E20A-1C8D-4579-9394-7E888985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CF57E6-1519-47A8-ABF2-E94A9D7926A6}"/>
              </a:ext>
            </a:extLst>
          </p:cNvPr>
          <p:cNvSpPr/>
          <p:nvPr/>
        </p:nvSpPr>
        <p:spPr>
          <a:xfrm>
            <a:off x="809113" y="1264583"/>
            <a:ext cx="10185029" cy="339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3】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约瑟夫问题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设有ｎ个人依次围成一圈，从第１个人开始报数数到第ｍ个人出列，然后从出列的下一个人开始报   数，数到第ｍ个人又出列，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，如此反复到所有的人全部出列为止。设ｎ个人的编号分别为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，打印出列的顺序。（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1≤m,n≤100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5  3</a:t>
            </a:r>
          </a:p>
          <a:p>
            <a:pPr>
              <a:lnSpc>
                <a:spcPct val="20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3 1 5 2 4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591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9E20A-1C8D-4579-9394-7E888985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F18623-A851-4927-A4A7-1E6748542230}"/>
              </a:ext>
            </a:extLst>
          </p:cNvPr>
          <p:cNvSpPr/>
          <p:nvPr/>
        </p:nvSpPr>
        <p:spPr>
          <a:xfrm>
            <a:off x="1002726" y="1300735"/>
            <a:ext cx="73211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CF57E6-1519-47A8-ABF2-E94A9D7926A6}"/>
              </a:ext>
            </a:extLst>
          </p:cNvPr>
          <p:cNvSpPr/>
          <p:nvPr/>
        </p:nvSpPr>
        <p:spPr>
          <a:xfrm>
            <a:off x="1002726" y="1654678"/>
            <a:ext cx="10185029" cy="4480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题我们可以用数组建立标志位等方法求解，但如果用上数据结构中循环链的思想，则更贴切题意，解题效率更高。ｎ人围成一圈，把一人看成一个结点，ｎ人之间的关系采用链接方式，即每一结点有一个前继结点和一个后继结点，每一个结点有一个指针指向下一个结点，最后一个结点指针指向第一个结点。这就是单循环链的数据结构。当ｍ人出列时，将ｍ结点的前继结点指针指向ｍ结点的后继结点指针，即把ｍ结点驱出循环链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、建立循环链表。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当用数组实现本题链式结构时，数组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</a:t>
            </a:r>
            <a:r>
              <a:rPr kumimoji="1"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变量来使用，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</a:t>
            </a:r>
            <a:r>
              <a:rPr kumimoji="1"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存放下一个结点的位置。设立指针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指向当前结点，则移动结点过程为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j=a[j]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，当数到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结点出链，则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a[j]=a[a[j]]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当直接用链来实现时，则比较直观，每个结点有两个域：一个数值域，一个指针域，当数到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出链，将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结点的前继结点指针指向其后继结点；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、设立指针，指向当前结点，设立计数器，计数数到多少人；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、沿链移动指针，每移动一个结点，计数器值加１，当计数器值为ｍ时，  则ｍ结点出链，计数器值置为１。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、重复３，直到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个结点均出链为止。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788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9E20A-1C8D-4579-9394-7E888985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4AF971-8EC1-4A53-B549-DD1B30B56C96}"/>
              </a:ext>
            </a:extLst>
          </p:cNvPr>
          <p:cNvSpPr/>
          <p:nvPr/>
        </p:nvSpPr>
        <p:spPr>
          <a:xfrm>
            <a:off x="1037788" y="1280075"/>
            <a:ext cx="950717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#include&lt;bits/stdc++.h&gt;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 int n=10,m=4;       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设有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报到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的人出列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a[n+1],j=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n,k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=1,p=0;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for 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a[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]=i+1;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建立链表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a[n]=1;                 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人指向第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人，形成一个环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(p&lt;n)                //n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个人均出队为止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while(k&lt;m)         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报数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计数器加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j=a[j];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k++;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                  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",a[j]); p++;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此人出队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计数器置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a[j]=a[a[j]]; k=1;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                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0;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E31EA2-134B-40A5-8D1A-86F9F09C5E1D}"/>
              </a:ext>
            </a:extLst>
          </p:cNvPr>
          <p:cNvSpPr/>
          <p:nvPr/>
        </p:nvSpPr>
        <p:spPr>
          <a:xfrm>
            <a:off x="1161246" y="309142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zh-CN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51573E-5098-4F0F-B4F8-23D373C47D3F}"/>
              </a:ext>
            </a:extLst>
          </p:cNvPr>
          <p:cNvSpPr/>
          <p:nvPr/>
        </p:nvSpPr>
        <p:spPr>
          <a:xfrm>
            <a:off x="1037788" y="2873983"/>
            <a:ext cx="92890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19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单调队列</a:t>
            </a:r>
            <a:endParaRPr lang="en-US" altLang="zh-CN" dirty="0"/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EDC142-C849-4F32-99C1-520F97CD5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512" y="1488993"/>
            <a:ext cx="10815206" cy="1846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0">
              <a:lnSpc>
                <a:spcPct val="200000"/>
              </a:lnSpc>
              <a:spcAft>
                <a:spcPts val="1000"/>
              </a:spcAft>
              <a:buClr>
                <a:schemeClr val="accent2"/>
              </a:buClr>
              <a:buSzPct val="80000"/>
            </a:pPr>
            <a:r>
              <a:rPr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单调队列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：队列中元素之间的关系具有</a:t>
            </a:r>
            <a:r>
              <a:rPr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单调性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，而且，队首和队尾都可以进行出队操作，只有队尾可以进行入队操作。可以用来</a:t>
            </a:r>
            <a:r>
              <a:rPr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维护（给定大小的）区间的最值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，其时间复杂度为</a:t>
            </a:r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O(n)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为序列的元素个数。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24F43A-7896-4C81-92D3-587E9B2A3215}"/>
              </a:ext>
            </a:extLst>
          </p:cNvPr>
          <p:cNvSpPr/>
          <p:nvPr/>
        </p:nvSpPr>
        <p:spPr>
          <a:xfrm>
            <a:off x="1045512" y="3557152"/>
            <a:ext cx="10100976" cy="1230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单调递增队列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：保证队列头元素一定是当前队列的最小值，用于维护区间的最小值。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单调递减队列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：保证队列头元素一定是当前队列的最大值，用于维护区间的最大值</a:t>
            </a:r>
          </a:p>
        </p:txBody>
      </p:sp>
    </p:spTree>
    <p:extLst>
      <p:ext uri="{BB962C8B-B14F-4D97-AF65-F5344CB8AC3E}">
        <p14:creationId xmlns:p14="http://schemas.microsoft.com/office/powerpoint/2010/main" val="2015614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单调队列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747731-8803-49BC-9A6D-DAC2F0F4D877}"/>
              </a:ext>
            </a:extLst>
          </p:cNvPr>
          <p:cNvSpPr txBox="1"/>
          <p:nvPr/>
        </p:nvSpPr>
        <p:spPr>
          <a:xfrm>
            <a:off x="1088994" y="1562785"/>
            <a:ext cx="101466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给定数列：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，现在要维护 区间长度为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的最大值。</a:t>
            </a:r>
          </a:p>
        </p:txBody>
      </p:sp>
      <p:graphicFrame>
        <p:nvGraphicFramePr>
          <p:cNvPr id="5" name="表格 7">
            <a:extLst>
              <a:ext uri="{FF2B5EF4-FFF2-40B4-BE49-F238E27FC236}">
                <a16:creationId xmlns:a16="http://schemas.microsoft.com/office/drawing/2014/main" id="{833347EB-BE1B-487D-A78D-5ADFAB76B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193626"/>
              </p:ext>
            </p:extLst>
          </p:nvPr>
        </p:nvGraphicFramePr>
        <p:xfrm>
          <a:off x="1088994" y="2131992"/>
          <a:ext cx="9615170" cy="3714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470">
                  <a:extLst>
                    <a:ext uri="{9D8B030D-6E8A-4147-A177-3AD203B41FA5}">
                      <a16:colId xmlns:a16="http://schemas.microsoft.com/office/drawing/2014/main" val="1611492622"/>
                    </a:ext>
                  </a:extLst>
                </a:gridCol>
                <a:gridCol w="2782733">
                  <a:extLst>
                    <a:ext uri="{9D8B030D-6E8A-4147-A177-3AD203B41FA5}">
                      <a16:colId xmlns:a16="http://schemas.microsoft.com/office/drawing/2014/main" val="3330930684"/>
                    </a:ext>
                  </a:extLst>
                </a:gridCol>
                <a:gridCol w="2040727">
                  <a:extLst>
                    <a:ext uri="{9D8B030D-6E8A-4147-A177-3AD203B41FA5}">
                      <a16:colId xmlns:a16="http://schemas.microsoft.com/office/drawing/2014/main" val="86611592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1463061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操作序号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队列中元素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指定区间最大值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449421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区间大小不符合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9793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3,1</a:t>
                      </a:r>
                      <a:endParaRPr lang="zh-CN" altLang="en-US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区间大小不符合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1232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3,1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出队，</a:t>
                      </a: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区间</a:t>
                      </a: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【1,3】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的最大值为</a:t>
                      </a: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730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出队，</a:t>
                      </a: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altLang="en-US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区间</a:t>
                      </a: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【2,4】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的最大值为 </a:t>
                      </a: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altLang="en-US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0295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7,4</a:t>
                      </a:r>
                      <a:endParaRPr lang="zh-CN" altLang="en-US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区间</a:t>
                      </a: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【3,5】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的最大值为 </a:t>
                      </a: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altLang="en-US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2057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7,4,2</a:t>
                      </a:r>
                      <a:endParaRPr lang="zh-CN" altLang="en-US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区间</a:t>
                      </a: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【4,6】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的最大值为 </a:t>
                      </a: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altLang="en-US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7215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入队，</a:t>
                      </a: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4,2,1</a:t>
                      </a:r>
                      <a:endParaRPr lang="zh-CN" altLang="en-US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区间</a:t>
                      </a: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【5,7】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的最大值为</a:t>
                      </a:r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3429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2308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单调队列</a:t>
            </a:r>
            <a:endParaRPr lang="en-US" altLang="zh-CN" dirty="0"/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EDC142-C849-4F32-99C1-520F97CD5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512" y="1488993"/>
            <a:ext cx="10815206" cy="469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0">
              <a:lnSpc>
                <a:spcPct val="200000"/>
              </a:lnSpc>
              <a:spcAft>
                <a:spcPts val="1000"/>
              </a:spcAft>
              <a:buClr>
                <a:schemeClr val="accent2"/>
              </a:buClr>
              <a:buSzPct val="80000"/>
            </a:pP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实现单调队列，主要分为三个部分：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去尾操作 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：队尾元素出队列。当队列有新元素待入队，需要从队尾开始，删除影响队列单调性的元素，维护队列的单调性。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删除一个队尾元素后，就重新判断新的队尾元素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去尾操作结束后，将该新元素入队列。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删头操作 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：队头元素出队列。判断队头元素是否在待求解的区间之内，如果不在，就将其删除。（这个很好理解呀，因为单调队列的队头元素就是待求解区间的极值）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取解操作 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：经过上面两个操作，取出 队列的头元素 ，就是 当前区间的极值 。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584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单调队列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8C3FBCA-C924-433D-8F1C-BBE0D8DBCAA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41841" y="1642718"/>
            <a:ext cx="6791295" cy="476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75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9E20A-1C8D-4579-9394-7E888985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题目练习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51573E-5098-4F0F-B4F8-23D373C47D3F}"/>
              </a:ext>
            </a:extLst>
          </p:cNvPr>
          <p:cNvSpPr/>
          <p:nvPr/>
        </p:nvSpPr>
        <p:spPr>
          <a:xfrm>
            <a:off x="1104900" y="1460159"/>
            <a:ext cx="3493912" cy="873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P1996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P1540</a:t>
            </a:r>
          </a:p>
        </p:txBody>
      </p:sp>
    </p:spTree>
    <p:extLst>
      <p:ext uri="{BB962C8B-B14F-4D97-AF65-F5344CB8AC3E}">
        <p14:creationId xmlns:p14="http://schemas.microsoft.com/office/powerpoint/2010/main" val="319497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学术演示文稿、细条纹和丝带设计（宽屏）</Template>
  <TotalTime>0</TotalTime>
  <Words>2578</Words>
  <Application>Microsoft Office PowerPoint</Application>
  <PresentationFormat>宽屏</PresentationFormat>
  <Paragraphs>251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微软雅黑</vt:lpstr>
      <vt:lpstr>Arial</vt:lpstr>
      <vt:lpstr>Euphemia</vt:lpstr>
      <vt:lpstr>Times New Roman</vt:lpstr>
      <vt:lpstr>Wingdings</vt:lpstr>
      <vt:lpstr>学术文献 16x9</vt:lpstr>
      <vt:lpstr>数据结构——队列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队列</vt:lpstr>
      <vt:lpstr>队列</vt:lpstr>
      <vt:lpstr>队列</vt:lpstr>
      <vt:lpstr>队列</vt:lpstr>
      <vt:lpstr>队列</vt:lpstr>
      <vt:lpstr>队列</vt:lpstr>
      <vt:lpstr>队列</vt:lpstr>
      <vt:lpstr>队列</vt:lpstr>
      <vt:lpstr>队列</vt:lpstr>
      <vt:lpstr>PowerPoint 演示文稿</vt:lpstr>
      <vt:lpstr>PowerPoint 演示文稿</vt:lpstr>
      <vt:lpstr>PowerPoint 演示文稿</vt:lpstr>
      <vt:lpstr>PowerPoint 演示文稿</vt:lpstr>
      <vt:lpstr>题目练习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created xsi:type="dcterms:W3CDTF">2017-11-04T04:56:00Z</dcterms:created>
  <dcterms:modified xsi:type="dcterms:W3CDTF">2021-06-27T02:20:29Z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2052-10.1.0.7520</vt:lpwstr>
  </property>
</Properties>
</file>