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  <p:sldMasterId id="2147483674" r:id="rId3"/>
  </p:sldMasterIdLst>
  <p:notesMasterIdLst>
    <p:notesMasterId r:id="rId40"/>
  </p:notesMasterIdLst>
  <p:handoutMasterIdLst>
    <p:handoutMasterId r:id="rId41"/>
  </p:handoutMasterIdLst>
  <p:sldIdLst>
    <p:sldId id="256" r:id="rId4"/>
    <p:sldId id="503" r:id="rId5"/>
    <p:sldId id="529" r:id="rId6"/>
    <p:sldId id="257" r:id="rId7"/>
    <p:sldId id="279" r:id="rId8"/>
    <p:sldId id="533" r:id="rId9"/>
    <p:sldId id="470" r:id="rId10"/>
    <p:sldId id="511" r:id="rId11"/>
    <p:sldId id="512" r:id="rId12"/>
    <p:sldId id="534" r:id="rId13"/>
    <p:sldId id="535" r:id="rId14"/>
    <p:sldId id="514" r:id="rId15"/>
    <p:sldId id="515" r:id="rId16"/>
    <p:sldId id="516" r:id="rId17"/>
    <p:sldId id="517" r:id="rId18"/>
    <p:sldId id="518" r:id="rId19"/>
    <p:sldId id="519" r:id="rId20"/>
    <p:sldId id="520" r:id="rId21"/>
    <p:sldId id="531" r:id="rId22"/>
    <p:sldId id="536" r:id="rId23"/>
    <p:sldId id="539" r:id="rId24"/>
    <p:sldId id="537" r:id="rId25"/>
    <p:sldId id="540" r:id="rId26"/>
    <p:sldId id="538" r:id="rId27"/>
    <p:sldId id="541" r:id="rId28"/>
    <p:sldId id="543" r:id="rId29"/>
    <p:sldId id="542" r:id="rId30"/>
    <p:sldId id="532" r:id="rId31"/>
    <p:sldId id="521" r:id="rId32"/>
    <p:sldId id="522" r:id="rId33"/>
    <p:sldId id="523" r:id="rId34"/>
    <p:sldId id="524" r:id="rId35"/>
    <p:sldId id="525" r:id="rId36"/>
    <p:sldId id="526" r:id="rId37"/>
    <p:sldId id="528" r:id="rId38"/>
    <p:sldId id="530" r:id="rId39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2021/7/14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2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600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371979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4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555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974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60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904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260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08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27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047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6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70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365387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2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45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40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041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407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9113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61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440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2021/7/14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085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040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2021/7/14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129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115188" y="2227736"/>
            <a:ext cx="5734050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数据结构</a:t>
            </a:r>
            <a:r>
              <a:rPr lang="en-US" altLang="zh-CN" dirty="0"/>
              <a:t>——</a:t>
            </a:r>
            <a:r>
              <a:rPr lang="zh-CN" altLang="en-US" dirty="0"/>
              <a:t>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877450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" name="图片占位符 3" descr="桌上一本打开的书，书架在背景中模糊显示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>
          <a:xfrm>
            <a:off x="6981063" y="1319123"/>
            <a:ext cx="5210937" cy="420860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预备知识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1104900" y="1600199"/>
            <a:ext cx="9982200" cy="4898571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完全二叉树：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如果一棵深度为</a:t>
            </a:r>
            <a:r>
              <a:rPr lang="en-US" altLang="zh-CN" dirty="0"/>
              <a:t>K</a:t>
            </a:r>
            <a:r>
              <a:rPr lang="zh-CN" altLang="en-US" dirty="0"/>
              <a:t>二叉树，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k-1</a:t>
            </a:r>
            <a:r>
              <a:rPr lang="zh-CN" altLang="en-US" dirty="0"/>
              <a:t>层的结点都是满的，即满足</a:t>
            </a:r>
            <a:r>
              <a:rPr lang="en-US" altLang="zh-CN" dirty="0"/>
              <a:t>2i-1</a:t>
            </a:r>
            <a:r>
              <a:rPr lang="zh-CN" altLang="en-US" dirty="0"/>
              <a:t>，只有最下面的一层的结点数小于</a:t>
            </a:r>
            <a:r>
              <a:rPr lang="en-US" altLang="zh-CN" dirty="0"/>
              <a:t>2i-1</a:t>
            </a:r>
            <a:r>
              <a:rPr lang="zh-CN" altLang="en-US" dirty="0"/>
              <a:t>，并且最下面一层的结点都集中在该层最左边的若干位置，则此二叉树称为完全二叉树。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基本概念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1104900" y="1600199"/>
            <a:ext cx="9982200" cy="4898571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堆结构是一种数组对象，它可以被视为一棵</a:t>
            </a:r>
            <a:r>
              <a:rPr lang="zh-CN" altLang="en-US" b="1" dirty="0">
                <a:solidFill>
                  <a:schemeClr val="accent2"/>
                </a:solidFill>
              </a:rPr>
              <a:t>完全二叉树</a:t>
            </a:r>
            <a:r>
              <a:rPr lang="zh-CN" altLang="en-US" dirty="0"/>
              <a:t>。树中每个结点与数组中存放该结点中值的那个元素相对应，如下图：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4" name="Picture 4" descr="p6-2">
            <a:extLst>
              <a:ext uri="{FF2B5EF4-FFF2-40B4-BE49-F238E27FC236}">
                <a16:creationId xmlns:a16="http://schemas.microsoft.com/office/drawing/2014/main" id="{3E0FEDC4-5F7E-4DA4-9261-4D3B9304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564" y="2966822"/>
            <a:ext cx="75025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堆的性质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1104900" y="1502544"/>
            <a:ext cx="9982200" cy="4934883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设数组</a:t>
            </a:r>
            <a:r>
              <a:rPr lang="en-US" altLang="zh-CN" dirty="0"/>
              <a:t>A</a:t>
            </a:r>
            <a:r>
              <a:rPr lang="zh-CN" altLang="en-US" dirty="0"/>
              <a:t>的长度为</a:t>
            </a:r>
            <a:r>
              <a:rPr lang="en-US" altLang="zh-CN" dirty="0" err="1"/>
              <a:t>len</a:t>
            </a:r>
            <a:r>
              <a:rPr lang="zh-CN" altLang="en-US" dirty="0"/>
              <a:t>，二叉树的结点个数为</a:t>
            </a:r>
            <a:r>
              <a:rPr lang="en-US" altLang="zh-CN" dirty="0"/>
              <a:t>size</a:t>
            </a:r>
            <a:r>
              <a:rPr lang="zh-CN" altLang="en-US" dirty="0"/>
              <a:t>，</a:t>
            </a:r>
            <a:r>
              <a:rPr lang="en-US" altLang="zh-CN" dirty="0" err="1"/>
              <a:t>size≤len</a:t>
            </a:r>
            <a:r>
              <a:rPr lang="zh-CN" altLang="en-US" dirty="0"/>
              <a:t>，则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存储二叉树中编号为</a:t>
            </a:r>
            <a:r>
              <a:rPr lang="en-US" altLang="zh-CN" dirty="0" err="1"/>
              <a:t>i</a:t>
            </a:r>
            <a:r>
              <a:rPr lang="zh-CN" altLang="en-US" dirty="0"/>
              <a:t>的结点值（</a:t>
            </a:r>
            <a:r>
              <a:rPr lang="en-US" altLang="zh-CN" dirty="0"/>
              <a:t>1≤i≤size</a:t>
            </a:r>
            <a:r>
              <a:rPr lang="zh-CN" altLang="en-US" dirty="0"/>
              <a:t>），树的根为</a:t>
            </a:r>
            <a:r>
              <a:rPr lang="en-US" altLang="zh-CN" dirty="0"/>
              <a:t>A[1]</a:t>
            </a:r>
            <a:r>
              <a:rPr lang="zh-CN" altLang="en-US" dirty="0"/>
              <a:t>，并且利用完全二叉树的性质，我们很容易求第</a:t>
            </a:r>
            <a:r>
              <a:rPr lang="en-US" altLang="zh-CN" dirty="0" err="1"/>
              <a:t>i</a:t>
            </a:r>
            <a:r>
              <a:rPr lang="zh-CN" altLang="en-US" dirty="0"/>
              <a:t>个结点的父结点（</a:t>
            </a:r>
            <a:r>
              <a:rPr lang="en-US" altLang="zh-CN" dirty="0"/>
              <a:t>parent(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）、左孩子结点</a:t>
            </a:r>
            <a:r>
              <a:rPr lang="en-US" altLang="zh-CN" dirty="0"/>
              <a:t>(left(</a:t>
            </a:r>
            <a:r>
              <a:rPr lang="en-US" altLang="zh-CN" dirty="0" err="1"/>
              <a:t>i</a:t>
            </a:r>
            <a:r>
              <a:rPr lang="en-US" altLang="zh-CN" dirty="0"/>
              <a:t>))</a:t>
            </a:r>
            <a:r>
              <a:rPr lang="zh-CN" altLang="en-US" dirty="0"/>
              <a:t>、右孩子结点</a:t>
            </a:r>
            <a:r>
              <a:rPr lang="en-US" altLang="zh-CN" dirty="0"/>
              <a:t>(right(</a:t>
            </a:r>
            <a:r>
              <a:rPr lang="en-US" altLang="zh-CN" dirty="0" err="1"/>
              <a:t>i</a:t>
            </a:r>
            <a:r>
              <a:rPr lang="en-US" altLang="zh-CN" dirty="0"/>
              <a:t>))</a:t>
            </a:r>
            <a:r>
              <a:rPr lang="zh-CN" altLang="en-US" dirty="0"/>
              <a:t>的下标</a:t>
            </a:r>
            <a:r>
              <a:rPr lang="en-US" altLang="zh-CN" dirty="0"/>
              <a:t>,</a:t>
            </a:r>
            <a:r>
              <a:rPr lang="zh-CN" altLang="en-US" dirty="0"/>
              <a:t>分别为：</a:t>
            </a:r>
            <a:r>
              <a:rPr lang="en-US" altLang="zh-CN" b="1" dirty="0" err="1">
                <a:solidFill>
                  <a:schemeClr val="accent2"/>
                </a:solidFill>
              </a:rPr>
              <a:t>i</a:t>
            </a:r>
            <a:r>
              <a:rPr lang="en-US" altLang="zh-CN" b="1" dirty="0">
                <a:solidFill>
                  <a:schemeClr val="accent2"/>
                </a:solidFill>
              </a:rPr>
              <a:t>/2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2i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2i+1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二叉堆是一种特殊的堆，其实质是完全二叉树。二叉堆有两种：</a:t>
            </a:r>
            <a:r>
              <a:rPr lang="zh-CN" altLang="en-US" b="1" dirty="0">
                <a:solidFill>
                  <a:schemeClr val="accent2"/>
                </a:solidFill>
              </a:rPr>
              <a:t>最大堆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chemeClr val="accent2"/>
                </a:solidFill>
              </a:rPr>
              <a:t>最小堆</a:t>
            </a:r>
            <a:r>
              <a:rPr lang="zh-CN" altLang="en-US" dirty="0"/>
              <a:t>。最大堆是指父节点键值总是大于或等于任何一个子节点的键值。而最小堆恰恰相反，指的是父节点键值总是小于任何一个子节点的键值。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堆的性质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5DB9C1-66BF-4E2D-B84E-FF2D9274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041967"/>
            <a:ext cx="4716493" cy="2404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C103B6-B663-461C-A929-BD6BD3DE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105" y="2041967"/>
            <a:ext cx="4488983" cy="23382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9488747-CDD8-423C-9F75-0A57232AB454}"/>
              </a:ext>
            </a:extLst>
          </p:cNvPr>
          <p:cNvSpPr txBox="1"/>
          <p:nvPr/>
        </p:nvSpPr>
        <p:spPr>
          <a:xfrm>
            <a:off x="2840775" y="4680279"/>
            <a:ext cx="1092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大根堆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D81060-ED0C-44A5-B721-5A711A5A12C9}"/>
              </a:ext>
            </a:extLst>
          </p:cNvPr>
          <p:cNvSpPr txBox="1"/>
          <p:nvPr/>
        </p:nvSpPr>
        <p:spPr>
          <a:xfrm>
            <a:off x="8327134" y="4680278"/>
            <a:ext cx="1092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小根堆 </a:t>
            </a:r>
          </a:p>
        </p:txBody>
      </p:sp>
    </p:spTree>
    <p:extLst>
      <p:ext uri="{BB962C8B-B14F-4D97-AF65-F5344CB8AC3E}">
        <p14:creationId xmlns:p14="http://schemas.microsoft.com/office/powerpoint/2010/main" val="43378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1864" y="1697853"/>
            <a:ext cx="9982200" cy="450763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用堆的关键部分是两个操作：</a:t>
            </a:r>
            <a:r>
              <a:rPr lang="en-US" altLang="zh-CN" b="1" dirty="0">
                <a:solidFill>
                  <a:schemeClr val="accent2"/>
                </a:solidFill>
              </a:rPr>
              <a:t>put</a:t>
            </a:r>
            <a:r>
              <a:rPr lang="zh-CN" altLang="en-US" b="1" dirty="0">
                <a:solidFill>
                  <a:schemeClr val="accent2"/>
                </a:solidFill>
              </a:rPr>
              <a:t>操作</a:t>
            </a:r>
            <a:r>
              <a:rPr lang="zh-CN" altLang="en-US" dirty="0"/>
              <a:t>，即往堆中加入一个元素；</a:t>
            </a:r>
            <a:r>
              <a:rPr lang="en-US" altLang="zh-CN" b="1" dirty="0">
                <a:solidFill>
                  <a:schemeClr val="accent2"/>
                </a:solidFill>
              </a:rPr>
              <a:t>get</a:t>
            </a:r>
            <a:r>
              <a:rPr lang="zh-CN" altLang="en-US" b="1" dirty="0">
                <a:solidFill>
                  <a:schemeClr val="accent2"/>
                </a:solidFill>
              </a:rPr>
              <a:t>操作</a:t>
            </a:r>
            <a:r>
              <a:rPr lang="zh-CN" altLang="en-US" dirty="0"/>
              <a:t>，即从堆中取出并删除一个元素。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往堆中加入一个元素的算法</a:t>
            </a:r>
            <a:r>
              <a:rPr lang="en-US" altLang="zh-CN" dirty="0"/>
              <a:t>(put)</a:t>
            </a:r>
            <a:r>
              <a:rPr lang="zh-CN" altLang="en-US" dirty="0"/>
              <a:t>如下：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）在堆尾加入一个元素，并把这个结点置为当前结点。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）比较当前结点和它父结点的大小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/>
              <a:t>         如果当前结点小于父结点，则交换它们的值，并把父结点置为当前结点。转（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 如果当前结点大于等于父结点，则转（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）结束。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F084C-65B9-42B2-95E3-5F7B9A09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C3C1174-D451-4147-B0C7-946882932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903303"/>
          </a:xfrm>
        </p:spPr>
        <p:txBody>
          <a:bodyPr/>
          <a:lstStyle/>
          <a:p>
            <a:r>
              <a:rPr lang="zh-CN" altLang="en-US" dirty="0"/>
              <a:t>在插入数据的时候，每插入的数据都是插入到二叉堆的最后一个位置，以最大堆为例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776C41-05B2-4F92-9F5A-50634293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363680"/>
            <a:ext cx="65436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7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D28BC-687B-4AC0-A0DB-7E06FA3D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B95B449-4BAA-48E6-9EDB-14D49DAE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493668"/>
            <a:ext cx="9982200" cy="1096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插入新数据后（子节点</a:t>
            </a:r>
            <a:r>
              <a:rPr lang="en-US" altLang="zh-CN" dirty="0"/>
              <a:t>10</a:t>
            </a:r>
            <a:r>
              <a:rPr lang="zh-CN" altLang="en-US" dirty="0"/>
              <a:t>），我们让子节点</a:t>
            </a:r>
            <a:r>
              <a:rPr lang="en-US" altLang="zh-CN" dirty="0"/>
              <a:t>10</a:t>
            </a:r>
            <a:r>
              <a:rPr lang="zh-CN" altLang="en-US" dirty="0"/>
              <a:t>与其父节点</a:t>
            </a:r>
            <a:r>
              <a:rPr lang="en-US" altLang="zh-CN" dirty="0"/>
              <a:t>5</a:t>
            </a:r>
            <a:r>
              <a:rPr lang="zh-CN" altLang="en-US" dirty="0"/>
              <a:t>作比较，父节点小于子节点，于是将子节点与父节点交换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E25563-9DC7-4BE9-9266-ADE92D87C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82" y="2715827"/>
            <a:ext cx="63055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3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D28BC-687B-4AC0-A0DB-7E06FA3D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B95B449-4BAA-48E6-9EDB-14D49DAE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493668"/>
            <a:ext cx="9982200" cy="1096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接着再做同样的操作，子节点</a:t>
            </a:r>
            <a:r>
              <a:rPr lang="en-US" altLang="zh-CN" dirty="0"/>
              <a:t>10</a:t>
            </a:r>
            <a:r>
              <a:rPr lang="zh-CN" altLang="en-US" dirty="0"/>
              <a:t>与父节点</a:t>
            </a:r>
            <a:r>
              <a:rPr lang="en-US" altLang="zh-CN" dirty="0"/>
              <a:t>8</a:t>
            </a:r>
            <a:r>
              <a:rPr lang="zh-CN" altLang="en-US" dirty="0"/>
              <a:t>作比较，同样需要交换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126E06-32C7-4E23-925C-64EB1C7E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82" y="2794107"/>
            <a:ext cx="60579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4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D28BC-687B-4AC0-A0DB-7E06FA3D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B95B449-4BAA-48E6-9EDB-14D49DAE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493668"/>
            <a:ext cx="9982200" cy="1096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再同样做同样操作，直至父节点大于子节点或者子节点已经上浮到根节点即止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0AA142-D809-4096-A92B-8068AED2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16" y="2466928"/>
            <a:ext cx="62293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插入节点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E1C54A-CF7C-429D-AD35-FBFBBEF1A61D}"/>
              </a:ext>
            </a:extLst>
          </p:cNvPr>
          <p:cNvSpPr/>
          <p:nvPr/>
        </p:nvSpPr>
        <p:spPr>
          <a:xfrm>
            <a:off x="1245833" y="1520197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put(int d)                 //heap[1]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为堆顶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大根堆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now, next;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heap[++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heap_size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d;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now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heap_size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while(now &gt; 1)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next = now &gt;&gt; 1;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if(heap[now] &lt;= heap[next]) break;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swap(heap[now], heap[next]);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now = next;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1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7EE3E-D24A-4ED2-885C-F017C3AC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8445E2-978A-4963-BCDD-3B3DAD4FC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从堆中取出并删除一个元素的算法</a:t>
            </a:r>
            <a:r>
              <a:rPr lang="en-US" altLang="zh-CN" dirty="0"/>
              <a:t>(get)</a:t>
            </a:r>
            <a:r>
              <a:rPr lang="zh-CN" altLang="en-US" dirty="0"/>
              <a:t>如下：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1</a:t>
            </a:r>
            <a:r>
              <a:rPr lang="zh-CN" altLang="en-US" dirty="0"/>
              <a:t>）取出堆的根结点的值。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2</a:t>
            </a:r>
            <a:r>
              <a:rPr lang="zh-CN" altLang="en-US" dirty="0"/>
              <a:t>）把堆的最后一个结点（</a:t>
            </a:r>
            <a:r>
              <a:rPr lang="en-US" altLang="zh-CN" dirty="0" err="1"/>
              <a:t>len</a:t>
            </a:r>
            <a:r>
              <a:rPr lang="zh-CN" altLang="en-US" dirty="0"/>
              <a:t>）放到根的位置上，把根覆盖掉。把堆</a:t>
            </a:r>
          </a:p>
          <a:p>
            <a:pPr marL="0" indent="0">
              <a:buNone/>
            </a:pPr>
            <a:r>
              <a:rPr lang="zh-CN" altLang="en-US" dirty="0"/>
              <a:t>           的长度减一。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3</a:t>
            </a:r>
            <a:r>
              <a:rPr lang="zh-CN" altLang="en-US" dirty="0"/>
              <a:t>）把根结点置为当前父结点</a:t>
            </a:r>
            <a:r>
              <a:rPr lang="en-US" altLang="zh-CN" dirty="0"/>
              <a:t>pa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4</a:t>
            </a:r>
            <a:r>
              <a:rPr lang="zh-CN" altLang="en-US" dirty="0"/>
              <a:t>）如果</a:t>
            </a:r>
            <a:r>
              <a:rPr lang="en-US" altLang="zh-CN" dirty="0"/>
              <a:t>pa</a:t>
            </a:r>
            <a:r>
              <a:rPr lang="zh-CN" altLang="en-US" dirty="0"/>
              <a:t>无儿子（</a:t>
            </a:r>
            <a:r>
              <a:rPr lang="en-US" altLang="zh-CN" dirty="0"/>
              <a:t>pa&gt;</a:t>
            </a:r>
            <a:r>
              <a:rPr lang="en-US" altLang="zh-CN" dirty="0" err="1"/>
              <a:t>len</a:t>
            </a:r>
            <a:r>
              <a:rPr lang="en-US" altLang="zh-CN" dirty="0"/>
              <a:t>/2</a:t>
            </a:r>
            <a:r>
              <a:rPr lang="zh-CN" altLang="en-US" dirty="0"/>
              <a:t>），则转（</a:t>
            </a:r>
            <a:r>
              <a:rPr lang="en-US" altLang="zh-CN" dirty="0"/>
              <a:t>6</a:t>
            </a:r>
            <a:r>
              <a:rPr lang="zh-CN" altLang="en-US" dirty="0"/>
              <a:t>）；否则，把</a:t>
            </a:r>
            <a:r>
              <a:rPr lang="en-US" altLang="zh-CN" dirty="0"/>
              <a:t>pa</a:t>
            </a:r>
            <a:r>
              <a:rPr lang="zh-CN" altLang="en-US" dirty="0"/>
              <a:t>的两（或一） </a:t>
            </a:r>
          </a:p>
          <a:p>
            <a:pPr marL="0" indent="0">
              <a:buNone/>
            </a:pPr>
            <a:r>
              <a:rPr lang="zh-CN" altLang="en-US" dirty="0"/>
              <a:t>            个儿子中值最小的那个置为当前的子结点</a:t>
            </a:r>
            <a:r>
              <a:rPr lang="en-US" altLang="zh-CN" dirty="0"/>
              <a:t>son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5</a:t>
            </a:r>
            <a:r>
              <a:rPr lang="zh-CN" altLang="en-US" dirty="0"/>
              <a:t>）比较</a:t>
            </a:r>
            <a:r>
              <a:rPr lang="en-US" altLang="zh-CN" dirty="0"/>
              <a:t>pa</a:t>
            </a:r>
            <a:r>
              <a:rPr lang="zh-CN" altLang="en-US" dirty="0"/>
              <a:t>与</a:t>
            </a:r>
            <a:r>
              <a:rPr lang="en-US" altLang="zh-CN" dirty="0"/>
              <a:t>son</a:t>
            </a:r>
            <a:r>
              <a:rPr lang="zh-CN" altLang="en-US" dirty="0"/>
              <a:t>的值，如果</a:t>
            </a:r>
            <a:r>
              <a:rPr lang="en-US" altLang="zh-CN" dirty="0"/>
              <a:t>fa</a:t>
            </a:r>
            <a:r>
              <a:rPr lang="zh-CN" altLang="en-US" dirty="0"/>
              <a:t>的值小于或等于</a:t>
            </a:r>
            <a:r>
              <a:rPr lang="en-US" altLang="zh-CN" dirty="0"/>
              <a:t>son</a:t>
            </a:r>
            <a:r>
              <a:rPr lang="zh-CN" altLang="en-US" dirty="0"/>
              <a:t>，则转（</a:t>
            </a:r>
            <a:r>
              <a:rPr lang="en-US" altLang="zh-CN" dirty="0"/>
              <a:t>6</a:t>
            </a:r>
            <a:r>
              <a:rPr lang="zh-CN" altLang="en-US" dirty="0"/>
              <a:t>）；</a:t>
            </a:r>
          </a:p>
          <a:p>
            <a:pPr marL="0" indent="0">
              <a:buNone/>
            </a:pPr>
            <a:r>
              <a:rPr lang="zh-CN" altLang="en-US" dirty="0"/>
              <a:t>            否则，交换这两个结点的值，把</a:t>
            </a:r>
            <a:r>
              <a:rPr lang="en-US" altLang="zh-CN" dirty="0"/>
              <a:t>pa</a:t>
            </a:r>
            <a:r>
              <a:rPr lang="zh-CN" altLang="en-US" dirty="0"/>
              <a:t>指向</a:t>
            </a:r>
            <a:r>
              <a:rPr lang="en-US" altLang="zh-CN" dirty="0"/>
              <a:t>son</a:t>
            </a:r>
            <a:r>
              <a:rPr lang="zh-CN" altLang="en-US" dirty="0"/>
              <a:t>，转（</a:t>
            </a:r>
            <a:r>
              <a:rPr lang="en-US" altLang="zh-CN" dirty="0"/>
              <a:t>4</a:t>
            </a:r>
            <a:r>
              <a:rPr lang="zh-CN" altLang="en-US" dirty="0"/>
              <a:t>）。</a:t>
            </a:r>
          </a:p>
          <a:p>
            <a:pPr marL="0" indent="0">
              <a:buNone/>
            </a:pPr>
            <a:r>
              <a:rPr lang="zh-CN" altLang="en-US" dirty="0"/>
              <a:t>	（</a:t>
            </a:r>
            <a:r>
              <a:rPr lang="en-US" altLang="zh-CN" dirty="0"/>
              <a:t>6</a:t>
            </a:r>
            <a:r>
              <a:rPr lang="zh-CN" altLang="en-US" dirty="0"/>
              <a:t>）结束。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57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23282-4310-4215-8617-78C56221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E83379E-B4C8-46C4-B5EC-66534B8D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663606"/>
          </a:xfrm>
        </p:spPr>
        <p:txBody>
          <a:bodyPr/>
          <a:lstStyle/>
          <a:p>
            <a:r>
              <a:rPr lang="zh-CN" altLang="en-US" dirty="0"/>
              <a:t>在删除节点的时候，每次都是删除根节点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4D4D6A-7CC0-4C6E-9AD5-9DE76EBB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357391"/>
            <a:ext cx="66103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568E7-B28F-49F8-9705-F4D88D02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2FB1DD2-A5B9-4D5C-95A0-192128BA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03808"/>
          </a:xfrm>
        </p:spPr>
        <p:txBody>
          <a:bodyPr/>
          <a:lstStyle/>
          <a:p>
            <a:r>
              <a:rPr lang="zh-CN" altLang="en-US" dirty="0"/>
              <a:t>删除根节点之后，将二叉堆最后一个数据填充至根节点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20C1F4-A244-4DC6-9478-E3B28967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244339"/>
            <a:ext cx="62198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5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EB582-BD10-4935-A896-85C71589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83A498-4FE2-40A0-AB3D-034D4CCF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96012"/>
            <a:ext cx="9832389" cy="1009837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zh-CN" altLang="en-US" dirty="0"/>
              <a:t>填充数据（父节点</a:t>
            </a:r>
            <a:r>
              <a:rPr lang="en-US" altLang="zh-CN" dirty="0"/>
              <a:t>5</a:t>
            </a:r>
            <a:r>
              <a:rPr lang="zh-CN" altLang="en-US" dirty="0"/>
              <a:t>）之后，我们让父节点</a:t>
            </a:r>
            <a:r>
              <a:rPr lang="en-US" altLang="zh-CN" dirty="0"/>
              <a:t>5</a:t>
            </a:r>
            <a:r>
              <a:rPr lang="zh-CN" altLang="en-US" dirty="0"/>
              <a:t>与其两个子节点</a:t>
            </a: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作比较，看谁更大，父节点就往哪下沉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D58EF8-00DD-4DAD-863A-5D820D418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575433"/>
            <a:ext cx="7027046" cy="367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E9F5B-64BE-4879-9FBD-38EF2E38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B291F83-2481-4436-967E-574828B58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1387136"/>
            <a:ext cx="9982200" cy="12401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接着再做同样的操作，父节点</a:t>
            </a:r>
            <a:r>
              <a:rPr lang="en-US" altLang="zh-CN" dirty="0"/>
              <a:t>5</a:t>
            </a:r>
            <a:r>
              <a:rPr lang="zh-CN" altLang="en-US" dirty="0"/>
              <a:t>与其两个子节点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作比较，再下沉。最终发现两个子节点都小于父节点，于是停止下沉（如果父节点下沉至叶节点位置时，也停止下沉）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E371BC-9D69-4474-9A85-CCE42160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76" y="2627328"/>
            <a:ext cx="6521619" cy="364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9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69BD2-0B44-4F23-B9B6-3DEE4154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删除节点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21FC399-5F0C-4410-80B5-6E25A48C8528}"/>
              </a:ext>
            </a:extLst>
          </p:cNvPr>
          <p:cNvSpPr txBox="1">
            <a:spLocks noChangeArrowheads="1"/>
          </p:cNvSpPr>
          <p:nvPr/>
        </p:nvSpPr>
        <p:spPr>
          <a:xfrm>
            <a:off x="1104900" y="1524386"/>
            <a:ext cx="8229600" cy="54534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88AF1C-90A1-4E25-B089-7FC6DF7C8BEC}"/>
              </a:ext>
            </a:extLst>
          </p:cNvPr>
          <p:cNvSpPr/>
          <p:nvPr/>
        </p:nvSpPr>
        <p:spPr>
          <a:xfrm>
            <a:off x="1222879" y="1798298"/>
            <a:ext cx="898124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get()                //heap[1]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为堆顶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now=1, next, res= heap[1];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heap[1] = heap[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heap_size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--];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while(now * 2 &lt;=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heap_size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next = now * 2;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(next &lt;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heap_size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heap[next + 1] &lt; heap[next]) next++;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(heap[now] &lt;= heap[next]) break;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swap(heap[now], heap[next]);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now = next;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res;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038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8165" y="2954050"/>
            <a:ext cx="10071099" cy="1684150"/>
          </a:xfrm>
        </p:spPr>
        <p:txBody>
          <a:bodyPr rtlCol="0"/>
          <a:lstStyle/>
          <a:p>
            <a:pPr rtl="0"/>
            <a:r>
              <a:rPr lang="en-US" dirty="0" err="1"/>
              <a:t>Stl</a:t>
            </a:r>
            <a:r>
              <a:rPr lang="zh-CN" altLang="en-US" dirty="0"/>
              <a:t>实现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7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D4371D4D-70D2-48CE-9931-6223915F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93668"/>
            <a:ext cx="9982200" cy="1222899"/>
          </a:xfrm>
        </p:spPr>
        <p:txBody>
          <a:bodyPr>
            <a:normAutofit lnSpcReduction="10000"/>
          </a:bodyPr>
          <a:lstStyle/>
          <a:p>
            <a:pPr>
              <a:lnSpc>
                <a:spcPct val="210000"/>
              </a:lnSpc>
            </a:pPr>
            <a:r>
              <a:rPr lang="en-US" altLang="zh-CN" dirty="0"/>
              <a:t>priority_queue</a:t>
            </a:r>
            <a:r>
              <a:rPr lang="zh-CN" altLang="en-US" dirty="0"/>
              <a:t>又称为优先队列，其底层是用堆来进行实现的。在优先队列中，队首元素一定是当前队列中优先级最高的那一个。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4EA2FE-01E1-4A5E-9C52-988338651DCF}"/>
              </a:ext>
            </a:extLst>
          </p:cNvPr>
          <p:cNvSpPr txBox="1"/>
          <p:nvPr/>
        </p:nvSpPr>
        <p:spPr>
          <a:xfrm>
            <a:off x="1220309" y="2971492"/>
            <a:ext cx="9690347" cy="184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priority_queue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&lt;Type, Container,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为数据类型，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Container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为保存数据的容器，默认为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为元素比较方式，默认为大根堆</a:t>
            </a:r>
          </a:p>
        </p:txBody>
      </p:sp>
    </p:spTree>
    <p:extLst>
      <p:ext uri="{BB962C8B-B14F-4D97-AF65-F5344CB8AC3E}">
        <p14:creationId xmlns:p14="http://schemas.microsoft.com/office/powerpoint/2010/main" val="205149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D4371D4D-70D2-48CE-9931-6223915F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93668"/>
            <a:ext cx="9982200" cy="9299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C++STL</a:t>
            </a:r>
            <a:r>
              <a:rPr lang="zh-CN" altLang="en-US" dirty="0"/>
              <a:t>中的</a:t>
            </a:r>
            <a:r>
              <a:rPr lang="en-US" altLang="zh-CN" dirty="0"/>
              <a:t>priority_queue</a:t>
            </a:r>
            <a:r>
              <a:rPr lang="zh-CN" altLang="en-US" dirty="0"/>
              <a:t>（优先队列）可以实现大根堆和小根堆，支持</a:t>
            </a:r>
            <a:r>
              <a:rPr lang="en-US" altLang="zh-CN" b="1" dirty="0">
                <a:solidFill>
                  <a:schemeClr val="accent2"/>
                </a:solidFill>
              </a:rPr>
              <a:t>push</a:t>
            </a:r>
            <a:r>
              <a:rPr lang="zh-CN" altLang="en-US" b="1" dirty="0">
                <a:solidFill>
                  <a:schemeClr val="accent2"/>
                </a:solidFill>
              </a:rPr>
              <a:t>（插入节点）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pop(</a:t>
            </a:r>
            <a:r>
              <a:rPr lang="zh-CN" altLang="en-US" b="1" dirty="0">
                <a:solidFill>
                  <a:schemeClr val="accent2"/>
                </a:solidFill>
              </a:rPr>
              <a:t>删除节点</a:t>
            </a:r>
            <a:r>
              <a:rPr lang="en-US" altLang="zh-CN" b="1" dirty="0">
                <a:solidFill>
                  <a:schemeClr val="accent2"/>
                </a:solidFill>
              </a:rPr>
              <a:t>)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top</a:t>
            </a:r>
            <a:r>
              <a:rPr lang="zh-CN" altLang="en-US" b="1" dirty="0">
                <a:solidFill>
                  <a:schemeClr val="accent2"/>
                </a:solidFill>
              </a:rPr>
              <a:t>（查询堆顶元素）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A364084B-E62A-427A-9DB3-CE66C6A6C780}"/>
              </a:ext>
            </a:extLst>
          </p:cNvPr>
          <p:cNvGraphicFramePr>
            <a:graphicFrameLocks noGrp="1"/>
          </p:cNvGraphicFramePr>
          <p:nvPr/>
        </p:nvGraphicFramePr>
        <p:xfrm>
          <a:off x="1216240" y="2850305"/>
          <a:ext cx="8673484" cy="1961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742">
                  <a:extLst>
                    <a:ext uri="{9D8B030D-6E8A-4147-A177-3AD203B41FA5}">
                      <a16:colId xmlns:a16="http://schemas.microsoft.com/office/drawing/2014/main" val="4019148195"/>
                    </a:ext>
                  </a:extLst>
                </a:gridCol>
                <a:gridCol w="2272914">
                  <a:extLst>
                    <a:ext uri="{9D8B030D-6E8A-4147-A177-3AD203B41FA5}">
                      <a16:colId xmlns:a16="http://schemas.microsoft.com/office/drawing/2014/main" val="2036969368"/>
                    </a:ext>
                  </a:extLst>
                </a:gridCol>
                <a:gridCol w="2272914">
                  <a:extLst>
                    <a:ext uri="{9D8B030D-6E8A-4147-A177-3AD203B41FA5}">
                      <a16:colId xmlns:a16="http://schemas.microsoft.com/office/drawing/2014/main" val="1370746392"/>
                    </a:ext>
                  </a:extLst>
                </a:gridCol>
                <a:gridCol w="2272914">
                  <a:extLst>
                    <a:ext uri="{9D8B030D-6E8A-4147-A177-3AD203B41FA5}">
                      <a16:colId xmlns:a16="http://schemas.microsoft.com/office/drawing/2014/main" val="2610918395"/>
                    </a:ext>
                  </a:extLst>
                </a:gridCol>
              </a:tblGrid>
              <a:tr h="517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时间复杂度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021781"/>
                  </a:ext>
                </a:extLst>
              </a:tr>
              <a:tr h="4812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push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把元素插入堆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q.push</a:t>
                      </a:r>
                      <a:r>
                        <a:rPr lang="en-US" altLang="zh-CN" dirty="0"/>
                        <a:t>(x)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O(</a:t>
                      </a:r>
                      <a:r>
                        <a:rPr lang="en-US" altLang="zh-CN" dirty="0" err="1"/>
                        <a:t>logn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78748"/>
                  </a:ext>
                </a:extLst>
              </a:tr>
              <a:tr h="4812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删除堆顶元素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q.pop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O(</a:t>
                      </a:r>
                      <a:r>
                        <a:rPr lang="en-US" altLang="zh-CN" dirty="0" err="1"/>
                        <a:t>logn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291907"/>
                  </a:ext>
                </a:extLst>
              </a:tr>
              <a:tr h="48123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top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查询堆顶元素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q.top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24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85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99FB8D-27A4-48EA-8D42-F364FE6F4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22646"/>
            <a:ext cx="9982200" cy="498703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基本数据类型的优先级设置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大根堆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 </a:t>
            </a:r>
            <a:r>
              <a:rPr lang="en-US" altLang="zh-CN" dirty="0" err="1"/>
              <a:t>priority_queue</a:t>
            </a:r>
            <a:r>
              <a:rPr lang="en-US" altLang="zh-CN" dirty="0"/>
              <a:t>&lt;int, vector&lt;int&gt;, less&lt;int&gt; &gt; q;      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less&lt;int&gt;</a:t>
            </a:r>
            <a:r>
              <a:rPr lang="zh-CN" altLang="en-US" dirty="0"/>
              <a:t>表示数字大的优先级越大，而</a:t>
            </a:r>
            <a:r>
              <a:rPr lang="en-US" altLang="zh-CN" dirty="0"/>
              <a:t>greater&lt;int&gt;</a:t>
            </a:r>
            <a:r>
              <a:rPr lang="zh-CN" altLang="en-US" dirty="0"/>
              <a:t>表示数字小的优先级越大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小根堆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 err="1"/>
              <a:t>priority_queue</a:t>
            </a:r>
            <a:r>
              <a:rPr lang="en-US" altLang="zh-CN" dirty="0"/>
              <a:t>&lt;int, vector&lt;int&gt;, greater&lt;int&gt; &gt; q;  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 //vector&lt;int&gt;</a:t>
            </a:r>
            <a:r>
              <a:rPr lang="zh-CN" altLang="en-US" dirty="0"/>
              <a:t>是用来承载底层数据结构堆（</a:t>
            </a:r>
            <a:r>
              <a:rPr lang="en-US" altLang="zh-CN" dirty="0"/>
              <a:t>heap</a:t>
            </a:r>
            <a:r>
              <a:rPr lang="zh-CN" altLang="en-US" dirty="0"/>
              <a:t>）的容器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3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023924-1BA4-4017-88E4-5F90D42C29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320" r="52274"/>
          <a:stretch/>
        </p:blipFill>
        <p:spPr>
          <a:xfrm>
            <a:off x="1104900" y="1464016"/>
            <a:ext cx="4171188" cy="27197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154577-050F-4303-BE26-5C58F125B2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231" r="34349"/>
          <a:stretch/>
        </p:blipFill>
        <p:spPr>
          <a:xfrm>
            <a:off x="1104900" y="4183793"/>
            <a:ext cx="6514332" cy="253288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891FE796-F1CE-4796-B19D-1C96C1EB3359}"/>
              </a:ext>
            </a:extLst>
          </p:cNvPr>
          <p:cNvSpPr/>
          <p:nvPr/>
        </p:nvSpPr>
        <p:spPr>
          <a:xfrm>
            <a:off x="6095241" y="2423160"/>
            <a:ext cx="1768599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大根堆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4300C89-1091-42EA-8512-C7FB202D67C9}"/>
              </a:ext>
            </a:extLst>
          </p:cNvPr>
          <p:cNvSpPr/>
          <p:nvPr/>
        </p:nvSpPr>
        <p:spPr>
          <a:xfrm>
            <a:off x="8286753" y="4916424"/>
            <a:ext cx="1768599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小根堆</a:t>
            </a:r>
          </a:p>
        </p:txBody>
      </p:sp>
    </p:spTree>
    <p:extLst>
      <p:ext uri="{BB962C8B-B14F-4D97-AF65-F5344CB8AC3E}">
        <p14:creationId xmlns:p14="http://schemas.microsoft.com/office/powerpoint/2010/main" val="105441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99FB8D-27A4-48EA-8D42-F364FE6F4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66932"/>
            <a:ext cx="9982200" cy="4572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结构体的优先级设置</a:t>
            </a:r>
            <a:endParaRPr lang="en-US" altLang="zh-C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</a:rPr>
              <a:t>重载运算符</a:t>
            </a:r>
            <a:endParaRPr lang="en-US" altLang="zh-CN" b="1" dirty="0">
              <a:solidFill>
                <a:schemeClr val="accent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C597AF-51DF-42ED-87F9-46351209EF91}"/>
              </a:ext>
            </a:extLst>
          </p:cNvPr>
          <p:cNvSpPr txBox="1"/>
          <p:nvPr/>
        </p:nvSpPr>
        <p:spPr>
          <a:xfrm>
            <a:off x="1395235" y="5808837"/>
            <a:ext cx="9690347" cy="588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9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优先队列的这个函数与</a:t>
            </a:r>
            <a:r>
              <a:rPr lang="en-US" altLang="zh-CN" sz="19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sort</a:t>
            </a:r>
            <a:r>
              <a:rPr lang="zh-CN" altLang="en-US" sz="19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9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cmp</a:t>
            </a:r>
            <a:r>
              <a:rPr lang="zh-CN" altLang="en-US" sz="19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函数的效果是相反的。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8FC617-6EC5-47E6-895E-F17B70968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12" y="2686003"/>
            <a:ext cx="53530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ABF5C8-F7FA-4555-9FF2-53721B21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90881"/>
            <a:ext cx="6058601" cy="562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7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99FB8D-27A4-48EA-8D42-F364FE6F4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66932"/>
            <a:ext cx="9982200" cy="4572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结构体的优先级设置</a:t>
            </a:r>
            <a:endParaRPr lang="en-US" altLang="zh-C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</a:rPr>
              <a:t>重写仿函数</a:t>
            </a:r>
            <a:endParaRPr lang="en-US" altLang="zh-CN" b="1" dirty="0">
              <a:solidFill>
                <a:schemeClr val="accent2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A6CDB3-C1A6-4FEA-A665-0D08C1F6F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89195"/>
            <a:ext cx="5856612" cy="355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DC54D-7DB6-42BD-9AB0-D0903E41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优先队列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B897AD-19DB-461F-859F-6072F2D2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516325"/>
            <a:ext cx="80962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3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例题讲解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94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B2D7B-9A2F-477A-A538-1A1D28CD7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9" y="348296"/>
            <a:ext cx="9980682" cy="1152030"/>
          </a:xfrm>
        </p:spPr>
        <p:txBody>
          <a:bodyPr/>
          <a:lstStyle/>
          <a:p>
            <a:r>
              <a:rPr lang="zh-CN" altLang="en-US" dirty="0"/>
              <a:t>合并果子</a:t>
            </a:r>
            <a:r>
              <a:rPr lang="en-US" altLang="zh-CN" dirty="0"/>
              <a:t>(fruit)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9827A-5934-4A19-A4FC-4C1C7F1296F4}"/>
              </a:ext>
            </a:extLst>
          </p:cNvPr>
          <p:cNvSpPr txBox="1">
            <a:spLocks noChangeArrowheads="1"/>
          </p:cNvSpPr>
          <p:nvPr/>
        </p:nvSpPr>
        <p:spPr>
          <a:xfrm>
            <a:off x="1104899" y="1636404"/>
            <a:ext cx="10169741" cy="49241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230E0A-90AA-472B-9B0D-13EA6B988737}"/>
              </a:ext>
            </a:extLst>
          </p:cNvPr>
          <p:cNvSpPr/>
          <p:nvPr/>
        </p:nvSpPr>
        <p:spPr>
          <a:xfrm>
            <a:off x="1104900" y="1481917"/>
            <a:ext cx="10169740" cy="502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在一个果园里，多多已经将所有的果子打了下来，而且按果子的不同种类分成了不同的堆。多多决定把所有的果子合成一堆。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每一次合并，多多可以把两堆果子合并到一起，消耗的体力等于两堆果子的重量之和。可以看出，所有的果子经过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次合并之后，就只剩下一堆了。多多在合并果子时总共消耗的体力等于每次合并所耗体力之和。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因为还要花大力气把这些果子搬回家，所以多多在合并果子时要尽可能地节省体力。假定每个果子重量都为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，并且已知果子的种类数和每种果子的数目，你的任务是设计出合并的次序方案，使多多耗费的体力最少，并输出这个最小的体力耗费值。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种果子，数目依次为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。可以先将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堆合并，新堆数目为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，耗费体力为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。接着，将新堆与原先的第三堆合并，又得到新的堆，数目为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，耗费体力为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。所以多多总共耗费体力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=3+12=15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。可以证明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为最小的体力耗费值。</a:t>
            </a:r>
          </a:p>
        </p:txBody>
      </p:sp>
    </p:spTree>
    <p:extLst>
      <p:ext uri="{BB962C8B-B14F-4D97-AF65-F5344CB8AC3E}">
        <p14:creationId xmlns:p14="http://schemas.microsoft.com/office/powerpoint/2010/main" val="13663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34203-545D-4C2C-88D4-87DC7D19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A79432-0F99-4456-8ABB-5DDF265C0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982" y="1285059"/>
            <a:ext cx="10174520" cy="565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0975" indent="-180975" algn="l" rtl="0" eaLnBrk="0" fontAlgn="base" hangingPunct="0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261938" algn="l" rtl="0" eaLnBrk="0" fontAlgn="base" hangingPunct="0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720725" indent="-274638" algn="l" rtl="0" eaLnBrk="0" fontAlgn="base" hangingPunct="0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987425" indent="-265113" algn="l" rtl="0" eaLnBrk="0" fontAlgn="base" hangingPunct="0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254125" indent="-265113" algn="l" rtl="0" eaLnBrk="0" fontAlgn="base" hangingPunct="0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711325" indent="-265113" algn="l" rtl="0" fontAlgn="base">
              <a:spcBef>
                <a:spcPct val="0"/>
              </a:spcBef>
              <a:spcAft>
                <a:spcPct val="40000"/>
              </a:spcAft>
              <a:buFont typeface="Wingdings" pitchFamily="2" charset="2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168525" indent="-265113" algn="l" rtl="0" fontAlgn="base">
              <a:spcBef>
                <a:spcPct val="0"/>
              </a:spcBef>
              <a:spcAft>
                <a:spcPct val="40000"/>
              </a:spcAft>
              <a:buFont typeface="Wingdings" pitchFamily="2" charset="2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625725" indent="-265113" algn="l" rtl="0" fontAlgn="base">
              <a:spcBef>
                <a:spcPct val="0"/>
              </a:spcBef>
              <a:spcAft>
                <a:spcPct val="40000"/>
              </a:spcAft>
              <a:buFont typeface="Wingdings" pitchFamily="2" charset="2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082925" indent="-265113" algn="l" rtl="0" fontAlgn="base">
              <a:spcBef>
                <a:spcPct val="0"/>
              </a:spcBef>
              <a:spcAft>
                <a:spcPct val="40000"/>
              </a:spcAft>
              <a:buFont typeface="Wingdings" pitchFamily="2" charset="2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80975" marR="0" lvl="0" indent="-1809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输入文件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180975" marR="0" lvl="0" indent="-1809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　　输入文件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fruit.in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包括两行，第一行是一个整数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 &lt;= n &lt;= 30000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），表示果子的种类数。第二行包含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个整数，用空格分隔，第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个整数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 &lt;= a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&lt;= 20000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）是第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种果子的数目。</a:t>
            </a:r>
          </a:p>
          <a:p>
            <a:pPr marL="180975" marR="0" lvl="0" indent="-1809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输出文件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180975" marR="0" lvl="0" indent="-180975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　　输出文件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fruit.out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包括一行，这一行只包含一个整数，也就是最小的体力耗费值。输入数据保证这个值小于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231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B9CF459-7D86-4884-81E7-BCCBB0335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498" y="4114777"/>
            <a:ext cx="2148643" cy="253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样例一输入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1 2 9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样例一输入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3 5 1 7 6 4 2 5 4 1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29B86E-9FDE-44CD-9671-F33D8CFE0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657" y="4114777"/>
            <a:ext cx="1797585" cy="17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样例一输出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样例一输出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9590EE05-EE11-4B68-BF12-43CBAABD9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351" y="4155493"/>
            <a:ext cx="4248577" cy="1707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数据规模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的数据，保证有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&lt;= 1000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的数据，保证有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&lt;= 5000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对于全部的数据，保证有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&lt;= 30000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798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8EDCC8-C019-4655-985D-39B7B3DF8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28" y="590365"/>
            <a:ext cx="5911255" cy="62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3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9EAE8-781C-495E-AD78-1106DBEE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  <a:r>
              <a:rPr lang="en-US" altLang="zh-CN" dirty="0"/>
              <a:t>(heapsort)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88339D-3577-4EC9-8A34-12DE1BEB60BB}"/>
              </a:ext>
            </a:extLst>
          </p:cNvPr>
          <p:cNvSpPr/>
          <p:nvPr/>
        </p:nvSpPr>
        <p:spPr>
          <a:xfrm>
            <a:off x="1104900" y="1449215"/>
            <a:ext cx="9317484" cy="3331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问题描述</a:t>
            </a:r>
            <a:r>
              <a:rPr lang="en-US" altLang="zh-CN" dirty="0"/>
              <a:t>】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假设</a:t>
            </a:r>
            <a:r>
              <a:rPr lang="en-US" altLang="zh-CN" dirty="0"/>
              <a:t>n</a:t>
            </a:r>
            <a:r>
              <a:rPr lang="zh-CN" altLang="en-US" dirty="0"/>
              <a:t>个数存放在</a:t>
            </a:r>
            <a:r>
              <a:rPr lang="en-US" altLang="zh-CN" dirty="0"/>
              <a:t>A[1..n]</a:t>
            </a:r>
            <a:r>
              <a:rPr lang="zh-CN" altLang="en-US" dirty="0"/>
              <a:t>中，我们可以利用堆将它们从小到大进行排序，这种排序方法，称为“堆排序”。输入两行，第</a:t>
            </a:r>
            <a:r>
              <a:rPr lang="en-US" altLang="zh-CN" dirty="0"/>
              <a:t>1</a:t>
            </a:r>
            <a:r>
              <a:rPr lang="zh-CN" altLang="en-US" dirty="0"/>
              <a:t>行为</a:t>
            </a:r>
            <a:r>
              <a:rPr lang="en-US" altLang="zh-CN" dirty="0"/>
              <a:t>n</a:t>
            </a:r>
            <a:r>
              <a:rPr lang="zh-CN" altLang="en-US" dirty="0"/>
              <a:t>，第</a:t>
            </a:r>
            <a:r>
              <a:rPr lang="en-US" altLang="zh-CN" dirty="0"/>
              <a:t>2</a:t>
            </a:r>
            <a:r>
              <a:rPr lang="zh-CN" altLang="en-US" dirty="0"/>
              <a:t>行为</a:t>
            </a:r>
            <a:r>
              <a:rPr lang="en-US" altLang="zh-CN" dirty="0"/>
              <a:t>n</a:t>
            </a:r>
            <a:r>
              <a:rPr lang="zh-CN" altLang="en-US" dirty="0"/>
              <a:t>个整数，每个数之间用</a:t>
            </a:r>
            <a:r>
              <a:rPr lang="en-US" altLang="zh-CN" dirty="0"/>
              <a:t>1</a:t>
            </a:r>
            <a:r>
              <a:rPr lang="zh-CN" altLang="en-US" dirty="0"/>
              <a:t>个空格隔开。输出</a:t>
            </a:r>
            <a:r>
              <a:rPr lang="en-US" altLang="zh-CN" dirty="0"/>
              <a:t>1</a:t>
            </a:r>
            <a:r>
              <a:rPr lang="zh-CN" altLang="en-US" dirty="0"/>
              <a:t>行，为从小到大排好序的</a:t>
            </a:r>
            <a:r>
              <a:rPr lang="en-US" altLang="zh-CN" dirty="0"/>
              <a:t>n</a:t>
            </a:r>
            <a:r>
              <a:rPr lang="zh-CN" altLang="en-US" dirty="0"/>
              <a:t>个数，每个数之间也用</a:t>
            </a:r>
            <a:r>
              <a:rPr lang="en-US" altLang="zh-CN" dirty="0"/>
              <a:t>1</a:t>
            </a:r>
            <a:r>
              <a:rPr lang="zh-CN" altLang="en-US" dirty="0"/>
              <a:t>个空格隔开。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问题分析</a:t>
            </a:r>
            <a:r>
              <a:rPr lang="en-US" altLang="zh-CN" dirty="0"/>
              <a:t>】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一种思路是完全按照上一个例题的方法去做。</a:t>
            </a:r>
          </a:p>
        </p:txBody>
      </p:sp>
    </p:spTree>
    <p:extLst>
      <p:ext uri="{BB962C8B-B14F-4D97-AF65-F5344CB8AC3E}">
        <p14:creationId xmlns:p14="http://schemas.microsoft.com/office/powerpoint/2010/main" val="386948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0EFB5-3B9F-4523-A0F9-5CF544A1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B7EF19-D805-4F20-8C2D-72F6BF2C3CF2}"/>
              </a:ext>
            </a:extLst>
          </p:cNvPr>
          <p:cNvSpPr/>
          <p:nvPr/>
        </p:nvSpPr>
        <p:spPr>
          <a:xfrm>
            <a:off x="1175921" y="1368017"/>
            <a:ext cx="510355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&lt;bits/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priority_queue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&lt;int&gt; q;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10; ++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rand() 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 !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q.empty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){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q.top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q.pop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332BC0-7163-41AF-87CF-DCD5489A9A86}"/>
              </a:ext>
            </a:extLst>
          </p:cNvPr>
          <p:cNvSpPr/>
          <p:nvPr/>
        </p:nvSpPr>
        <p:spPr>
          <a:xfrm>
            <a:off x="1175921" y="5372669"/>
            <a:ext cx="5455698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堆排序的时间复杂度为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nlog2n)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不稳定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的排序方法。</a:t>
            </a:r>
          </a:p>
        </p:txBody>
      </p:sp>
    </p:spTree>
    <p:extLst>
      <p:ext uri="{BB962C8B-B14F-4D97-AF65-F5344CB8AC3E}">
        <p14:creationId xmlns:p14="http://schemas.microsoft.com/office/powerpoint/2010/main" val="238094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A2843-6EAE-41FB-983A-58F413E3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鱼塘钓鱼（</a:t>
            </a:r>
            <a:r>
              <a:rPr lang="en-US" altLang="zh-CN" dirty="0"/>
              <a:t>fishing</a:t>
            </a:r>
            <a:r>
              <a:rPr lang="zh-CN" altLang="en-US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54828B-85F0-4187-927C-EB1C8CAE9B49}"/>
              </a:ext>
            </a:extLst>
          </p:cNvPr>
          <p:cNvSpPr/>
          <p:nvPr/>
        </p:nvSpPr>
        <p:spPr>
          <a:xfrm>
            <a:off x="1025001" y="1488689"/>
            <a:ext cx="92375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问题描述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个鱼塘排成一排（</a:t>
            </a:r>
            <a:r>
              <a:rPr lang="en-US" altLang="zh-CN" dirty="0"/>
              <a:t>N&lt;100</a:t>
            </a:r>
            <a:r>
              <a:rPr lang="zh-CN" altLang="en-US" dirty="0"/>
              <a:t>），每个鱼塘中有一定数量的鱼，例如：</a:t>
            </a:r>
            <a:r>
              <a:rPr lang="en-US" altLang="zh-CN" dirty="0"/>
              <a:t>N=5</a:t>
            </a:r>
            <a:r>
              <a:rPr lang="zh-CN" altLang="en-US" dirty="0"/>
              <a:t>时，如下表：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CA069AE-19B5-4313-9840-BA8DF90EB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8653317"/>
              </p:ext>
            </p:extLst>
          </p:nvPr>
        </p:nvGraphicFramePr>
        <p:xfrm>
          <a:off x="1189870" y="2480048"/>
          <a:ext cx="8510587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58157" imgH="1086077" progId="Paint.Picture">
                  <p:embed/>
                </p:oleObj>
              </mc:Choice>
              <mc:Fallback>
                <p:oleObj r:id="rId2" imgW="6658157" imgH="1086077" progId="Paint.Picture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4D96001C-7798-4023-8136-EACBF8F2E0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870" y="2480048"/>
                        <a:ext cx="8510587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D7137B9-73F1-4242-B9A6-F5BC93F0FDC2}"/>
              </a:ext>
            </a:extLst>
          </p:cNvPr>
          <p:cNvSpPr/>
          <p:nvPr/>
        </p:nvSpPr>
        <p:spPr>
          <a:xfrm>
            <a:off x="1278647" y="4081010"/>
            <a:ext cx="9072716" cy="128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即：在第</a:t>
            </a:r>
            <a:r>
              <a:rPr lang="en-US" altLang="zh-CN" dirty="0"/>
              <a:t>1</a:t>
            </a:r>
            <a:r>
              <a:rPr lang="zh-CN" altLang="en-US" dirty="0"/>
              <a:t>个鱼塘中钓鱼第</a:t>
            </a:r>
            <a:r>
              <a:rPr lang="en-US" altLang="zh-CN" dirty="0"/>
              <a:t>1</a:t>
            </a:r>
            <a:r>
              <a:rPr lang="zh-CN" altLang="en-US" dirty="0"/>
              <a:t>分钟内可钓到</a:t>
            </a:r>
            <a:r>
              <a:rPr lang="en-US" altLang="zh-CN" dirty="0"/>
              <a:t>10</a:t>
            </a:r>
            <a:r>
              <a:rPr lang="zh-CN" altLang="en-US" dirty="0"/>
              <a:t>条鱼，第</a:t>
            </a:r>
            <a:r>
              <a:rPr lang="en-US" altLang="zh-CN" dirty="0"/>
              <a:t>2</a:t>
            </a:r>
            <a:r>
              <a:rPr lang="zh-CN" altLang="en-US" dirty="0"/>
              <a:t>分钟内只能钓到</a:t>
            </a:r>
            <a:r>
              <a:rPr lang="en-US" altLang="zh-CN" dirty="0"/>
              <a:t>8</a:t>
            </a:r>
            <a:r>
              <a:rPr lang="zh-CN" altLang="en-US" dirty="0"/>
              <a:t>条鱼，</a:t>
            </a:r>
            <a:r>
              <a:rPr lang="en-US" altLang="zh-CN" dirty="0"/>
              <a:t>……</a:t>
            </a:r>
            <a:r>
              <a:rPr lang="zh-CN" altLang="en-US" dirty="0"/>
              <a:t>，第</a:t>
            </a:r>
            <a:r>
              <a:rPr lang="en-US" altLang="zh-CN" dirty="0"/>
              <a:t>5</a:t>
            </a:r>
            <a:r>
              <a:rPr lang="zh-CN" altLang="en-US" dirty="0"/>
              <a:t>分钟以后再也钓不到鱼了。从第</a:t>
            </a:r>
            <a:r>
              <a:rPr lang="en-US" altLang="zh-CN" dirty="0"/>
              <a:t>1</a:t>
            </a:r>
            <a:r>
              <a:rPr lang="zh-CN" altLang="en-US" dirty="0"/>
              <a:t>个鱼塘到第</a:t>
            </a:r>
            <a:r>
              <a:rPr lang="en-US" altLang="zh-CN" dirty="0"/>
              <a:t>2</a:t>
            </a:r>
            <a:r>
              <a:rPr lang="zh-CN" altLang="en-US" dirty="0"/>
              <a:t>个鱼塘需要</a:t>
            </a:r>
            <a:r>
              <a:rPr lang="en-US" altLang="zh-CN" dirty="0"/>
              <a:t>3</a:t>
            </a:r>
            <a:r>
              <a:rPr lang="zh-CN" altLang="en-US" dirty="0"/>
              <a:t>分钟，从第</a:t>
            </a:r>
            <a:r>
              <a:rPr lang="en-US" altLang="zh-CN" dirty="0"/>
              <a:t>2</a:t>
            </a:r>
            <a:r>
              <a:rPr lang="zh-CN" altLang="en-US" dirty="0"/>
              <a:t>个鱼塘到第</a:t>
            </a:r>
            <a:r>
              <a:rPr lang="en-US" altLang="zh-CN" dirty="0"/>
              <a:t>3</a:t>
            </a:r>
            <a:r>
              <a:rPr lang="zh-CN" altLang="en-US" dirty="0"/>
              <a:t>个鱼塘需要</a:t>
            </a:r>
            <a:r>
              <a:rPr lang="en-US" altLang="zh-CN" dirty="0"/>
              <a:t>5</a:t>
            </a:r>
            <a:r>
              <a:rPr lang="zh-CN" altLang="en-US" dirty="0"/>
              <a:t>分钟，</a:t>
            </a:r>
            <a:r>
              <a:rPr lang="en-US" altLang="zh-CN" dirty="0"/>
              <a:t>……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25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B776F-1B85-410D-A657-607C5D35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41FC81-6F48-4FE5-8472-708FBB0D1D05}"/>
              </a:ext>
            </a:extLst>
          </p:cNvPr>
          <p:cNvSpPr/>
          <p:nvPr/>
        </p:nvSpPr>
        <p:spPr>
          <a:xfrm>
            <a:off x="1014254" y="1498860"/>
            <a:ext cx="10161973" cy="502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编程任务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给出一个截止时间</a:t>
            </a:r>
            <a:r>
              <a:rPr lang="en-US" altLang="zh-CN" dirty="0"/>
              <a:t>T(T&lt;1000)</a:t>
            </a:r>
            <a:r>
              <a:rPr lang="zh-CN" altLang="en-US" dirty="0"/>
              <a:t>，设计一个钓鱼方案，从</a:t>
            </a:r>
            <a:r>
              <a:rPr lang="zh-CN" altLang="en-US" b="1" dirty="0">
                <a:solidFill>
                  <a:schemeClr val="accent2"/>
                </a:solidFill>
              </a:rPr>
              <a:t>第</a:t>
            </a:r>
            <a:r>
              <a:rPr lang="en-US" altLang="zh-CN" b="1" dirty="0">
                <a:solidFill>
                  <a:schemeClr val="accent2"/>
                </a:solidFill>
              </a:rPr>
              <a:t>1</a:t>
            </a:r>
            <a:r>
              <a:rPr lang="zh-CN" altLang="en-US" b="1" dirty="0">
                <a:solidFill>
                  <a:schemeClr val="accent2"/>
                </a:solidFill>
              </a:rPr>
              <a:t>个鱼塘</a:t>
            </a:r>
            <a:r>
              <a:rPr lang="zh-CN" altLang="en-US" dirty="0"/>
              <a:t>出发，希望能钓到最多的鱼。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假设能钓到鱼的数量仅和已钓鱼的次数有关，且每次钓鱼的时间都是整数分钟。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输入格式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输入文件共</a:t>
            </a:r>
            <a:r>
              <a:rPr lang="en-US" altLang="zh-CN" dirty="0"/>
              <a:t>5</a:t>
            </a:r>
            <a:r>
              <a:rPr lang="zh-CN" altLang="en-US" dirty="0"/>
              <a:t>行，分别表示：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第</a:t>
            </a:r>
            <a:r>
              <a:rPr lang="en-US" altLang="zh-CN" dirty="0"/>
              <a:t>1</a:t>
            </a:r>
            <a:r>
              <a:rPr lang="zh-CN" altLang="en-US" dirty="0"/>
              <a:t>行为</a:t>
            </a:r>
            <a:r>
              <a:rPr lang="en-US" altLang="zh-CN" dirty="0"/>
              <a:t>N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第</a:t>
            </a:r>
            <a:r>
              <a:rPr lang="en-US" altLang="zh-CN" dirty="0"/>
              <a:t>2</a:t>
            </a:r>
            <a:r>
              <a:rPr lang="zh-CN" altLang="en-US" dirty="0"/>
              <a:t>行为第</a:t>
            </a:r>
            <a:r>
              <a:rPr lang="en-US" altLang="zh-CN" dirty="0"/>
              <a:t>1</a:t>
            </a:r>
            <a:r>
              <a:rPr lang="zh-CN" altLang="en-US" dirty="0"/>
              <a:t>分钟各个鱼塘能钓到的鱼的数量，每个数据之间用一空格隔开；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第</a:t>
            </a:r>
            <a:r>
              <a:rPr lang="en-US" altLang="zh-CN" dirty="0"/>
              <a:t>3</a:t>
            </a:r>
            <a:r>
              <a:rPr lang="zh-CN" altLang="en-US" dirty="0"/>
              <a:t>行为每过</a:t>
            </a:r>
            <a:r>
              <a:rPr lang="en-US" altLang="zh-CN" dirty="0"/>
              <a:t>1</a:t>
            </a:r>
            <a:r>
              <a:rPr lang="zh-CN" altLang="en-US" dirty="0"/>
              <a:t>分钟各个鱼塘钓鱼数的减少量，每个数据之间用一空格隔开；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第</a:t>
            </a:r>
            <a:r>
              <a:rPr lang="en-US" altLang="zh-CN" dirty="0"/>
              <a:t>4</a:t>
            </a:r>
            <a:r>
              <a:rPr lang="zh-CN" altLang="en-US" dirty="0"/>
              <a:t>行为当前鱼塘到下一个相邻鱼塘需要的时间；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第</a:t>
            </a:r>
            <a:r>
              <a:rPr lang="en-US" altLang="zh-CN" dirty="0"/>
              <a:t>5</a:t>
            </a:r>
            <a:r>
              <a:rPr lang="zh-CN" altLang="en-US" dirty="0"/>
              <a:t>行为截止时间</a:t>
            </a:r>
            <a:r>
              <a:rPr lang="en-US" altLang="zh-CN" dirty="0"/>
              <a:t>T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【</a:t>
            </a:r>
            <a:r>
              <a:rPr lang="zh-CN" altLang="en-US" dirty="0"/>
              <a:t>输出格式</a:t>
            </a:r>
            <a:r>
              <a:rPr lang="en-US" altLang="zh-CN" dirty="0"/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输出文件仅一个整数（不超过</a:t>
            </a:r>
            <a:r>
              <a:rPr lang="en-US" altLang="zh-CN"/>
              <a:t>2^31-1</a:t>
            </a:r>
            <a:r>
              <a:rPr lang="zh-CN" altLang="en-US" dirty="0"/>
              <a:t>），表示你的方案能钓到的最多的鱼。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42CBDE-7ABC-4565-81B1-F01916838251}"/>
              </a:ext>
            </a:extLst>
          </p:cNvPr>
          <p:cNvSpPr/>
          <p:nvPr/>
        </p:nvSpPr>
        <p:spPr>
          <a:xfrm>
            <a:off x="9928193" y="2551837"/>
            <a:ext cx="17599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输入样例</a:t>
            </a:r>
            <a:r>
              <a:rPr lang="en-US" altLang="zh-CN" dirty="0"/>
              <a:t>】</a:t>
            </a:r>
          </a:p>
          <a:p>
            <a:r>
              <a:rPr lang="en-US" altLang="zh-CN" dirty="0"/>
              <a:t>5</a:t>
            </a:r>
          </a:p>
          <a:p>
            <a:r>
              <a:rPr lang="en-US" altLang="zh-CN" dirty="0"/>
              <a:t>10 14 20 16 9</a:t>
            </a:r>
          </a:p>
          <a:p>
            <a:r>
              <a:rPr lang="en-US" altLang="zh-CN" dirty="0"/>
              <a:t>2 4 6 5 3</a:t>
            </a:r>
          </a:p>
          <a:p>
            <a:r>
              <a:rPr lang="en-US" altLang="zh-CN" dirty="0"/>
              <a:t>3 5 4 4</a:t>
            </a:r>
          </a:p>
          <a:p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6F818D-0E63-4A91-925E-C50A9A54076F}"/>
              </a:ext>
            </a:extLst>
          </p:cNvPr>
          <p:cNvSpPr/>
          <p:nvPr/>
        </p:nvSpPr>
        <p:spPr>
          <a:xfrm>
            <a:off x="9928193" y="4561773"/>
            <a:ext cx="17599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输出样例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　</a:t>
            </a:r>
            <a:r>
              <a:rPr lang="en-US" altLang="zh-CN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96830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学术演示文稿、细条纹和丝带设计（宽屏）</Template>
  <TotalTime>0</TotalTime>
  <Words>2349</Words>
  <Application>Microsoft Office PowerPoint</Application>
  <PresentationFormat>宽屏</PresentationFormat>
  <Paragraphs>193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宋体</vt:lpstr>
      <vt:lpstr>微软雅黑</vt:lpstr>
      <vt:lpstr>Arial</vt:lpstr>
      <vt:lpstr>Euphemia</vt:lpstr>
      <vt:lpstr>Times New Roman</vt:lpstr>
      <vt:lpstr>Wingdings</vt:lpstr>
      <vt:lpstr>学术文献 16x9</vt:lpstr>
      <vt:lpstr>1_学术文献 16x9</vt:lpstr>
      <vt:lpstr>2_学术文献 16x9</vt:lpstr>
      <vt:lpstr>Bitmap Image</vt:lpstr>
      <vt:lpstr>数据结构——堆</vt:lpstr>
      <vt:lpstr>预备知识</vt:lpstr>
      <vt:lpstr>基本概念</vt:lpstr>
      <vt:lpstr>基本概念</vt:lpstr>
      <vt:lpstr>堆的性质</vt:lpstr>
      <vt:lpstr>堆的性质</vt:lpstr>
      <vt:lpstr>堆的操作</vt:lpstr>
      <vt:lpstr>插入节点</vt:lpstr>
      <vt:lpstr>插入节点</vt:lpstr>
      <vt:lpstr>插入节点</vt:lpstr>
      <vt:lpstr>插入节点</vt:lpstr>
      <vt:lpstr>插入节点</vt:lpstr>
      <vt:lpstr>删除节点</vt:lpstr>
      <vt:lpstr>删除节点</vt:lpstr>
      <vt:lpstr>删除节点</vt:lpstr>
      <vt:lpstr>删除节点</vt:lpstr>
      <vt:lpstr>删除节点</vt:lpstr>
      <vt:lpstr>删除节点</vt:lpstr>
      <vt:lpstr>Stl实现</vt:lpstr>
      <vt:lpstr>优先队列</vt:lpstr>
      <vt:lpstr>优先队列</vt:lpstr>
      <vt:lpstr>优先队列</vt:lpstr>
      <vt:lpstr>优先队列</vt:lpstr>
      <vt:lpstr>优先队列</vt:lpstr>
      <vt:lpstr>优先队列</vt:lpstr>
      <vt:lpstr>优先队列</vt:lpstr>
      <vt:lpstr>优先队列</vt:lpstr>
      <vt:lpstr>例题讲解</vt:lpstr>
      <vt:lpstr>合并果子(fruit) </vt:lpstr>
      <vt:lpstr>PowerPoint 演示文稿</vt:lpstr>
      <vt:lpstr>PowerPoint 演示文稿</vt:lpstr>
      <vt:lpstr>堆排序(heapsort)</vt:lpstr>
      <vt:lpstr>PowerPoint 演示文稿</vt:lpstr>
      <vt:lpstr>鱼塘钓鱼（fishing）</vt:lpstr>
      <vt:lpstr>PowerPoint 演示文稿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2017-11-04T04:56:00Z</dcterms:created>
  <dcterms:modified xsi:type="dcterms:W3CDTF">2021-07-14T15:19:24Z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