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Default Extension="wdp" ContentType="image/vnd.ms-photo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7"/>
  </p:notesMasterIdLst>
  <p:sldIdLst>
    <p:sldId id="256" r:id="rId3"/>
    <p:sldId id="512" r:id="rId4"/>
    <p:sldId id="514" r:id="rId5"/>
    <p:sldId id="557" r:id="rId6"/>
    <p:sldId id="580" r:id="rId7"/>
    <p:sldId id="581" r:id="rId8"/>
    <p:sldId id="582" r:id="rId9"/>
    <p:sldId id="583" r:id="rId10"/>
    <p:sldId id="595" r:id="rId11"/>
    <p:sldId id="584" r:id="rId12"/>
    <p:sldId id="585" r:id="rId13"/>
    <p:sldId id="586" r:id="rId14"/>
    <p:sldId id="588" r:id="rId15"/>
    <p:sldId id="587" r:id="rId16"/>
    <p:sldId id="589" r:id="rId17"/>
    <p:sldId id="590" r:id="rId18"/>
    <p:sldId id="591" r:id="rId19"/>
    <p:sldId id="592" r:id="rId20"/>
    <p:sldId id="593" r:id="rId21"/>
    <p:sldId id="594" r:id="rId22"/>
    <p:sldId id="596" r:id="rId23"/>
    <p:sldId id="597" r:id="rId24"/>
    <p:sldId id="598" r:id="rId25"/>
    <p:sldId id="502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-636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A98EF2-8ADA-4DC8-84B1-F9028848E936}" type="datetimeFigureOut">
              <a:rPr lang="zh-CN" altLang="en-US" smtClean="0"/>
              <a:pPr/>
              <a:t>2022/5/27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502B4-4386-445F-A35B-E5954B4B986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3C37BE-C303-496D-B5CD-85F2937540F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93D2-6784-4978-8317-1846216C1F5D}" type="datetimeFigureOut">
              <a:rPr lang="zh-CN" altLang="en-US" smtClean="0"/>
              <a:pPr/>
              <a:t>2022/5/27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B50E-E917-4E35-BDD4-37070EB1E4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93D2-6784-4978-8317-1846216C1F5D}" type="datetimeFigureOut">
              <a:rPr lang="zh-CN" altLang="en-US" smtClean="0"/>
              <a:pPr/>
              <a:t>2022/5/27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B50E-E917-4E35-BDD4-37070EB1E4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93D2-6784-4978-8317-1846216C1F5D}" type="datetimeFigureOut">
              <a:rPr lang="zh-CN" altLang="en-US" smtClean="0"/>
              <a:pPr/>
              <a:t>2022/5/27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B50E-E917-4E35-BDD4-37070EB1E4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93D2-6784-4978-8317-1846216C1F5D}" type="datetimeFigureOut">
              <a:rPr lang="zh-CN" altLang="en-US" smtClean="0"/>
              <a:pPr/>
              <a:t>2022/5/27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B50E-E917-4E35-BDD4-37070EB1E4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93D2-6784-4978-8317-1846216C1F5D}" type="datetimeFigureOut">
              <a:rPr lang="zh-CN" altLang="en-US" smtClean="0"/>
              <a:pPr/>
              <a:t>2022/5/27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B50E-E917-4E35-BDD4-37070EB1E4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93D2-6784-4978-8317-1846216C1F5D}" type="datetimeFigureOut">
              <a:rPr lang="zh-CN" altLang="en-US" smtClean="0"/>
              <a:pPr/>
              <a:t>2022/5/27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B50E-E917-4E35-BDD4-37070EB1E4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93D2-6784-4978-8317-1846216C1F5D}" type="datetimeFigureOut">
              <a:rPr lang="zh-CN" altLang="en-US" smtClean="0"/>
              <a:pPr/>
              <a:t>2022/5/27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B50E-E917-4E35-BDD4-37070EB1E4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93D2-6784-4978-8317-1846216C1F5D}" type="datetimeFigureOut">
              <a:rPr lang="zh-CN" altLang="en-US" smtClean="0"/>
              <a:pPr/>
              <a:t>2022/5/27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B50E-E917-4E35-BDD4-37070EB1E4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93D2-6784-4978-8317-1846216C1F5D}" type="datetimeFigureOut">
              <a:rPr lang="zh-CN" altLang="en-US" smtClean="0"/>
              <a:pPr/>
              <a:t>2022/5/27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B50E-E917-4E35-BDD4-37070EB1E4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93D2-6784-4978-8317-1846216C1F5D}" type="datetimeFigureOut">
              <a:rPr lang="zh-CN" altLang="en-US" smtClean="0"/>
              <a:pPr/>
              <a:t>2022/5/27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B50E-E917-4E35-BDD4-37070EB1E4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193D2-6784-4978-8317-1846216C1F5D}" type="datetimeFigureOut">
              <a:rPr lang="zh-CN" altLang="en-US" smtClean="0"/>
              <a:pPr/>
              <a:t>2022/5/27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B50E-E917-4E35-BDD4-37070EB1E4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2022/5/27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2022/5/27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2022/5/27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pPr/>
              <a:t>2022/5/27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2022/5/27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2022/5/27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2022/5/27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2022/5/27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2022/5/27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2022/5/27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2022/5/27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193D2-6784-4978-8317-1846216C1F5D}" type="datetimeFigureOut">
              <a:rPr lang="zh-CN" altLang="en-US" smtClean="0"/>
              <a:pPr/>
              <a:t>2022/5/27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0B50E-E917-4E35-BDD4-37070EB1E45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pPr/>
              <a:t>2022/5/27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2.v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3.v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470581" y="2190028"/>
            <a:ext cx="5373279" cy="1954514"/>
          </a:xfrm>
        </p:spPr>
        <p:txBody>
          <a:bodyPr rtlCol="0" anchor="ctr"/>
          <a:lstStyle/>
          <a:p>
            <a:pPr rtl="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Kmp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：字符串匹配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475072" y="399999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8895" r="8895"/>
          <a:stretch>
            <a:fillRect/>
          </a:stretch>
        </p:blipFill>
        <p:spPr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01841" y="1680839"/>
            <a:ext cx="7287519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719455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71945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6D7D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算法的基本原理和应用。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13814" y="61074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学习目标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942806" y="1356957"/>
            <a:ext cx="10096669" cy="19743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字符串匹配，是这样一种问题：“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字符串 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 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是否为字符串 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 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的子串？如果是，它出现在 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 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的哪些位置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？” 其中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称为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主串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称为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模式串</a:t>
            </a: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42806" y="2718183"/>
            <a:ext cx="7477125" cy="315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91385260-3CC8-991D-CE80-F4CF67755950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1011315" y="1226890"/>
            <a:ext cx="9601115" cy="615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暴力做法：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NM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11315" y="3318797"/>
            <a:ext cx="8167812" cy="3036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1088994" y="1823162"/>
            <a:ext cx="10096669" cy="123059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枚举主串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的每个位置</a:t>
            </a:r>
            <a:r>
              <a:rPr lang="en-US" altLang="zh-CN" b="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，把模式串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与主串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的第</a:t>
            </a:r>
            <a:r>
              <a:rPr lang="en-US" altLang="zh-CN" b="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位对准，向后扫描依次比较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p[1]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s[</a:t>
            </a:r>
            <a:r>
              <a:rPr lang="en-US" altLang="zh-CN" b="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], p[2]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s[i+1]……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是否相等，全部相等则匹配成功。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506CE444-66DE-17B6-DFAF-C2E40722C6DB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1088994" y="1192996"/>
            <a:ext cx="9601115" cy="615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优化</a:t>
            </a: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1088994" y="1578966"/>
            <a:ext cx="10096669" cy="111678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我们很难降低字符串比较的复杂度（因为比较两个字符串，只能逐个比较字符）。因此，我们考虑</a:t>
            </a:r>
            <a:r>
              <a:rPr kumimoji="1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降低比较的趟数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。如果比较的趟数能降到足够低，那么总的复杂度也将会下降很多。　　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88994" y="2695747"/>
            <a:ext cx="7106450" cy="4111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287369BB-C646-0722-C0DB-1E9D0AD7CE4B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1088994" y="1192996"/>
            <a:ext cx="9601115" cy="615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优化</a:t>
            </a: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1088994" y="1578966"/>
            <a:ext cx="10096669" cy="22247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暴力求解中，如果从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S[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开始的那一趟比较失败了，算法会直接开始尝试从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S[i+1]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开始比较，属于典型的“没有从之前的错误中学到东西”。应当注意，一次失败的匹配，会给我们提供宝贵的信息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1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 </a:t>
            </a:r>
            <a:r>
              <a:rPr kumimoji="1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S[</a:t>
            </a:r>
            <a:r>
              <a:rPr kumimoji="1" lang="en-US" altLang="zh-CN" sz="180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1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: </a:t>
            </a:r>
            <a:r>
              <a:rPr kumimoji="1" lang="en-US" altLang="zh-CN" sz="180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i+len</a:t>
            </a:r>
            <a:r>
              <a:rPr kumimoji="1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(P)] </a:t>
            </a:r>
            <a:r>
              <a:rPr kumimoji="1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 </a:t>
            </a:r>
            <a:r>
              <a:rPr kumimoji="1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 </a:t>
            </a:r>
            <a:r>
              <a:rPr kumimoji="1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的匹配是在第 </a:t>
            </a:r>
            <a:r>
              <a:rPr kumimoji="1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 </a:t>
            </a:r>
            <a:r>
              <a:rPr kumimoji="1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个位置失败的，那么从 </a:t>
            </a:r>
            <a:r>
              <a:rPr kumimoji="1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S[</a:t>
            </a:r>
            <a:r>
              <a:rPr kumimoji="1" lang="en-US" altLang="zh-CN" sz="180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1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 </a:t>
            </a:r>
            <a:r>
              <a:rPr kumimoji="1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开始的 </a:t>
            </a:r>
            <a:r>
              <a:rPr kumimoji="1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(r-1) </a:t>
            </a:r>
            <a:r>
              <a:rPr kumimoji="1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个连续字符，一定与 </a:t>
            </a:r>
            <a:r>
              <a:rPr kumimoji="1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 </a:t>
            </a:r>
            <a:r>
              <a:rPr kumimoji="1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的前 </a:t>
            </a:r>
            <a:r>
              <a:rPr kumimoji="1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(r-1) </a:t>
            </a:r>
            <a:r>
              <a:rPr kumimoji="1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个字符一模一样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！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88994" y="4048017"/>
            <a:ext cx="8056418" cy="246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DCDA2AF4-EEDB-2D5E-29A7-F9FD41A583E8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1088994" y="1192996"/>
            <a:ext cx="9601115" cy="615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跳过不可能成功的字符串比较</a:t>
            </a: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1088994" y="1695001"/>
            <a:ext cx="10096669" cy="167077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有些趟字符串比较是有可能会成功的；有些则毫无可能。我们刚刚提到过，优化</a:t>
            </a:r>
            <a:r>
              <a:rPr lang="zh-CN" altLang="en-US" sz="1800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暴力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的路线是“尽量减少比较的趟数”，而如果我们跳过那些绝不可能成功的字符串比较，则可以希望复杂度降低到能接受的范围。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36518" y="4983666"/>
            <a:ext cx="6693157" cy="1271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1088994" y="3429000"/>
            <a:ext cx="6094268" cy="11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模式串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= "</a:t>
            </a:r>
            <a:r>
              <a:rPr kumimoji="1"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abcabd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和主串从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S[0]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开始匹配时，在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P[5]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处失配。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8E7FC915-0E4D-0C5B-6F49-85B2280E63E4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705001" y="1135199"/>
            <a:ext cx="10096669" cy="290701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首先，利用上一节的结论。既然是在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P[5]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失配的，那么说明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S[0:4]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等于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P[0:4]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，即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"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abcab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".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现在我们来考虑：从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S[1]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S[2]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S[3]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开始的匹配尝试，有没有可能成功？　　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S[1]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开始肯定没办法成功，因为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S[1] = P[1] = 'b'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，和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P[0]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并不相等。从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S[2]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开始也是没戏的，因为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S[2] = P[2] = 'c'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，并不等于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P[0].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但是从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S[3]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开始是有可能成功的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至少按照已知的信息，我们推不出矛盾。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88994" y="4238310"/>
            <a:ext cx="6528955" cy="246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3E22535F-2964-8B73-8CE5-615B5903F7B5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3E22535F-2964-8B73-8CE5-615B5903F7B5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C614F5E6-A38C-98E8-C244-051912A1A48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13815" y="3808340"/>
            <a:ext cx="5129532" cy="243891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A0AF73AF-290C-7225-0294-B1A8A26BBC5D}"/>
              </a:ext>
            </a:extLst>
          </p:cNvPr>
          <p:cNvSpPr txBox="1"/>
          <p:nvPr/>
        </p:nvSpPr>
        <p:spPr>
          <a:xfrm>
            <a:off x="6444260" y="3582739"/>
            <a:ext cx="4733925" cy="2777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P="</a:t>
            </a:r>
            <a:r>
              <a:rPr lang="en-US" altLang="zh-CN" dirty="0" err="1"/>
              <a:t>abcabd</a:t>
            </a:r>
            <a:r>
              <a:rPr lang="en-US" altLang="zh-CN" dirty="0"/>
              <a:t>"</a:t>
            </a:r>
            <a:r>
              <a:rPr lang="zh-CN" altLang="en-US" dirty="0"/>
              <a:t>时，</a:t>
            </a:r>
            <a:r>
              <a:rPr lang="en-US" altLang="zh-CN" dirty="0"/>
              <a:t>next[4]=2</a:t>
            </a:r>
            <a:r>
              <a:rPr lang="zh-CN" altLang="en-US" dirty="0"/>
              <a:t>，这是因为</a:t>
            </a:r>
            <a:r>
              <a:rPr lang="en-US" altLang="zh-CN" dirty="0"/>
              <a:t>P[0] ~ P[4] </a:t>
            </a:r>
            <a:r>
              <a:rPr lang="zh-CN" altLang="en-US" dirty="0"/>
              <a:t>这个子串是</a:t>
            </a:r>
            <a:r>
              <a:rPr lang="en-US" altLang="zh-CN" dirty="0"/>
              <a:t>"</a:t>
            </a:r>
            <a:r>
              <a:rPr lang="en-US" altLang="zh-CN" dirty="0" err="1"/>
              <a:t>abcab</a:t>
            </a:r>
            <a:r>
              <a:rPr lang="en-US" altLang="zh-CN" dirty="0"/>
              <a:t>"</a:t>
            </a:r>
            <a:r>
              <a:rPr lang="zh-CN" altLang="en-US" dirty="0"/>
              <a:t>，前两个字符与后两个字符相等，因此</a:t>
            </a:r>
            <a:r>
              <a:rPr lang="en-US" altLang="zh-CN" dirty="0"/>
              <a:t>next[4]</a:t>
            </a:r>
            <a:r>
              <a:rPr lang="zh-CN" altLang="en-US" dirty="0"/>
              <a:t>取</a:t>
            </a:r>
            <a:r>
              <a:rPr lang="en-US" altLang="zh-CN" dirty="0"/>
              <a:t>2. </a:t>
            </a:r>
            <a:r>
              <a:rPr lang="zh-CN" altLang="en-US" dirty="0"/>
              <a:t>而</a:t>
            </a:r>
            <a:r>
              <a:rPr lang="en-US" altLang="zh-CN" dirty="0"/>
              <a:t>next[5]=0</a:t>
            </a:r>
            <a:r>
              <a:rPr lang="zh-CN" altLang="en-US" dirty="0"/>
              <a:t>，是因为</a:t>
            </a:r>
            <a:r>
              <a:rPr lang="en-US" altLang="zh-CN" dirty="0"/>
              <a:t>"</a:t>
            </a:r>
            <a:r>
              <a:rPr lang="en-US" altLang="zh-CN" dirty="0" err="1"/>
              <a:t>abcabd</a:t>
            </a:r>
            <a:r>
              <a:rPr lang="en-US" altLang="zh-CN" dirty="0"/>
              <a:t>"</a:t>
            </a:r>
            <a:r>
              <a:rPr lang="zh-CN" altLang="en-US" dirty="0"/>
              <a:t>找不到前缀与后缀相同，因此只能取</a:t>
            </a:r>
            <a:r>
              <a:rPr lang="en-US" altLang="zh-CN" dirty="0"/>
              <a:t>0.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05D16ADF-1A52-FCFB-3FE2-57EC6BA223C0}"/>
              </a:ext>
            </a:extLst>
          </p:cNvPr>
          <p:cNvSpPr txBox="1"/>
          <p:nvPr/>
        </p:nvSpPr>
        <p:spPr>
          <a:xfrm>
            <a:off x="1013814" y="1359566"/>
            <a:ext cx="10191750" cy="2223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带着“跳过不可能成功的尝试”的思想，我们来看</a:t>
            </a:r>
            <a:r>
              <a:rPr lang="en-US" altLang="zh-CN" dirty="0"/>
              <a:t>next</a:t>
            </a:r>
            <a:r>
              <a:rPr lang="zh-CN" altLang="en-US" dirty="0"/>
              <a:t>数组。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next</a:t>
            </a:r>
            <a:r>
              <a:rPr lang="zh-CN" altLang="en-US" dirty="0"/>
              <a:t>数组是对于模式串而言的。</a:t>
            </a:r>
            <a:r>
              <a:rPr lang="en-US" altLang="zh-CN" dirty="0"/>
              <a:t>P </a:t>
            </a:r>
            <a:r>
              <a:rPr lang="zh-CN" altLang="en-US" dirty="0"/>
              <a:t>的 </a:t>
            </a:r>
            <a:r>
              <a:rPr lang="en-US" altLang="zh-CN" dirty="0"/>
              <a:t>next </a:t>
            </a:r>
            <a:r>
              <a:rPr lang="zh-CN" altLang="en-US" dirty="0"/>
              <a:t>数组定义为：</a:t>
            </a:r>
            <a:r>
              <a:rPr lang="en-US" altLang="zh-CN" dirty="0"/>
              <a:t>next[</a:t>
            </a:r>
            <a:r>
              <a:rPr lang="en-US" altLang="zh-CN" dirty="0" err="1"/>
              <a:t>i</a:t>
            </a:r>
            <a:r>
              <a:rPr lang="en-US" altLang="zh-CN" dirty="0"/>
              <a:t>] </a:t>
            </a:r>
            <a:r>
              <a:rPr lang="zh-CN" altLang="en-US" dirty="0"/>
              <a:t>表示 </a:t>
            </a:r>
            <a:r>
              <a:rPr lang="en-US" altLang="zh-CN" dirty="0"/>
              <a:t>P[0] ~ P[</a:t>
            </a:r>
            <a:r>
              <a:rPr lang="en-US" altLang="zh-CN" dirty="0" err="1"/>
              <a:t>i</a:t>
            </a:r>
            <a:r>
              <a:rPr lang="en-US" altLang="zh-CN" dirty="0"/>
              <a:t>] </a:t>
            </a:r>
            <a:r>
              <a:rPr lang="zh-CN" altLang="en-US" dirty="0"/>
              <a:t>这一个子串，使得 </a:t>
            </a:r>
            <a:r>
              <a:rPr lang="zh-CN" altLang="en-US" b="1" dirty="0">
                <a:solidFill>
                  <a:schemeClr val="accent2"/>
                </a:solidFill>
              </a:rPr>
              <a:t>前</a:t>
            </a:r>
            <a:r>
              <a:rPr lang="en-US" altLang="zh-CN" b="1" dirty="0">
                <a:solidFill>
                  <a:schemeClr val="accent2"/>
                </a:solidFill>
              </a:rPr>
              <a:t>k</a:t>
            </a:r>
            <a:r>
              <a:rPr lang="zh-CN" altLang="en-US" b="1" dirty="0">
                <a:solidFill>
                  <a:schemeClr val="accent2"/>
                </a:solidFill>
              </a:rPr>
              <a:t>个字符恰等于后</a:t>
            </a:r>
            <a:r>
              <a:rPr lang="en-US" altLang="zh-CN" b="1" dirty="0">
                <a:solidFill>
                  <a:schemeClr val="accent2"/>
                </a:solidFill>
              </a:rPr>
              <a:t>k</a:t>
            </a:r>
            <a:r>
              <a:rPr lang="zh-CN" altLang="en-US" b="1" dirty="0">
                <a:solidFill>
                  <a:schemeClr val="accent2"/>
                </a:solidFill>
              </a:rPr>
              <a:t>个字符的最大的</a:t>
            </a:r>
            <a:r>
              <a:rPr lang="en-US" altLang="zh-CN" b="1" dirty="0">
                <a:solidFill>
                  <a:schemeClr val="accent2"/>
                </a:solidFill>
              </a:rPr>
              <a:t>k</a:t>
            </a:r>
            <a:r>
              <a:rPr lang="zh-CN" altLang="en-US" b="1" dirty="0">
                <a:solidFill>
                  <a:schemeClr val="accent2"/>
                </a:solidFill>
              </a:rPr>
              <a:t>。</a:t>
            </a:r>
            <a:r>
              <a:rPr lang="zh-CN" altLang="en-US" dirty="0"/>
              <a:t>特别地，</a:t>
            </a:r>
            <a:r>
              <a:rPr lang="en-US" altLang="zh-CN" dirty="0"/>
              <a:t>k</a:t>
            </a:r>
            <a:r>
              <a:rPr lang="zh-CN" altLang="en-US" dirty="0"/>
              <a:t>不能取</a:t>
            </a:r>
            <a:r>
              <a:rPr lang="en-US" altLang="zh-CN" dirty="0"/>
              <a:t>i+1</a:t>
            </a:r>
            <a:r>
              <a:rPr lang="zh-CN" altLang="en-US" dirty="0"/>
              <a:t>（因为这个子串一共才 </a:t>
            </a:r>
            <a:r>
              <a:rPr lang="en-US" altLang="zh-CN" dirty="0"/>
              <a:t>i+1 </a:t>
            </a:r>
            <a:r>
              <a:rPr lang="zh-CN" altLang="en-US" dirty="0"/>
              <a:t>个字符，自己肯定与自己相等，就没有意义了）</a:t>
            </a:r>
          </a:p>
        </p:txBody>
      </p:sp>
    </p:spTree>
    <p:extLst>
      <p:ext uri="{BB962C8B-B14F-4D97-AF65-F5344CB8AC3E}">
        <p14:creationId xmlns:p14="http://schemas.microsoft.com/office/powerpoint/2010/main" xmlns="" val="577363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1114340" y="1304085"/>
            <a:ext cx="10096669" cy="167077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200000"/>
              </a:lnSpc>
              <a:spcAft>
                <a:spcPts val="1000"/>
              </a:spcAft>
              <a:buClr>
                <a:srgbClr val="6D7D66"/>
              </a:buClr>
              <a:buSzPct val="80000"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如果把模式串视为一把标尺，在主串上移动，那么暴力求解就是每次失配之后只右移一位；改进算法则确定要移多少位呢</a:t>
            </a:r>
            <a:r>
              <a:rPr lang="zh-CN" altLang="en-US" sz="1800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？是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每次失配之后，移很多位，跳过那些不可能匹配成功的位置</a:t>
            </a:r>
            <a:r>
              <a:rPr lang="zh-CN" altLang="en-US" sz="1800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。但是该如何定要移多少位呢？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02024" y="3235357"/>
            <a:ext cx="6514142" cy="3622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207538B3-4DFE-BD78-2F64-C432E8BF95B7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85085" y="1488684"/>
            <a:ext cx="9640167" cy="2778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S[0]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尝试匹配，失配于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S[3] &lt;=&gt; P[3]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之后，我们直接把模式串往右移了两位，让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S[3]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对准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P[1].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接着继续匹配，失配于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S[8] &lt;=&gt; P[6],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接下来我们把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往右平移了三位，把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S[8]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对准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P[3].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此后继续匹配直到成功。　　</a:t>
            </a:r>
            <a:endParaRPr kumimoji="1"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我们应该如何移动这把标尺？很明显，如图中蓝色箭头所示，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旧的后缀要与新的前缀一致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（如果不一致，那就肯定没法匹配上了）！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EC16A167-3CC7-7EEE-6559-C2E5300EFDDD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64303" y="1214793"/>
            <a:ext cx="9640167" cy="2224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next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数组的性质：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P[0]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</a:t>
            </a:r>
            <a:r>
              <a:rPr kumimoji="1"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这一段子串中，前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next[</a:t>
            </a:r>
            <a:r>
              <a:rPr kumimoji="1"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个字符与后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next[</a:t>
            </a:r>
            <a:r>
              <a:rPr kumimoji="1"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个字符一模一样。既然如此，如果失配在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P[r],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那么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P[0]~P[r-1]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这一段里面，前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next[r-1]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个字符恰好和后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next[r-1]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个字符相等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也就是说，我们可以拿长度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kumimoji="1"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next[r-1] 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的那一段前缀，来顶替当前后缀的位置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，让匹配继续下去！　　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05347" y="3673373"/>
            <a:ext cx="5966492" cy="2219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57DA3022-CE9A-B960-0A75-1FA8FDB4DEE5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413463" y="1074473"/>
            <a:ext cx="3700131" cy="615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利用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next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数组进行匹配</a:t>
            </a: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88994" y="1540980"/>
            <a:ext cx="10117722" cy="1670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了解了利用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数组加速字符串匹配的原理，我们接下来代码实现之。分为两个部分：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</a:t>
            </a:r>
            <a:r>
              <a:rPr kumimoji="1"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kumimoji="1"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数组进行匹配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　首先是建立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数组。朴素的做法</a:t>
            </a:r>
            <a:r>
              <a:rPr kumimoji="1"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kumimoji="1"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kumimoji="1"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D821FA7-487A-172E-F852-D9636DE16241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E0ECFA72-5BFA-06D9-00B5-EA638BE82B4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22611" y="3211758"/>
            <a:ext cx="6270035" cy="3531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392681" y="1165088"/>
            <a:ext cx="3700131" cy="615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快速求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next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数组</a:t>
            </a: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88994" y="1717211"/>
            <a:ext cx="9966933" cy="3332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数组的完整定义：</a:t>
            </a:r>
          </a:p>
          <a:p>
            <a:pPr>
              <a:lnSpc>
                <a:spcPct val="200000"/>
              </a:lnSpc>
            </a:pP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“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k-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前缀” 为一个字符串的前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个字符； “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k-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后缀” 为一个字符串的后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个字符。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必须小于字符串长度。</a:t>
            </a:r>
          </a:p>
          <a:p>
            <a:pPr>
              <a:lnSpc>
                <a:spcPct val="200000"/>
              </a:lnSpc>
            </a:pPr>
            <a:r>
              <a:rPr kumimoji="1"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next[x] 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定义为： </a:t>
            </a:r>
            <a:r>
              <a:rPr kumimoji="1"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P[0]~P[x] 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这一段字符串，使得</a:t>
            </a:r>
            <a:r>
              <a:rPr kumimoji="1"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k-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前缀恰等于</a:t>
            </a:r>
            <a:r>
              <a:rPr kumimoji="1"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k-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后缀的最大的</a:t>
            </a:r>
            <a:r>
              <a:rPr kumimoji="1"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k.</a:t>
            </a:r>
          </a:p>
          <a:p>
            <a:pPr>
              <a:lnSpc>
                <a:spcPct val="200000"/>
              </a:lnSpc>
            </a:pP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这个定义中，不知不觉地就包含了一个匹配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前缀和后缀相等。接下来，我们考虑采用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递推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的方式求出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数组。如果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next[0], next[1], ... next[x-1]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均已知，那么如何求出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next[x]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呢？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B40D506B-7ABF-2BAC-394F-B1E3293C9B7B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392681" y="1165088"/>
            <a:ext cx="3700131" cy="615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快速求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next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数组</a:t>
            </a: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88994" y="1717211"/>
            <a:ext cx="9966933" cy="11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分情况讨论。首先，已经知道了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next[x-1]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（以下记为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now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），如果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P[x]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P[now]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一样，那最长相等前后缀的长度就可以扩展一位，很明显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next[x] = now + 1</a:t>
            </a:r>
            <a:endParaRPr kumimoji="1"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88994" y="2969659"/>
            <a:ext cx="7682345" cy="3378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2FBFC3B6-D187-F7A5-BDF3-4158BF67F027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392681" y="1165088"/>
            <a:ext cx="3700131" cy="615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快速求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next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数组</a:t>
            </a: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88994" y="1717211"/>
            <a:ext cx="9966933" cy="562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刚刚解决了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P[x] = P[now]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的情况。那如果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P[x]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P[now]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不一样，又该怎么办？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88994" y="2343691"/>
            <a:ext cx="7742639" cy="2329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1112533" y="4737237"/>
            <a:ext cx="9966933" cy="1670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长度为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now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的子串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和子串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P[0]~P[x-1]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中最长的公共前后缀。可惜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右边的字符和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右边的那个字符不相等，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next[x]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不能改成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now+1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了。因此，我们应该缩短这个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now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，把它改成小一点的值，再来试试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P[x]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是否等于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P[now].</a:t>
            </a:r>
            <a:endParaRPr kumimoji="1"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E4891EF0-D946-5ABC-C920-28F35A8BFD59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392681" y="1165088"/>
            <a:ext cx="3700131" cy="615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快速求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next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数组</a:t>
            </a: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88994" y="1717211"/>
            <a:ext cx="9966933" cy="3332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now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该缩小到多少呢？显然，我们不想让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now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缩小太多。因此我们决定，在保持“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P[0]~P[x-1]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now-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前缀仍然等于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now-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后缀”的前提下，让这个新的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now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尽可能大一点。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P[0]~P[x-1] 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的公共前后缀，前缀一定落在串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里面、后缀一定落在串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里面。换句话讲：接下来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now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应该改成：使得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k-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前缀等于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k-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后缀 的最大的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k.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endParaRPr kumimoji="1"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应该注意到一个性质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和串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是相同的！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的后缀等于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的后缀！因此，使得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k-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前缀等于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k-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后缀的最大的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，其实就是串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的最长公共前后缀的长度 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next[now-1]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106CD551-19BF-327E-9BB3-67869859FFB7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07917" y="1316527"/>
            <a:ext cx="5572431" cy="55414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081709" y="2495635"/>
            <a:ext cx="4102374" cy="2778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当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P[now]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P[x]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不相等的时候，我们需要缩小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now——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now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变成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next[now-1]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，直到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P[now]=P[x]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为止。</a:t>
            </a:r>
            <a:r>
              <a:rPr kumimoji="1"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P[now]=P[x]</a:t>
            </a:r>
            <a:r>
              <a:rPr kumimoji="1"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时，就可以直接向右扩展了。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B84406A9-483B-D4F6-197B-5F33C7E02ADB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392681" y="1165088"/>
            <a:ext cx="3700131" cy="615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快速求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next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数组：</a:t>
            </a:r>
            <a:r>
              <a:rPr lang="en-US" altLang="zh-CN" b="1" dirty="0">
                <a:solidFill>
                  <a:schemeClr val="accent2"/>
                </a:solidFill>
              </a:rPr>
              <a:t> O(n)</a:t>
            </a: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4E1B1B8F-9551-8054-65D3-0D40D3ED8154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A54CDE4E-3BFF-BA09-11F2-9CA153EB2AB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15996" y="1997844"/>
            <a:ext cx="9658350" cy="2409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392681" y="1165088"/>
            <a:ext cx="6008119" cy="615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利用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next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数组加速字符串：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72A080A2-926D-362B-93A4-0E03DC21065C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0D44DBB4-835B-799F-385E-03735DFEE18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38237" y="2034225"/>
            <a:ext cx="10056751" cy="2179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089E20A-1C8D-4579-9394-7E888985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KMP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28F18623-A851-4927-A4A7-1E6748542230}"/>
              </a:ext>
            </a:extLst>
          </p:cNvPr>
          <p:cNvSpPr/>
          <p:nvPr/>
        </p:nvSpPr>
        <p:spPr>
          <a:xfrm>
            <a:off x="900553" y="1300850"/>
            <a:ext cx="73211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000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】Period POJ1961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87CF57E6-1519-47A8-ABF2-E94A9D7926A6}"/>
              </a:ext>
            </a:extLst>
          </p:cNvPr>
          <p:cNvSpPr/>
          <p:nvPr/>
        </p:nvSpPr>
        <p:spPr>
          <a:xfrm>
            <a:off x="900553" y="1734166"/>
            <a:ext cx="9344660" cy="554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9B2A4A38-4AE2-477E-999E-9E0A2D6790FD}"/>
              </a:ext>
            </a:extLst>
          </p:cNvPr>
          <p:cNvSpPr txBox="1"/>
          <p:nvPr/>
        </p:nvSpPr>
        <p:spPr>
          <a:xfrm>
            <a:off x="1085707" y="1613462"/>
            <a:ext cx="9999875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如果一字符串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由一字符串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次形成，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的循环元。当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最大时字符串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的最小循环元，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为最大循环次数。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现输入一长为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pt-B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 &lt;= N &lt;= 1 000 000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）的字符串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的每一个前缀，如果它的最大循环次数大于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，输出该前缀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的长度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和最大循环次数。      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aaa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aabaabaabaab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2A7204B0-07E6-E55F-D453-4EE75F8D1AA8}"/>
              </a:ext>
            </a:extLst>
          </p:cNvPr>
          <p:cNvSpPr txBox="1"/>
          <p:nvPr/>
        </p:nvSpPr>
        <p:spPr>
          <a:xfrm>
            <a:off x="3509609" y="3438987"/>
            <a:ext cx="2576035" cy="3419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 case #1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 case #2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9 3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12 4</a:t>
            </a:r>
          </a:p>
        </p:txBody>
      </p:sp>
    </p:spTree>
    <p:extLst>
      <p:ext uri="{BB962C8B-B14F-4D97-AF65-F5344CB8AC3E}">
        <p14:creationId xmlns:p14="http://schemas.microsoft.com/office/powerpoint/2010/main" xmlns="" val="3625514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089E20A-1C8D-4579-9394-7E888985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KMP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28F18623-A851-4927-A4A7-1E6748542230}"/>
              </a:ext>
            </a:extLst>
          </p:cNvPr>
          <p:cNvSpPr/>
          <p:nvPr/>
        </p:nvSpPr>
        <p:spPr>
          <a:xfrm>
            <a:off x="900553" y="1300850"/>
            <a:ext cx="73211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题目分析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87CF57E6-1519-47A8-ABF2-E94A9D7926A6}"/>
              </a:ext>
            </a:extLst>
          </p:cNvPr>
          <p:cNvSpPr/>
          <p:nvPr/>
        </p:nvSpPr>
        <p:spPr>
          <a:xfrm>
            <a:off x="900553" y="1734166"/>
            <a:ext cx="9344660" cy="554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9B2A4A38-4AE2-477E-999E-9E0A2D6790FD}"/>
              </a:ext>
            </a:extLst>
          </p:cNvPr>
          <p:cNvSpPr txBox="1"/>
          <p:nvPr/>
        </p:nvSpPr>
        <p:spPr>
          <a:xfrm>
            <a:off x="1104900" y="1752414"/>
            <a:ext cx="9999875" cy="2480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    题意是寻找一个字符串前缀的最短循环节，从而求出最大循环数。利用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KMP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算法可以求出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Next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数组，然后根据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Next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数组的定义，我们可以知道对于一个前缀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S1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% 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 Next[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 == 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是有循环节的，循环节长度为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 Next[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Next[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表示最长前后缀，所以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 Next[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是最短循环节，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-Next[Next[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是次短循环节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3.Next[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不能为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，否则就表示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循环节是其自身。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892ACE3A-4C29-4995-B55C-0DB910933331}"/>
              </a:ext>
            </a:extLst>
          </p:cNvPr>
          <p:cNvSpPr txBox="1"/>
          <p:nvPr/>
        </p:nvSpPr>
        <p:spPr>
          <a:xfrm>
            <a:off x="1491399" y="4412344"/>
            <a:ext cx="9999875" cy="152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1 2 3 4 5 6 7 8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b a b a b a b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b a b a b a b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1 2 3 4 5 6 7 8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xmlns="" id="{EE36EADB-27B5-E4DC-4C45-89B180831395}"/>
              </a:ext>
            </a:extLst>
          </p:cNvPr>
          <p:cNvCxnSpPr/>
          <p:nvPr/>
        </p:nvCxnSpPr>
        <p:spPr>
          <a:xfrm>
            <a:off x="1951348" y="5175437"/>
            <a:ext cx="1055803" cy="0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xmlns="" id="{E2660BDA-A8E8-DA18-C2DC-9AD2219FF49D}"/>
              </a:ext>
            </a:extLst>
          </p:cNvPr>
          <p:cNvCxnSpPr/>
          <p:nvPr/>
        </p:nvCxnSpPr>
        <p:spPr>
          <a:xfrm>
            <a:off x="1951348" y="5525799"/>
            <a:ext cx="1055803" cy="0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33954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392681" y="1165088"/>
            <a:ext cx="3700131" cy="615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defRPr/>
            </a:pP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4E1B1B8F-9551-8054-65D3-0D40D3ED8154}"/>
              </a:ext>
            </a:extLst>
          </p:cNvPr>
          <p:cNvSpPr txBox="1"/>
          <p:nvPr/>
        </p:nvSpPr>
        <p:spPr>
          <a:xfrm>
            <a:off x="1013814" y="610745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KMP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D5BC894F-07BF-16CB-7F24-1BC3BAA0433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50869" y="2150969"/>
            <a:ext cx="7105650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20544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cademic Literature">
    <a:dk1>
      <a:srgbClr val="514843"/>
    </a:dk1>
    <a:lt1>
      <a:srgbClr val="FFFFFF"/>
    </a:lt1>
    <a:dk2>
      <a:srgbClr val="000000"/>
    </a:dk2>
    <a:lt2>
      <a:srgbClr val="FFFFF3"/>
    </a:lt2>
    <a:accent1>
      <a:srgbClr val="514843"/>
    </a:accent1>
    <a:accent2>
      <a:srgbClr val="6D7D66"/>
    </a:accent2>
    <a:accent3>
      <a:srgbClr val="525A6A"/>
    </a:accent3>
    <a:accent4>
      <a:srgbClr val="827266"/>
    </a:accent4>
    <a:accent5>
      <a:srgbClr val="AE9A7E"/>
    </a:accent5>
    <a:accent6>
      <a:srgbClr val="A8A39E"/>
    </a:accent6>
    <a:hlink>
      <a:srgbClr val="59704F"/>
    </a:hlink>
    <a:folHlink>
      <a:srgbClr val="A8A39E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1388</Words>
  <Application>Microsoft Office PowerPoint</Application>
  <PresentationFormat>自定义</PresentationFormat>
  <Paragraphs>97</Paragraphs>
  <Slides>24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26" baseType="lpstr">
      <vt:lpstr>Office 主题​​</vt:lpstr>
      <vt:lpstr>学术文献 16x9</vt:lpstr>
      <vt:lpstr>Kmp：字符串匹配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KMP</vt:lpstr>
      <vt:lpstr>KMP</vt:lpstr>
      <vt:lpstr>幻灯片 23</vt:lpstr>
      <vt:lpstr>谢谢！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Kmp：字符串匹配</dc:title>
  <dc:creator>代 伟</dc:creator>
  <cp:lastModifiedBy>lenovo</cp:lastModifiedBy>
  <cp:revision>49</cp:revision>
  <dcterms:created xsi:type="dcterms:W3CDTF">2021-07-17T02:41:00Z</dcterms:created>
  <dcterms:modified xsi:type="dcterms:W3CDTF">2022-05-27T12:32:38Z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FC37803946A048B3A1A61771D6475480</vt:lpwstr>
  </property>
  <property fmtid="{D5CDD505-2E9C-101B-9397-08002B2CF9AE}" pid="3" name="KSOProductBuildVer">
    <vt:lpwstr>2052-11.1.0.11365</vt:lpwstr>
  </property>
</Properties>
</file>