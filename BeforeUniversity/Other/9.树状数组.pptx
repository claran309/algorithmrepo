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50"/>
  </p:notesMasterIdLst>
  <p:sldIdLst>
    <p:sldId id="256" r:id="rId3"/>
    <p:sldId id="512" r:id="rId4"/>
    <p:sldId id="514" r:id="rId5"/>
    <p:sldId id="515" r:id="rId6"/>
    <p:sldId id="516" r:id="rId7"/>
    <p:sldId id="517" r:id="rId8"/>
    <p:sldId id="519" r:id="rId9"/>
    <p:sldId id="520" r:id="rId10"/>
    <p:sldId id="521" r:id="rId11"/>
    <p:sldId id="522" r:id="rId12"/>
    <p:sldId id="523" r:id="rId13"/>
    <p:sldId id="524" r:id="rId14"/>
    <p:sldId id="518" r:id="rId15"/>
    <p:sldId id="526" r:id="rId16"/>
    <p:sldId id="527" r:id="rId17"/>
    <p:sldId id="528" r:id="rId18"/>
    <p:sldId id="529" r:id="rId19"/>
    <p:sldId id="530" r:id="rId20"/>
    <p:sldId id="531" r:id="rId21"/>
    <p:sldId id="532" r:id="rId22"/>
    <p:sldId id="555" r:id="rId23"/>
    <p:sldId id="533" r:id="rId24"/>
    <p:sldId id="534" r:id="rId25"/>
    <p:sldId id="537" r:id="rId26"/>
    <p:sldId id="535" r:id="rId27"/>
    <p:sldId id="536" r:id="rId28"/>
    <p:sldId id="538" r:id="rId29"/>
    <p:sldId id="554" r:id="rId30"/>
    <p:sldId id="539" r:id="rId31"/>
    <p:sldId id="540" r:id="rId32"/>
    <p:sldId id="541" r:id="rId33"/>
    <p:sldId id="542" r:id="rId34"/>
    <p:sldId id="543" r:id="rId35"/>
    <p:sldId id="544" r:id="rId36"/>
    <p:sldId id="545" r:id="rId37"/>
    <p:sldId id="546" r:id="rId38"/>
    <p:sldId id="547" r:id="rId39"/>
    <p:sldId id="548" r:id="rId40"/>
    <p:sldId id="549" r:id="rId41"/>
    <p:sldId id="550" r:id="rId42"/>
    <p:sldId id="551" r:id="rId43"/>
    <p:sldId id="552" r:id="rId44"/>
    <p:sldId id="553" r:id="rId45"/>
    <p:sldId id="556" r:id="rId46"/>
    <p:sldId id="557" r:id="rId47"/>
    <p:sldId id="558" r:id="rId48"/>
    <p:sldId id="502" r:id="rId4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28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74" autoAdjust="0"/>
    <p:restoredTop sz="94660"/>
  </p:normalViewPr>
  <p:slideViewPr>
    <p:cSldViewPr snapToGrid="0">
      <p:cViewPr varScale="1">
        <p:scale>
          <a:sx n="92" d="100"/>
          <a:sy n="92" d="100"/>
        </p:scale>
        <p:origin x="197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5C2EA-C83E-4076-98CA-D9460BF2206D}" type="datetimeFigureOut">
              <a:rPr lang="zh-CN" altLang="en-US" smtClean="0"/>
              <a:pPr/>
              <a:t>2022/6/11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4E7BAE-756F-4148-86DD-4C8BA89A79F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5306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3C37BE-C303-496D-B5CD-85F2937540F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CAD31-DCFD-41EC-8B86-9A62EA546E87}" type="datetimeFigureOut">
              <a:rPr lang="zh-CN" altLang="en-US" smtClean="0"/>
              <a:pPr/>
              <a:t>2022/6/11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D3F6-DAD5-447A-83DA-983931662EE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0573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CAD31-DCFD-41EC-8B86-9A62EA546E87}" type="datetimeFigureOut">
              <a:rPr lang="zh-CN" altLang="en-US" smtClean="0"/>
              <a:pPr/>
              <a:t>2022/6/11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D3F6-DAD5-447A-83DA-983931662EE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0437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CAD31-DCFD-41EC-8B86-9A62EA546E87}" type="datetimeFigureOut">
              <a:rPr lang="zh-CN" altLang="en-US" smtClean="0"/>
              <a:pPr/>
              <a:t>2022/6/11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D3F6-DAD5-447A-83DA-983931662EE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3491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CAD31-DCFD-41EC-8B86-9A62EA546E87}" type="datetimeFigureOut">
              <a:rPr lang="zh-CN" altLang="en-US" smtClean="0"/>
              <a:pPr/>
              <a:t>2022/6/11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D3F6-DAD5-447A-83DA-983931662EE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0196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CAD31-DCFD-41EC-8B86-9A62EA546E87}" type="datetimeFigureOut">
              <a:rPr lang="zh-CN" altLang="en-US" smtClean="0"/>
              <a:pPr/>
              <a:t>2022/6/11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D3F6-DAD5-447A-83DA-983931662EE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5846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CAD31-DCFD-41EC-8B86-9A62EA546E87}" type="datetimeFigureOut">
              <a:rPr lang="zh-CN" altLang="en-US" smtClean="0"/>
              <a:pPr/>
              <a:t>2022/6/11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D3F6-DAD5-447A-83DA-983931662EE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4868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CAD31-DCFD-41EC-8B86-9A62EA546E87}" type="datetimeFigureOut">
              <a:rPr lang="zh-CN" altLang="en-US" smtClean="0"/>
              <a:pPr/>
              <a:t>2022/6/11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D3F6-DAD5-447A-83DA-983931662EE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4236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CAD31-DCFD-41EC-8B86-9A62EA546E87}" type="datetimeFigureOut">
              <a:rPr lang="zh-CN" altLang="en-US" smtClean="0"/>
              <a:pPr/>
              <a:t>2022/6/11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D3F6-DAD5-447A-83DA-983931662EE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9581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CAD31-DCFD-41EC-8B86-9A62EA546E87}" type="datetimeFigureOut">
              <a:rPr lang="zh-CN" altLang="en-US" smtClean="0"/>
              <a:pPr/>
              <a:t>2022/6/11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D3F6-DAD5-447A-83DA-983931662EE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963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CAD31-DCFD-41EC-8B86-9A62EA546E87}" type="datetimeFigureOut">
              <a:rPr lang="zh-CN" altLang="en-US" smtClean="0"/>
              <a:pPr/>
              <a:t>2022/6/11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D3F6-DAD5-447A-83DA-983931662EE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2342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CAD31-DCFD-41EC-8B86-9A62EA546E87}" type="datetimeFigureOut">
              <a:rPr lang="zh-CN" altLang="en-US" smtClean="0"/>
              <a:pPr/>
              <a:t>2022/6/11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D3F6-DAD5-447A-83DA-983931662EE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064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/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7392AAC-879E-4B39-8824-AF6B730A809E}" type="datetime1">
              <a:rPr lang="zh-CN" altLang="en-US" smtClean="0"/>
              <a:pPr/>
              <a:t>2022/6/11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pic>
        <p:nvPicPr>
          <p:cNvPr id="11" name="图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610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BA78444-6099-4C0A-A3A9-C6F3C5D7F289}" type="datetime1">
              <a:rPr lang="zh-CN" altLang="en-US" smtClean="0"/>
              <a:pPr/>
              <a:t>2022/6/11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8965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rtl="0"/>
            <a:r>
              <a:rPr lang="zh-CN" altLang="en-US" sz="12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注意：</a:t>
            </a:r>
          </a:p>
          <a:p>
            <a:pPr rtl="0"/>
            <a:r>
              <a:rPr lang="zh-CN" altLang="en-US" sz="12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若要更改此幻灯片上的图像，请选择该图片，并将其删除。然后单击占位符中的图片图标以插入自己的图像。</a:t>
            </a:r>
          </a:p>
        </p:txBody>
      </p:sp>
    </p:spTree>
    <p:extLst>
      <p:ext uri="{BB962C8B-B14F-4D97-AF65-F5344CB8AC3E}">
        <p14:creationId xmlns:p14="http://schemas.microsoft.com/office/powerpoint/2010/main" val="3703519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组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​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直接连接符​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​​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F5F6A19-70BF-4380-9A40-68C9536408C6}" type="datetime1">
              <a:rPr lang="zh-CN" altLang="en-US" smtClean="0"/>
              <a:pPr/>
              <a:t>2022/6/11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pic>
        <p:nvPicPr>
          <p:cNvPr id="7" name="图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874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017EB90-196C-4C15-BD31-13E0E0436C73}" type="datetime1">
              <a:rPr lang="zh-CN" altLang="en-US" dirty="0" smtClean="0"/>
              <a:pPr/>
              <a:t>2022/6/11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5789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EC0F41-B48F-4298-A7F6-618EB9D22195}" type="datetime1">
              <a:rPr lang="zh-CN" altLang="en-US" smtClean="0"/>
              <a:pPr/>
              <a:t>2022/6/11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7170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DB2D836-56E8-4B15-857C-14B1A5B3B67B}" type="datetime1">
              <a:rPr lang="zh-CN" altLang="en-US" smtClean="0"/>
              <a:pPr/>
              <a:t>2022/6/11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86509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38D929F-7D8C-4CC3-8AC7-BB9B8FE2DEBF}" type="datetime1">
              <a:rPr lang="zh-CN" altLang="en-US" smtClean="0"/>
              <a:pPr/>
              <a:t>2022/6/11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72601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6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7892ACC-8BC8-4C9E-9D2B-0669DA5038B6}" type="datetime1">
              <a:rPr lang="zh-CN" altLang="en-US" smtClean="0"/>
              <a:pPr/>
              <a:t>2022/6/11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78038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118C275-B304-48F5-8C4F-015CBCF4E7C1}" type="datetime1">
              <a:rPr lang="zh-CN" altLang="en-US" smtClean="0"/>
              <a:pPr/>
              <a:t>2022/6/11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46668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8791AA9-DDCB-4BA8-AD1D-963A3AA00622}" type="datetime1">
              <a:rPr lang="zh-CN" altLang="en-US" smtClean="0"/>
              <a:pPr/>
              <a:t>2022/6/11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63073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70426F-E661-472B-BE42-25E072CD46D9}" type="datetime1">
              <a:rPr lang="zh-CN" altLang="en-US" smtClean="0"/>
              <a:pPr/>
              <a:t>2022/6/11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grpSp>
        <p:nvGrpSpPr>
          <p:cNvPr id="7" name="组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直接连接符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11512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BCAD31-DCFD-41EC-8B86-9A62EA546E87}" type="datetimeFigureOut">
              <a:rPr lang="zh-CN" altLang="en-US" smtClean="0"/>
              <a:pPr/>
              <a:t>2022/6/11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F6D3F6-DAD5-447A-83DA-983931662EE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3071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  <a:p>
            <a:pPr lvl="5" rtl="0"/>
            <a:r>
              <a:rPr lang="zh-CN" altLang="en-US" noProof="0" dirty="0"/>
              <a:t>第六级</a:t>
            </a:r>
          </a:p>
          <a:p>
            <a:pPr lvl="6" rtl="0"/>
            <a:r>
              <a:rPr lang="zh-CN" altLang="en-US" noProof="0" dirty="0"/>
              <a:t>第七级</a:t>
            </a:r>
          </a:p>
          <a:p>
            <a:pPr lvl="7" rtl="0"/>
            <a:r>
              <a:rPr lang="zh-CN" altLang="en-US" noProof="0" dirty="0"/>
              <a:t>第八级</a:t>
            </a:r>
          </a:p>
          <a:p>
            <a:pPr lvl="8" rtl="0"/>
            <a:r>
              <a:rPr lang="zh-CN" altLang="en-US" noProof="0" dirty="0"/>
              <a:t>第九级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60B6A15-7713-4A08-BBFD-F297CCC2B976}" type="datetime1">
              <a:rPr lang="zh-CN" altLang="en-US" dirty="0" smtClean="0"/>
              <a:pPr/>
              <a:t>2022/6/11</a:t>
            </a:fld>
            <a:r>
              <a:rPr lang="zh-CN" altLang="en-US" dirty="0"/>
              <a:t>​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/>
            <a:fld id="{0FF54DE5-C571-48E8-A5BC-B369434E2F44}" type="slidenum">
              <a:rPr lang="en-US" altLang="zh-CN" noProof="0" smtClean="0"/>
              <a:pPr algn="r"/>
              <a:t>‹#›</a:t>
            </a:fld>
            <a:endParaRPr lang="zh-CN" altLang="en-US" noProof="0" dirty="0"/>
          </a:p>
        </p:txBody>
      </p:sp>
      <p:grpSp>
        <p:nvGrpSpPr>
          <p:cNvPr id="15" name="组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直接连接符​​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05969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2287326" y="2172272"/>
            <a:ext cx="3048153" cy="1954514"/>
          </a:xfrm>
        </p:spPr>
        <p:txBody>
          <a:bodyPr rtlCol="0" anchor="ctr"/>
          <a:lstStyle/>
          <a:p>
            <a:pPr rt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树状数组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>
          <a:xfrm>
            <a:off x="554971" y="3937856"/>
            <a:ext cx="5734050" cy="955565"/>
          </a:xfrm>
        </p:spPr>
        <p:txBody>
          <a:bodyPr rtlCol="0">
            <a:normAutofit/>
          </a:bodyPr>
          <a:lstStyle/>
          <a:p>
            <a:pPr algn="ctr" rtl="0">
              <a:lnSpc>
                <a:spcPct val="150000"/>
              </a:lnSpc>
            </a:pPr>
            <a:r>
              <a:rPr lang="zh-CN" altLang="en-US" sz="2400" dirty="0"/>
              <a:t>代伟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占位符 3" descr="桌上一本打开的书，书架在背景中模糊显示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5" r="8895"/>
          <a:stretch>
            <a:fillRect/>
          </a:stretch>
        </p:blipFill>
        <p:spPr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5714284E-AE49-4ACF-9408-156B8F7B5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841" y="1680839"/>
            <a:ext cx="7287519" cy="10874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719138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7191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Clr>
                <a:srgbClr val="6D7D66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理解数据结构的含义。</a:t>
            </a:r>
          </a:p>
          <a:p>
            <a:pPr marL="0" marR="0" lvl="0" indent="7191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Clr>
                <a:srgbClr val="6D7D66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掌握树状数组的基本原理和应用。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51DCB32-C949-4662-BB8A-B96F00B94C06}"/>
              </a:ext>
            </a:extLst>
          </p:cNvPr>
          <p:cNvSpPr txBox="1"/>
          <p:nvPr/>
        </p:nvSpPr>
        <p:spPr>
          <a:xfrm>
            <a:off x="1013814" y="610745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学习目标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2">
                <a:extLst>
                  <a:ext uri="{FF2B5EF4-FFF2-40B4-BE49-F238E27FC236}">
                    <a16:creationId xmlns:a16="http://schemas.microsoft.com/office/drawing/2014/main" id="{DDEDC142-C849-4F32-99C1-520F97CD5D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8308" y="1205189"/>
                <a:ext cx="10618574" cy="13976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indent="647700">
                  <a:defRPr kumimoji="1" sz="20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0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0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0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0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 b="1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64770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1000"/>
                  </a:spcAft>
                  <a:buClr>
                    <a:srgbClr val="6D7D66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1" lang="zh-CN" altLang="en-US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求连续和</a:t>
                </a:r>
              </a:p>
              <a:p>
                <a:pPr marL="0" marR="0" lvl="0" indent="64770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1000"/>
                  </a:spcAft>
                  <a:buClr>
                    <a:srgbClr val="6D7D66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1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求长度为</a:t>
                </a:r>
                <a:r>
                  <a:rPr kumimoji="1" lang="en-US" altLang="zh-CN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n</a:t>
                </a:r>
                <a:r>
                  <a:rPr kumimoji="1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的数组</a:t>
                </a:r>
                <a:r>
                  <a:rPr kumimoji="1" lang="en-US" altLang="zh-CN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A</a:t>
                </a:r>
                <a:r>
                  <a:rPr kumimoji="1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在</a:t>
                </a:r>
                <a:r>
                  <a:rPr kumimoji="1" lang="en-US" altLang="zh-CN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A[a]…A[b]</a:t>
                </a:r>
                <a:r>
                  <a:rPr kumimoji="1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（</a:t>
                </a:r>
                <a:r>
                  <a:rPr kumimoji="1" lang="en-US" altLang="zh-CN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1=&lt;a&lt;b&lt;=n&lt;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51484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</m:ctrlPr>
                      </m:sSupPr>
                      <m:e>
                        <m:r>
                          <a:rPr kumimoji="1" lang="en-US" altLang="zh-CN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51484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10</m:t>
                        </m:r>
                      </m:e>
                      <m:sup>
                        <m:r>
                          <a:rPr kumimoji="1" lang="en-US" altLang="zh-CN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51484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5</m:t>
                        </m:r>
                      </m:sup>
                    </m:sSup>
                  </m:oMath>
                </a14:m>
                <a:r>
                  <a:rPr kumimoji="1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）之间的总和。</a:t>
                </a:r>
              </a:p>
            </p:txBody>
          </p:sp>
        </mc:Choice>
        <mc:Fallback>
          <p:sp>
            <p:nvSpPr>
              <p:cNvPr id="4" name="矩形 2">
                <a:extLst>
                  <a:ext uri="{FF2B5EF4-FFF2-40B4-BE49-F238E27FC236}">
                    <a16:creationId xmlns:a16="http://schemas.microsoft.com/office/drawing/2014/main" id="{DDEDC142-C849-4F32-99C1-520F97CD5D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8308" y="1205189"/>
                <a:ext cx="10618574" cy="1397690"/>
              </a:xfrm>
              <a:prstGeom prst="rect">
                <a:avLst/>
              </a:prstGeom>
              <a:blipFill>
                <a:blip r:embed="rId2"/>
                <a:stretch>
                  <a:fillRect b="-480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2">
            <a:extLst>
              <a:ext uri="{FF2B5EF4-FFF2-40B4-BE49-F238E27FC236}">
                <a16:creationId xmlns:a16="http://schemas.microsoft.com/office/drawing/2014/main" id="{76B56867-A72C-49F1-953A-4E0DA9F4B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36903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树状数组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DA819E1D-4F12-4B0B-A90C-00CF815947CC}"/>
              </a:ext>
            </a:extLst>
          </p:cNvPr>
          <p:cNvSpPr txBox="1"/>
          <p:nvPr/>
        </p:nvSpPr>
        <p:spPr>
          <a:xfrm>
            <a:off x="1088994" y="2728357"/>
            <a:ext cx="5595583" cy="1906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 = 0;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(</a:t>
            </a:r>
            <a:r>
              <a:rPr lang="en-US" altLang="zh-CN" sz="20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a; </a:t>
            </a:r>
            <a:r>
              <a:rPr lang="en-US" altLang="zh-CN" sz="20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&lt;= b; </a:t>
            </a:r>
            <a:r>
              <a:rPr lang="en-US" altLang="zh-CN" sz="20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++) 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 += A[</a:t>
            </a:r>
            <a:r>
              <a:rPr lang="en-US" altLang="zh-CN" sz="20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C769C32-F8F5-43F4-BCE0-84E4800232EA}"/>
              </a:ext>
            </a:extLst>
          </p:cNvPr>
          <p:cNvSpPr txBox="1"/>
          <p:nvPr/>
        </p:nvSpPr>
        <p:spPr>
          <a:xfrm>
            <a:off x="1088994" y="4649464"/>
            <a:ext cx="5049670" cy="1230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时间复杂度为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O(n)</a:t>
            </a:r>
          </a:p>
          <a:p>
            <a:pPr>
              <a:lnSpc>
                <a:spcPct val="200000"/>
              </a:lnSpc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最大执行次数</a:t>
            </a:r>
            <a:r>
              <a:rPr lang="en-US" altLang="zh-CN" sz="20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nmax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10^5</a:t>
            </a:r>
            <a:endParaRPr lang="zh-CN" altLang="en-US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4" name="矩形 2">
            <a:extLst>
              <a:ext uri="{FF2B5EF4-FFF2-40B4-BE49-F238E27FC236}">
                <a16:creationId xmlns:a16="http://schemas.microsoft.com/office/drawing/2014/main" id="{DDEDC142-C849-4F32-99C1-520F97CD5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308" y="1229710"/>
            <a:ext cx="10618574" cy="615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6477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6477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rgbClr val="6D7D66"/>
              </a:buClr>
              <a:buSzPct val="80000"/>
              <a:buFontTx/>
              <a:buNone/>
              <a:tabLst/>
              <a:defRPr/>
            </a:pP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求前缀和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B56867-A72C-49F1-953A-4E0DA9F4B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36903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树状数组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DA819E1D-4F12-4B0B-A90C-00CF815947CC}"/>
              </a:ext>
            </a:extLst>
          </p:cNvPr>
          <p:cNvSpPr txBox="1"/>
          <p:nvPr/>
        </p:nvSpPr>
        <p:spPr>
          <a:xfrm>
            <a:off x="1088994" y="2089813"/>
            <a:ext cx="9610537" cy="1906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n-NO" altLang="zh-C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 sum[MAXN];		//</a:t>
            </a:r>
            <a:r>
              <a:rPr lang="zh-CN" altLang="nn-NO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nn-NO" altLang="zh-C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sum[i]</a:t>
            </a:r>
            <a:r>
              <a:rPr lang="zh-CN" altLang="nn-NO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</a:t>
            </a:r>
            <a:r>
              <a:rPr lang="nn-NO" altLang="zh-C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A[1] + … + A[i] </a:t>
            </a:r>
            <a:r>
              <a:rPr lang="zh-CN" altLang="nn-NO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的和</a:t>
            </a:r>
          </a:p>
          <a:p>
            <a:pPr>
              <a:lnSpc>
                <a:spcPct val="120000"/>
              </a:lnSpc>
            </a:pPr>
            <a:r>
              <a:rPr lang="nn-NO" altLang="zh-C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(int i = 1; i &lt;= n; i ++) </a:t>
            </a:r>
          </a:p>
          <a:p>
            <a:pPr>
              <a:lnSpc>
                <a:spcPct val="120000"/>
              </a:lnSpc>
            </a:pPr>
            <a:r>
              <a:rPr lang="nn-NO" altLang="zh-C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20000"/>
              </a:lnSpc>
            </a:pPr>
            <a:r>
              <a:rPr lang="nn-NO" altLang="zh-C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sum[i] = sum[i - 1] + A[i];</a:t>
            </a:r>
          </a:p>
          <a:p>
            <a:pPr>
              <a:lnSpc>
                <a:spcPct val="120000"/>
              </a:lnSpc>
            </a:pPr>
            <a:r>
              <a:rPr lang="nn-NO" altLang="zh-C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C769C32-F8F5-43F4-BCE0-84E4800232EA}"/>
              </a:ext>
            </a:extLst>
          </p:cNvPr>
          <p:cNvSpPr txBox="1"/>
          <p:nvPr/>
        </p:nvSpPr>
        <p:spPr>
          <a:xfrm>
            <a:off x="1088994" y="4628236"/>
            <a:ext cx="8216844" cy="1230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单次查询时间复杂度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O(1)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次查询为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O(</a:t>
            </a:r>
            <a:r>
              <a:rPr lang="en-US" altLang="zh-CN" sz="2000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q+n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86425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B56867-A72C-49F1-953A-4E0DA9F4B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36903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树状数组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6C16899-397F-46EF-8020-C1AA3E7E9884}"/>
              </a:ext>
            </a:extLst>
          </p:cNvPr>
          <p:cNvSpPr txBox="1"/>
          <p:nvPr/>
        </p:nvSpPr>
        <p:spPr>
          <a:xfrm>
            <a:off x="1080524" y="1489192"/>
            <a:ext cx="10030951" cy="2461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频繁的修改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A[</a:t>
            </a:r>
            <a:r>
              <a:rPr lang="en-US" altLang="zh-CN" sz="20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 (0&lt;</a:t>
            </a:r>
            <a:r>
              <a:rPr lang="en-US" altLang="zh-CN" sz="20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&lt;n)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一个长度为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的序列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a1~an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，修改某个元素的值，再次询问前缀和</a:t>
            </a:r>
          </a:p>
          <a:p>
            <a:pPr>
              <a:lnSpc>
                <a:spcPct val="200000"/>
              </a:lnSpc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假设有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次修改和询问，暴力求解的时间复杂度为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O(nm)</a:t>
            </a:r>
          </a:p>
          <a:p>
            <a:pPr>
              <a:lnSpc>
                <a:spcPct val="200000"/>
              </a:lnSpc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m&gt;=10000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时，就会超时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E2BB1EF-4C24-4AFB-9428-8D2CCF7AB4A6}"/>
              </a:ext>
            </a:extLst>
          </p:cNvPr>
          <p:cNvSpPr txBox="1"/>
          <p:nvPr/>
        </p:nvSpPr>
        <p:spPr>
          <a:xfrm>
            <a:off x="1088994" y="4453687"/>
            <a:ext cx="9915337" cy="615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此时的问题将转化为如何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维护前缀和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4166442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B56867-A72C-49F1-953A-4E0DA9F4B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36903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树状数组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6C16899-397F-46EF-8020-C1AA3E7E9884}"/>
              </a:ext>
            </a:extLst>
          </p:cNvPr>
          <p:cNvSpPr txBox="1"/>
          <p:nvPr/>
        </p:nvSpPr>
        <p:spPr>
          <a:xfrm>
            <a:off x="1080524" y="1439191"/>
            <a:ext cx="10030951" cy="3077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暴力求解慢的原因在哪里？</a:t>
            </a:r>
          </a:p>
          <a:p>
            <a:pPr>
              <a:lnSpc>
                <a:spcPct val="200000"/>
              </a:lnSpc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就是每次求前缀和时，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重复计算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  <a:p>
            <a:pPr>
              <a:lnSpc>
                <a:spcPct val="200000"/>
              </a:lnSpc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如果把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前缀固定分解成若干个区间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，每次修改某个元素的时候，只影响其所在区间，其它区间还是保持原值，就会提高求前缀和的效率。</a:t>
            </a:r>
          </a:p>
          <a:p>
            <a:pPr>
              <a:lnSpc>
                <a:spcPct val="200000"/>
              </a:lnSpc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现在的问题转化为：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如何划分区间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4202823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B56867-A72C-49F1-953A-4E0DA9F4B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36903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树状数组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6C16899-397F-46EF-8020-C1AA3E7E9884}"/>
                  </a:ext>
                </a:extLst>
              </p:cNvPr>
              <p:cNvSpPr txBox="1"/>
              <p:nvPr/>
            </p:nvSpPr>
            <p:spPr>
              <a:xfrm>
                <a:off x="1039503" y="1376218"/>
                <a:ext cx="10112993" cy="3218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lvl="0" indent="-342900">
                  <a:lnSpc>
                    <a:spcPct val="200000"/>
                  </a:lnSpc>
                  <a:spcBef>
                    <a:spcPts val="1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l"/>
                </a:pPr>
                <a:r>
                  <a:rPr lang="zh-CN" altLang="en-US" sz="2000" noProof="1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这些小区间的共同特点是：若区间结尾为</a:t>
                </a:r>
                <a:r>
                  <a:rPr lang="en-US" altLang="zh-CN" sz="2000" noProof="1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</a:t>
                </a:r>
                <a:r>
                  <a:rPr lang="zh-CN" altLang="en-US" sz="2000" noProof="1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</a:t>
                </a:r>
                <a:r>
                  <a:rPr lang="zh-CN" altLang="en-US" sz="2000" b="1" noProof="1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区间长度就等于</a:t>
                </a:r>
                <a:r>
                  <a:rPr lang="en-US" altLang="zh-CN" sz="2000" b="1" noProof="1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</a:t>
                </a:r>
                <a:r>
                  <a:rPr lang="zh-CN" altLang="en-US" sz="2000" b="1" noProof="1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的“二进制分解”下最小的</a:t>
                </a:r>
                <a:r>
                  <a:rPr lang="en-US" altLang="zh-CN" sz="2000" b="1" noProof="1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sz="2000" b="1" noProof="1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的次幂</a:t>
                </a:r>
                <a:r>
                  <a:rPr lang="zh-CN" altLang="en-US" sz="2000" noProof="1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，也就是最后一个</a:t>
                </a:r>
                <a:r>
                  <a:rPr lang="en-US" altLang="zh-CN" sz="2000" noProof="1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000" noProof="1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的位置的权值，即</a:t>
                </a:r>
                <a:r>
                  <a:rPr lang="en-US" altLang="zh-CN" sz="2000" b="1" noProof="1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lowbit(r)</a:t>
                </a:r>
              </a:p>
              <a:p>
                <a:pPr marL="342900" lvl="0" indent="-342900">
                  <a:lnSpc>
                    <a:spcPct val="200000"/>
                  </a:lnSpc>
                  <a:spcBef>
                    <a:spcPts val="1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l"/>
                </a:pPr>
                <a:r>
                  <a:rPr lang="zh-CN" altLang="en-US" sz="2000" noProof="1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例如</a:t>
                </a:r>
                <a:r>
                  <a:rPr lang="en-US" altLang="zh-CN" sz="2000" noProof="1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x=7=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noProof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0" i="1" noProof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e>
                      <m:sup>
                        <m:r>
                          <a:rPr lang="en-US" altLang="zh-CN" sz="2000" b="0" i="1" noProof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000" noProof="1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+</a:t>
                </a:r>
                <a:r>
                  <a:rPr lang="en-US" altLang="zh-CN" sz="2000" noProof="1">
                    <a:solidFill>
                      <a:schemeClr val="accent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noProof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i="1" noProof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e>
                      <m:sup>
                        <m:r>
                          <a:rPr lang="en-US" altLang="zh-CN" sz="2000" b="0" i="1" noProof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p>
                    </m:sSup>
                    <m:r>
                      <a:rPr lang="en-US" altLang="zh-CN" sz="2000" i="1" noProof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lang="en-US" altLang="zh-CN" sz="2000" noProof="1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+</a:t>
                </a:r>
                <a:r>
                  <a:rPr lang="en-US" altLang="zh-CN" sz="2000" noProof="1">
                    <a:solidFill>
                      <a:schemeClr val="accent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noProof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i="1" noProof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e>
                      <m:sup>
                        <m:r>
                          <a:rPr lang="en-US" altLang="zh-CN" sz="2000" b="0" i="1" noProof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p>
                    </m:sSup>
                    <m:r>
                      <a:rPr lang="en-US" altLang="zh-CN" sz="2000" i="1" noProof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lang="zh-CN" altLang="en-US" sz="2000" noProof="1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，那么区间</a:t>
                </a:r>
                <a:r>
                  <a:rPr lang="en-US" altLang="zh-CN" sz="2000" noProof="1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[1,7]</a:t>
                </a:r>
                <a:r>
                  <a:rPr lang="zh-CN" altLang="en-US" sz="2000" noProof="1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就可以分成</a:t>
                </a:r>
                <a:r>
                  <a:rPr lang="en-US" altLang="zh-CN" sz="2000" noProof="1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[1,4]</a:t>
                </a:r>
                <a:r>
                  <a:rPr lang="zh-CN" altLang="en-US" sz="2000" noProof="1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sz="2000" noProof="1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[5,6]</a:t>
                </a:r>
                <a:r>
                  <a:rPr lang="zh-CN" altLang="en-US" sz="2000" noProof="1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sz="2000" noProof="1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[7,7]</a:t>
                </a:r>
                <a:r>
                  <a:rPr lang="zh-CN" altLang="en-US" sz="2000" noProof="1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三个小区间，长度分别为</a:t>
                </a:r>
                <a:r>
                  <a:rPr lang="en-US" altLang="zh-CN" sz="2000" noProof="1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lowbit(4)=4</a:t>
                </a:r>
                <a:r>
                  <a:rPr lang="zh-CN" altLang="en-US" sz="2000" noProof="1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sz="2000" noProof="1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lowbit(6)=2</a:t>
                </a:r>
                <a:r>
                  <a:rPr lang="zh-CN" altLang="en-US" sz="2000" noProof="1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sz="2000" noProof="1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lowbit(7)=1</a:t>
                </a:r>
              </a:p>
              <a:p>
                <a:pPr lvl="0">
                  <a:lnSpc>
                    <a:spcPct val="150000"/>
                  </a:lnSpc>
                  <a:spcBef>
                    <a:spcPts val="1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</a:pPr>
                <a:endParaRPr lang="zh-CN" altLang="en-US" sz="20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6C16899-397F-46EF-8020-C1AA3E7E98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503" y="1376218"/>
                <a:ext cx="10112993" cy="3218317"/>
              </a:xfrm>
              <a:prstGeom prst="rect">
                <a:avLst/>
              </a:prstGeom>
              <a:blipFill>
                <a:blip r:embed="rId2"/>
                <a:stretch>
                  <a:fillRect l="-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49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B56867-A72C-49F1-953A-4E0DA9F4B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36903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树状数组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6C16899-397F-46EF-8020-C1AA3E7E9884}"/>
              </a:ext>
            </a:extLst>
          </p:cNvPr>
          <p:cNvSpPr txBox="1"/>
          <p:nvPr/>
        </p:nvSpPr>
        <p:spPr>
          <a:xfrm>
            <a:off x="1039503" y="1349585"/>
            <a:ext cx="10112993" cy="3461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根据刚才的描述，我们可以这样构造一个由原数组的某段区间和组成的一个新数组，这个区间是以某个数为右端点，区间大小为</a:t>
            </a: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lowbit(</a:t>
            </a:r>
            <a:r>
              <a:rPr lang="zh-CN" altLang="en-US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右端点</a:t>
            </a: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342900" lvl="0" indent="-34290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这个新数组即为</a:t>
            </a:r>
            <a:r>
              <a:rPr lang="zh-CN" altLang="en-US" sz="20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树状数组</a:t>
            </a:r>
          </a:p>
          <a:p>
            <a:pPr lvl="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zh-CN" altLang="en-US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设树状数组为</a:t>
            </a: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c[i]</a:t>
            </a:r>
            <a:r>
              <a:rPr lang="zh-CN" altLang="en-US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，原数组为</a:t>
            </a: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a[i]</a:t>
            </a:r>
            <a:r>
              <a:rPr lang="zh-CN" altLang="en-US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，则：</a:t>
            </a:r>
          </a:p>
          <a:p>
            <a:pPr lvl="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c[i] = a[i] + a[i - 1] + …+ a[i – lowbit(i) + 1]</a:t>
            </a:r>
            <a:endParaRPr lang="zh-CN" altLang="en-US" sz="20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63363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B56867-A72C-49F1-953A-4E0DA9F4B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36903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树状数组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6C16899-397F-46EF-8020-C1AA3E7E9884}"/>
              </a:ext>
            </a:extLst>
          </p:cNvPr>
          <p:cNvSpPr txBox="1"/>
          <p:nvPr/>
        </p:nvSpPr>
        <p:spPr>
          <a:xfrm>
            <a:off x="1039503" y="1349585"/>
            <a:ext cx="10112993" cy="5218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zh-CN" altLang="en-US" sz="20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树状数组前</a:t>
            </a:r>
            <a:r>
              <a:rPr lang="en-US" altLang="zh-CN" sz="20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个元素的构成</a:t>
            </a:r>
            <a:r>
              <a:rPr lang="zh-CN" altLang="en-US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lv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c[1]=a[1] </a:t>
            </a:r>
          </a:p>
          <a:p>
            <a:pPr lv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c[2]=a[1]+a[2]=c[1]+a[2] </a:t>
            </a:r>
          </a:p>
          <a:p>
            <a:pPr lv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c[3]=a[3]</a:t>
            </a:r>
          </a:p>
          <a:p>
            <a:pPr lv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c[4]=a[1]+a[2]+a[3]+a[4]=c[2]+c[3]+a[4] </a:t>
            </a:r>
          </a:p>
          <a:p>
            <a:pPr lv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c[5]=a[5] </a:t>
            </a:r>
          </a:p>
          <a:p>
            <a:pPr lv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c[6]=a[5]+a[6]=c[5]+a[6]</a:t>
            </a:r>
          </a:p>
          <a:p>
            <a:pPr lv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c[7]=a[7] </a:t>
            </a:r>
          </a:p>
          <a:p>
            <a:pPr lv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c[8]= a[1]+a[2]+a[3]+a[4]+a[5]+a[6]+a[7]+a[8]=c[4]+c[6]+c[7]+a[8]</a:t>
            </a:r>
          </a:p>
        </p:txBody>
      </p:sp>
    </p:spTree>
    <p:extLst>
      <p:ext uri="{BB962C8B-B14F-4D97-AF65-F5344CB8AC3E}">
        <p14:creationId xmlns:p14="http://schemas.microsoft.com/office/powerpoint/2010/main" val="1080079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B56867-A72C-49F1-953A-4E0DA9F4B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36903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树状数组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5F30DF6-148D-4706-9805-5CAD18F3DE2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8894" y="2319297"/>
            <a:ext cx="6691376" cy="393717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B4308EC-4FA4-4108-8328-3AE92EA86827}"/>
              </a:ext>
            </a:extLst>
          </p:cNvPr>
          <p:cNvSpPr txBox="1"/>
          <p:nvPr/>
        </p:nvSpPr>
        <p:spPr>
          <a:xfrm>
            <a:off x="1088994" y="1503941"/>
            <a:ext cx="76766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由前</a:t>
            </a:r>
            <a:r>
              <a:rPr lang="en-US" altLang="zh-CN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个树状数组的元素可以构造出下面的树状图：</a:t>
            </a:r>
          </a:p>
        </p:txBody>
      </p:sp>
    </p:spTree>
    <p:extLst>
      <p:ext uri="{BB962C8B-B14F-4D97-AF65-F5344CB8AC3E}">
        <p14:creationId xmlns:p14="http://schemas.microsoft.com/office/powerpoint/2010/main" val="1377637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B56867-A72C-49F1-953A-4E0DA9F4B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36903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树状数组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C806AEE-ACD6-4CD9-B1EB-7B1FF566CE9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46610" y="1515622"/>
            <a:ext cx="7874683" cy="4119943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D3D85593-17B3-4608-A0C6-71FC749DED67}"/>
              </a:ext>
            </a:extLst>
          </p:cNvPr>
          <p:cNvGrpSpPr/>
          <p:nvPr/>
        </p:nvGrpSpPr>
        <p:grpSpPr>
          <a:xfrm>
            <a:off x="1088994" y="1823428"/>
            <a:ext cx="1191494" cy="3245982"/>
            <a:chOff x="887097" y="1799130"/>
            <a:chExt cx="1191494" cy="3245982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5F939AB8-EF7D-43B9-A489-D09FAE08FF8B}"/>
                </a:ext>
              </a:extLst>
            </p:cNvPr>
            <p:cNvGrpSpPr/>
            <p:nvPr/>
          </p:nvGrpSpPr>
          <p:grpSpPr>
            <a:xfrm>
              <a:off x="887098" y="2545424"/>
              <a:ext cx="1191493" cy="2499688"/>
              <a:chOff x="678246" y="1786191"/>
              <a:chExt cx="914399" cy="2848181"/>
            </a:xfrm>
          </p:grpSpPr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D9C315C-C8ED-4AAE-9A57-C9C92C87DFF8}"/>
                  </a:ext>
                </a:extLst>
              </p:cNvPr>
              <p:cNvSpPr txBox="1"/>
              <p:nvPr/>
            </p:nvSpPr>
            <p:spPr>
              <a:xfrm>
                <a:off x="678246" y="4108344"/>
                <a:ext cx="914399" cy="5260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rPr>
                  <a:t>0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rPr>
                  <a:t>层：</a:t>
                </a:r>
              </a:p>
            </p:txBody>
          </p: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8C462E6-EDDA-432C-9AA2-7D15FF186AD3}"/>
                  </a:ext>
                </a:extLst>
              </p:cNvPr>
              <p:cNvSpPr txBox="1"/>
              <p:nvPr/>
            </p:nvSpPr>
            <p:spPr>
              <a:xfrm>
                <a:off x="678246" y="3343966"/>
                <a:ext cx="914399" cy="5260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rPr>
                  <a:t>1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rPr>
                  <a:t>层：</a:t>
                </a:r>
              </a:p>
            </p:txBody>
          </p:sp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487892F-6010-47A7-A2D7-B01E92507D33}"/>
                  </a:ext>
                </a:extLst>
              </p:cNvPr>
              <p:cNvSpPr txBox="1"/>
              <p:nvPr/>
            </p:nvSpPr>
            <p:spPr>
              <a:xfrm>
                <a:off x="678246" y="2468647"/>
                <a:ext cx="914399" cy="5260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rPr>
                  <a:t>2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rPr>
                  <a:t>层：</a:t>
                </a:r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E09E5FE2-6A1E-4278-A9E4-EC63B2B71D9D}"/>
                  </a:ext>
                </a:extLst>
              </p:cNvPr>
              <p:cNvSpPr txBox="1"/>
              <p:nvPr/>
            </p:nvSpPr>
            <p:spPr>
              <a:xfrm>
                <a:off x="678246" y="1786191"/>
                <a:ext cx="914399" cy="5260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rPr>
                  <a:t>3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rPr>
                  <a:t>层：</a:t>
                </a:r>
              </a:p>
            </p:txBody>
          </p:sp>
        </p:grp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012E8068-4887-4F96-8523-025C257B11C4}"/>
                </a:ext>
              </a:extLst>
            </p:cNvPr>
            <p:cNvSpPr txBox="1"/>
            <p:nvPr/>
          </p:nvSpPr>
          <p:spPr>
            <a:xfrm>
              <a:off x="887097" y="1799130"/>
              <a:ext cx="11914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4</a:t>
              </a:r>
              <a:r>
                <a:rPr lang="zh-CN" altLang="en-US" sz="2400" b="1" dirty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层：</a:t>
              </a: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CD0C4E1C-991F-4967-A1C1-D536003F50F0}"/>
              </a:ext>
            </a:extLst>
          </p:cNvPr>
          <p:cNvSpPr txBox="1"/>
          <p:nvPr/>
        </p:nvSpPr>
        <p:spPr>
          <a:xfrm>
            <a:off x="1721776" y="5920194"/>
            <a:ext cx="6893952" cy="430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A[7]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，则要修改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S[7]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S[8]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S[16]</a:t>
            </a:r>
          </a:p>
        </p:txBody>
      </p:sp>
    </p:spTree>
    <p:extLst>
      <p:ext uri="{BB962C8B-B14F-4D97-AF65-F5344CB8AC3E}">
        <p14:creationId xmlns:p14="http://schemas.microsoft.com/office/powerpoint/2010/main" val="612035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B56867-A72C-49F1-953A-4E0DA9F4B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36903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树状数组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C806AEE-ACD6-4CD9-B1EB-7B1FF566CE9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74461" y="1515622"/>
            <a:ext cx="7874683" cy="4119943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D3D85593-17B3-4608-A0C6-71FC749DED67}"/>
              </a:ext>
            </a:extLst>
          </p:cNvPr>
          <p:cNvGrpSpPr/>
          <p:nvPr/>
        </p:nvGrpSpPr>
        <p:grpSpPr>
          <a:xfrm>
            <a:off x="1016845" y="1823428"/>
            <a:ext cx="1191494" cy="3245982"/>
            <a:chOff x="887097" y="1799130"/>
            <a:chExt cx="1191494" cy="3245982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5F939AB8-EF7D-43B9-A489-D09FAE08FF8B}"/>
                </a:ext>
              </a:extLst>
            </p:cNvPr>
            <p:cNvGrpSpPr/>
            <p:nvPr/>
          </p:nvGrpSpPr>
          <p:grpSpPr>
            <a:xfrm>
              <a:off x="887098" y="2545424"/>
              <a:ext cx="1191493" cy="2499688"/>
              <a:chOff x="678246" y="1786191"/>
              <a:chExt cx="914399" cy="2848181"/>
            </a:xfrm>
          </p:grpSpPr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D9C315C-C8ED-4AAE-9A57-C9C92C87DFF8}"/>
                  </a:ext>
                </a:extLst>
              </p:cNvPr>
              <p:cNvSpPr txBox="1"/>
              <p:nvPr/>
            </p:nvSpPr>
            <p:spPr>
              <a:xfrm>
                <a:off x="678246" y="4108344"/>
                <a:ext cx="914399" cy="5260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rPr>
                  <a:t>0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rPr>
                  <a:t>层：</a:t>
                </a:r>
              </a:p>
            </p:txBody>
          </p: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8C462E6-EDDA-432C-9AA2-7D15FF186AD3}"/>
                  </a:ext>
                </a:extLst>
              </p:cNvPr>
              <p:cNvSpPr txBox="1"/>
              <p:nvPr/>
            </p:nvSpPr>
            <p:spPr>
              <a:xfrm>
                <a:off x="678246" y="3343966"/>
                <a:ext cx="914399" cy="5260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rPr>
                  <a:t>1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rPr>
                  <a:t>层：</a:t>
                </a:r>
              </a:p>
            </p:txBody>
          </p:sp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487892F-6010-47A7-A2D7-B01E92507D33}"/>
                  </a:ext>
                </a:extLst>
              </p:cNvPr>
              <p:cNvSpPr txBox="1"/>
              <p:nvPr/>
            </p:nvSpPr>
            <p:spPr>
              <a:xfrm>
                <a:off x="678246" y="2468647"/>
                <a:ext cx="914399" cy="5260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rPr>
                  <a:t>2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rPr>
                  <a:t>层：</a:t>
                </a:r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E09E5FE2-6A1E-4278-A9E4-EC63B2B71D9D}"/>
                  </a:ext>
                </a:extLst>
              </p:cNvPr>
              <p:cNvSpPr txBox="1"/>
              <p:nvPr/>
            </p:nvSpPr>
            <p:spPr>
              <a:xfrm>
                <a:off x="678246" y="1786191"/>
                <a:ext cx="914399" cy="5260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rPr>
                  <a:t>3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rPr>
                  <a:t>层：</a:t>
                </a:r>
              </a:p>
            </p:txBody>
          </p:sp>
        </p:grp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012E8068-4887-4F96-8523-025C257B11C4}"/>
                </a:ext>
              </a:extLst>
            </p:cNvPr>
            <p:cNvSpPr txBox="1"/>
            <p:nvPr/>
          </p:nvSpPr>
          <p:spPr>
            <a:xfrm>
              <a:off x="887097" y="1799130"/>
              <a:ext cx="11914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4</a:t>
              </a:r>
              <a:r>
                <a:rPr lang="zh-CN" altLang="en-US" sz="2400" b="1" dirty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层：</a:t>
              </a: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CD0C4E1C-991F-4967-A1C1-D536003F50F0}"/>
              </a:ext>
            </a:extLst>
          </p:cNvPr>
          <p:cNvSpPr txBox="1"/>
          <p:nvPr/>
        </p:nvSpPr>
        <p:spPr>
          <a:xfrm>
            <a:off x="1612591" y="5986099"/>
            <a:ext cx="9962972" cy="430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前缀和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sum[15] = A[1] + … + A[15] = s[15] + s[14] + s[12] + s[8]</a:t>
            </a:r>
          </a:p>
        </p:txBody>
      </p:sp>
    </p:spTree>
    <p:extLst>
      <p:ext uri="{BB962C8B-B14F-4D97-AF65-F5344CB8AC3E}">
        <p14:creationId xmlns:p14="http://schemas.microsoft.com/office/powerpoint/2010/main" val="1858075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B56867-A72C-49F1-953A-4E0DA9F4B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36903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树状数组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6C16899-397F-46EF-8020-C1AA3E7E9884}"/>
              </a:ext>
            </a:extLst>
          </p:cNvPr>
          <p:cNvSpPr txBox="1"/>
          <p:nvPr/>
        </p:nvSpPr>
        <p:spPr>
          <a:xfrm>
            <a:off x="1039503" y="1363068"/>
            <a:ext cx="10112993" cy="4039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如何求</a:t>
            </a: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lowbit( )</a:t>
            </a:r>
          </a:p>
          <a:p>
            <a:pPr marL="342900" lvl="0" indent="-34290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endParaRPr lang="en-US" altLang="zh-CN" sz="2000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endParaRPr lang="en-US" altLang="zh-CN" sz="2000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endParaRPr lang="en-US" altLang="zh-CN" sz="2000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x&amp;(-x) </a:t>
            </a:r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是将</a:t>
            </a:r>
            <a:r>
              <a:rPr lang="en-US" altLang="zh-CN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表示成二进制后，求出最后一个</a:t>
            </a:r>
            <a:r>
              <a:rPr lang="en-US" altLang="zh-CN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的位置</a:t>
            </a:r>
          </a:p>
          <a:p>
            <a:pPr marL="342900" lvl="0" indent="-34290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  <a:r>
              <a:rPr lang="en-US" altLang="zh-CN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14&amp;(-14) = 2</a:t>
            </a:r>
          </a:p>
          <a:p>
            <a:pPr marL="342900" lvl="0" indent="-34290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endParaRPr lang="zh-CN" altLang="en-US" sz="20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B859A7C-5FF8-448E-93AC-DF3DC190291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5223" y="1976933"/>
            <a:ext cx="5837820" cy="154666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66EB107-8ABE-4B79-BB76-B78F07BDCA8D}"/>
              </a:ext>
            </a:extLst>
          </p:cNvPr>
          <p:cNvSpPr txBox="1"/>
          <p:nvPr/>
        </p:nvSpPr>
        <p:spPr>
          <a:xfrm>
            <a:off x="0" y="5094151"/>
            <a:ext cx="4014952" cy="1141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ts val="98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                     1 1 1 0</a:t>
            </a:r>
          </a:p>
          <a:p>
            <a:pPr marL="0" marR="0" lvl="0" indent="0" algn="l" defTabSz="914400" rtl="0" eaLnBrk="1" fontAlgn="base" latinLnBrk="0" hangingPunct="1">
              <a:lnSpc>
                <a:spcPts val="98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1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ts val="98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                </a:t>
            </a:r>
          </a:p>
          <a:p>
            <a:pPr marL="0" marR="0" lvl="0" indent="0" algn="l" defTabSz="914400" rtl="0" eaLnBrk="1" fontAlgn="base" latinLnBrk="0" hangingPunct="1">
              <a:lnSpc>
                <a:spcPts val="98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000" b="1" noProof="1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                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&amp; 0 0 1 0        </a:t>
            </a:r>
          </a:p>
          <a:p>
            <a:pPr marL="0" marR="0" lvl="0" indent="0" algn="l" defTabSz="914400" rtl="0" eaLnBrk="1" fontAlgn="base" latinLnBrk="0" hangingPunct="1">
              <a:lnSpc>
                <a:spcPts val="98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</a:t>
            </a:r>
            <a:endParaRPr kumimoji="0" lang="en-US" altLang="zh-CN" sz="2000" b="1" i="0" u="none" strike="noStrike" kern="1200" cap="none" spc="0" normalizeH="0" baseline="0" noProof="1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ts val="98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                --------------</a:t>
            </a:r>
            <a:endParaRPr kumimoji="0" lang="en-US" altLang="zh-CN" sz="2000" b="1" i="0" u="none" strike="noStrike" kern="1200" cap="none" spc="0" normalizeH="0" baseline="0" noProof="1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ts val="98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                  </a:t>
            </a:r>
          </a:p>
          <a:p>
            <a:pPr marL="0" marR="0" lvl="0" indent="0" algn="l" defTabSz="914400" rtl="0" eaLnBrk="1" fontAlgn="base" latinLnBrk="0" hangingPunct="1">
              <a:lnSpc>
                <a:spcPts val="98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000" noProof="1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                  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0 0 1 0</a:t>
            </a:r>
            <a:endParaRPr kumimoji="0" lang="en-US" altLang="zh-CN" sz="1800" b="1" i="0" u="none" strike="noStrike" kern="1200" cap="none" spc="0" normalizeH="0" baseline="0" noProof="1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8170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B56867-A72C-49F1-953A-4E0DA9F4B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36903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树状数组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6C16899-397F-46EF-8020-C1AA3E7E9884}"/>
              </a:ext>
            </a:extLst>
          </p:cNvPr>
          <p:cNvSpPr txBox="1"/>
          <p:nvPr/>
        </p:nvSpPr>
        <p:spPr>
          <a:xfrm>
            <a:off x="1039503" y="1363068"/>
            <a:ext cx="10112993" cy="4039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如何求</a:t>
            </a: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lowbit( )</a:t>
            </a:r>
          </a:p>
          <a:p>
            <a:pPr marL="342900" lvl="0" indent="-34290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endParaRPr lang="en-US" altLang="zh-CN" sz="2000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endParaRPr lang="en-US" altLang="zh-CN" sz="2000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endParaRPr lang="en-US" altLang="zh-CN" sz="2000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x&amp;(-x) </a:t>
            </a:r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是将</a:t>
            </a:r>
            <a:r>
              <a:rPr lang="en-US" altLang="zh-CN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表示成二进制后，求出最后一个</a:t>
            </a:r>
            <a:r>
              <a:rPr lang="en-US" altLang="zh-CN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的位置</a:t>
            </a:r>
          </a:p>
          <a:p>
            <a:pPr marL="342900" lvl="0" indent="-34290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  <a:r>
              <a:rPr lang="en-US" altLang="zh-CN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14&amp;(-14) = 2</a:t>
            </a:r>
          </a:p>
          <a:p>
            <a:pPr marL="342900" lvl="0" indent="-34290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endParaRPr lang="zh-CN" altLang="en-US" sz="20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B859A7C-5FF8-448E-93AC-DF3DC190291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5223" y="1976933"/>
            <a:ext cx="5837820" cy="154666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66EB107-8ABE-4B79-BB76-B78F07BDCA8D}"/>
              </a:ext>
            </a:extLst>
          </p:cNvPr>
          <p:cNvSpPr txBox="1"/>
          <p:nvPr/>
        </p:nvSpPr>
        <p:spPr>
          <a:xfrm>
            <a:off x="0" y="5094151"/>
            <a:ext cx="5211192" cy="1147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ts val="98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                     1 1 1 0</a:t>
            </a:r>
          </a:p>
          <a:p>
            <a:pPr marL="0" marR="0" lvl="0" indent="0" algn="l" defTabSz="914400" rtl="0" eaLnBrk="1" fontAlgn="base" latinLnBrk="0" hangingPunct="1">
              <a:lnSpc>
                <a:spcPts val="98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1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ts val="98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                </a:t>
            </a:r>
          </a:p>
          <a:p>
            <a:pPr marL="0" marR="0" lvl="0" indent="0" algn="l" defTabSz="914400" rtl="0" eaLnBrk="1" fontAlgn="base" latinLnBrk="0" hangingPunct="1">
              <a:lnSpc>
                <a:spcPts val="98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000" b="1" noProof="1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                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&amp; 0 0 1 0 (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补码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       </a:t>
            </a:r>
          </a:p>
          <a:p>
            <a:pPr marL="0" marR="0" lvl="0" indent="0" algn="l" defTabSz="914400" rtl="0" eaLnBrk="1" fontAlgn="base" latinLnBrk="0" hangingPunct="1">
              <a:lnSpc>
                <a:spcPts val="98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</a:t>
            </a:r>
            <a:endParaRPr kumimoji="0" lang="en-US" altLang="zh-CN" sz="2000" b="1" i="0" u="none" strike="noStrike" kern="1200" cap="none" spc="0" normalizeH="0" baseline="0" noProof="1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ts val="98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                --------------</a:t>
            </a:r>
            <a:endParaRPr kumimoji="0" lang="en-US" altLang="zh-CN" sz="2000" b="1" i="0" u="none" strike="noStrike" kern="1200" cap="none" spc="0" normalizeH="0" baseline="0" noProof="1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ts val="98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                  </a:t>
            </a:r>
          </a:p>
          <a:p>
            <a:pPr marL="0" marR="0" lvl="0" indent="0" algn="l" defTabSz="914400" rtl="0" eaLnBrk="1" fontAlgn="base" latinLnBrk="0" hangingPunct="1">
              <a:lnSpc>
                <a:spcPts val="98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000" noProof="1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                  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0 0 1 0</a:t>
            </a:r>
            <a:endParaRPr kumimoji="0" lang="en-US" altLang="zh-CN" sz="1800" b="1" i="0" u="none" strike="noStrike" kern="1200" cap="none" spc="0" normalizeH="0" baseline="0" noProof="1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7649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B56867-A72C-49F1-953A-4E0DA9F4B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36903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树状数组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6C16899-397F-46EF-8020-C1AA3E7E9884}"/>
              </a:ext>
            </a:extLst>
          </p:cNvPr>
          <p:cNvSpPr txBox="1"/>
          <p:nvPr/>
        </p:nvSpPr>
        <p:spPr>
          <a:xfrm>
            <a:off x="1039503" y="1363068"/>
            <a:ext cx="10112993" cy="4808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zh-CN" altLang="en-US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根据树状数组的构造方式，可以得出如下性质：</a:t>
            </a:r>
          </a:p>
          <a:p>
            <a:pPr marL="342900" lvl="0" indent="-34290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树状数组中某个节点</a:t>
            </a: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的父节点的下标为</a:t>
            </a:r>
            <a:r>
              <a:rPr lang="en-US" altLang="zh-CN" sz="20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i+lowbit(i)</a:t>
            </a:r>
          </a:p>
          <a:p>
            <a:pPr marL="342900" lvl="0" indent="-34290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树状数组中某个节点</a:t>
            </a: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的兄弟</a:t>
            </a: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左边的</a:t>
            </a: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下标为</a:t>
            </a:r>
            <a:r>
              <a:rPr lang="en-US" altLang="zh-CN" sz="20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i-lowbit(i)</a:t>
            </a:r>
          </a:p>
          <a:p>
            <a:pPr marL="342900" lvl="0" indent="-34290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endParaRPr lang="en-US" altLang="zh-CN" sz="2000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endParaRPr lang="en-US" altLang="zh-CN" sz="2000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endParaRPr lang="en-US" altLang="zh-CN" sz="2000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endParaRPr lang="zh-CN" altLang="en-US" sz="20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3625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B56867-A72C-49F1-953A-4E0DA9F4B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36903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树状数组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6C16899-397F-46EF-8020-C1AA3E7E9884}"/>
              </a:ext>
            </a:extLst>
          </p:cNvPr>
          <p:cNvSpPr txBox="1"/>
          <p:nvPr/>
        </p:nvSpPr>
        <p:spPr>
          <a:xfrm>
            <a:off x="1039503" y="1229710"/>
            <a:ext cx="10437794" cy="5547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zh-CN" altLang="en-US" sz="24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单点修改</a:t>
            </a:r>
            <a:endParaRPr lang="en-US" altLang="zh-CN" sz="2400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如果改变原数组的某一个元素值，称为单点修改，一般是指对这个元素进行加一个值</a:t>
            </a: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val</a:t>
            </a:r>
          </a:p>
          <a:p>
            <a:pPr marL="342900" lvl="0" indent="-34290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单点修改应该对涉及到该点的所有树状数组的点进行修改，也就是沿父节点一路往上，直到区间的最右端，时间复杂度为</a:t>
            </a:r>
            <a:r>
              <a:rPr lang="en-US" altLang="zh-CN" sz="20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O(logn)</a:t>
            </a:r>
          </a:p>
          <a:p>
            <a:pPr marL="342900" lvl="0" indent="-34290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endParaRPr lang="en-US" altLang="zh-CN" sz="2000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endParaRPr lang="en-US" altLang="zh-CN" sz="2000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endParaRPr lang="en-US" altLang="zh-CN" sz="2000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endParaRPr lang="zh-CN" altLang="en-US" sz="20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D608AB1-F051-4D33-8491-F19EB1B95E6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6052" y="4326495"/>
            <a:ext cx="5700254" cy="207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319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B56867-A72C-49F1-953A-4E0DA9F4B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36903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树状数组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6C16899-397F-46EF-8020-C1AA3E7E9884}"/>
              </a:ext>
            </a:extLst>
          </p:cNvPr>
          <p:cNvSpPr txBox="1"/>
          <p:nvPr/>
        </p:nvSpPr>
        <p:spPr>
          <a:xfrm>
            <a:off x="1039503" y="1229710"/>
            <a:ext cx="10437794" cy="4803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zh-CN" altLang="en-US" sz="24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询问前缀和</a:t>
            </a:r>
            <a:endParaRPr lang="en-US" altLang="zh-CN" sz="2400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对于询问的前缀区间，从右端点开始，每次累加，每次移到左边兄弟的树状数组值，即每次下标减</a:t>
            </a: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lowbit</a:t>
            </a:r>
            <a:r>
              <a:rPr lang="zh-CN" altLang="en-US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值，时间复杂度</a:t>
            </a:r>
            <a:r>
              <a:rPr lang="en-US" altLang="zh-CN" sz="20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O(log(n))</a:t>
            </a:r>
            <a:endParaRPr lang="zh-CN" altLang="en-US" sz="2000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endParaRPr lang="en-US" altLang="zh-CN" sz="2000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endParaRPr lang="en-US" altLang="zh-CN" sz="2000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endParaRPr lang="en-US" altLang="zh-CN" sz="2000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endParaRPr lang="zh-CN" altLang="en-US" sz="20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C19C3B9-BBD7-4DC5-8307-A573C90CC29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72316" y="3634968"/>
            <a:ext cx="6389162" cy="2621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09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B56867-A72C-49F1-953A-4E0DA9F4B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36903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例题</a:t>
            </a:r>
            <a:r>
              <a:rPr lang="en-US" altLang="zh-CN" dirty="0">
                <a:solidFill>
                  <a:srgbClr val="000000"/>
                </a:solidFill>
                <a:cs typeface="+mn-cs"/>
              </a:rPr>
              <a:t>1(</a:t>
            </a:r>
            <a:r>
              <a:rPr lang="en-US" altLang="zh-CN" dirty="0" err="1">
                <a:solidFill>
                  <a:srgbClr val="000000"/>
                </a:solidFill>
                <a:cs typeface="+mn-cs"/>
              </a:rPr>
              <a:t>codevs</a:t>
            </a:r>
            <a:r>
              <a:rPr lang="en-US" altLang="zh-CN" dirty="0">
                <a:solidFill>
                  <a:srgbClr val="000000"/>
                </a:solidFill>
                <a:cs typeface="+mn-cs"/>
              </a:rPr>
              <a:t> 1080</a:t>
            </a:r>
            <a:r>
              <a:rPr lang="zh-CN" altLang="en-US" dirty="0">
                <a:solidFill>
                  <a:srgbClr val="000000"/>
                </a:solidFill>
                <a:cs typeface="+mn-cs"/>
              </a:rPr>
              <a:t>）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6C16899-397F-46EF-8020-C1AA3E7E9884}"/>
              </a:ext>
            </a:extLst>
          </p:cNvPr>
          <p:cNvSpPr txBox="1"/>
          <p:nvPr/>
        </p:nvSpPr>
        <p:spPr>
          <a:xfrm>
            <a:off x="1039503" y="1388774"/>
            <a:ext cx="10112993" cy="3641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en-US" altLang="zh-CN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题目描述</a:t>
            </a:r>
            <a:r>
              <a:rPr lang="en-US" altLang="zh-CN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lvl="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en-US" altLang="zh-CN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一行</a:t>
            </a:r>
            <a:r>
              <a:rPr lang="en-US" altLang="zh-CN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个方格，开始每个格子里都有一个整数。现在动态地提出一些问题和修改：提问的形式是求某一个</a:t>
            </a: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特定的子区间</a:t>
            </a:r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[a,b]</a:t>
            </a: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中所有元素的和</a:t>
            </a:r>
            <a:r>
              <a:rPr lang="zh-CN" altLang="en-US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；修改的规则是指定</a:t>
            </a: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某一个格子</a:t>
            </a:r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，加上或者减去一个特定的值</a:t>
            </a:r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。现在要求你能对每个提问作出正确的回答。</a:t>
            </a:r>
            <a:r>
              <a:rPr lang="en-US" altLang="zh-CN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1≤N&lt;100000</a:t>
            </a:r>
            <a:r>
              <a:rPr lang="zh-CN" altLang="en-US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，提问和修改的总数</a:t>
            </a:r>
            <a:r>
              <a:rPr lang="en-US" altLang="zh-CN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m&lt;10000</a:t>
            </a:r>
            <a:r>
              <a:rPr lang="zh-CN" altLang="en-US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条。</a:t>
            </a:r>
            <a:endParaRPr lang="en-US" altLang="zh-CN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endParaRPr lang="zh-CN" altLang="en-US" sz="2000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99064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B56867-A72C-49F1-953A-4E0DA9F4B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36903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例题</a:t>
            </a:r>
            <a:r>
              <a:rPr lang="en-US" altLang="zh-CN" dirty="0">
                <a:solidFill>
                  <a:srgbClr val="000000"/>
                </a:solidFill>
                <a:cs typeface="+mn-cs"/>
              </a:rPr>
              <a:t>1(</a:t>
            </a:r>
            <a:r>
              <a:rPr lang="en-US" altLang="zh-CN" dirty="0" err="1">
                <a:solidFill>
                  <a:srgbClr val="000000"/>
                </a:solidFill>
                <a:cs typeface="+mn-cs"/>
              </a:rPr>
              <a:t>codevs</a:t>
            </a:r>
            <a:r>
              <a:rPr lang="en-US" altLang="zh-CN" dirty="0">
                <a:solidFill>
                  <a:srgbClr val="000000"/>
                </a:solidFill>
                <a:cs typeface="+mn-cs"/>
              </a:rPr>
              <a:t> 1080</a:t>
            </a:r>
            <a:r>
              <a:rPr lang="zh-CN" altLang="en-US" dirty="0">
                <a:solidFill>
                  <a:srgbClr val="000000"/>
                </a:solidFill>
                <a:cs typeface="+mn-cs"/>
              </a:rPr>
              <a:t>）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6C16899-397F-46EF-8020-C1AA3E7E9884}"/>
              </a:ext>
            </a:extLst>
          </p:cNvPr>
          <p:cNvSpPr txBox="1"/>
          <p:nvPr/>
        </p:nvSpPr>
        <p:spPr>
          <a:xfrm>
            <a:off x="1039503" y="1349585"/>
            <a:ext cx="6275697" cy="6242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en-US" altLang="zh-CN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输入描述</a:t>
            </a:r>
            <a:r>
              <a:rPr lang="en-US" altLang="zh-CN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lvl="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en-US" altLang="zh-CN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输入文件第一行为一个整数</a:t>
            </a:r>
            <a:r>
              <a:rPr lang="en-US" altLang="zh-CN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，接下来是</a:t>
            </a:r>
            <a:r>
              <a:rPr lang="en-US" altLang="zh-CN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个整数，表示格子中原来的整数。</a:t>
            </a:r>
          </a:p>
          <a:p>
            <a:pPr lvl="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zh-CN" altLang="en-US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接下一个正整数</a:t>
            </a:r>
            <a:r>
              <a:rPr lang="en-US" altLang="zh-CN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，再接下来有</a:t>
            </a:r>
            <a:r>
              <a:rPr lang="en-US" altLang="zh-CN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行，表示</a:t>
            </a:r>
            <a:r>
              <a:rPr lang="en-US" altLang="zh-CN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个询问，第一个整数表示询问代号，询问代号</a:t>
            </a:r>
            <a:r>
              <a:rPr lang="en-US" altLang="zh-CN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表示增加，后面的两个数</a:t>
            </a:r>
            <a:r>
              <a:rPr lang="en-US" altLang="zh-CN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表示给位置</a:t>
            </a:r>
            <a:r>
              <a:rPr lang="en-US" altLang="zh-CN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上的数值增加</a:t>
            </a:r>
            <a:r>
              <a:rPr lang="en-US" altLang="zh-CN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，询问代号</a:t>
            </a:r>
            <a:r>
              <a:rPr lang="en-US" altLang="zh-CN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表示区间求和，后面两个整数表示</a:t>
            </a:r>
            <a:r>
              <a:rPr lang="en-US" altLang="zh-CN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，表示要求</a:t>
            </a:r>
            <a:r>
              <a:rPr lang="en-US" altLang="zh-CN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[a,b]</a:t>
            </a:r>
            <a:r>
              <a:rPr lang="zh-CN" altLang="en-US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之间的区间和。</a:t>
            </a:r>
          </a:p>
          <a:p>
            <a:pPr lvl="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en-US" altLang="zh-CN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输出描述</a:t>
            </a:r>
            <a:r>
              <a:rPr lang="en-US" altLang="zh-CN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lvl="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en-US" altLang="zh-CN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</a:t>
            </a:r>
            <a:r>
              <a:rPr lang="en-US" altLang="zh-CN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行，每个整数</a:t>
            </a:r>
          </a:p>
          <a:p>
            <a:pPr lvl="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endParaRPr lang="zh-CN" altLang="en-US" sz="2000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47164227-90DE-4B4E-9C92-C44D5F59FAAB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9405585" y="1250794"/>
            <a:ext cx="2038350" cy="497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200000"/>
              </a:lnSpc>
              <a:buSzPct val="80000"/>
            </a:pPr>
            <a:r>
              <a:rPr lang="zh-CN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【样例输出】</a:t>
            </a:r>
            <a:endParaRPr lang="zh-CN" altLang="zh-CN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200000"/>
              </a:lnSpc>
              <a:buSzPct val="80000"/>
            </a:pP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22</a:t>
            </a:r>
          </a:p>
          <a:p>
            <a:pPr eaLnBrk="0" hangingPunct="0">
              <a:lnSpc>
                <a:spcPct val="200000"/>
              </a:lnSpc>
              <a:buSzPct val="80000"/>
            </a:pP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22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B8BE0EC-C52A-4DD0-B78D-5AA8051BDD48}"/>
              </a:ext>
            </a:extLst>
          </p:cNvPr>
          <p:cNvSpPr txBox="1"/>
          <p:nvPr/>
        </p:nvSpPr>
        <p:spPr>
          <a:xfrm>
            <a:off x="7882759" y="1259680"/>
            <a:ext cx="2208346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en-US" altLang="zh-CN" sz="18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8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样例输入</a:t>
            </a:r>
            <a:r>
              <a:rPr lang="en-US" altLang="zh-CN" sz="18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lvl="0"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en-US" altLang="zh-CN" sz="18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</a:p>
          <a:p>
            <a:pPr lvl="0"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en-US" altLang="zh-CN" sz="18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4 </a:t>
            </a:r>
          </a:p>
          <a:p>
            <a:pPr lvl="0"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en-US" altLang="zh-CN" sz="18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5 </a:t>
            </a:r>
          </a:p>
          <a:p>
            <a:pPr lvl="0"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en-US" altLang="zh-CN" sz="18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6 </a:t>
            </a:r>
          </a:p>
          <a:p>
            <a:pPr lvl="0"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en-US" altLang="zh-CN" sz="18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2 </a:t>
            </a:r>
          </a:p>
          <a:p>
            <a:pPr lvl="0"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en-US" altLang="zh-CN" sz="18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1 </a:t>
            </a:r>
          </a:p>
          <a:p>
            <a:pPr lvl="0"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en-US" altLang="zh-CN" sz="18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  <a:p>
            <a:pPr lvl="0"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en-US" altLang="zh-CN" sz="18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  <a:p>
            <a:pPr lvl="0"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en-US" altLang="zh-CN" sz="18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1 3 5</a:t>
            </a:r>
          </a:p>
          <a:p>
            <a:pPr lvl="0"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en-US" altLang="zh-CN" sz="18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2 1 4</a:t>
            </a:r>
          </a:p>
          <a:p>
            <a:pPr lvl="0"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en-US" altLang="zh-CN" sz="18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1 1 9</a:t>
            </a:r>
          </a:p>
          <a:p>
            <a:pPr lvl="0"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en-US" altLang="zh-CN" sz="18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2 2 6</a:t>
            </a:r>
            <a:endParaRPr lang="zh-CN" altLang="en-US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F307D921-8A39-4C79-8168-6CD3AC1B482C}"/>
              </a:ext>
            </a:extLst>
          </p:cNvPr>
          <p:cNvCxnSpPr/>
          <p:nvPr/>
        </p:nvCxnSpPr>
        <p:spPr>
          <a:xfrm>
            <a:off x="7549103" y="1525080"/>
            <a:ext cx="0" cy="5170010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589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B56867-A72C-49F1-953A-4E0DA9F4B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36903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例题</a:t>
            </a:r>
            <a:r>
              <a:rPr lang="en-US" altLang="zh-CN" dirty="0">
                <a:solidFill>
                  <a:srgbClr val="000000"/>
                </a:solidFill>
                <a:cs typeface="+mn-cs"/>
              </a:rPr>
              <a:t>1(</a:t>
            </a:r>
            <a:r>
              <a:rPr lang="en-US" altLang="zh-CN" dirty="0" err="1">
                <a:solidFill>
                  <a:srgbClr val="000000"/>
                </a:solidFill>
                <a:cs typeface="+mn-cs"/>
              </a:rPr>
              <a:t>codevs</a:t>
            </a:r>
            <a:r>
              <a:rPr lang="en-US" altLang="zh-CN" dirty="0">
                <a:solidFill>
                  <a:srgbClr val="000000"/>
                </a:solidFill>
                <a:cs typeface="+mn-cs"/>
              </a:rPr>
              <a:t> 1080</a:t>
            </a:r>
            <a:r>
              <a:rPr lang="zh-CN" altLang="en-US" dirty="0">
                <a:solidFill>
                  <a:srgbClr val="000000"/>
                </a:solidFill>
                <a:cs typeface="+mn-cs"/>
              </a:rPr>
              <a:t>）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6C16899-397F-46EF-8020-C1AA3E7E9884}"/>
              </a:ext>
            </a:extLst>
          </p:cNvPr>
          <p:cNvSpPr txBox="1"/>
          <p:nvPr/>
        </p:nvSpPr>
        <p:spPr>
          <a:xfrm>
            <a:off x="1039503" y="1349585"/>
            <a:ext cx="10154014" cy="4026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en-US" altLang="zh-CN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r>
              <a:rPr lang="en-US" altLang="zh-CN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lvl="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zh-CN" altLang="en-US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本题是树状数组的模板题：</a:t>
            </a: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单点修改，区间查询</a:t>
            </a:r>
          </a:p>
          <a:p>
            <a:pPr lvl="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zh-CN" altLang="en-US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刚才讲的树状数组的用法是：单点修改，求前缀和</a:t>
            </a:r>
          </a:p>
          <a:p>
            <a:pPr lvl="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zh-CN" altLang="en-US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如何转化？</a:t>
            </a:r>
          </a:p>
          <a:p>
            <a:pPr lvl="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zh-CN" altLang="en-US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两次前缀和之差即为区间和</a:t>
            </a:r>
          </a:p>
          <a:p>
            <a:pPr lvl="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endParaRPr lang="zh-CN" altLang="en-US" sz="2000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9248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39503" y="536903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B56867-A72C-49F1-953A-4E0DA9F4B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36903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例题</a:t>
            </a:r>
            <a:r>
              <a:rPr lang="en-US" altLang="zh-CN" dirty="0">
                <a:solidFill>
                  <a:srgbClr val="000000"/>
                </a:solidFill>
                <a:cs typeface="+mn-cs"/>
              </a:rPr>
              <a:t>1(</a:t>
            </a:r>
            <a:r>
              <a:rPr lang="en-US" altLang="zh-CN" dirty="0" err="1">
                <a:solidFill>
                  <a:srgbClr val="000000"/>
                </a:solidFill>
                <a:cs typeface="+mn-cs"/>
              </a:rPr>
              <a:t>codevs</a:t>
            </a:r>
            <a:r>
              <a:rPr lang="en-US" altLang="zh-CN" dirty="0">
                <a:solidFill>
                  <a:srgbClr val="000000"/>
                </a:solidFill>
                <a:cs typeface="+mn-cs"/>
              </a:rPr>
              <a:t> 1080</a:t>
            </a:r>
            <a:r>
              <a:rPr lang="zh-CN" altLang="en-US" dirty="0">
                <a:solidFill>
                  <a:srgbClr val="000000"/>
                </a:solidFill>
                <a:cs typeface="+mn-cs"/>
              </a:rPr>
              <a:t>）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6C16899-397F-46EF-8020-C1AA3E7E9884}"/>
              </a:ext>
            </a:extLst>
          </p:cNvPr>
          <p:cNvSpPr txBox="1"/>
          <p:nvPr/>
        </p:nvSpPr>
        <p:spPr>
          <a:xfrm>
            <a:off x="871337" y="1100466"/>
            <a:ext cx="10151770" cy="615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CE214D1-EEF4-2D01-DF2A-8362DBFF9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7747" y="1407986"/>
            <a:ext cx="6838950" cy="481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528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B56867-A72C-49F1-953A-4E0DA9F4B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36903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例题</a:t>
            </a:r>
            <a:r>
              <a:rPr lang="en-US" altLang="zh-CN" dirty="0">
                <a:solidFill>
                  <a:srgbClr val="000000"/>
                </a:solidFill>
                <a:cs typeface="+mn-cs"/>
              </a:rPr>
              <a:t>2(codevs1081)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6C16899-397F-46EF-8020-C1AA3E7E9884}"/>
              </a:ext>
            </a:extLst>
          </p:cNvPr>
          <p:cNvSpPr txBox="1"/>
          <p:nvPr/>
        </p:nvSpPr>
        <p:spPr>
          <a:xfrm>
            <a:off x="1039503" y="1349585"/>
            <a:ext cx="10112993" cy="2974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题目描述</a:t>
            </a: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lv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zh-CN" altLang="en-US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给</a:t>
            </a: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个数，有两种操作</a:t>
            </a:r>
          </a:p>
          <a:p>
            <a:pPr lv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：给区间</a:t>
            </a: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[l,r]</a:t>
            </a:r>
            <a:r>
              <a:rPr lang="zh-CN" altLang="en-US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的所有数都增加</a:t>
            </a: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  <a:p>
            <a:pPr lv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：询问第</a:t>
            </a: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个数是什么？</a:t>
            </a:r>
          </a:p>
          <a:p>
            <a:pPr lvl="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endParaRPr lang="zh-CN" altLang="en-US" sz="2000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4109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39503" y="536903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B56867-A72C-49F1-953A-4E0DA9F4B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36903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例题</a:t>
            </a:r>
            <a:r>
              <a:rPr lang="en-US" altLang="zh-CN" dirty="0">
                <a:solidFill>
                  <a:srgbClr val="000000"/>
                </a:solidFill>
                <a:cs typeface="+mn-cs"/>
              </a:rPr>
              <a:t>2(</a:t>
            </a:r>
            <a:r>
              <a:rPr lang="en-US" altLang="zh-CN" dirty="0" err="1">
                <a:solidFill>
                  <a:srgbClr val="000000"/>
                </a:solidFill>
                <a:cs typeface="+mn-cs"/>
              </a:rPr>
              <a:t>codevs</a:t>
            </a:r>
            <a:r>
              <a:rPr lang="en-US" altLang="zh-CN" dirty="0">
                <a:solidFill>
                  <a:srgbClr val="000000"/>
                </a:solidFill>
                <a:cs typeface="+mn-cs"/>
              </a:rPr>
              <a:t> 1081</a:t>
            </a:r>
            <a:r>
              <a:rPr lang="zh-CN" altLang="en-US" dirty="0">
                <a:solidFill>
                  <a:srgbClr val="000000"/>
                </a:solidFill>
                <a:cs typeface="+mn-cs"/>
              </a:rPr>
              <a:t>）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6C16899-397F-46EF-8020-C1AA3E7E9884}"/>
              </a:ext>
            </a:extLst>
          </p:cNvPr>
          <p:cNvSpPr txBox="1"/>
          <p:nvPr/>
        </p:nvSpPr>
        <p:spPr>
          <a:xfrm>
            <a:off x="871337" y="1100466"/>
            <a:ext cx="10151770" cy="5513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lv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zh-CN" altLang="en-US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本题为</a:t>
            </a:r>
            <a:r>
              <a:rPr lang="zh-CN" altLang="en-US" sz="20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区间修改，单点查询</a:t>
            </a:r>
          </a:p>
          <a:p>
            <a:pPr lv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zh-CN" altLang="en-US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若暴力枚举区间的每一个值进行修改，很可能会超时</a:t>
            </a:r>
          </a:p>
          <a:p>
            <a:pPr lv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zh-CN" altLang="en-US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区间修改往往联想到</a:t>
            </a:r>
            <a:r>
              <a:rPr lang="zh-CN" altLang="en-US" sz="20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差分序列</a:t>
            </a:r>
          </a:p>
          <a:p>
            <a:pPr lv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zh-CN" altLang="en-US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构造原数组</a:t>
            </a: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</a:t>
            </a:r>
            <a:r>
              <a:rPr lang="zh-CN" altLang="en-US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的差分序列</a:t>
            </a: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bn</a:t>
            </a:r>
            <a:r>
              <a:rPr lang="zh-CN" altLang="en-US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lv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zh-CN" altLang="en-US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      </a:t>
            </a: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a1</a:t>
            </a:r>
            <a:r>
              <a:rPr lang="zh-CN" altLang="en-US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a2-a1</a:t>
            </a:r>
            <a:r>
              <a:rPr lang="zh-CN" altLang="en-US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a3-a2</a:t>
            </a:r>
            <a:r>
              <a:rPr lang="zh-CN" altLang="en-US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... </a:t>
            </a:r>
            <a:r>
              <a:rPr lang="zh-CN" altLang="en-US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an-an-1</a:t>
            </a:r>
          </a:p>
          <a:p>
            <a:pPr lv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zh-CN" altLang="en-US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那么原序列的区间修改就会变成</a:t>
            </a:r>
            <a:r>
              <a:rPr lang="zh-CN" altLang="en-US" sz="20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差分序列的单点修改：</a:t>
            </a:r>
            <a:r>
              <a:rPr lang="en-US" altLang="zh-CN" sz="20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b[l]+d,b[r+1]-d;</a:t>
            </a:r>
            <a:endParaRPr lang="zh-CN" altLang="en-US" sz="2000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zh-CN" altLang="en-US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用树状数组维护数组</a:t>
            </a: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的前缀和，因为每次操作具有可累加性，所以在树状数组上查询前缀和</a:t>
            </a: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b[1~x],</a:t>
            </a:r>
            <a:r>
              <a:rPr lang="zh-CN" altLang="en-US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得到目前为止在</a:t>
            </a: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a[x]</a:t>
            </a:r>
            <a:r>
              <a:rPr lang="zh-CN" altLang="en-US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上增加的数值总和，再加上</a:t>
            </a: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a[x]</a:t>
            </a:r>
            <a:r>
              <a:rPr lang="zh-CN" altLang="en-US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的初始值。</a:t>
            </a:r>
          </a:p>
        </p:txBody>
      </p:sp>
    </p:spTree>
    <p:extLst>
      <p:ext uri="{BB962C8B-B14F-4D97-AF65-F5344CB8AC3E}">
        <p14:creationId xmlns:p14="http://schemas.microsoft.com/office/powerpoint/2010/main" val="3186461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39503" y="536903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B56867-A72C-49F1-953A-4E0DA9F4B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36903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例题</a:t>
            </a:r>
            <a:r>
              <a:rPr lang="en-US" altLang="zh-CN" dirty="0">
                <a:solidFill>
                  <a:srgbClr val="000000"/>
                </a:solidFill>
                <a:cs typeface="+mn-cs"/>
              </a:rPr>
              <a:t>2(</a:t>
            </a:r>
            <a:r>
              <a:rPr lang="en-US" altLang="zh-CN" dirty="0" err="1">
                <a:solidFill>
                  <a:srgbClr val="000000"/>
                </a:solidFill>
                <a:cs typeface="+mn-cs"/>
              </a:rPr>
              <a:t>codevs</a:t>
            </a:r>
            <a:r>
              <a:rPr lang="en-US" altLang="zh-CN" dirty="0">
                <a:solidFill>
                  <a:srgbClr val="000000"/>
                </a:solidFill>
                <a:cs typeface="+mn-cs"/>
              </a:rPr>
              <a:t> 1081</a:t>
            </a:r>
            <a:r>
              <a:rPr lang="zh-CN" altLang="en-US" dirty="0">
                <a:solidFill>
                  <a:srgbClr val="000000"/>
                </a:solidFill>
                <a:cs typeface="+mn-cs"/>
              </a:rPr>
              <a:t>）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6C16899-397F-46EF-8020-C1AA3E7E9884}"/>
              </a:ext>
            </a:extLst>
          </p:cNvPr>
          <p:cNvSpPr txBox="1"/>
          <p:nvPr/>
        </p:nvSpPr>
        <p:spPr>
          <a:xfrm>
            <a:off x="871337" y="1100466"/>
            <a:ext cx="10151770" cy="615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E27CBF0-EE72-4391-B22B-F6897458734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97644" y="1407986"/>
            <a:ext cx="6134100" cy="53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361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B56867-A72C-49F1-953A-4E0DA9F4B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36903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例题</a:t>
            </a:r>
            <a:r>
              <a:rPr lang="en-US" altLang="zh-CN" dirty="0">
                <a:solidFill>
                  <a:srgbClr val="000000"/>
                </a:solidFill>
                <a:cs typeface="+mn-cs"/>
              </a:rPr>
              <a:t>3(codevs1082)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6C16899-397F-46EF-8020-C1AA3E7E9884}"/>
              </a:ext>
            </a:extLst>
          </p:cNvPr>
          <p:cNvSpPr txBox="1"/>
          <p:nvPr/>
        </p:nvSpPr>
        <p:spPr>
          <a:xfrm>
            <a:off x="1039504" y="1293736"/>
            <a:ext cx="5600578" cy="5506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en-US" altLang="zh-CN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题目描述</a:t>
            </a:r>
            <a:r>
              <a:rPr lang="en-US" altLang="zh-CN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lv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zh-CN" altLang="en-US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给你</a:t>
            </a:r>
            <a:r>
              <a:rPr lang="en-US" altLang="zh-CN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个数，有两种操作</a:t>
            </a:r>
          </a:p>
          <a:p>
            <a:pPr lv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en-US" altLang="zh-CN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：给区间</a:t>
            </a:r>
            <a:r>
              <a:rPr lang="en-US" altLang="zh-CN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[l,r]</a:t>
            </a:r>
            <a:r>
              <a:rPr lang="zh-CN" altLang="en-US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的所有数都增加</a:t>
            </a:r>
            <a:r>
              <a:rPr lang="en-US" altLang="zh-CN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  <a:p>
            <a:pPr lv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en-US" altLang="zh-CN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：询问区间</a:t>
            </a:r>
            <a:r>
              <a:rPr lang="en-US" altLang="zh-CN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[a,b]</a:t>
            </a:r>
            <a:r>
              <a:rPr lang="zh-CN" altLang="en-US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的数的和？</a:t>
            </a:r>
          </a:p>
          <a:p>
            <a:pPr lv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zh-CN" altLang="en-US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输入描述</a:t>
            </a:r>
            <a:endParaRPr lang="en-US" altLang="zh-CN" sz="1600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zh-CN" altLang="en-US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第一行一个正整数</a:t>
            </a:r>
            <a:r>
              <a:rPr lang="en-US" altLang="zh-CN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，接下来</a:t>
            </a:r>
            <a:r>
              <a:rPr lang="en-US" altLang="zh-CN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个整数，再接下来一个正整数</a:t>
            </a:r>
            <a:r>
              <a:rPr lang="en-US" altLang="zh-CN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，每行表示操作的个数，如果第一个数是</a:t>
            </a:r>
            <a:r>
              <a:rPr lang="en-US" altLang="zh-CN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，后接</a:t>
            </a:r>
            <a:r>
              <a:rPr lang="en-US" altLang="zh-CN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个正整数，表示在区间</a:t>
            </a:r>
            <a:r>
              <a:rPr lang="en-US" altLang="zh-CN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[a,b]</a:t>
            </a:r>
            <a:r>
              <a:rPr lang="zh-CN" altLang="en-US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内每个数增加</a:t>
            </a:r>
            <a:r>
              <a:rPr lang="en-US" altLang="zh-CN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X,</a:t>
            </a:r>
            <a:r>
              <a:rPr lang="zh-CN" altLang="en-US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如果是</a:t>
            </a:r>
            <a:r>
              <a:rPr lang="en-US" altLang="zh-CN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，表示操作</a:t>
            </a:r>
            <a:r>
              <a:rPr lang="en-US" altLang="zh-CN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询问区间</a:t>
            </a:r>
            <a:r>
              <a:rPr lang="en-US" altLang="zh-CN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[a,b]</a:t>
            </a:r>
            <a:r>
              <a:rPr lang="zh-CN" altLang="en-US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的和是多少。</a:t>
            </a:r>
          </a:p>
          <a:p>
            <a:pPr lv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zh-CN" altLang="en-US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输出描述 </a:t>
            </a:r>
            <a:endParaRPr lang="en-US" altLang="zh-CN" sz="1600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zh-CN" altLang="en-US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对于每个询问输出一行一个答案</a:t>
            </a:r>
            <a:endParaRPr lang="en-US" altLang="zh-CN" sz="1600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endParaRPr lang="zh-CN" altLang="en-US" sz="1600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69E2D0-877D-B3A7-D3A7-DE1F922DF179}"/>
              </a:ext>
            </a:extLst>
          </p:cNvPr>
          <p:cNvSpPr txBox="1"/>
          <p:nvPr/>
        </p:nvSpPr>
        <p:spPr>
          <a:xfrm>
            <a:off x="7376570" y="1691763"/>
            <a:ext cx="1502510" cy="3082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rgbClr val="6D7D66"/>
              </a:buClr>
              <a:buSzPct val="80000"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1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样例输入 </a:t>
            </a:r>
            <a:endParaRPr kumimoji="0" lang="en-US" altLang="zh-CN" sz="1600" b="0" i="0" u="none" strike="noStrike" kern="1200" cap="none" spc="0" normalizeH="0" baseline="0" noProof="1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6D7D66"/>
              </a:buClr>
              <a:buSzPct val="80000"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1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6D7D66"/>
              </a:buClr>
              <a:buSzPct val="80000"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1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6D7D66"/>
              </a:buClr>
              <a:buSzPct val="80000"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1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6D7D66"/>
              </a:buClr>
              <a:buSzPct val="80000"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1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6D7D66"/>
              </a:buClr>
              <a:buSzPct val="80000"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1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6D7D66"/>
              </a:buClr>
              <a:buSzPct val="80000"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1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1 2 3 2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6D7D66"/>
              </a:buClr>
              <a:buSzPct val="80000"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1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2 2 3</a:t>
            </a:r>
            <a:endParaRPr lang="zh-CN" alt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C44923C-0390-7B37-EC36-82882405E5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81711" y="1691763"/>
            <a:ext cx="2098738" cy="22686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952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样例输出 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1600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数据范围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1&lt;=n&lt;=200000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1&lt;=q&lt;=200000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C181C76E-7333-3278-5F77-3DF343C092EB}"/>
              </a:ext>
            </a:extLst>
          </p:cNvPr>
          <p:cNvCxnSpPr>
            <a:cxnSpLocks/>
          </p:cNvCxnSpPr>
          <p:nvPr/>
        </p:nvCxnSpPr>
        <p:spPr>
          <a:xfrm flipV="1">
            <a:off x="6905002" y="1556019"/>
            <a:ext cx="0" cy="4982198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6447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39503" y="536903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B56867-A72C-49F1-953A-4E0DA9F4B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36903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例题</a:t>
            </a:r>
            <a:r>
              <a:rPr lang="en-US" altLang="zh-CN" dirty="0">
                <a:solidFill>
                  <a:srgbClr val="000000"/>
                </a:solidFill>
                <a:cs typeface="+mn-cs"/>
              </a:rPr>
              <a:t>3(codevs1082)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6C16899-397F-46EF-8020-C1AA3E7E9884}"/>
              </a:ext>
            </a:extLst>
          </p:cNvPr>
          <p:cNvSpPr txBox="1"/>
          <p:nvPr/>
        </p:nvSpPr>
        <p:spPr>
          <a:xfrm>
            <a:off x="1020115" y="1286898"/>
            <a:ext cx="10151770" cy="6088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en-US" altLang="zh-CN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r>
              <a:rPr lang="en-US" altLang="zh-CN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lv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zh-CN" altLang="en-US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本题为：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区间修改、区间查询</a:t>
            </a:r>
          </a:p>
          <a:p>
            <a:pPr lv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zh-CN" altLang="en-US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区间修改仍然需要构造差分，但是原序列区间查询需要对差分序列求前缀和的前缀和</a:t>
            </a:r>
          </a:p>
          <a:p>
            <a:pPr lv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zh-CN" altLang="en-US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</a:t>
            </a:r>
            <a:r>
              <a:rPr lang="en-US" altLang="zh-CN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Tn</a:t>
            </a:r>
            <a:r>
              <a:rPr lang="zh-CN" altLang="en-US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为原序列的前缀和，</a:t>
            </a:r>
            <a:r>
              <a:rPr lang="en-US" altLang="zh-CN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Sn</a:t>
            </a:r>
            <a:r>
              <a:rPr lang="zh-CN" altLang="en-US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为差分序列的前缀和</a:t>
            </a:r>
          </a:p>
          <a:p>
            <a:pPr lv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zh-CN" altLang="en-US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</a:t>
            </a:r>
            <a:r>
              <a:rPr lang="en-US" altLang="zh-CN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Tn=S1+S2+...+Sn</a:t>
            </a:r>
          </a:p>
          <a:p>
            <a:pPr lv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en-US" altLang="zh-CN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=b1+(b1+b2)+(b1+b2+b3)+...+(b1+b2+...+bn)</a:t>
            </a:r>
          </a:p>
          <a:p>
            <a:pPr lv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en-US" altLang="zh-CN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=nb1+(n-1)b2+(n-2)b3+...+bn</a:t>
            </a:r>
          </a:p>
          <a:p>
            <a:pPr lv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en-US" altLang="zh-CN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=n(b1+b2+...+bn)-(b2+2b3+3b4+...+(n-1)bn)</a:t>
            </a:r>
          </a:p>
          <a:p>
            <a:pPr lv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en-US" altLang="zh-CN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=(n+1)(b1+b2+...+bn)-(b1+2b2+3b3+...+nbn)</a:t>
            </a:r>
          </a:p>
          <a:p>
            <a:pPr lv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en-US" altLang="zh-CN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=(n+1)Σbi-Σ(ibi)</a:t>
            </a:r>
          </a:p>
          <a:p>
            <a:pPr lv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zh-CN" altLang="en-US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也就是说，需要求差分序列的前缀和与另一个序列</a:t>
            </a:r>
            <a:r>
              <a:rPr lang="en-US" altLang="zh-CN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下标与原差分序列乘积构成的新序列</a:t>
            </a:r>
            <a:r>
              <a:rPr lang="en-US" altLang="zh-CN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的前缀和</a:t>
            </a:r>
          </a:p>
          <a:p>
            <a:pPr lvl="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endParaRPr lang="zh-CN" altLang="en-US" sz="2000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7502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39503" y="536903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B56867-A72C-49F1-953A-4E0DA9F4B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36903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例题</a:t>
            </a:r>
            <a:r>
              <a:rPr lang="en-US" altLang="zh-CN" dirty="0">
                <a:solidFill>
                  <a:srgbClr val="000000"/>
                </a:solidFill>
                <a:cs typeface="+mn-cs"/>
              </a:rPr>
              <a:t>3(codevs1082)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6C16899-397F-46EF-8020-C1AA3E7E9884}"/>
              </a:ext>
            </a:extLst>
          </p:cNvPr>
          <p:cNvSpPr txBox="1"/>
          <p:nvPr/>
        </p:nvSpPr>
        <p:spPr>
          <a:xfrm>
            <a:off x="871337" y="1100466"/>
            <a:ext cx="10151770" cy="615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D53E3CF-7532-4F7E-9E84-515675594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503" y="1882447"/>
            <a:ext cx="4590069" cy="426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214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39503" y="536903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B56867-A72C-49F1-953A-4E0DA9F4B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36903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例题</a:t>
            </a:r>
            <a:r>
              <a:rPr lang="en-US" altLang="zh-CN" dirty="0">
                <a:solidFill>
                  <a:srgbClr val="000000"/>
                </a:solidFill>
                <a:cs typeface="+mn-cs"/>
              </a:rPr>
              <a:t>3(codevs1082)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6C16899-397F-46EF-8020-C1AA3E7E9884}"/>
              </a:ext>
            </a:extLst>
          </p:cNvPr>
          <p:cNvSpPr txBox="1"/>
          <p:nvPr/>
        </p:nvSpPr>
        <p:spPr>
          <a:xfrm>
            <a:off x="871337" y="1100466"/>
            <a:ext cx="10151770" cy="615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EF98E16-4060-4B0F-82AB-F6D164009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503" y="1715506"/>
            <a:ext cx="6738969" cy="5050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565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B56867-A72C-49F1-953A-4E0DA9F4B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36903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逆序数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6C16899-397F-46EF-8020-C1AA3E7E9884}"/>
              </a:ext>
            </a:extLst>
          </p:cNvPr>
          <p:cNvSpPr txBox="1"/>
          <p:nvPr/>
        </p:nvSpPr>
        <p:spPr>
          <a:xfrm>
            <a:off x="1080524" y="1510212"/>
            <a:ext cx="10030951" cy="1670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lang="en-US" altLang="zh-CN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互不不同</a:t>
            </a:r>
            <a:r>
              <a:rPr lang="zh-CN" altLang="en-US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的元素，先规定各元素之间有一个标准次序（例如</a:t>
            </a:r>
            <a:r>
              <a:rPr lang="en-US" altLang="zh-CN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 不同的自然数，可规定从小到大为标准次序），于是在这</a:t>
            </a:r>
            <a:r>
              <a:rPr lang="en-US" altLang="zh-CN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个元素的任一排列中，当某</a:t>
            </a: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两个元素的先后次序与标准次序不同</a:t>
            </a:r>
            <a:r>
              <a:rPr lang="zh-CN" altLang="en-US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时，就说有</a:t>
            </a:r>
            <a:r>
              <a:rPr lang="en-US" altLang="zh-CN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个逆序。一个排列中所有逆序总数叫做这个排列的逆序数。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33A4739-9AA4-49DB-BCA0-663159E25E94}"/>
              </a:ext>
            </a:extLst>
          </p:cNvPr>
          <p:cNvSpPr txBox="1"/>
          <p:nvPr/>
        </p:nvSpPr>
        <p:spPr>
          <a:xfrm>
            <a:off x="1080524" y="3576450"/>
            <a:ext cx="9266830" cy="1230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标准次序为：</a:t>
            </a:r>
            <a:r>
              <a:rPr lang="en-US" altLang="zh-CN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1 2 3 4 5</a:t>
            </a:r>
          </a:p>
          <a:p>
            <a:pPr>
              <a:lnSpc>
                <a:spcPct val="200000"/>
              </a:lnSpc>
            </a:pPr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某一排列</a:t>
            </a:r>
            <a:r>
              <a:rPr lang="en-US" altLang="zh-CN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为：</a:t>
            </a:r>
            <a:r>
              <a:rPr lang="en-US" altLang="zh-CN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3 2 1 5 4</a:t>
            </a:r>
            <a:endParaRPr lang="zh-CN" altLang="en-US" sz="20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82080B4-CFF4-46E8-AAF6-FC127DD317B9}"/>
              </a:ext>
            </a:extLst>
          </p:cNvPr>
          <p:cNvSpPr txBox="1"/>
          <p:nvPr/>
        </p:nvSpPr>
        <p:spPr>
          <a:xfrm>
            <a:off x="1088994" y="4807043"/>
            <a:ext cx="9266830" cy="615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逆序：</a:t>
            </a:r>
            <a:r>
              <a:rPr lang="en-US" altLang="zh-CN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(3,2),(3,1),(2,1),(5,4)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47DB454-999C-4C62-BFC6-41443745441D}"/>
              </a:ext>
            </a:extLst>
          </p:cNvPr>
          <p:cNvSpPr txBox="1"/>
          <p:nvPr/>
        </p:nvSpPr>
        <p:spPr>
          <a:xfrm>
            <a:off x="1088994" y="5607262"/>
            <a:ext cx="9266830" cy="430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逆序数：</a:t>
            </a:r>
            <a:r>
              <a:rPr lang="en-US" altLang="zh-CN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CN" sz="20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202823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B56867-A72C-49F1-953A-4E0DA9F4B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36903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逆序数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6C16899-397F-46EF-8020-C1AA3E7E9884}"/>
              </a:ext>
            </a:extLst>
          </p:cNvPr>
          <p:cNvSpPr txBox="1"/>
          <p:nvPr/>
        </p:nvSpPr>
        <p:spPr>
          <a:xfrm>
            <a:off x="991747" y="1430313"/>
            <a:ext cx="10030951" cy="430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方法：求每个数后面有多少个数比它小</a:t>
            </a:r>
            <a:endParaRPr lang="en-US" altLang="zh-CN" sz="20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DEF8C6C-C235-4269-880B-E9B55F339FEE}"/>
              </a:ext>
            </a:extLst>
          </p:cNvPr>
          <p:cNvSpPr txBox="1"/>
          <p:nvPr/>
        </p:nvSpPr>
        <p:spPr>
          <a:xfrm>
            <a:off x="1088994" y="1931708"/>
            <a:ext cx="7384002" cy="3730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</a:t>
            </a:r>
          </a:p>
          <a:p>
            <a:pPr>
              <a:lnSpc>
                <a:spcPct val="150000"/>
              </a:lnSpc>
            </a:pPr>
            <a:r>
              <a:rPr lang="nn-NO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(int i = 1; i &lt;= n; i ++) {</a:t>
            </a:r>
          </a:p>
          <a:p>
            <a:pPr>
              <a:lnSpc>
                <a:spcPct val="150000"/>
              </a:lnSpc>
            </a:pPr>
            <a:r>
              <a:rPr lang="nb-NO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for (int j = i + 1; j &lt;= n; j ++) {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if (A[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&lt; A[j]) {	</a:t>
            </a:r>
            <a:r>
              <a:rPr lang="en-US" altLang="zh-CN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后面有多少个数比它小</a:t>
            </a:r>
            <a:endParaRPr lang="en-US" altLang="zh-CN" sz="20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++;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4FD581A-B020-421B-BC14-3ED09F5BBE52}"/>
              </a:ext>
            </a:extLst>
          </p:cNvPr>
          <p:cNvSpPr txBox="1"/>
          <p:nvPr/>
        </p:nvSpPr>
        <p:spPr>
          <a:xfrm>
            <a:off x="991747" y="5826101"/>
            <a:ext cx="9075762" cy="430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时间复杂度</a:t>
            </a:r>
            <a:r>
              <a:rPr lang="en-US" altLang="zh-CN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O((n^2)/2) 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≈ O(n^2)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59680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B56867-A72C-49F1-953A-4E0DA9F4B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36903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逆序数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ADB1FE9D-32B5-4C49-BB39-FB9DACCC58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4220962"/>
              </p:ext>
            </p:extLst>
          </p:nvPr>
        </p:nvGraphicFramePr>
        <p:xfrm>
          <a:off x="1891394" y="2823010"/>
          <a:ext cx="8108285" cy="614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41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8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8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8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8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8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F2A8D680-C7CB-4104-8A70-952571BDE2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5377420"/>
              </p:ext>
            </p:extLst>
          </p:nvPr>
        </p:nvGraphicFramePr>
        <p:xfrm>
          <a:off x="1793740" y="3662122"/>
          <a:ext cx="8108285" cy="614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41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3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3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3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altLang="en-US" sz="3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altLang="en-US" sz="3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" name="文本框 25">
            <a:extLst>
              <a:ext uri="{FF2B5EF4-FFF2-40B4-BE49-F238E27FC236}">
                <a16:creationId xmlns:a16="http://schemas.microsoft.com/office/drawing/2014/main" id="{71B764A7-D367-44BC-85B6-6D37333C53DC}"/>
              </a:ext>
            </a:extLst>
          </p:cNvPr>
          <p:cNvSpPr txBox="1"/>
          <p:nvPr/>
        </p:nvSpPr>
        <p:spPr>
          <a:xfrm>
            <a:off x="1168894" y="1732439"/>
            <a:ext cx="82159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3 2 1 5 4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64A01DB-3363-4B61-A33D-366801435083}"/>
              </a:ext>
            </a:extLst>
          </p:cNvPr>
          <p:cNvSpPr txBox="1"/>
          <p:nvPr/>
        </p:nvSpPr>
        <p:spPr>
          <a:xfrm>
            <a:off x="1210309" y="4577476"/>
            <a:ext cx="8243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ans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0;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56C7FCA-5D90-4872-97E3-2608B020FBE4}"/>
              </a:ext>
            </a:extLst>
          </p:cNvPr>
          <p:cNvSpPr txBox="1"/>
          <p:nvPr/>
        </p:nvSpPr>
        <p:spPr>
          <a:xfrm>
            <a:off x="1088994" y="2899253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1F6912A-0E97-40F9-9FDB-73BBB1A53D08}"/>
              </a:ext>
            </a:extLst>
          </p:cNvPr>
          <p:cNvSpPr txBox="1"/>
          <p:nvPr/>
        </p:nvSpPr>
        <p:spPr>
          <a:xfrm rot="10800000" flipV="1">
            <a:off x="1210309" y="3684678"/>
            <a:ext cx="76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i: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33167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B56867-A72C-49F1-953A-4E0DA9F4B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36903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逆序数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ADB1FE9D-32B5-4C49-BB39-FB9DACCC58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1743040"/>
              </p:ext>
            </p:extLst>
          </p:nvPr>
        </p:nvGraphicFramePr>
        <p:xfrm>
          <a:off x="1891394" y="2823010"/>
          <a:ext cx="8108285" cy="614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41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8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8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8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8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8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F2A8D680-C7CB-4104-8A70-952571BDE2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6672584"/>
              </p:ext>
            </p:extLst>
          </p:nvPr>
        </p:nvGraphicFramePr>
        <p:xfrm>
          <a:off x="1793740" y="3639567"/>
          <a:ext cx="8108285" cy="614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41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3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3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3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altLang="en-US" sz="3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altLang="en-US" sz="3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" name="文本框 25">
            <a:extLst>
              <a:ext uri="{FF2B5EF4-FFF2-40B4-BE49-F238E27FC236}">
                <a16:creationId xmlns:a16="http://schemas.microsoft.com/office/drawing/2014/main" id="{71B764A7-D367-44BC-85B6-6D37333C53DC}"/>
              </a:ext>
            </a:extLst>
          </p:cNvPr>
          <p:cNvSpPr txBox="1"/>
          <p:nvPr/>
        </p:nvSpPr>
        <p:spPr>
          <a:xfrm>
            <a:off x="1168894" y="1732439"/>
            <a:ext cx="82159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3 2 1 5 </a:t>
            </a:r>
            <a:r>
              <a:rPr lang="en-US" altLang="zh-CN" sz="2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2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56C7FCA-5D90-4872-97E3-2608B020FBE4}"/>
              </a:ext>
            </a:extLst>
          </p:cNvPr>
          <p:cNvSpPr txBox="1"/>
          <p:nvPr/>
        </p:nvSpPr>
        <p:spPr>
          <a:xfrm>
            <a:off x="1088994" y="2899253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1F6912A-0E97-40F9-9FDB-73BBB1A53D08}"/>
              </a:ext>
            </a:extLst>
          </p:cNvPr>
          <p:cNvSpPr txBox="1"/>
          <p:nvPr/>
        </p:nvSpPr>
        <p:spPr>
          <a:xfrm rot="10800000" flipV="1">
            <a:off x="1210309" y="3684678"/>
            <a:ext cx="76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i: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右大括号 9">
            <a:extLst>
              <a:ext uri="{FF2B5EF4-FFF2-40B4-BE49-F238E27FC236}">
                <a16:creationId xmlns:a16="http://schemas.microsoft.com/office/drawing/2014/main" id="{7D6185E6-8E3A-4759-A13D-C641DC40948B}"/>
              </a:ext>
            </a:extLst>
          </p:cNvPr>
          <p:cNvSpPr/>
          <p:nvPr/>
        </p:nvSpPr>
        <p:spPr>
          <a:xfrm rot="5400000">
            <a:off x="4745843" y="2154998"/>
            <a:ext cx="559559" cy="484495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95367A0-0F5C-454F-B245-0C9E6B5447CB}"/>
              </a:ext>
            </a:extLst>
          </p:cNvPr>
          <p:cNvSpPr txBox="1"/>
          <p:nvPr/>
        </p:nvSpPr>
        <p:spPr>
          <a:xfrm>
            <a:off x="3587904" y="5095081"/>
            <a:ext cx="30570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sum[4-1] = 0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8218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B56867-A72C-49F1-953A-4E0DA9F4B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36903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逆序数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ADB1FE9D-32B5-4C49-BB39-FB9DACCC58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4589250"/>
              </p:ext>
            </p:extLst>
          </p:nvPr>
        </p:nvGraphicFramePr>
        <p:xfrm>
          <a:off x="1891394" y="2823010"/>
          <a:ext cx="8108285" cy="614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41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8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8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8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800" dirty="0">
                        <a:solidFill>
                          <a:schemeClr val="accent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8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F2A8D680-C7CB-4104-8A70-952571BDE2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826397"/>
              </p:ext>
            </p:extLst>
          </p:nvPr>
        </p:nvGraphicFramePr>
        <p:xfrm>
          <a:off x="1793740" y="3639567"/>
          <a:ext cx="8108285" cy="614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41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3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3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3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altLang="en-US" sz="3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altLang="en-US" sz="3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" name="文本框 25">
            <a:extLst>
              <a:ext uri="{FF2B5EF4-FFF2-40B4-BE49-F238E27FC236}">
                <a16:creationId xmlns:a16="http://schemas.microsoft.com/office/drawing/2014/main" id="{71B764A7-D367-44BC-85B6-6D37333C53DC}"/>
              </a:ext>
            </a:extLst>
          </p:cNvPr>
          <p:cNvSpPr txBox="1"/>
          <p:nvPr/>
        </p:nvSpPr>
        <p:spPr>
          <a:xfrm>
            <a:off x="1168894" y="1732439"/>
            <a:ext cx="82159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3 2 1 5 </a:t>
            </a:r>
            <a:endParaRPr lang="zh-CN" altLang="en-US" sz="2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56C7FCA-5D90-4872-97E3-2608B020FBE4}"/>
              </a:ext>
            </a:extLst>
          </p:cNvPr>
          <p:cNvSpPr txBox="1"/>
          <p:nvPr/>
        </p:nvSpPr>
        <p:spPr>
          <a:xfrm>
            <a:off x="1088994" y="2899253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1F6912A-0E97-40F9-9FDB-73BBB1A53D08}"/>
              </a:ext>
            </a:extLst>
          </p:cNvPr>
          <p:cNvSpPr txBox="1"/>
          <p:nvPr/>
        </p:nvSpPr>
        <p:spPr>
          <a:xfrm rot="10800000" flipV="1">
            <a:off x="1210309" y="3684678"/>
            <a:ext cx="76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i: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C663C45-CA98-4AA1-9CBD-F55694F948E9}"/>
              </a:ext>
            </a:extLst>
          </p:cNvPr>
          <p:cNvSpPr txBox="1"/>
          <p:nvPr/>
        </p:nvSpPr>
        <p:spPr>
          <a:xfrm>
            <a:off x="1141599" y="4532365"/>
            <a:ext cx="8243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ans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ans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sum[3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 = 0;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535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B56867-A72C-49F1-953A-4E0DA9F4B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36903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逆序数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ADB1FE9D-32B5-4C49-BB39-FB9DACCC580B}"/>
              </a:ext>
            </a:extLst>
          </p:cNvPr>
          <p:cNvGraphicFramePr>
            <a:graphicFrameLocks noGrp="1"/>
          </p:cNvGraphicFramePr>
          <p:nvPr/>
        </p:nvGraphicFramePr>
        <p:xfrm>
          <a:off x="1891394" y="2823010"/>
          <a:ext cx="8108285" cy="614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41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8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8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8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800" dirty="0">
                        <a:solidFill>
                          <a:schemeClr val="accent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8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F2A8D680-C7CB-4104-8A70-952571BDE2AD}"/>
              </a:ext>
            </a:extLst>
          </p:cNvPr>
          <p:cNvGraphicFramePr>
            <a:graphicFrameLocks noGrp="1"/>
          </p:cNvGraphicFramePr>
          <p:nvPr/>
        </p:nvGraphicFramePr>
        <p:xfrm>
          <a:off x="1793740" y="3639567"/>
          <a:ext cx="8108285" cy="614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41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3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3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3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altLang="en-US" sz="3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altLang="en-US" sz="3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" name="文本框 25">
            <a:extLst>
              <a:ext uri="{FF2B5EF4-FFF2-40B4-BE49-F238E27FC236}">
                <a16:creationId xmlns:a16="http://schemas.microsoft.com/office/drawing/2014/main" id="{71B764A7-D367-44BC-85B6-6D37333C53DC}"/>
              </a:ext>
            </a:extLst>
          </p:cNvPr>
          <p:cNvSpPr txBox="1"/>
          <p:nvPr/>
        </p:nvSpPr>
        <p:spPr>
          <a:xfrm>
            <a:off x="1168894" y="1732439"/>
            <a:ext cx="82159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3 2 1 </a:t>
            </a:r>
            <a:r>
              <a:rPr lang="en-US" altLang="zh-CN" sz="2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endParaRPr lang="zh-CN" altLang="en-US" sz="2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56C7FCA-5D90-4872-97E3-2608B020FBE4}"/>
              </a:ext>
            </a:extLst>
          </p:cNvPr>
          <p:cNvSpPr txBox="1"/>
          <p:nvPr/>
        </p:nvSpPr>
        <p:spPr>
          <a:xfrm>
            <a:off x="1088994" y="2899253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1F6912A-0E97-40F9-9FDB-73BBB1A53D08}"/>
              </a:ext>
            </a:extLst>
          </p:cNvPr>
          <p:cNvSpPr txBox="1"/>
          <p:nvPr/>
        </p:nvSpPr>
        <p:spPr>
          <a:xfrm rot="10800000" flipV="1">
            <a:off x="1210309" y="3684678"/>
            <a:ext cx="76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i: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右大括号 9">
            <a:extLst>
              <a:ext uri="{FF2B5EF4-FFF2-40B4-BE49-F238E27FC236}">
                <a16:creationId xmlns:a16="http://schemas.microsoft.com/office/drawing/2014/main" id="{741979E6-6688-497A-9C26-BA48AE6F2E31}"/>
              </a:ext>
            </a:extLst>
          </p:cNvPr>
          <p:cNvSpPr/>
          <p:nvPr/>
        </p:nvSpPr>
        <p:spPr>
          <a:xfrm rot="5400000">
            <a:off x="4839853" y="2264866"/>
            <a:ext cx="559559" cy="508359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D8BC68A-3279-465E-A3D2-A345809D65A8}"/>
              </a:ext>
            </a:extLst>
          </p:cNvPr>
          <p:cNvSpPr txBox="1"/>
          <p:nvPr/>
        </p:nvSpPr>
        <p:spPr>
          <a:xfrm>
            <a:off x="3617806" y="5285421"/>
            <a:ext cx="3318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/>
              <a:t>sum[5-1] = 1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631425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B56867-A72C-49F1-953A-4E0DA9F4B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36903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逆序数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ADB1FE9D-32B5-4C49-BB39-FB9DACCC58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692909"/>
              </p:ext>
            </p:extLst>
          </p:nvPr>
        </p:nvGraphicFramePr>
        <p:xfrm>
          <a:off x="1891394" y="2823010"/>
          <a:ext cx="8108285" cy="614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41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8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8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8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8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800" b="1" dirty="0">
                        <a:solidFill>
                          <a:schemeClr val="accent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F2A8D680-C7CB-4104-8A70-952571BDE2AD}"/>
              </a:ext>
            </a:extLst>
          </p:cNvPr>
          <p:cNvGraphicFramePr>
            <a:graphicFrameLocks noGrp="1"/>
          </p:cNvGraphicFramePr>
          <p:nvPr/>
        </p:nvGraphicFramePr>
        <p:xfrm>
          <a:off x="1793740" y="3639567"/>
          <a:ext cx="8108285" cy="614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41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3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3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3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altLang="en-US" sz="3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altLang="en-US" sz="3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" name="文本框 25">
            <a:extLst>
              <a:ext uri="{FF2B5EF4-FFF2-40B4-BE49-F238E27FC236}">
                <a16:creationId xmlns:a16="http://schemas.microsoft.com/office/drawing/2014/main" id="{71B764A7-D367-44BC-85B6-6D37333C53DC}"/>
              </a:ext>
            </a:extLst>
          </p:cNvPr>
          <p:cNvSpPr txBox="1"/>
          <p:nvPr/>
        </p:nvSpPr>
        <p:spPr>
          <a:xfrm>
            <a:off x="1168894" y="1732439"/>
            <a:ext cx="82159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3 2 1</a:t>
            </a:r>
            <a:endParaRPr lang="zh-CN" altLang="en-US" sz="2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56C7FCA-5D90-4872-97E3-2608B020FBE4}"/>
              </a:ext>
            </a:extLst>
          </p:cNvPr>
          <p:cNvSpPr txBox="1"/>
          <p:nvPr/>
        </p:nvSpPr>
        <p:spPr>
          <a:xfrm>
            <a:off x="1088994" y="2899253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1F6912A-0E97-40F9-9FDB-73BBB1A53D08}"/>
              </a:ext>
            </a:extLst>
          </p:cNvPr>
          <p:cNvSpPr txBox="1"/>
          <p:nvPr/>
        </p:nvSpPr>
        <p:spPr>
          <a:xfrm rot="10800000" flipV="1">
            <a:off x="1210309" y="3684678"/>
            <a:ext cx="76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i: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21B8BCF-5EA3-4C33-8A33-3A78E92AFD0A}"/>
              </a:ext>
            </a:extLst>
          </p:cNvPr>
          <p:cNvSpPr txBox="1"/>
          <p:nvPr/>
        </p:nvSpPr>
        <p:spPr>
          <a:xfrm>
            <a:off x="1210309" y="4878936"/>
            <a:ext cx="8243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ans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2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ans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sum[4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] = 1;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23974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B56867-A72C-49F1-953A-4E0DA9F4B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36903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逆序数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ADB1FE9D-32B5-4C49-BB39-FB9DACCC580B}"/>
              </a:ext>
            </a:extLst>
          </p:cNvPr>
          <p:cNvGraphicFramePr>
            <a:graphicFrameLocks noGrp="1"/>
          </p:cNvGraphicFramePr>
          <p:nvPr/>
        </p:nvGraphicFramePr>
        <p:xfrm>
          <a:off x="1891394" y="2823010"/>
          <a:ext cx="8108285" cy="614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41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8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8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8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8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800" b="1" dirty="0">
                        <a:solidFill>
                          <a:schemeClr val="accent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F2A8D680-C7CB-4104-8A70-952571BDE2AD}"/>
              </a:ext>
            </a:extLst>
          </p:cNvPr>
          <p:cNvGraphicFramePr>
            <a:graphicFrameLocks noGrp="1"/>
          </p:cNvGraphicFramePr>
          <p:nvPr/>
        </p:nvGraphicFramePr>
        <p:xfrm>
          <a:off x="1793740" y="3639567"/>
          <a:ext cx="8108285" cy="614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41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3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3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3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altLang="en-US" sz="3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altLang="en-US" sz="3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" name="文本框 25">
            <a:extLst>
              <a:ext uri="{FF2B5EF4-FFF2-40B4-BE49-F238E27FC236}">
                <a16:creationId xmlns:a16="http://schemas.microsoft.com/office/drawing/2014/main" id="{71B764A7-D367-44BC-85B6-6D37333C53DC}"/>
              </a:ext>
            </a:extLst>
          </p:cNvPr>
          <p:cNvSpPr txBox="1"/>
          <p:nvPr/>
        </p:nvSpPr>
        <p:spPr>
          <a:xfrm>
            <a:off x="1168894" y="1732439"/>
            <a:ext cx="82159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3 2 </a:t>
            </a:r>
            <a:r>
              <a:rPr lang="en-US" altLang="zh-CN" sz="2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56C7FCA-5D90-4872-97E3-2608B020FBE4}"/>
              </a:ext>
            </a:extLst>
          </p:cNvPr>
          <p:cNvSpPr txBox="1"/>
          <p:nvPr/>
        </p:nvSpPr>
        <p:spPr>
          <a:xfrm>
            <a:off x="1088994" y="2899253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1F6912A-0E97-40F9-9FDB-73BBB1A53D08}"/>
              </a:ext>
            </a:extLst>
          </p:cNvPr>
          <p:cNvSpPr txBox="1"/>
          <p:nvPr/>
        </p:nvSpPr>
        <p:spPr>
          <a:xfrm rot="10800000" flipV="1">
            <a:off x="1210309" y="3684678"/>
            <a:ext cx="76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i: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右大括号 9">
            <a:extLst>
              <a:ext uri="{FF2B5EF4-FFF2-40B4-BE49-F238E27FC236}">
                <a16:creationId xmlns:a16="http://schemas.microsoft.com/office/drawing/2014/main" id="{F52080AD-0C3F-4674-8004-B0FBD1275AC8}"/>
              </a:ext>
            </a:extLst>
          </p:cNvPr>
          <p:cNvSpPr/>
          <p:nvPr/>
        </p:nvSpPr>
        <p:spPr>
          <a:xfrm rot="5400000">
            <a:off x="1543679" y="4260973"/>
            <a:ext cx="559559" cy="4663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9F3D08F-CD3F-47F8-88B0-FFE114F97F2F}"/>
              </a:ext>
            </a:extLst>
          </p:cNvPr>
          <p:cNvSpPr txBox="1"/>
          <p:nvPr/>
        </p:nvSpPr>
        <p:spPr>
          <a:xfrm>
            <a:off x="1005659" y="4720284"/>
            <a:ext cx="3557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sum[1-1] = 0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2759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B56867-A72C-49F1-953A-4E0DA9F4B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36903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逆序数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ADB1FE9D-32B5-4C49-BB39-FB9DACCC58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3720713"/>
              </p:ext>
            </p:extLst>
          </p:nvPr>
        </p:nvGraphicFramePr>
        <p:xfrm>
          <a:off x="1891394" y="2823010"/>
          <a:ext cx="8108285" cy="614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41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800" dirty="0">
                        <a:solidFill>
                          <a:schemeClr val="accent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8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8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8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F2A8D680-C7CB-4104-8A70-952571BDE2AD}"/>
              </a:ext>
            </a:extLst>
          </p:cNvPr>
          <p:cNvGraphicFramePr>
            <a:graphicFrameLocks noGrp="1"/>
          </p:cNvGraphicFramePr>
          <p:nvPr/>
        </p:nvGraphicFramePr>
        <p:xfrm>
          <a:off x="1793740" y="3639567"/>
          <a:ext cx="8108285" cy="614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41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3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3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3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altLang="en-US" sz="3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altLang="en-US" sz="3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" name="文本框 25">
            <a:extLst>
              <a:ext uri="{FF2B5EF4-FFF2-40B4-BE49-F238E27FC236}">
                <a16:creationId xmlns:a16="http://schemas.microsoft.com/office/drawing/2014/main" id="{71B764A7-D367-44BC-85B6-6D37333C53DC}"/>
              </a:ext>
            </a:extLst>
          </p:cNvPr>
          <p:cNvSpPr txBox="1"/>
          <p:nvPr/>
        </p:nvSpPr>
        <p:spPr>
          <a:xfrm>
            <a:off x="1168894" y="1732439"/>
            <a:ext cx="82159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3 2 </a:t>
            </a:r>
            <a:endParaRPr lang="zh-CN" altLang="en-US" sz="2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56C7FCA-5D90-4872-97E3-2608B020FBE4}"/>
              </a:ext>
            </a:extLst>
          </p:cNvPr>
          <p:cNvSpPr txBox="1"/>
          <p:nvPr/>
        </p:nvSpPr>
        <p:spPr>
          <a:xfrm>
            <a:off x="1088994" y="2899253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1F6912A-0E97-40F9-9FDB-73BBB1A53D08}"/>
              </a:ext>
            </a:extLst>
          </p:cNvPr>
          <p:cNvSpPr txBox="1"/>
          <p:nvPr/>
        </p:nvSpPr>
        <p:spPr>
          <a:xfrm rot="10800000" flipV="1">
            <a:off x="1210309" y="3684678"/>
            <a:ext cx="76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i: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22289E5-195E-4C8E-9FCE-8DA3947DB7F5}"/>
              </a:ext>
            </a:extLst>
          </p:cNvPr>
          <p:cNvSpPr txBox="1"/>
          <p:nvPr/>
        </p:nvSpPr>
        <p:spPr>
          <a:xfrm>
            <a:off x="1168894" y="4586549"/>
            <a:ext cx="8243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ans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2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ans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sum[0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] = 1</a:t>
            </a:r>
            <a:r>
              <a:rPr lang="en-US" altLang="zh-CN" sz="3200" b="1" dirty="0"/>
              <a:t>;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292195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B56867-A72C-49F1-953A-4E0DA9F4B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36903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逆序数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ADB1FE9D-32B5-4C49-BB39-FB9DACCC58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1488130"/>
              </p:ext>
            </p:extLst>
          </p:nvPr>
        </p:nvGraphicFramePr>
        <p:xfrm>
          <a:off x="1891394" y="2823010"/>
          <a:ext cx="8108285" cy="614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41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8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8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8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8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F2A8D680-C7CB-4104-8A70-952571BDE2AD}"/>
              </a:ext>
            </a:extLst>
          </p:cNvPr>
          <p:cNvGraphicFramePr>
            <a:graphicFrameLocks noGrp="1"/>
          </p:cNvGraphicFramePr>
          <p:nvPr/>
        </p:nvGraphicFramePr>
        <p:xfrm>
          <a:off x="1793740" y="3639567"/>
          <a:ext cx="8108285" cy="614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41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3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3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3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altLang="en-US" sz="3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altLang="en-US" sz="3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" name="文本框 25">
            <a:extLst>
              <a:ext uri="{FF2B5EF4-FFF2-40B4-BE49-F238E27FC236}">
                <a16:creationId xmlns:a16="http://schemas.microsoft.com/office/drawing/2014/main" id="{71B764A7-D367-44BC-85B6-6D37333C53DC}"/>
              </a:ext>
            </a:extLst>
          </p:cNvPr>
          <p:cNvSpPr txBox="1"/>
          <p:nvPr/>
        </p:nvSpPr>
        <p:spPr>
          <a:xfrm>
            <a:off x="1168894" y="1732439"/>
            <a:ext cx="82159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en-US" altLang="zh-CN" sz="2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56C7FCA-5D90-4872-97E3-2608B020FBE4}"/>
              </a:ext>
            </a:extLst>
          </p:cNvPr>
          <p:cNvSpPr txBox="1"/>
          <p:nvPr/>
        </p:nvSpPr>
        <p:spPr>
          <a:xfrm>
            <a:off x="1088994" y="2899253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1F6912A-0E97-40F9-9FDB-73BBB1A53D08}"/>
              </a:ext>
            </a:extLst>
          </p:cNvPr>
          <p:cNvSpPr txBox="1"/>
          <p:nvPr/>
        </p:nvSpPr>
        <p:spPr>
          <a:xfrm rot="10800000" flipV="1">
            <a:off x="1210309" y="3684678"/>
            <a:ext cx="76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i: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右大括号 10">
            <a:extLst>
              <a:ext uri="{FF2B5EF4-FFF2-40B4-BE49-F238E27FC236}">
                <a16:creationId xmlns:a16="http://schemas.microsoft.com/office/drawing/2014/main" id="{04AD17DB-EF72-4306-9FED-385CE2DEF3D1}"/>
              </a:ext>
            </a:extLst>
          </p:cNvPr>
          <p:cNvSpPr/>
          <p:nvPr/>
        </p:nvSpPr>
        <p:spPr>
          <a:xfrm rot="5400000">
            <a:off x="3129335" y="3754443"/>
            <a:ext cx="477670" cy="155584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381D26A-2C46-4DD2-BD28-7955950EE940}"/>
              </a:ext>
            </a:extLst>
          </p:cNvPr>
          <p:cNvSpPr txBox="1"/>
          <p:nvPr/>
        </p:nvSpPr>
        <p:spPr>
          <a:xfrm>
            <a:off x="2003394" y="5114842"/>
            <a:ext cx="35362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sum[2-1] = 1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621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B56867-A72C-49F1-953A-4E0DA9F4B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36903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逆序数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ADB1FE9D-32B5-4C49-BB39-FB9DACCC58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181177"/>
              </p:ext>
            </p:extLst>
          </p:nvPr>
        </p:nvGraphicFramePr>
        <p:xfrm>
          <a:off x="1891394" y="2823010"/>
          <a:ext cx="8108285" cy="614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41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8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800" dirty="0">
                        <a:solidFill>
                          <a:schemeClr val="accent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8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8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F2A8D680-C7CB-4104-8A70-952571BDE2AD}"/>
              </a:ext>
            </a:extLst>
          </p:cNvPr>
          <p:cNvGraphicFramePr>
            <a:graphicFrameLocks noGrp="1"/>
          </p:cNvGraphicFramePr>
          <p:nvPr/>
        </p:nvGraphicFramePr>
        <p:xfrm>
          <a:off x="1793740" y="3639567"/>
          <a:ext cx="8108285" cy="614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41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3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3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3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altLang="en-US" sz="3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altLang="en-US" sz="3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" name="文本框 25">
            <a:extLst>
              <a:ext uri="{FF2B5EF4-FFF2-40B4-BE49-F238E27FC236}">
                <a16:creationId xmlns:a16="http://schemas.microsoft.com/office/drawing/2014/main" id="{71B764A7-D367-44BC-85B6-6D37333C53DC}"/>
              </a:ext>
            </a:extLst>
          </p:cNvPr>
          <p:cNvSpPr txBox="1"/>
          <p:nvPr/>
        </p:nvSpPr>
        <p:spPr>
          <a:xfrm>
            <a:off x="1168894" y="1732439"/>
            <a:ext cx="82159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 </a:t>
            </a:r>
            <a:endParaRPr lang="zh-CN" altLang="en-US" sz="2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56C7FCA-5D90-4872-97E3-2608B020FBE4}"/>
              </a:ext>
            </a:extLst>
          </p:cNvPr>
          <p:cNvSpPr txBox="1"/>
          <p:nvPr/>
        </p:nvSpPr>
        <p:spPr>
          <a:xfrm>
            <a:off x="1088994" y="2899253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1F6912A-0E97-40F9-9FDB-73BBB1A53D08}"/>
              </a:ext>
            </a:extLst>
          </p:cNvPr>
          <p:cNvSpPr txBox="1"/>
          <p:nvPr/>
        </p:nvSpPr>
        <p:spPr>
          <a:xfrm rot="10800000" flipV="1">
            <a:off x="1210309" y="3684678"/>
            <a:ext cx="76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i: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1F5E96F-2421-4AF2-9712-49C6ECA59540}"/>
              </a:ext>
            </a:extLst>
          </p:cNvPr>
          <p:cNvSpPr txBox="1"/>
          <p:nvPr/>
        </p:nvSpPr>
        <p:spPr>
          <a:xfrm>
            <a:off x="1210309" y="4577476"/>
            <a:ext cx="8243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ans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2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ans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sum[1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] = 2;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22740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B56867-A72C-49F1-953A-4E0DA9F4B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36903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逆序数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ADB1FE9D-32B5-4C49-BB39-FB9DACCC58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034890"/>
              </p:ext>
            </p:extLst>
          </p:nvPr>
        </p:nvGraphicFramePr>
        <p:xfrm>
          <a:off x="1891394" y="2823010"/>
          <a:ext cx="8108285" cy="614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41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8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8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8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8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F2A8D680-C7CB-4104-8A70-952571BDE2AD}"/>
              </a:ext>
            </a:extLst>
          </p:cNvPr>
          <p:cNvGraphicFramePr>
            <a:graphicFrameLocks noGrp="1"/>
          </p:cNvGraphicFramePr>
          <p:nvPr/>
        </p:nvGraphicFramePr>
        <p:xfrm>
          <a:off x="1793740" y="3639567"/>
          <a:ext cx="8108285" cy="614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41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3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3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3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altLang="en-US" sz="3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altLang="en-US" sz="3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" name="文本框 25">
            <a:extLst>
              <a:ext uri="{FF2B5EF4-FFF2-40B4-BE49-F238E27FC236}">
                <a16:creationId xmlns:a16="http://schemas.microsoft.com/office/drawing/2014/main" id="{71B764A7-D367-44BC-85B6-6D37333C53DC}"/>
              </a:ext>
            </a:extLst>
          </p:cNvPr>
          <p:cNvSpPr txBox="1"/>
          <p:nvPr/>
        </p:nvSpPr>
        <p:spPr>
          <a:xfrm>
            <a:off x="1168894" y="1732439"/>
            <a:ext cx="82159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 </a:t>
            </a:r>
            <a:endParaRPr lang="zh-CN" altLang="en-US" sz="2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56C7FCA-5D90-4872-97E3-2608B020FBE4}"/>
              </a:ext>
            </a:extLst>
          </p:cNvPr>
          <p:cNvSpPr txBox="1"/>
          <p:nvPr/>
        </p:nvSpPr>
        <p:spPr>
          <a:xfrm>
            <a:off x="1088994" y="2899253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1F6912A-0E97-40F9-9FDB-73BBB1A53D08}"/>
              </a:ext>
            </a:extLst>
          </p:cNvPr>
          <p:cNvSpPr txBox="1"/>
          <p:nvPr/>
        </p:nvSpPr>
        <p:spPr>
          <a:xfrm rot="10800000" flipV="1">
            <a:off x="1210309" y="3684678"/>
            <a:ext cx="76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i: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右大括号 9">
            <a:extLst>
              <a:ext uri="{FF2B5EF4-FFF2-40B4-BE49-F238E27FC236}">
                <a16:creationId xmlns:a16="http://schemas.microsoft.com/office/drawing/2014/main" id="{27ACFF57-6D3B-43B7-BE87-435C1DA6FBEA}"/>
              </a:ext>
            </a:extLst>
          </p:cNvPr>
          <p:cNvSpPr/>
          <p:nvPr/>
        </p:nvSpPr>
        <p:spPr>
          <a:xfrm rot="5400000">
            <a:off x="3356290" y="3604832"/>
            <a:ext cx="573204" cy="231031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0EBE772-F9F0-4B63-9EC3-66DACD169015}"/>
              </a:ext>
            </a:extLst>
          </p:cNvPr>
          <p:cNvSpPr txBox="1"/>
          <p:nvPr/>
        </p:nvSpPr>
        <p:spPr>
          <a:xfrm>
            <a:off x="2319059" y="5266262"/>
            <a:ext cx="30570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/>
              <a:t>sum[3-1] = 2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672386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B56867-A72C-49F1-953A-4E0DA9F4B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36903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逆序数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ADB1FE9D-32B5-4C49-BB39-FB9DACCC58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7860707"/>
              </p:ext>
            </p:extLst>
          </p:nvPr>
        </p:nvGraphicFramePr>
        <p:xfrm>
          <a:off x="1891394" y="2823010"/>
          <a:ext cx="8108285" cy="614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41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8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8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800" b="1" dirty="0">
                        <a:solidFill>
                          <a:schemeClr val="accent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8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F2A8D680-C7CB-4104-8A70-952571BDE2AD}"/>
              </a:ext>
            </a:extLst>
          </p:cNvPr>
          <p:cNvGraphicFramePr>
            <a:graphicFrameLocks noGrp="1"/>
          </p:cNvGraphicFramePr>
          <p:nvPr/>
        </p:nvGraphicFramePr>
        <p:xfrm>
          <a:off x="1793740" y="3639567"/>
          <a:ext cx="8108285" cy="614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1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41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3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3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3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altLang="en-US" sz="3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altLang="en-US" sz="3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" name="文本框 27">
            <a:extLst>
              <a:ext uri="{FF2B5EF4-FFF2-40B4-BE49-F238E27FC236}">
                <a16:creationId xmlns:a16="http://schemas.microsoft.com/office/drawing/2014/main" id="{556C7FCA-5D90-4872-97E3-2608B020FBE4}"/>
              </a:ext>
            </a:extLst>
          </p:cNvPr>
          <p:cNvSpPr txBox="1"/>
          <p:nvPr/>
        </p:nvSpPr>
        <p:spPr>
          <a:xfrm>
            <a:off x="1088994" y="2899253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1F6912A-0E97-40F9-9FDB-73BBB1A53D08}"/>
              </a:ext>
            </a:extLst>
          </p:cNvPr>
          <p:cNvSpPr txBox="1"/>
          <p:nvPr/>
        </p:nvSpPr>
        <p:spPr>
          <a:xfrm rot="10800000" flipV="1">
            <a:off x="1210309" y="3684678"/>
            <a:ext cx="76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i: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53D8ADE-B27A-4440-8A8D-15C915FCEB1F}"/>
              </a:ext>
            </a:extLst>
          </p:cNvPr>
          <p:cNvSpPr txBox="1"/>
          <p:nvPr/>
        </p:nvSpPr>
        <p:spPr>
          <a:xfrm>
            <a:off x="1303372" y="4670605"/>
            <a:ext cx="8243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ans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ans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sum[2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] = 4;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4604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B56867-A72C-49F1-953A-4E0DA9F4B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36903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逆序数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D433DDA-639A-4311-9554-74B006EE7238}"/>
              </a:ext>
            </a:extLst>
          </p:cNvPr>
          <p:cNvSpPr txBox="1"/>
          <p:nvPr/>
        </p:nvSpPr>
        <p:spPr>
          <a:xfrm>
            <a:off x="1088993" y="2031761"/>
            <a:ext cx="9758149" cy="2461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nn-NO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 (int i =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nn-NO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i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&gt;= 1</a:t>
            </a:r>
            <a:r>
              <a:rPr lang="nn-NO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i --) {	//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最后一个数后面没有数</a:t>
            </a:r>
            <a:endParaRPr lang="nn-NO" altLang="zh-CN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err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ans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+= sum(A[</a:t>
            </a:r>
            <a:r>
              <a:rPr lang="en-US" altLang="zh-CN" sz="2000" dirty="0" err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]-1);	//A[</a:t>
            </a:r>
            <a:r>
              <a:rPr lang="en-US" altLang="zh-CN" sz="2000" dirty="0" err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]-1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排除相等的数</a:t>
            </a:r>
            <a:endParaRPr lang="en-US" altLang="zh-CN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add (A[</a:t>
            </a:r>
            <a:r>
              <a:rPr lang="en-US" altLang="zh-CN" sz="2000" dirty="0" err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], 1);</a:t>
            </a:r>
          </a:p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     //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已经出现过的数在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a[</a:t>
            </a:r>
            <a:r>
              <a:rPr lang="en-US" altLang="zh-CN" sz="2000" dirty="0" err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后面的数</a:t>
            </a:r>
            <a:endParaRPr lang="en-US" altLang="zh-CN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9948720-DD89-4012-87E0-2A496F13EC5C}"/>
              </a:ext>
            </a:extLst>
          </p:cNvPr>
          <p:cNvSpPr txBox="1"/>
          <p:nvPr/>
        </p:nvSpPr>
        <p:spPr>
          <a:xfrm>
            <a:off x="1088994" y="1586509"/>
            <a:ext cx="9758149" cy="430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求每个数后面有多少个数比它小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0BBFD5E-DE35-4B10-907D-56DF9BE500E8}"/>
              </a:ext>
            </a:extLst>
          </p:cNvPr>
          <p:cNvSpPr txBox="1"/>
          <p:nvPr/>
        </p:nvSpPr>
        <p:spPr>
          <a:xfrm>
            <a:off x="1000128" y="4929760"/>
            <a:ext cx="9758149" cy="430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时间复杂度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O(n*2*</a:t>
            </a:r>
            <a:r>
              <a:rPr lang="en-US" altLang="zh-CN" sz="20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logn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≈ 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O(n*</a:t>
            </a:r>
            <a:r>
              <a:rPr lang="en-US" altLang="zh-CN" sz="2000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logn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34577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B56867-A72C-49F1-953A-4E0DA9F4B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36903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逆序数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6287236-AB36-4E57-988D-F8748C9225D4}"/>
              </a:ext>
            </a:extLst>
          </p:cNvPr>
          <p:cNvSpPr txBox="1"/>
          <p:nvPr/>
        </p:nvSpPr>
        <p:spPr>
          <a:xfrm>
            <a:off x="1088993" y="1929357"/>
            <a:ext cx="9928195" cy="3077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在序列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的数值范围上建立树状数组，初始化为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倒序扫描给定序列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a,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对于每个数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a[</a:t>
            </a:r>
            <a:r>
              <a:rPr lang="en-US" altLang="zh-CN" sz="20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];</a:t>
            </a:r>
          </a:p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(1)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在树状数组中查询前缀和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[1,a[</a:t>
            </a:r>
            <a:r>
              <a:rPr lang="en-US" altLang="zh-CN" sz="20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]-1],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累加到</a:t>
            </a:r>
            <a:r>
              <a:rPr lang="en-US" altLang="zh-CN" sz="20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ans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(2)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执行单点增加操作，把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a[</a:t>
            </a:r>
            <a:r>
              <a:rPr lang="en-US" altLang="zh-CN" sz="20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数值加一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3.ans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即为所求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715D5FA-F13C-4C20-B7FD-5EAEEEB06C26}"/>
              </a:ext>
            </a:extLst>
          </p:cNvPr>
          <p:cNvSpPr txBox="1"/>
          <p:nvPr/>
        </p:nvSpPr>
        <p:spPr>
          <a:xfrm>
            <a:off x="1088994" y="1498983"/>
            <a:ext cx="9758149" cy="430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算法思想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198238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39503" y="536903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B56867-A72C-49F1-953A-4E0DA9F4B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36903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逆序数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6C16899-397F-46EF-8020-C1AA3E7E9884}"/>
              </a:ext>
            </a:extLst>
          </p:cNvPr>
          <p:cNvSpPr txBox="1"/>
          <p:nvPr/>
        </p:nvSpPr>
        <p:spPr>
          <a:xfrm>
            <a:off x="871337" y="1100466"/>
            <a:ext cx="10151770" cy="615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FED498B-E6C0-C488-DC5A-06AB5375E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503" y="1857375"/>
            <a:ext cx="6010275" cy="34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087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B56867-A72C-49F1-953A-4E0DA9F4B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36903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逆序数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6C16899-397F-46EF-8020-C1AA3E7E9884}"/>
              </a:ext>
            </a:extLst>
          </p:cNvPr>
          <p:cNvSpPr txBox="1"/>
          <p:nvPr/>
        </p:nvSpPr>
        <p:spPr>
          <a:xfrm>
            <a:off x="1031279" y="1369415"/>
            <a:ext cx="10030951" cy="222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en-US" altLang="zh-CN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个元素存在有</a:t>
            </a: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相同</a:t>
            </a:r>
            <a:r>
              <a:rPr lang="zh-CN" altLang="en-US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的情况，求逆序对需要对数组元素做</a:t>
            </a: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离散化</a:t>
            </a:r>
            <a:r>
              <a:rPr lang="zh-CN" altLang="en-US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处理。离散化的思想是对于一个整数集合</a:t>
            </a:r>
            <a:r>
              <a:rPr lang="en-US" altLang="zh-CN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，其中只涉及</a:t>
            </a:r>
            <a:r>
              <a:rPr lang="en-US" altLang="zh-CN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个有限数值，并且与数值的绝对大小无关（</a:t>
            </a: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只与相对顺序有关</a:t>
            </a:r>
            <a:r>
              <a:rPr lang="zh-CN" altLang="en-US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），可以把整数集合</a:t>
            </a:r>
            <a:r>
              <a:rPr lang="en-US" altLang="zh-CN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个整数与</a:t>
            </a:r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1-m</a:t>
            </a: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建立映射关系</a:t>
            </a:r>
            <a:r>
              <a:rPr lang="zh-CN" altLang="en-US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。如果一个时间、空间复杂度与数值范围</a:t>
            </a:r>
            <a:r>
              <a:rPr lang="en-US" altLang="zh-CN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的大小有关的算法，在离散化后，该算法的时间、空间复杂度降低为与</a:t>
            </a:r>
            <a:r>
              <a:rPr lang="en-US" altLang="zh-CN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33A4739-9AA4-49DB-BCA0-663159E25E94}"/>
              </a:ext>
            </a:extLst>
          </p:cNvPr>
          <p:cNvSpPr txBox="1"/>
          <p:nvPr/>
        </p:nvSpPr>
        <p:spPr>
          <a:xfrm>
            <a:off x="1080524" y="3734988"/>
            <a:ext cx="9266830" cy="1230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标准次序为：</a:t>
            </a:r>
            <a:r>
              <a:rPr lang="en-US" altLang="zh-CN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10 2 7 5 2</a:t>
            </a:r>
          </a:p>
          <a:p>
            <a:pPr>
              <a:lnSpc>
                <a:spcPct val="200000"/>
              </a:lnSpc>
            </a:pPr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离散化为：</a:t>
            </a:r>
            <a:r>
              <a:rPr lang="en-US" altLang="zh-CN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5  1  4  3  2</a:t>
            </a:r>
            <a:endParaRPr lang="zh-CN" altLang="en-US" sz="20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670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B56867-A72C-49F1-953A-4E0DA9F4B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36903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逆序数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613B9C3-1CAF-BF5B-1E63-FC5496539134}"/>
              </a:ext>
            </a:extLst>
          </p:cNvPr>
          <p:cNvSpPr txBox="1"/>
          <p:nvPr/>
        </p:nvSpPr>
        <p:spPr>
          <a:xfrm>
            <a:off x="871337" y="1100466"/>
            <a:ext cx="10151770" cy="615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lang="en-US" altLang="zh-CN" sz="200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618875B-ECA5-F1DE-2C3B-2E3C0F901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894" y="1728651"/>
            <a:ext cx="5638800" cy="443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575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谢谢！</a:t>
            </a:r>
          </a:p>
        </p:txBody>
      </p:sp>
      <p:pic>
        <p:nvPicPr>
          <p:cNvPr id="5" name="图片占位符 4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09" r="13409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学术文献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1668</TotalTime>
  <Words>2767</Words>
  <Application>Microsoft Office PowerPoint</Application>
  <PresentationFormat>宽屏</PresentationFormat>
  <Paragraphs>409</Paragraphs>
  <Slides>47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47</vt:i4>
      </vt:variant>
    </vt:vector>
  </HeadingPairs>
  <TitlesOfParts>
    <vt:vector size="57" baseType="lpstr">
      <vt:lpstr>微软雅黑</vt:lpstr>
      <vt:lpstr>Arial</vt:lpstr>
      <vt:lpstr>Calibri</vt:lpstr>
      <vt:lpstr>Calibri Light</vt:lpstr>
      <vt:lpstr>Cambria Math</vt:lpstr>
      <vt:lpstr>Euphemia</vt:lpstr>
      <vt:lpstr>Times New Roman</vt:lpstr>
      <vt:lpstr>Wingdings</vt:lpstr>
      <vt:lpstr>Office 主题</vt:lpstr>
      <vt:lpstr>学术文献 16x9</vt:lpstr>
      <vt:lpstr>树状数组</vt:lpstr>
      <vt:lpstr>PowerPoint 演示文稿</vt:lpstr>
      <vt:lpstr>树状数组</vt:lpstr>
      <vt:lpstr>树状数组</vt:lpstr>
      <vt:lpstr>树状数组</vt:lpstr>
      <vt:lpstr>树状数组</vt:lpstr>
      <vt:lpstr>树状数组</vt:lpstr>
      <vt:lpstr>树状数组</vt:lpstr>
      <vt:lpstr>树状数组</vt:lpstr>
      <vt:lpstr>树状数组</vt:lpstr>
      <vt:lpstr>树状数组</vt:lpstr>
      <vt:lpstr>树状数组</vt:lpstr>
      <vt:lpstr>树状数组</vt:lpstr>
      <vt:lpstr>树状数组</vt:lpstr>
      <vt:lpstr>树状数组</vt:lpstr>
      <vt:lpstr>树状数组</vt:lpstr>
      <vt:lpstr>树状数组</vt:lpstr>
      <vt:lpstr>例题1(codevs 1080）</vt:lpstr>
      <vt:lpstr>例题1(codevs 1080）</vt:lpstr>
      <vt:lpstr>例题1(codevs 1080）</vt:lpstr>
      <vt:lpstr>例题1(codevs 1080）</vt:lpstr>
      <vt:lpstr>例题2(codevs1081)</vt:lpstr>
      <vt:lpstr>例题2(codevs 1081）</vt:lpstr>
      <vt:lpstr>例题2(codevs 1081）</vt:lpstr>
      <vt:lpstr>例题3(codevs1082)</vt:lpstr>
      <vt:lpstr>例题3(codevs1082)</vt:lpstr>
      <vt:lpstr>例题3(codevs1082)</vt:lpstr>
      <vt:lpstr>例题3(codevs1082)</vt:lpstr>
      <vt:lpstr>逆序数</vt:lpstr>
      <vt:lpstr>逆序数</vt:lpstr>
      <vt:lpstr>逆序数</vt:lpstr>
      <vt:lpstr>逆序数</vt:lpstr>
      <vt:lpstr>逆序数</vt:lpstr>
      <vt:lpstr>逆序数</vt:lpstr>
      <vt:lpstr>逆序数</vt:lpstr>
      <vt:lpstr>逆序数</vt:lpstr>
      <vt:lpstr>逆序数</vt:lpstr>
      <vt:lpstr>逆序数</vt:lpstr>
      <vt:lpstr>逆序数</vt:lpstr>
      <vt:lpstr>逆序数</vt:lpstr>
      <vt:lpstr>逆序数</vt:lpstr>
      <vt:lpstr>逆序数</vt:lpstr>
      <vt:lpstr>逆序数</vt:lpstr>
      <vt:lpstr>逆序数</vt:lpstr>
      <vt:lpstr>逆序数</vt:lpstr>
      <vt:lpstr>逆序数</vt:lpstr>
      <vt:lpstr>谢谢！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树状数组</dc:title>
  <dc:creator>YZM</dc:creator>
  <cp:lastModifiedBy>伟</cp:lastModifiedBy>
  <cp:revision>180</cp:revision>
  <dcterms:created xsi:type="dcterms:W3CDTF">2015-07-16T01:26:02Z</dcterms:created>
  <dcterms:modified xsi:type="dcterms:W3CDTF">2022-06-11T03:38:37Z</dcterms:modified>
</cp:coreProperties>
</file>