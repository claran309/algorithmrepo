
<file path=[Content_Types].xml><?xml version="1.0" encoding="utf-8"?>
<Types xmlns="http://schemas.openxmlformats.org/package/2006/content-types">
  <Default Extension="jpeg" ContentType="image/jpe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handoutMasterIdLst>
    <p:handoutMasterId r:id="rId35"/>
  </p:handoutMasterIdLst>
  <p:sldIdLst>
    <p:sldId id="256" r:id="rId3"/>
    <p:sldId id="612" r:id="rId5"/>
    <p:sldId id="613" r:id="rId6"/>
    <p:sldId id="614" r:id="rId7"/>
    <p:sldId id="642" r:id="rId8"/>
    <p:sldId id="692" r:id="rId9"/>
    <p:sldId id="693" r:id="rId10"/>
    <p:sldId id="680" r:id="rId11"/>
    <p:sldId id="698" r:id="rId12"/>
    <p:sldId id="700" r:id="rId13"/>
    <p:sldId id="701" r:id="rId14"/>
    <p:sldId id="702" r:id="rId15"/>
    <p:sldId id="695" r:id="rId16"/>
    <p:sldId id="703" r:id="rId17"/>
    <p:sldId id="704" r:id="rId18"/>
    <p:sldId id="705" r:id="rId19"/>
    <p:sldId id="721" r:id="rId20"/>
    <p:sldId id="708" r:id="rId21"/>
    <p:sldId id="722" r:id="rId22"/>
    <p:sldId id="709" r:id="rId23"/>
    <p:sldId id="706" r:id="rId24"/>
    <p:sldId id="707" r:id="rId25"/>
    <p:sldId id="710" r:id="rId26"/>
    <p:sldId id="712" r:id="rId27"/>
    <p:sldId id="713" r:id="rId28"/>
    <p:sldId id="714" r:id="rId29"/>
    <p:sldId id="715" r:id="rId30"/>
    <p:sldId id="717" r:id="rId31"/>
    <p:sldId id="718" r:id="rId32"/>
    <p:sldId id="720" r:id="rId33"/>
    <p:sldId id="502" r:id="rId34"/>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9E9"/>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77" autoAdjust="0"/>
    <p:restoredTop sz="94660" autoAdjust="0"/>
  </p:normalViewPr>
  <p:slideViewPr>
    <p:cSldViewPr snapToGrid="0" showGuides="1">
      <p:cViewPr varScale="1">
        <p:scale>
          <a:sx n="86" d="100"/>
          <a:sy n="86" d="100"/>
        </p:scale>
        <p:origin x="845"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20" d="100"/>
        <a:sy n="20" d="100"/>
      </p:scale>
      <p:origin x="0" y="0"/>
    </p:cViewPr>
  </p:sorterViewPr>
  <p:notesViewPr>
    <p:cSldViewPr snapToGrid="0">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fld>
            <a:endParaRPr lang="en-US" altLang="zh-CN" dirty="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fld>
            <a:endParaRPr lang="en-US" altLang="zh-C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fld>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4445" y="0"/>
            <a:ext cx="1747524" cy="229209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第二级</a:t>
            </a:r>
            <a:endParaRPr lang="zh-CN" altLang="en-US" noProof="0"/>
          </a:p>
          <a:p>
            <a:pPr lvl="2" rtl="0"/>
            <a:r>
              <a:rPr lang="zh-CN" altLang="en-US" noProof="0"/>
              <a:t>第三级</a:t>
            </a:r>
            <a:endParaRPr lang="zh-CN" altLang="en-US" noProof="0"/>
          </a:p>
          <a:p>
            <a:pPr lvl="3" rtl="0"/>
            <a:r>
              <a:rPr lang="zh-CN" altLang="en-US" noProof="0"/>
              <a:t>第四级</a:t>
            </a:r>
            <a:endParaRPr lang="zh-CN" altLang="en-US" noProof="0"/>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endPar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endParaRP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endParaRPr lang="zh-CN" altLang="en-US" sz="1200" i="1" noProof="0" dirty="0">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endParaRPr lang="zh-CN" altLang="en-US" noProof="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endParaRPr lang="zh-CN" altLang="en-US" noProof="0"/>
          </a:p>
          <a:p>
            <a:pPr lvl="1" rtl="0"/>
            <a:r>
              <a:rPr lang="zh-CN" altLang="en-US" noProof="0"/>
              <a:t>第二级</a:t>
            </a:r>
            <a:endParaRPr lang="zh-CN" altLang="en-US" noProof="0"/>
          </a:p>
          <a:p>
            <a:pPr lvl="2" rtl="0"/>
            <a:r>
              <a:rPr lang="zh-CN" altLang="en-US" noProof="0"/>
              <a:t>第三级</a:t>
            </a:r>
            <a:endParaRPr lang="zh-CN" altLang="en-US" noProof="0"/>
          </a:p>
          <a:p>
            <a:pPr lvl="3" rtl="0"/>
            <a:r>
              <a:rPr lang="zh-CN" altLang="en-US" noProof="0"/>
              <a:t>第四级</a:t>
            </a:r>
            <a:endParaRPr lang="zh-CN" altLang="en-US" noProof="0"/>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endParaRPr lang="zh-CN" altLang="en-US" noProof="0"/>
          </a:p>
          <a:p>
            <a:pPr lvl="1" rtl="0"/>
            <a:r>
              <a:rPr lang="zh-CN" altLang="en-US" noProof="0"/>
              <a:t>第二级</a:t>
            </a:r>
            <a:endParaRPr lang="zh-CN" altLang="en-US" noProof="0"/>
          </a:p>
          <a:p>
            <a:pPr lvl="2" rtl="0"/>
            <a:r>
              <a:rPr lang="zh-CN" altLang="en-US" noProof="0"/>
              <a:t>第三级</a:t>
            </a:r>
            <a:endParaRPr lang="zh-CN" altLang="en-US" noProof="0"/>
          </a:p>
          <a:p>
            <a:pPr lvl="3" rtl="0"/>
            <a:r>
              <a:rPr lang="zh-CN" altLang="en-US" noProof="0"/>
              <a:t>第四级</a:t>
            </a:r>
            <a:endParaRPr lang="zh-CN" altLang="en-US" noProof="0"/>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dirty="0" smtClean="0"/>
            </a:fld>
            <a:r>
              <a:rPr lang="zh-CN" altLang="en-US" dirty="0"/>
              <a:t>​</a:t>
            </a:r>
            <a:endParaRPr lang="zh-CN" altLang="en-US" dirty="0"/>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endParaRPr lang="zh-CN" altLang="en-US" noProof="0"/>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第二级</a:t>
            </a:r>
            <a:endParaRPr lang="zh-CN" altLang="en-US" noProof="0"/>
          </a:p>
          <a:p>
            <a:pPr lvl="2" rtl="0"/>
            <a:r>
              <a:rPr lang="zh-CN" altLang="en-US" noProof="0"/>
              <a:t>第三级</a:t>
            </a:r>
            <a:endParaRPr lang="zh-CN" altLang="en-US" noProof="0"/>
          </a:p>
          <a:p>
            <a:pPr lvl="3" rtl="0"/>
            <a:r>
              <a:rPr lang="zh-CN" altLang="en-US" noProof="0"/>
              <a:t>第四级</a:t>
            </a:r>
            <a:endParaRPr lang="zh-CN" altLang="en-US" noProof="0"/>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endParaRPr lang="zh-CN" altLang="en-US" noProof="0"/>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第二级</a:t>
            </a:r>
            <a:endParaRPr lang="zh-CN" altLang="en-US" noProof="0"/>
          </a:p>
          <a:p>
            <a:pPr lvl="2" rtl="0"/>
            <a:r>
              <a:rPr lang="zh-CN" altLang="en-US" noProof="0"/>
              <a:t>第三级</a:t>
            </a:r>
            <a:endParaRPr lang="zh-CN" altLang="en-US" noProof="0"/>
          </a:p>
          <a:p>
            <a:pPr lvl="3" rtl="0"/>
            <a:r>
              <a:rPr lang="zh-CN" altLang="en-US" noProof="0"/>
              <a:t>第四级</a:t>
            </a:r>
            <a:endParaRPr lang="zh-CN" altLang="en-US" noProof="0"/>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endParaRPr lang="zh-CN" altLang="en-US" noProof="0"/>
          </a:p>
          <a:p>
            <a:pPr lvl="1" rtl="0"/>
            <a:r>
              <a:rPr lang="zh-CN" altLang="en-US" noProof="0"/>
              <a:t>第二级</a:t>
            </a:r>
            <a:endParaRPr lang="zh-CN" altLang="en-US" noProof="0"/>
          </a:p>
          <a:p>
            <a:pPr lvl="2" rtl="0"/>
            <a:r>
              <a:rPr lang="zh-CN" altLang="en-US" noProof="0"/>
              <a:t>第三级</a:t>
            </a:r>
            <a:endParaRPr lang="zh-CN" altLang="en-US" noProof="0"/>
          </a:p>
          <a:p>
            <a:pPr lvl="3" rtl="0"/>
            <a:r>
              <a:rPr lang="zh-CN" altLang="en-US" noProof="0"/>
              <a:t>第四级</a:t>
            </a:r>
            <a:endParaRPr lang="zh-CN" altLang="en-US" noProof="0"/>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endParaRPr lang="zh-CN" altLang="en-US" noProof="0"/>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endParaRPr lang="zh-CN" altLang="en-US" noProof="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fld>
            <a:r>
              <a:rPr lang="zh-CN" altLang="en-US" dirty="0"/>
              <a:t>​</a:t>
            </a:r>
            <a:endParaRPr lang="zh-CN" altLang="en-US" dirty="0"/>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endParaRPr lang="zh-CN" altLang="en-US" noProof="0"/>
          </a:p>
          <a:p>
            <a:pPr lvl="1" rtl="0"/>
            <a:r>
              <a:rPr lang="zh-CN" altLang="en-US" noProof="0"/>
              <a:t>第二级</a:t>
            </a:r>
            <a:endParaRPr lang="zh-CN" altLang="en-US" noProof="0"/>
          </a:p>
          <a:p>
            <a:pPr lvl="2" rtl="0"/>
            <a:r>
              <a:rPr lang="zh-CN" altLang="en-US" noProof="0"/>
              <a:t>第三级</a:t>
            </a:r>
            <a:endParaRPr lang="zh-CN" altLang="en-US" noProof="0"/>
          </a:p>
          <a:p>
            <a:pPr lvl="3" rtl="0"/>
            <a:r>
              <a:rPr lang="zh-CN" altLang="en-US" noProof="0"/>
              <a:t>第四级</a:t>
            </a:r>
            <a:endParaRPr lang="zh-CN" altLang="en-US" noProof="0"/>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endParaRPr lang="zh-CN" altLang="en-US" noProof="0"/>
          </a:p>
          <a:p>
            <a:pPr lvl="1" rtl="0"/>
            <a:r>
              <a:rPr lang="zh-CN" altLang="en-US" noProof="0"/>
              <a:t>第二级</a:t>
            </a:r>
            <a:endParaRPr lang="zh-CN" altLang="en-US" noProof="0"/>
          </a:p>
          <a:p>
            <a:pPr lvl="2" rtl="0"/>
            <a:r>
              <a:rPr lang="zh-CN" altLang="en-US" noProof="0"/>
              <a:t>第三级</a:t>
            </a:r>
            <a:endParaRPr lang="zh-CN" altLang="en-US" noProof="0"/>
          </a:p>
          <a:p>
            <a:pPr lvl="3" rtl="0"/>
            <a:r>
              <a:rPr lang="zh-CN" altLang="en-US" noProof="0"/>
              <a:t>第四级</a:t>
            </a:r>
            <a:endParaRPr lang="zh-CN" altLang="en-US" noProof="0"/>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endParaRPr lang="zh-CN" altLang="en-US" noProof="0" dirty="0"/>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a:p>
            <a:pPr lvl="5" rtl="0"/>
            <a:r>
              <a:rPr lang="zh-CN" altLang="en-US" noProof="0" dirty="0"/>
              <a:t>第六级</a:t>
            </a:r>
            <a:endParaRPr lang="zh-CN" altLang="en-US" noProof="0" dirty="0"/>
          </a:p>
          <a:p>
            <a:pPr lvl="6" rtl="0"/>
            <a:r>
              <a:rPr lang="zh-CN" altLang="en-US" noProof="0" dirty="0"/>
              <a:t>第七级</a:t>
            </a:r>
            <a:endParaRPr lang="zh-CN" altLang="en-US" noProof="0" dirty="0"/>
          </a:p>
          <a:p>
            <a:pPr lvl="7" rtl="0"/>
            <a:r>
              <a:rPr lang="zh-CN" altLang="en-US" noProof="0" dirty="0"/>
              <a:t>第八级</a:t>
            </a:r>
            <a:endParaRPr lang="zh-CN" altLang="en-US" noProof="0" dirty="0"/>
          </a:p>
          <a:p>
            <a:pPr lvl="8" rtl="0"/>
            <a:r>
              <a:rPr lang="zh-CN" altLang="en-US" noProof="0" dirty="0"/>
              <a:t>第九级</a:t>
            </a:r>
            <a:endParaRPr lang="zh-CN" altLang="en-US" noProof="0" dirty="0"/>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dirty="0" smtClean="0"/>
            </a:fld>
            <a:r>
              <a:rPr lang="zh-CN" altLang="en-US" dirty="0"/>
              <a:t>​</a:t>
            </a:r>
            <a:endParaRPr lang="zh-CN" altLang="en-US" dirty="0"/>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5.wdp"/><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1535837" y="2147652"/>
            <a:ext cx="3675102" cy="1954514"/>
          </a:xfrm>
        </p:spPr>
        <p:txBody>
          <a:bodyPr rtlCol="0" anchor="ctr"/>
          <a:lstStyle/>
          <a:p>
            <a:pPr rtl="0"/>
            <a:r>
              <a:rPr lang="zh-CN" altLang="en-US" dirty="0"/>
              <a:t>深度优先搜索</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508075" y="3862469"/>
            <a:ext cx="5734050" cy="955565"/>
          </a:xfrm>
        </p:spPr>
        <p:txBody>
          <a:bodyPr rtlCol="0">
            <a:normAutofit/>
          </a:bodyPr>
          <a:lstStyle/>
          <a:p>
            <a:pPr algn="ctr" rtl="0">
              <a:lnSpc>
                <a:spcPct val="150000"/>
              </a:lnSpc>
            </a:pPr>
            <a:r>
              <a:rPr lang="zh-CN" altLang="en-US" sz="2400" dirty="0"/>
              <a:t>代伟</a:t>
            </a:r>
            <a:endParaRPr lang="en-US" altLang="zh-CN" sz="2400" dirty="0">
              <a:latin typeface="微软雅黑" panose="020B0503020204020204" pitchFamily="34" charset="-122"/>
              <a:ea typeface="微软雅黑" panose="020B0503020204020204" pitchFamily="34" charset="-122"/>
            </a:endParaRPr>
          </a:p>
          <a:p>
            <a:pPr algn="ctr">
              <a:lnSpc>
                <a:spcPct val="150000"/>
              </a:lnSpc>
            </a:pPr>
            <a:endParaRPr lang="en-US" sz="24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p:cNvPicPr>
            <a:picLocks noGrp="1" noChangeAspect="1"/>
          </p:cNvPicPr>
          <p:nvPr>
            <p:ph type="pic" sz="quarter" idx="13"/>
          </p:nvPr>
        </p:nvPicPr>
        <p:blipFill>
          <a:blip r:embed="rId1" cstate="print">
            <a:extLst>
              <a:ext uri="{28A0092B-C50C-407E-A947-70E740481C1C}">
                <a14:useLocalDpi xmlns:a14="http://schemas.microsoft.com/office/drawing/2010/main" val="0"/>
              </a:ext>
            </a:extLst>
          </a:blip>
          <a:srcRect l="8890" r="8890"/>
          <a:stretch>
            <a:fillRect/>
          </a:stretch>
        </p:blipFill>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CN" altLang="en-US" dirty="0">
                <a:latin typeface="微软雅黑" panose="020B0503020204020204" pitchFamily="34" charset="-122"/>
                <a:ea typeface="微软雅黑" panose="020B0503020204020204" pitchFamily="34" charset="-122"/>
              </a:rPr>
              <a:t>学习目标</a:t>
            </a:r>
            <a:endParaRPr lang="en-US" dirty="0">
              <a:latin typeface="微软雅黑" panose="020B0503020204020204" pitchFamily="34" charset="-122"/>
              <a:ea typeface="微软雅黑" panose="020B0503020204020204" pitchFamily="34" charset="-122"/>
            </a:endParaRPr>
          </a:p>
        </p:txBody>
      </p:sp>
      <p:sp>
        <p:nvSpPr>
          <p:cNvPr id="6" name="矩形 5"/>
          <p:cNvSpPr/>
          <p:nvPr/>
        </p:nvSpPr>
        <p:spPr>
          <a:xfrm>
            <a:off x="423124" y="1582702"/>
            <a:ext cx="9999260" cy="1587871"/>
          </a:xfrm>
          <a:prstGeom prst="rect">
            <a:avLst/>
          </a:prstGeom>
        </p:spPr>
        <p:txBody>
          <a:bodyPr wrap="square">
            <a:spAutoFit/>
          </a:bodyPr>
          <a:lstStyle/>
          <a:p>
            <a:pPr indent="574675">
              <a:lnSpc>
                <a:spcPts val="3200"/>
              </a:lnSpc>
              <a:spcAft>
                <a:spcPts val="1200"/>
              </a:spcAft>
              <a:buClr>
                <a:schemeClr val="accent2"/>
              </a:buClr>
              <a:buSzPct val="80000"/>
            </a:pPr>
            <a:r>
              <a:rPr lang="en-US" altLang="zh-CN" sz="2000" dirty="0"/>
              <a:t>1. </a:t>
            </a:r>
            <a:r>
              <a:rPr lang="zh-CN" altLang="en-US" sz="2000" dirty="0"/>
              <a:t>理解与体会搜索算法中的相关概念。</a:t>
            </a:r>
            <a:endParaRPr lang="zh-CN" altLang="en-US" sz="2000" dirty="0"/>
          </a:p>
          <a:p>
            <a:pPr indent="574675">
              <a:lnSpc>
                <a:spcPts val="3200"/>
              </a:lnSpc>
              <a:spcAft>
                <a:spcPts val="1200"/>
              </a:spcAft>
              <a:buClr>
                <a:schemeClr val="accent2"/>
              </a:buClr>
              <a:buSzPct val="80000"/>
            </a:pPr>
            <a:r>
              <a:rPr lang="en-US" altLang="zh-CN" sz="2000" dirty="0"/>
              <a:t>2. </a:t>
            </a:r>
            <a:r>
              <a:rPr lang="zh-CN" altLang="en-US" sz="2000" dirty="0"/>
              <a:t>掌握深度优先搜索的基本思想和算法框架。</a:t>
            </a:r>
            <a:endParaRPr lang="zh-CN" altLang="en-US" sz="2000" dirty="0"/>
          </a:p>
          <a:p>
            <a:pPr indent="574675">
              <a:lnSpc>
                <a:spcPts val="3200"/>
              </a:lnSpc>
              <a:spcAft>
                <a:spcPts val="1200"/>
              </a:spcAft>
              <a:buClr>
                <a:schemeClr val="accent2"/>
              </a:buClr>
              <a:buSzPct val="80000"/>
            </a:pPr>
            <a:r>
              <a:rPr lang="en-US" altLang="zh-CN" sz="2000" dirty="0"/>
              <a:t>3. </a:t>
            </a:r>
            <a:r>
              <a:rPr lang="zh-CN" altLang="en-US" sz="2000" dirty="0"/>
              <a:t>熟练应用深度优先搜索求解一些实际问题。</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搜索</a:t>
            </a:r>
            <a:endParaRPr lang="zh-CN" altLang="en-US" dirty="0"/>
          </a:p>
        </p:txBody>
      </p:sp>
      <p:sp>
        <p:nvSpPr>
          <p:cNvPr id="5" name="矩形 4"/>
          <p:cNvSpPr/>
          <p:nvPr/>
        </p:nvSpPr>
        <p:spPr>
          <a:xfrm>
            <a:off x="1104900" y="1602816"/>
            <a:ext cx="10060582" cy="3332772"/>
          </a:xfrm>
          <a:prstGeom prst="rect">
            <a:avLst/>
          </a:prstGeom>
        </p:spPr>
        <p:txBody>
          <a:bodyPr wrap="square">
            <a:spAutoFit/>
          </a:bodyPr>
          <a:lstStyle/>
          <a:p>
            <a:pPr>
              <a:lnSpc>
                <a:spcPct val="200000"/>
              </a:lnSpc>
            </a:pPr>
            <a:r>
              <a:rPr lang="zh-CN" altLang="en-US" dirty="0">
                <a:latin typeface="微软雅黑" panose="020B0503020204020204" pitchFamily="34" charset="-122"/>
                <a:ea typeface="微软雅黑" panose="020B0503020204020204" pitchFamily="34" charset="-122"/>
              </a:rPr>
              <a:t>搜索是计算机程序设计中一种最基本、最常用的算法。搜索算法是直接基于</a:t>
            </a:r>
            <a:r>
              <a:rPr lang="zh-CN" altLang="en-US" b="1" dirty="0">
                <a:solidFill>
                  <a:schemeClr val="accent2"/>
                </a:solidFill>
                <a:latin typeface="微软雅黑" panose="020B0503020204020204" pitchFamily="34" charset="-122"/>
                <a:ea typeface="微软雅黑" panose="020B0503020204020204" pitchFamily="34" charset="-122"/>
              </a:rPr>
              <a:t>计算机高速运算</a:t>
            </a:r>
            <a:r>
              <a:rPr lang="zh-CN" altLang="en-US" dirty="0">
                <a:latin typeface="微软雅黑" panose="020B0503020204020204" pitchFamily="34" charset="-122"/>
                <a:ea typeface="微软雅黑" panose="020B0503020204020204" pitchFamily="34" charset="-122"/>
              </a:rPr>
              <a:t>的特点而使用的计算机求解方法。</a:t>
            </a:r>
            <a:endParaRPr lang="zh-CN" altLang="en-US" dirty="0">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它是从问题的</a:t>
            </a:r>
            <a:r>
              <a:rPr lang="zh-CN" altLang="en-US" b="1" dirty="0">
                <a:solidFill>
                  <a:schemeClr val="accent2"/>
                </a:solidFill>
                <a:latin typeface="微软雅黑" panose="020B0503020204020204" pitchFamily="34" charset="-122"/>
                <a:ea typeface="微软雅黑" panose="020B0503020204020204" pitchFamily="34" charset="-122"/>
              </a:rPr>
              <a:t>初始状态</a:t>
            </a:r>
            <a:r>
              <a:rPr lang="zh-CN" altLang="en-US" dirty="0">
                <a:latin typeface="微软雅黑" panose="020B0503020204020204" pitchFamily="34" charset="-122"/>
                <a:ea typeface="微软雅黑" panose="020B0503020204020204" pitchFamily="34" charset="-122"/>
              </a:rPr>
              <a:t>出发，根据其中的约束条件，按照</a:t>
            </a:r>
            <a:r>
              <a:rPr lang="zh-CN" altLang="en-US" b="1" dirty="0">
                <a:solidFill>
                  <a:schemeClr val="accent2"/>
                </a:solidFill>
                <a:latin typeface="微软雅黑" panose="020B0503020204020204" pitchFamily="34" charset="-122"/>
                <a:ea typeface="微软雅黑" panose="020B0503020204020204" pitchFamily="34" charset="-122"/>
              </a:rPr>
              <a:t>一定的策略</a:t>
            </a:r>
            <a:r>
              <a:rPr lang="zh-CN" altLang="en-US" dirty="0">
                <a:latin typeface="微软雅黑" panose="020B0503020204020204" pitchFamily="34" charset="-122"/>
                <a:ea typeface="微软雅黑" panose="020B0503020204020204" pitchFamily="34" charset="-122"/>
              </a:rPr>
              <a:t>，有序推进，不断深入，对于达到的所有</a:t>
            </a:r>
            <a:r>
              <a:rPr lang="zh-CN" altLang="en-US" b="1" dirty="0">
                <a:solidFill>
                  <a:schemeClr val="accent2"/>
                </a:solidFill>
                <a:latin typeface="微软雅黑" panose="020B0503020204020204" pitchFamily="34" charset="-122"/>
                <a:ea typeface="微软雅黑" panose="020B0503020204020204" pitchFamily="34" charset="-122"/>
              </a:rPr>
              <a:t>目标状态</a:t>
            </a:r>
            <a:r>
              <a:rPr lang="zh-CN" altLang="en-US" dirty="0">
                <a:latin typeface="微软雅黑" panose="020B0503020204020204" pitchFamily="34" charset="-122"/>
                <a:ea typeface="微软雅黑" panose="020B0503020204020204" pitchFamily="34" charset="-122"/>
              </a:rPr>
              <a:t>（解空间），一一验证，找到符合条件的解（可行解），或者找出所有</a:t>
            </a:r>
            <a:r>
              <a:rPr lang="zh-CN" altLang="en-US" b="1" dirty="0">
                <a:solidFill>
                  <a:schemeClr val="accent2"/>
                </a:solidFill>
                <a:latin typeface="微软雅黑" panose="020B0503020204020204" pitchFamily="34" charset="-122"/>
                <a:ea typeface="微软雅黑" panose="020B0503020204020204" pitchFamily="34" charset="-122"/>
              </a:rPr>
              <a:t>可行解</a:t>
            </a:r>
            <a:r>
              <a:rPr lang="zh-CN" altLang="en-US" dirty="0">
                <a:latin typeface="微软雅黑" panose="020B0503020204020204" pitchFamily="34" charset="-122"/>
                <a:ea typeface="微软雅黑" panose="020B0503020204020204" pitchFamily="34" charset="-122"/>
              </a:rPr>
              <a:t>中的</a:t>
            </a:r>
            <a:r>
              <a:rPr lang="zh-CN" altLang="en-US" b="1" dirty="0">
                <a:solidFill>
                  <a:schemeClr val="accent2"/>
                </a:solidFill>
                <a:latin typeface="微软雅黑" panose="020B0503020204020204" pitchFamily="34" charset="-122"/>
                <a:ea typeface="微软雅黑" panose="020B0503020204020204" pitchFamily="34" charset="-122"/>
              </a:rPr>
              <a:t>最优解</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按照推进的控制策略，搜索一般分为</a:t>
            </a:r>
            <a:r>
              <a:rPr lang="zh-CN" altLang="en-US" b="1" dirty="0">
                <a:solidFill>
                  <a:schemeClr val="accent2"/>
                </a:solidFill>
                <a:latin typeface="微软雅黑" panose="020B0503020204020204" pitchFamily="34" charset="-122"/>
                <a:ea typeface="微软雅黑" panose="020B0503020204020204" pitchFamily="34" charset="-122"/>
              </a:rPr>
              <a:t>宽度优先搜索</a:t>
            </a:r>
            <a:r>
              <a:rPr lang="zh-CN" altLang="en-US" dirty="0">
                <a:latin typeface="微软雅黑" panose="020B0503020204020204" pitchFamily="34" charset="-122"/>
                <a:ea typeface="微软雅黑" panose="020B0503020204020204" pitchFamily="34" charset="-122"/>
              </a:rPr>
              <a:t>和</a:t>
            </a:r>
            <a:r>
              <a:rPr lang="zh-CN" altLang="en-US" b="1" dirty="0">
                <a:solidFill>
                  <a:schemeClr val="accent2"/>
                </a:solidFill>
                <a:latin typeface="微软雅黑" panose="020B0503020204020204" pitchFamily="34" charset="-122"/>
                <a:ea typeface="微软雅黑" panose="020B0503020204020204" pitchFamily="34" charset="-122"/>
              </a:rPr>
              <a:t>深度优先搜索</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pic>
        <p:nvPicPr>
          <p:cNvPr id="6" name="图片 5"/>
          <p:cNvPicPr>
            <a:picLocks noChangeAspect="1"/>
          </p:cNvPicPr>
          <p:nvPr/>
        </p:nvPicPr>
        <p:blipFill>
          <a:blip r:embed="rId1" cstate="print">
            <a:extLst>
              <a:ext uri="{BEBA8EAE-BF5A-486C-A8C5-ECC9F3942E4B}">
                <a14:imgProps xmlns:a14="http://schemas.microsoft.com/office/drawing/2010/main">
                  <a14:imgLayer r:embed="rId2">
                    <a14:imgEffect>
                      <a14:backgroundRemoval t="0" b="99868" l="0" r="100000"/>
                    </a14:imgEffect>
                  </a14:imgLayer>
                </a14:imgProps>
              </a:ext>
              <a:ext uri="{28A0092B-C50C-407E-A947-70E740481C1C}">
                <a14:useLocalDpi xmlns:a14="http://schemas.microsoft.com/office/drawing/2010/main" val="0"/>
              </a:ext>
            </a:extLst>
          </a:blip>
          <a:stretch>
            <a:fillRect/>
          </a:stretch>
        </p:blipFill>
        <p:spPr>
          <a:xfrm>
            <a:off x="2891471" y="1806413"/>
            <a:ext cx="7104786" cy="4476015"/>
          </a:xfrm>
          <a:prstGeom prst="rect">
            <a:avLst/>
          </a:prstGeom>
        </p:spPr>
      </p:pic>
      <p:sp>
        <p:nvSpPr>
          <p:cNvPr id="3" name="矩形 2"/>
          <p:cNvSpPr/>
          <p:nvPr/>
        </p:nvSpPr>
        <p:spPr>
          <a:xfrm>
            <a:off x="1104900" y="1806413"/>
            <a:ext cx="2698175" cy="523220"/>
          </a:xfrm>
          <a:prstGeom prst="rect">
            <a:avLst/>
          </a:prstGeom>
        </p:spPr>
        <p:txBody>
          <a:bodyPr wrap="none">
            <a:spAutoFit/>
          </a:bodyPr>
          <a:lstStyle/>
          <a:p>
            <a:r>
              <a:rPr lang="zh-CN" altLang="en-US" sz="2800" b="1" dirty="0">
                <a:solidFill>
                  <a:schemeClr val="accent2"/>
                </a:solidFill>
                <a:latin typeface="微软雅黑" panose="020B0503020204020204" pitchFamily="34" charset="-122"/>
                <a:ea typeface="微软雅黑" panose="020B0503020204020204" pitchFamily="34" charset="-122"/>
              </a:rPr>
              <a:t>如何走出迷宫？</a:t>
            </a:r>
            <a:endParaRPr lang="zh-CN" altLang="en-US" sz="2800" b="1"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zh-CN" dirty="0"/>
          </a:p>
        </p:txBody>
      </p:sp>
      <p:sp>
        <p:nvSpPr>
          <p:cNvPr id="4" name="文本框 3"/>
          <p:cNvSpPr txBox="1"/>
          <p:nvPr/>
        </p:nvSpPr>
        <p:spPr>
          <a:xfrm>
            <a:off x="1096494" y="1234284"/>
            <a:ext cx="9911654" cy="1116781"/>
          </a:xfrm>
          <a:prstGeom prst="rect">
            <a:avLst/>
          </a:prstGeom>
          <a:noFill/>
        </p:spPr>
        <p:txBody>
          <a:bodyPr wrap="square" rtlCol="0" anchor="t">
            <a:spAutoFit/>
          </a:bodyPr>
          <a:lstStyle/>
          <a:p>
            <a:pPr>
              <a:lnSpc>
                <a:spcPct val="200000"/>
              </a:lnSpc>
            </a:pPr>
            <a:r>
              <a:rPr lang="zh-CN" altLang="en-US" dirty="0">
                <a:latin typeface="微软雅黑" panose="020B0503020204020204" pitchFamily="34" charset="-122"/>
                <a:ea typeface="微软雅黑" panose="020B0503020204020204" pitchFamily="34" charset="-122"/>
                <a:sym typeface="+mn-ea"/>
              </a:rPr>
              <a:t>从问题的某一种可能出发</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搜索从这种情况出发所能达到的所有可能</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当这一条路走到“ 尽头 ”而没找到解时</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再倒回上一个步</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从另一个可能出发</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继续搜索</a:t>
            </a:r>
            <a:r>
              <a:rPr lang="en-US" altLang="zh-CN" dirty="0">
                <a:latin typeface="微软雅黑" panose="020B0503020204020204" pitchFamily="34" charset="-122"/>
                <a:ea typeface="微软雅黑" panose="020B0503020204020204" pitchFamily="34" charset="-122"/>
                <a:sym typeface="+mn-ea"/>
              </a:rPr>
              <a:t>. </a:t>
            </a:r>
            <a:endParaRPr lang="zh-CN" altLang="en-US" b="1" dirty="0">
              <a:solidFill>
                <a:schemeClr val="accent2"/>
              </a:solidFill>
              <a:latin typeface="微软雅黑" panose="020B0503020204020204" pitchFamily="34" charset="-122"/>
              <a:ea typeface="微软雅黑" panose="020B0503020204020204" pitchFamily="34" charset="-122"/>
            </a:endParaRPr>
          </a:p>
        </p:txBody>
      </p:sp>
      <p:sp>
        <p:nvSpPr>
          <p:cNvPr id="5" name="Text Box 4"/>
          <p:cNvSpPr txBox="1">
            <a:spLocks noChangeArrowheads="1"/>
          </p:cNvSpPr>
          <p:nvPr/>
        </p:nvSpPr>
        <p:spPr bwMode="auto">
          <a:xfrm>
            <a:off x="2891856" y="6289975"/>
            <a:ext cx="67691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solidFill>
                  <a:schemeClr val="accent2"/>
                </a:solidFill>
                <a:latin typeface="微软雅黑" panose="020B0503020204020204" pitchFamily="34" charset="-122"/>
                <a:ea typeface="微软雅黑" panose="020B0503020204020204" pitchFamily="34" charset="-122"/>
              </a:rPr>
              <a:t>一直走到底，走不通就掉头试下一条路。</a:t>
            </a:r>
            <a:endParaRPr lang="zh-CN" altLang="en-US" b="1" dirty="0">
              <a:solidFill>
                <a:schemeClr val="accent2"/>
              </a:solidFill>
              <a:latin typeface="微软雅黑" panose="020B0503020204020204" pitchFamily="34" charset="-122"/>
              <a:ea typeface="微软雅黑" panose="020B0503020204020204" pitchFamily="34" charset="-122"/>
            </a:endParaRPr>
          </a:p>
        </p:txBody>
      </p:sp>
      <p:sp>
        <p:nvSpPr>
          <p:cNvPr id="6" name="Oval 5"/>
          <p:cNvSpPr>
            <a:spLocks noChangeArrowheads="1"/>
          </p:cNvSpPr>
          <p:nvPr/>
        </p:nvSpPr>
        <p:spPr bwMode="auto">
          <a:xfrm>
            <a:off x="4812484" y="2409569"/>
            <a:ext cx="431800" cy="433388"/>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dirty="0">
                <a:solidFill>
                  <a:schemeClr val="bg1"/>
                </a:solidFill>
                <a:latin typeface="微软雅黑" panose="020B0503020204020204" pitchFamily="34" charset="-122"/>
                <a:ea typeface="微软雅黑" panose="020B0503020204020204" pitchFamily="34" charset="-122"/>
              </a:rPr>
              <a:t>7</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7" name="Oval 6"/>
          <p:cNvSpPr>
            <a:spLocks noChangeArrowheads="1"/>
          </p:cNvSpPr>
          <p:nvPr/>
        </p:nvSpPr>
        <p:spPr bwMode="auto">
          <a:xfrm>
            <a:off x="4093346" y="3128707"/>
            <a:ext cx="431800" cy="433387"/>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a:solidFill>
                  <a:schemeClr val="bg1"/>
                </a:solidFill>
                <a:latin typeface="微软雅黑" panose="020B0503020204020204" pitchFamily="34" charset="-122"/>
                <a:ea typeface="微软雅黑" panose="020B0503020204020204" pitchFamily="34" charset="-122"/>
              </a:rPr>
              <a:t>3</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8" name="Oval 7"/>
          <p:cNvSpPr>
            <a:spLocks noChangeArrowheads="1"/>
          </p:cNvSpPr>
          <p:nvPr/>
        </p:nvSpPr>
        <p:spPr bwMode="auto">
          <a:xfrm>
            <a:off x="6541271" y="3776407"/>
            <a:ext cx="431800" cy="433387"/>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zh-CN" altLang="en-US" sz="2800">
                <a:solidFill>
                  <a:schemeClr val="bg1"/>
                </a:solidFill>
                <a:latin typeface="微软雅黑" panose="020B0503020204020204" pitchFamily="34" charset="-122"/>
                <a:ea typeface="微软雅黑" panose="020B0503020204020204" pitchFamily="34" charset="-122"/>
              </a:rPr>
              <a:t>2</a:t>
            </a:r>
            <a:r>
              <a:rPr lang="en-US" altLang="zh-CN" sz="2800">
                <a:solidFill>
                  <a:schemeClr val="bg1"/>
                </a:solidFill>
                <a:latin typeface="微软雅黑" panose="020B0503020204020204" pitchFamily="34" charset="-122"/>
                <a:ea typeface="微软雅黑" panose="020B0503020204020204" pitchFamily="34" charset="-122"/>
              </a:rPr>
              <a:t>2</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9" name="Oval 8"/>
          <p:cNvSpPr>
            <a:spLocks noChangeArrowheads="1"/>
          </p:cNvSpPr>
          <p:nvPr/>
        </p:nvSpPr>
        <p:spPr bwMode="auto">
          <a:xfrm>
            <a:off x="2651896" y="4641594"/>
            <a:ext cx="431800" cy="433388"/>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a:solidFill>
                  <a:schemeClr val="bg1"/>
                </a:solidFill>
                <a:latin typeface="微软雅黑" panose="020B0503020204020204" pitchFamily="34" charset="-122"/>
                <a:ea typeface="微软雅黑" panose="020B0503020204020204" pitchFamily="34" charset="-122"/>
              </a:rPr>
              <a:t>8</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10" name="Oval 9"/>
          <p:cNvSpPr>
            <a:spLocks noChangeArrowheads="1"/>
          </p:cNvSpPr>
          <p:nvPr/>
        </p:nvSpPr>
        <p:spPr bwMode="auto">
          <a:xfrm>
            <a:off x="5676084" y="3128707"/>
            <a:ext cx="431800" cy="433387"/>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a:solidFill>
                  <a:schemeClr val="bg1"/>
                </a:solidFill>
                <a:latin typeface="微软雅黑" panose="020B0503020204020204" pitchFamily="34" charset="-122"/>
                <a:ea typeface="微软雅黑" panose="020B0503020204020204" pitchFamily="34" charset="-122"/>
              </a:rPr>
              <a:t>8</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11" name="Oval 10"/>
          <p:cNvSpPr>
            <a:spLocks noChangeArrowheads="1"/>
          </p:cNvSpPr>
          <p:nvPr/>
        </p:nvSpPr>
        <p:spPr bwMode="auto">
          <a:xfrm>
            <a:off x="4956946" y="3849432"/>
            <a:ext cx="431800" cy="433387"/>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a:solidFill>
                  <a:schemeClr val="bg1"/>
                </a:solidFill>
                <a:latin typeface="微软雅黑" panose="020B0503020204020204" pitchFamily="34" charset="-122"/>
                <a:ea typeface="微软雅黑" panose="020B0503020204020204" pitchFamily="34" charset="-122"/>
              </a:rPr>
              <a:t>9</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12" name="Oval 11"/>
          <p:cNvSpPr>
            <a:spLocks noChangeArrowheads="1"/>
          </p:cNvSpPr>
          <p:nvPr/>
        </p:nvSpPr>
        <p:spPr bwMode="auto">
          <a:xfrm>
            <a:off x="3372621" y="3849432"/>
            <a:ext cx="431800" cy="433387"/>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a:solidFill>
                  <a:schemeClr val="bg1"/>
                </a:solidFill>
                <a:latin typeface="微软雅黑" panose="020B0503020204020204" pitchFamily="34" charset="-122"/>
                <a:ea typeface="微软雅黑" panose="020B0503020204020204" pitchFamily="34" charset="-122"/>
              </a:rPr>
              <a:t>12</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13" name="Oval 12"/>
          <p:cNvSpPr>
            <a:spLocks noChangeArrowheads="1"/>
          </p:cNvSpPr>
          <p:nvPr/>
        </p:nvSpPr>
        <p:spPr bwMode="auto">
          <a:xfrm>
            <a:off x="7404871" y="4497132"/>
            <a:ext cx="431800" cy="433387"/>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a:solidFill>
                  <a:schemeClr val="bg1"/>
                </a:solidFill>
                <a:latin typeface="微软雅黑" panose="020B0503020204020204" pitchFamily="34" charset="-122"/>
                <a:ea typeface="微软雅黑" panose="020B0503020204020204" pitchFamily="34" charset="-122"/>
              </a:rPr>
              <a:t>10</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14" name="Oval 13"/>
          <p:cNvSpPr>
            <a:spLocks noChangeArrowheads="1"/>
          </p:cNvSpPr>
          <p:nvPr/>
        </p:nvSpPr>
        <p:spPr bwMode="auto">
          <a:xfrm>
            <a:off x="5749109" y="4568569"/>
            <a:ext cx="431800" cy="433388"/>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a:solidFill>
                  <a:schemeClr val="bg1"/>
                </a:solidFill>
                <a:latin typeface="微软雅黑" panose="020B0503020204020204" pitchFamily="34" charset="-122"/>
                <a:ea typeface="微软雅黑" panose="020B0503020204020204" pitchFamily="34" charset="-122"/>
              </a:rPr>
              <a:t>17</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15" name="Oval 14"/>
          <p:cNvSpPr>
            <a:spLocks noChangeArrowheads="1"/>
          </p:cNvSpPr>
          <p:nvPr/>
        </p:nvSpPr>
        <p:spPr bwMode="auto">
          <a:xfrm>
            <a:off x="4164784" y="4641594"/>
            <a:ext cx="431800" cy="433388"/>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a:solidFill>
                  <a:schemeClr val="bg1"/>
                </a:solidFill>
                <a:latin typeface="微软雅黑" panose="020B0503020204020204" pitchFamily="34" charset="-122"/>
                <a:ea typeface="微软雅黑" panose="020B0503020204020204" pitchFamily="34" charset="-122"/>
              </a:rPr>
              <a:t>5</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16" name="Oval 15"/>
          <p:cNvSpPr>
            <a:spLocks noChangeArrowheads="1"/>
          </p:cNvSpPr>
          <p:nvPr/>
        </p:nvSpPr>
        <p:spPr bwMode="auto">
          <a:xfrm>
            <a:off x="3517084" y="5360732"/>
            <a:ext cx="431800" cy="433387"/>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a:solidFill>
                  <a:schemeClr val="bg1"/>
                </a:solidFill>
                <a:latin typeface="微软雅黑" panose="020B0503020204020204" pitchFamily="34" charset="-122"/>
                <a:ea typeface="微软雅黑" panose="020B0503020204020204" pitchFamily="34" charset="-122"/>
              </a:rPr>
              <a:t>6</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17" name="Oval 16"/>
          <p:cNvSpPr>
            <a:spLocks noChangeArrowheads="1"/>
          </p:cNvSpPr>
          <p:nvPr/>
        </p:nvSpPr>
        <p:spPr bwMode="auto">
          <a:xfrm>
            <a:off x="8268471" y="5217857"/>
            <a:ext cx="431800" cy="433387"/>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a:solidFill>
                  <a:schemeClr val="bg1"/>
                </a:solidFill>
                <a:latin typeface="微软雅黑" panose="020B0503020204020204" pitchFamily="34" charset="-122"/>
                <a:ea typeface="微软雅黑" panose="020B0503020204020204" pitchFamily="34" charset="-122"/>
              </a:rPr>
              <a:t>8</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18" name="Oval 17"/>
          <p:cNvSpPr>
            <a:spLocks noChangeArrowheads="1"/>
          </p:cNvSpPr>
          <p:nvPr/>
        </p:nvSpPr>
        <p:spPr bwMode="auto">
          <a:xfrm>
            <a:off x="6612709" y="5217857"/>
            <a:ext cx="431800" cy="433387"/>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zh-CN" altLang="en-US" sz="2800">
                <a:solidFill>
                  <a:schemeClr val="bg1"/>
                </a:solidFill>
                <a:latin typeface="微软雅黑" panose="020B0503020204020204" pitchFamily="34" charset="-122"/>
                <a:ea typeface="微软雅黑" panose="020B0503020204020204" pitchFamily="34" charset="-122"/>
              </a:rPr>
              <a:t>1</a:t>
            </a:r>
            <a:r>
              <a:rPr lang="en-US" altLang="zh-CN" sz="2800">
                <a:solidFill>
                  <a:schemeClr val="bg1"/>
                </a:solidFill>
                <a:latin typeface="微软雅黑" panose="020B0503020204020204" pitchFamily="34" charset="-122"/>
                <a:ea typeface="微软雅黑" panose="020B0503020204020204" pitchFamily="34" charset="-122"/>
              </a:rPr>
              <a:t>5</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19" name="Oval 18"/>
          <p:cNvSpPr>
            <a:spLocks noChangeArrowheads="1"/>
          </p:cNvSpPr>
          <p:nvPr/>
        </p:nvSpPr>
        <p:spPr bwMode="auto">
          <a:xfrm>
            <a:off x="5101409" y="5360732"/>
            <a:ext cx="431800" cy="433387"/>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a:solidFill>
                  <a:schemeClr val="bg1"/>
                </a:solidFill>
                <a:latin typeface="微软雅黑" panose="020B0503020204020204" pitchFamily="34" charset="-122"/>
                <a:ea typeface="微软雅黑" panose="020B0503020204020204" pitchFamily="34" charset="-122"/>
              </a:rPr>
              <a:t>2</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20" name="Oval 19"/>
          <p:cNvSpPr>
            <a:spLocks noChangeArrowheads="1"/>
          </p:cNvSpPr>
          <p:nvPr/>
        </p:nvSpPr>
        <p:spPr bwMode="auto">
          <a:xfrm>
            <a:off x="1932759" y="5360732"/>
            <a:ext cx="431800" cy="433387"/>
          </a:xfrm>
          <a:prstGeom prst="ellipse">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wrap="none" anchor="ctr"/>
          <a:lstStyle/>
          <a:p>
            <a:pPr algn="ctr"/>
            <a:r>
              <a:rPr lang="en-US" altLang="zh-CN" sz="2800">
                <a:solidFill>
                  <a:schemeClr val="bg1"/>
                </a:solidFill>
                <a:latin typeface="微软雅黑" panose="020B0503020204020204" pitchFamily="34" charset="-122"/>
                <a:ea typeface="微软雅黑" panose="020B0503020204020204" pitchFamily="34" charset="-122"/>
              </a:rPr>
              <a:t>3</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21" name="Line 20"/>
          <p:cNvSpPr>
            <a:spLocks noChangeShapeType="1"/>
          </p:cNvSpPr>
          <p:nvPr/>
        </p:nvSpPr>
        <p:spPr bwMode="auto">
          <a:xfrm flipH="1">
            <a:off x="4452121" y="2768344"/>
            <a:ext cx="431800"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22" name="Line 21"/>
          <p:cNvSpPr>
            <a:spLocks noChangeShapeType="1"/>
          </p:cNvSpPr>
          <p:nvPr/>
        </p:nvSpPr>
        <p:spPr bwMode="auto">
          <a:xfrm flipH="1">
            <a:off x="3732984" y="3489069"/>
            <a:ext cx="431800"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23" name="Line 22"/>
          <p:cNvSpPr>
            <a:spLocks noChangeShapeType="1"/>
          </p:cNvSpPr>
          <p:nvPr/>
        </p:nvSpPr>
        <p:spPr bwMode="auto">
          <a:xfrm flipH="1">
            <a:off x="3012259" y="4281232"/>
            <a:ext cx="431800"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24" name="Line 23"/>
          <p:cNvSpPr>
            <a:spLocks noChangeShapeType="1"/>
          </p:cNvSpPr>
          <p:nvPr/>
        </p:nvSpPr>
        <p:spPr bwMode="auto">
          <a:xfrm flipH="1">
            <a:off x="2293121" y="5000369"/>
            <a:ext cx="431800"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25" name="Line 24"/>
          <p:cNvSpPr>
            <a:spLocks noChangeShapeType="1"/>
          </p:cNvSpPr>
          <p:nvPr/>
        </p:nvSpPr>
        <p:spPr bwMode="auto">
          <a:xfrm>
            <a:off x="5244284" y="2768344"/>
            <a:ext cx="504825"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26" name="Line 25"/>
          <p:cNvSpPr>
            <a:spLocks noChangeShapeType="1"/>
          </p:cNvSpPr>
          <p:nvPr/>
        </p:nvSpPr>
        <p:spPr bwMode="auto">
          <a:xfrm>
            <a:off x="6109471" y="3417632"/>
            <a:ext cx="504825"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27" name="Line 26"/>
          <p:cNvSpPr>
            <a:spLocks noChangeShapeType="1"/>
          </p:cNvSpPr>
          <p:nvPr/>
        </p:nvSpPr>
        <p:spPr bwMode="auto">
          <a:xfrm>
            <a:off x="6973071" y="4136769"/>
            <a:ext cx="504825"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28" name="Line 27"/>
          <p:cNvSpPr>
            <a:spLocks noChangeShapeType="1"/>
          </p:cNvSpPr>
          <p:nvPr/>
        </p:nvSpPr>
        <p:spPr bwMode="auto">
          <a:xfrm>
            <a:off x="6180909" y="4857494"/>
            <a:ext cx="504825"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29" name="Line 28"/>
          <p:cNvSpPr>
            <a:spLocks noChangeShapeType="1"/>
          </p:cNvSpPr>
          <p:nvPr/>
        </p:nvSpPr>
        <p:spPr bwMode="auto">
          <a:xfrm>
            <a:off x="4452121" y="3489069"/>
            <a:ext cx="504825"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30" name="Line 29"/>
          <p:cNvSpPr>
            <a:spLocks noChangeShapeType="1"/>
          </p:cNvSpPr>
          <p:nvPr/>
        </p:nvSpPr>
        <p:spPr bwMode="auto">
          <a:xfrm>
            <a:off x="3012259" y="5073394"/>
            <a:ext cx="504825"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31" name="Line 30"/>
          <p:cNvSpPr>
            <a:spLocks noChangeShapeType="1"/>
          </p:cNvSpPr>
          <p:nvPr/>
        </p:nvSpPr>
        <p:spPr bwMode="auto">
          <a:xfrm>
            <a:off x="5317309" y="4209794"/>
            <a:ext cx="504825"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32" name="Line 31"/>
          <p:cNvSpPr>
            <a:spLocks noChangeShapeType="1"/>
          </p:cNvSpPr>
          <p:nvPr/>
        </p:nvSpPr>
        <p:spPr bwMode="auto">
          <a:xfrm flipH="1">
            <a:off x="4587059" y="4281232"/>
            <a:ext cx="431800"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33" name="Line 32"/>
          <p:cNvSpPr>
            <a:spLocks noChangeShapeType="1"/>
          </p:cNvSpPr>
          <p:nvPr/>
        </p:nvSpPr>
        <p:spPr bwMode="auto">
          <a:xfrm>
            <a:off x="7836671" y="4857494"/>
            <a:ext cx="504825"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34" name="Line 33"/>
          <p:cNvSpPr>
            <a:spLocks noChangeShapeType="1"/>
          </p:cNvSpPr>
          <p:nvPr/>
        </p:nvSpPr>
        <p:spPr bwMode="auto">
          <a:xfrm flipH="1">
            <a:off x="5388746" y="5000369"/>
            <a:ext cx="431800" cy="43180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35" name="Text Box 34"/>
          <p:cNvSpPr txBox="1">
            <a:spLocks noChangeArrowheads="1"/>
          </p:cNvSpPr>
          <p:nvPr/>
        </p:nvSpPr>
        <p:spPr bwMode="auto">
          <a:xfrm>
            <a:off x="8370180" y="2762494"/>
            <a:ext cx="11922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solidFill>
                  <a:schemeClr val="accent2"/>
                </a:solidFill>
                <a:latin typeface="微软雅黑" panose="020B0503020204020204" pitchFamily="34" charset="-122"/>
                <a:ea typeface="微软雅黑" panose="020B0503020204020204" pitchFamily="34" charset="-122"/>
              </a:rPr>
              <a:t>查找22</a:t>
            </a:r>
            <a:endParaRPr lang="zh-CN" altLang="en-US" b="1" dirty="0">
              <a:solidFill>
                <a:schemeClr val="accent2"/>
              </a:solidFill>
              <a:latin typeface="微软雅黑" panose="020B0503020204020204" pitchFamily="34" charset="-122"/>
              <a:ea typeface="微软雅黑" panose="020B0503020204020204" pitchFamily="34" charset="-122"/>
            </a:endParaRPr>
          </a:p>
        </p:txBody>
      </p:sp>
      <p:sp>
        <p:nvSpPr>
          <p:cNvPr id="36" name="Line 35"/>
          <p:cNvSpPr>
            <a:spLocks noChangeShapeType="1"/>
          </p:cNvSpPr>
          <p:nvPr/>
        </p:nvSpPr>
        <p:spPr bwMode="auto">
          <a:xfrm flipH="1">
            <a:off x="4217171" y="2428619"/>
            <a:ext cx="577850" cy="647700"/>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37" name="Line 36"/>
          <p:cNvSpPr>
            <a:spLocks noChangeShapeType="1"/>
          </p:cNvSpPr>
          <p:nvPr/>
        </p:nvSpPr>
        <p:spPr bwMode="auto">
          <a:xfrm flipH="1">
            <a:off x="3448821" y="3206494"/>
            <a:ext cx="576263" cy="649288"/>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38" name="Line 37"/>
          <p:cNvSpPr>
            <a:spLocks noChangeShapeType="1"/>
          </p:cNvSpPr>
          <p:nvPr/>
        </p:nvSpPr>
        <p:spPr bwMode="auto">
          <a:xfrm flipH="1">
            <a:off x="2716984" y="3985957"/>
            <a:ext cx="576262" cy="649287"/>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39" name="Line 38"/>
          <p:cNvSpPr>
            <a:spLocks noChangeShapeType="1"/>
          </p:cNvSpPr>
          <p:nvPr/>
        </p:nvSpPr>
        <p:spPr bwMode="auto">
          <a:xfrm flipH="1">
            <a:off x="1986734" y="4698744"/>
            <a:ext cx="576262" cy="647700"/>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40" name="Line 39"/>
          <p:cNvSpPr>
            <a:spLocks noChangeShapeType="1"/>
          </p:cNvSpPr>
          <p:nvPr/>
        </p:nvSpPr>
        <p:spPr bwMode="auto">
          <a:xfrm flipV="1">
            <a:off x="2388371" y="5116257"/>
            <a:ext cx="485775" cy="487362"/>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41" name="Line 40"/>
          <p:cNvSpPr>
            <a:spLocks noChangeShapeType="1"/>
          </p:cNvSpPr>
          <p:nvPr/>
        </p:nvSpPr>
        <p:spPr bwMode="auto">
          <a:xfrm>
            <a:off x="2940821" y="5217857"/>
            <a:ext cx="568325" cy="504825"/>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42" name="Line 41"/>
          <p:cNvSpPr>
            <a:spLocks noChangeShapeType="1"/>
          </p:cNvSpPr>
          <p:nvPr/>
        </p:nvSpPr>
        <p:spPr bwMode="auto">
          <a:xfrm flipH="1" flipV="1">
            <a:off x="3163071" y="4944807"/>
            <a:ext cx="454025" cy="379412"/>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43" name="Line 42"/>
          <p:cNvSpPr>
            <a:spLocks noChangeShapeType="1"/>
          </p:cNvSpPr>
          <p:nvPr/>
        </p:nvSpPr>
        <p:spPr bwMode="auto">
          <a:xfrm flipV="1">
            <a:off x="3129734" y="4366957"/>
            <a:ext cx="484187" cy="485775"/>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44" name="Line 43"/>
          <p:cNvSpPr>
            <a:spLocks noChangeShapeType="1"/>
          </p:cNvSpPr>
          <p:nvPr/>
        </p:nvSpPr>
        <p:spPr bwMode="auto">
          <a:xfrm flipV="1">
            <a:off x="3869509" y="3606544"/>
            <a:ext cx="485775" cy="485775"/>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45" name="Line 44"/>
          <p:cNvSpPr>
            <a:spLocks noChangeShapeType="1"/>
          </p:cNvSpPr>
          <p:nvPr/>
        </p:nvSpPr>
        <p:spPr bwMode="auto">
          <a:xfrm>
            <a:off x="4421959" y="3649407"/>
            <a:ext cx="568325" cy="504825"/>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46" name="Line 45"/>
          <p:cNvSpPr>
            <a:spLocks noChangeShapeType="1"/>
          </p:cNvSpPr>
          <p:nvPr/>
        </p:nvSpPr>
        <p:spPr bwMode="auto">
          <a:xfrm flipH="1">
            <a:off x="4452121" y="4136769"/>
            <a:ext cx="395288" cy="454025"/>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47" name="Line 46"/>
          <p:cNvSpPr>
            <a:spLocks noChangeShapeType="1"/>
          </p:cNvSpPr>
          <p:nvPr/>
        </p:nvSpPr>
        <p:spPr bwMode="auto">
          <a:xfrm flipV="1">
            <a:off x="4677546" y="4405057"/>
            <a:ext cx="485775" cy="485775"/>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48" name="Line 47"/>
          <p:cNvSpPr>
            <a:spLocks noChangeShapeType="1"/>
          </p:cNvSpPr>
          <p:nvPr/>
        </p:nvSpPr>
        <p:spPr bwMode="auto">
          <a:xfrm>
            <a:off x="5210946" y="4352669"/>
            <a:ext cx="539750" cy="431800"/>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49" name="Line 48"/>
          <p:cNvSpPr>
            <a:spLocks noChangeShapeType="1"/>
          </p:cNvSpPr>
          <p:nvPr/>
        </p:nvSpPr>
        <p:spPr bwMode="auto">
          <a:xfrm flipH="1">
            <a:off x="5290321" y="4878132"/>
            <a:ext cx="393700" cy="452437"/>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50" name="Line 49"/>
          <p:cNvSpPr>
            <a:spLocks noChangeShapeType="1"/>
          </p:cNvSpPr>
          <p:nvPr/>
        </p:nvSpPr>
        <p:spPr bwMode="auto">
          <a:xfrm flipV="1">
            <a:off x="5572896" y="5040057"/>
            <a:ext cx="485775" cy="485775"/>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51" name="Line 50"/>
          <p:cNvSpPr>
            <a:spLocks noChangeShapeType="1"/>
          </p:cNvSpPr>
          <p:nvPr/>
        </p:nvSpPr>
        <p:spPr bwMode="auto">
          <a:xfrm>
            <a:off x="6134871" y="4987669"/>
            <a:ext cx="538163" cy="431800"/>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52" name="Line 51"/>
          <p:cNvSpPr>
            <a:spLocks noChangeShapeType="1"/>
          </p:cNvSpPr>
          <p:nvPr/>
        </p:nvSpPr>
        <p:spPr bwMode="auto">
          <a:xfrm flipH="1" flipV="1">
            <a:off x="6252346" y="4713032"/>
            <a:ext cx="588963" cy="509587"/>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53" name="Line 52"/>
          <p:cNvSpPr>
            <a:spLocks noChangeShapeType="1"/>
          </p:cNvSpPr>
          <p:nvPr/>
        </p:nvSpPr>
        <p:spPr bwMode="auto">
          <a:xfrm flipH="1" flipV="1">
            <a:off x="5464946" y="4068507"/>
            <a:ext cx="587375" cy="509587"/>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54" name="Line 53"/>
          <p:cNvSpPr>
            <a:spLocks noChangeShapeType="1"/>
          </p:cNvSpPr>
          <p:nvPr/>
        </p:nvSpPr>
        <p:spPr bwMode="auto">
          <a:xfrm flipH="1" flipV="1">
            <a:off x="4607696" y="3328732"/>
            <a:ext cx="588963" cy="509587"/>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55" name="Line 54"/>
          <p:cNvSpPr>
            <a:spLocks noChangeShapeType="1"/>
          </p:cNvSpPr>
          <p:nvPr/>
        </p:nvSpPr>
        <p:spPr bwMode="auto">
          <a:xfrm flipV="1">
            <a:off x="4669609" y="2912807"/>
            <a:ext cx="334962" cy="369887"/>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56" name="Line 55"/>
          <p:cNvSpPr>
            <a:spLocks noChangeShapeType="1"/>
          </p:cNvSpPr>
          <p:nvPr/>
        </p:nvSpPr>
        <p:spPr bwMode="auto">
          <a:xfrm>
            <a:off x="5144271" y="2888994"/>
            <a:ext cx="568325" cy="504825"/>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
        <p:nvSpPr>
          <p:cNvPr id="57" name="Line 56"/>
          <p:cNvSpPr>
            <a:spLocks noChangeShapeType="1"/>
          </p:cNvSpPr>
          <p:nvPr/>
        </p:nvSpPr>
        <p:spPr bwMode="auto">
          <a:xfrm>
            <a:off x="5941196" y="3562094"/>
            <a:ext cx="568325" cy="504825"/>
          </a:xfrm>
          <a:prstGeom prst="line">
            <a:avLst/>
          </a:prstGeom>
          <a:ln>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3">
            <a:schemeClr val="accent2"/>
          </a:fillRef>
          <a:effectRef idx="2">
            <a:schemeClr val="accent2"/>
          </a:effectRef>
          <a:fontRef idx="minor">
            <a:schemeClr val="lt1"/>
          </a:fontRef>
        </p:style>
        <p:txBody>
          <a:bodyPr/>
          <a:lstStyle/>
          <a:p>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 calcmode="lin" valueType="num">
                                      <p:cBhvr>
                                        <p:cTn id="9" dur="500" fill="hold"/>
                                        <p:tgtEl>
                                          <p:spTgt spid="35"/>
                                        </p:tgtEl>
                                        <p:attrNameLst>
                                          <p:attrName>style.rotation</p:attrName>
                                        </p:attrNameLst>
                                      </p:cBhvr>
                                      <p:tavLst>
                                        <p:tav tm="0">
                                          <p:val>
                                            <p:fltVal val="360"/>
                                          </p:val>
                                        </p:tav>
                                        <p:tav tm="100000">
                                          <p:val>
                                            <p:fltVal val="0"/>
                                          </p:val>
                                        </p:tav>
                                      </p:tavLst>
                                    </p:anim>
                                    <p:animEffect transition="in" filter="fade">
                                      <p:cBhvr>
                                        <p:cTn id="10" dur="500"/>
                                        <p:tgtEl>
                                          <p:spTgt spid="3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up)">
                                      <p:cBhvr>
                                        <p:cTn id="15" dur="500"/>
                                        <p:tgtEl>
                                          <p:spTgt spid="3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wipe(up)">
                                      <p:cBhvr>
                                        <p:cTn id="20" dur="500"/>
                                        <p:tgtEl>
                                          <p:spTgt spid="3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wipe(up)">
                                      <p:cBhvr>
                                        <p:cTn id="25" dur="5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up)">
                                      <p:cBhvr>
                                        <p:cTn id="30" dur="500"/>
                                        <p:tgtEl>
                                          <p:spTgt spid="3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wipe(down)">
                                      <p:cBhvr>
                                        <p:cTn id="35" dur="500"/>
                                        <p:tgtEl>
                                          <p:spTgt spid="4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wipe(up)">
                                      <p:cBhvr>
                                        <p:cTn id="40" dur="500"/>
                                        <p:tgtEl>
                                          <p:spTgt spid="4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wipe(down)">
                                      <p:cBhvr>
                                        <p:cTn id="45" dur="500"/>
                                        <p:tgtEl>
                                          <p:spTgt spid="4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wipe(down)">
                                      <p:cBhvr>
                                        <p:cTn id="50" dur="500"/>
                                        <p:tgtEl>
                                          <p:spTgt spid="4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44"/>
                                        </p:tgtEl>
                                        <p:attrNameLst>
                                          <p:attrName>style.visibility</p:attrName>
                                        </p:attrNameLst>
                                      </p:cBhvr>
                                      <p:to>
                                        <p:strVal val="visible"/>
                                      </p:to>
                                    </p:set>
                                    <p:animEffect transition="in" filter="wipe(down)">
                                      <p:cBhvr>
                                        <p:cTn id="55" dur="500"/>
                                        <p:tgtEl>
                                          <p:spTgt spid="4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wipe(up)">
                                      <p:cBhvr>
                                        <p:cTn id="60" dur="500"/>
                                        <p:tgtEl>
                                          <p:spTgt spid="4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46"/>
                                        </p:tgtEl>
                                        <p:attrNameLst>
                                          <p:attrName>style.visibility</p:attrName>
                                        </p:attrNameLst>
                                      </p:cBhvr>
                                      <p:to>
                                        <p:strVal val="visible"/>
                                      </p:to>
                                    </p:set>
                                    <p:animEffect transition="in" filter="wipe(up)">
                                      <p:cBhvr>
                                        <p:cTn id="65" dur="500"/>
                                        <p:tgtEl>
                                          <p:spTgt spid="4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wipe(down)">
                                      <p:cBhvr>
                                        <p:cTn id="70" dur="500"/>
                                        <p:tgtEl>
                                          <p:spTgt spid="47"/>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wipe(up)">
                                      <p:cBhvr>
                                        <p:cTn id="75" dur="500"/>
                                        <p:tgtEl>
                                          <p:spTgt spid="48"/>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wipe(up)">
                                      <p:cBhvr>
                                        <p:cTn id="80" dur="500"/>
                                        <p:tgtEl>
                                          <p:spTgt spid="49"/>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nodeType="click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wipe(down)">
                                      <p:cBhvr>
                                        <p:cTn id="85" dur="500"/>
                                        <p:tgtEl>
                                          <p:spTgt spid="50"/>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nodeType="clickEffect">
                                  <p:stCondLst>
                                    <p:cond delay="0"/>
                                  </p:stCondLst>
                                  <p:childTnLst>
                                    <p:set>
                                      <p:cBhvr>
                                        <p:cTn id="89" dur="1" fill="hold">
                                          <p:stCondLst>
                                            <p:cond delay="0"/>
                                          </p:stCondLst>
                                        </p:cTn>
                                        <p:tgtEl>
                                          <p:spTgt spid="51"/>
                                        </p:tgtEl>
                                        <p:attrNameLst>
                                          <p:attrName>style.visibility</p:attrName>
                                        </p:attrNameLst>
                                      </p:cBhvr>
                                      <p:to>
                                        <p:strVal val="visible"/>
                                      </p:to>
                                    </p:set>
                                    <p:animEffect transition="in" filter="wipe(up)">
                                      <p:cBhvr>
                                        <p:cTn id="90" dur="500"/>
                                        <p:tgtEl>
                                          <p:spTgt spid="51"/>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nodeType="click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wipe(down)">
                                      <p:cBhvr>
                                        <p:cTn id="95" dur="500"/>
                                        <p:tgtEl>
                                          <p:spTgt spid="52"/>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nodeType="clickEffect">
                                  <p:stCondLst>
                                    <p:cond delay="0"/>
                                  </p:stCondLst>
                                  <p:childTnLst>
                                    <p:set>
                                      <p:cBhvr>
                                        <p:cTn id="99" dur="1" fill="hold">
                                          <p:stCondLst>
                                            <p:cond delay="0"/>
                                          </p:stCondLst>
                                        </p:cTn>
                                        <p:tgtEl>
                                          <p:spTgt spid="53"/>
                                        </p:tgtEl>
                                        <p:attrNameLst>
                                          <p:attrName>style.visibility</p:attrName>
                                        </p:attrNameLst>
                                      </p:cBhvr>
                                      <p:to>
                                        <p:strVal val="visible"/>
                                      </p:to>
                                    </p:set>
                                    <p:animEffect transition="in" filter="wipe(down)">
                                      <p:cBhvr>
                                        <p:cTn id="100" dur="500"/>
                                        <p:tgtEl>
                                          <p:spTgt spid="53"/>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nodeType="clickEffect">
                                  <p:stCondLst>
                                    <p:cond delay="0"/>
                                  </p:stCondLst>
                                  <p:childTnLst>
                                    <p:set>
                                      <p:cBhvr>
                                        <p:cTn id="104" dur="1" fill="hold">
                                          <p:stCondLst>
                                            <p:cond delay="0"/>
                                          </p:stCondLst>
                                        </p:cTn>
                                        <p:tgtEl>
                                          <p:spTgt spid="54"/>
                                        </p:tgtEl>
                                        <p:attrNameLst>
                                          <p:attrName>style.visibility</p:attrName>
                                        </p:attrNameLst>
                                      </p:cBhvr>
                                      <p:to>
                                        <p:strVal val="visible"/>
                                      </p:to>
                                    </p:set>
                                    <p:animEffect transition="in" filter="wipe(down)">
                                      <p:cBhvr>
                                        <p:cTn id="105" dur="500"/>
                                        <p:tgtEl>
                                          <p:spTgt spid="54"/>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nodeType="clickEffect">
                                  <p:stCondLst>
                                    <p:cond delay="0"/>
                                  </p:stCondLst>
                                  <p:childTnLst>
                                    <p:set>
                                      <p:cBhvr>
                                        <p:cTn id="109" dur="1" fill="hold">
                                          <p:stCondLst>
                                            <p:cond delay="0"/>
                                          </p:stCondLst>
                                        </p:cTn>
                                        <p:tgtEl>
                                          <p:spTgt spid="55"/>
                                        </p:tgtEl>
                                        <p:attrNameLst>
                                          <p:attrName>style.visibility</p:attrName>
                                        </p:attrNameLst>
                                      </p:cBhvr>
                                      <p:to>
                                        <p:strVal val="visible"/>
                                      </p:to>
                                    </p:set>
                                    <p:animEffect transition="in" filter="wipe(down)">
                                      <p:cBhvr>
                                        <p:cTn id="110" dur="500"/>
                                        <p:tgtEl>
                                          <p:spTgt spid="55"/>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1" fill="hold" nodeType="clickEffect">
                                  <p:stCondLst>
                                    <p:cond delay="0"/>
                                  </p:stCondLst>
                                  <p:childTnLst>
                                    <p:set>
                                      <p:cBhvr>
                                        <p:cTn id="114" dur="1" fill="hold">
                                          <p:stCondLst>
                                            <p:cond delay="0"/>
                                          </p:stCondLst>
                                        </p:cTn>
                                        <p:tgtEl>
                                          <p:spTgt spid="56"/>
                                        </p:tgtEl>
                                        <p:attrNameLst>
                                          <p:attrName>style.visibility</p:attrName>
                                        </p:attrNameLst>
                                      </p:cBhvr>
                                      <p:to>
                                        <p:strVal val="visible"/>
                                      </p:to>
                                    </p:set>
                                    <p:animEffect transition="in" filter="wipe(up)">
                                      <p:cBhvr>
                                        <p:cTn id="115" dur="500"/>
                                        <p:tgtEl>
                                          <p:spTgt spid="56"/>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1" fill="hold" nodeType="clickEffect">
                                  <p:stCondLst>
                                    <p:cond delay="0"/>
                                  </p:stCondLst>
                                  <p:childTnLst>
                                    <p:set>
                                      <p:cBhvr>
                                        <p:cTn id="119" dur="1" fill="hold">
                                          <p:stCondLst>
                                            <p:cond delay="0"/>
                                          </p:stCondLst>
                                        </p:cTn>
                                        <p:tgtEl>
                                          <p:spTgt spid="57"/>
                                        </p:tgtEl>
                                        <p:attrNameLst>
                                          <p:attrName>style.visibility</p:attrName>
                                        </p:attrNameLst>
                                      </p:cBhvr>
                                      <p:to>
                                        <p:strVal val="visible"/>
                                      </p:to>
                                    </p:set>
                                    <p:animEffect transition="in" filter="wipe(up)">
                                      <p:cBhvr>
                                        <p:cTn id="120" dur="500"/>
                                        <p:tgtEl>
                                          <p:spTgt spid="57"/>
                                        </p:tgtEl>
                                      </p:cBhvr>
                                    </p:animEffect>
                                  </p:childTnLst>
                                </p:cTn>
                              </p:par>
                            </p:childTnLst>
                          </p:cTn>
                        </p:par>
                      </p:childTnLst>
                    </p:cTn>
                  </p:par>
                  <p:par>
                    <p:cTn id="121" fill="hold">
                      <p:stCondLst>
                        <p:cond delay="indefinite"/>
                      </p:stCondLst>
                      <p:childTnLst>
                        <p:par>
                          <p:cTn id="122" fill="hold">
                            <p:stCondLst>
                              <p:cond delay="0"/>
                            </p:stCondLst>
                            <p:childTnLst>
                              <p:par>
                                <p:cTn id="123" presetID="26" presetClass="emph" presetSubtype="0" repeatCount="indefinite" fill="hold" grpId="0" nodeType="clickEffect">
                                  <p:stCondLst>
                                    <p:cond delay="0"/>
                                  </p:stCondLst>
                                  <p:endCondLst>
                                    <p:cond evt="onNext" delay="0">
                                      <p:tgtEl>
                                        <p:sldTgt/>
                                      </p:tgtEl>
                                    </p:cond>
                                  </p:endCondLst>
                                  <p:childTnLst>
                                    <p:animEffect transition="out" filter="fade">
                                      <p:cBhvr>
                                        <p:cTn id="124" dur="500"/>
                                        <p:tgtEl>
                                          <p:spTgt spid="8"/>
                                        </p:tgtEl>
                                      </p:cBhvr>
                                    </p:animEffect>
                                    <p:animScale>
                                      <p:cBhvr>
                                        <p:cTn id="125" dur="250" autoRev="1" fill="hold"/>
                                        <p:tgtEl>
                                          <p:spTgt spid="8"/>
                                        </p:tgtEl>
                                      </p:cBhvr>
                                      <p:by x="105000" y="105000"/>
                                    </p:animScale>
                                  </p:childTnLst>
                                </p:cTn>
                              </p:par>
                            </p:childTnLst>
                          </p:cTn>
                        </p:par>
                      </p:childTnLst>
                    </p:cTn>
                  </p:par>
                  <p:par>
                    <p:cTn id="126" fill="hold">
                      <p:stCondLst>
                        <p:cond delay="indefinite"/>
                      </p:stCondLst>
                      <p:childTnLst>
                        <p:par>
                          <p:cTn id="127" fill="hold">
                            <p:stCondLst>
                              <p:cond delay="0"/>
                            </p:stCondLst>
                            <p:childTnLst>
                              <p:par>
                                <p:cTn id="128" presetID="5" presetClass="entr" presetSubtype="10" fill="hold" grpId="0" nodeType="clickEffect">
                                  <p:stCondLst>
                                    <p:cond delay="0"/>
                                  </p:stCondLst>
                                  <p:childTnLst>
                                    <p:set>
                                      <p:cBhvr>
                                        <p:cTn id="129" dur="1" fill="hold">
                                          <p:stCondLst>
                                            <p:cond delay="0"/>
                                          </p:stCondLst>
                                        </p:cTn>
                                        <p:tgtEl>
                                          <p:spTgt spid="5"/>
                                        </p:tgtEl>
                                        <p:attrNameLst>
                                          <p:attrName>style.visibility</p:attrName>
                                        </p:attrNameLst>
                                      </p:cBhvr>
                                      <p:to>
                                        <p:strVal val="visible"/>
                                      </p:to>
                                    </p:set>
                                    <p:animEffect transition="in" filter="checkerboard(across)">
                                      <p:cBhvr>
                                        <p:cTn id="1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utoUpdateAnimBg="0"/>
      <p:bldP spid="8" grpId="0" bldLvl="0" animBg="1" autoUpdateAnimBg="0"/>
      <p:bldP spid="35" grpId="0" bldLvl="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1032768" y="1400822"/>
            <a:ext cx="10052814" cy="5444054"/>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rPr>
              <a:t>【</a:t>
            </a:r>
            <a:r>
              <a:rPr lang="zh-CN" altLang="en-US" b="1" dirty="0">
                <a:solidFill>
                  <a:schemeClr val="accent2"/>
                </a:solidFill>
                <a:latin typeface="微软雅黑" panose="020B0503020204020204" pitchFamily="34" charset="-122"/>
                <a:ea typeface="微软雅黑" panose="020B0503020204020204" pitchFamily="34" charset="-122"/>
              </a:rPr>
              <a:t>算法描述</a:t>
            </a:r>
            <a:r>
              <a:rPr lang="en-US" altLang="zh-CN" b="1" dirty="0">
                <a:solidFill>
                  <a:schemeClr val="accent2"/>
                </a:solidFill>
                <a:latin typeface="微软雅黑" panose="020B0503020204020204" pitchFamily="34" charset="-122"/>
                <a:ea typeface="微软雅黑" panose="020B0503020204020204" pitchFamily="34" charset="-122"/>
              </a:rPr>
              <a:t>1】</a:t>
            </a:r>
            <a:endParaRPr lang="en-US" altLang="zh-CN" b="1" dirty="0">
              <a:solidFill>
                <a:schemeClr val="accent2"/>
              </a:solidFill>
              <a:latin typeface="微软雅黑" panose="020B0503020204020204" pitchFamily="34" charset="-122"/>
              <a:ea typeface="微软雅黑" panose="020B0503020204020204" pitchFamily="34" charset="-122"/>
            </a:endParaRPr>
          </a:p>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void Search(int k)</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for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=1;i&lt;=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算符种数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if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满足条件</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保存结果</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if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到目的地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输出解</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else Search(k+1);</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恢复：保存结果之前的状态</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回溯一步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b="1" dirty="0">
              <a:solidFill>
                <a:schemeClr val="accent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1032768" y="1329800"/>
            <a:ext cx="10052814" cy="6217087"/>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rPr>
              <a:t>【</a:t>
            </a:r>
            <a:r>
              <a:rPr lang="zh-CN" altLang="en-US" b="1" dirty="0">
                <a:solidFill>
                  <a:schemeClr val="accent2"/>
                </a:solidFill>
                <a:latin typeface="微软雅黑" panose="020B0503020204020204" pitchFamily="34" charset="-122"/>
                <a:ea typeface="微软雅黑" panose="020B0503020204020204" pitchFamily="34" charset="-122"/>
              </a:rPr>
              <a:t>算法描述</a:t>
            </a:r>
            <a:r>
              <a:rPr lang="en-US" altLang="zh-CN" b="1" dirty="0">
                <a:solidFill>
                  <a:schemeClr val="accent2"/>
                </a:solidFill>
                <a:latin typeface="微软雅黑" panose="020B0503020204020204" pitchFamily="34" charset="-122"/>
                <a:ea typeface="微软雅黑" panose="020B0503020204020204" pitchFamily="34" charset="-122"/>
              </a:rPr>
              <a:t>2】</a:t>
            </a:r>
            <a:endParaRPr lang="en-US" altLang="zh-CN" b="1" dirty="0">
              <a:solidFill>
                <a:schemeClr val="accent2"/>
              </a:solidFill>
              <a:latin typeface="微软雅黑" panose="020B0503020204020204" pitchFamily="34" charset="-122"/>
              <a:ea typeface="微软雅黑" panose="020B0503020204020204" pitchFamily="34" charset="-122"/>
            </a:endParaRPr>
          </a:p>
          <a:p>
            <a:pPr>
              <a:lnSpc>
                <a:spcPct val="150000"/>
              </a:lnSpc>
            </a:pP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int Search(int k)</a:t>
            </a:r>
            <a:endPar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if  (</a:t>
            </a: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到目的地</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输出解</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else</a:t>
            </a:r>
            <a:endPar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for (</a:t>
            </a:r>
            <a:r>
              <a:rPr lang="en-US" altLang="zh-CN" dirty="0" err="1">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=1;i&lt;=</a:t>
            </a: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算符种数</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if  (</a:t>
            </a: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满足条件</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保存结果</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Search(k+1);</a:t>
            </a:r>
            <a:endPar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恢复：保存结果之前的状态</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回溯一步</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b="1" dirty="0">
              <a:solidFill>
                <a:schemeClr val="accent2"/>
              </a:solidFill>
              <a:latin typeface="微软雅黑" panose="020B0503020204020204" pitchFamily="34" charset="-122"/>
              <a:ea typeface="微软雅黑" panose="020B0503020204020204" pitchFamily="34" charset="-122"/>
            </a:endParaRPr>
          </a:p>
          <a:p>
            <a:endParaRPr lang="en-US" altLang="zh-CN" sz="2000" b="1" dirty="0">
              <a:solidFill>
                <a:schemeClr val="accent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961746" y="1173162"/>
            <a:ext cx="10123836" cy="5667385"/>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马拦过河卒</a:t>
            </a:r>
            <a:endPar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棋盘上</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点有一个过河卒，需要走到目标</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点。卒行走的规则：可以向下、或者向右。同时在棋盘上</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点有一个对方的马，该马所在的点和所有跳跃一步可达的点称为对方马的控制点</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象棋中马走斜“日”</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。因此称之为“马拦过河卒”。</a:t>
            </a:r>
            <a:b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b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　　棋盘用坐标表示，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点</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(0, 0)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点</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(n, m)(n, m</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为不超过</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17</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的整数</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，同样马的位置坐标是需要给出的。现在要求你计算出卒从</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点能够到达</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点的路径的条数，假设马的位置是固定不动的，并不是卒走一步马走一步。</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输入格式</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一行四个数据，分别表示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点坐标和马的坐标。</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输出格式</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一个数据，表示所有的路径条数</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样例输入</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6 6 3 3</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样例输出</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6</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dirty="0"/>
          </a:p>
        </p:txBody>
      </p:sp>
      <p:pic>
        <p:nvPicPr>
          <p:cNvPr id="6" name="Picture 2" descr="马拦过河卒 - cyj5220 - 轻舞飞扬"/>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496757" y="3526342"/>
            <a:ext cx="5129814" cy="304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zh-CN" dirty="0"/>
          </a:p>
        </p:txBody>
      </p:sp>
      <p:sp>
        <p:nvSpPr>
          <p:cNvPr id="4" name="文本框 3"/>
          <p:cNvSpPr txBox="1"/>
          <p:nvPr/>
        </p:nvSpPr>
        <p:spPr>
          <a:xfrm>
            <a:off x="1034427" y="2037010"/>
            <a:ext cx="5308457" cy="4308872"/>
          </a:xfrm>
          <a:prstGeom prst="rect">
            <a:avLst/>
          </a:prstGeom>
          <a:noFill/>
        </p:spPr>
        <p:txBody>
          <a:bodyPr wrap="square" rtlCol="0" anchor="t">
            <a:spAutoFit/>
          </a:bodyPr>
          <a:lstStyle/>
          <a:p>
            <a:r>
              <a:rPr lang="en-US" altLang="zh-CN" sz="1600" dirty="0">
                <a:latin typeface="Times New Roman" panose="02020603050405020304" pitchFamily="18" charset="0"/>
                <a:cs typeface="Times New Roman" panose="02020603050405020304" pitchFamily="18" charset="0"/>
              </a:rPr>
              <a:t>#include&lt;bits/</a:t>
            </a:r>
            <a:r>
              <a:rPr lang="en-US" altLang="zh-CN" sz="1600" dirty="0" err="1">
                <a:latin typeface="Times New Roman" panose="02020603050405020304" pitchFamily="18" charset="0"/>
                <a:cs typeface="Times New Roman" panose="02020603050405020304" pitchFamily="18" charset="0"/>
              </a:rPr>
              <a:t>stdc</a:t>
            </a:r>
            <a:r>
              <a:rPr lang="en-US" altLang="zh-CN" sz="1600" dirty="0">
                <a:latin typeface="Times New Roman" panose="02020603050405020304" pitchFamily="18" charset="0"/>
                <a:cs typeface="Times New Roman" panose="02020603050405020304" pitchFamily="18" charset="0"/>
              </a:rPr>
              <a:t>++.h&gt;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#define </a:t>
            </a:r>
            <a:r>
              <a:rPr lang="en-US" altLang="zh-CN" sz="1600" dirty="0" err="1">
                <a:latin typeface="Times New Roman" panose="02020603050405020304" pitchFamily="18" charset="0"/>
                <a:cs typeface="Times New Roman" panose="02020603050405020304" pitchFamily="18" charset="0"/>
              </a:rPr>
              <a:t>maxn</a:t>
            </a:r>
            <a:r>
              <a:rPr lang="en-US" altLang="zh-CN" sz="1600" dirty="0">
                <a:latin typeface="Times New Roman" panose="02020603050405020304" pitchFamily="18" charset="0"/>
                <a:cs typeface="Times New Roman" panose="02020603050405020304" pitchFamily="18" charset="0"/>
              </a:rPr>
              <a:t> 18       // </a:t>
            </a:r>
            <a:r>
              <a:rPr lang="zh-CN" altLang="en-US" sz="1600" dirty="0">
                <a:latin typeface="Times New Roman" panose="02020603050405020304" pitchFamily="18" charset="0"/>
                <a:cs typeface="Times New Roman" panose="02020603050405020304" pitchFamily="18" charset="0"/>
              </a:rPr>
              <a:t>定义常数，棋盘的最大坐标为</a:t>
            </a:r>
            <a:r>
              <a:rPr lang="en-US" altLang="zh-CN" sz="1600" dirty="0">
                <a:latin typeface="Times New Roman" panose="02020603050405020304" pitchFamily="18" charset="0"/>
                <a:cs typeface="Times New Roman" panose="02020603050405020304" pitchFamily="18" charset="0"/>
              </a:rPr>
              <a:t>15</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using namespace std;</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bool  a[</a:t>
            </a:r>
            <a:r>
              <a:rPr lang="en-US" altLang="zh-CN" sz="1600" dirty="0" err="1">
                <a:latin typeface="Times New Roman" panose="02020603050405020304" pitchFamily="18" charset="0"/>
                <a:cs typeface="Times New Roman" panose="02020603050405020304" pitchFamily="18" charset="0"/>
              </a:rPr>
              <a:t>maxn</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maxn</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表示棋盘，为</a:t>
            </a:r>
            <a:r>
              <a:rPr lang="en-US" altLang="zh-CN" sz="1600" dirty="0">
                <a:latin typeface="Times New Roman" panose="02020603050405020304" pitchFamily="18" charset="0"/>
                <a:cs typeface="Times New Roman" panose="02020603050405020304" pitchFamily="18" charset="0"/>
              </a:rPr>
              <a:t>true</a:t>
            </a:r>
            <a:r>
              <a:rPr lang="zh-CN" altLang="en-US" sz="1600" dirty="0">
                <a:latin typeface="Times New Roman" panose="02020603050405020304" pitchFamily="18" charset="0"/>
                <a:cs typeface="Times New Roman" panose="02020603050405020304" pitchFamily="18" charset="0"/>
              </a:rPr>
              <a:t>表示此处危险</a:t>
            </a:r>
            <a:endParaRPr lang="zh-CN" altLang="en-US"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int dx[9]={0,-2,-2,-1,-1,1,1,2,2};     //</a:t>
            </a:r>
            <a:r>
              <a:rPr lang="zh-CN" altLang="en-US" sz="1600" dirty="0">
                <a:latin typeface="Times New Roman" panose="02020603050405020304" pitchFamily="18" charset="0"/>
                <a:cs typeface="Times New Roman" panose="02020603050405020304" pitchFamily="18" charset="0"/>
              </a:rPr>
              <a:t>增量数组，用于表示</a:t>
            </a:r>
            <a:endParaRPr lang="zh-CN" altLang="en-US"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int </a:t>
            </a:r>
            <a:r>
              <a:rPr lang="en-US" altLang="zh-CN" sz="1600" dirty="0" err="1">
                <a:latin typeface="Times New Roman" panose="02020603050405020304" pitchFamily="18" charset="0"/>
                <a:cs typeface="Times New Roman" panose="02020603050405020304" pitchFamily="18" charset="0"/>
              </a:rPr>
              <a:t>dy</a:t>
            </a:r>
            <a:r>
              <a:rPr lang="en-US" altLang="zh-CN" sz="1600" dirty="0">
                <a:latin typeface="Times New Roman" panose="02020603050405020304" pitchFamily="18" charset="0"/>
                <a:cs typeface="Times New Roman" panose="02020603050405020304" pitchFamily="18" charset="0"/>
              </a:rPr>
              <a:t>[9]={0,-1,1,-2,2,-2,2,-1,1};     //</a:t>
            </a:r>
            <a:r>
              <a:rPr lang="zh-CN" altLang="en-US" sz="1600" dirty="0">
                <a:latin typeface="Times New Roman" panose="02020603050405020304" pitchFamily="18" charset="0"/>
                <a:cs typeface="Times New Roman" panose="02020603050405020304" pitchFamily="18" charset="0"/>
              </a:rPr>
              <a:t>马可攻击到的点坐标的变化范围</a:t>
            </a:r>
            <a:endParaRPr lang="zh-CN" altLang="en-US"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int  </a:t>
            </a:r>
            <a:r>
              <a:rPr lang="en-US" altLang="zh-CN" sz="1600" dirty="0" err="1">
                <a:latin typeface="Times New Roman" panose="02020603050405020304" pitchFamily="18" charset="0"/>
                <a:cs typeface="Times New Roman" panose="02020603050405020304" pitchFamily="18" charset="0"/>
              </a:rPr>
              <a:t>m,n,x,y,i,total</a:t>
            </a:r>
            <a:r>
              <a:rPr lang="en-US" altLang="zh-CN" sz="1600" dirty="0">
                <a:latin typeface="Times New Roman" panose="02020603050405020304" pitchFamily="18" charset="0"/>
                <a:cs typeface="Times New Roman" panose="02020603050405020304" pitchFamily="18" charset="0"/>
              </a:rPr>
              <a:t>=0;</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void </a:t>
            </a:r>
            <a:r>
              <a:rPr lang="en-US" altLang="zh-CN" sz="1600" dirty="0" err="1">
                <a:latin typeface="Times New Roman" panose="02020603050405020304" pitchFamily="18" charset="0"/>
                <a:cs typeface="Times New Roman" panose="02020603050405020304" pitchFamily="18" charset="0"/>
              </a:rPr>
              <a:t>findway</a:t>
            </a:r>
            <a:r>
              <a:rPr lang="en-US" altLang="zh-CN" sz="1600" dirty="0">
                <a:latin typeface="Times New Roman" panose="02020603050405020304" pitchFamily="18" charset="0"/>
                <a:cs typeface="Times New Roman" panose="02020603050405020304" pitchFamily="18" charset="0"/>
              </a:rPr>
              <a:t>(int </a:t>
            </a:r>
            <a:r>
              <a:rPr lang="en-US" altLang="zh-CN" sz="1600" dirty="0" err="1">
                <a:latin typeface="Times New Roman" panose="02020603050405020304" pitchFamily="18" charset="0"/>
                <a:cs typeface="Times New Roman" panose="02020603050405020304" pitchFamily="18" charset="0"/>
              </a:rPr>
              <a:t>e,int</a:t>
            </a:r>
            <a:r>
              <a:rPr lang="en-US" altLang="zh-CN" sz="1600" dirty="0">
                <a:latin typeface="Times New Roman" panose="02020603050405020304" pitchFamily="18" charset="0"/>
                <a:cs typeface="Times New Roman" panose="02020603050405020304" pitchFamily="18" charset="0"/>
              </a:rPr>
              <a:t> f)   //</a:t>
            </a:r>
            <a:r>
              <a:rPr lang="zh-CN" altLang="en-US" sz="1600" dirty="0">
                <a:latin typeface="Times New Roman" panose="02020603050405020304" pitchFamily="18" charset="0"/>
                <a:cs typeface="Times New Roman" panose="02020603050405020304" pitchFamily="18" charset="0"/>
              </a:rPr>
              <a:t>表示以点</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e,f</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为起点开始搜索</a:t>
            </a:r>
            <a:endParaRPr lang="zh-CN" altLang="en-US"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if((e==n)&amp;&amp;(f==m))total++;   //</a:t>
            </a:r>
            <a:r>
              <a:rPr lang="zh-CN" altLang="en-US" sz="1600" dirty="0">
                <a:latin typeface="Times New Roman" panose="02020603050405020304" pitchFamily="18" charset="0"/>
                <a:cs typeface="Times New Roman" panose="02020603050405020304" pitchFamily="18" charset="0"/>
              </a:rPr>
              <a:t>找到一条可行的路，路的数量加</a:t>
            </a:r>
            <a:r>
              <a:rPr lang="en-US" altLang="zh-CN" sz="1600" dirty="0">
                <a:latin typeface="Times New Roman" panose="02020603050405020304" pitchFamily="18" charset="0"/>
                <a:cs typeface="Times New Roman" panose="02020603050405020304" pitchFamily="18" charset="0"/>
              </a:rPr>
              <a:t>1</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else    //</a:t>
            </a:r>
            <a:r>
              <a:rPr lang="zh-CN" altLang="en-US" sz="1600" dirty="0">
                <a:latin typeface="Times New Roman" panose="02020603050405020304" pitchFamily="18" charset="0"/>
                <a:cs typeface="Times New Roman" panose="02020603050405020304" pitchFamily="18" charset="0"/>
              </a:rPr>
              <a:t>如果卒能走的下一点在棋盘范围内，并且安全，那么搜索下一个点</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if ((f+1&lt;=m)&amp;&amp;(e&lt;=n)&amp;&amp;(!a[e][f+1])) </a:t>
            </a:r>
            <a:r>
              <a:rPr lang="en-US" altLang="zh-CN" sz="1600" dirty="0" err="1">
                <a:latin typeface="Times New Roman" panose="02020603050405020304" pitchFamily="18" charset="0"/>
                <a:cs typeface="Times New Roman" panose="02020603050405020304" pitchFamily="18" charset="0"/>
              </a:rPr>
              <a:t>findway</a:t>
            </a:r>
            <a:r>
              <a:rPr lang="en-US" altLang="zh-CN" sz="1600" dirty="0">
                <a:latin typeface="Times New Roman" panose="02020603050405020304" pitchFamily="18" charset="0"/>
                <a:cs typeface="Times New Roman" panose="02020603050405020304" pitchFamily="18" charset="0"/>
              </a:rPr>
              <a:t>(e,f+1);</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if ((e+1&lt;=n)&amp;&amp;(f&lt;=m)&amp;&amp;(!a[e+1][f])) </a:t>
            </a:r>
            <a:r>
              <a:rPr lang="en-US" altLang="zh-CN" sz="1600" dirty="0" err="1">
                <a:latin typeface="Times New Roman" panose="02020603050405020304" pitchFamily="18" charset="0"/>
                <a:cs typeface="Times New Roman" panose="02020603050405020304" pitchFamily="18" charset="0"/>
              </a:rPr>
              <a:t>findway</a:t>
            </a:r>
            <a:r>
              <a:rPr lang="en-US" altLang="zh-CN" sz="1600" dirty="0">
                <a:latin typeface="Times New Roman" panose="02020603050405020304" pitchFamily="18" charset="0"/>
                <a:cs typeface="Times New Roman" panose="02020603050405020304" pitchFamily="18" charset="0"/>
              </a:rPr>
              <a:t>(e+1,f);</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p:txBody>
      </p:sp>
      <p:sp>
        <p:nvSpPr>
          <p:cNvPr id="3" name="矩形 2"/>
          <p:cNvSpPr/>
          <p:nvPr/>
        </p:nvSpPr>
        <p:spPr>
          <a:xfrm>
            <a:off x="878889" y="1367439"/>
            <a:ext cx="1579278" cy="369332"/>
          </a:xfrm>
          <a:prstGeom prst="rect">
            <a:avLst/>
          </a:prstGeom>
        </p:spPr>
        <p:txBody>
          <a:bodyPr wrap="none">
            <a:spAutoFit/>
          </a:bodyPr>
          <a:lstStyle/>
          <a:p>
            <a:r>
              <a:rPr lang="en-US" altLang="zh-CN" b="1" dirty="0">
                <a:solidFill>
                  <a:schemeClr val="accent2"/>
                </a:solidFill>
              </a:rPr>
              <a:t>【</a:t>
            </a:r>
            <a:r>
              <a:rPr lang="zh-CN" altLang="en-US" b="1" dirty="0">
                <a:solidFill>
                  <a:schemeClr val="accent2"/>
                </a:solidFill>
              </a:rPr>
              <a:t>参考程序</a:t>
            </a:r>
            <a:r>
              <a:rPr lang="en-US" altLang="zh-CN" b="1" dirty="0">
                <a:solidFill>
                  <a:schemeClr val="accent2"/>
                </a:solidFill>
              </a:rPr>
              <a:t>】</a:t>
            </a:r>
            <a:endParaRPr lang="en-US" altLang="zh-CN" b="1" dirty="0">
              <a:solidFill>
                <a:schemeClr val="accent2"/>
              </a:solidFill>
            </a:endParaRPr>
          </a:p>
        </p:txBody>
      </p:sp>
      <p:cxnSp>
        <p:nvCxnSpPr>
          <p:cNvPr id="7" name="直接连接符 6"/>
          <p:cNvCxnSpPr/>
          <p:nvPr/>
        </p:nvCxnSpPr>
        <p:spPr>
          <a:xfrm>
            <a:off x="6537962" y="1736771"/>
            <a:ext cx="0" cy="4909351"/>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矩形 5"/>
          <p:cNvSpPr/>
          <p:nvPr/>
        </p:nvSpPr>
        <p:spPr>
          <a:xfrm>
            <a:off x="7117082" y="2167222"/>
            <a:ext cx="4715254" cy="3693319"/>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 int main()</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scanf</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d%d%d%d</a:t>
            </a:r>
            <a:r>
              <a:rPr lang="en-US" altLang="zh-CN" dirty="0">
                <a:latin typeface="Times New Roman" panose="02020603050405020304" pitchFamily="18" charset="0"/>
                <a:cs typeface="Times New Roman" panose="02020603050405020304" pitchFamily="18" charset="0"/>
              </a:rPr>
              <a:t>",&amp;</a:t>
            </a:r>
            <a:r>
              <a:rPr lang="en-US" altLang="zh-CN" dirty="0" err="1">
                <a:latin typeface="Times New Roman" panose="02020603050405020304" pitchFamily="18" charset="0"/>
                <a:cs typeface="Times New Roman" panose="02020603050405020304" pitchFamily="18" charset="0"/>
              </a:rPr>
              <a:t>n,&amp;m,&amp;x,&amp;y</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for(</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=0;i&lt;=8;i++)          //</a:t>
            </a:r>
            <a:r>
              <a:rPr lang="zh-CN" altLang="en-US" dirty="0">
                <a:latin typeface="Times New Roman" panose="02020603050405020304" pitchFamily="18" charset="0"/>
                <a:cs typeface="Times New Roman" panose="02020603050405020304" pitchFamily="18" charset="0"/>
              </a:rPr>
              <a:t>将马可攻击到的</a:t>
            </a:r>
            <a:r>
              <a:rPr lang="en-US" altLang="zh-CN" dirty="0">
                <a:latin typeface="Times New Roman" panose="02020603050405020304" pitchFamily="18" charset="0"/>
                <a:cs typeface="Times New Roman" panose="02020603050405020304" pitchFamily="18" charset="0"/>
              </a:rPr>
              <a:t>9</a:t>
            </a:r>
            <a:r>
              <a:rPr lang="zh-CN" altLang="en-US" dirty="0">
                <a:latin typeface="Times New Roman" panose="02020603050405020304" pitchFamily="18" charset="0"/>
                <a:cs typeface="Times New Roman" panose="02020603050405020304" pitchFamily="18" charset="0"/>
              </a:rPr>
              <a:t>个点设置为</a:t>
            </a:r>
            <a:r>
              <a:rPr lang="en-US" altLang="zh-CN" dirty="0">
                <a:latin typeface="Times New Roman" panose="02020603050405020304" pitchFamily="18" charset="0"/>
                <a:cs typeface="Times New Roman" panose="02020603050405020304" pitchFamily="18" charset="0"/>
              </a:rPr>
              <a:t>true</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if((</a:t>
            </a:r>
            <a:r>
              <a:rPr lang="en-US" altLang="zh-CN" dirty="0" err="1">
                <a:latin typeface="Times New Roman" panose="02020603050405020304" pitchFamily="18" charset="0"/>
                <a:cs typeface="Times New Roman" panose="02020603050405020304" pitchFamily="18" charset="0"/>
              </a:rPr>
              <a:t>x+dx</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]&gt;=0)&amp;&amp;(</a:t>
            </a:r>
            <a:r>
              <a:rPr lang="en-US" altLang="zh-CN" dirty="0" err="1">
                <a:latin typeface="Times New Roman" panose="02020603050405020304" pitchFamily="18" charset="0"/>
                <a:cs typeface="Times New Roman" panose="02020603050405020304" pitchFamily="18" charset="0"/>
              </a:rPr>
              <a:t>x+dx</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maxn</a:t>
            </a:r>
            <a:r>
              <a:rPr lang="en-US" altLang="zh-CN" dirty="0">
                <a:latin typeface="Times New Roman" panose="02020603050405020304" pitchFamily="18" charset="0"/>
                <a:cs typeface="Times New Roman" panose="02020603050405020304" pitchFamily="18" charset="0"/>
              </a:rPr>
              <a:t>)&amp;&amp;(</a:t>
            </a:r>
            <a:r>
              <a:rPr lang="en-US" altLang="zh-CN" dirty="0" err="1">
                <a:latin typeface="Times New Roman" panose="02020603050405020304" pitchFamily="18" charset="0"/>
                <a:cs typeface="Times New Roman" panose="02020603050405020304" pitchFamily="18" charset="0"/>
              </a:rPr>
              <a:t>y+dy</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]&gt;=0)&amp;&amp;(</a:t>
            </a:r>
            <a:r>
              <a:rPr lang="en-US" altLang="zh-CN" dirty="0" err="1">
                <a:latin typeface="Times New Roman" panose="02020603050405020304" pitchFamily="18" charset="0"/>
                <a:cs typeface="Times New Roman" panose="02020603050405020304" pitchFamily="18" charset="0"/>
              </a:rPr>
              <a:t>y+dy</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maxn</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a:t>
            </a:r>
            <a:r>
              <a:rPr lang="en-US" altLang="zh-CN" dirty="0" err="1">
                <a:latin typeface="Times New Roman" panose="02020603050405020304" pitchFamily="18" charset="0"/>
                <a:cs typeface="Times New Roman" panose="02020603050405020304" pitchFamily="18" charset="0"/>
              </a:rPr>
              <a:t>x+dx</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y+dy</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]]=true;</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findway</a:t>
            </a:r>
            <a:r>
              <a:rPr lang="en-US" altLang="zh-CN" dirty="0">
                <a:latin typeface="Times New Roman" panose="02020603050405020304" pitchFamily="18" charset="0"/>
                <a:cs typeface="Times New Roman" panose="02020603050405020304" pitchFamily="18" charset="0"/>
              </a:rPr>
              <a:t>(0,0);  //</a:t>
            </a:r>
            <a:r>
              <a:rPr lang="zh-CN" altLang="en-US" dirty="0">
                <a:latin typeface="Times New Roman" panose="02020603050405020304" pitchFamily="18" charset="0"/>
                <a:cs typeface="Times New Roman" panose="02020603050405020304" pitchFamily="18" charset="0"/>
              </a:rPr>
              <a:t>从</a:t>
            </a:r>
            <a:r>
              <a:rPr lang="en-US" altLang="zh-CN" dirty="0">
                <a:latin typeface="Times New Roman" panose="02020603050405020304" pitchFamily="18" charset="0"/>
                <a:cs typeface="Times New Roman" panose="02020603050405020304" pitchFamily="18" charset="0"/>
              </a:rPr>
              <a:t>0,0</a:t>
            </a:r>
            <a:r>
              <a:rPr lang="zh-CN" altLang="en-US" dirty="0">
                <a:latin typeface="Times New Roman" panose="02020603050405020304" pitchFamily="18" charset="0"/>
                <a:cs typeface="Times New Roman" panose="02020603050405020304" pitchFamily="18" charset="0"/>
              </a:rPr>
              <a:t>点开始搜索         </a:t>
            </a:r>
            <a:endParaRPr lang="zh-CN" altLang="en-US"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printf</a:t>
            </a:r>
            <a:r>
              <a:rPr lang="en-US" altLang="zh-CN" dirty="0">
                <a:latin typeface="Times New Roman" panose="02020603050405020304" pitchFamily="18" charset="0"/>
                <a:cs typeface="Times New Roman" panose="02020603050405020304" pitchFamily="18" charset="0"/>
              </a:rPr>
              <a:t>("%d\</a:t>
            </a:r>
            <a:r>
              <a:rPr lang="en-US" altLang="zh-CN" dirty="0" err="1">
                <a:latin typeface="Times New Roman" panose="02020603050405020304" pitchFamily="18" charset="0"/>
                <a:cs typeface="Times New Roman" panose="02020603050405020304" pitchFamily="18" charset="0"/>
              </a:rPr>
              <a:t>n",total</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return 0;</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1098224" y="1498704"/>
            <a:ext cx="9983758" cy="2999740"/>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全排列</a:t>
            </a:r>
            <a:endPar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200000"/>
              </a:lnSpc>
            </a:pPr>
            <a:r>
              <a:rPr lang="zh-CN" altLang="en-US" dirty="0">
                <a:latin typeface="微软雅黑" panose="020B0503020204020204" pitchFamily="34" charset="-122"/>
                <a:ea typeface="微软雅黑" panose="020B0503020204020204" pitchFamily="34" charset="-122"/>
              </a:rPr>
              <a:t>设有</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个整数的集合｛</a:t>
            </a:r>
            <a:r>
              <a:rPr lang="en-US" altLang="zh-CN" dirty="0">
                <a:latin typeface="微软雅黑" panose="020B0503020204020204" pitchFamily="34" charset="-122"/>
                <a:ea typeface="微软雅黑" panose="020B0503020204020204" pitchFamily="34" charset="-122"/>
              </a:rPr>
              <a:t>1,2,…,n</a:t>
            </a:r>
            <a:r>
              <a:rPr lang="zh-CN" altLang="en-US" dirty="0">
                <a:latin typeface="微软雅黑" panose="020B0503020204020204" pitchFamily="34" charset="-122"/>
                <a:ea typeface="微软雅黑" panose="020B0503020204020204" pitchFamily="34" charset="-122"/>
              </a:rPr>
              <a:t>｝，试列出全排列。（</a:t>
            </a:r>
            <a:r>
              <a:rPr lang="zh-CN" altLang="en-US" b="1" dirty="0">
                <a:solidFill>
                  <a:schemeClr val="accent2"/>
                </a:solidFill>
                <a:latin typeface="微软雅黑" panose="020B0503020204020204" pitchFamily="34" charset="-122"/>
                <a:ea typeface="微软雅黑" panose="020B0503020204020204" pitchFamily="34" charset="-122"/>
              </a:rPr>
              <a:t>图例演示</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【分析】依次尝试</a:t>
            </a:r>
            <a:r>
              <a:rPr lang="en-US" altLang="zh-CN" dirty="0">
                <a:latin typeface="微软雅黑" panose="020B0503020204020204" pitchFamily="34" charset="-122"/>
                <a:ea typeface="微软雅黑" panose="020B0503020204020204" pitchFamily="34" charset="-122"/>
              </a:rPr>
              <a:t>1-n</a:t>
            </a:r>
            <a:r>
              <a:rPr lang="zh-CN" altLang="en-US" dirty="0">
                <a:latin typeface="微软雅黑" panose="020B0503020204020204" pitchFamily="34" charset="-122"/>
                <a:ea typeface="微软雅黑" panose="020B0503020204020204" pitchFamily="34" charset="-122"/>
              </a:rPr>
              <a:t>每个数，若没有搜索过，则保存该数，并标记状态，表示已经搜索过，若保存数目为</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时，则输出此次结果，直至遍历所有结果</a:t>
            </a:r>
            <a:endParaRPr lang="zh-CN" altLang="en-US" dirty="0">
              <a:latin typeface="微软雅黑" panose="020B0503020204020204" pitchFamily="34" charset="-122"/>
              <a:ea typeface="微软雅黑" panose="020B0503020204020204" pitchFamily="34" charset="-122"/>
            </a:endParaRPr>
          </a:p>
          <a:p>
            <a:pPr>
              <a:lnSpc>
                <a:spcPct val="150000"/>
              </a:lnSpc>
            </a:pPr>
            <a:endParaRPr lang="zh-CN" altLang="en-US" dirty="0">
              <a:latin typeface="微软雅黑" panose="020B0503020204020204" pitchFamily="34" charset="-122"/>
              <a:ea typeface="微软雅黑" panose="020B0503020204020204" pitchFamily="34" charset="-122"/>
            </a:endParaRPr>
          </a:p>
          <a:p>
            <a:pPr>
              <a:lnSpc>
                <a:spcPct val="150000"/>
              </a:lnSpc>
            </a:pP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zh-CN" dirty="0"/>
          </a:p>
        </p:txBody>
      </p:sp>
      <p:sp>
        <p:nvSpPr>
          <p:cNvPr id="4" name="文本框 3"/>
          <p:cNvSpPr txBox="1"/>
          <p:nvPr/>
        </p:nvSpPr>
        <p:spPr>
          <a:xfrm>
            <a:off x="914399" y="1799737"/>
            <a:ext cx="5431809" cy="4985980"/>
          </a:xfrm>
          <a:prstGeom prst="rect">
            <a:avLst/>
          </a:prstGeom>
          <a:noFill/>
        </p:spPr>
        <p:txBody>
          <a:bodyPr wrap="square" rtlCol="0" anchor="t">
            <a:spAutoFit/>
          </a:bodyPr>
          <a:lstStyle/>
          <a:p>
            <a:r>
              <a:rPr lang="en-US" altLang="zh-CN" sz="1600" dirty="0">
                <a:latin typeface="Times New Roman" panose="02020603050405020304" pitchFamily="18" charset="0"/>
                <a:cs typeface="Times New Roman" panose="02020603050405020304" pitchFamily="18" charset="0"/>
              </a:rPr>
              <a:t>#include&lt;bits/stdc++.h&gt;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using namespace std;</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int a[10],n;              //</a:t>
            </a:r>
            <a:r>
              <a:rPr lang="zh-CN" altLang="en-US" sz="1600" dirty="0">
                <a:latin typeface="Times New Roman" panose="02020603050405020304" pitchFamily="18" charset="0"/>
                <a:cs typeface="Times New Roman" panose="02020603050405020304" pitchFamily="18" charset="0"/>
              </a:rPr>
              <a:t>存贮搜索成功结果</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bool b[10]={0};       //</a:t>
            </a:r>
            <a:r>
              <a:rPr lang="zh-CN" altLang="en-US" sz="1600" dirty="0">
                <a:latin typeface="Times New Roman" panose="02020603050405020304" pitchFamily="18" charset="0"/>
                <a:cs typeface="Times New Roman" panose="02020603050405020304" pitchFamily="18" charset="0"/>
              </a:rPr>
              <a:t>存贮状态</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void search(int k)       //</a:t>
            </a:r>
            <a:r>
              <a:rPr lang="zh-CN" altLang="en-US" sz="1600" dirty="0">
                <a:latin typeface="Times New Roman" panose="02020603050405020304" pitchFamily="18" charset="0"/>
                <a:cs typeface="Times New Roman" panose="02020603050405020304" pitchFamily="18" charset="0"/>
              </a:rPr>
              <a:t>回溯过程</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int i;</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for(i=1;i&lt;=n;i++)     //</a:t>
            </a:r>
            <a:r>
              <a:rPr lang="zh-CN" altLang="en-US" sz="1600" dirty="0">
                <a:latin typeface="Times New Roman" panose="02020603050405020304" pitchFamily="18" charset="0"/>
                <a:cs typeface="Times New Roman" panose="02020603050405020304" pitchFamily="18" charset="0"/>
              </a:rPr>
              <a:t>有</a:t>
            </a:r>
            <a:r>
              <a:rPr lang="en-US" altLang="zh-CN" sz="1600" dirty="0">
                <a:latin typeface="Times New Roman" panose="02020603050405020304" pitchFamily="18" charset="0"/>
                <a:cs typeface="Times New Roman" panose="02020603050405020304" pitchFamily="18" charset="0"/>
              </a:rPr>
              <a:t>n</a:t>
            </a:r>
            <a:r>
              <a:rPr lang="zh-CN" altLang="en-US" sz="1600" dirty="0">
                <a:latin typeface="Times New Roman" panose="02020603050405020304" pitchFamily="18" charset="0"/>
                <a:cs typeface="Times New Roman" panose="02020603050405020304" pitchFamily="18" charset="0"/>
              </a:rPr>
              <a:t>个数可选</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if(!b[i])   //</a:t>
            </a:r>
            <a:r>
              <a:rPr lang="zh-CN" altLang="en-US" sz="1600" dirty="0">
                <a:latin typeface="Times New Roman" panose="02020603050405020304" pitchFamily="18" charset="0"/>
                <a:cs typeface="Times New Roman" panose="02020603050405020304" pitchFamily="18" charset="0"/>
              </a:rPr>
              <a:t>判断该数是否可用</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a[k]=i;  //</a:t>
            </a:r>
            <a:r>
              <a:rPr lang="zh-CN" altLang="en-US" sz="1600" dirty="0">
                <a:latin typeface="Times New Roman" panose="02020603050405020304" pitchFamily="18" charset="0"/>
                <a:cs typeface="Times New Roman" panose="02020603050405020304" pitchFamily="18" charset="0"/>
              </a:rPr>
              <a:t>保存该数</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b[i]=1; //</a:t>
            </a:r>
            <a:r>
              <a:rPr lang="zh-CN" altLang="en-US" sz="1600" dirty="0">
                <a:latin typeface="Times New Roman" panose="02020603050405020304" pitchFamily="18" charset="0"/>
                <a:cs typeface="Times New Roman" panose="02020603050405020304" pitchFamily="18" charset="0"/>
              </a:rPr>
              <a:t>保存状态</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if(k==n) print();  //n</a:t>
            </a:r>
            <a:r>
              <a:rPr lang="zh-CN" altLang="en-US" sz="1600" dirty="0">
                <a:latin typeface="Times New Roman" panose="02020603050405020304" pitchFamily="18" charset="0"/>
                <a:cs typeface="Times New Roman" panose="02020603050405020304" pitchFamily="18" charset="0"/>
              </a:rPr>
              <a:t>个数则输出</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else search(k+1); //</a:t>
            </a:r>
            <a:r>
              <a:rPr lang="zh-CN" altLang="en-US" sz="1600" dirty="0">
                <a:latin typeface="Times New Roman" panose="02020603050405020304" pitchFamily="18" charset="0"/>
                <a:cs typeface="Times New Roman" panose="02020603050405020304" pitchFamily="18" charset="0"/>
              </a:rPr>
              <a:t>遍历下一个数</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b="1" dirty="0">
                <a:solidFill>
                  <a:schemeClr val="accent2"/>
                </a:solidFill>
                <a:latin typeface="Times New Roman" panose="02020603050405020304" pitchFamily="18" charset="0"/>
                <a:cs typeface="Times New Roman" panose="02020603050405020304" pitchFamily="18" charset="0"/>
              </a:rPr>
              <a:t>b[i]=0;   //</a:t>
            </a:r>
            <a:r>
              <a:rPr lang="zh-CN" altLang="en-US" sz="1600" b="1" dirty="0">
                <a:solidFill>
                  <a:schemeClr val="accent2"/>
                </a:solidFill>
                <a:latin typeface="Times New Roman" panose="02020603050405020304" pitchFamily="18" charset="0"/>
                <a:cs typeface="Times New Roman" panose="02020603050405020304" pitchFamily="18" charset="0"/>
              </a:rPr>
              <a:t>回溯</a:t>
            </a:r>
            <a:endParaRPr lang="en-US" altLang="zh-CN" sz="1600" b="1" dirty="0">
              <a:solidFill>
                <a:schemeClr val="accent2"/>
              </a:solidFill>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endParaRPr lang="en-US" altLang="zh-CN" sz="1400" dirty="0">
              <a:latin typeface="Times New Roman" panose="02020603050405020304" pitchFamily="18" charset="0"/>
              <a:cs typeface="Times New Roman" panose="02020603050405020304" pitchFamily="18" charset="0"/>
            </a:endParaRPr>
          </a:p>
        </p:txBody>
      </p:sp>
      <p:sp>
        <p:nvSpPr>
          <p:cNvPr id="3" name="矩形 2"/>
          <p:cNvSpPr/>
          <p:nvPr/>
        </p:nvSpPr>
        <p:spPr>
          <a:xfrm>
            <a:off x="878889" y="1367439"/>
            <a:ext cx="1713931" cy="369332"/>
          </a:xfrm>
          <a:prstGeom prst="rect">
            <a:avLst/>
          </a:prstGeom>
        </p:spPr>
        <p:txBody>
          <a:bodyPr wrap="none">
            <a:spAutoFit/>
          </a:bodyPr>
          <a:lstStyle/>
          <a:p>
            <a:r>
              <a:rPr lang="en-US" altLang="zh-CN" b="1" dirty="0">
                <a:solidFill>
                  <a:schemeClr val="accent2"/>
                </a:solidFill>
              </a:rPr>
              <a:t>【</a:t>
            </a:r>
            <a:r>
              <a:rPr lang="zh-CN" altLang="en-US" b="1" dirty="0">
                <a:solidFill>
                  <a:schemeClr val="accent2"/>
                </a:solidFill>
              </a:rPr>
              <a:t>参考程序</a:t>
            </a:r>
            <a:r>
              <a:rPr lang="en-US" altLang="zh-CN" b="1" dirty="0">
                <a:solidFill>
                  <a:schemeClr val="accent2"/>
                </a:solidFill>
              </a:rPr>
              <a:t>1】</a:t>
            </a:r>
            <a:endParaRPr lang="en-US" altLang="zh-CN" b="1" dirty="0">
              <a:solidFill>
                <a:schemeClr val="accent2"/>
              </a:solidFill>
            </a:endParaRPr>
          </a:p>
        </p:txBody>
      </p:sp>
      <p:cxnSp>
        <p:nvCxnSpPr>
          <p:cNvPr id="7" name="直接连接符 6"/>
          <p:cNvCxnSpPr/>
          <p:nvPr/>
        </p:nvCxnSpPr>
        <p:spPr>
          <a:xfrm>
            <a:off x="5839626" y="1559351"/>
            <a:ext cx="0" cy="4909351"/>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矩形 5"/>
          <p:cNvSpPr/>
          <p:nvPr/>
        </p:nvSpPr>
        <p:spPr>
          <a:xfrm>
            <a:off x="6269762" y="1410074"/>
            <a:ext cx="5922237" cy="307777"/>
          </a:xfrm>
          <a:prstGeom prst="rect">
            <a:avLst/>
          </a:prstGeom>
        </p:spPr>
        <p:txBody>
          <a:bodyPr wrap="square">
            <a:spAutoFit/>
          </a:bodyPr>
          <a:lstStyle/>
          <a:p>
            <a:endParaRPr lang="en-US" altLang="zh-CN" sz="1400" dirty="0"/>
          </a:p>
        </p:txBody>
      </p:sp>
      <p:sp>
        <p:nvSpPr>
          <p:cNvPr id="8" name="矩形 7"/>
          <p:cNvSpPr/>
          <p:nvPr/>
        </p:nvSpPr>
        <p:spPr>
          <a:xfrm>
            <a:off x="6396251" y="1951335"/>
            <a:ext cx="5204346" cy="3262432"/>
          </a:xfrm>
          <a:prstGeom prst="rect">
            <a:avLst/>
          </a:prstGeom>
        </p:spPr>
        <p:txBody>
          <a:bodyPr wrap="square">
            <a:spAutoFit/>
          </a:bodyPr>
          <a:lstStyle/>
          <a:p>
            <a:r>
              <a:rPr lang="en-US" altLang="zh-CN" sz="1600" dirty="0">
                <a:latin typeface="Times New Roman" panose="02020603050405020304" pitchFamily="18" charset="0"/>
                <a:cs typeface="Times New Roman" panose="02020603050405020304" pitchFamily="18" charset="0"/>
              </a:rPr>
              <a:t>void print()      //</a:t>
            </a:r>
            <a:r>
              <a:rPr lang="zh-CN" altLang="en-US" sz="1600" dirty="0">
                <a:latin typeface="Times New Roman" panose="02020603050405020304" pitchFamily="18" charset="0"/>
                <a:cs typeface="Times New Roman" panose="02020603050405020304" pitchFamily="18" charset="0"/>
              </a:rPr>
              <a:t>输出过程</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int i;</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for(i=1;i&lt;=n;i++)     cout&lt;&lt;setw(3)&lt;&lt;a[i];</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cout&lt;&lt;endl;</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int main()</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cin&gt;&gt;n;</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search(1);</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return 0;</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endParaRPr lang="en-US" altLang="zh-CN" sz="16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zh-CN" dirty="0"/>
          </a:p>
        </p:txBody>
      </p:sp>
      <p:sp>
        <p:nvSpPr>
          <p:cNvPr id="4" name="文本框 3"/>
          <p:cNvSpPr txBox="1"/>
          <p:nvPr/>
        </p:nvSpPr>
        <p:spPr>
          <a:xfrm>
            <a:off x="996286" y="1908920"/>
            <a:ext cx="5431809" cy="3939540"/>
          </a:xfrm>
          <a:prstGeom prst="rect">
            <a:avLst/>
          </a:prstGeom>
          <a:noFill/>
        </p:spPr>
        <p:txBody>
          <a:bodyPr wrap="square" rtlCol="0" anchor="t">
            <a:spAutoFit/>
          </a:bodyPr>
          <a:lstStyle/>
          <a:p>
            <a:r>
              <a:rPr lang="zh-CN" altLang="en-US" sz="2000" dirty="0">
                <a:latin typeface="Times New Roman" panose="02020603050405020304" pitchFamily="18" charset="0"/>
                <a:cs typeface="Times New Roman" panose="02020603050405020304" pitchFamily="18" charset="0"/>
              </a:rPr>
              <a:t>调用</a:t>
            </a:r>
            <a:r>
              <a:rPr lang="en-US" altLang="zh-CN" sz="2000" dirty="0">
                <a:latin typeface="Times New Roman" panose="02020603050405020304" pitchFamily="18" charset="0"/>
                <a:cs typeface="Times New Roman" panose="02020603050405020304" pitchFamily="18" charset="0"/>
              </a:rPr>
              <a:t>&lt;algorithm&gt;</a:t>
            </a:r>
            <a:r>
              <a:rPr lang="zh-CN" altLang="en-US" sz="2000" dirty="0">
                <a:latin typeface="Times New Roman" panose="02020603050405020304" pitchFamily="18" charset="0"/>
                <a:cs typeface="Times New Roman" panose="02020603050405020304" pitchFamily="18" charset="0"/>
              </a:rPr>
              <a:t>中</a:t>
            </a:r>
            <a:r>
              <a:rPr lang="en-US" altLang="zh-CN" sz="2000" dirty="0">
                <a:latin typeface="Times New Roman" panose="02020603050405020304" pitchFamily="18" charset="0"/>
                <a:cs typeface="Times New Roman" panose="02020603050405020304" pitchFamily="18" charset="0"/>
              </a:rPr>
              <a:t>next_permutation</a:t>
            </a:r>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int n,a[100]={0};</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cin&gt;&gt;n;</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for(int i=0;i&lt;n;i++) a[i]=i+1;</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do</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for(int i=0;i&lt;n;i++) cout&lt;&lt;a[i]&lt;&lt;“ “;</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cout&lt;&lt;endl;</a:t>
            </a:r>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}while(next_permutation(a,a+n));</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sz="1400" dirty="0">
              <a:latin typeface="Times New Roman" panose="02020603050405020304" pitchFamily="18" charset="0"/>
              <a:cs typeface="Times New Roman" panose="02020603050405020304" pitchFamily="18" charset="0"/>
            </a:endParaRPr>
          </a:p>
        </p:txBody>
      </p:sp>
      <p:sp>
        <p:nvSpPr>
          <p:cNvPr id="3" name="矩形 2"/>
          <p:cNvSpPr/>
          <p:nvPr/>
        </p:nvSpPr>
        <p:spPr>
          <a:xfrm>
            <a:off x="878889" y="1367439"/>
            <a:ext cx="1882247" cy="400110"/>
          </a:xfrm>
          <a:prstGeom prst="rect">
            <a:avLst/>
          </a:prstGeom>
        </p:spPr>
        <p:txBody>
          <a:bodyPr wrap="none">
            <a:spAutoFit/>
          </a:bodyPr>
          <a:lstStyle/>
          <a:p>
            <a:r>
              <a:rPr lang="en-US" altLang="zh-CN" sz="2000" b="1" dirty="0">
                <a:solidFill>
                  <a:schemeClr val="accent2"/>
                </a:solidFill>
              </a:rPr>
              <a:t>【</a:t>
            </a:r>
            <a:r>
              <a:rPr lang="zh-CN" altLang="en-US" sz="2000" b="1" dirty="0">
                <a:solidFill>
                  <a:schemeClr val="accent2"/>
                </a:solidFill>
              </a:rPr>
              <a:t>参考程序</a:t>
            </a:r>
            <a:r>
              <a:rPr lang="en-US" altLang="zh-CN" sz="2000" b="1" dirty="0">
                <a:solidFill>
                  <a:schemeClr val="accent2"/>
                </a:solidFill>
              </a:rPr>
              <a:t>2】</a:t>
            </a:r>
            <a:endParaRPr lang="en-US" altLang="zh-CN" sz="2000" b="1" dirty="0">
              <a:solidFill>
                <a:schemeClr val="accent2"/>
              </a:solidFill>
            </a:endParaRPr>
          </a:p>
        </p:txBody>
      </p:sp>
      <p:sp>
        <p:nvSpPr>
          <p:cNvPr id="6" name="矩形 5"/>
          <p:cNvSpPr/>
          <p:nvPr/>
        </p:nvSpPr>
        <p:spPr>
          <a:xfrm>
            <a:off x="6269762" y="1410074"/>
            <a:ext cx="5922237" cy="307777"/>
          </a:xfrm>
          <a:prstGeom prst="rect">
            <a:avLst/>
          </a:prstGeom>
        </p:spPr>
        <p:txBody>
          <a:bodyPr wrap="square">
            <a:spAutoFit/>
          </a:bodyPr>
          <a:lstStyle/>
          <a:p>
            <a:endParaRPr lang="en-US" altLang="zh-CN" sz="1400" dirty="0"/>
          </a:p>
        </p:txBody>
      </p:sp>
      <p:sp>
        <p:nvSpPr>
          <p:cNvPr id="9" name="矩形标注 8"/>
          <p:cNvSpPr/>
          <p:nvPr/>
        </p:nvSpPr>
        <p:spPr>
          <a:xfrm>
            <a:off x="6369251" y="3238884"/>
            <a:ext cx="3123210" cy="1539252"/>
          </a:xfrm>
          <a:prstGeom prst="wedgeRectCallout">
            <a:avLst>
              <a:gd name="adj1" fmla="val -51251"/>
              <a:gd name="adj2" fmla="val -82758"/>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10" name="文本框 8"/>
          <p:cNvSpPr txBox="1"/>
          <p:nvPr/>
        </p:nvSpPr>
        <p:spPr>
          <a:xfrm>
            <a:off x="6369251" y="3495600"/>
            <a:ext cx="3123210" cy="1200329"/>
          </a:xfrm>
          <a:prstGeom prst="rect">
            <a:avLst/>
          </a:prstGeom>
          <a:noFill/>
        </p:spPr>
        <p:txBody>
          <a:bodyPr wrap="square" rtlCol="0">
            <a:spAutoFit/>
          </a:bodyPr>
          <a:lstStyle/>
          <a:p>
            <a:r>
              <a:rPr lang="zh-CN" altLang="en-US" sz="2400" b="1" dirty="0">
                <a:solidFill>
                  <a:schemeClr val="bg2"/>
                </a:solidFill>
              </a:rPr>
              <a:t>当</a:t>
            </a:r>
            <a:r>
              <a:rPr lang="en-US" altLang="zh-CN" sz="2400" b="1" dirty="0">
                <a:solidFill>
                  <a:schemeClr val="bg2"/>
                </a:solidFill>
              </a:rPr>
              <a:t>n</a:t>
            </a:r>
            <a:r>
              <a:rPr lang="zh-CN" altLang="en-US" sz="2400" b="1" dirty="0">
                <a:solidFill>
                  <a:schemeClr val="bg2"/>
                </a:solidFill>
              </a:rPr>
              <a:t>较大时运算效率很低，适合当</a:t>
            </a:r>
            <a:r>
              <a:rPr lang="en-US" altLang="zh-CN" sz="2400" b="1" dirty="0">
                <a:solidFill>
                  <a:schemeClr val="bg2"/>
                </a:solidFill>
              </a:rPr>
              <a:t>n</a:t>
            </a:r>
            <a:r>
              <a:rPr lang="zh-CN" altLang="en-US" sz="2400" b="1" dirty="0">
                <a:solidFill>
                  <a:schemeClr val="bg2"/>
                </a:solidFill>
              </a:rPr>
              <a:t>较小时使用</a:t>
            </a:r>
            <a:endParaRPr lang="zh-CN" altLang="en-US" sz="2400" b="1" dirty="0">
              <a:solidFill>
                <a:schemeClr val="bg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961747" y="1266691"/>
            <a:ext cx="10123836" cy="1384995"/>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组合</a:t>
            </a:r>
            <a:endPar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设有</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个整数的集合｛</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1,2,…,n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｝，试列出所有组合类型。</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sz="2000" dirty="0"/>
          </a:p>
        </p:txBody>
      </p:sp>
      <p:sp>
        <p:nvSpPr>
          <p:cNvPr id="3" name="矩形 2"/>
          <p:cNvSpPr/>
          <p:nvPr/>
        </p:nvSpPr>
        <p:spPr>
          <a:xfrm>
            <a:off x="961746" y="2128302"/>
            <a:ext cx="7999373" cy="4247317"/>
          </a:xfrm>
          <a:prstGeom prst="rect">
            <a:avLst/>
          </a:prstGeom>
        </p:spPr>
        <p:txBody>
          <a:bodyPr wrap="square">
            <a:spAutoFit/>
          </a:body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void search(int k)</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int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for(</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=1;i&lt;=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n;i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if(!b[</a:t>
            </a:r>
            <a:r>
              <a:rPr lang="en-US" altLang="zh-CN" b="1" dirty="0" err="1">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]&amp;&amp;</a:t>
            </a:r>
            <a:r>
              <a:rPr lang="en-US" altLang="zh-CN" b="1" dirty="0" err="1">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&gt;a[k-1])</a:t>
            </a:r>
            <a:endParaRPr lang="en-US" altLang="zh-CN"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a[k]=</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b[</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if(k==r) print();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else search(k+1);</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b[</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961747" y="1266691"/>
            <a:ext cx="10123836" cy="874407"/>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排列</a:t>
            </a:r>
            <a:endPar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设有</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个整数的集合｛</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1,2,…,n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｝，试从中取</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个数进行排列，试列出所有的排列。</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961746" y="2128302"/>
            <a:ext cx="7999373" cy="4247317"/>
          </a:xfrm>
          <a:prstGeom prst="rect">
            <a:avLst/>
          </a:prstGeom>
        </p:spPr>
        <p:txBody>
          <a:bodyPr wrap="square">
            <a:spAutoFit/>
          </a:body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void search(int k)</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int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for(</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=1;i&lt;=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n;i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if(!b[</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a[k]=</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b[</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if(k==r) print();</a:t>
            </a:r>
            <a:endParaRPr lang="en-US" altLang="zh-CN"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else search(k+1);</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b[</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1033323" y="1408294"/>
            <a:ext cx="10123836" cy="5324535"/>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素数环</a:t>
            </a:r>
            <a:endPar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从</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到</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这</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个数摆成一个环，要求相邻的两个数的和是一个素数。（改成到</a:t>
            </a:r>
            <a:r>
              <a:rPr lang="en-US" altLang="zh-CN">
                <a:latin typeface="微软雅黑" panose="020B0503020204020204" pitchFamily="34" charset="-122"/>
                <a:ea typeface="微软雅黑" panose="020B0503020204020204" pitchFamily="34" charset="-122"/>
                <a:cs typeface="Times New Roman" panose="02020603050405020304" pitchFamily="18" charset="0"/>
              </a:rPr>
              <a:t>8</a:t>
            </a:r>
            <a:r>
              <a:rPr lang="zh-CN" altLang="en-US">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算法分析</a:t>
            </a:r>
            <a:r>
              <a:rPr lang="en-US" altLang="zh-CN" b="1" dirty="0">
                <a:solidFill>
                  <a:schemeClr val="accent2"/>
                </a:solidFill>
                <a:latin typeface="微软雅黑" panose="020B0503020204020204" pitchFamily="34" charset="-122"/>
                <a:ea typeface="微软雅黑" panose="020B0503020204020204" pitchFamily="34" charset="-122"/>
              </a:rPr>
              <a:t>】 </a:t>
            </a:r>
            <a:endParaRPr lang="en-US" altLang="zh-CN" b="1" dirty="0">
              <a:solidFill>
                <a:schemeClr val="accent2"/>
              </a:solidFill>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非常明显，这是一道回溯的题目。从</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开始，每个空位有</a:t>
            </a: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种可能，只要填进去的数合法：与前面的数不相同；与左边相邻的数的和是一个素数。第</a:t>
            </a: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个数还要判断和第</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个数的和是否素数。</a:t>
            </a:r>
            <a:endParaRPr lang="en-US" altLang="zh-CN" dirty="0">
              <a:latin typeface="微软雅黑" panose="020B0503020204020204" pitchFamily="34" charset="-122"/>
              <a:ea typeface="微软雅黑" panose="020B0503020204020204" pitchFamily="34" charset="-122"/>
            </a:endParaRPr>
          </a:p>
          <a:p>
            <a:pPr>
              <a:lnSpc>
                <a:spcPct val="150000"/>
              </a:lnSpc>
            </a:pPr>
            <a:endParaRPr lang="zh-CN" altLang="en-US" dirty="0">
              <a:latin typeface="微软雅黑" panose="020B0503020204020204" pitchFamily="34" charset="-122"/>
              <a:ea typeface="微软雅黑" panose="020B0503020204020204" pitchFamily="34" charset="-122"/>
            </a:endParaRPr>
          </a:p>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rPr>
              <a:t>【</a:t>
            </a:r>
            <a:r>
              <a:rPr lang="zh-CN" altLang="en-US" b="1" dirty="0">
                <a:solidFill>
                  <a:schemeClr val="accent2"/>
                </a:solidFill>
                <a:latin typeface="微软雅黑" panose="020B0503020204020204" pitchFamily="34" charset="-122"/>
                <a:ea typeface="微软雅黑" panose="020B0503020204020204" pitchFamily="34" charset="-122"/>
              </a:rPr>
              <a:t>算法流程</a:t>
            </a:r>
            <a:r>
              <a:rPr lang="en-US" altLang="zh-CN" b="1" dirty="0">
                <a:solidFill>
                  <a:schemeClr val="accent2"/>
                </a:solidFill>
                <a:latin typeface="微软雅黑" panose="020B0503020204020204" pitchFamily="34" charset="-122"/>
                <a:ea typeface="微软雅黑" panose="020B0503020204020204" pitchFamily="34" charset="-122"/>
              </a:rPr>
              <a:t>】</a:t>
            </a:r>
            <a:endParaRPr lang="en-US" altLang="zh-CN" b="1" dirty="0">
              <a:solidFill>
                <a:schemeClr val="accent2"/>
              </a:solidFill>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、数据初始化；   </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、递归填数：判断第</a:t>
            </a:r>
            <a:r>
              <a:rPr lang="en-US" altLang="zh-CN" dirty="0" err="1">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个数填入是否合法；</a:t>
            </a:r>
            <a:endParaRPr lang="zh-CN" altLang="en-US"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、如果合法：填数；判断是否到达目标（</a:t>
            </a: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个已填完）：是，打印结果；不是，递归填下一个；</a:t>
            </a:r>
            <a:endParaRPr lang="zh-CN" altLang="en-US"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、如果不合法：选择下一种可能；</a:t>
            </a:r>
            <a:endParaRPr lang="zh-CN" altLang="en-US" dirty="0">
              <a:latin typeface="微软雅黑" panose="020B0503020204020204" pitchFamily="34" charset="-122"/>
              <a:ea typeface="微软雅黑" panose="020B0503020204020204" pitchFamily="34" charset="-122"/>
            </a:endParaRPr>
          </a:p>
          <a:p>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zh-CN" dirty="0"/>
          </a:p>
        </p:txBody>
      </p:sp>
      <p:sp>
        <p:nvSpPr>
          <p:cNvPr id="4" name="文本框 3"/>
          <p:cNvSpPr txBox="1"/>
          <p:nvPr/>
        </p:nvSpPr>
        <p:spPr>
          <a:xfrm>
            <a:off x="1457597" y="1760642"/>
            <a:ext cx="5308457" cy="5016758"/>
          </a:xfrm>
          <a:prstGeom prst="rect">
            <a:avLst/>
          </a:prstGeom>
          <a:noFill/>
        </p:spPr>
        <p:txBody>
          <a:bodyPr wrap="square" rtlCol="0" anchor="t">
            <a:spAutoFit/>
          </a:bodyPr>
          <a:lstStyle/>
          <a:p>
            <a:r>
              <a:rPr lang="en-US" altLang="zh-CN" sz="1600" dirty="0">
                <a:latin typeface="Times New Roman" panose="02020603050405020304" pitchFamily="18" charset="0"/>
                <a:cs typeface="Times New Roman" panose="02020603050405020304" pitchFamily="18" charset="0"/>
              </a:rPr>
              <a:t>#include&lt;bits/</a:t>
            </a:r>
            <a:r>
              <a:rPr lang="en-US" altLang="zh-CN" sz="1600" dirty="0" err="1">
                <a:latin typeface="Times New Roman" panose="02020603050405020304" pitchFamily="18" charset="0"/>
                <a:cs typeface="Times New Roman" panose="02020603050405020304" pitchFamily="18" charset="0"/>
              </a:rPr>
              <a:t>stdc</a:t>
            </a:r>
            <a:r>
              <a:rPr lang="en-US" altLang="zh-CN" sz="1600" dirty="0">
                <a:latin typeface="Times New Roman" panose="02020603050405020304" pitchFamily="18" charset="0"/>
                <a:cs typeface="Times New Roman" panose="02020603050405020304" pitchFamily="18" charset="0"/>
              </a:rPr>
              <a:t>++.h&gt;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using namespace </a:t>
            </a:r>
            <a:r>
              <a:rPr lang="en-US" altLang="zh-CN" sz="1600" dirty="0" err="1">
                <a:latin typeface="Times New Roman" panose="02020603050405020304" pitchFamily="18" charset="0"/>
                <a:cs typeface="Times New Roman" panose="02020603050405020304" pitchFamily="18" charset="0"/>
              </a:rPr>
              <a:t>std</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bool b[21]={0};</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int total=0,a[21]={0};</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bool </a:t>
            </a:r>
            <a:r>
              <a:rPr lang="en-US" altLang="zh-CN" sz="1600" dirty="0" err="1">
                <a:latin typeface="Times New Roman" panose="02020603050405020304" pitchFamily="18" charset="0"/>
                <a:cs typeface="Times New Roman" panose="02020603050405020304" pitchFamily="18" charset="0"/>
              </a:rPr>
              <a:t>pd</a:t>
            </a:r>
            <a:r>
              <a:rPr lang="en-US" altLang="zh-CN" sz="1600" dirty="0">
                <a:latin typeface="Times New Roman" panose="02020603050405020304" pitchFamily="18" charset="0"/>
                <a:cs typeface="Times New Roman" panose="02020603050405020304" pitchFamily="18" charset="0"/>
              </a:rPr>
              <a:t>(int </a:t>
            </a:r>
            <a:r>
              <a:rPr lang="en-US" altLang="zh-CN" sz="1600" dirty="0" err="1">
                <a:latin typeface="Times New Roman" panose="02020603050405020304" pitchFamily="18" charset="0"/>
                <a:cs typeface="Times New Roman" panose="02020603050405020304" pitchFamily="18" charset="0"/>
              </a:rPr>
              <a:t>x,int</a:t>
            </a:r>
            <a:r>
              <a:rPr lang="en-US" altLang="zh-CN" sz="1600" dirty="0">
                <a:latin typeface="Times New Roman" panose="02020603050405020304" pitchFamily="18" charset="0"/>
                <a:cs typeface="Times New Roman" panose="02020603050405020304" pitchFamily="18" charset="0"/>
              </a:rPr>
              <a:t> y)</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int k=2,i=</a:t>
            </a:r>
            <a:r>
              <a:rPr lang="en-US" altLang="zh-CN" sz="1600" dirty="0" err="1">
                <a:latin typeface="Times New Roman" panose="02020603050405020304" pitchFamily="18" charset="0"/>
                <a:cs typeface="Times New Roman" panose="02020603050405020304" pitchFamily="18" charset="0"/>
              </a:rPr>
              <a:t>x+y</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while (k&lt;=</a:t>
            </a:r>
            <a:r>
              <a:rPr lang="en-US" altLang="zh-CN" sz="1600" dirty="0" err="1">
                <a:latin typeface="Times New Roman" panose="02020603050405020304" pitchFamily="18" charset="0"/>
                <a:cs typeface="Times New Roman" panose="02020603050405020304" pitchFamily="18" charset="0"/>
              </a:rPr>
              <a:t>sqrt</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)&amp;&amp;</a:t>
            </a:r>
            <a:r>
              <a:rPr lang="en-US" altLang="zh-CN" sz="1600" dirty="0" err="1">
                <a:latin typeface="Times New Roman" panose="02020603050405020304" pitchFamily="18" charset="0"/>
                <a:cs typeface="Times New Roman" panose="02020603050405020304" pitchFamily="18" charset="0"/>
              </a:rPr>
              <a:t>i%k</a:t>
            </a:r>
            <a:r>
              <a:rPr lang="en-US" altLang="zh-CN" sz="1600" dirty="0">
                <a:latin typeface="Times New Roman" panose="02020603050405020304" pitchFamily="18" charset="0"/>
                <a:cs typeface="Times New Roman" panose="02020603050405020304" pitchFamily="18" charset="0"/>
              </a:rPr>
              <a:t>!=0) k++;</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if (k&gt;</a:t>
            </a:r>
            <a:r>
              <a:rPr lang="en-US" altLang="zh-CN" sz="1600" dirty="0" err="1">
                <a:latin typeface="Times New Roman" panose="02020603050405020304" pitchFamily="18" charset="0"/>
                <a:cs typeface="Times New Roman" panose="02020603050405020304" pitchFamily="18" charset="0"/>
              </a:rPr>
              <a:t>sqrt</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 return 1;</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else return 0;</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int print()</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total++;</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cout&lt;&lt;"&lt;"&lt;&lt;total&lt;&lt;"&gt;";</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for (int j=1;j&lt;=20;j++)</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cout&lt;&lt;a[j]&lt;&lt;" ";</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cout&lt;&lt;endl; </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endParaRPr lang="en-US" altLang="zh-CN" sz="1600" dirty="0">
              <a:latin typeface="Times New Roman" panose="02020603050405020304" pitchFamily="18" charset="0"/>
              <a:cs typeface="Times New Roman" panose="02020603050405020304" pitchFamily="18" charset="0"/>
            </a:endParaRPr>
          </a:p>
        </p:txBody>
      </p:sp>
      <p:sp>
        <p:nvSpPr>
          <p:cNvPr id="3" name="矩形 2"/>
          <p:cNvSpPr/>
          <p:nvPr/>
        </p:nvSpPr>
        <p:spPr>
          <a:xfrm>
            <a:off x="878889" y="1367439"/>
            <a:ext cx="1579278" cy="369332"/>
          </a:xfrm>
          <a:prstGeom prst="rect">
            <a:avLst/>
          </a:prstGeom>
        </p:spPr>
        <p:txBody>
          <a:bodyPr wrap="none">
            <a:spAutoFit/>
          </a:bodyPr>
          <a:lstStyle/>
          <a:p>
            <a:r>
              <a:rPr lang="en-US" altLang="zh-CN" b="1" dirty="0">
                <a:solidFill>
                  <a:schemeClr val="accent2"/>
                </a:solidFill>
              </a:rPr>
              <a:t>【</a:t>
            </a:r>
            <a:r>
              <a:rPr lang="zh-CN" altLang="en-US" b="1" dirty="0">
                <a:solidFill>
                  <a:schemeClr val="accent2"/>
                </a:solidFill>
              </a:rPr>
              <a:t>参考程序</a:t>
            </a:r>
            <a:r>
              <a:rPr lang="en-US" altLang="zh-CN" b="1" dirty="0">
                <a:solidFill>
                  <a:schemeClr val="accent2"/>
                </a:solidFill>
              </a:rPr>
              <a:t>】</a:t>
            </a:r>
            <a:endParaRPr lang="en-US" altLang="zh-CN" b="1" dirty="0">
              <a:solidFill>
                <a:schemeClr val="accent2"/>
              </a:solidFill>
            </a:endParaRPr>
          </a:p>
        </p:txBody>
      </p:sp>
      <p:cxnSp>
        <p:nvCxnSpPr>
          <p:cNvPr id="7" name="直接连接符 6"/>
          <p:cNvCxnSpPr/>
          <p:nvPr/>
        </p:nvCxnSpPr>
        <p:spPr>
          <a:xfrm>
            <a:off x="5231676" y="1552105"/>
            <a:ext cx="0" cy="4909351"/>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矩形 5"/>
          <p:cNvSpPr/>
          <p:nvPr/>
        </p:nvSpPr>
        <p:spPr>
          <a:xfrm>
            <a:off x="5939254" y="1564579"/>
            <a:ext cx="4715254" cy="5015865"/>
          </a:xfrm>
          <a:prstGeom prst="rect">
            <a:avLst/>
          </a:prstGeom>
        </p:spPr>
        <p:txBody>
          <a:bodyPr wrap="square">
            <a:spAutoFit/>
          </a:bodyPr>
          <a:lstStyle/>
          <a:p>
            <a:r>
              <a:rPr lang="zh-CN" altLang="en-US" sz="1600" dirty="0">
                <a:latin typeface="Times New Roman" panose="02020603050405020304" pitchFamily="18" charset="0"/>
                <a:cs typeface="Times New Roman" panose="02020603050405020304" pitchFamily="18" charset="0"/>
              </a:rPr>
              <a:t>int search(int t)</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int i;</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for (i=1;i&lt;=20;i++)                     //有20个数可选</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if (pd(a[t-1],i)&amp;&amp;(!b[i]</a:t>
            </a:r>
            <a:r>
              <a:rPr lang="en-US" altLang="zh-CN" sz="1600" dirty="0">
                <a:latin typeface="Times New Roman" panose="02020603050405020304" pitchFamily="18" charset="0"/>
                <a:cs typeface="Times New Roman" panose="02020603050405020304" pitchFamily="18" charset="0"/>
              </a:rPr>
              <a:t>&amp;&amp;a[1]==1</a:t>
            </a:r>
            <a:r>
              <a:rPr lang="zh-CN" altLang="en-US" sz="1600" dirty="0">
                <a:latin typeface="Times New Roman" panose="02020603050405020304" pitchFamily="18" charset="0"/>
                <a:cs typeface="Times New Roman" panose="02020603050405020304" pitchFamily="18" charset="0"/>
              </a:rPr>
              <a:t>))            //判断与前一个数是否构成素数及该数是否可用</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a[t]=i;</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b[i]=1;</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if (t==20) { if (pd(a[20],a[1])) print();}</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else search(t+1);</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b[i]=0;</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int main()</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search(1);</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cout&lt;&lt;total&lt;&lt;endl;                    //输出总方案数</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endParaRPr lang="zh-CN" altLang="en-US" sz="16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1033323" y="1401954"/>
            <a:ext cx="10123836" cy="1862048"/>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八皇后问题</a:t>
            </a:r>
            <a:endPar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要在国际象棋棋盘中放八个皇后，使任意两个皇后都不能互相吃。（提示：皇后能吃</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同一行</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同一列</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同一对角线</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的任意棋子。）</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p>
        </p:txBody>
      </p:sp>
      <p:pic>
        <p:nvPicPr>
          <p:cNvPr id="3" name="图片 2"/>
          <p:cNvPicPr>
            <a:picLocks noChangeAspect="1"/>
          </p:cNvPicPr>
          <p:nvPr/>
        </p:nvPicPr>
        <p:blipFill>
          <a:blip r:embed="rId1"/>
          <a:stretch>
            <a:fillRect/>
          </a:stretch>
        </p:blipFill>
        <p:spPr>
          <a:xfrm>
            <a:off x="3588890" y="2739318"/>
            <a:ext cx="3761820" cy="37618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797364" y="1411055"/>
            <a:ext cx="10185980" cy="2492990"/>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算法分析</a:t>
            </a:r>
            <a:r>
              <a:rPr lang="en-US" altLang="zh-CN" sz="2000" b="1" dirty="0">
                <a:solidFill>
                  <a:schemeClr val="accent2"/>
                </a:solidFill>
                <a:latin typeface="微软雅黑" panose="020B0503020204020204" pitchFamily="34" charset="-122"/>
                <a:ea typeface="微软雅黑" panose="020B0503020204020204" pitchFamily="34" charset="-122"/>
              </a:rPr>
              <a:t>】 </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枚举</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：尝试所有皇后可能所在的点</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）约束</a:t>
            </a:r>
            <a:r>
              <a:rPr lang="zh-CN" altLang="en-US" dirty="0"/>
              <a:t>：划掉该皇后所</a:t>
            </a:r>
            <a:r>
              <a:rPr lang="zh-CN" altLang="en-US" b="1" dirty="0">
                <a:solidFill>
                  <a:schemeClr val="accent2"/>
                </a:solidFill>
              </a:rPr>
              <a:t>在行、列、对角线</a:t>
            </a:r>
            <a:r>
              <a:rPr lang="zh-CN" altLang="en-US" dirty="0"/>
              <a:t>的单元格</a:t>
            </a:r>
            <a:endParaRPr lang="en-US" altLang="zh-CN" dirty="0"/>
          </a:p>
          <a:p>
            <a:pPr>
              <a:lnSpc>
                <a:spcPct val="150000"/>
              </a:lnSpc>
            </a:pPr>
            <a:r>
              <a:rPr lang="en-US" altLang="zh-CN" dirty="0"/>
              <a:t> </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）输出</a:t>
            </a:r>
            <a:r>
              <a:rPr lang="zh-CN" altLang="en-US" dirty="0"/>
              <a:t>：找到</a:t>
            </a:r>
            <a:r>
              <a:rPr lang="en-US" altLang="zh-CN" b="1" dirty="0">
                <a:solidFill>
                  <a:schemeClr val="accent2"/>
                </a:solidFill>
              </a:rPr>
              <a:t>8</a:t>
            </a:r>
            <a:r>
              <a:rPr lang="zh-CN" altLang="en-US" b="1" dirty="0">
                <a:solidFill>
                  <a:schemeClr val="accent2"/>
                </a:solidFill>
              </a:rPr>
              <a:t>个</a:t>
            </a:r>
            <a:r>
              <a:rPr lang="zh-CN" altLang="en-US" dirty="0"/>
              <a:t>即输出</a:t>
            </a:r>
            <a:endParaRPr lang="en-US" altLang="zh-CN" dirty="0"/>
          </a:p>
          <a:p>
            <a:pPr>
              <a:lnSpc>
                <a:spcPct val="150000"/>
              </a:lnSpc>
            </a:pPr>
            <a:r>
              <a:rPr lang="en-US" altLang="zh-CN" dirty="0"/>
              <a:t> </a:t>
            </a:r>
            <a:r>
              <a:rPr lang="en-US" altLang="zh-CN" b="1" dirty="0">
                <a:solidFill>
                  <a:schemeClr val="accent2"/>
                </a:solidFill>
              </a:rPr>
              <a:t>4</a:t>
            </a:r>
            <a:r>
              <a:rPr lang="zh-CN" altLang="en-US" b="1" dirty="0">
                <a:solidFill>
                  <a:schemeClr val="accent2"/>
                </a:solidFill>
              </a:rPr>
              <a:t>）重复</a:t>
            </a:r>
            <a:r>
              <a:rPr lang="zh-CN" altLang="en-US" dirty="0"/>
              <a:t>步骤</a:t>
            </a:r>
            <a:r>
              <a:rPr lang="en-US" altLang="zh-CN" dirty="0"/>
              <a:t>1-3</a:t>
            </a:r>
            <a:r>
              <a:rPr lang="zh-CN" altLang="en-US" dirty="0"/>
              <a:t>，找不同方案</a:t>
            </a:r>
            <a:endParaRPr lang="en-US" altLang="zh-CN" dirty="0"/>
          </a:p>
          <a:p>
            <a:r>
              <a:rPr lang="en-US" altLang="zh-CN" dirty="0"/>
              <a:t> </a:t>
            </a:r>
            <a:endParaRPr lang="en-US" altLang="zh-CN" dirty="0"/>
          </a:p>
        </p:txBody>
      </p:sp>
      <p:grpSp>
        <p:nvGrpSpPr>
          <p:cNvPr id="7" name="组合 6"/>
          <p:cNvGrpSpPr/>
          <p:nvPr/>
        </p:nvGrpSpPr>
        <p:grpSpPr>
          <a:xfrm>
            <a:off x="6529157" y="2395252"/>
            <a:ext cx="4223368" cy="3930462"/>
            <a:chOff x="3180103" y="2851338"/>
            <a:chExt cx="4223368" cy="3930462"/>
          </a:xfrm>
        </p:grpSpPr>
        <p:graphicFrame>
          <p:nvGraphicFramePr>
            <p:cNvPr id="5" name="表格 4"/>
            <p:cNvGraphicFramePr/>
            <p:nvPr/>
          </p:nvGraphicFramePr>
          <p:xfrm>
            <a:off x="3180103" y="2851338"/>
            <a:ext cx="3995601" cy="3930462"/>
          </p:xfrm>
          <a:graphic>
            <a:graphicData uri="http://schemas.openxmlformats.org/drawingml/2006/table">
              <a:tbl>
                <a:tblPr/>
                <a:tblGrid>
                  <a:gridCol w="442958"/>
                  <a:gridCol w="441462"/>
                  <a:gridCol w="442958"/>
                  <a:gridCol w="442958"/>
                  <a:gridCol w="441461"/>
                  <a:gridCol w="442958"/>
                  <a:gridCol w="442958"/>
                  <a:gridCol w="441462"/>
                  <a:gridCol w="456426"/>
                </a:tblGrid>
                <a:tr h="430986">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buNone/>
                        </a:pPr>
                        <a:endParaRPr lang="zh-CN" altLang="en-US" sz="2300" dirty="0"/>
                      </a:p>
                    </a:txBody>
                    <a:tcPr marL="86197" marR="86197" marT="43099" marB="43099" anchor="ctr">
                      <a:lnL cap="flat">
                        <a:noFill/>
                      </a:lnL>
                      <a:lnR>
                        <a:noFill/>
                      </a:lnR>
                      <a:lnT cap="flat">
                        <a:noFill/>
                      </a:lnT>
                      <a:lnB>
                        <a:noFill/>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dirty="0">
                            <a:latin typeface="华文中宋" panose="02010600040101010101" pitchFamily="2" charset="-122"/>
                            <a:ea typeface="华文中宋" panose="02010600040101010101" pitchFamily="2" charset="-122"/>
                          </a:rPr>
                          <a:t>１</a:t>
                        </a:r>
                        <a:endParaRPr lang="zh-CN" altLang="en-US" sz="2300" dirty="0"/>
                      </a:p>
                    </a:txBody>
                    <a:tcPr marL="86197" marR="86197" marT="43099" marB="43099" anchor="ctr">
                      <a:lnL>
                        <a:noFill/>
                      </a:lnL>
                      <a:lnR>
                        <a:noFill/>
                      </a:lnR>
                      <a:lnT cap="flat">
                        <a:noFill/>
                      </a:lnT>
                      <a:lnB>
                        <a:noFill/>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dirty="0">
                            <a:latin typeface="华文中宋" panose="02010600040101010101" pitchFamily="2" charset="-122"/>
                            <a:ea typeface="华文中宋" panose="02010600040101010101" pitchFamily="2" charset="-122"/>
                          </a:rPr>
                          <a:t>２</a:t>
                        </a:r>
                        <a:endParaRPr lang="zh-CN" altLang="en-US" sz="2300" dirty="0"/>
                      </a:p>
                    </a:txBody>
                    <a:tcPr marL="86197" marR="86197" marT="43099" marB="43099" anchor="ctr">
                      <a:lnL>
                        <a:noFill/>
                      </a:lnL>
                      <a:lnR>
                        <a:noFill/>
                      </a:lnR>
                      <a:lnT cap="flat">
                        <a:noFill/>
                      </a:lnT>
                      <a:lnB>
                        <a:noFill/>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a:latin typeface="华文中宋" panose="02010600040101010101" pitchFamily="2" charset="-122"/>
                            <a:ea typeface="华文中宋" panose="02010600040101010101" pitchFamily="2" charset="-122"/>
                          </a:rPr>
                          <a:t>３</a:t>
                        </a:r>
                        <a:endParaRPr lang="zh-CN" altLang="en-US" sz="2300"/>
                      </a:p>
                    </a:txBody>
                    <a:tcPr marL="86197" marR="86197" marT="43099" marB="43099" anchor="ctr">
                      <a:lnL>
                        <a:noFill/>
                      </a:lnL>
                      <a:lnR>
                        <a:noFill/>
                      </a:lnR>
                      <a:lnT cap="flat">
                        <a:noFill/>
                      </a:lnT>
                      <a:lnB>
                        <a:noFill/>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a:latin typeface="华文中宋" panose="02010600040101010101" pitchFamily="2" charset="-122"/>
                            <a:ea typeface="华文中宋" panose="02010600040101010101" pitchFamily="2" charset="-122"/>
                          </a:rPr>
                          <a:t>４</a:t>
                        </a:r>
                        <a:endParaRPr lang="zh-CN" altLang="en-US" sz="2300"/>
                      </a:p>
                    </a:txBody>
                    <a:tcPr marL="86197" marR="86197" marT="43099" marB="43099" anchor="ctr">
                      <a:lnL>
                        <a:noFill/>
                      </a:lnL>
                      <a:lnR>
                        <a:noFill/>
                      </a:lnR>
                      <a:lnT cap="flat">
                        <a:noFill/>
                      </a:lnT>
                      <a:lnB>
                        <a:noFill/>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dirty="0">
                            <a:latin typeface="华文中宋" panose="02010600040101010101" pitchFamily="2" charset="-122"/>
                            <a:ea typeface="华文中宋" panose="02010600040101010101" pitchFamily="2" charset="-122"/>
                          </a:rPr>
                          <a:t>５</a:t>
                        </a:r>
                        <a:endParaRPr lang="zh-CN" altLang="en-US" sz="2300" dirty="0"/>
                      </a:p>
                    </a:txBody>
                    <a:tcPr marL="86197" marR="86197" marT="43099" marB="43099" anchor="ctr">
                      <a:lnL>
                        <a:noFill/>
                      </a:lnL>
                      <a:lnR>
                        <a:noFill/>
                      </a:lnR>
                      <a:lnT cap="flat">
                        <a:noFill/>
                      </a:lnT>
                      <a:lnB>
                        <a:noFill/>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a:latin typeface="华文中宋" panose="02010600040101010101" pitchFamily="2" charset="-122"/>
                            <a:ea typeface="华文中宋" panose="02010600040101010101" pitchFamily="2" charset="-122"/>
                          </a:rPr>
                          <a:t>６</a:t>
                        </a:r>
                        <a:endParaRPr lang="zh-CN" altLang="en-US" sz="2300"/>
                      </a:p>
                    </a:txBody>
                    <a:tcPr marL="86197" marR="86197" marT="43099" marB="43099" anchor="ctr">
                      <a:lnL>
                        <a:noFill/>
                      </a:lnL>
                      <a:lnR>
                        <a:noFill/>
                      </a:lnR>
                      <a:lnT cap="flat">
                        <a:noFill/>
                      </a:lnT>
                      <a:lnB>
                        <a:noFill/>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a:latin typeface="华文中宋" panose="02010600040101010101" pitchFamily="2" charset="-122"/>
                            <a:ea typeface="华文中宋" panose="02010600040101010101" pitchFamily="2" charset="-122"/>
                          </a:rPr>
                          <a:t>７</a:t>
                        </a:r>
                        <a:endParaRPr lang="zh-CN" altLang="en-US" sz="2300"/>
                      </a:p>
                    </a:txBody>
                    <a:tcPr marL="86197" marR="86197" marT="43099" marB="43099" anchor="ctr">
                      <a:lnL>
                        <a:noFill/>
                      </a:lnL>
                      <a:lnR>
                        <a:noFill/>
                      </a:lnR>
                      <a:lnT cap="flat">
                        <a:noFill/>
                      </a:lnT>
                      <a:lnB>
                        <a:noFill/>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a:latin typeface="华文中宋" panose="02010600040101010101" pitchFamily="2" charset="-122"/>
                            <a:ea typeface="华文中宋" panose="02010600040101010101" pitchFamily="2" charset="-122"/>
                          </a:rPr>
                          <a:t>８</a:t>
                        </a:r>
                        <a:endParaRPr lang="zh-CN" altLang="en-US" sz="2300"/>
                      </a:p>
                    </a:txBody>
                    <a:tcPr marL="86197" marR="86197" marT="43099" marB="43099" anchor="ctr">
                      <a:lnL>
                        <a:noFill/>
                      </a:lnL>
                      <a:lnR cap="flat">
                        <a:noFill/>
                      </a:lnR>
                      <a:lnT cap="flat">
                        <a:noFill/>
                      </a:lnT>
                      <a:lnB>
                        <a:noFill/>
                      </a:lnB>
                      <a:lnTlToBr>
                        <a:noFill/>
                      </a:lnTlToBr>
                      <a:lnBlToTr>
                        <a:noFill/>
                      </a:lnBlToTr>
                      <a:noFill/>
                    </a:tcPr>
                  </a:tc>
                </a:tr>
                <a:tr h="430986">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a:latin typeface="华文中宋" panose="02010600040101010101" pitchFamily="2" charset="-122"/>
                            <a:ea typeface="华文中宋" panose="02010600040101010101" pitchFamily="2" charset="-122"/>
                          </a:rPr>
                          <a:t>１</a:t>
                        </a:r>
                        <a:endParaRPr lang="zh-CN" altLang="en-US" sz="2300"/>
                      </a:p>
                    </a:txBody>
                    <a:tcPr marL="86197" marR="86197" marT="43099" marB="43099" anchor="ctr">
                      <a:lnL cap="flat">
                        <a:noFill/>
                      </a:lnL>
                      <a:lnR>
                        <a:noFill/>
                      </a:lnR>
                      <a:lnT>
                        <a:noFill/>
                      </a:lnT>
                      <a:lnB>
                        <a:noFill/>
                      </a:lnB>
                      <a:lnTlToBr>
                        <a:noFill/>
                      </a:lnTlToBr>
                      <a:lnBlToTr>
                        <a:noFill/>
                      </a:lnBlToTr>
                      <a:noFill/>
                    </a:tcPr>
                  </a:tc>
                  <a:tc rowSpan="8" gridSpan="8">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buNone/>
                        </a:pPr>
                        <a:endParaRPr lang="zh-CN" altLang="en-US" sz="2300"/>
                      </a:p>
                    </a:txBody>
                    <a:tcPr marL="86197" marR="86197" marT="43099" marB="43099">
                      <a:lnL>
                        <a:noFill/>
                      </a:lnL>
                      <a:lnR cap="flat">
                        <a:noFill/>
                      </a:lnR>
                      <a:lnT>
                        <a:noFill/>
                      </a:lnT>
                      <a:lnB cap="flat">
                        <a:noFill/>
                      </a:lnB>
                      <a:lnTlToBr>
                        <a:noFill/>
                      </a:lnTlToBr>
                      <a:lnBlToTr>
                        <a:noFill/>
                      </a:lnBlToTr>
                      <a:noFill/>
                    </a:tcPr>
                  </a:tc>
                  <a:tc rowSpan="8" hMerge="1">
                    <a:tcPr/>
                  </a:tc>
                  <a:tc rowSpan="8" hMerge="1">
                    <a:tcPr/>
                  </a:tc>
                  <a:tc rowSpan="8" hMerge="1">
                    <a:tcPr/>
                  </a:tc>
                  <a:tc rowSpan="8" hMerge="1">
                    <a:tcPr/>
                  </a:tc>
                  <a:tc rowSpan="8" hMerge="1">
                    <a:tcPr/>
                  </a:tc>
                  <a:tc rowSpan="8" hMerge="1">
                    <a:tcPr/>
                  </a:tc>
                  <a:tc rowSpan="8" hMerge="1">
                    <a:tcPr>
                      <a:lnR cap="flat">
                        <a:noFill/>
                      </a:lnR>
                    </a:tcPr>
                  </a:tc>
                </a:tr>
                <a:tr h="430986">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a:latin typeface="华文中宋" panose="02010600040101010101" pitchFamily="2" charset="-122"/>
                            <a:ea typeface="华文中宋" panose="02010600040101010101" pitchFamily="2" charset="-122"/>
                          </a:rPr>
                          <a:t>２</a:t>
                        </a:r>
                        <a:endParaRPr lang="zh-CN" altLang="en-US" sz="2300"/>
                      </a:p>
                    </a:txBody>
                    <a:tcPr marL="86197" marR="86197" marT="43099" marB="43099" anchor="ctr">
                      <a:lnL cap="flat">
                        <a:noFill/>
                      </a:lnL>
                      <a:lnR>
                        <a:noFill/>
                      </a:lnR>
                      <a:lnT>
                        <a:noFill/>
                      </a:lnT>
                      <a:lnB>
                        <a:noFill/>
                      </a:lnB>
                      <a:lnTlToBr>
                        <a:noFill/>
                      </a:lnTlToBr>
                      <a:lnBlToTr>
                        <a:noFill/>
                      </a:lnBlToTr>
                      <a:noFill/>
                    </a:tcPr>
                  </a:tc>
                  <a:tc vMerge="1" gridSpan="8">
                    <a:tcPr/>
                  </a:tc>
                  <a:tc vMerge="1" hMerge="1">
                    <a:tcPr/>
                  </a:tc>
                  <a:tc vMerge="1" hMerge="1">
                    <a:tcPr/>
                  </a:tc>
                  <a:tc vMerge="1" hMerge="1">
                    <a:tcPr/>
                  </a:tc>
                  <a:tc vMerge="1" hMerge="1">
                    <a:tcPr/>
                  </a:tc>
                  <a:tc vMerge="1" hMerge="1">
                    <a:tcPr/>
                  </a:tc>
                  <a:tc vMerge="1" hMerge="1">
                    <a:tcPr/>
                  </a:tc>
                  <a:tc vMerge="1" hMerge="1">
                    <a:tcPr>
                      <a:lnR cap="flat">
                        <a:noFill/>
                      </a:lnR>
                    </a:tcPr>
                  </a:tc>
                </a:tr>
                <a:tr h="430986">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a:latin typeface="华文中宋" panose="02010600040101010101" pitchFamily="2" charset="-122"/>
                            <a:ea typeface="华文中宋" panose="02010600040101010101" pitchFamily="2" charset="-122"/>
                          </a:rPr>
                          <a:t>３</a:t>
                        </a:r>
                        <a:endParaRPr lang="zh-CN" altLang="en-US" sz="2300"/>
                      </a:p>
                    </a:txBody>
                    <a:tcPr marL="86197" marR="86197" marT="43099" marB="43099" anchor="ctr">
                      <a:lnL cap="flat">
                        <a:noFill/>
                      </a:lnL>
                      <a:lnR>
                        <a:noFill/>
                      </a:lnR>
                      <a:lnT>
                        <a:noFill/>
                      </a:lnT>
                      <a:lnB>
                        <a:noFill/>
                      </a:lnB>
                      <a:lnTlToBr>
                        <a:noFill/>
                      </a:lnTlToBr>
                      <a:lnBlToTr>
                        <a:noFill/>
                      </a:lnBlToTr>
                      <a:noFill/>
                    </a:tcPr>
                  </a:tc>
                  <a:tc vMerge="1" gridSpan="8">
                    <a:tcPr/>
                  </a:tc>
                  <a:tc vMerge="1" hMerge="1">
                    <a:tcPr/>
                  </a:tc>
                  <a:tc vMerge="1" hMerge="1">
                    <a:tcPr/>
                  </a:tc>
                  <a:tc vMerge="1" hMerge="1">
                    <a:tcPr/>
                  </a:tc>
                  <a:tc vMerge="1" hMerge="1">
                    <a:tcPr/>
                  </a:tc>
                  <a:tc vMerge="1" hMerge="1">
                    <a:tcPr/>
                  </a:tc>
                  <a:tc vMerge="1" hMerge="1">
                    <a:tcPr/>
                  </a:tc>
                  <a:tc vMerge="1" hMerge="1">
                    <a:tcPr>
                      <a:lnR cap="flat">
                        <a:noFill/>
                      </a:lnR>
                    </a:tcPr>
                  </a:tc>
                </a:tr>
                <a:tr h="430986">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a:latin typeface="华文中宋" panose="02010600040101010101" pitchFamily="2" charset="-122"/>
                            <a:ea typeface="华文中宋" panose="02010600040101010101" pitchFamily="2" charset="-122"/>
                          </a:rPr>
                          <a:t>４</a:t>
                        </a:r>
                        <a:endParaRPr lang="zh-CN" altLang="en-US" sz="2300"/>
                      </a:p>
                    </a:txBody>
                    <a:tcPr marL="86197" marR="86197" marT="43099" marB="43099" anchor="ctr">
                      <a:lnL cap="flat">
                        <a:noFill/>
                      </a:lnL>
                      <a:lnR>
                        <a:noFill/>
                      </a:lnR>
                      <a:lnT>
                        <a:noFill/>
                      </a:lnT>
                      <a:lnB>
                        <a:noFill/>
                      </a:lnB>
                      <a:lnTlToBr>
                        <a:noFill/>
                      </a:lnTlToBr>
                      <a:lnBlToTr>
                        <a:noFill/>
                      </a:lnBlToTr>
                      <a:noFill/>
                    </a:tcPr>
                  </a:tc>
                  <a:tc vMerge="1" gridSpan="8">
                    <a:tcPr/>
                  </a:tc>
                  <a:tc vMerge="1" hMerge="1">
                    <a:tcPr/>
                  </a:tc>
                  <a:tc vMerge="1" hMerge="1">
                    <a:tcPr/>
                  </a:tc>
                  <a:tc vMerge="1" hMerge="1">
                    <a:tcPr/>
                  </a:tc>
                  <a:tc vMerge="1" hMerge="1">
                    <a:tcPr/>
                  </a:tc>
                  <a:tc vMerge="1" hMerge="1">
                    <a:tcPr/>
                  </a:tc>
                  <a:tc vMerge="1" hMerge="1">
                    <a:tcPr/>
                  </a:tc>
                  <a:tc vMerge="1" hMerge="1">
                    <a:tcPr>
                      <a:lnR cap="flat">
                        <a:noFill/>
                      </a:lnR>
                    </a:tcPr>
                  </a:tc>
                </a:tr>
                <a:tr h="430986">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a:latin typeface="华文中宋" panose="02010600040101010101" pitchFamily="2" charset="-122"/>
                            <a:ea typeface="华文中宋" panose="02010600040101010101" pitchFamily="2" charset="-122"/>
                          </a:rPr>
                          <a:t>５</a:t>
                        </a:r>
                        <a:endParaRPr lang="zh-CN" altLang="en-US" sz="2300"/>
                      </a:p>
                    </a:txBody>
                    <a:tcPr marL="86197" marR="86197" marT="43099" marB="43099" anchor="ctr">
                      <a:lnL cap="flat">
                        <a:noFill/>
                      </a:lnL>
                      <a:lnR>
                        <a:noFill/>
                      </a:lnR>
                      <a:lnT>
                        <a:noFill/>
                      </a:lnT>
                      <a:lnB>
                        <a:noFill/>
                      </a:lnB>
                      <a:lnTlToBr>
                        <a:noFill/>
                      </a:lnTlToBr>
                      <a:lnBlToTr>
                        <a:noFill/>
                      </a:lnBlToTr>
                      <a:noFill/>
                    </a:tcPr>
                  </a:tc>
                  <a:tc vMerge="1" gridSpan="8">
                    <a:tcPr/>
                  </a:tc>
                  <a:tc vMerge="1" hMerge="1">
                    <a:tcPr/>
                  </a:tc>
                  <a:tc vMerge="1" hMerge="1">
                    <a:tcPr/>
                  </a:tc>
                  <a:tc vMerge="1" hMerge="1">
                    <a:tcPr/>
                  </a:tc>
                  <a:tc vMerge="1" hMerge="1">
                    <a:tcPr/>
                  </a:tc>
                  <a:tc vMerge="1" hMerge="1">
                    <a:tcPr/>
                  </a:tc>
                  <a:tc vMerge="1" hMerge="1">
                    <a:tcPr/>
                  </a:tc>
                  <a:tc vMerge="1" hMerge="1">
                    <a:tcPr>
                      <a:lnR cap="flat">
                        <a:noFill/>
                      </a:lnR>
                    </a:tcPr>
                  </a:tc>
                </a:tr>
                <a:tr h="430986">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a:latin typeface="华文中宋" panose="02010600040101010101" pitchFamily="2" charset="-122"/>
                            <a:ea typeface="华文中宋" panose="02010600040101010101" pitchFamily="2" charset="-122"/>
                          </a:rPr>
                          <a:t>６</a:t>
                        </a:r>
                        <a:endParaRPr lang="zh-CN" altLang="en-US" sz="2300"/>
                      </a:p>
                    </a:txBody>
                    <a:tcPr marL="86197" marR="86197" marT="43099" marB="43099" anchor="ctr">
                      <a:lnL cap="flat">
                        <a:noFill/>
                      </a:lnL>
                      <a:lnR>
                        <a:noFill/>
                      </a:lnR>
                      <a:lnT>
                        <a:noFill/>
                      </a:lnT>
                      <a:lnB>
                        <a:noFill/>
                      </a:lnB>
                      <a:lnTlToBr>
                        <a:noFill/>
                      </a:lnTlToBr>
                      <a:lnBlToTr>
                        <a:noFill/>
                      </a:lnBlToTr>
                      <a:noFill/>
                    </a:tcPr>
                  </a:tc>
                  <a:tc vMerge="1" gridSpan="8">
                    <a:tcPr/>
                  </a:tc>
                  <a:tc vMerge="1" hMerge="1">
                    <a:tcPr/>
                  </a:tc>
                  <a:tc vMerge="1" hMerge="1">
                    <a:tcPr/>
                  </a:tc>
                  <a:tc vMerge="1" hMerge="1">
                    <a:tcPr/>
                  </a:tc>
                  <a:tc vMerge="1" hMerge="1">
                    <a:tcPr/>
                  </a:tc>
                  <a:tc vMerge="1" hMerge="1">
                    <a:tcPr/>
                  </a:tc>
                  <a:tc vMerge="1" hMerge="1">
                    <a:tcPr/>
                  </a:tc>
                  <a:tc vMerge="1" hMerge="1">
                    <a:tcPr>
                      <a:lnR cap="flat">
                        <a:noFill/>
                      </a:lnR>
                    </a:tcPr>
                  </a:tc>
                </a:tr>
                <a:tr h="430986">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a:latin typeface="华文中宋" panose="02010600040101010101" pitchFamily="2" charset="-122"/>
                            <a:ea typeface="华文中宋" panose="02010600040101010101" pitchFamily="2" charset="-122"/>
                          </a:rPr>
                          <a:t>７</a:t>
                        </a:r>
                        <a:endParaRPr lang="zh-CN" altLang="en-US" sz="2300"/>
                      </a:p>
                    </a:txBody>
                    <a:tcPr marL="86197" marR="86197" marT="43099" marB="43099" anchor="ctr">
                      <a:lnL cap="flat">
                        <a:noFill/>
                      </a:lnL>
                      <a:lnR>
                        <a:noFill/>
                      </a:lnR>
                      <a:lnT>
                        <a:noFill/>
                      </a:lnT>
                      <a:lnB>
                        <a:noFill/>
                      </a:lnB>
                      <a:lnTlToBr>
                        <a:noFill/>
                      </a:lnTlToBr>
                      <a:lnBlToTr>
                        <a:noFill/>
                      </a:lnBlToTr>
                      <a:noFill/>
                    </a:tcPr>
                  </a:tc>
                  <a:tc vMerge="1" gridSpan="8">
                    <a:tcPr/>
                  </a:tc>
                  <a:tc vMerge="1" hMerge="1">
                    <a:tcPr/>
                  </a:tc>
                  <a:tc vMerge="1" hMerge="1">
                    <a:tcPr/>
                  </a:tc>
                  <a:tc vMerge="1" hMerge="1">
                    <a:tcPr/>
                  </a:tc>
                  <a:tc vMerge="1" hMerge="1">
                    <a:tcPr/>
                  </a:tc>
                  <a:tc vMerge="1" hMerge="1">
                    <a:tcPr/>
                  </a:tc>
                  <a:tc vMerge="1" hMerge="1">
                    <a:tcPr/>
                  </a:tc>
                  <a:tc vMerge="1" hMerge="1">
                    <a:tcPr>
                      <a:lnR cap="flat">
                        <a:noFill/>
                      </a:lnR>
                    </a:tcPr>
                  </a:tc>
                </a:tr>
                <a:tr h="430986">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2300" dirty="0">
                            <a:latin typeface="华文中宋" panose="02010600040101010101" pitchFamily="2" charset="-122"/>
                            <a:ea typeface="华文中宋" panose="02010600040101010101" pitchFamily="2" charset="-122"/>
                          </a:rPr>
                          <a:t>８</a:t>
                        </a:r>
                        <a:endParaRPr lang="zh-CN" altLang="en-US" sz="2300" dirty="0"/>
                      </a:p>
                    </a:txBody>
                    <a:tcPr marL="86197" marR="86197" marT="43099" marB="43099" anchor="ctr">
                      <a:lnL cap="flat">
                        <a:noFill/>
                      </a:lnL>
                      <a:lnR>
                        <a:noFill/>
                      </a:lnR>
                      <a:lnT>
                        <a:noFill/>
                      </a:lnT>
                      <a:lnB cap="flat">
                        <a:noFill/>
                      </a:lnB>
                      <a:lnTlToBr>
                        <a:noFill/>
                      </a:lnTlToBr>
                      <a:lnBlToTr>
                        <a:noFill/>
                      </a:lnBlToTr>
                      <a:noFill/>
                    </a:tcPr>
                  </a:tc>
                  <a:tc vMerge="1" gridSpan="8">
                    <a:tcPr>
                      <a:lnB cap="flat">
                        <a:noFill/>
                      </a:lnB>
                    </a:tcPr>
                  </a:tc>
                  <a:tc vMerge="1" hMerge="1">
                    <a:tcPr>
                      <a:lnB cap="flat">
                        <a:noFill/>
                      </a:lnB>
                    </a:tcPr>
                  </a:tc>
                  <a:tc vMerge="1" hMerge="1">
                    <a:tcPr>
                      <a:lnB cap="flat">
                        <a:noFill/>
                      </a:lnB>
                    </a:tcPr>
                  </a:tc>
                  <a:tc vMerge="1" hMerge="1">
                    <a:tcPr>
                      <a:lnB cap="flat">
                        <a:noFill/>
                      </a:lnB>
                    </a:tcPr>
                  </a:tc>
                  <a:tc vMerge="1" hMerge="1">
                    <a:tcPr>
                      <a:lnB cap="flat">
                        <a:noFill/>
                      </a:lnB>
                    </a:tcPr>
                  </a:tc>
                  <a:tc vMerge="1" hMerge="1">
                    <a:tcPr>
                      <a:lnB cap="flat">
                        <a:noFill/>
                      </a:lnB>
                    </a:tcPr>
                  </a:tc>
                  <a:tc vMerge="1" hMerge="1">
                    <a:tcPr>
                      <a:lnB cap="flat">
                        <a:noFill/>
                      </a:lnB>
                    </a:tcPr>
                  </a:tc>
                  <a:tc vMerge="1" hMerge="1">
                    <a:tcPr>
                      <a:lnR cap="flat">
                        <a:noFill/>
                      </a:lnR>
                      <a:lnB cap="flat">
                        <a:noFill/>
                      </a:lnB>
                    </a:tcPr>
                  </a:tc>
                </a:tr>
              </a:tbl>
            </a:graphicData>
          </a:graphic>
        </p:graphicFrame>
        <p:graphicFrame>
          <p:nvGraphicFramePr>
            <p:cNvPr id="6" name="表格 5"/>
            <p:cNvGraphicFramePr/>
            <p:nvPr/>
          </p:nvGraphicFramePr>
          <p:xfrm>
            <a:off x="3776003" y="3302292"/>
            <a:ext cx="3627468" cy="3311712"/>
          </p:xfrm>
          <a:graphic>
            <a:graphicData uri="http://schemas.openxmlformats.org/drawingml/2006/table">
              <a:tbl>
                <a:tblPr/>
                <a:tblGrid>
                  <a:gridCol w="448944"/>
                  <a:gridCol w="447448"/>
                  <a:gridCol w="447447"/>
                  <a:gridCol w="448944"/>
                  <a:gridCol w="448944"/>
                  <a:gridCol w="460916"/>
                  <a:gridCol w="462413"/>
                  <a:gridCol w="462412"/>
                </a:tblGrid>
                <a:tr h="413029">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dirty="0">
                            <a:latin typeface="华文中宋" panose="02010600040101010101" pitchFamily="2" charset="-122"/>
                            <a:ea typeface="华文中宋" panose="02010600040101010101" pitchFamily="2" charset="-122"/>
                          </a:rPr>
                          <a:t>　</a:t>
                        </a:r>
                        <a:endParaRPr lang="zh-CN" altLang="en-US" sz="1900" dirty="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dirty="0">
                            <a:latin typeface="华文中宋" panose="02010600040101010101" pitchFamily="2" charset="-122"/>
                            <a:ea typeface="华文中宋" panose="02010600040101010101" pitchFamily="2" charset="-122"/>
                          </a:rPr>
                          <a:t>　</a:t>
                        </a:r>
                        <a:endParaRPr lang="zh-CN" altLang="en-US" sz="1900" dirty="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r>
                <a:tr h="414525">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dirty="0">
                            <a:latin typeface="华文中宋" panose="02010600040101010101" pitchFamily="2" charset="-122"/>
                            <a:ea typeface="华文中宋" panose="02010600040101010101" pitchFamily="2" charset="-122"/>
                          </a:rPr>
                          <a:t>／</a:t>
                        </a:r>
                        <a:endParaRPr lang="zh-CN" altLang="en-US" sz="1900" dirty="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r>
                <a:tr h="414525">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dirty="0">
                            <a:latin typeface="华文中宋" panose="02010600040101010101" pitchFamily="2" charset="-122"/>
                            <a:ea typeface="华文中宋" panose="02010600040101010101" pitchFamily="2" charset="-122"/>
                          </a:rPr>
                          <a:t>｜</a:t>
                        </a:r>
                        <a:endParaRPr lang="zh-CN" altLang="en-US" sz="1900" dirty="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r>
                <a:tr h="413029">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dirty="0">
                            <a:latin typeface="华文中宋" panose="02010600040101010101" pitchFamily="2" charset="-122"/>
                            <a:ea typeface="华文中宋" panose="02010600040101010101" pitchFamily="2" charset="-122"/>
                          </a:rPr>
                          <a:t>　</a:t>
                        </a:r>
                        <a:endParaRPr lang="zh-CN" altLang="en-US" sz="1900" dirty="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r>
                <a:tr h="414525">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en-US" altLang="zh-CN" sz="1900" dirty="0">
                            <a:latin typeface="华文中宋" panose="02010600040101010101" pitchFamily="2" charset="-122"/>
                            <a:ea typeface="华文中宋" panose="02010600040101010101" pitchFamily="2" charset="-122"/>
                          </a:rPr>
                          <a:t>▲</a:t>
                        </a:r>
                        <a:endParaRPr lang="zh-CN" altLang="en-US" sz="1900" dirty="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dirty="0">
                            <a:latin typeface="华文中宋" panose="02010600040101010101" pitchFamily="2" charset="-122"/>
                            <a:ea typeface="华文中宋" panose="02010600040101010101" pitchFamily="2" charset="-122"/>
                          </a:rPr>
                          <a:t>－</a:t>
                        </a:r>
                        <a:endParaRPr lang="zh-CN" altLang="en-US" sz="1900" dirty="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r>
                <a:tr h="414525">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r>
                <a:tr h="413029">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r>
                <a:tr h="414525">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dirty="0">
                            <a:latin typeface="华文中宋" panose="02010600040101010101" pitchFamily="2" charset="-122"/>
                            <a:ea typeface="华文中宋" panose="02010600040101010101" pitchFamily="2" charset="-122"/>
                          </a:rPr>
                          <a:t>　</a:t>
                        </a:r>
                        <a:endParaRPr lang="zh-CN" altLang="en-US" sz="1900" dirty="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dirty="0">
                            <a:latin typeface="华文中宋" panose="02010600040101010101" pitchFamily="2" charset="-122"/>
                            <a:ea typeface="华文中宋" panose="02010600040101010101" pitchFamily="2" charset="-122"/>
                          </a:rPr>
                          <a:t>　</a:t>
                        </a:r>
                        <a:endParaRPr lang="zh-CN" altLang="en-US" sz="1900" dirty="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　</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lgn="ctr">
                          <a:spcBef>
                            <a:spcPct val="0"/>
                          </a:spcBef>
                          <a:buClr>
                            <a:srgbClr val="000000"/>
                          </a:buClr>
                          <a:buNone/>
                        </a:pPr>
                        <a:r>
                          <a:rPr lang="zh-CN" altLang="en-US" sz="1900">
                            <a:latin typeface="华文中宋" panose="02010600040101010101" pitchFamily="2" charset="-122"/>
                            <a:ea typeface="华文中宋" panose="02010600040101010101" pitchFamily="2" charset="-122"/>
                          </a:rPr>
                          <a:t>＼</a:t>
                        </a:r>
                        <a:endParaRPr lang="zh-CN" altLang="en-US" sz="1900"/>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90000"/>
                          <a:buFont typeface="Wingdings" panose="05000000000000000000" pitchFamily="2" charset="2"/>
                          <a:buChar char="w"/>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hlink"/>
                          </a:buClr>
                          <a:defRPr sz="1800" kern="1200"/>
                        </a:lvl4pPr>
                        <a:lvl5pPr marL="2057400" lvl="4" indent="-228600">
                          <a:buClr>
                            <a:schemeClr val="folHlink"/>
                          </a:buClr>
                          <a:defRPr sz="1800" kern="1200"/>
                        </a:lvl5pPr>
                      </a:lstStyle>
                      <a:p>
                        <a:pPr marL="0" lvl="0" indent="0">
                          <a:spcBef>
                            <a:spcPct val="0"/>
                          </a:spcBef>
                          <a:buClr>
                            <a:srgbClr val="000000"/>
                          </a:buClr>
                          <a:buNone/>
                        </a:pPr>
                        <a:r>
                          <a:rPr lang="zh-CN" altLang="en-US" sz="1900" dirty="0">
                            <a:latin typeface="华文中宋" panose="02010600040101010101" pitchFamily="2" charset="-122"/>
                            <a:ea typeface="华文中宋" panose="02010600040101010101" pitchFamily="2" charset="-122"/>
                          </a:rPr>
                          <a:t>　</a:t>
                        </a:r>
                        <a:endParaRPr lang="zh-CN" altLang="en-US" sz="1900" dirty="0">
                          <a:ea typeface="Times New Roman" panose="02020603050405020304" pitchFamily="18" charset="0"/>
                        </a:endParaRPr>
                      </a:p>
                    </a:txBody>
                    <a:tcPr marL="86197" marR="86197" marT="43099" marB="43099" anchor="ctr">
                      <a:lnL w="12700" cap="flat" cmpd="sng">
                        <a:solidFill>
                          <a:srgbClr val="990000"/>
                        </a:solidFill>
                        <a:prstDash val="solid"/>
                        <a:headEnd type="none" w="med" len="med"/>
                        <a:tailEnd type="none" w="med" len="med"/>
                      </a:lnL>
                      <a:lnR w="12700" cap="flat" cmpd="sng">
                        <a:solidFill>
                          <a:srgbClr val="990000"/>
                        </a:solidFill>
                        <a:prstDash val="solid"/>
                        <a:headEnd type="none" w="med" len="med"/>
                        <a:tailEnd type="none" w="med" len="med"/>
                      </a:lnR>
                      <a:lnT w="12700" cap="flat" cmpd="sng">
                        <a:solidFill>
                          <a:srgbClr val="990000"/>
                        </a:solidFill>
                        <a:prstDash val="solid"/>
                        <a:headEnd type="none" w="med" len="med"/>
                        <a:tailEnd type="none" w="med" len="med"/>
                      </a:lnT>
                      <a:lnB w="12700" cap="flat" cmpd="sng">
                        <a:solidFill>
                          <a:srgbClr val="990000"/>
                        </a:solidFill>
                        <a:prstDash val="solid"/>
                        <a:headEnd type="none" w="med" len="med"/>
                        <a:tailEnd type="none" w="med" len="med"/>
                      </a:lnB>
                      <a:lnTlToBr>
                        <a:noFill/>
                      </a:lnTlToBr>
                      <a:lnBlToTr>
                        <a:noFill/>
                      </a:lnBlToTr>
                      <a:noFill/>
                    </a:tcPr>
                  </a:tc>
                </a:tr>
              </a:tbl>
            </a:graphicData>
          </a:graphic>
        </p:graphicFrame>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961746" y="1185890"/>
            <a:ext cx="10123836" cy="2739211"/>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算法分析</a:t>
            </a:r>
            <a:r>
              <a:rPr lang="en-US" altLang="zh-CN" sz="2000" b="1" dirty="0">
                <a:solidFill>
                  <a:schemeClr val="accent2"/>
                </a:solidFill>
                <a:latin typeface="微软雅黑" panose="020B0503020204020204" pitchFamily="34" charset="-122"/>
                <a:ea typeface="微软雅黑" panose="020B0503020204020204" pitchFamily="34" charset="-122"/>
              </a:rPr>
              <a:t>】 </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显然问题的关键在于如何判定</a:t>
            </a:r>
            <a:r>
              <a:rPr lang="zh-CN" altLang="en-US" b="1" dirty="0">
                <a:solidFill>
                  <a:schemeClr val="accent2"/>
                </a:solidFill>
                <a:latin typeface="微软雅黑" panose="020B0503020204020204" pitchFamily="34" charset="-122"/>
                <a:ea typeface="微软雅黑" panose="020B0503020204020204" pitchFamily="34" charset="-122"/>
              </a:rPr>
              <a:t>某个皇后所在的行、列、斜线上是否有别的皇后</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如果在同一行，则</a:t>
            </a:r>
            <a:r>
              <a:rPr lang="zh-CN" altLang="en-US" b="1" dirty="0">
                <a:solidFill>
                  <a:schemeClr val="accent2"/>
                </a:solidFill>
                <a:latin typeface="微软雅黑" panose="020B0503020204020204" pitchFamily="34" charset="-122"/>
                <a:ea typeface="微软雅黑" panose="020B0503020204020204" pitchFamily="34" charset="-122"/>
              </a:rPr>
              <a:t>行号相同</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如果在同一列上，则</a:t>
            </a:r>
            <a:r>
              <a:rPr lang="zh-CN" altLang="en-US" b="1" dirty="0">
                <a:solidFill>
                  <a:schemeClr val="accent2"/>
                </a:solidFill>
                <a:latin typeface="微软雅黑" panose="020B0503020204020204" pitchFamily="34" charset="-122"/>
                <a:ea typeface="微软雅黑" panose="020B0503020204020204" pitchFamily="34" charset="-122"/>
              </a:rPr>
              <a:t>列号相同</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如果同在／ 斜线上的</a:t>
            </a:r>
            <a:r>
              <a:rPr lang="zh-CN" altLang="en-US" b="1" dirty="0">
                <a:solidFill>
                  <a:schemeClr val="accent2"/>
                </a:solidFill>
                <a:latin typeface="微软雅黑" panose="020B0503020204020204" pitchFamily="34" charset="-122"/>
                <a:ea typeface="微软雅黑" panose="020B0503020204020204" pitchFamily="34" charset="-122"/>
              </a:rPr>
              <a:t>行列值之和相同</a:t>
            </a:r>
            <a:r>
              <a:rPr lang="zh-CN" altLang="en-US" dirty="0">
                <a:latin typeface="微软雅黑" panose="020B0503020204020204" pitchFamily="34" charset="-122"/>
                <a:ea typeface="微软雅黑" panose="020B0503020204020204" pitchFamily="34" charset="-122"/>
              </a:rPr>
              <a:t>；如果同在＼ 斜线上的</a:t>
            </a:r>
            <a:r>
              <a:rPr lang="zh-CN" altLang="en-US" b="1" dirty="0">
                <a:solidFill>
                  <a:schemeClr val="accent2"/>
                </a:solidFill>
                <a:latin typeface="微软雅黑" panose="020B0503020204020204" pitchFamily="34" charset="-122"/>
                <a:ea typeface="微软雅黑" panose="020B0503020204020204" pitchFamily="34" charset="-122"/>
              </a:rPr>
              <a:t>行列值之差</a:t>
            </a:r>
            <a:r>
              <a:rPr lang="zh-CN" altLang="en-US" dirty="0">
                <a:latin typeface="微软雅黑" panose="020B0503020204020204" pitchFamily="34" charset="-122"/>
                <a:ea typeface="微软雅黑" panose="020B0503020204020204" pitchFamily="34" charset="-122"/>
              </a:rPr>
              <a:t>相同；</a:t>
            </a:r>
            <a:endParaRPr lang="zh-CN" altLang="en-US" dirty="0">
              <a:latin typeface="微软雅黑" panose="020B0503020204020204" pitchFamily="34" charset="-122"/>
              <a:ea typeface="微软雅黑" panose="020B0503020204020204" pitchFamily="34" charset="-122"/>
            </a:endParaRPr>
          </a:p>
          <a:p>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p>
        </p:txBody>
      </p:sp>
      <p:graphicFrame>
        <p:nvGraphicFramePr>
          <p:cNvPr id="7" name="表格 6"/>
          <p:cNvGraphicFramePr>
            <a:graphicFrameLocks noGrp="1"/>
          </p:cNvGraphicFramePr>
          <p:nvPr/>
        </p:nvGraphicFramePr>
        <p:xfrm>
          <a:off x="1455938" y="3577946"/>
          <a:ext cx="8128008" cy="2966720"/>
        </p:xfrm>
        <a:graphic>
          <a:graphicData uri="http://schemas.openxmlformats.org/drawingml/2006/table">
            <a:tbl>
              <a:tblPr firstRow="1" bandRow="1">
                <a:tableStyleId>{5C22544A-7EE6-4342-B048-85BDC9FD1C3A}</a:tableStyleId>
              </a:tblPr>
              <a:tblGrid>
                <a:gridCol w="1016001"/>
                <a:gridCol w="1016001"/>
                <a:gridCol w="1016001"/>
                <a:gridCol w="1016001"/>
                <a:gridCol w="1016001"/>
                <a:gridCol w="1016001"/>
                <a:gridCol w="1016001"/>
                <a:gridCol w="1016001"/>
              </a:tblGrid>
              <a:tr h="370840">
                <a:tc>
                  <a:txBody>
                    <a:bodyPr/>
                    <a:lstStyle/>
                    <a:p>
                      <a:pPr algn="ctr"/>
                      <a:r>
                        <a:rPr lang="zh-CN" altLang="en-US" sz="1800" b="1" kern="1200" dirty="0">
                          <a:solidFill>
                            <a:schemeClr val="lt1"/>
                          </a:solidFill>
                          <a:latin typeface="+mn-lt"/>
                          <a:ea typeface="+mn-ea"/>
                          <a:cs typeface="+mn-cs"/>
                        </a:rPr>
                        <a:t>（</a:t>
                      </a:r>
                      <a:r>
                        <a:rPr lang="en-US" altLang="zh-CN" sz="1800" b="1" kern="1200" dirty="0">
                          <a:solidFill>
                            <a:schemeClr val="lt1"/>
                          </a:solidFill>
                          <a:latin typeface="+mn-lt"/>
                          <a:ea typeface="+mn-ea"/>
                          <a:cs typeface="+mn-cs"/>
                        </a:rPr>
                        <a:t>1,1</a:t>
                      </a:r>
                      <a:r>
                        <a:rPr lang="zh-CN" altLang="en-US" sz="1800" b="1" kern="1200" dirty="0">
                          <a:solidFill>
                            <a:schemeClr val="lt1"/>
                          </a:solidFill>
                          <a:latin typeface="+mn-lt"/>
                          <a:ea typeface="+mn-ea"/>
                          <a:cs typeface="+mn-cs"/>
                        </a:rPr>
                        <a:t>）</a:t>
                      </a:r>
                      <a:endParaRPr lang="zh-CN" altLang="en-US" sz="1800" b="1" kern="1200" dirty="0">
                        <a:solidFill>
                          <a:schemeClr val="lt1"/>
                        </a:solidFill>
                        <a:latin typeface="+mn-lt"/>
                        <a:ea typeface="+mn-ea"/>
                        <a:cs typeface="+mn-cs"/>
                      </a:endParaRPr>
                    </a:p>
                  </a:txBody>
                  <a:tcPr/>
                </a:tc>
                <a:tc>
                  <a:txBody>
                    <a:bodyPr/>
                    <a:lstStyle/>
                    <a:p>
                      <a:pPr algn="ctr"/>
                      <a:r>
                        <a:rPr lang="zh-CN" altLang="en-US" sz="1800" b="1" kern="1200" dirty="0">
                          <a:solidFill>
                            <a:schemeClr val="lt1"/>
                          </a:solidFill>
                          <a:latin typeface="+mn-lt"/>
                          <a:ea typeface="+mn-ea"/>
                          <a:cs typeface="+mn-cs"/>
                        </a:rPr>
                        <a:t>（</a:t>
                      </a:r>
                      <a:r>
                        <a:rPr lang="en-US" altLang="zh-CN" sz="1800" b="1" kern="1200" dirty="0">
                          <a:solidFill>
                            <a:schemeClr val="lt1"/>
                          </a:solidFill>
                          <a:latin typeface="+mn-lt"/>
                          <a:ea typeface="+mn-ea"/>
                          <a:cs typeface="+mn-cs"/>
                        </a:rPr>
                        <a:t>1,2</a:t>
                      </a:r>
                      <a:r>
                        <a:rPr lang="zh-CN" altLang="en-US" sz="1800" b="1" kern="1200" dirty="0">
                          <a:solidFill>
                            <a:schemeClr val="lt1"/>
                          </a:solidFill>
                          <a:latin typeface="+mn-lt"/>
                          <a:ea typeface="+mn-ea"/>
                          <a:cs typeface="+mn-cs"/>
                        </a:rPr>
                        <a:t>）</a:t>
                      </a:r>
                      <a:endParaRPr lang="zh-CN" altLang="en-US" sz="1800" b="1" kern="1200" dirty="0">
                        <a:solidFill>
                          <a:schemeClr val="lt1"/>
                        </a:solidFill>
                        <a:latin typeface="+mn-lt"/>
                        <a:ea typeface="+mn-ea"/>
                        <a:cs typeface="+mn-cs"/>
                      </a:endParaRPr>
                    </a:p>
                  </a:txBody>
                  <a:tcPr/>
                </a:tc>
                <a:tc>
                  <a:txBody>
                    <a:bodyPr/>
                    <a:lstStyle/>
                    <a:p>
                      <a:pPr algn="ctr"/>
                      <a:r>
                        <a:rPr lang="zh-CN" altLang="en-US" sz="1800" b="1" kern="1200" dirty="0">
                          <a:solidFill>
                            <a:schemeClr val="lt1"/>
                          </a:solidFill>
                          <a:latin typeface="+mn-lt"/>
                          <a:ea typeface="+mn-ea"/>
                          <a:cs typeface="+mn-cs"/>
                        </a:rPr>
                        <a:t>（</a:t>
                      </a:r>
                      <a:r>
                        <a:rPr lang="en-US" altLang="zh-CN" sz="1800" b="1" kern="1200" dirty="0">
                          <a:solidFill>
                            <a:schemeClr val="lt1"/>
                          </a:solidFill>
                          <a:latin typeface="+mn-lt"/>
                          <a:ea typeface="+mn-ea"/>
                          <a:cs typeface="+mn-cs"/>
                        </a:rPr>
                        <a:t>1,3</a:t>
                      </a:r>
                      <a:r>
                        <a:rPr lang="zh-CN" altLang="en-US" sz="1800" b="1" kern="1200" dirty="0">
                          <a:solidFill>
                            <a:schemeClr val="lt1"/>
                          </a:solidFill>
                          <a:latin typeface="+mn-lt"/>
                          <a:ea typeface="+mn-ea"/>
                          <a:cs typeface="+mn-cs"/>
                        </a:rPr>
                        <a:t>）</a:t>
                      </a:r>
                      <a:endParaRPr lang="zh-CN" altLang="en-US" sz="1800" b="1" kern="1200" dirty="0">
                        <a:solidFill>
                          <a:schemeClr val="lt1"/>
                        </a:solidFill>
                        <a:latin typeface="+mn-lt"/>
                        <a:ea typeface="+mn-ea"/>
                        <a:cs typeface="+mn-cs"/>
                      </a:endParaRPr>
                    </a:p>
                  </a:txBody>
                  <a:tcPr/>
                </a:tc>
                <a:tc>
                  <a:txBody>
                    <a:bodyPr/>
                    <a:lstStyle/>
                    <a:p>
                      <a:pPr algn="ctr"/>
                      <a:r>
                        <a:rPr lang="zh-CN" altLang="en-US" sz="1800" b="1" kern="1200" dirty="0">
                          <a:solidFill>
                            <a:schemeClr val="lt1"/>
                          </a:solidFill>
                          <a:latin typeface="+mn-lt"/>
                          <a:ea typeface="+mn-ea"/>
                          <a:cs typeface="+mn-cs"/>
                        </a:rPr>
                        <a:t>（</a:t>
                      </a:r>
                      <a:r>
                        <a:rPr lang="en-US" altLang="zh-CN" sz="1800" b="1" kern="1200" dirty="0">
                          <a:solidFill>
                            <a:schemeClr val="lt1"/>
                          </a:solidFill>
                          <a:latin typeface="+mn-lt"/>
                          <a:ea typeface="+mn-ea"/>
                          <a:cs typeface="+mn-cs"/>
                        </a:rPr>
                        <a:t>1,4</a:t>
                      </a:r>
                      <a:r>
                        <a:rPr lang="zh-CN" altLang="en-US" sz="1800" b="1" kern="1200" dirty="0">
                          <a:solidFill>
                            <a:schemeClr val="lt1"/>
                          </a:solidFill>
                          <a:latin typeface="+mn-lt"/>
                          <a:ea typeface="+mn-ea"/>
                          <a:cs typeface="+mn-cs"/>
                        </a:rPr>
                        <a:t>）</a:t>
                      </a:r>
                      <a:endParaRPr lang="zh-CN" altLang="en-US" sz="1800" b="1" kern="1200" dirty="0">
                        <a:solidFill>
                          <a:schemeClr val="lt1"/>
                        </a:solidFill>
                        <a:latin typeface="+mn-lt"/>
                        <a:ea typeface="+mn-ea"/>
                        <a:cs typeface="+mn-cs"/>
                      </a:endParaRPr>
                    </a:p>
                  </a:txBody>
                  <a:tcPr/>
                </a:tc>
                <a:tc>
                  <a:txBody>
                    <a:bodyPr/>
                    <a:lstStyle/>
                    <a:p>
                      <a:pPr algn="ctr"/>
                      <a:r>
                        <a:rPr lang="zh-CN" altLang="en-US" sz="1800" b="1" kern="1200" dirty="0">
                          <a:solidFill>
                            <a:schemeClr val="lt1"/>
                          </a:solidFill>
                          <a:latin typeface="+mn-lt"/>
                          <a:ea typeface="+mn-ea"/>
                          <a:cs typeface="+mn-cs"/>
                        </a:rPr>
                        <a:t>（</a:t>
                      </a:r>
                      <a:r>
                        <a:rPr lang="en-US" altLang="zh-CN" sz="1800" b="1" kern="1200" dirty="0">
                          <a:solidFill>
                            <a:schemeClr val="lt1"/>
                          </a:solidFill>
                          <a:latin typeface="+mn-lt"/>
                          <a:ea typeface="+mn-ea"/>
                          <a:cs typeface="+mn-cs"/>
                        </a:rPr>
                        <a:t>1,5</a:t>
                      </a:r>
                      <a:r>
                        <a:rPr lang="zh-CN" altLang="en-US" sz="1800" b="1" kern="1200" dirty="0">
                          <a:solidFill>
                            <a:schemeClr val="lt1"/>
                          </a:solidFill>
                          <a:latin typeface="+mn-lt"/>
                          <a:ea typeface="+mn-ea"/>
                          <a:cs typeface="+mn-cs"/>
                        </a:rPr>
                        <a:t>）</a:t>
                      </a:r>
                      <a:endParaRPr lang="zh-CN" altLang="en-US" sz="1800" b="1" kern="1200" dirty="0">
                        <a:solidFill>
                          <a:schemeClr val="lt1"/>
                        </a:solidFill>
                        <a:latin typeface="+mn-lt"/>
                        <a:ea typeface="+mn-ea"/>
                        <a:cs typeface="+mn-cs"/>
                      </a:endParaRPr>
                    </a:p>
                  </a:txBody>
                  <a:tcPr/>
                </a:tc>
                <a:tc>
                  <a:txBody>
                    <a:bodyPr/>
                    <a:lstStyle/>
                    <a:p>
                      <a:pPr algn="ctr"/>
                      <a:r>
                        <a:rPr lang="zh-CN" altLang="en-US" sz="1800" b="1" kern="1200" dirty="0">
                          <a:solidFill>
                            <a:schemeClr val="lt1"/>
                          </a:solidFill>
                          <a:latin typeface="+mn-lt"/>
                          <a:ea typeface="+mn-ea"/>
                          <a:cs typeface="+mn-cs"/>
                        </a:rPr>
                        <a:t>（</a:t>
                      </a:r>
                      <a:r>
                        <a:rPr lang="en-US" altLang="zh-CN" sz="1800" b="1" kern="1200" dirty="0">
                          <a:solidFill>
                            <a:schemeClr val="lt1"/>
                          </a:solidFill>
                          <a:latin typeface="+mn-lt"/>
                          <a:ea typeface="+mn-ea"/>
                          <a:cs typeface="+mn-cs"/>
                        </a:rPr>
                        <a:t>1,6</a:t>
                      </a:r>
                      <a:r>
                        <a:rPr lang="zh-CN" altLang="en-US" sz="1800" b="1" kern="1200" dirty="0">
                          <a:solidFill>
                            <a:schemeClr val="lt1"/>
                          </a:solidFill>
                          <a:latin typeface="+mn-lt"/>
                          <a:ea typeface="+mn-ea"/>
                          <a:cs typeface="+mn-cs"/>
                        </a:rPr>
                        <a:t>）</a:t>
                      </a:r>
                      <a:endParaRPr lang="zh-CN" altLang="en-US" sz="1800" b="1" kern="1200" dirty="0">
                        <a:solidFill>
                          <a:schemeClr val="lt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1,7</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1,8</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r>
              <a:tr h="370840">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2,1</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2,2</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2,3</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2,4</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2,5</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2,6</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2, 7</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2, 8</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r>
              <a:tr h="370840">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3,1</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3,2</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3,3</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3,4</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3,5</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3,6</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3, 7</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3, 8</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r>
              <a:tr h="370840">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4,1</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4,2</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4,3</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4,4</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4,5</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4,6</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4, 7</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4, 8</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r>
              <a:tr h="370840">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5,1</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5,2</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5,3</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5,4</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5,5</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5,6</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5, 7</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5, 8</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r>
              <a:tr h="370840">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6,1</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6,2</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6,3</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6,4</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6,5</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algn="ct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6,6</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6, 7</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6, 8</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7,1</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7,2</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7,3</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7,4</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7,5</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7,6</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7,7</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7,8</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8,1</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8,2</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8,3</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8,4</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8,5</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8,6</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8, 7</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tx2"/>
                          </a:solidFill>
                          <a:latin typeface="+mn-lt"/>
                          <a:ea typeface="+mn-ea"/>
                          <a:cs typeface="+mn-cs"/>
                        </a:rPr>
                        <a:t>（</a:t>
                      </a:r>
                      <a:r>
                        <a:rPr lang="en-US" altLang="zh-CN" sz="1800" b="1" kern="1200" dirty="0">
                          <a:solidFill>
                            <a:schemeClr val="tx2"/>
                          </a:solidFill>
                          <a:latin typeface="+mn-lt"/>
                          <a:ea typeface="+mn-ea"/>
                          <a:cs typeface="+mn-cs"/>
                        </a:rPr>
                        <a:t>8, 8</a:t>
                      </a:r>
                      <a:r>
                        <a:rPr lang="zh-CN" altLang="en-US" sz="1800" b="1" kern="1200" dirty="0">
                          <a:solidFill>
                            <a:schemeClr val="tx2"/>
                          </a:solidFill>
                          <a:latin typeface="+mn-lt"/>
                          <a:ea typeface="+mn-ea"/>
                          <a:cs typeface="+mn-cs"/>
                        </a:rPr>
                        <a:t>）</a:t>
                      </a:r>
                      <a:endParaRPr lang="zh-CN" altLang="en-US" sz="1800" b="1" kern="1200" dirty="0">
                        <a:solidFill>
                          <a:schemeClr val="tx2"/>
                        </a:solidFill>
                        <a:latin typeface="+mn-lt"/>
                        <a:ea typeface="+mn-ea"/>
                        <a:cs typeface="+mn-cs"/>
                      </a:endParaRPr>
                    </a:p>
                  </a:txBody>
                  <a:tcPr/>
                </a:tc>
              </a:tr>
            </a:tbl>
          </a:graphicData>
        </a:graphic>
      </p:graphicFrame>
      <p:cxnSp>
        <p:nvCxnSpPr>
          <p:cNvPr id="8" name="直接连接符 7"/>
          <p:cNvCxnSpPr/>
          <p:nvPr/>
        </p:nvCxnSpPr>
        <p:spPr>
          <a:xfrm>
            <a:off x="1100341" y="3459996"/>
            <a:ext cx="8839202" cy="3202619"/>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直接连接符 8"/>
          <p:cNvCxnSpPr/>
          <p:nvPr/>
        </p:nvCxnSpPr>
        <p:spPr>
          <a:xfrm flipV="1">
            <a:off x="1104900" y="3468874"/>
            <a:ext cx="8868793" cy="3184864"/>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1033322" y="1303790"/>
            <a:ext cx="10123836" cy="3847207"/>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算法分析</a:t>
            </a:r>
            <a:r>
              <a:rPr lang="en-US" altLang="zh-CN" sz="2000" b="1" dirty="0">
                <a:solidFill>
                  <a:schemeClr val="accent2"/>
                </a:solidFill>
                <a:latin typeface="微软雅黑" panose="020B0503020204020204" pitchFamily="34" charset="-122"/>
                <a:ea typeface="微软雅黑" panose="020B0503020204020204" pitchFamily="34" charset="-122"/>
              </a:rPr>
              <a:t>】 </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a:lnSpc>
                <a:spcPct val="200000"/>
              </a:lnSpc>
              <a:spcBef>
                <a:spcPct val="5000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考虑每行有且仅有一个皇后，设一维数组Ａ</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[1..8]</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表示皇后的放置：第ｉ行皇后放在第ｊ列，用</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Ａ</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err="1">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j</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来表示，即下标是行数，内容是列数</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。例如：</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A[3]=5</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就表示第</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个皇后在第</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行第</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列上。</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200000"/>
              </a:lnSpc>
              <a:spcBef>
                <a:spcPct val="50000"/>
              </a:spcBef>
            </a:pP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b="1" dirty="0">
                <a:solidFill>
                  <a:schemeClr val="accent2"/>
                </a:solidFill>
              </a:rPr>
              <a:t>         </a:t>
            </a:r>
            <a:r>
              <a:rPr lang="en-US" altLang="zh-CN" b="1" dirty="0">
                <a:solidFill>
                  <a:schemeClr val="accent2"/>
                </a:solidFill>
                <a:latin typeface="微软雅黑" panose="020B0503020204020204" pitchFamily="34" charset="-122"/>
                <a:ea typeface="微软雅黑" panose="020B0503020204020204" pitchFamily="34" charset="-122"/>
              </a:rPr>
              <a:t>1                  2                  3                 4                  5                  6</a:t>
            </a:r>
            <a:endParaRPr lang="zh-CN" altLang="en-US" b="1" dirty="0">
              <a:solidFill>
                <a:schemeClr val="accent2"/>
              </a:solidFill>
              <a:latin typeface="微软雅黑" panose="020B0503020204020204" pitchFamily="34" charset="-122"/>
              <a:ea typeface="微软雅黑" panose="020B0503020204020204" pitchFamily="34" charset="-122"/>
            </a:endParaRPr>
          </a:p>
          <a:p>
            <a:endParaRPr lang="zh-CN" altLang="en-US" b="1" dirty="0">
              <a:solidFill>
                <a:schemeClr val="accent2"/>
              </a:solidFill>
            </a:endParaRPr>
          </a:p>
          <a:p>
            <a:endParaRPr lang="zh-CN" altLang="en-US" b="1" dirty="0">
              <a:solidFill>
                <a:schemeClr val="accent2"/>
              </a:solidFill>
            </a:endParaRPr>
          </a:p>
          <a:p>
            <a:endParaRPr lang="en-US" altLang="zh-CN" b="1" dirty="0"/>
          </a:p>
        </p:txBody>
      </p:sp>
      <p:graphicFrame>
        <p:nvGraphicFramePr>
          <p:cNvPr id="3" name="表格 2"/>
          <p:cNvGraphicFramePr>
            <a:graphicFrameLocks noGrp="1"/>
          </p:cNvGraphicFramePr>
          <p:nvPr/>
        </p:nvGraphicFramePr>
        <p:xfrm>
          <a:off x="1539907" y="3429000"/>
          <a:ext cx="8128002" cy="370840"/>
        </p:xfrm>
        <a:graphic>
          <a:graphicData uri="http://schemas.openxmlformats.org/drawingml/2006/table">
            <a:tbl>
              <a:tblPr firstRow="1" bandRow="1">
                <a:tableStyleId>{5C22544A-7EE6-4342-B048-85BDC9FD1C3A}</a:tableStyleId>
              </a:tblPr>
              <a:tblGrid>
                <a:gridCol w="1354667"/>
                <a:gridCol w="1354667"/>
                <a:gridCol w="1354667"/>
                <a:gridCol w="1354667"/>
                <a:gridCol w="1354667"/>
                <a:gridCol w="1354667"/>
              </a:tblGrid>
              <a:tr h="370840">
                <a:tc>
                  <a:txBody>
                    <a:bodyPr/>
                    <a:lstStyle/>
                    <a:p>
                      <a:pPr algn="ctr"/>
                      <a:r>
                        <a:rPr lang="en-US" altLang="zh-CN" sz="1800" b="1" kern="1200" dirty="0">
                          <a:solidFill>
                            <a:schemeClr val="lt1"/>
                          </a:solidFill>
                          <a:latin typeface="+mn-lt"/>
                          <a:ea typeface="+mn-ea"/>
                          <a:cs typeface="+mn-cs"/>
                        </a:rPr>
                        <a:t>2</a:t>
                      </a:r>
                      <a:endParaRPr lang="zh-CN" altLang="en-US" sz="1800" b="1" kern="1200" dirty="0">
                        <a:solidFill>
                          <a:schemeClr val="lt1"/>
                        </a:solidFill>
                        <a:latin typeface="+mn-lt"/>
                        <a:ea typeface="+mn-ea"/>
                        <a:cs typeface="+mn-cs"/>
                      </a:endParaRPr>
                    </a:p>
                  </a:txBody>
                  <a:tcPr/>
                </a:tc>
                <a:tc>
                  <a:txBody>
                    <a:bodyPr/>
                    <a:lstStyle/>
                    <a:p>
                      <a:pPr algn="ctr"/>
                      <a:r>
                        <a:rPr lang="en-US" altLang="zh-CN" sz="1800" b="1" kern="1200" dirty="0">
                          <a:solidFill>
                            <a:schemeClr val="lt1"/>
                          </a:solidFill>
                          <a:latin typeface="+mn-lt"/>
                          <a:ea typeface="+mn-ea"/>
                          <a:cs typeface="+mn-cs"/>
                        </a:rPr>
                        <a:t>5</a:t>
                      </a:r>
                      <a:endParaRPr lang="zh-CN" altLang="en-US" sz="1800" b="1" kern="1200" dirty="0">
                        <a:solidFill>
                          <a:schemeClr val="lt1"/>
                        </a:solidFill>
                        <a:latin typeface="+mn-lt"/>
                        <a:ea typeface="+mn-ea"/>
                        <a:cs typeface="+mn-cs"/>
                      </a:endParaRPr>
                    </a:p>
                  </a:txBody>
                  <a:tcPr/>
                </a:tc>
                <a:tc>
                  <a:txBody>
                    <a:bodyPr/>
                    <a:lstStyle/>
                    <a:p>
                      <a:pPr algn="ctr"/>
                      <a:r>
                        <a:rPr lang="en-US" altLang="zh-CN" sz="1800" b="1" kern="1200" dirty="0">
                          <a:solidFill>
                            <a:schemeClr val="lt1"/>
                          </a:solidFill>
                          <a:latin typeface="+mn-lt"/>
                          <a:ea typeface="+mn-ea"/>
                          <a:cs typeface="+mn-cs"/>
                        </a:rPr>
                        <a:t>4</a:t>
                      </a:r>
                      <a:endParaRPr lang="zh-CN" altLang="en-US" sz="1800" b="1" kern="1200" dirty="0">
                        <a:solidFill>
                          <a:schemeClr val="lt1"/>
                        </a:solidFill>
                        <a:latin typeface="+mn-lt"/>
                        <a:ea typeface="+mn-ea"/>
                        <a:cs typeface="+mn-cs"/>
                      </a:endParaRPr>
                    </a:p>
                  </a:txBody>
                  <a:tcPr/>
                </a:tc>
                <a:tc>
                  <a:txBody>
                    <a:bodyPr/>
                    <a:lstStyle/>
                    <a:p>
                      <a:pPr algn="ctr"/>
                      <a:r>
                        <a:rPr lang="en-US" altLang="zh-CN" sz="1800" b="1" kern="1200" dirty="0">
                          <a:solidFill>
                            <a:schemeClr val="lt1"/>
                          </a:solidFill>
                          <a:latin typeface="+mn-lt"/>
                          <a:ea typeface="+mn-ea"/>
                          <a:cs typeface="+mn-cs"/>
                        </a:rPr>
                        <a:t>1</a:t>
                      </a:r>
                      <a:endParaRPr lang="zh-CN" altLang="en-US" sz="1800" b="1" kern="1200" dirty="0">
                        <a:solidFill>
                          <a:schemeClr val="lt1"/>
                        </a:solidFill>
                        <a:latin typeface="+mn-lt"/>
                        <a:ea typeface="+mn-ea"/>
                        <a:cs typeface="+mn-cs"/>
                      </a:endParaRPr>
                    </a:p>
                  </a:txBody>
                  <a:tcPr/>
                </a:tc>
                <a:tc>
                  <a:txBody>
                    <a:bodyPr/>
                    <a:lstStyle/>
                    <a:p>
                      <a:pPr algn="ctr"/>
                      <a:r>
                        <a:rPr lang="en-US" altLang="zh-CN" sz="1800" b="1" kern="1200" dirty="0">
                          <a:solidFill>
                            <a:schemeClr val="lt1"/>
                          </a:solidFill>
                          <a:latin typeface="+mn-lt"/>
                          <a:ea typeface="+mn-ea"/>
                          <a:cs typeface="+mn-cs"/>
                        </a:rPr>
                        <a:t>6</a:t>
                      </a:r>
                      <a:endParaRPr lang="zh-CN" altLang="en-US" sz="1800" b="1" kern="1200" dirty="0">
                        <a:solidFill>
                          <a:schemeClr val="lt1"/>
                        </a:solidFill>
                        <a:latin typeface="+mn-lt"/>
                        <a:ea typeface="+mn-ea"/>
                        <a:cs typeface="+mn-cs"/>
                      </a:endParaRPr>
                    </a:p>
                  </a:txBody>
                  <a:tcPr/>
                </a:tc>
                <a:tc>
                  <a:txBody>
                    <a:bodyPr/>
                    <a:lstStyle/>
                    <a:p>
                      <a:pPr algn="ctr"/>
                      <a:r>
                        <a:rPr lang="en-US" altLang="zh-CN" sz="1800" b="1" kern="1200" dirty="0">
                          <a:solidFill>
                            <a:schemeClr val="lt1"/>
                          </a:solidFill>
                          <a:latin typeface="+mn-lt"/>
                          <a:ea typeface="+mn-ea"/>
                          <a:cs typeface="+mn-cs"/>
                        </a:rPr>
                        <a:t>3</a:t>
                      </a:r>
                      <a:endParaRPr lang="zh-CN" altLang="en-US" sz="1800" b="1" kern="1200" dirty="0">
                        <a:solidFill>
                          <a:schemeClr val="lt1"/>
                        </a:solidFill>
                        <a:latin typeface="+mn-lt"/>
                        <a:ea typeface="+mn-ea"/>
                        <a:cs typeface="+mn-cs"/>
                      </a:endParaRPr>
                    </a:p>
                  </a:txBody>
                  <a:tcPr/>
                </a:tc>
              </a:tr>
            </a:tbl>
          </a:graphicData>
        </a:graphic>
      </p:graphicFrame>
      <p:sp>
        <p:nvSpPr>
          <p:cNvPr id="5" name="矩形 4"/>
          <p:cNvSpPr/>
          <p:nvPr/>
        </p:nvSpPr>
        <p:spPr>
          <a:xfrm>
            <a:off x="1033322" y="4450629"/>
            <a:ext cx="10123836" cy="1670778"/>
          </a:xfrm>
          <a:prstGeom prst="rect">
            <a:avLst/>
          </a:prstGeom>
        </p:spPr>
        <p:txBody>
          <a:bodyPr wrap="square">
            <a:spAutoFit/>
          </a:bodyPr>
          <a:lstStyle/>
          <a:p>
            <a:pPr>
              <a:lnSpc>
                <a:spcPct val="20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判断皇后是否安全，即检查同一列、同一对角线是否已有皇后，建立</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标志数组ｂ</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[1..8]</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控制</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同一列只能有一个皇后</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，若两皇后在同一对角线上，则其行列坐标之和或行列坐标之差相等，故亦可建立标志数组</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ｃ</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[1..16]</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、ｄ</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[-7..7]</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控制同一对角线上只能有一个皇后</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1038687" y="1250739"/>
            <a:ext cx="10046895" cy="6340197"/>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伪算法</a:t>
            </a:r>
            <a:r>
              <a:rPr lang="en-US" altLang="zh-CN" sz="2000" b="1" dirty="0">
                <a:solidFill>
                  <a:schemeClr val="accent2"/>
                </a:solidFill>
                <a:latin typeface="微软雅黑" panose="020B0503020204020204" pitchFamily="34" charset="-122"/>
                <a:ea typeface="微软雅黑" panose="020B0503020204020204" pitchFamily="34" charset="-122"/>
              </a:rPr>
              <a:t>】 </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放置第ｉ个</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行</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皇后的算法为：</a:t>
            </a:r>
            <a:endParaRPr lang="zh-CN" altLang="en-US" sz="1600" dirty="0">
              <a:latin typeface="微软雅黑" panose="020B0503020204020204" pitchFamily="34" charset="-122"/>
              <a:ea typeface="微软雅黑" panose="020B0503020204020204" pitchFamily="34" charset="-122"/>
            </a:endParaRPr>
          </a:p>
          <a:p>
            <a:pPr>
              <a:lnSpc>
                <a:spcPct val="150000"/>
              </a:lnSpc>
            </a:pPr>
            <a:r>
              <a:rPr lang="en-US" altLang="zh-CN" sz="1600" dirty="0">
                <a:latin typeface="微软雅黑" panose="020B0503020204020204" pitchFamily="34" charset="-122"/>
                <a:ea typeface="微软雅黑" panose="020B0503020204020204" pitchFamily="34" charset="-122"/>
              </a:rPr>
              <a:t>int search(</a:t>
            </a:r>
            <a:r>
              <a:rPr lang="en-US" altLang="zh-CN" sz="1600" dirty="0" err="1">
                <a:latin typeface="微软雅黑" panose="020B0503020204020204" pitchFamily="34" charset="-122"/>
                <a:ea typeface="微软雅黑" panose="020B0503020204020204" pitchFamily="34" charset="-122"/>
              </a:rPr>
              <a:t>i</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查找第几个皇后</a:t>
            </a:r>
            <a:endParaRPr lang="zh-CN" altLang="en-US"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int j;</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for (</a:t>
            </a:r>
            <a:r>
              <a:rPr lang="zh-CN" altLang="en-US" sz="1600" dirty="0">
                <a:latin typeface="微软雅黑" panose="020B0503020204020204" pitchFamily="34" charset="-122"/>
                <a:ea typeface="微软雅黑" panose="020B0503020204020204" pitchFamily="34" charset="-122"/>
              </a:rPr>
              <a:t>第</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个皇后的位置</a:t>
            </a:r>
            <a:r>
              <a:rPr lang="en-US" altLang="zh-CN" sz="1600" dirty="0">
                <a:latin typeface="微软雅黑" panose="020B0503020204020204" pitchFamily="34" charset="-122"/>
                <a:ea typeface="微软雅黑" panose="020B0503020204020204" pitchFamily="34" charset="-122"/>
              </a:rPr>
              <a:t>j=1;j&lt;=8;j++ )	  //</a:t>
            </a:r>
            <a:r>
              <a:rPr lang="zh-CN" altLang="en-US" sz="1600" dirty="0">
                <a:latin typeface="微软雅黑" panose="020B0503020204020204" pitchFamily="34" charset="-122"/>
                <a:ea typeface="微软雅黑" panose="020B0503020204020204" pitchFamily="34" charset="-122"/>
              </a:rPr>
              <a:t>在本行的</a:t>
            </a:r>
            <a:r>
              <a:rPr lang="en-US" altLang="zh-CN" sz="1600" dirty="0">
                <a:latin typeface="微软雅黑" panose="020B0503020204020204" pitchFamily="34" charset="-122"/>
                <a:ea typeface="微软雅黑" panose="020B0503020204020204" pitchFamily="34" charset="-122"/>
              </a:rPr>
              <a:t>8</a:t>
            </a:r>
            <a:r>
              <a:rPr lang="zh-CN" altLang="en-US" sz="1600" dirty="0">
                <a:latin typeface="微软雅黑" panose="020B0503020204020204" pitchFamily="34" charset="-122"/>
                <a:ea typeface="微软雅黑" panose="020B0503020204020204" pitchFamily="34" charset="-122"/>
              </a:rPr>
              <a:t>列中去试</a:t>
            </a:r>
            <a:endParaRPr lang="zh-CN" altLang="en-US"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if (</a:t>
            </a:r>
            <a:r>
              <a:rPr lang="zh-CN" altLang="en-US" sz="1600" dirty="0">
                <a:latin typeface="微软雅黑" panose="020B0503020204020204" pitchFamily="34" charset="-122"/>
                <a:ea typeface="微软雅黑" panose="020B0503020204020204" pitchFamily="34" charset="-122"/>
              </a:rPr>
              <a:t>本列以对角线允许放置皇后</a:t>
            </a:r>
            <a:r>
              <a:rPr lang="en-US" altLang="zh-CN"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放置第</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个皇后；</a:t>
            </a:r>
            <a:endParaRPr lang="zh-CN" altLang="en-US"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对放置皇后的位置进行标记；</a:t>
            </a:r>
            <a:endParaRPr lang="zh-CN" altLang="en-US"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if (</a:t>
            </a:r>
            <a:r>
              <a:rPr lang="en-US" altLang="zh-CN" sz="1600" dirty="0" err="1">
                <a:latin typeface="微软雅黑" panose="020B0503020204020204" pitchFamily="34" charset="-122"/>
                <a:ea typeface="微软雅黑" panose="020B0503020204020204" pitchFamily="34" charset="-122"/>
              </a:rPr>
              <a:t>i</a:t>
            </a:r>
            <a:r>
              <a:rPr lang="en-US" altLang="zh-CN" sz="1600" dirty="0">
                <a:latin typeface="微软雅黑" panose="020B0503020204020204" pitchFamily="34" charset="-122"/>
                <a:ea typeface="微软雅黑" panose="020B0503020204020204" pitchFamily="34" charset="-122"/>
              </a:rPr>
              <a:t>==8) </a:t>
            </a:r>
            <a:r>
              <a:rPr lang="zh-CN" altLang="en-US" sz="1600" dirty="0">
                <a:latin typeface="微软雅黑" panose="020B0503020204020204" pitchFamily="34" charset="-122"/>
                <a:ea typeface="微软雅黑" panose="020B0503020204020204" pitchFamily="34" charset="-122"/>
              </a:rPr>
              <a:t>输出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已经放完个皇后</a:t>
            </a:r>
            <a:endParaRPr lang="zh-CN" altLang="en-US"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else search(i+1)</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放置第</a:t>
            </a:r>
            <a:r>
              <a:rPr lang="en-US" altLang="zh-CN" sz="1600" dirty="0">
                <a:latin typeface="微软雅黑" panose="020B0503020204020204" pitchFamily="34" charset="-122"/>
                <a:ea typeface="微软雅黑" panose="020B0503020204020204" pitchFamily="34" charset="-122"/>
              </a:rPr>
              <a:t>i+1</a:t>
            </a:r>
            <a:r>
              <a:rPr lang="zh-CN" altLang="en-US" sz="1600" dirty="0">
                <a:latin typeface="微软雅黑" panose="020B0503020204020204" pitchFamily="34" charset="-122"/>
                <a:ea typeface="微软雅黑" panose="020B0503020204020204" pitchFamily="34" charset="-122"/>
              </a:rPr>
              <a:t>个皇后</a:t>
            </a:r>
            <a:endParaRPr lang="zh-CN" altLang="en-US"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对放置皇后的位置</a:t>
            </a:r>
            <a:r>
              <a:rPr lang="zh-CN" altLang="en-US" sz="1600" b="1" dirty="0">
                <a:solidFill>
                  <a:schemeClr val="accent2"/>
                </a:solidFill>
                <a:latin typeface="微软雅黑" panose="020B0503020204020204" pitchFamily="34" charset="-122"/>
                <a:ea typeface="微软雅黑" panose="020B0503020204020204" pitchFamily="34" charset="-122"/>
              </a:rPr>
              <a:t>释放标记</a:t>
            </a:r>
            <a:r>
              <a:rPr lang="zh-CN" altLang="en-US" sz="1600" dirty="0">
                <a:latin typeface="微软雅黑" panose="020B0503020204020204" pitchFamily="34" charset="-122"/>
                <a:ea typeface="微软雅黑" panose="020B0503020204020204" pitchFamily="34" charset="-122"/>
              </a:rPr>
              <a:t>，尝试下一个位置是否可行；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回溯</a:t>
            </a:r>
            <a:endParaRPr lang="zh-CN" altLang="en-US"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zh-CN" dirty="0"/>
          </a:p>
        </p:txBody>
      </p:sp>
      <p:sp>
        <p:nvSpPr>
          <p:cNvPr id="4" name="文本框 3"/>
          <p:cNvSpPr txBox="1"/>
          <p:nvPr/>
        </p:nvSpPr>
        <p:spPr>
          <a:xfrm>
            <a:off x="878889" y="2052399"/>
            <a:ext cx="4398505" cy="3539430"/>
          </a:xfrm>
          <a:prstGeom prst="rect">
            <a:avLst/>
          </a:prstGeom>
          <a:noFill/>
        </p:spPr>
        <p:txBody>
          <a:bodyPr wrap="square" rtlCol="0" anchor="t">
            <a:spAutoFit/>
          </a:bodyPr>
          <a:lstStyle/>
          <a:p>
            <a:r>
              <a:rPr lang="zh-CN" altLang="en-US" sz="1600" dirty="0">
                <a:latin typeface="Times New Roman" panose="02020603050405020304" pitchFamily="18" charset="0"/>
                <a:cs typeface="Times New Roman" panose="02020603050405020304" pitchFamily="18" charset="0"/>
              </a:rPr>
              <a:t>#include&lt;</a:t>
            </a:r>
            <a:r>
              <a:rPr lang="en-US" altLang="zh-CN" sz="1600" dirty="0">
                <a:latin typeface="Times New Roman" panose="02020603050405020304" pitchFamily="18" charset="0"/>
                <a:cs typeface="Times New Roman" panose="02020603050405020304" pitchFamily="18" charset="0"/>
              </a:rPr>
              <a:t>bits/</a:t>
            </a:r>
            <a:r>
              <a:rPr lang="en-US" altLang="zh-CN" sz="1600" dirty="0" err="1">
                <a:latin typeface="Times New Roman" panose="02020603050405020304" pitchFamily="18" charset="0"/>
                <a:cs typeface="Times New Roman" panose="02020603050405020304" pitchFamily="18" charset="0"/>
              </a:rPr>
              <a:t>stdc</a:t>
            </a:r>
            <a:r>
              <a:rPr lang="en-US" altLang="zh-CN" sz="1600" dirty="0">
                <a:latin typeface="Times New Roman" panose="02020603050405020304" pitchFamily="18" charset="0"/>
                <a:cs typeface="Times New Roman" panose="02020603050405020304" pitchFamily="18" charset="0"/>
              </a:rPr>
              <a:t>++.h</a:t>
            </a:r>
            <a:r>
              <a:rPr lang="zh-CN" altLang="en-US" sz="1600" dirty="0">
                <a:latin typeface="Times New Roman" panose="02020603050405020304" pitchFamily="18" charset="0"/>
                <a:cs typeface="Times New Roman" panose="02020603050405020304" pitchFamily="18" charset="0"/>
              </a:rPr>
              <a:t>&gt;</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using namespace std;</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bool d[100]={0},b[100]={0},c[100]={0};</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int sum=0,a[100];</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int print()</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int i;</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sum++;                                      //方案数累加1</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cout&lt;&lt;"sum="&lt;&lt;sum&lt;&lt;endl;</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for (i=1;i&lt;=8;i++)                   //输出一种方案</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cout&lt;&lt;setw(4)&lt;&lt;a[i];</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cout&lt;&lt;endl; </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endParaRPr lang="en-US" altLang="zh-CN" sz="1600" dirty="0">
              <a:latin typeface="Times New Roman" panose="02020603050405020304" pitchFamily="18" charset="0"/>
              <a:cs typeface="Times New Roman" panose="02020603050405020304" pitchFamily="18" charset="0"/>
            </a:endParaRPr>
          </a:p>
        </p:txBody>
      </p:sp>
      <p:sp>
        <p:nvSpPr>
          <p:cNvPr id="3" name="矩形 2"/>
          <p:cNvSpPr/>
          <p:nvPr/>
        </p:nvSpPr>
        <p:spPr>
          <a:xfrm>
            <a:off x="878889" y="1367439"/>
            <a:ext cx="1579278" cy="369332"/>
          </a:xfrm>
          <a:prstGeom prst="rect">
            <a:avLst/>
          </a:prstGeom>
        </p:spPr>
        <p:txBody>
          <a:bodyPr wrap="none">
            <a:spAutoFit/>
          </a:bodyPr>
          <a:lstStyle/>
          <a:p>
            <a:r>
              <a:rPr lang="en-US" altLang="zh-CN" b="1" dirty="0">
                <a:solidFill>
                  <a:schemeClr val="accent2"/>
                </a:solidFill>
              </a:rPr>
              <a:t>【</a:t>
            </a:r>
            <a:r>
              <a:rPr lang="zh-CN" altLang="en-US" b="1" dirty="0">
                <a:solidFill>
                  <a:schemeClr val="accent2"/>
                </a:solidFill>
              </a:rPr>
              <a:t>参考程序</a:t>
            </a:r>
            <a:r>
              <a:rPr lang="en-US" altLang="zh-CN" b="1" dirty="0">
                <a:solidFill>
                  <a:schemeClr val="accent2"/>
                </a:solidFill>
              </a:rPr>
              <a:t>】</a:t>
            </a:r>
            <a:endParaRPr lang="en-US" altLang="zh-CN" b="1" dirty="0">
              <a:solidFill>
                <a:schemeClr val="accent2"/>
              </a:solidFill>
            </a:endParaRPr>
          </a:p>
        </p:txBody>
      </p:sp>
      <p:cxnSp>
        <p:nvCxnSpPr>
          <p:cNvPr id="7" name="直接连接符 6"/>
          <p:cNvCxnSpPr/>
          <p:nvPr/>
        </p:nvCxnSpPr>
        <p:spPr>
          <a:xfrm>
            <a:off x="5101048" y="1367439"/>
            <a:ext cx="0" cy="4909351"/>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矩形 5"/>
          <p:cNvSpPr/>
          <p:nvPr/>
        </p:nvSpPr>
        <p:spPr>
          <a:xfrm>
            <a:off x="5421772" y="1389404"/>
            <a:ext cx="6321738" cy="6000750"/>
          </a:xfrm>
          <a:prstGeom prst="rect">
            <a:avLst/>
          </a:prstGeom>
        </p:spPr>
        <p:txBody>
          <a:bodyPr wrap="square">
            <a:spAutoFit/>
          </a:bodyPr>
          <a:lstStyle/>
          <a:p>
            <a:r>
              <a:rPr lang="en-US" altLang="zh-CN" sz="1600" dirty="0">
                <a:latin typeface="Times New Roman" panose="02020603050405020304" pitchFamily="18" charset="0"/>
                <a:cs typeface="Times New Roman" panose="02020603050405020304" pitchFamily="18" charset="0"/>
              </a:rPr>
              <a:t>void </a:t>
            </a:r>
            <a:r>
              <a:rPr lang="zh-CN" altLang="en-US" sz="1600" dirty="0">
                <a:latin typeface="Times New Roman" panose="02020603050405020304" pitchFamily="18" charset="0"/>
                <a:cs typeface="Times New Roman" panose="02020603050405020304" pitchFamily="18" charset="0"/>
              </a:rPr>
              <a:t> search(int i)</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int j;</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for (j=1;j&lt;=8;j++)             //每个皇后都有8位置(列)可以试放</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if ((!b[j])&amp;&amp;(!c[i+j])&amp;&amp;(!d[i-j+7]))   //寻找放置皇后的位置</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//由于C++不能操作负数组，因此考虑加7</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                                //放置皇后,建立相应标志值</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a[i]=j;                          //摆放皇后</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b[j]=1;                          //宣布占领第j列</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c[i+j]=1;                        //占领两个对角线</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d[i-j+7]=1;</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if (i==8)   print();             //８个皇后都放置好,输出</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else search(i+1);            //继续递归放置下一个皇后</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b[j]=0;                 //递归返回即为回溯一步,当前皇后退出</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c[i+j]=0;</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d[i-j+7]=0;</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int main()</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search(1);         //从第1个皇后开始放置</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endParaRPr lang="zh-CN" altLang="en-US" sz="1600" dirty="0">
              <a:latin typeface="Times New Roman" panose="02020603050405020304" pitchFamily="18" charset="0"/>
              <a:cs typeface="Times New Roman" panose="02020603050405020304" pitchFamily="18" charset="0"/>
            </a:endParaRPr>
          </a:p>
          <a:p>
            <a:endParaRPr lang="zh-CN" altLang="en-US" sz="16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1033323" y="1473609"/>
            <a:ext cx="10123836" cy="4770537"/>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跳马问题</a:t>
            </a:r>
            <a:endPar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5*5</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格的棋盘上，有一只中国象棋的马，从（</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）点出发，按日字跳马，它可以朝</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8</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个方向跳，但不允许出界或跳到已跳过的格子上，要求在跳遍整个棋盘。</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输出前</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个方案及总方案数。</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输出格式示例：</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1    16   21   10   25</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20  11   24   15    22</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17  2     19   6     9</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12  7     4     23   14</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3   18    13   8     5</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zh-CN" dirty="0"/>
          </a:p>
        </p:txBody>
      </p:sp>
      <p:sp>
        <p:nvSpPr>
          <p:cNvPr id="4" name="文本框 3"/>
          <p:cNvSpPr txBox="1"/>
          <p:nvPr/>
        </p:nvSpPr>
        <p:spPr>
          <a:xfrm>
            <a:off x="830248" y="1680348"/>
            <a:ext cx="4398505" cy="5262979"/>
          </a:xfrm>
          <a:prstGeom prst="rect">
            <a:avLst/>
          </a:prstGeom>
          <a:noFill/>
        </p:spPr>
        <p:txBody>
          <a:bodyPr wrap="square" rtlCol="0" anchor="t">
            <a:spAutoFit/>
          </a:bodyPr>
          <a:lstStyle/>
          <a:p>
            <a:r>
              <a:rPr lang="en-US" altLang="zh-CN" sz="1600" dirty="0">
                <a:latin typeface="Times New Roman" panose="02020603050405020304" pitchFamily="18" charset="0"/>
                <a:cs typeface="Times New Roman" panose="02020603050405020304" pitchFamily="18" charset="0"/>
              </a:rPr>
              <a:t>#include&lt;bits/</a:t>
            </a:r>
            <a:r>
              <a:rPr lang="en-US" altLang="zh-CN" sz="1600" dirty="0" err="1">
                <a:latin typeface="Times New Roman" panose="02020603050405020304" pitchFamily="18" charset="0"/>
                <a:cs typeface="Times New Roman" panose="02020603050405020304" pitchFamily="18" charset="0"/>
              </a:rPr>
              <a:t>stdc</a:t>
            </a:r>
            <a:r>
              <a:rPr lang="en-US" altLang="zh-CN" sz="1600" dirty="0">
                <a:latin typeface="Times New Roman" panose="02020603050405020304" pitchFamily="18" charset="0"/>
                <a:cs typeface="Times New Roman" panose="02020603050405020304" pitchFamily="18" charset="0"/>
              </a:rPr>
              <a:t>++.h&gt;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using namespace </a:t>
            </a:r>
            <a:r>
              <a:rPr lang="en-US" altLang="zh-CN" sz="1600" dirty="0" err="1">
                <a:latin typeface="Times New Roman" panose="02020603050405020304" pitchFamily="18" charset="0"/>
                <a:cs typeface="Times New Roman" panose="02020603050405020304" pitchFamily="18" charset="0"/>
              </a:rPr>
              <a:t>std</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int u[8]={1,2,2,1,-1,-2,-2,-1},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v[8]={-2,-1,1,2,2,1,-1,-2};</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int a[100][100]={0},</a:t>
            </a:r>
            <a:r>
              <a:rPr lang="en-US" altLang="zh-CN" sz="1600" dirty="0" err="1">
                <a:latin typeface="Times New Roman" panose="02020603050405020304" pitchFamily="18" charset="0"/>
                <a:cs typeface="Times New Roman" panose="02020603050405020304" pitchFamily="18" charset="0"/>
              </a:rPr>
              <a:t>num</a:t>
            </a:r>
            <a:r>
              <a:rPr lang="en-US" altLang="zh-CN" sz="1600" dirty="0">
                <a:latin typeface="Times New Roman" panose="02020603050405020304" pitchFamily="18" charset="0"/>
                <a:cs typeface="Times New Roman" panose="02020603050405020304" pitchFamily="18" charset="0"/>
              </a:rPr>
              <a:t>=0;                 //</a:t>
            </a:r>
            <a:r>
              <a:rPr lang="zh-CN" altLang="en-US" sz="1600" dirty="0">
                <a:latin typeface="Times New Roman" panose="02020603050405020304" pitchFamily="18" charset="0"/>
                <a:cs typeface="Times New Roman" panose="02020603050405020304" pitchFamily="18" charset="0"/>
              </a:rPr>
              <a:t>记每一步走在棋盘的哪一格和棋盘的每一格有</a:t>
            </a:r>
            <a:endParaRPr lang="zh-CN" altLang="en-US"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bool b[100][100]={0};</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int print()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num</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统计总方案</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if (</a:t>
            </a:r>
            <a:r>
              <a:rPr lang="en-US" altLang="zh-CN" sz="1600" dirty="0" err="1">
                <a:latin typeface="Times New Roman" panose="02020603050405020304" pitchFamily="18" charset="0"/>
                <a:cs typeface="Times New Roman" panose="02020603050405020304" pitchFamily="18" charset="0"/>
              </a:rPr>
              <a:t>num</a:t>
            </a:r>
            <a:r>
              <a:rPr lang="en-US" altLang="zh-CN" sz="1600" dirty="0">
                <a:latin typeface="Times New Roman" panose="02020603050405020304" pitchFamily="18" charset="0"/>
                <a:cs typeface="Times New Roman" panose="02020603050405020304" pitchFamily="18" charset="0"/>
              </a:rPr>
              <a:t>&lt;=5)                      //</a:t>
            </a:r>
            <a:r>
              <a:rPr lang="zh-CN" altLang="en-US" sz="1600" dirty="0">
                <a:latin typeface="Times New Roman" panose="02020603050405020304" pitchFamily="18" charset="0"/>
                <a:cs typeface="Times New Roman" panose="02020603050405020304" pitchFamily="18" charset="0"/>
              </a:rPr>
              <a:t>打印出前</a:t>
            </a:r>
            <a:r>
              <a:rPr lang="en-US" altLang="zh-CN" sz="1600" dirty="0">
                <a:latin typeface="Times New Roman" panose="02020603050405020304" pitchFamily="18" charset="0"/>
                <a:cs typeface="Times New Roman" panose="02020603050405020304" pitchFamily="18" charset="0"/>
              </a:rPr>
              <a:t>5</a:t>
            </a:r>
            <a:r>
              <a:rPr lang="zh-CN" altLang="en-US" sz="1600" dirty="0">
                <a:latin typeface="Times New Roman" panose="02020603050405020304" pitchFamily="18" charset="0"/>
                <a:cs typeface="Times New Roman" panose="02020603050405020304" pitchFamily="18" charset="0"/>
              </a:rPr>
              <a:t>种方案</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for (int k=1;k&lt;=5;k++)          //</a:t>
            </a:r>
            <a:r>
              <a:rPr lang="zh-CN" altLang="en-US" sz="1600" dirty="0">
                <a:latin typeface="Times New Roman" panose="02020603050405020304" pitchFamily="18" charset="0"/>
                <a:cs typeface="Times New Roman" panose="02020603050405020304" pitchFamily="18" charset="0"/>
              </a:rPr>
              <a:t>打印本次方案</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for (int </a:t>
            </a:r>
            <a:r>
              <a:rPr lang="en-US" altLang="zh-CN" sz="1600" dirty="0" err="1">
                <a:latin typeface="Times New Roman" panose="02020603050405020304" pitchFamily="18" charset="0"/>
                <a:cs typeface="Times New Roman" panose="02020603050405020304" pitchFamily="18" charset="0"/>
              </a:rPr>
              <a:t>kk</a:t>
            </a:r>
            <a:r>
              <a:rPr lang="en-US" altLang="zh-CN" sz="1600" dirty="0">
                <a:latin typeface="Times New Roman" panose="02020603050405020304" pitchFamily="18" charset="0"/>
                <a:cs typeface="Times New Roman" panose="02020603050405020304" pitchFamily="18" charset="0"/>
              </a:rPr>
              <a:t>=1;kk&lt;=5;kk++)</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cout</a:t>
            </a:r>
            <a:r>
              <a:rPr lang="en-US" altLang="zh-CN" sz="1600" dirty="0">
                <a:latin typeface="Times New Roman" panose="02020603050405020304" pitchFamily="18" charset="0"/>
                <a:cs typeface="Times New Roman" panose="02020603050405020304" pitchFamily="18" charset="0"/>
              </a:rPr>
              <a:t>&lt;&lt;</a:t>
            </a:r>
            <a:r>
              <a:rPr lang="en-US" altLang="zh-CN" sz="1600" dirty="0" err="1">
                <a:latin typeface="Times New Roman" panose="02020603050405020304" pitchFamily="18" charset="0"/>
                <a:cs typeface="Times New Roman" panose="02020603050405020304" pitchFamily="18" charset="0"/>
              </a:rPr>
              <a:t>setw</a:t>
            </a:r>
            <a:r>
              <a:rPr lang="en-US" altLang="zh-CN" sz="1600" dirty="0">
                <a:latin typeface="Times New Roman" panose="02020603050405020304" pitchFamily="18" charset="0"/>
                <a:cs typeface="Times New Roman" panose="02020603050405020304" pitchFamily="18" charset="0"/>
              </a:rPr>
              <a:t>(5)&lt;&lt;a[k][</a:t>
            </a:r>
            <a:r>
              <a:rPr lang="en-US" altLang="zh-CN" sz="1600" dirty="0" err="1">
                <a:latin typeface="Times New Roman" panose="02020603050405020304" pitchFamily="18" charset="0"/>
                <a:cs typeface="Times New Roman" panose="02020603050405020304" pitchFamily="18" charset="0"/>
              </a:rPr>
              <a:t>kk</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cout</a:t>
            </a:r>
            <a:r>
              <a:rPr lang="en-US" altLang="zh-CN" sz="1600" dirty="0">
                <a:latin typeface="Times New Roman" panose="02020603050405020304" pitchFamily="18" charset="0"/>
                <a:cs typeface="Times New Roman" panose="02020603050405020304" pitchFamily="18" charset="0"/>
              </a:rPr>
              <a:t>&lt;&lt;</a:t>
            </a:r>
            <a:r>
              <a:rPr lang="en-US" altLang="zh-CN" sz="1600" dirty="0" err="1">
                <a:latin typeface="Times New Roman" panose="02020603050405020304" pitchFamily="18" charset="0"/>
                <a:cs typeface="Times New Roman" panose="02020603050405020304" pitchFamily="18" charset="0"/>
              </a:rPr>
              <a:t>endl</a:t>
            </a:r>
            <a:r>
              <a:rPr lang="en-US" altLang="zh-CN"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endParaRPr lang="en-US" altLang="zh-CN" sz="1600" dirty="0">
              <a:latin typeface="Times New Roman" panose="02020603050405020304" pitchFamily="18" charset="0"/>
              <a:cs typeface="Times New Roman" panose="02020603050405020304" pitchFamily="18" charset="0"/>
            </a:endParaRPr>
          </a:p>
        </p:txBody>
      </p:sp>
      <p:sp>
        <p:nvSpPr>
          <p:cNvPr id="3" name="矩形 2"/>
          <p:cNvSpPr/>
          <p:nvPr/>
        </p:nvSpPr>
        <p:spPr>
          <a:xfrm>
            <a:off x="863949" y="1306865"/>
            <a:ext cx="1579278" cy="369332"/>
          </a:xfrm>
          <a:prstGeom prst="rect">
            <a:avLst/>
          </a:prstGeom>
        </p:spPr>
        <p:txBody>
          <a:bodyPr wrap="none">
            <a:spAutoFit/>
          </a:bodyPr>
          <a:lstStyle/>
          <a:p>
            <a:r>
              <a:rPr lang="en-US" altLang="zh-CN" b="1" dirty="0">
                <a:solidFill>
                  <a:schemeClr val="accent2"/>
                </a:solidFill>
              </a:rPr>
              <a:t>【</a:t>
            </a:r>
            <a:r>
              <a:rPr lang="zh-CN" altLang="en-US" b="1" dirty="0">
                <a:solidFill>
                  <a:schemeClr val="accent2"/>
                </a:solidFill>
              </a:rPr>
              <a:t>参考程序</a:t>
            </a:r>
            <a:r>
              <a:rPr lang="en-US" altLang="zh-CN" b="1" dirty="0">
                <a:solidFill>
                  <a:schemeClr val="accent2"/>
                </a:solidFill>
              </a:rPr>
              <a:t>】</a:t>
            </a:r>
            <a:endParaRPr lang="en-US" altLang="zh-CN" b="1" dirty="0">
              <a:solidFill>
                <a:schemeClr val="accent2"/>
              </a:solidFill>
            </a:endParaRPr>
          </a:p>
        </p:txBody>
      </p:sp>
      <p:cxnSp>
        <p:nvCxnSpPr>
          <p:cNvPr id="7" name="直接连接符 6"/>
          <p:cNvCxnSpPr/>
          <p:nvPr/>
        </p:nvCxnSpPr>
        <p:spPr>
          <a:xfrm>
            <a:off x="5196098" y="1306865"/>
            <a:ext cx="0" cy="5329066"/>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矩形 5"/>
          <p:cNvSpPr/>
          <p:nvPr/>
        </p:nvSpPr>
        <p:spPr>
          <a:xfrm>
            <a:off x="5356458" y="1306865"/>
            <a:ext cx="7157760" cy="5755422"/>
          </a:xfrm>
          <a:prstGeom prst="rect">
            <a:avLst/>
          </a:prstGeom>
        </p:spPr>
        <p:txBody>
          <a:bodyPr wrap="square">
            <a:spAutoFit/>
          </a:bodyPr>
          <a:lstStyle/>
          <a:p>
            <a:r>
              <a:rPr lang="en-US" altLang="zh-CN" sz="1600" dirty="0">
                <a:latin typeface="Times New Roman" panose="02020603050405020304" pitchFamily="18" charset="0"/>
                <a:cs typeface="Times New Roman" panose="02020603050405020304" pitchFamily="18" charset="0"/>
              </a:rPr>
              <a:t>void search(int </a:t>
            </a:r>
            <a:r>
              <a:rPr lang="en-US" altLang="zh-CN" sz="1600" dirty="0" err="1">
                <a:latin typeface="Times New Roman" panose="02020603050405020304" pitchFamily="18" charset="0"/>
                <a:cs typeface="Times New Roman" panose="02020603050405020304" pitchFamily="18" charset="0"/>
              </a:rPr>
              <a:t>i,int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j,int</a:t>
            </a:r>
            <a:r>
              <a:rPr lang="en-US" altLang="zh-CN" sz="1600" dirty="0">
                <a:latin typeface="Times New Roman" panose="02020603050405020304" pitchFamily="18" charset="0"/>
                <a:cs typeface="Times New Roman" panose="02020603050405020304" pitchFamily="18" charset="0"/>
              </a:rPr>
              <a:t> n)</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int </a:t>
            </a:r>
            <a:r>
              <a:rPr lang="en-US" altLang="zh-CN" sz="1600" dirty="0" err="1">
                <a:latin typeface="Times New Roman" panose="02020603050405020304" pitchFamily="18" charset="0"/>
                <a:cs typeface="Times New Roman" panose="02020603050405020304" pitchFamily="18" charset="0"/>
              </a:rPr>
              <a:t>k,x,y</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这三个变量一定要定义局部变量</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if (n&gt;25) {print();return ;}         //</a:t>
            </a:r>
            <a:r>
              <a:rPr lang="zh-CN" altLang="en-US" sz="1600" dirty="0">
                <a:latin typeface="Times New Roman" panose="02020603050405020304" pitchFamily="18" charset="0"/>
                <a:cs typeface="Times New Roman" panose="02020603050405020304" pitchFamily="18" charset="0"/>
              </a:rPr>
              <a:t>达到最大规模打印、统计方案</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for (k=0;k&lt;=7;k++)                    //</a:t>
            </a:r>
            <a:r>
              <a:rPr lang="zh-CN" altLang="en-US" sz="1600" dirty="0">
                <a:latin typeface="Times New Roman" panose="02020603050405020304" pitchFamily="18" charset="0"/>
                <a:cs typeface="Times New Roman" panose="02020603050405020304" pitchFamily="18" charset="0"/>
              </a:rPr>
              <a:t>试遍</a:t>
            </a:r>
            <a:r>
              <a:rPr lang="en-US" altLang="zh-CN" sz="1600" dirty="0">
                <a:latin typeface="Times New Roman" panose="02020603050405020304" pitchFamily="18" charset="0"/>
                <a:cs typeface="Times New Roman" panose="02020603050405020304" pitchFamily="18" charset="0"/>
              </a:rPr>
              <a:t>8</a:t>
            </a:r>
            <a:r>
              <a:rPr lang="zh-CN" altLang="en-US" sz="1600" dirty="0">
                <a:latin typeface="Times New Roman" panose="02020603050405020304" pitchFamily="18" charset="0"/>
                <a:cs typeface="Times New Roman" panose="02020603050405020304" pitchFamily="18" charset="0"/>
              </a:rPr>
              <a:t>个方向</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x=</a:t>
            </a:r>
            <a:r>
              <a:rPr lang="en-US" altLang="zh-CN" sz="1600" dirty="0" err="1">
                <a:latin typeface="Times New Roman" panose="02020603050405020304" pitchFamily="18" charset="0"/>
                <a:cs typeface="Times New Roman" panose="02020603050405020304" pitchFamily="18" charset="0"/>
              </a:rPr>
              <a:t>i+u</a:t>
            </a:r>
            <a:r>
              <a:rPr lang="en-US" altLang="zh-CN" sz="1600" dirty="0">
                <a:latin typeface="Times New Roman" panose="02020603050405020304" pitchFamily="18" charset="0"/>
                <a:cs typeface="Times New Roman" panose="02020603050405020304" pitchFamily="18" charset="0"/>
              </a:rPr>
              <a:t>[k];y=</a:t>
            </a:r>
            <a:r>
              <a:rPr lang="en-US" altLang="zh-CN" sz="1600" dirty="0" err="1">
                <a:latin typeface="Times New Roman" panose="02020603050405020304" pitchFamily="18" charset="0"/>
                <a:cs typeface="Times New Roman" panose="02020603050405020304" pitchFamily="18" charset="0"/>
              </a:rPr>
              <a:t>j+v</a:t>
            </a:r>
            <a:r>
              <a:rPr lang="en-US" altLang="zh-CN" sz="1600" dirty="0">
                <a:latin typeface="Times New Roman" panose="02020603050405020304" pitchFamily="18" charset="0"/>
                <a:cs typeface="Times New Roman" panose="02020603050405020304" pitchFamily="18" charset="0"/>
              </a:rPr>
              <a:t>[k];                   //</a:t>
            </a:r>
            <a:r>
              <a:rPr lang="zh-CN" altLang="en-US" sz="1600" dirty="0">
                <a:latin typeface="Times New Roman" panose="02020603050405020304" pitchFamily="18" charset="0"/>
                <a:cs typeface="Times New Roman" panose="02020603050405020304" pitchFamily="18" charset="0"/>
              </a:rPr>
              <a:t>走此方向，得到的新坐标</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if (x&lt;=5&amp;&amp;x&gt;=1&amp;&amp;y&lt;=5&amp;&amp;y&gt;=1&amp;&amp;(!b[x][y]))</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如果新坐标在棋盘上，并且这一格可以走</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b[x][y]=1;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a[x][y]=n;</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search(x,y,n+1);            //</a:t>
            </a:r>
            <a:r>
              <a:rPr lang="zh-CN" altLang="en-US" sz="1600" dirty="0">
                <a:latin typeface="Times New Roman" panose="02020603050405020304" pitchFamily="18" charset="0"/>
                <a:cs typeface="Times New Roman" panose="02020603050405020304" pitchFamily="18" charset="0"/>
              </a:rPr>
              <a:t>从</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x,y</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去搜下一步该如何走</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b[x][y]=0;</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int main()</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a[1][1]=1;b[1][1]=1;                            //</a:t>
            </a:r>
            <a:r>
              <a:rPr lang="zh-CN" altLang="en-US" sz="1600" dirty="0">
                <a:latin typeface="Times New Roman" panose="02020603050405020304" pitchFamily="18" charset="0"/>
                <a:cs typeface="Times New Roman" panose="02020603050405020304" pitchFamily="18" charset="0"/>
              </a:rPr>
              <a:t>从</a:t>
            </a:r>
            <a:r>
              <a:rPr lang="en-US" altLang="zh-CN" sz="1600" dirty="0">
                <a:latin typeface="Times New Roman" panose="02020603050405020304" pitchFamily="18" charset="0"/>
                <a:cs typeface="Times New Roman" panose="02020603050405020304" pitchFamily="18" charset="0"/>
              </a:rPr>
              <a:t>(1,1)</a:t>
            </a:r>
            <a:r>
              <a:rPr lang="zh-CN" altLang="en-US" sz="1600" dirty="0">
                <a:latin typeface="Times New Roman" panose="02020603050405020304" pitchFamily="18" charset="0"/>
                <a:cs typeface="Times New Roman" panose="02020603050405020304" pitchFamily="18" charset="0"/>
              </a:rPr>
              <a:t>第一步开始走</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search(1,1,2);                                    //</a:t>
            </a:r>
            <a:r>
              <a:rPr lang="zh-CN" altLang="en-US" sz="1600" dirty="0">
                <a:latin typeface="Times New Roman" panose="02020603050405020304" pitchFamily="18" charset="0"/>
                <a:cs typeface="Times New Roman" panose="02020603050405020304" pitchFamily="18" charset="0"/>
              </a:rPr>
              <a:t>从</a:t>
            </a:r>
            <a:r>
              <a:rPr lang="en-US" altLang="zh-CN" sz="1600" dirty="0">
                <a:latin typeface="Times New Roman" panose="02020603050405020304" pitchFamily="18" charset="0"/>
                <a:cs typeface="Times New Roman" panose="02020603050405020304" pitchFamily="18" charset="0"/>
              </a:rPr>
              <a:t>(1,1)</a:t>
            </a:r>
            <a:r>
              <a:rPr lang="zh-CN" altLang="en-US" sz="1600" dirty="0">
                <a:latin typeface="Times New Roman" panose="02020603050405020304" pitchFamily="18" charset="0"/>
                <a:cs typeface="Times New Roman" panose="02020603050405020304" pitchFamily="18" charset="0"/>
              </a:rPr>
              <a:t>开始搜第</a:t>
            </a:r>
            <a:r>
              <a:rPr lang="en-US" altLang="zh-CN" sz="1600" dirty="0">
                <a:latin typeface="Times New Roman" panose="02020603050405020304" pitchFamily="18" charset="0"/>
                <a:cs typeface="Times New Roman" panose="02020603050405020304" pitchFamily="18" charset="0"/>
              </a:rPr>
              <a:t>2</a:t>
            </a:r>
            <a:r>
              <a:rPr lang="zh-CN" altLang="en-US" sz="1600" dirty="0">
                <a:latin typeface="Times New Roman" panose="02020603050405020304" pitchFamily="18" charset="0"/>
                <a:cs typeface="Times New Roman" panose="02020603050405020304" pitchFamily="18" charset="0"/>
              </a:rPr>
              <a:t>步该怎样走</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cout</a:t>
            </a:r>
            <a:r>
              <a:rPr lang="en-US" altLang="zh-CN" sz="1600" dirty="0">
                <a:latin typeface="Times New Roman" panose="02020603050405020304" pitchFamily="18" charset="0"/>
                <a:cs typeface="Times New Roman" panose="02020603050405020304" pitchFamily="18" charset="0"/>
              </a:rPr>
              <a:t>&lt;&lt;</a:t>
            </a:r>
            <a:r>
              <a:rPr lang="en-US" altLang="zh-CN" sz="1600" dirty="0" err="1">
                <a:latin typeface="Times New Roman" panose="02020603050405020304" pitchFamily="18" charset="0"/>
                <a:cs typeface="Times New Roman" panose="02020603050405020304" pitchFamily="18" charset="0"/>
              </a:rPr>
              <a:t>num</a:t>
            </a:r>
            <a:r>
              <a:rPr lang="en-US" altLang="zh-CN" sz="1600" dirty="0">
                <a:latin typeface="Times New Roman" panose="02020603050405020304" pitchFamily="18" charset="0"/>
                <a:cs typeface="Times New Roman" panose="02020603050405020304" pitchFamily="18" charset="0"/>
              </a:rPr>
              <a:t>&lt;&lt;</a:t>
            </a:r>
            <a:r>
              <a:rPr lang="en-US" altLang="zh-CN" sz="1600" dirty="0" err="1">
                <a:latin typeface="Times New Roman" panose="02020603050405020304" pitchFamily="18" charset="0"/>
                <a:cs typeface="Times New Roman" panose="02020603050405020304" pitchFamily="18" charset="0"/>
              </a:rPr>
              <a:t>endl</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输出总方案</a:t>
            </a:r>
            <a:r>
              <a:rPr lang="en-US" altLang="zh-CN" sz="1600" dirty="0">
                <a:latin typeface="Times New Roman" panose="02020603050405020304" pitchFamily="18" charset="0"/>
                <a:cs typeface="Times New Roman" panose="02020603050405020304" pitchFamily="18" charset="0"/>
              </a:rPr>
              <a:t>(304)</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endParaRPr lang="zh-CN" altLang="en-US" sz="16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961746" y="1318022"/>
            <a:ext cx="10123836" cy="5539978"/>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图书分配</a:t>
            </a:r>
            <a:endPar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 老师有</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n(1&lt;=n&lt;=10)</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本书要分给参加竞赛的</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个学生。如：</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E</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共</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本书要分给参加培训的简、温、张、赵、韩</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位学生，每人只能选</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本。教师事先让每个人将自己喜爱的书填写在如下的表中，然后根据他们填写的表来分配书本。请你设计一个程序帮助教师求出可能的分配方案，使每个学生都满意。</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输入格式：第一行一个数</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（学生的个数，书的数量）</a:t>
            </a:r>
            <a:endParaRPr lang="zh-CN" altLang="en-US"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    以下共</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行，每行</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或</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（由空格隔开），第</a:t>
            </a:r>
            <a:r>
              <a:rPr lang="en-US" altLang="zh-CN" sz="1400" dirty="0" err="1">
                <a:latin typeface="微软雅黑" panose="020B0503020204020204" pitchFamily="34" charset="-122"/>
                <a:ea typeface="微软雅黑" panose="020B0503020204020204" pitchFamily="34" charset="-122"/>
                <a:cs typeface="Times New Roman" panose="02020603050405020304" pitchFamily="18" charset="0"/>
              </a:rPr>
              <a:t>i</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行数据表示第</a:t>
            </a:r>
            <a:r>
              <a:rPr lang="en-US" altLang="zh-CN" sz="1400" dirty="0" err="1">
                <a:latin typeface="微软雅黑" panose="020B0503020204020204" pitchFamily="34" charset="-122"/>
                <a:ea typeface="微软雅黑" panose="020B0503020204020204" pitchFamily="34" charset="-122"/>
                <a:cs typeface="Times New Roman" panose="02020603050405020304" pitchFamily="18" charset="0"/>
              </a:rPr>
              <a:t>i</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个同学对所有书的喜爱情况。</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表示不喜欢该书，</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表示喜欢该书。</a:t>
            </a:r>
            <a:endParaRPr lang="zh-CN" altLang="en-US"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输出格式：依次输出每个学生分到的书号</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输出所有可行的方案</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和总共有多少种可行方案。</a:t>
            </a:r>
            <a:endParaRPr lang="zh-CN" altLang="en-US"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样例：</a:t>
            </a:r>
            <a:endParaRPr lang="zh-CN" altLang="en-US"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输入：</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book.in               </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0 0 1 1 0</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1 1 0 0 0</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0 1 1 0 0</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0 0 0 1 0</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0 1 0 0 1</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5" name="Group 4"/>
          <p:cNvGraphicFramePr>
            <a:graphicFrameLocks noGrp="1"/>
          </p:cNvGraphicFramePr>
          <p:nvPr/>
        </p:nvGraphicFramePr>
        <p:xfrm>
          <a:off x="5832928" y="4156031"/>
          <a:ext cx="4176713" cy="2449513"/>
        </p:xfrm>
        <a:graphic>
          <a:graphicData uri="http://schemas.openxmlformats.org/drawingml/2006/table">
            <a:tbl>
              <a:tblPr/>
              <a:tblGrid>
                <a:gridCol w="554038"/>
                <a:gridCol w="677862"/>
                <a:gridCol w="754063"/>
                <a:gridCol w="752475"/>
                <a:gridCol w="755650"/>
                <a:gridCol w="682625"/>
              </a:tblGrid>
              <a:tr h="368300">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1700" b="0" i="0" u="none" strike="noStrike" cap="none" normalizeH="0" baseline="0">
                          <a:ln>
                            <a:noFill/>
                          </a:ln>
                          <a:solidFill>
                            <a:schemeClr val="bg1"/>
                          </a:solidFill>
                          <a:effectLst/>
                          <a:latin typeface="宋体" panose="02010600030101010101" pitchFamily="2" charset="-122"/>
                          <a:ea typeface="黑体" panose="02010609060101010101" pitchFamily="49" charset="-122"/>
                          <a:cs typeface="Times New Roman" panose="02020603050405020304" pitchFamily="18" charset="0"/>
                        </a:rPr>
                        <a:t>A</a:t>
                      </a:r>
                      <a:endParaRPr kumimoji="0" lang="en-US"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1700" b="0" i="0" u="none" strike="noStrike" cap="none" normalizeH="0" baseline="0">
                          <a:ln>
                            <a:noFill/>
                          </a:ln>
                          <a:solidFill>
                            <a:schemeClr val="bg1"/>
                          </a:solidFill>
                          <a:effectLst/>
                          <a:latin typeface="宋体" panose="02010600030101010101" pitchFamily="2" charset="-122"/>
                          <a:ea typeface="黑体" panose="02010609060101010101" pitchFamily="49" charset="-122"/>
                          <a:cs typeface="Times New Roman" panose="02020603050405020304" pitchFamily="18" charset="0"/>
                        </a:rPr>
                        <a:t>B</a:t>
                      </a:r>
                      <a:endParaRPr kumimoji="0" lang="en-US"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1700" b="0" i="0" u="none" strike="noStrike" cap="none" normalizeH="0" baseline="0">
                          <a:ln>
                            <a:noFill/>
                          </a:ln>
                          <a:solidFill>
                            <a:schemeClr val="bg1"/>
                          </a:solidFill>
                          <a:effectLst/>
                          <a:latin typeface="宋体" panose="02010600030101010101" pitchFamily="2" charset="-122"/>
                          <a:ea typeface="黑体" panose="02010609060101010101" pitchFamily="49" charset="-122"/>
                          <a:cs typeface="Times New Roman" panose="02020603050405020304" pitchFamily="18" charset="0"/>
                        </a:rPr>
                        <a:t>C</a:t>
                      </a:r>
                      <a:endParaRPr kumimoji="0" lang="en-US"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1700" b="0" i="0" u="none" strike="noStrike" cap="none" normalizeH="0" baseline="0">
                          <a:ln>
                            <a:noFill/>
                          </a:ln>
                          <a:solidFill>
                            <a:schemeClr val="bg1"/>
                          </a:solidFill>
                          <a:effectLst/>
                          <a:latin typeface="宋体" panose="02010600030101010101" pitchFamily="2" charset="-122"/>
                          <a:ea typeface="黑体" panose="02010609060101010101" pitchFamily="49" charset="-122"/>
                          <a:cs typeface="Times New Roman" panose="02020603050405020304" pitchFamily="18" charset="0"/>
                        </a:rPr>
                        <a:t>D</a:t>
                      </a:r>
                      <a:endParaRPr kumimoji="0" lang="en-US"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1700" b="0" i="0" u="none" strike="noStrike" cap="none" normalizeH="0" baseline="0">
                          <a:ln>
                            <a:noFill/>
                          </a:ln>
                          <a:solidFill>
                            <a:schemeClr val="bg1"/>
                          </a:solidFill>
                          <a:effectLst/>
                          <a:latin typeface="宋体" panose="02010600030101010101" pitchFamily="2" charset="-122"/>
                          <a:ea typeface="黑体" panose="02010609060101010101" pitchFamily="49" charset="-122"/>
                          <a:cs typeface="Times New Roman" panose="02020603050405020304" pitchFamily="18" charset="0"/>
                        </a:rPr>
                        <a:t>E</a:t>
                      </a:r>
                      <a:endParaRPr kumimoji="0" lang="en-US"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r h="415925">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zh-CN" altLang="zh-CN" sz="1700" b="0" i="0" u="none" strike="noStrike" cap="none" normalizeH="0" baseline="0">
                          <a:ln>
                            <a:noFill/>
                          </a:ln>
                          <a:solidFill>
                            <a:schemeClr val="bg1"/>
                          </a:solidFill>
                          <a:effectLst/>
                          <a:latin typeface="宋体" panose="02010600030101010101" pitchFamily="2" charset="-122"/>
                          <a:ea typeface="黑体" panose="02010609060101010101" pitchFamily="49" charset="-122"/>
                          <a:cs typeface="Times New Roman" panose="02020603050405020304" pitchFamily="18" charset="0"/>
                        </a:rPr>
                        <a:t>简</a:t>
                      </a: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dirty="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2000" b="0" i="0" u="none" strike="noStrike" cap="none" normalizeH="0" baseline="0">
                          <a:ln>
                            <a:noFill/>
                          </a:ln>
                          <a:solidFill>
                            <a:schemeClr val="bg1"/>
                          </a:solidFill>
                          <a:effectLst/>
                          <a:latin typeface="Arial" panose="020B0604020202020204" pitchFamily="34" charset="0"/>
                          <a:ea typeface="黑体" panose="02010609060101010101" pitchFamily="49" charset="-122"/>
                        </a:rPr>
                        <a:t>√</a:t>
                      </a:r>
                      <a:endParaRPr kumimoji="0" lang="en-US" altLang="zh-CN" sz="20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2000" b="0" i="0" u="none" strike="noStrike" cap="none" normalizeH="0" baseline="0" dirty="0">
                          <a:ln>
                            <a:noFill/>
                          </a:ln>
                          <a:solidFill>
                            <a:schemeClr val="bg1"/>
                          </a:solidFill>
                          <a:effectLst/>
                          <a:latin typeface="Arial" panose="020B0604020202020204" pitchFamily="34" charset="0"/>
                          <a:ea typeface="黑体" panose="02010609060101010101" pitchFamily="49" charset="-122"/>
                        </a:rPr>
                        <a:t>√</a:t>
                      </a:r>
                      <a:endParaRPr kumimoji="0" lang="en-US" altLang="zh-CN" sz="2000" b="0" i="0" u="none" strike="noStrike" cap="none" normalizeH="0" baseline="0" dirty="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r h="415925">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zh-CN" altLang="zh-CN" sz="1700" b="0" i="0" u="none" strike="noStrike" cap="none" normalizeH="0" baseline="0">
                          <a:ln>
                            <a:noFill/>
                          </a:ln>
                          <a:solidFill>
                            <a:schemeClr val="bg1"/>
                          </a:solidFill>
                          <a:effectLst/>
                          <a:latin typeface="宋体" panose="02010600030101010101" pitchFamily="2" charset="-122"/>
                          <a:ea typeface="黑体" panose="02010609060101010101" pitchFamily="49" charset="-122"/>
                          <a:cs typeface="Times New Roman" panose="02020603050405020304" pitchFamily="18" charset="0"/>
                        </a:rPr>
                        <a:t>温</a:t>
                      </a: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2000" b="0" i="0" u="none" strike="noStrike" cap="none" normalizeH="0" baseline="0" dirty="0">
                          <a:ln>
                            <a:noFill/>
                          </a:ln>
                          <a:solidFill>
                            <a:schemeClr val="bg1"/>
                          </a:solidFill>
                          <a:effectLst/>
                          <a:latin typeface="Arial" panose="020B0604020202020204" pitchFamily="34" charset="0"/>
                          <a:ea typeface="黑体" panose="02010609060101010101" pitchFamily="49" charset="-122"/>
                        </a:rPr>
                        <a:t>√</a:t>
                      </a:r>
                      <a:endParaRPr kumimoji="0" lang="en-US" altLang="zh-CN" sz="2000" b="0" i="0" u="none" strike="noStrike" cap="none" normalizeH="0" baseline="0" dirty="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2000" b="0" i="0" u="none" strike="noStrike" cap="none" normalizeH="0" baseline="0">
                          <a:ln>
                            <a:noFill/>
                          </a:ln>
                          <a:solidFill>
                            <a:schemeClr val="bg1"/>
                          </a:solidFill>
                          <a:effectLst/>
                          <a:latin typeface="Arial" panose="020B0604020202020204" pitchFamily="34" charset="0"/>
                          <a:ea typeface="黑体" panose="02010609060101010101" pitchFamily="49" charset="-122"/>
                        </a:rPr>
                        <a:t>√</a:t>
                      </a:r>
                      <a:endParaRPr kumimoji="0" lang="en-US" altLang="zh-CN" sz="20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r h="415925">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zh-CN" altLang="zh-CN" sz="1700" b="0" i="0" u="none" strike="noStrike" cap="none" normalizeH="0" baseline="0">
                          <a:ln>
                            <a:noFill/>
                          </a:ln>
                          <a:solidFill>
                            <a:schemeClr val="bg1"/>
                          </a:solidFill>
                          <a:effectLst/>
                          <a:latin typeface="宋体" panose="02010600030101010101" pitchFamily="2" charset="-122"/>
                          <a:ea typeface="黑体" panose="02010609060101010101" pitchFamily="49" charset="-122"/>
                          <a:cs typeface="Times New Roman" panose="02020603050405020304" pitchFamily="18" charset="0"/>
                        </a:rPr>
                        <a:t>张</a:t>
                      </a: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2000" b="0" i="0" u="none" strike="noStrike" cap="none" normalizeH="0" baseline="0">
                          <a:ln>
                            <a:noFill/>
                          </a:ln>
                          <a:solidFill>
                            <a:schemeClr val="bg1"/>
                          </a:solidFill>
                          <a:effectLst/>
                          <a:latin typeface="Arial" panose="020B0604020202020204" pitchFamily="34" charset="0"/>
                          <a:ea typeface="黑体" panose="02010609060101010101" pitchFamily="49" charset="-122"/>
                        </a:rPr>
                        <a:t>√</a:t>
                      </a:r>
                      <a:endParaRPr kumimoji="0" lang="en-US" altLang="zh-CN" sz="20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2000" b="0" i="0" u="none" strike="noStrike" cap="none" normalizeH="0" baseline="0">
                          <a:ln>
                            <a:noFill/>
                          </a:ln>
                          <a:solidFill>
                            <a:schemeClr val="bg1"/>
                          </a:solidFill>
                          <a:effectLst/>
                          <a:latin typeface="Arial" panose="020B0604020202020204" pitchFamily="34" charset="0"/>
                          <a:ea typeface="黑体" panose="02010609060101010101" pitchFamily="49" charset="-122"/>
                        </a:rPr>
                        <a:t>√</a:t>
                      </a:r>
                      <a:endParaRPr kumimoji="0" lang="en-US" altLang="zh-CN" sz="20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r h="415925">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zh-CN" altLang="zh-CN" sz="1700" b="0" i="0" u="none" strike="noStrike" cap="none" normalizeH="0" baseline="0">
                          <a:ln>
                            <a:noFill/>
                          </a:ln>
                          <a:solidFill>
                            <a:schemeClr val="bg1"/>
                          </a:solidFill>
                          <a:effectLst/>
                          <a:latin typeface="宋体" panose="02010600030101010101" pitchFamily="2" charset="-122"/>
                          <a:ea typeface="黑体" panose="02010609060101010101" pitchFamily="49" charset="-122"/>
                          <a:cs typeface="Times New Roman" panose="02020603050405020304" pitchFamily="18" charset="0"/>
                        </a:rPr>
                        <a:t>赵</a:t>
                      </a: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2000" b="0" i="0" u="none" strike="noStrike" cap="none" normalizeH="0" baseline="0">
                          <a:ln>
                            <a:noFill/>
                          </a:ln>
                          <a:solidFill>
                            <a:schemeClr val="bg1"/>
                          </a:solidFill>
                          <a:effectLst/>
                          <a:latin typeface="Arial" panose="020B0604020202020204" pitchFamily="34" charset="0"/>
                          <a:ea typeface="黑体" panose="02010609060101010101" pitchFamily="49" charset="-122"/>
                        </a:rPr>
                        <a:t>√</a:t>
                      </a:r>
                      <a:endParaRPr kumimoji="0" lang="en-US" altLang="zh-CN" sz="20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r h="417513">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zh-CN" altLang="zh-CN" sz="1700" b="0" i="0" u="none" strike="noStrike" cap="none" normalizeH="0" baseline="0">
                          <a:ln>
                            <a:noFill/>
                          </a:ln>
                          <a:solidFill>
                            <a:schemeClr val="bg1"/>
                          </a:solidFill>
                          <a:effectLst/>
                          <a:latin typeface="宋体" panose="02010600030101010101" pitchFamily="2" charset="-122"/>
                          <a:ea typeface="黑体" panose="02010609060101010101" pitchFamily="49" charset="-122"/>
                          <a:cs typeface="Times New Roman" panose="02020603050405020304" pitchFamily="18" charset="0"/>
                        </a:rPr>
                        <a:t>韩</a:t>
                      </a: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2000" b="0" i="0" u="none" strike="noStrike" cap="none" normalizeH="0" baseline="0">
                          <a:ln>
                            <a:noFill/>
                          </a:ln>
                          <a:solidFill>
                            <a:schemeClr val="bg1"/>
                          </a:solidFill>
                          <a:effectLst/>
                          <a:latin typeface="Arial" panose="020B0604020202020204" pitchFamily="34" charset="0"/>
                          <a:ea typeface="黑体" panose="02010609060101010101" pitchFamily="49" charset="-122"/>
                        </a:rPr>
                        <a:t>√</a:t>
                      </a:r>
                      <a:endParaRPr kumimoji="0" lang="en-US" altLang="zh-CN" sz="20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pPr>
                      <a:endParaRPr kumimoji="0" lang="zh-CN" altLang="zh-CN" sz="1700" b="0" i="0" u="none" strike="noStrike" cap="none" normalizeH="0" baseline="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accent1"/>
                        </a:buClr>
                        <a:buSzPct val="80000"/>
                        <a:buFont typeface="Wingdings 2" panose="05020102010507070707" pitchFamily="18" charset="2"/>
                        <a:defRPr sz="2600">
                          <a:solidFill>
                            <a:schemeClr val="tx1"/>
                          </a:solidFill>
                          <a:latin typeface="Arial" panose="020B0604020202020204" pitchFamily="34" charset="0"/>
                          <a:ea typeface="黑体" panose="02010609060101010101" pitchFamily="49" charset="-122"/>
                        </a:defRPr>
                      </a:lvl1pPr>
                      <a:lvl2pPr>
                        <a:spcBef>
                          <a:spcPct val="20000"/>
                        </a:spcBef>
                        <a:buClr>
                          <a:schemeClr val="accent1"/>
                        </a:buClr>
                        <a:buSzPct val="90000"/>
                        <a:buFont typeface="Wingdings 2" panose="05020102010507070707" pitchFamily="18" charset="2"/>
                        <a:defRPr sz="2200">
                          <a:solidFill>
                            <a:schemeClr val="tx1"/>
                          </a:solidFill>
                          <a:latin typeface="Arial" panose="020B0604020202020204" pitchFamily="34" charset="0"/>
                          <a:ea typeface="黑体" panose="02010609060101010101" pitchFamily="49" charset="-122"/>
                        </a:defRPr>
                      </a:lvl2pPr>
                      <a:lvl3pPr>
                        <a:spcBef>
                          <a:spcPct val="20000"/>
                        </a:spcBef>
                        <a:buClr>
                          <a:schemeClr val="accent2"/>
                        </a:buClr>
                        <a:buSzPct val="85000"/>
                        <a:buFont typeface="Arial" panose="020B0604020202020204" pitchFamily="34" charset="0"/>
                        <a:defRPr sz="2000">
                          <a:solidFill>
                            <a:schemeClr val="tx1"/>
                          </a:solidFill>
                          <a:latin typeface="Arial" panose="020B0604020202020204" pitchFamily="34" charset="0"/>
                          <a:ea typeface="黑体" panose="02010609060101010101" pitchFamily="49" charset="-122"/>
                        </a:defRPr>
                      </a:lvl3pPr>
                      <a:lvl4pPr>
                        <a:spcBef>
                          <a:spcPct val="20000"/>
                        </a:spcBef>
                        <a:buClr>
                          <a:srgbClr val="8D89A4"/>
                        </a:buClr>
                        <a:buSzPct val="90000"/>
                        <a:buFont typeface="Wingdings 2" panose="05020102010507070707" pitchFamily="18" charset="2"/>
                        <a:defRPr>
                          <a:solidFill>
                            <a:schemeClr val="tx1"/>
                          </a:solidFill>
                          <a:latin typeface="Arial" panose="020B0604020202020204" pitchFamily="34" charset="0"/>
                          <a:ea typeface="黑体" panose="02010609060101010101" pitchFamily="49" charset="-122"/>
                        </a:defRPr>
                      </a:lvl4pPr>
                      <a:lvl5pPr>
                        <a:spcBef>
                          <a:spcPct val="20000"/>
                        </a:spcBef>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buClr>
                          <a:srgbClr val="748560"/>
                        </a:buClr>
                        <a:buSzPct val="100000"/>
                        <a:buFont typeface="Arial" panose="020B0604020202020204" pitchFamily="34" charset="0"/>
                        <a:defRPr>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2" panose="05020102010507070707" pitchFamily="18" charset="2"/>
                        <a:buNone/>
                      </a:pPr>
                      <a:r>
                        <a:rPr kumimoji="0" lang="en-US" altLang="zh-CN" sz="2000" b="0" i="0" u="none" strike="noStrike" cap="none" normalizeH="0" baseline="0" dirty="0">
                          <a:ln>
                            <a:noFill/>
                          </a:ln>
                          <a:solidFill>
                            <a:schemeClr val="bg1"/>
                          </a:solidFill>
                          <a:effectLst/>
                          <a:latin typeface="Arial" panose="020B0604020202020204" pitchFamily="34" charset="0"/>
                          <a:ea typeface="黑体" panose="02010609060101010101" pitchFamily="49" charset="-122"/>
                        </a:rPr>
                        <a:t>√</a:t>
                      </a:r>
                      <a:endParaRPr kumimoji="0" lang="en-US" altLang="zh-CN" sz="2000" b="0" i="0" u="none" strike="noStrike" cap="none" normalizeH="0" baseline="0" dirty="0">
                        <a:ln>
                          <a:noFill/>
                        </a:ln>
                        <a:solidFill>
                          <a:schemeClr val="bg1"/>
                        </a:solidFill>
                        <a:effectLst/>
                        <a:latin typeface="Arial" panose="020B0604020202020204" pitchFamily="34" charset="0"/>
                        <a:ea typeface="黑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bl>
          </a:graphicData>
        </a:graphic>
      </p:graphicFrame>
      <p:sp>
        <p:nvSpPr>
          <p:cNvPr id="3" name="矩形 2"/>
          <p:cNvSpPr/>
          <p:nvPr/>
        </p:nvSpPr>
        <p:spPr>
          <a:xfrm>
            <a:off x="3634014" y="4278667"/>
            <a:ext cx="2662284" cy="1384995"/>
          </a:xfrm>
          <a:prstGeom prst="rect">
            <a:avLst/>
          </a:prstGeom>
        </p:spPr>
        <p:txBody>
          <a:bodyPr wrap="square">
            <a:spAutoFit/>
          </a:bodyPr>
          <a:lstStyle/>
          <a:p>
            <a:pPr>
              <a:lnSpc>
                <a:spcPct val="200000"/>
              </a:lnSpc>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输出：</a:t>
            </a:r>
            <a:r>
              <a:rPr lang="en-US" altLang="zh-CN" sz="1400" dirty="0" err="1">
                <a:latin typeface="微软雅黑" panose="020B0503020204020204" pitchFamily="34" charset="-122"/>
                <a:ea typeface="微软雅黑" panose="020B0503020204020204" pitchFamily="34" charset="-122"/>
                <a:cs typeface="Times New Roman" panose="02020603050405020304" pitchFamily="18" charset="0"/>
              </a:rPr>
              <a:t>book.out</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20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3 1 2 4 5</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20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zh-CN" dirty="0"/>
          </a:p>
        </p:txBody>
      </p:sp>
      <p:sp>
        <p:nvSpPr>
          <p:cNvPr id="4" name="文本框 3"/>
          <p:cNvSpPr txBox="1"/>
          <p:nvPr/>
        </p:nvSpPr>
        <p:spPr>
          <a:xfrm>
            <a:off x="1104900" y="1653108"/>
            <a:ext cx="4806277" cy="5509200"/>
          </a:xfrm>
          <a:prstGeom prst="rect">
            <a:avLst/>
          </a:prstGeom>
          <a:noFill/>
        </p:spPr>
        <p:txBody>
          <a:bodyPr wrap="square" rtlCol="0" anchor="t">
            <a:spAutoFit/>
          </a:bodyPr>
          <a:lstStyle/>
          <a:p>
            <a:r>
              <a:rPr lang="en-US" altLang="zh-CN" sz="1600" dirty="0">
                <a:latin typeface="Times New Roman" panose="02020603050405020304" pitchFamily="18" charset="0"/>
                <a:cs typeface="Times New Roman" panose="02020603050405020304" pitchFamily="18" charset="0"/>
              </a:rPr>
              <a:t>#include&lt;bits/</a:t>
            </a:r>
            <a:r>
              <a:rPr lang="en-US" altLang="zh-CN" sz="1600" dirty="0" err="1">
                <a:latin typeface="Times New Roman" panose="02020603050405020304" pitchFamily="18" charset="0"/>
                <a:cs typeface="Times New Roman" panose="02020603050405020304" pitchFamily="18" charset="0"/>
              </a:rPr>
              <a:t>stdc</a:t>
            </a:r>
            <a:r>
              <a:rPr lang="en-US" altLang="zh-CN" sz="1600" dirty="0">
                <a:latin typeface="Times New Roman" panose="02020603050405020304" pitchFamily="18" charset="0"/>
                <a:cs typeface="Times New Roman" panose="02020603050405020304" pitchFamily="18" charset="0"/>
              </a:rPr>
              <a:t>++.h&gt;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using namespace </a:t>
            </a:r>
            <a:r>
              <a:rPr lang="en-US" altLang="zh-CN" sz="1600" dirty="0" err="1">
                <a:latin typeface="Times New Roman" panose="02020603050405020304" pitchFamily="18" charset="0"/>
                <a:cs typeface="Times New Roman" panose="02020603050405020304" pitchFamily="18" charset="0"/>
              </a:rPr>
              <a:t>std</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using namespace </a:t>
            </a:r>
            <a:r>
              <a:rPr lang="en-US" altLang="zh-CN" sz="1600" dirty="0" err="1">
                <a:latin typeface="Times New Roman" panose="02020603050405020304" pitchFamily="18" charset="0"/>
                <a:cs typeface="Times New Roman" panose="02020603050405020304" pitchFamily="18" charset="0"/>
              </a:rPr>
              <a:t>std</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bool a[15][15],book[15];</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int  b[15];         </a:t>
            </a:r>
            <a:endParaRPr lang="zh-CN" altLang="en-US"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void try(int </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 {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int j;</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if(</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==n+1)        </a:t>
            </a:r>
            <a:r>
              <a:rPr lang="zh-CN" altLang="en-US" sz="1600" dirty="0">
                <a:latin typeface="Times New Roman" panose="02020603050405020304" pitchFamily="18" charset="0"/>
                <a:cs typeface="Times New Roman" panose="02020603050405020304" pitchFamily="18" charset="0"/>
              </a:rPr>
              <a:t>输出结果</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else    //</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=n+1</a:t>
            </a:r>
            <a:r>
              <a:rPr lang="zh-CN" altLang="en-US" sz="1600" dirty="0">
                <a:latin typeface="Times New Roman" panose="02020603050405020304" pitchFamily="18" charset="0"/>
                <a:cs typeface="Times New Roman" panose="02020603050405020304" pitchFamily="18" charset="0"/>
              </a:rPr>
              <a:t>表示</a:t>
            </a:r>
            <a:r>
              <a:rPr lang="en-US" altLang="zh-CN" sz="1600" dirty="0">
                <a:latin typeface="Times New Roman" panose="02020603050405020304" pitchFamily="18" charset="0"/>
                <a:cs typeface="Times New Roman" panose="02020603050405020304" pitchFamily="18" charset="0"/>
              </a:rPr>
              <a:t>n</a:t>
            </a:r>
            <a:r>
              <a:rPr lang="zh-CN" altLang="en-US" sz="1600" dirty="0">
                <a:latin typeface="Times New Roman" panose="02020603050405020304" pitchFamily="18" charset="0"/>
                <a:cs typeface="Times New Roman" panose="02020603050405020304" pitchFamily="18" charset="0"/>
              </a:rPr>
              <a:t>个人已讨论完</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找到了一种方案</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for(j=1;j&lt;=</a:t>
            </a:r>
            <a:r>
              <a:rPr lang="en-US" altLang="zh-CN" sz="1600" dirty="0" err="1">
                <a:latin typeface="Times New Roman" panose="02020603050405020304" pitchFamily="18" charset="0"/>
                <a:cs typeface="Times New Roman" panose="02020603050405020304" pitchFamily="18" charset="0"/>
              </a:rPr>
              <a:t>n;j</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枚举第</a:t>
            </a:r>
            <a:r>
              <a:rPr lang="en-US" altLang="zh-CN" sz="1600" dirty="0" err="1">
                <a:latin typeface="Times New Roman" panose="02020603050405020304" pitchFamily="18" charset="0"/>
                <a:cs typeface="Times New Roman" panose="02020603050405020304" pitchFamily="18" charset="0"/>
              </a:rPr>
              <a:t>i</a:t>
            </a:r>
            <a:r>
              <a:rPr lang="zh-CN" altLang="en-US" sz="1600" dirty="0">
                <a:latin typeface="Times New Roman" panose="02020603050405020304" pitchFamily="18" charset="0"/>
                <a:cs typeface="Times New Roman" panose="02020603050405020304" pitchFamily="18" charset="0"/>
              </a:rPr>
              <a:t>号人可以借的书</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if((book[j])&amp;&amp;(a[</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 j]))    //</a:t>
            </a:r>
            <a:r>
              <a:rPr lang="zh-CN" altLang="en-US" sz="1600" dirty="0">
                <a:latin typeface="Times New Roman" panose="02020603050405020304" pitchFamily="18" charset="0"/>
                <a:cs typeface="Times New Roman" panose="02020603050405020304" pitchFamily="18" charset="0"/>
              </a:rPr>
              <a:t>如果第</a:t>
            </a:r>
            <a:r>
              <a:rPr lang="en-US" altLang="zh-CN" sz="1600" dirty="0">
                <a:latin typeface="Times New Roman" panose="02020603050405020304" pitchFamily="18" charset="0"/>
                <a:cs typeface="Times New Roman" panose="02020603050405020304" pitchFamily="18" charset="0"/>
              </a:rPr>
              <a:t>j</a:t>
            </a:r>
            <a:r>
              <a:rPr lang="zh-CN" altLang="en-US" sz="1600" dirty="0">
                <a:latin typeface="Times New Roman" panose="02020603050405020304" pitchFamily="18" charset="0"/>
                <a:cs typeface="Times New Roman" panose="02020603050405020304" pitchFamily="18" charset="0"/>
              </a:rPr>
              <a:t>本书可借，并且第</a:t>
            </a:r>
            <a:r>
              <a:rPr lang="en-US" altLang="zh-CN" sz="1600" dirty="0" err="1">
                <a:latin typeface="Times New Roman" panose="02020603050405020304" pitchFamily="18" charset="0"/>
                <a:cs typeface="Times New Roman" panose="02020603050405020304" pitchFamily="18" charset="0"/>
              </a:rPr>
              <a:t>i</a:t>
            </a:r>
            <a:r>
              <a:rPr lang="zh-CN" altLang="en-US" sz="1600" dirty="0">
                <a:latin typeface="Times New Roman" panose="02020603050405020304" pitchFamily="18" charset="0"/>
                <a:cs typeface="Times New Roman" panose="02020603050405020304" pitchFamily="18" charset="0"/>
              </a:rPr>
              <a:t>个人喜欢这本书</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借出</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b[</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]=j;                 //</a:t>
            </a:r>
            <a:r>
              <a:rPr lang="zh-CN" altLang="en-US" sz="1600" dirty="0">
                <a:latin typeface="Times New Roman" panose="02020603050405020304" pitchFamily="18" charset="0"/>
                <a:cs typeface="Times New Roman" panose="02020603050405020304" pitchFamily="18" charset="0"/>
              </a:rPr>
              <a:t>记录下第</a:t>
            </a:r>
            <a:r>
              <a:rPr lang="en-US" altLang="zh-CN" sz="1600" dirty="0" err="1">
                <a:latin typeface="Times New Roman" panose="02020603050405020304" pitchFamily="18" charset="0"/>
                <a:cs typeface="Times New Roman" panose="02020603050405020304" pitchFamily="18" charset="0"/>
              </a:rPr>
              <a:t>i</a:t>
            </a:r>
            <a:r>
              <a:rPr lang="zh-CN" altLang="en-US" sz="1600" dirty="0">
                <a:latin typeface="Times New Roman" panose="02020603050405020304" pitchFamily="18" charset="0"/>
                <a:cs typeface="Times New Roman" panose="02020603050405020304" pitchFamily="18" charset="0"/>
              </a:rPr>
              <a:t>个人借的书的编号</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book[ j]=false;    //</a:t>
            </a:r>
            <a:r>
              <a:rPr lang="zh-CN" altLang="en-US" sz="1600" dirty="0">
                <a:latin typeface="Times New Roman" panose="02020603050405020304" pitchFamily="18" charset="0"/>
                <a:cs typeface="Times New Roman" panose="02020603050405020304" pitchFamily="18" charset="0"/>
              </a:rPr>
              <a:t>将这本书设置为已借出</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try(i+1);              //</a:t>
            </a:r>
            <a:r>
              <a:rPr lang="zh-CN" altLang="en-US" sz="1600" dirty="0">
                <a:latin typeface="Times New Roman" panose="02020603050405020304" pitchFamily="18" charset="0"/>
                <a:cs typeface="Times New Roman" panose="02020603050405020304" pitchFamily="18" charset="0"/>
              </a:rPr>
              <a:t>搜索下一个人可借的书</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book[ j]=true;    //</a:t>
            </a:r>
            <a:r>
              <a:rPr lang="zh-CN" altLang="en-US" sz="1600" dirty="0">
                <a:latin typeface="Times New Roman" panose="02020603050405020304" pitchFamily="18" charset="0"/>
                <a:cs typeface="Times New Roman" panose="02020603050405020304" pitchFamily="18" charset="0"/>
              </a:rPr>
              <a:t>回溯时应恢复现场，将</a:t>
            </a:r>
            <a:r>
              <a:rPr lang="en-US" altLang="zh-CN" sz="1600" dirty="0" err="1">
                <a:latin typeface="Times New Roman" panose="02020603050405020304" pitchFamily="18" charset="0"/>
                <a:cs typeface="Times New Roman" panose="02020603050405020304" pitchFamily="18" charset="0"/>
              </a:rPr>
              <a:t>i</a:t>
            </a:r>
            <a:r>
              <a:rPr lang="zh-CN" altLang="en-US" sz="1600" dirty="0">
                <a:latin typeface="Times New Roman" panose="02020603050405020304" pitchFamily="18" charset="0"/>
                <a:cs typeface="Times New Roman" panose="02020603050405020304" pitchFamily="18" charset="0"/>
              </a:rPr>
              <a:t>已借的书设置为未借出</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]=0;                 //</a:t>
            </a:r>
            <a:r>
              <a:rPr lang="zh-CN" altLang="en-US" sz="1600" dirty="0">
                <a:latin typeface="Times New Roman" panose="02020603050405020304" pitchFamily="18" charset="0"/>
                <a:cs typeface="Times New Roman" panose="02020603050405020304" pitchFamily="18" charset="0"/>
              </a:rPr>
              <a:t>将</a:t>
            </a:r>
            <a:r>
              <a:rPr lang="en-US" altLang="zh-CN" sz="1600" dirty="0" err="1">
                <a:latin typeface="Times New Roman" panose="02020603050405020304" pitchFamily="18" charset="0"/>
                <a:cs typeface="Times New Roman" panose="02020603050405020304" pitchFamily="18" charset="0"/>
              </a:rPr>
              <a:t>i</a:t>
            </a:r>
            <a:r>
              <a:rPr lang="zh-CN" altLang="en-US" sz="1600" dirty="0">
                <a:latin typeface="Times New Roman" panose="02020603050405020304" pitchFamily="18" charset="0"/>
                <a:cs typeface="Times New Roman" panose="02020603050405020304" pitchFamily="18" charset="0"/>
              </a:rPr>
              <a:t>设置为没有借到书</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endParaRPr lang="en-US" altLang="zh-CN" sz="1600" dirty="0">
              <a:latin typeface="Times New Roman" panose="02020603050405020304" pitchFamily="18" charset="0"/>
              <a:cs typeface="Times New Roman" panose="02020603050405020304" pitchFamily="18" charset="0"/>
            </a:endParaRPr>
          </a:p>
        </p:txBody>
      </p:sp>
      <p:sp>
        <p:nvSpPr>
          <p:cNvPr id="3" name="矩形 2"/>
          <p:cNvSpPr/>
          <p:nvPr/>
        </p:nvSpPr>
        <p:spPr>
          <a:xfrm>
            <a:off x="863949" y="1306865"/>
            <a:ext cx="1579278" cy="369332"/>
          </a:xfrm>
          <a:prstGeom prst="rect">
            <a:avLst/>
          </a:prstGeom>
        </p:spPr>
        <p:txBody>
          <a:bodyPr wrap="none">
            <a:spAutoFit/>
          </a:bodyPr>
          <a:lstStyle/>
          <a:p>
            <a:r>
              <a:rPr lang="en-US" altLang="zh-CN" b="1" dirty="0">
                <a:solidFill>
                  <a:schemeClr val="accent2"/>
                </a:solidFill>
              </a:rPr>
              <a:t>【</a:t>
            </a:r>
            <a:r>
              <a:rPr lang="zh-CN" altLang="en-US" b="1" dirty="0">
                <a:solidFill>
                  <a:schemeClr val="accent2"/>
                </a:solidFill>
              </a:rPr>
              <a:t>参考程序</a:t>
            </a:r>
            <a:r>
              <a:rPr lang="en-US" altLang="zh-CN" b="1" dirty="0">
                <a:solidFill>
                  <a:schemeClr val="accent2"/>
                </a:solidFill>
              </a:rPr>
              <a:t>】</a:t>
            </a:r>
            <a:endParaRPr lang="en-US" altLang="zh-CN" b="1" dirty="0">
              <a:solidFill>
                <a:schemeClr val="accent2"/>
              </a:solidFill>
            </a:endParaRPr>
          </a:p>
        </p:txBody>
      </p:sp>
      <p:cxnSp>
        <p:nvCxnSpPr>
          <p:cNvPr id="7" name="直接连接符 6"/>
          <p:cNvCxnSpPr/>
          <p:nvPr/>
        </p:nvCxnSpPr>
        <p:spPr>
          <a:xfrm>
            <a:off x="6091542" y="1529997"/>
            <a:ext cx="0" cy="5329066"/>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矩形 5"/>
          <p:cNvSpPr/>
          <p:nvPr/>
        </p:nvSpPr>
        <p:spPr>
          <a:xfrm>
            <a:off x="6738338" y="1529997"/>
            <a:ext cx="5642308" cy="2308324"/>
          </a:xfrm>
          <a:prstGeom prst="rect">
            <a:avLst/>
          </a:prstGeom>
        </p:spPr>
        <p:txBody>
          <a:bodyPr wrap="square">
            <a:spAutoFit/>
          </a:bodyPr>
          <a:lstStyle/>
          <a:p>
            <a:r>
              <a:rPr lang="en-US" altLang="zh-CN" sz="1600" dirty="0">
                <a:latin typeface="Times New Roman" panose="02020603050405020304" pitchFamily="18" charset="0"/>
                <a:cs typeface="Times New Roman" panose="02020603050405020304" pitchFamily="18" charset="0"/>
              </a:rPr>
              <a:t>int main() //</a:t>
            </a:r>
            <a:r>
              <a:rPr lang="zh-CN" altLang="en-US" sz="1600" dirty="0">
                <a:latin typeface="Times New Roman" panose="02020603050405020304" pitchFamily="18" charset="0"/>
                <a:cs typeface="Times New Roman" panose="02020603050405020304" pitchFamily="18" charset="0"/>
              </a:rPr>
              <a:t>主程序</a:t>
            </a:r>
            <a:endParaRPr lang="zh-CN" altLang="en-US"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scanf</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d",&amp;n</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for(</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=1;i&lt;=</a:t>
            </a:r>
            <a:r>
              <a:rPr lang="en-US" altLang="zh-CN" sz="1600" dirty="0" err="1">
                <a:latin typeface="Times New Roman" panose="02020603050405020304" pitchFamily="18" charset="0"/>
                <a:cs typeface="Times New Roman" panose="02020603050405020304" pitchFamily="18" charset="0"/>
              </a:rPr>
              <a:t>n;i</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for(j=1;j&lt;=</a:t>
            </a:r>
            <a:r>
              <a:rPr lang="en-US" altLang="zh-CN" sz="1600" dirty="0" err="1">
                <a:latin typeface="Times New Roman" panose="02020603050405020304" pitchFamily="18" charset="0"/>
                <a:cs typeface="Times New Roman" panose="02020603050405020304" pitchFamily="18" charset="0"/>
              </a:rPr>
              <a:t>n;j</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scanf</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d",&amp;a</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][j]);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for(</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=1;i&lt;=</a:t>
            </a:r>
            <a:r>
              <a:rPr lang="en-US" altLang="zh-CN" sz="1600" dirty="0" err="1">
                <a:latin typeface="Times New Roman" panose="02020603050405020304" pitchFamily="18" charset="0"/>
                <a:cs typeface="Times New Roman" panose="02020603050405020304" pitchFamily="18" charset="0"/>
              </a:rPr>
              <a:t>maxn;i</a:t>
            </a:r>
            <a:r>
              <a:rPr lang="en-US" altLang="zh-CN" sz="1600" dirty="0">
                <a:latin typeface="Times New Roman" panose="02020603050405020304" pitchFamily="18" charset="0"/>
                <a:cs typeface="Times New Roman" panose="02020603050405020304" pitchFamily="18" charset="0"/>
              </a:rPr>
              <a:t>++)book[</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]=true;//</a:t>
            </a:r>
            <a:r>
              <a:rPr lang="zh-CN" altLang="en-US" sz="1600" dirty="0">
                <a:latin typeface="Times New Roman" panose="02020603050405020304" pitchFamily="18" charset="0"/>
                <a:cs typeface="Times New Roman" panose="02020603050405020304" pitchFamily="18" charset="0"/>
              </a:rPr>
              <a:t>将</a:t>
            </a:r>
            <a:r>
              <a:rPr lang="en-US" altLang="zh-CN" sz="1600" dirty="0">
                <a:latin typeface="Times New Roman" panose="02020603050405020304" pitchFamily="18" charset="0"/>
                <a:cs typeface="Times New Roman" panose="02020603050405020304" pitchFamily="18" charset="0"/>
              </a:rPr>
              <a:t>book</a:t>
            </a:r>
            <a:r>
              <a:rPr lang="zh-CN" altLang="en-US" sz="1600" dirty="0">
                <a:latin typeface="Times New Roman" panose="02020603050405020304" pitchFamily="18" charset="0"/>
                <a:cs typeface="Times New Roman" panose="02020603050405020304" pitchFamily="18" charset="0"/>
              </a:rPr>
              <a:t>数组全设为</a:t>
            </a:r>
            <a:r>
              <a:rPr lang="en-US" altLang="zh-CN" sz="1600" dirty="0">
                <a:latin typeface="Times New Roman" panose="02020603050405020304" pitchFamily="18" charset="0"/>
                <a:cs typeface="Times New Roman" panose="02020603050405020304" pitchFamily="18" charset="0"/>
              </a:rPr>
              <a:t>true</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try(1);  //</a:t>
            </a:r>
            <a:r>
              <a:rPr lang="zh-CN" altLang="en-US" sz="1600" dirty="0">
                <a:latin typeface="Times New Roman" panose="02020603050405020304" pitchFamily="18" charset="0"/>
                <a:cs typeface="Times New Roman" panose="02020603050405020304" pitchFamily="18" charset="0"/>
              </a:rPr>
              <a:t>从第</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个人开始搜索</a:t>
            </a:r>
            <a:endParaRPr lang="zh-CN" altLang="en-US"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return 0;</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endParaRPr lang="zh-CN" altLang="en-US" sz="16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898267" y="1239316"/>
            <a:ext cx="10123836" cy="5640390"/>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9】</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四色问题</a:t>
            </a:r>
            <a:endPar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  四色猜想：“任何一张地图只用四种颜色就能使具有共同边界的国家着上不同的颜色。”</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弗南西斯</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格思里</a:t>
            </a:r>
            <a:endParaRPr lang="zh-CN" altLang="en-US"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有形如下列图形的地图，图中每一块区域代表一个国家，现请你用红（</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）、兰（</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）、黄（</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）、绿（</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）四种颜色给这些国家填上颜色，要求每一国家用一种颜色，且任意两个相邻国家的颜色不能相同，请给出一种符合条件的填色方案。给出国家的数量（</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&lt;=50</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）和它们的邻接关系。找出所有方案，按国家编号由小到大输出。</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输入</a:t>
            </a:r>
            <a:b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b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7</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0 1 0 0 0 0 1</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1 0 1 1 1 1 1</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0 1 0 1 0 0 0</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0 1 1 0 1 0 0</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0 1 0 1 0 1 0</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0 1 0 0 1 0 1</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1 1 0 0 0 1 0</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输出</a:t>
            </a:r>
            <a:b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b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1213134</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zh-CN" altLang="en-US" sz="14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Group 5"/>
          <p:cNvGrpSpPr/>
          <p:nvPr/>
        </p:nvGrpSpPr>
        <p:grpSpPr bwMode="auto">
          <a:xfrm>
            <a:off x="5052332" y="3537404"/>
            <a:ext cx="4365987" cy="2908683"/>
            <a:chOff x="0" y="0"/>
            <a:chExt cx="2948" cy="1964"/>
          </a:xfrm>
        </p:grpSpPr>
        <p:grpSp>
          <p:nvGrpSpPr>
            <p:cNvPr id="7" name="Group 6"/>
            <p:cNvGrpSpPr/>
            <p:nvPr/>
          </p:nvGrpSpPr>
          <p:grpSpPr bwMode="auto">
            <a:xfrm>
              <a:off x="0" y="0"/>
              <a:ext cx="2948" cy="1964"/>
              <a:chOff x="0" y="0"/>
              <a:chExt cx="2948" cy="1964"/>
            </a:xfrm>
          </p:grpSpPr>
          <p:sp>
            <p:nvSpPr>
              <p:cNvPr id="15" name="_Area_1"/>
              <p:cNvSpPr/>
              <p:nvPr/>
            </p:nvSpPr>
            <p:spPr bwMode="auto">
              <a:xfrm>
                <a:off x="0" y="1484"/>
                <a:ext cx="979" cy="479"/>
              </a:xfrm>
              <a:custGeom>
                <a:avLst/>
                <a:gdLst>
                  <a:gd name="T0" fmla="*/ 0 w 1592"/>
                  <a:gd name="T1" fmla="*/ 779 h 779"/>
                  <a:gd name="T2" fmla="*/ 1592 w 1592"/>
                  <a:gd name="T3" fmla="*/ 779 h 779"/>
                  <a:gd name="T4" fmla="*/ 1162 w 1592"/>
                  <a:gd name="T5" fmla="*/ 0 h 779"/>
                  <a:gd name="T6" fmla="*/ 0 w 1592"/>
                  <a:gd name="T7" fmla="*/ 779 h 779"/>
                </a:gdLst>
                <a:ahLst/>
                <a:cxnLst>
                  <a:cxn ang="0">
                    <a:pos x="T0" y="T1"/>
                  </a:cxn>
                  <a:cxn ang="0">
                    <a:pos x="T2" y="T3"/>
                  </a:cxn>
                  <a:cxn ang="0">
                    <a:pos x="T4" y="T5"/>
                  </a:cxn>
                  <a:cxn ang="0">
                    <a:pos x="T6" y="T7"/>
                  </a:cxn>
                </a:cxnLst>
                <a:rect l="0" t="0" r="r" b="b"/>
                <a:pathLst>
                  <a:path w="1592" h="779">
                    <a:moveTo>
                      <a:pt x="0" y="779"/>
                    </a:moveTo>
                    <a:lnTo>
                      <a:pt x="1592" y="779"/>
                    </a:lnTo>
                    <a:lnTo>
                      <a:pt x="1162" y="0"/>
                    </a:lnTo>
                    <a:lnTo>
                      <a:pt x="0" y="779"/>
                    </a:lnTo>
                    <a:close/>
                  </a:path>
                </a:pathLst>
              </a:custGeom>
              <a:solidFill>
                <a:srgbClr val="FF6600"/>
              </a:solidFill>
              <a:ln w="9525" cmpd="sng">
                <a:solidFill>
                  <a:srgbClr val="FFFF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sp>
            <p:nvSpPr>
              <p:cNvPr id="16" name="_Area_2"/>
              <p:cNvSpPr/>
              <p:nvPr/>
            </p:nvSpPr>
            <p:spPr bwMode="auto">
              <a:xfrm>
                <a:off x="717" y="560"/>
                <a:ext cx="1388" cy="1404"/>
              </a:xfrm>
              <a:custGeom>
                <a:avLst/>
                <a:gdLst>
                  <a:gd name="T0" fmla="*/ 427 w 2256"/>
                  <a:gd name="T1" fmla="*/ 2282 h 2283"/>
                  <a:gd name="T2" fmla="*/ 1623 w 2256"/>
                  <a:gd name="T3" fmla="*/ 2283 h 2283"/>
                  <a:gd name="T4" fmla="*/ 2256 w 2256"/>
                  <a:gd name="T5" fmla="*/ 0 h 2283"/>
                  <a:gd name="T6" fmla="*/ 0 w 2256"/>
                  <a:gd name="T7" fmla="*/ 1503 h 2283"/>
                  <a:gd name="T8" fmla="*/ 427 w 2256"/>
                  <a:gd name="T9" fmla="*/ 2282 h 2283"/>
                </a:gdLst>
                <a:ahLst/>
                <a:cxnLst>
                  <a:cxn ang="0">
                    <a:pos x="T0" y="T1"/>
                  </a:cxn>
                  <a:cxn ang="0">
                    <a:pos x="T2" y="T3"/>
                  </a:cxn>
                  <a:cxn ang="0">
                    <a:pos x="T4" y="T5"/>
                  </a:cxn>
                  <a:cxn ang="0">
                    <a:pos x="T6" y="T7"/>
                  </a:cxn>
                  <a:cxn ang="0">
                    <a:pos x="T8" y="T9"/>
                  </a:cxn>
                </a:cxnLst>
                <a:rect l="0" t="0" r="r" b="b"/>
                <a:pathLst>
                  <a:path w="2256" h="2283">
                    <a:moveTo>
                      <a:pt x="427" y="2282"/>
                    </a:moveTo>
                    <a:lnTo>
                      <a:pt x="1623" y="2283"/>
                    </a:lnTo>
                    <a:lnTo>
                      <a:pt x="2256" y="0"/>
                    </a:lnTo>
                    <a:lnTo>
                      <a:pt x="0" y="1503"/>
                    </a:lnTo>
                    <a:lnTo>
                      <a:pt x="427" y="2282"/>
                    </a:lnTo>
                    <a:close/>
                  </a:path>
                </a:pathLst>
              </a:custGeom>
              <a:solidFill>
                <a:srgbClr val="00CCFF"/>
              </a:solidFill>
              <a:ln w="9525" cmpd="sng">
                <a:solidFill>
                  <a:srgbClr val="FFFF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sp>
            <p:nvSpPr>
              <p:cNvPr id="17" name="_Area_3"/>
              <p:cNvSpPr/>
              <p:nvPr/>
            </p:nvSpPr>
            <p:spPr bwMode="auto">
              <a:xfrm>
                <a:off x="1715" y="1189"/>
                <a:ext cx="1233" cy="775"/>
              </a:xfrm>
              <a:custGeom>
                <a:avLst/>
                <a:gdLst>
                  <a:gd name="T0" fmla="*/ 0 w 2004"/>
                  <a:gd name="T1" fmla="*/ 1260 h 1260"/>
                  <a:gd name="T2" fmla="*/ 2004 w 2004"/>
                  <a:gd name="T3" fmla="*/ 1259 h 1260"/>
                  <a:gd name="T4" fmla="*/ 2004 w 2004"/>
                  <a:gd name="T5" fmla="*/ 459 h 1260"/>
                  <a:gd name="T6" fmla="*/ 351 w 2004"/>
                  <a:gd name="T7" fmla="*/ 0 h 1260"/>
                  <a:gd name="T8" fmla="*/ 0 w 2004"/>
                  <a:gd name="T9" fmla="*/ 1260 h 1260"/>
                </a:gdLst>
                <a:ahLst/>
                <a:cxnLst>
                  <a:cxn ang="0">
                    <a:pos x="T0" y="T1"/>
                  </a:cxn>
                  <a:cxn ang="0">
                    <a:pos x="T2" y="T3"/>
                  </a:cxn>
                  <a:cxn ang="0">
                    <a:pos x="T4" y="T5"/>
                  </a:cxn>
                  <a:cxn ang="0">
                    <a:pos x="T6" y="T7"/>
                  </a:cxn>
                  <a:cxn ang="0">
                    <a:pos x="T8" y="T9"/>
                  </a:cxn>
                </a:cxnLst>
                <a:rect l="0" t="0" r="r" b="b"/>
                <a:pathLst>
                  <a:path w="2004" h="1260">
                    <a:moveTo>
                      <a:pt x="0" y="1260"/>
                    </a:moveTo>
                    <a:lnTo>
                      <a:pt x="2004" y="1259"/>
                    </a:lnTo>
                    <a:lnTo>
                      <a:pt x="2004" y="459"/>
                    </a:lnTo>
                    <a:lnTo>
                      <a:pt x="351" y="0"/>
                    </a:lnTo>
                    <a:lnTo>
                      <a:pt x="0" y="1260"/>
                    </a:lnTo>
                    <a:close/>
                  </a:path>
                </a:pathLst>
              </a:custGeom>
              <a:solidFill>
                <a:srgbClr val="FF6600"/>
              </a:solidFill>
              <a:ln w="9525" cmpd="sng">
                <a:solidFill>
                  <a:srgbClr val="FFFF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sp>
            <p:nvSpPr>
              <p:cNvPr id="18" name="_Area_4"/>
              <p:cNvSpPr/>
              <p:nvPr/>
            </p:nvSpPr>
            <p:spPr bwMode="auto">
              <a:xfrm>
                <a:off x="1931" y="0"/>
                <a:ext cx="1017" cy="1471"/>
              </a:xfrm>
              <a:custGeom>
                <a:avLst/>
                <a:gdLst>
                  <a:gd name="T0" fmla="*/ 1653 w 1653"/>
                  <a:gd name="T1" fmla="*/ 2392 h 2392"/>
                  <a:gd name="T2" fmla="*/ 1653 w 1653"/>
                  <a:gd name="T3" fmla="*/ 0 h 2392"/>
                  <a:gd name="T4" fmla="*/ 282 w 1653"/>
                  <a:gd name="T5" fmla="*/ 910 h 2392"/>
                  <a:gd name="T6" fmla="*/ 0 w 1653"/>
                  <a:gd name="T7" fmla="*/ 1933 h 2392"/>
                  <a:gd name="T8" fmla="*/ 1653 w 1653"/>
                  <a:gd name="T9" fmla="*/ 2392 h 2392"/>
                </a:gdLst>
                <a:ahLst/>
                <a:cxnLst>
                  <a:cxn ang="0">
                    <a:pos x="T0" y="T1"/>
                  </a:cxn>
                  <a:cxn ang="0">
                    <a:pos x="T2" y="T3"/>
                  </a:cxn>
                  <a:cxn ang="0">
                    <a:pos x="T4" y="T5"/>
                  </a:cxn>
                  <a:cxn ang="0">
                    <a:pos x="T6" y="T7"/>
                  </a:cxn>
                  <a:cxn ang="0">
                    <a:pos x="T8" y="T9"/>
                  </a:cxn>
                </a:cxnLst>
                <a:rect l="0" t="0" r="r" b="b"/>
                <a:pathLst>
                  <a:path w="1653" h="2392">
                    <a:moveTo>
                      <a:pt x="1653" y="2392"/>
                    </a:moveTo>
                    <a:lnTo>
                      <a:pt x="1653" y="0"/>
                    </a:lnTo>
                    <a:lnTo>
                      <a:pt x="282" y="910"/>
                    </a:lnTo>
                    <a:lnTo>
                      <a:pt x="0" y="1933"/>
                    </a:lnTo>
                    <a:lnTo>
                      <a:pt x="1653" y="2392"/>
                    </a:lnTo>
                    <a:close/>
                  </a:path>
                </a:pathLst>
              </a:custGeom>
              <a:solidFill>
                <a:srgbClr val="FFFF99"/>
              </a:solidFill>
              <a:ln w="9525" cmpd="sng">
                <a:solidFill>
                  <a:srgbClr val="FFFF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sp>
            <p:nvSpPr>
              <p:cNvPr id="19" name="_Area_5"/>
              <p:cNvSpPr/>
              <p:nvPr/>
            </p:nvSpPr>
            <p:spPr bwMode="auto">
              <a:xfrm>
                <a:off x="1472" y="0"/>
                <a:ext cx="1476" cy="783"/>
              </a:xfrm>
              <a:custGeom>
                <a:avLst/>
                <a:gdLst>
                  <a:gd name="T0" fmla="*/ 2400 w 2400"/>
                  <a:gd name="T1" fmla="*/ 0 h 1273"/>
                  <a:gd name="T2" fmla="*/ 0 w 2400"/>
                  <a:gd name="T3" fmla="*/ 0 h 1273"/>
                  <a:gd name="T4" fmla="*/ 480 w 2400"/>
                  <a:gd name="T5" fmla="*/ 1273 h 1273"/>
                  <a:gd name="T6" fmla="*/ 2400 w 2400"/>
                  <a:gd name="T7" fmla="*/ 0 h 1273"/>
                </a:gdLst>
                <a:ahLst/>
                <a:cxnLst>
                  <a:cxn ang="0">
                    <a:pos x="T0" y="T1"/>
                  </a:cxn>
                  <a:cxn ang="0">
                    <a:pos x="T2" y="T3"/>
                  </a:cxn>
                  <a:cxn ang="0">
                    <a:pos x="T4" y="T5"/>
                  </a:cxn>
                  <a:cxn ang="0">
                    <a:pos x="T6" y="T7"/>
                  </a:cxn>
                </a:cxnLst>
                <a:rect l="0" t="0" r="r" b="b"/>
                <a:pathLst>
                  <a:path w="2400" h="1273">
                    <a:moveTo>
                      <a:pt x="2400" y="0"/>
                    </a:moveTo>
                    <a:lnTo>
                      <a:pt x="0" y="0"/>
                    </a:lnTo>
                    <a:lnTo>
                      <a:pt x="480" y="1273"/>
                    </a:lnTo>
                    <a:lnTo>
                      <a:pt x="2400" y="0"/>
                    </a:lnTo>
                    <a:close/>
                  </a:path>
                </a:pathLst>
              </a:custGeom>
              <a:solidFill>
                <a:srgbClr val="FF6600"/>
              </a:solidFill>
              <a:ln w="9525" cmpd="sng">
                <a:solidFill>
                  <a:srgbClr val="FFFF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sp>
            <p:nvSpPr>
              <p:cNvPr id="20" name="_Area_6"/>
              <p:cNvSpPr/>
              <p:nvPr/>
            </p:nvSpPr>
            <p:spPr bwMode="auto">
              <a:xfrm>
                <a:off x="487" y="0"/>
                <a:ext cx="1279" cy="1082"/>
              </a:xfrm>
              <a:custGeom>
                <a:avLst/>
                <a:gdLst>
                  <a:gd name="T0" fmla="*/ 1600 w 2078"/>
                  <a:gd name="T1" fmla="*/ 0 h 1759"/>
                  <a:gd name="T2" fmla="*/ 0 w 2078"/>
                  <a:gd name="T3" fmla="*/ 0 h 1759"/>
                  <a:gd name="T4" fmla="*/ 1352 w 2078"/>
                  <a:gd name="T5" fmla="*/ 1759 h 1759"/>
                  <a:gd name="T6" fmla="*/ 2078 w 2078"/>
                  <a:gd name="T7" fmla="*/ 1275 h 1759"/>
                  <a:gd name="T8" fmla="*/ 1600 w 2078"/>
                  <a:gd name="T9" fmla="*/ 0 h 1759"/>
                </a:gdLst>
                <a:ahLst/>
                <a:cxnLst>
                  <a:cxn ang="0">
                    <a:pos x="T0" y="T1"/>
                  </a:cxn>
                  <a:cxn ang="0">
                    <a:pos x="T2" y="T3"/>
                  </a:cxn>
                  <a:cxn ang="0">
                    <a:pos x="T4" y="T5"/>
                  </a:cxn>
                  <a:cxn ang="0">
                    <a:pos x="T6" y="T7"/>
                  </a:cxn>
                  <a:cxn ang="0">
                    <a:pos x="T8" y="T9"/>
                  </a:cxn>
                </a:cxnLst>
                <a:rect l="0" t="0" r="r" b="b"/>
                <a:pathLst>
                  <a:path w="2078" h="1759">
                    <a:moveTo>
                      <a:pt x="1600" y="0"/>
                    </a:moveTo>
                    <a:lnTo>
                      <a:pt x="0" y="0"/>
                    </a:lnTo>
                    <a:lnTo>
                      <a:pt x="1352" y="1759"/>
                    </a:lnTo>
                    <a:lnTo>
                      <a:pt x="2078" y="1275"/>
                    </a:lnTo>
                    <a:lnTo>
                      <a:pt x="1600" y="0"/>
                    </a:lnTo>
                    <a:close/>
                  </a:path>
                </a:pathLst>
              </a:custGeom>
              <a:solidFill>
                <a:srgbClr val="FFFF99"/>
              </a:solidFill>
              <a:ln w="9525" cmpd="sng">
                <a:solidFill>
                  <a:srgbClr val="FFFF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sp>
            <p:nvSpPr>
              <p:cNvPr id="21" name="_Area_7"/>
              <p:cNvSpPr/>
              <p:nvPr/>
            </p:nvSpPr>
            <p:spPr bwMode="auto">
              <a:xfrm>
                <a:off x="0" y="0"/>
                <a:ext cx="1319" cy="1963"/>
              </a:xfrm>
              <a:custGeom>
                <a:avLst/>
                <a:gdLst>
                  <a:gd name="T0" fmla="*/ 0 w 2144"/>
                  <a:gd name="T1" fmla="*/ 0 h 3192"/>
                  <a:gd name="T2" fmla="*/ 0 w 2144"/>
                  <a:gd name="T3" fmla="*/ 3192 h 3192"/>
                  <a:gd name="T4" fmla="*/ 2144 w 2144"/>
                  <a:gd name="T5" fmla="*/ 1759 h 3192"/>
                  <a:gd name="T6" fmla="*/ 792 w 2144"/>
                  <a:gd name="T7" fmla="*/ 0 h 3192"/>
                  <a:gd name="T8" fmla="*/ 0 w 2144"/>
                  <a:gd name="T9" fmla="*/ 0 h 3192"/>
                </a:gdLst>
                <a:ahLst/>
                <a:cxnLst>
                  <a:cxn ang="0">
                    <a:pos x="T0" y="T1"/>
                  </a:cxn>
                  <a:cxn ang="0">
                    <a:pos x="T2" y="T3"/>
                  </a:cxn>
                  <a:cxn ang="0">
                    <a:pos x="T4" y="T5"/>
                  </a:cxn>
                  <a:cxn ang="0">
                    <a:pos x="T6" y="T7"/>
                  </a:cxn>
                  <a:cxn ang="0">
                    <a:pos x="T8" y="T9"/>
                  </a:cxn>
                </a:cxnLst>
                <a:rect l="0" t="0" r="r" b="b"/>
                <a:pathLst>
                  <a:path w="2144" h="3192">
                    <a:moveTo>
                      <a:pt x="0" y="0"/>
                    </a:moveTo>
                    <a:lnTo>
                      <a:pt x="0" y="3192"/>
                    </a:lnTo>
                    <a:lnTo>
                      <a:pt x="2144" y="1759"/>
                    </a:lnTo>
                    <a:lnTo>
                      <a:pt x="792" y="0"/>
                    </a:lnTo>
                    <a:lnTo>
                      <a:pt x="0" y="0"/>
                    </a:lnTo>
                    <a:close/>
                  </a:path>
                </a:pathLst>
              </a:custGeom>
              <a:solidFill>
                <a:srgbClr val="CCFFCC"/>
              </a:solidFill>
              <a:ln w="9525" cmpd="sng">
                <a:solidFill>
                  <a:srgbClr val="FFFF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grpSp>
        <p:sp>
          <p:nvSpPr>
            <p:cNvPr id="8" name="Text Box 14"/>
            <p:cNvSpPr txBox="1">
              <a:spLocks noChangeArrowheads="1"/>
            </p:cNvSpPr>
            <p:nvPr/>
          </p:nvSpPr>
          <p:spPr bwMode="auto">
            <a:xfrm>
              <a:off x="396" y="1693"/>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rPr>
                <a:t>1</a:t>
              </a:r>
              <a:endParaRPr kumimoji="0" lang="zh-CN" altLang="en-US" sz="1800" b="0" i="0" u="none" strike="noStrike" kern="0" cap="none" spc="0" normalizeH="0" baseline="0" noProof="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endParaRPr>
            </a:p>
          </p:txBody>
        </p:sp>
        <p:sp>
          <p:nvSpPr>
            <p:cNvPr id="9" name="Text Box 15"/>
            <p:cNvSpPr txBox="1">
              <a:spLocks noChangeArrowheads="1"/>
            </p:cNvSpPr>
            <p:nvPr/>
          </p:nvSpPr>
          <p:spPr bwMode="auto">
            <a:xfrm>
              <a:off x="1270" y="1406"/>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rPr>
                <a:t>2</a:t>
              </a:r>
              <a:endParaRPr kumimoji="0" lang="zh-CN" altLang="en-US" sz="1800" b="0" i="0" u="none" strike="noStrike" kern="0" cap="none" spc="0" normalizeH="0" baseline="0" noProof="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endParaRPr>
            </a:p>
          </p:txBody>
        </p:sp>
        <p:sp>
          <p:nvSpPr>
            <p:cNvPr id="10" name="Text Box 16"/>
            <p:cNvSpPr txBox="1">
              <a:spLocks noChangeArrowheads="1"/>
            </p:cNvSpPr>
            <p:nvPr/>
          </p:nvSpPr>
          <p:spPr bwMode="auto">
            <a:xfrm>
              <a:off x="2223" y="1588"/>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rPr>
                <a:t>3</a:t>
              </a:r>
              <a:endParaRPr kumimoji="0" lang="zh-CN" altLang="en-US" sz="1800" b="0" i="0" u="none" strike="noStrike" kern="0" cap="none" spc="0" normalizeH="0" baseline="0" noProof="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endParaRPr>
            </a:p>
          </p:txBody>
        </p:sp>
        <p:sp>
          <p:nvSpPr>
            <p:cNvPr id="11" name="Text Box 17"/>
            <p:cNvSpPr txBox="1">
              <a:spLocks noChangeArrowheads="1"/>
            </p:cNvSpPr>
            <p:nvPr/>
          </p:nvSpPr>
          <p:spPr bwMode="auto">
            <a:xfrm>
              <a:off x="2404" y="771"/>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rPr>
                <a:t>4</a:t>
              </a:r>
              <a:endParaRPr kumimoji="0" lang="zh-CN" altLang="en-US" sz="1800" b="0" i="0" u="none" strike="noStrike" kern="0" cap="none" spc="0" normalizeH="0" baseline="0" noProof="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endParaRPr>
            </a:p>
          </p:txBody>
        </p:sp>
        <p:sp>
          <p:nvSpPr>
            <p:cNvPr id="12" name="Text Box 18"/>
            <p:cNvSpPr txBox="1">
              <a:spLocks noChangeArrowheads="1"/>
            </p:cNvSpPr>
            <p:nvPr/>
          </p:nvSpPr>
          <p:spPr bwMode="auto">
            <a:xfrm>
              <a:off x="1951" y="136"/>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rPr>
                <a:t>5</a:t>
              </a:r>
              <a:endParaRPr kumimoji="0" lang="zh-CN" altLang="en-US" sz="1800" b="0" i="0" u="none" strike="noStrike" kern="0" cap="none" spc="0" normalizeH="0" baseline="0" noProof="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endParaRPr>
            </a:p>
          </p:txBody>
        </p:sp>
        <p:sp>
          <p:nvSpPr>
            <p:cNvPr id="13" name="Text Box 19"/>
            <p:cNvSpPr txBox="1">
              <a:spLocks noChangeArrowheads="1"/>
            </p:cNvSpPr>
            <p:nvPr/>
          </p:nvSpPr>
          <p:spPr bwMode="auto">
            <a:xfrm>
              <a:off x="1180" y="359"/>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dirty="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rPr>
                <a:t>6</a:t>
              </a:r>
              <a:endParaRPr kumimoji="0" lang="zh-CN" altLang="en-US" sz="1800" b="0" i="0" u="none" strike="noStrike" kern="0" cap="none" spc="0" normalizeH="0" baseline="0" noProof="0" dirty="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endParaRPr>
            </a:p>
          </p:txBody>
        </p:sp>
        <p:sp>
          <p:nvSpPr>
            <p:cNvPr id="14" name="Text Box 20"/>
            <p:cNvSpPr txBox="1">
              <a:spLocks noChangeArrowheads="1"/>
            </p:cNvSpPr>
            <p:nvPr/>
          </p:nvSpPr>
          <p:spPr bwMode="auto">
            <a:xfrm>
              <a:off x="408" y="771"/>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rPr>
                <a:t>7</a:t>
              </a:r>
              <a:endParaRPr kumimoji="0" lang="zh-CN" altLang="en-US" sz="1800" b="0" i="0" u="none" strike="noStrike" kern="0" cap="none" spc="0" normalizeH="0" baseline="0" noProof="0">
                <a:ln>
                  <a:noFill/>
                </a:ln>
                <a:solidFill>
                  <a:srgbClr val="000000"/>
                </a:solidFill>
                <a:effectLst>
                  <a:outerShdw blurRad="38100" dist="38100" dir="2700000" algn="tl">
                    <a:srgbClr val="FFFFFF"/>
                  </a:outerShdw>
                </a:effectLst>
                <a:uLnTx/>
                <a:uFillTx/>
                <a:latin typeface="Bookman Old Style" panose="02050604050505020204" pitchFamily="18" charset="0"/>
                <a:ea typeface="楷体_GB2312" pitchFamily="1"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1033323" y="1434419"/>
            <a:ext cx="10123836" cy="5986254"/>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算法分析</a:t>
            </a:r>
            <a:r>
              <a:rPr lang="en-US" altLang="zh-CN" sz="2000" b="1" dirty="0">
                <a:solidFill>
                  <a:schemeClr val="accent2"/>
                </a:solidFill>
                <a:latin typeface="微软雅黑" panose="020B0503020204020204" pitchFamily="34" charset="-122"/>
                <a:ea typeface="微软雅黑" panose="020B0503020204020204" pitchFamily="34" charset="-122"/>
              </a:rPr>
              <a:t>】 </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a:lnSpc>
                <a:spcPct val="150000"/>
              </a:lnSpc>
              <a:spcBef>
                <a:spcPct val="50000"/>
              </a:spcBef>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spcBef>
                <a:spcPct val="50000"/>
              </a:spcBef>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spcBef>
                <a:spcPct val="50000"/>
              </a:spcBef>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spcBef>
                <a:spcPct val="50000"/>
              </a:spcBef>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spcBef>
                <a:spcPct val="50000"/>
              </a:spcBef>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从第一个国家开始，对每个国家依次尝试四种颜色，判断当然选择的颜色是否和相邻的国家相同。</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spcBef>
                <a:spcPct val="50000"/>
              </a:spcBef>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若都不相同，则将此国家填上当前的颜色。</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spcBef>
                <a:spcPct val="50000"/>
              </a:spcBef>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若存在相同，则取下一种颜色继续尝试。</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spcBef>
                <a:spcPct val="50000"/>
              </a:spcBef>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若四种颜色都不能填上，则退回上一个国家并选择下一种颜色继续尝试。</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spcBef>
                <a:spcPct val="50000"/>
              </a:spcBef>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当最后一个国家也被填色后就找到一组可行解。</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200000"/>
              </a:lnSpc>
              <a:spcBef>
                <a:spcPct val="50000"/>
              </a:spcBef>
            </a:pP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13134" y="1551985"/>
            <a:ext cx="5678168" cy="2442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en-US" dirty="0"/>
          </a:p>
        </p:txBody>
      </p:sp>
      <p:sp>
        <p:nvSpPr>
          <p:cNvPr id="4" name="矩形 3"/>
          <p:cNvSpPr/>
          <p:nvPr/>
        </p:nvSpPr>
        <p:spPr>
          <a:xfrm>
            <a:off x="961746" y="1448322"/>
            <a:ext cx="10123836" cy="4893647"/>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数的拆分</a:t>
            </a:r>
            <a:endPar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数的拆分。输入一个整数</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输出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拆分成若干正整数和的所有方案，即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n=S1+S2+…+</a:t>
            </a:r>
            <a:r>
              <a:rPr lang="en-US" altLang="zh-CN" sz="1600" dirty="0" err="1">
                <a:latin typeface="微软雅黑" panose="020B0503020204020204" pitchFamily="34" charset="-122"/>
                <a:ea typeface="微软雅黑" panose="020B0503020204020204" pitchFamily="34" charset="-122"/>
                <a:cs typeface="Times New Roman" panose="02020603050405020304" pitchFamily="18" charset="0"/>
              </a:rPr>
              <a:t>Sk</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形式，且</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S1&lt;=S2&lt;=…&lt;=</a:t>
            </a:r>
            <a:r>
              <a:rPr lang="en-US" altLang="zh-CN" sz="1600" dirty="0" err="1">
                <a:latin typeface="微软雅黑" panose="020B0503020204020204" pitchFamily="34" charset="-122"/>
                <a:ea typeface="微软雅黑" panose="020B0503020204020204" pitchFamily="34" charset="-122"/>
                <a:cs typeface="Times New Roman" panose="02020603050405020304" pitchFamily="18" charset="0"/>
              </a:rPr>
              <a:t>Sk</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按照字典序输出。</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输入样例：</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4</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输出样例：</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1+1+1+1</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1+1+2</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1+3</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2+2</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4</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zh-CN" altLang="en-US" sz="1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endParaRPr lang="zh-CN" altLang="zh-CN" dirty="0"/>
          </a:p>
        </p:txBody>
      </p:sp>
      <p:sp>
        <p:nvSpPr>
          <p:cNvPr id="4" name="文本框 3"/>
          <p:cNvSpPr txBox="1"/>
          <p:nvPr/>
        </p:nvSpPr>
        <p:spPr>
          <a:xfrm>
            <a:off x="1104900" y="1703480"/>
            <a:ext cx="4413446" cy="4524315"/>
          </a:xfrm>
          <a:prstGeom prst="rect">
            <a:avLst/>
          </a:prstGeom>
          <a:noFill/>
        </p:spPr>
        <p:txBody>
          <a:bodyPr wrap="square" rtlCol="0" anchor="t">
            <a:spAutoFit/>
          </a:bodyPr>
          <a:lstStyle/>
          <a:p>
            <a:r>
              <a:rPr lang="en-US" altLang="zh-CN" dirty="0">
                <a:latin typeface="Times New Roman" panose="02020603050405020304" pitchFamily="18" charset="0"/>
                <a:cs typeface="Times New Roman" panose="02020603050405020304" pitchFamily="18" charset="0"/>
              </a:rPr>
              <a:t>#include&lt;bits/</a:t>
            </a:r>
            <a:r>
              <a:rPr lang="en-US" altLang="zh-CN" dirty="0" err="1">
                <a:latin typeface="Times New Roman" panose="02020603050405020304" pitchFamily="18" charset="0"/>
                <a:cs typeface="Times New Roman" panose="02020603050405020304" pitchFamily="18" charset="0"/>
              </a:rPr>
              <a:t>stdc</a:t>
            </a:r>
            <a:r>
              <a:rPr lang="en-US" altLang="zh-CN" dirty="0">
                <a:latin typeface="Times New Roman" panose="02020603050405020304" pitchFamily="18" charset="0"/>
                <a:cs typeface="Times New Roman" panose="02020603050405020304" pitchFamily="18" charset="0"/>
              </a:rPr>
              <a:t>++.h&gt;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using namespace </a:t>
            </a:r>
            <a:r>
              <a:rPr lang="en-US" altLang="zh-CN" dirty="0" err="1">
                <a:latin typeface="Times New Roman" panose="02020603050405020304" pitchFamily="18" charset="0"/>
                <a:cs typeface="Times New Roman" panose="02020603050405020304" pitchFamily="18" charset="0"/>
              </a:rPr>
              <a:t>std</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int s[21];</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int </a:t>
            </a:r>
            <a:r>
              <a:rPr lang="en-US" altLang="zh-CN" dirty="0" err="1">
                <a:latin typeface="Times New Roman" panose="02020603050405020304" pitchFamily="18" charset="0"/>
                <a:cs typeface="Times New Roman" panose="02020603050405020304" pitchFamily="18" charset="0"/>
              </a:rPr>
              <a:t>n,total</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dfs</a:t>
            </a:r>
            <a:r>
              <a:rPr lang="en-US" altLang="zh-CN" dirty="0">
                <a:latin typeface="Times New Roman" panose="02020603050405020304" pitchFamily="18" charset="0"/>
                <a:cs typeface="Times New Roman" panose="02020603050405020304" pitchFamily="18" charset="0"/>
              </a:rPr>
              <a:t>(int </a:t>
            </a:r>
            <a:r>
              <a:rPr lang="en-US" altLang="zh-CN" dirty="0" err="1">
                <a:latin typeface="Times New Roman" panose="02020603050405020304" pitchFamily="18" charset="0"/>
                <a:cs typeface="Times New Roman" panose="02020603050405020304" pitchFamily="18" charset="0"/>
              </a:rPr>
              <a:t>dep,int</a:t>
            </a:r>
            <a:r>
              <a:rPr lang="en-US" altLang="zh-CN" dirty="0">
                <a:latin typeface="Times New Roman" panose="02020603050405020304" pitchFamily="18" charset="0"/>
                <a:cs typeface="Times New Roman" panose="02020603050405020304" pitchFamily="18" charset="0"/>
              </a:rPr>
              <a:t> rest)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if(rest==0){</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if(dep&gt;1) </a:t>
            </a:r>
            <a:r>
              <a:rPr lang="en-US" altLang="zh-CN" dirty="0" err="1">
                <a:latin typeface="Times New Roman" panose="02020603050405020304" pitchFamily="18" charset="0"/>
                <a:cs typeface="Times New Roman" panose="02020603050405020304" pitchFamily="18" charset="0"/>
              </a:rPr>
              <a:t>pr</a:t>
            </a:r>
            <a:r>
              <a:rPr lang="en-US" altLang="zh-CN" dirty="0">
                <a:latin typeface="Times New Roman" panose="02020603050405020304" pitchFamily="18" charset="0"/>
                <a:cs typeface="Times New Roman" panose="02020603050405020304" pitchFamily="18" charset="0"/>
              </a:rPr>
              <a:t>(dep-1);</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else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for(int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=s[dep-1];</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rest;i</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s[dep]=</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dfs</a:t>
            </a:r>
            <a:r>
              <a:rPr lang="en-US" altLang="zh-CN" dirty="0">
                <a:latin typeface="Times New Roman" panose="02020603050405020304" pitchFamily="18" charset="0"/>
                <a:cs typeface="Times New Roman" panose="02020603050405020304" pitchFamily="18" charset="0"/>
              </a:rPr>
              <a:t>(dep+1,rest-i);</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3" name="矩形 2"/>
          <p:cNvSpPr/>
          <p:nvPr/>
        </p:nvSpPr>
        <p:spPr>
          <a:xfrm>
            <a:off x="929263" y="1253655"/>
            <a:ext cx="1579278" cy="369332"/>
          </a:xfrm>
          <a:prstGeom prst="rect">
            <a:avLst/>
          </a:prstGeom>
        </p:spPr>
        <p:txBody>
          <a:bodyPr wrap="none">
            <a:spAutoFit/>
          </a:bodyPr>
          <a:lstStyle/>
          <a:p>
            <a:r>
              <a:rPr lang="en-US" altLang="zh-CN" b="1" dirty="0">
                <a:solidFill>
                  <a:schemeClr val="accent2"/>
                </a:solidFill>
              </a:rPr>
              <a:t>【</a:t>
            </a:r>
            <a:r>
              <a:rPr lang="zh-CN" altLang="en-US" b="1" dirty="0">
                <a:solidFill>
                  <a:schemeClr val="accent2"/>
                </a:solidFill>
              </a:rPr>
              <a:t>参考程序</a:t>
            </a:r>
            <a:r>
              <a:rPr lang="en-US" altLang="zh-CN" b="1" dirty="0">
                <a:solidFill>
                  <a:schemeClr val="accent2"/>
                </a:solidFill>
              </a:rPr>
              <a:t>】</a:t>
            </a:r>
            <a:endParaRPr lang="en-US" altLang="zh-CN" b="1" dirty="0">
              <a:solidFill>
                <a:schemeClr val="accent2"/>
              </a:solidFill>
            </a:endParaRPr>
          </a:p>
        </p:txBody>
      </p:sp>
      <p:cxnSp>
        <p:nvCxnSpPr>
          <p:cNvPr id="5" name="直接连接符 4"/>
          <p:cNvCxnSpPr/>
          <p:nvPr/>
        </p:nvCxnSpPr>
        <p:spPr>
          <a:xfrm>
            <a:off x="5496471" y="1529996"/>
            <a:ext cx="0" cy="5329066"/>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矩形 5"/>
          <p:cNvSpPr/>
          <p:nvPr/>
        </p:nvSpPr>
        <p:spPr>
          <a:xfrm>
            <a:off x="6096000" y="1622987"/>
            <a:ext cx="5543006" cy="4524315"/>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pr</a:t>
            </a:r>
            <a:r>
              <a:rPr lang="en-US" altLang="zh-CN" dirty="0">
                <a:latin typeface="Times New Roman" panose="02020603050405020304" pitchFamily="18" charset="0"/>
                <a:cs typeface="Times New Roman" panose="02020603050405020304" pitchFamily="18" charset="0"/>
              </a:rPr>
              <a:t>(int d)</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total++;</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for(int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=1;i&lt;=d-1;i++) </a:t>
            </a:r>
            <a:r>
              <a:rPr lang="en-US" altLang="zh-CN" dirty="0" err="1">
                <a:latin typeface="Times New Roman" panose="02020603050405020304" pitchFamily="18" charset="0"/>
                <a:cs typeface="Times New Roman" panose="02020603050405020304" pitchFamily="18" charset="0"/>
              </a:rPr>
              <a:t>cout</a:t>
            </a:r>
            <a:r>
              <a:rPr lang="en-US" altLang="zh-CN" dirty="0">
                <a:latin typeface="Times New Roman" panose="02020603050405020304" pitchFamily="18" charset="0"/>
                <a:cs typeface="Times New Roman" panose="02020603050405020304" pitchFamily="18" charset="0"/>
              </a:rPr>
              <a:t>&lt;&lt;s[</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]&lt;&lt;"+";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cout</a:t>
            </a:r>
            <a:r>
              <a:rPr lang="en-US" altLang="zh-CN" dirty="0">
                <a:latin typeface="Times New Roman" panose="02020603050405020304" pitchFamily="18" charset="0"/>
                <a:cs typeface="Times New Roman" panose="02020603050405020304" pitchFamily="18" charset="0"/>
              </a:rPr>
              <a:t>&lt;&lt;s[d]&lt;&lt;</a:t>
            </a:r>
            <a:r>
              <a:rPr lang="en-US" altLang="zh-CN" dirty="0" err="1">
                <a:latin typeface="Times New Roman" panose="02020603050405020304" pitchFamily="18" charset="0"/>
                <a:cs typeface="Times New Roman" panose="02020603050405020304" pitchFamily="18" charset="0"/>
              </a:rPr>
              <a:t>endl</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int main()</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cin</a:t>
            </a:r>
            <a:r>
              <a:rPr lang="en-US" altLang="zh-CN" dirty="0">
                <a:latin typeface="Times New Roman" panose="02020603050405020304" pitchFamily="18" charset="0"/>
                <a:cs typeface="Times New Roman" panose="02020603050405020304" pitchFamily="18" charset="0"/>
              </a:rPr>
              <a:t>&gt;&gt;n;</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s[0]=1;</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dfs</a:t>
            </a:r>
            <a:r>
              <a:rPr lang="en-US" altLang="zh-CN" dirty="0">
                <a:latin typeface="Times New Roman" panose="02020603050405020304" pitchFamily="18" charset="0"/>
                <a:cs typeface="Times New Roman" panose="02020603050405020304" pitchFamily="18" charset="0"/>
              </a:rPr>
              <a:t>(1,n);</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cout</a:t>
            </a:r>
            <a:r>
              <a:rPr lang="en-US" altLang="zh-CN" dirty="0">
                <a:latin typeface="Times New Roman" panose="02020603050405020304" pitchFamily="18" charset="0"/>
                <a:cs typeface="Times New Roman" panose="02020603050405020304" pitchFamily="18" charset="0"/>
              </a:rPr>
              <a:t>&lt;&lt;"total="&lt;&lt;total;</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return 0;</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谢谢！</a:t>
            </a:r>
            <a:endParaRPr lang="zh-CN" altLang="en-US" dirty="0"/>
          </a:p>
        </p:txBody>
      </p:sp>
      <p:pic>
        <p:nvPicPr>
          <p:cNvPr id="5" name="图片占位符 4"/>
          <p:cNvPicPr>
            <a:picLocks noGrp="1" noChangeAspect="1"/>
          </p:cNvPicPr>
          <p:nvPr>
            <p:ph type="pic" sz="quarter" idx="13"/>
          </p:nvPr>
        </p:nvPicPr>
        <p:blipFill>
          <a:blip r:embed="rId1" cstate="print">
            <a:extLst>
              <a:ext uri="{28A0092B-C50C-407E-A947-70E740481C1C}">
                <a14:useLocalDpi xmlns:a14="http://schemas.microsoft.com/office/drawing/2010/main" val="0"/>
              </a:ext>
            </a:extLst>
          </a:blip>
          <a:srcRect l="13409" r="13409"/>
          <a:stretch>
            <a:fillRect/>
          </a:stretch>
        </p:blipFill>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9728</Words>
  <Application>WPS 演示</Application>
  <PresentationFormat>宽屏</PresentationFormat>
  <Paragraphs>965</Paragraphs>
  <Slides>31</Slides>
  <Notes>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31</vt:i4>
      </vt:variant>
    </vt:vector>
  </HeadingPairs>
  <TitlesOfParts>
    <vt:vector size="47" baseType="lpstr">
      <vt:lpstr>Arial</vt:lpstr>
      <vt:lpstr>宋体</vt:lpstr>
      <vt:lpstr>Wingdings</vt:lpstr>
      <vt:lpstr>微软雅黑</vt:lpstr>
      <vt:lpstr>Times New Roman</vt:lpstr>
      <vt:lpstr>Arial Unicode MS</vt:lpstr>
      <vt:lpstr>华文中宋</vt:lpstr>
      <vt:lpstr>Wingdings 2</vt:lpstr>
      <vt:lpstr>黑体</vt:lpstr>
      <vt:lpstr>Wingdings</vt:lpstr>
      <vt:lpstr>Bookman Old Style</vt:lpstr>
      <vt:lpstr>Segoe Print</vt:lpstr>
      <vt:lpstr>楷体_GB2312</vt:lpstr>
      <vt:lpstr>Euphemia</vt:lpstr>
      <vt:lpstr>新宋体</vt:lpstr>
      <vt:lpstr>学术文献 16x9</vt:lpstr>
      <vt:lpstr>深度优先搜索</vt:lpstr>
      <vt:lpstr>学习目标</vt:lpstr>
      <vt:lpstr>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深度优先搜索</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12</cp:revision>
  <dcterms:created xsi:type="dcterms:W3CDTF">2017-11-04T04:56:00Z</dcterms:created>
  <dcterms:modified xsi:type="dcterms:W3CDTF">2021-04-18T06:27:33Z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2052-11.1.0.9021</vt:lpwstr>
  </property>
</Properties>
</file>