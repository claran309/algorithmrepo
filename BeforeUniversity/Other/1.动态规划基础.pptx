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612" r:id="rId3"/>
    <p:sldId id="613" r:id="rId4"/>
    <p:sldId id="614" r:id="rId5"/>
    <p:sldId id="642" r:id="rId6"/>
    <p:sldId id="692" r:id="rId7"/>
    <p:sldId id="693" r:id="rId8"/>
    <p:sldId id="703" r:id="rId9"/>
    <p:sldId id="704" r:id="rId10"/>
    <p:sldId id="705" r:id="rId11"/>
    <p:sldId id="706" r:id="rId12"/>
    <p:sldId id="707" r:id="rId13"/>
    <p:sldId id="708" r:id="rId14"/>
    <p:sldId id="709" r:id="rId15"/>
    <p:sldId id="710" r:id="rId16"/>
    <p:sldId id="711" r:id="rId17"/>
    <p:sldId id="502" r:id="rId18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2021/11/21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2021/11/21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2021/11/21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2021/11/21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2021/11/21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675102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动态规划基础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理解记忆化搜索。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理解动态规划的基本概念与要素。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矩形 4"/>
          <p:cNvSpPr/>
          <p:nvPr/>
        </p:nvSpPr>
        <p:spPr>
          <a:xfrm>
            <a:off x="1025000" y="1370203"/>
            <a:ext cx="10060582" cy="46138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斐波那契数列问题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递归求解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叠子问题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(int h)         //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递归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num++;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(h==1||h==2)  return 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else		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return 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(h-1)+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Fib_rec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(h-2));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1BA4FD-ADF4-4A59-BB30-8FED27721B54}"/>
              </a:ext>
            </a:extLst>
          </p:cNvPr>
          <p:cNvSpPr/>
          <p:nvPr/>
        </p:nvSpPr>
        <p:spPr>
          <a:xfrm>
            <a:off x="1104900" y="1560607"/>
            <a:ext cx="23952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：记忆化搜索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DF435C-5CC8-416F-8632-F8C329D5668B}"/>
              </a:ext>
            </a:extLst>
          </p:cNvPr>
          <p:cNvSpPr/>
          <p:nvPr/>
        </p:nvSpPr>
        <p:spPr>
          <a:xfrm>
            <a:off x="1104900" y="2072858"/>
            <a:ext cx="8422558" cy="388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fi[n];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(int n)//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记忆化搜索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(n == 0 || n == 1)	   return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fi[n] = n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else if (fi[n] != 0)	return fi[n];           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避免重复搜索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return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fi[n] = 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(n-1) + 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Fib_memo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(n-2);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173162"/>
            <a:ext cx="10005552" cy="61643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方法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：递推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long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Fib_ita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(int h)    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迭代递推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int i,f1,f2,f3;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f1=1;f2=1;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=3;i&lt;=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h;i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f3=f1+f2;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f1=f2;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f2=f3;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f2;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1BA8EB0-54E8-4336-81C6-5B059483652D}"/>
              </a:ext>
            </a:extLst>
          </p:cNvPr>
          <p:cNvSpPr/>
          <p:nvPr/>
        </p:nvSpPr>
        <p:spPr>
          <a:xfrm>
            <a:off x="1032768" y="1512605"/>
            <a:ext cx="10052814" cy="18584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数塔问题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有如图所示的一个数塔，从顶部出发，在每一结点可以选择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向左走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或是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向右走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，一直走到底层，要求找出一条路径，使路径上的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数值和最大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1" descr="8">
            <a:hlinkClick r:id="" action="ppaction://noaction"/>
            <a:extLst>
              <a:ext uri="{FF2B5EF4-FFF2-40B4-BE49-F238E27FC236}">
                <a16:creationId xmlns:a16="http://schemas.microsoft.com/office/drawing/2014/main" id="{C2B67D23-F133-4D2A-9024-2FF904336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biLevel thresh="5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00"/>
          <a:stretch>
            <a:fillRect/>
          </a:stretch>
        </p:blipFill>
        <p:spPr bwMode="auto">
          <a:xfrm>
            <a:off x="3493868" y="3282572"/>
            <a:ext cx="3909822" cy="284019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6194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169996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：贪心算法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198" y="2393787"/>
            <a:ext cx="5626100" cy="340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贪心策略？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是否满足贪心选择性质？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是否满足最优子结构性质？</a:t>
            </a:r>
          </a:p>
          <a:p>
            <a:pPr marR="0" lvl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反例：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9-15-8-9-10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51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None/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9-12-10-18-10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A05134FF-1667-4234-83FE-B518D802158A}"/>
              </a:ext>
            </a:extLst>
          </p:cNvPr>
          <p:cNvGrpSpPr/>
          <p:nvPr/>
        </p:nvGrpSpPr>
        <p:grpSpPr bwMode="auto">
          <a:xfrm>
            <a:off x="5945034" y="2768149"/>
            <a:ext cx="2927350" cy="2355850"/>
            <a:chOff x="3244" y="100"/>
            <a:chExt cx="1844" cy="1484"/>
          </a:xfrm>
        </p:grpSpPr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1083A773-A063-4AB4-85EE-30E43C64D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E35686CC-AA3A-408E-9A04-DBEFE37CA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29978C22-BF9B-4E16-88EB-BF6E7B569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AA61EEAA-FF41-43C8-9EA6-BA3DD0816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9B4C095-7EA1-4FD3-9429-5895BB7B1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4CEB6BE-6FE2-44A8-BB14-FE722ADD6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223820A4-E352-4EBA-8098-5B5E3BAEBD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9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12    15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10      6      8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2    18      9     5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19      7    10     4     16</a:t>
              </a:r>
            </a:p>
          </p:txBody>
        </p:sp>
      </p:grp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545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169996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：递归枚举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242" y="2244664"/>
            <a:ext cx="5626100" cy="340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最保险的思路，列举出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所有可能的路径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再比较，得出和最大的路径。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如何递归？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递归边界条件；</a:t>
            </a:r>
          </a:p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使问题向边界条件转化的规则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递归定义</a:t>
            </a: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18A053A4-B7D2-4D25-BD8B-A07F55761C6A}"/>
              </a:ext>
            </a:extLst>
          </p:cNvPr>
          <p:cNvGrpSpPr/>
          <p:nvPr/>
        </p:nvGrpSpPr>
        <p:grpSpPr bwMode="auto">
          <a:xfrm>
            <a:off x="6892036" y="2505629"/>
            <a:ext cx="2927350" cy="2355850"/>
            <a:chOff x="3244" y="100"/>
            <a:chExt cx="1844" cy="1484"/>
          </a:xfrm>
        </p:grpSpPr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A3214AD1-36DE-4119-977E-916EC6DF0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Line 6">
              <a:extLst>
                <a:ext uri="{FF2B5EF4-FFF2-40B4-BE49-F238E27FC236}">
                  <a16:creationId xmlns:a16="http://schemas.microsoft.com/office/drawing/2014/main" id="{6BD45924-66DA-43BA-BCC3-683E63118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BD57B9BE-70EC-4BC0-86D2-DFACC5EC25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D690A5AA-0D1A-4DF6-91BB-F595A0DFD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0DA5E4B0-6A75-48AC-805A-B270BFB9FD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Line 10">
              <a:extLst>
                <a:ext uri="{FF2B5EF4-FFF2-40B4-BE49-F238E27FC236}">
                  <a16:creationId xmlns:a16="http://schemas.microsoft.com/office/drawing/2014/main" id="{FB963857-D00B-420C-A09B-39BFDC550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2F0EDCEE-F8F4-42A3-9B0E-8D0F4FD726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9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12    15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10      6      8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2    18      9     5</a:t>
              </a:r>
            </a:p>
            <a:p>
              <a:pPr algn="ctr" fontAlgn="base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19      7    10     4     16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392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AE16DE8B-035B-464A-9304-9E132E46C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8712" y="1633491"/>
            <a:ext cx="484459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a[100][100];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下三角形存放数据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max(int i, int j, int n)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递归函数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left,right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if (i==n)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到达底层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return a[i][j];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left=max(i+1,j,n);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左边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right=max(i+1,j+1,n);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右边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return (left&gt;right)? (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left+a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[i][j]) : (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right+a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[i][j]);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altLang="zh-CN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7078780F-69DB-4CE7-9023-044A791F9225}"/>
              </a:ext>
            </a:extLst>
          </p:cNvPr>
          <p:cNvGrpSpPr/>
          <p:nvPr/>
        </p:nvGrpSpPr>
        <p:grpSpPr bwMode="auto">
          <a:xfrm>
            <a:off x="6907806" y="4038613"/>
            <a:ext cx="4114800" cy="2133600"/>
            <a:chOff x="3168" y="1632"/>
            <a:chExt cx="2592" cy="1344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09A6FDC8-A13A-4311-9188-17DB1526F816}"/>
                </a:ext>
              </a:extLst>
            </p:cNvPr>
            <p:cNvGrpSpPr/>
            <p:nvPr/>
          </p:nvGrpSpPr>
          <p:grpSpPr bwMode="auto">
            <a:xfrm>
              <a:off x="4176" y="1632"/>
              <a:ext cx="991" cy="432"/>
              <a:chOff x="4176" y="912"/>
              <a:chExt cx="991" cy="432"/>
            </a:xfrm>
          </p:grpSpPr>
          <p:sp>
            <p:nvSpPr>
              <p:cNvPr id="36" name="Line 6">
                <a:extLst>
                  <a:ext uri="{FF2B5EF4-FFF2-40B4-BE49-F238E27FC236}">
                    <a16:creationId xmlns:a16="http://schemas.microsoft.com/office/drawing/2014/main" id="{EF01F5D2-282E-476A-94AC-6A3D92583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4" y="1152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7" name="Line 7">
                <a:extLst>
                  <a:ext uri="{FF2B5EF4-FFF2-40B4-BE49-F238E27FC236}">
                    <a16:creationId xmlns:a16="http://schemas.microsoft.com/office/drawing/2014/main" id="{952A115F-22DC-4C73-B64C-5D29B2246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152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8" name="Text Box 8">
                <a:extLst>
                  <a:ext uri="{FF2B5EF4-FFF2-40B4-BE49-F238E27FC236}">
                    <a16:creationId xmlns:a16="http://schemas.microsoft.com/office/drawing/2014/main" id="{AD5488EA-B21F-4949-8A50-12BCE1E156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912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max(1,1,n)</a:t>
                </a:r>
              </a:p>
            </p:txBody>
          </p:sp>
        </p:grpSp>
        <p:grpSp>
          <p:nvGrpSpPr>
            <p:cNvPr id="19" name="Group 9">
              <a:extLst>
                <a:ext uri="{FF2B5EF4-FFF2-40B4-BE49-F238E27FC236}">
                  <a16:creationId xmlns:a16="http://schemas.microsoft.com/office/drawing/2014/main" id="{B33E455E-C3C9-4EAB-A9AE-A5F487CE6BE4}"/>
                </a:ext>
              </a:extLst>
            </p:cNvPr>
            <p:cNvGrpSpPr/>
            <p:nvPr/>
          </p:nvGrpSpPr>
          <p:grpSpPr bwMode="auto">
            <a:xfrm>
              <a:off x="3744" y="1968"/>
              <a:ext cx="991" cy="432"/>
              <a:chOff x="3744" y="1248"/>
              <a:chExt cx="991" cy="432"/>
            </a:xfrm>
          </p:grpSpPr>
          <p:sp>
            <p:nvSpPr>
              <p:cNvPr id="33" name="Line 10">
                <a:extLst>
                  <a:ext uri="{FF2B5EF4-FFF2-40B4-BE49-F238E27FC236}">
                    <a16:creationId xmlns:a16="http://schemas.microsoft.com/office/drawing/2014/main" id="{3E08F7BB-5544-4D02-B8C9-FDE27447A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4" name="Line 11">
                <a:extLst>
                  <a:ext uri="{FF2B5EF4-FFF2-40B4-BE49-F238E27FC236}">
                    <a16:creationId xmlns:a16="http://schemas.microsoft.com/office/drawing/2014/main" id="{A285CF61-CEB9-4500-9EF6-060D5828A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5" name="Text Box 12">
                <a:extLst>
                  <a:ext uri="{FF2B5EF4-FFF2-40B4-BE49-F238E27FC236}">
                    <a16:creationId xmlns:a16="http://schemas.microsoft.com/office/drawing/2014/main" id="{E1F52F60-0AEC-473D-AD09-F0BED3222C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max(2,1,n)</a:t>
                </a:r>
              </a:p>
            </p:txBody>
          </p:sp>
        </p:grpSp>
        <p:grpSp>
          <p:nvGrpSpPr>
            <p:cNvPr id="20" name="Group 13">
              <a:extLst>
                <a:ext uri="{FF2B5EF4-FFF2-40B4-BE49-F238E27FC236}">
                  <a16:creationId xmlns:a16="http://schemas.microsoft.com/office/drawing/2014/main" id="{211C8B52-0374-43C4-BBBA-EA4E20FF55F4}"/>
                </a:ext>
              </a:extLst>
            </p:cNvPr>
            <p:cNvGrpSpPr/>
            <p:nvPr/>
          </p:nvGrpSpPr>
          <p:grpSpPr bwMode="auto">
            <a:xfrm>
              <a:off x="4769" y="1968"/>
              <a:ext cx="991" cy="432"/>
              <a:chOff x="3744" y="1248"/>
              <a:chExt cx="991" cy="432"/>
            </a:xfrm>
          </p:grpSpPr>
          <p:sp>
            <p:nvSpPr>
              <p:cNvPr id="30" name="Line 14">
                <a:extLst>
                  <a:ext uri="{FF2B5EF4-FFF2-40B4-BE49-F238E27FC236}">
                    <a16:creationId xmlns:a16="http://schemas.microsoft.com/office/drawing/2014/main" id="{3A37DA4C-6BE6-4492-A77A-195697937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1" name="Line 15">
                <a:extLst>
                  <a:ext uri="{FF2B5EF4-FFF2-40B4-BE49-F238E27FC236}">
                    <a16:creationId xmlns:a16="http://schemas.microsoft.com/office/drawing/2014/main" id="{015467F2-7667-493F-9DBD-BCC05025CC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32" name="Text Box 16">
                <a:extLst>
                  <a:ext uri="{FF2B5EF4-FFF2-40B4-BE49-F238E27FC236}">
                    <a16:creationId xmlns:a16="http://schemas.microsoft.com/office/drawing/2014/main" id="{4E23D771-8858-4B82-BD8E-D1B48435F7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max(2,2,n)</a:t>
                </a:r>
              </a:p>
            </p:txBody>
          </p:sp>
        </p:grpSp>
        <p:grpSp>
          <p:nvGrpSpPr>
            <p:cNvPr id="21" name="Group 17">
              <a:extLst>
                <a:ext uri="{FF2B5EF4-FFF2-40B4-BE49-F238E27FC236}">
                  <a16:creationId xmlns:a16="http://schemas.microsoft.com/office/drawing/2014/main" id="{0DAB29D7-DE9D-4961-9398-3265CCAA7FE0}"/>
                </a:ext>
              </a:extLst>
            </p:cNvPr>
            <p:cNvGrpSpPr/>
            <p:nvPr/>
          </p:nvGrpSpPr>
          <p:grpSpPr bwMode="auto">
            <a:xfrm>
              <a:off x="3168" y="2352"/>
              <a:ext cx="991" cy="432"/>
              <a:chOff x="3744" y="1248"/>
              <a:chExt cx="991" cy="432"/>
            </a:xfrm>
          </p:grpSpPr>
          <p:sp>
            <p:nvSpPr>
              <p:cNvPr id="27" name="Line 18">
                <a:extLst>
                  <a:ext uri="{FF2B5EF4-FFF2-40B4-BE49-F238E27FC236}">
                    <a16:creationId xmlns:a16="http://schemas.microsoft.com/office/drawing/2014/main" id="{6FD654F1-F289-4490-99DC-F1736F580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D0CF6CB0-92F5-45EC-BCC4-FC8F69D98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9" name="Text Box 20">
                <a:extLst>
                  <a:ext uri="{FF2B5EF4-FFF2-40B4-BE49-F238E27FC236}">
                    <a16:creationId xmlns:a16="http://schemas.microsoft.com/office/drawing/2014/main" id="{4B8AC7D7-C6DC-47D0-99B3-6C0A2A757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max(3,1,n)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78BD0A8-36D5-4AE4-933C-870C9EB01950}"/>
                </a:ext>
              </a:extLst>
            </p:cNvPr>
            <p:cNvGrpSpPr/>
            <p:nvPr/>
          </p:nvGrpSpPr>
          <p:grpSpPr bwMode="auto">
            <a:xfrm>
              <a:off x="4193" y="2352"/>
              <a:ext cx="991" cy="432"/>
              <a:chOff x="3744" y="1248"/>
              <a:chExt cx="991" cy="432"/>
            </a:xfrm>
          </p:grpSpPr>
          <p:sp>
            <p:nvSpPr>
              <p:cNvPr id="24" name="Line 22">
                <a:extLst>
                  <a:ext uri="{FF2B5EF4-FFF2-40B4-BE49-F238E27FC236}">
                    <a16:creationId xmlns:a16="http://schemas.microsoft.com/office/drawing/2014/main" id="{EEA41887-9817-4C1B-8BB5-70D647A055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92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5" name="Line 23">
                <a:extLst>
                  <a:ext uri="{FF2B5EF4-FFF2-40B4-BE49-F238E27FC236}">
                    <a16:creationId xmlns:a16="http://schemas.microsoft.com/office/drawing/2014/main" id="{67ED557F-5A4F-455B-99A4-85074C18A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488"/>
                <a:ext cx="288" cy="19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CC9900"/>
                  </a:buClr>
                  <a:buSzPct val="65000"/>
                  <a:buFont typeface="Wingdings" panose="05000000000000000000" pitchFamily="2" charset="2"/>
                  <a:buNone/>
                  <a:defRPr/>
                </a:pPr>
                <a:endParaRPr kumimoji="0" lang="zh-CN" altLang="en-US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</a:endParaRPr>
              </a:p>
            </p:txBody>
          </p:sp>
          <p:sp>
            <p:nvSpPr>
              <p:cNvPr id="26" name="Text Box 24">
                <a:extLst>
                  <a:ext uri="{FF2B5EF4-FFF2-40B4-BE49-F238E27FC236}">
                    <a16:creationId xmlns:a16="http://schemas.microsoft.com/office/drawing/2014/main" id="{4EC961E8-8B39-44B2-B279-8801B2D550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1248"/>
                <a:ext cx="99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folHlink"/>
                    </a:solidFill>
                  </a14:hiddenFill>
                </a:ex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</a:rPr>
                  <a:t>max(3,2,n)</a:t>
                </a:r>
              </a:p>
            </p:txBody>
          </p:sp>
        </p:grp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A4BA2461-3BEC-49FE-A24F-031A1C1C9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0" y="2688"/>
              <a:ext cx="1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</a:rPr>
                <a:t>………………</a:t>
              </a:r>
            </a:p>
          </p:txBody>
        </p:sp>
      </p:grpSp>
      <p:grpSp>
        <p:nvGrpSpPr>
          <p:cNvPr id="39" name="Group 26">
            <a:extLst>
              <a:ext uri="{FF2B5EF4-FFF2-40B4-BE49-F238E27FC236}">
                <a16:creationId xmlns:a16="http://schemas.microsoft.com/office/drawing/2014/main" id="{F2A484DF-4961-477D-BE2F-C8D4926DAFE4}"/>
              </a:ext>
            </a:extLst>
          </p:cNvPr>
          <p:cNvGrpSpPr/>
          <p:nvPr/>
        </p:nvGrpSpPr>
        <p:grpSpPr bwMode="auto">
          <a:xfrm>
            <a:off x="7441206" y="1492688"/>
            <a:ext cx="2927350" cy="2355850"/>
            <a:chOff x="3244" y="100"/>
            <a:chExt cx="1844" cy="1484"/>
          </a:xfrm>
        </p:grpSpPr>
        <p:sp>
          <p:nvSpPr>
            <p:cNvPr id="40" name="Line 27">
              <a:extLst>
                <a:ext uri="{FF2B5EF4-FFF2-40B4-BE49-F238E27FC236}">
                  <a16:creationId xmlns:a16="http://schemas.microsoft.com/office/drawing/2014/main" id="{7F9A20D0-E781-44E1-9703-3180EE8BA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D442F5D8-F85F-4B56-BB08-96AB61330D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2" y="868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EE9BEEC1-41FD-47E3-93F9-7996FE0CD1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6" y="912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3" name="Line 30">
              <a:extLst>
                <a:ext uri="{FF2B5EF4-FFF2-40B4-BE49-F238E27FC236}">
                  <a16:creationId xmlns:a16="http://schemas.microsoft.com/office/drawing/2014/main" id="{50D3783F-4BFE-4BF5-B07B-C4F6DB8F10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4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4" name="Line 31">
              <a:extLst>
                <a:ext uri="{FF2B5EF4-FFF2-40B4-BE49-F238E27FC236}">
                  <a16:creationId xmlns:a16="http://schemas.microsoft.com/office/drawing/2014/main" id="{2FFC7CAC-0072-4031-891C-B832142CC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9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" name="Line 32">
              <a:extLst>
                <a:ext uri="{FF2B5EF4-FFF2-40B4-BE49-F238E27FC236}">
                  <a16:creationId xmlns:a16="http://schemas.microsoft.com/office/drawing/2014/main" id="{FA56DC2D-9D4A-4CDE-8099-F7D7AE540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6" y="912"/>
              <a:ext cx="192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spcBef>
                  <a:spcPct val="20000"/>
                </a:spcBef>
                <a:buClr>
                  <a:srgbClr val="CC9900"/>
                </a:buClr>
                <a:buSzPct val="65000"/>
                <a:buFont typeface="Wingdings" panose="05000000000000000000" pitchFamily="2" charset="2"/>
                <a:buNone/>
              </a:pPr>
              <a:endParaRPr lang="zh-CN" altLang="en-US" sz="2000" b="1">
                <a:solidFill>
                  <a:srgbClr val="0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33">
              <a:extLst>
                <a:ext uri="{FF2B5EF4-FFF2-40B4-BE49-F238E27FC236}">
                  <a16:creationId xmlns:a16="http://schemas.microsoft.com/office/drawing/2014/main" id="{3AEF6294-AFAD-4E09-8C9D-E992D00F6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4" y="100"/>
              <a:ext cx="1844" cy="1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9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12    15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10      6      8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 2    18      9     5</a:t>
              </a:r>
            </a:p>
            <a:p>
              <a:pPr algn="ctr">
                <a:spcBef>
                  <a:spcPct val="30000"/>
                </a:spcBef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19      7    10     4     16</a:t>
              </a:r>
            </a:p>
          </p:txBody>
        </p:sp>
      </p:grpSp>
      <p:sp>
        <p:nvSpPr>
          <p:cNvPr id="47" name="Oval 34">
            <a:extLst>
              <a:ext uri="{FF2B5EF4-FFF2-40B4-BE49-F238E27FC236}">
                <a16:creationId xmlns:a16="http://schemas.microsoft.com/office/drawing/2014/main" id="{72529D0F-7DDF-407F-9B2A-D91E39030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606" y="2934138"/>
            <a:ext cx="533400" cy="457200"/>
          </a:xfrm>
          <a:prstGeom prst="ellipse">
            <a:avLst/>
          </a:prstGeom>
          <a:noFill/>
          <a:ln w="31750" algn="ctr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48" name="AutoShape 35">
            <a:extLst>
              <a:ext uri="{FF2B5EF4-FFF2-40B4-BE49-F238E27FC236}">
                <a16:creationId xmlns:a16="http://schemas.microsoft.com/office/drawing/2014/main" id="{AA755D70-3BF3-4276-9D9D-344EAF5D7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285" y="1976375"/>
            <a:ext cx="2539014" cy="800675"/>
          </a:xfrm>
          <a:prstGeom prst="wedgeRoundRectCallout">
            <a:avLst>
              <a:gd name="adj1" fmla="val 69380"/>
              <a:gd name="adj2" fmla="val 51514"/>
              <a:gd name="adj3" fmla="val 16667"/>
            </a:avLst>
          </a:prstGeom>
          <a:noFill/>
          <a:ln w="19050" algn="ctr">
            <a:solidFill>
              <a:schemeClr val="accent2"/>
            </a:solidFill>
            <a:miter lim="800000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重叠子问题：计算了两次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的最大路径。</a:t>
            </a:r>
          </a:p>
        </p:txBody>
      </p:sp>
    </p:spTree>
    <p:extLst>
      <p:ext uri="{BB962C8B-B14F-4D97-AF65-F5344CB8AC3E}">
        <p14:creationId xmlns:p14="http://schemas.microsoft.com/office/powerpoint/2010/main" val="234978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7" grpId="0" animBg="1"/>
      <p:bldP spid="4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636" y="1386943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：记忆化搜索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636" y="1647246"/>
            <a:ext cx="5626100" cy="55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算法改进：存储中间计算结果。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6F615A-2B79-4269-A3C6-C544CF04F027}"/>
              </a:ext>
            </a:extLst>
          </p:cNvPr>
          <p:cNvSpPr/>
          <p:nvPr/>
        </p:nvSpPr>
        <p:spPr>
          <a:xfrm>
            <a:off x="1177036" y="2190407"/>
            <a:ext cx="6997700" cy="41975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a[100][100], f[100][100];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max(int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i,int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j,int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n)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left,right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==n) 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=a[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][j]; 	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              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if (f[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!= -1) return 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left=max(i+1,j,n);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左边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right=max(i+1,j+1,n); //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右边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return (f[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 = (left&gt;right)? 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left+a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][j]):(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right+a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][j]));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7" name="AutoShape 5">
            <a:extLst>
              <a:ext uri="{FF2B5EF4-FFF2-40B4-BE49-F238E27FC236}">
                <a16:creationId xmlns:a16="http://schemas.microsoft.com/office/drawing/2014/main" id="{90A0770C-DA47-444F-B6CA-2099C8507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1681" y="2895600"/>
            <a:ext cx="2486110" cy="1066800"/>
          </a:xfrm>
          <a:prstGeom prst="wedgeRoundRectCallout">
            <a:avLst>
              <a:gd name="adj1" fmla="val -24426"/>
              <a:gd name="adj2" fmla="val 50597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</a:ln>
          <a:effectLst/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该动态规划算法递归实现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记忆化搜索。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151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618988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：递推法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2BD2FD7-7D77-43FE-9B3D-F6250F33D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445" y="2071425"/>
            <a:ext cx="5626100" cy="551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2350" indent="-35115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9850" indent="-31623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81480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00000"/>
              </a:lnSpc>
              <a:buClr>
                <a:schemeClr val="accent2"/>
              </a:buClr>
              <a:defRPr/>
            </a:pP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从下往上推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95B56026-D3F3-4D47-B0A3-1682D7DC3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4228649"/>
            <a:ext cx="5410200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9925" indent="-325755">
              <a:buClr>
                <a:schemeClr val="accent2"/>
              </a:buClr>
              <a:buSzPct val="6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22350" indent="-351155"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39850" indent="-316230">
              <a:buClr>
                <a:schemeClr val="accent2"/>
              </a:buClr>
              <a:buSzPct val="70000"/>
              <a:buChar char="q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681480" indent="-339725">
              <a:buSzPct val="75000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1386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5958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0530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510280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701412D-6172-4B45-8ADE-A27DD38B3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834" y="134896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endParaRPr lang="zh-CN" altLang="en-US" dirty="0">
              <a:solidFill>
                <a:srgbClr val="4CBAE4"/>
              </a:solidFill>
              <a:latin typeface="Garamond" panose="02020404030301010803"/>
              <a:ea typeface="宋体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6F615A-2B79-4269-A3C6-C544CF04F027}"/>
              </a:ext>
            </a:extLst>
          </p:cNvPr>
          <p:cNvSpPr/>
          <p:nvPr/>
        </p:nvSpPr>
        <p:spPr>
          <a:xfrm>
            <a:off x="1201445" y="2776333"/>
            <a:ext cx="84729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max_it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(int n)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for(int 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=N-1;i&gt;=1;i--)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for(int j=1;j&lt;=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i;j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++)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    a[</a:t>
            </a:r>
            <a:r>
              <a:rPr lang="en-US" altLang="zh-CN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][j] += (a[i+1][j]&gt;=a[i+1][j+1])?(a[i+1][j]):(a[i+1][j+1]);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}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return a[1][1];</a:t>
            </a:r>
          </a:p>
          <a:p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4081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8831" y="1506329"/>
            <a:ext cx="8229600" cy="452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计算过程：动态规划</a:t>
            </a:r>
          </a:p>
        </p:txBody>
      </p:sp>
      <p:sp>
        <p:nvSpPr>
          <p:cNvPr id="50" name="Text Box 3">
            <a:extLst>
              <a:ext uri="{FF2B5EF4-FFF2-40B4-BE49-F238E27FC236}">
                <a16:creationId xmlns:a16="http://schemas.microsoft.com/office/drawing/2014/main" id="{F92FADBE-76DC-4495-AEFA-5D13FD668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3096" y="1575981"/>
            <a:ext cx="5638800" cy="5094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9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15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  2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18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</a:p>
          <a:p>
            <a:pPr algn="ctr">
              <a:lnSpc>
                <a:spcPct val="250000"/>
              </a:lnSpc>
              <a:spcBef>
                <a:spcPct val="3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19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　　　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16</a:t>
            </a:r>
          </a:p>
        </p:txBody>
      </p:sp>
      <p:sp>
        <p:nvSpPr>
          <p:cNvPr id="51" name="Line 4">
            <a:extLst>
              <a:ext uri="{FF2B5EF4-FFF2-40B4-BE49-F238E27FC236}">
                <a16:creationId xmlns:a16="http://schemas.microsoft.com/office/drawing/2014/main" id="{219ABE69-660E-472A-A6D9-BCA724FEB6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27078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0BEB295C-C081-4B37-BDA2-95C7F8BAF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37746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AB6406A6-C77D-497C-8F27-8C57AED10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47652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4" name="Line 7">
            <a:extLst>
              <a:ext uri="{FF2B5EF4-FFF2-40B4-BE49-F238E27FC236}">
                <a16:creationId xmlns:a16="http://schemas.microsoft.com/office/drawing/2014/main" id="{55A3FF7E-7753-492C-AC2A-C4064CBAE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1696" y="5832068"/>
            <a:ext cx="5399087" cy="0"/>
          </a:xfrm>
          <a:prstGeom prst="line">
            <a:avLst/>
          </a:prstGeom>
          <a:noFill/>
          <a:ln w="22225">
            <a:solidFill>
              <a:srgbClr val="5F5F5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55" name="Text Box 8">
            <a:extLst>
              <a:ext uri="{FF2B5EF4-FFF2-40B4-BE49-F238E27FC236}">
                <a16:creationId xmlns:a16="http://schemas.microsoft.com/office/drawing/2014/main" id="{8317B6A3-B65E-4446-96A8-D57D05E47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20982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5 </a:t>
            </a:r>
          </a:p>
        </p:txBody>
      </p:sp>
      <p:sp>
        <p:nvSpPr>
          <p:cNvPr id="56" name="Text Box 9">
            <a:extLst>
              <a:ext uri="{FF2B5EF4-FFF2-40B4-BE49-F238E27FC236}">
                <a16:creationId xmlns:a16="http://schemas.microsoft.com/office/drawing/2014/main" id="{EBCDA6CF-9477-47B9-8D9E-F1979ED22D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3088868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4  </a:t>
            </a:r>
          </a:p>
        </p:txBody>
      </p:sp>
      <p:sp>
        <p:nvSpPr>
          <p:cNvPr id="57" name="Text Box 10">
            <a:extLst>
              <a:ext uri="{FF2B5EF4-FFF2-40B4-BE49-F238E27FC236}">
                <a16:creationId xmlns:a16="http://schemas.microsoft.com/office/drawing/2014/main" id="{3A645CC8-7408-4BA7-98AA-82F770634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41556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3 </a:t>
            </a:r>
          </a:p>
        </p:txBody>
      </p:sp>
      <p:sp>
        <p:nvSpPr>
          <p:cNvPr id="58" name="Text Box 11">
            <a:extLst>
              <a:ext uri="{FF2B5EF4-FFF2-40B4-BE49-F238E27FC236}">
                <a16:creationId xmlns:a16="http://schemas.microsoft.com/office/drawing/2014/main" id="{E3567440-09AC-4F36-8806-9F0B7B0E9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5222468"/>
            <a:ext cx="1025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2 </a:t>
            </a:r>
          </a:p>
        </p:txBody>
      </p:sp>
      <p:sp>
        <p:nvSpPr>
          <p:cNvPr id="59" name="Line 12">
            <a:extLst>
              <a:ext uri="{FF2B5EF4-FFF2-40B4-BE49-F238E27FC236}">
                <a16:creationId xmlns:a16="http://schemas.microsoft.com/office/drawing/2014/main" id="{8E16AEF2-4462-4169-B732-497BE047BD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2696" y="5451068"/>
            <a:ext cx="4572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0" name="Text Box 13">
            <a:extLst>
              <a:ext uri="{FF2B5EF4-FFF2-40B4-BE49-F238E27FC236}">
                <a16:creationId xmlns:a16="http://schemas.microsoft.com/office/drawing/2014/main" id="{144C4DB9-D912-41B9-9BA3-AF4DFAE0F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129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(21)</a:t>
            </a:r>
          </a:p>
        </p:txBody>
      </p:sp>
      <p:sp>
        <p:nvSpPr>
          <p:cNvPr id="61" name="Line 14">
            <a:extLst>
              <a:ext uri="{FF2B5EF4-FFF2-40B4-BE49-F238E27FC236}">
                <a16:creationId xmlns:a16="http://schemas.microsoft.com/office/drawing/2014/main" id="{23751F28-1488-46F7-9203-6BF2484126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20058" y="5451068"/>
            <a:ext cx="4476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2" name="Text Box 15">
            <a:extLst>
              <a:ext uri="{FF2B5EF4-FFF2-40B4-BE49-F238E27FC236}">
                <a16:creationId xmlns:a16="http://schemas.microsoft.com/office/drawing/2014/main" id="{8426A712-A60A-474E-A4B2-12CA73ED3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304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(28)</a:t>
            </a:r>
          </a:p>
        </p:txBody>
      </p:sp>
      <p:sp>
        <p:nvSpPr>
          <p:cNvPr id="63" name="Line 16">
            <a:extLst>
              <a:ext uri="{FF2B5EF4-FFF2-40B4-BE49-F238E27FC236}">
                <a16:creationId xmlns:a16="http://schemas.microsoft.com/office/drawing/2014/main" id="{269ADB5E-EFCB-4ED5-A8E4-470159C855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8696" y="5451068"/>
            <a:ext cx="60960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4" name="Text Box 17">
            <a:extLst>
              <a:ext uri="{FF2B5EF4-FFF2-40B4-BE49-F238E27FC236}">
                <a16:creationId xmlns:a16="http://schemas.microsoft.com/office/drawing/2014/main" id="{226B324B-BA7F-4126-8FFF-B4CF2A418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714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(19)</a:t>
            </a:r>
          </a:p>
        </p:txBody>
      </p:sp>
      <p:sp>
        <p:nvSpPr>
          <p:cNvPr id="65" name="Text Box 18">
            <a:extLst>
              <a:ext uri="{FF2B5EF4-FFF2-40B4-BE49-F238E27FC236}">
                <a16:creationId xmlns:a16="http://schemas.microsoft.com/office/drawing/2014/main" id="{EC440233-50C4-47E4-ADB2-58158E4D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7896" y="47652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(21)</a:t>
            </a:r>
          </a:p>
        </p:txBody>
      </p:sp>
      <p:sp>
        <p:nvSpPr>
          <p:cNvPr id="66" name="Line 19">
            <a:extLst>
              <a:ext uri="{FF2B5EF4-FFF2-40B4-BE49-F238E27FC236}">
                <a16:creationId xmlns:a16="http://schemas.microsoft.com/office/drawing/2014/main" id="{5915E046-233B-4491-AB6A-E78E39EE26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01296" y="5451068"/>
            <a:ext cx="4476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7" name="Line 20">
            <a:extLst>
              <a:ext uri="{FF2B5EF4-FFF2-40B4-BE49-F238E27FC236}">
                <a16:creationId xmlns:a16="http://schemas.microsoft.com/office/drawing/2014/main" id="{8C3EA9D5-A273-4AD5-91B1-217487B874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8096" y="438426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68" name="Text Box 21">
            <a:extLst>
              <a:ext uri="{FF2B5EF4-FFF2-40B4-BE49-F238E27FC236}">
                <a16:creationId xmlns:a16="http://schemas.microsoft.com/office/drawing/2014/main" id="{D07D2627-EEA5-4AC4-841B-3392ED226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69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(38)</a:t>
            </a:r>
          </a:p>
        </p:txBody>
      </p:sp>
      <p:sp>
        <p:nvSpPr>
          <p:cNvPr id="69" name="Text Box 22">
            <a:extLst>
              <a:ext uri="{FF2B5EF4-FFF2-40B4-BE49-F238E27FC236}">
                <a16:creationId xmlns:a16="http://schemas.microsoft.com/office/drawing/2014/main" id="{CE5870E3-FDF3-4476-9721-C8F9D399F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69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(34)</a:t>
            </a:r>
          </a:p>
        </p:txBody>
      </p:sp>
      <p:sp>
        <p:nvSpPr>
          <p:cNvPr id="70" name="Line 23">
            <a:extLst>
              <a:ext uri="{FF2B5EF4-FFF2-40B4-BE49-F238E27FC236}">
                <a16:creationId xmlns:a16="http://schemas.microsoft.com/office/drawing/2014/main" id="{D47D89CD-E12C-40DC-9F76-903A0D4097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7696" y="43842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Text Box 24">
            <a:extLst>
              <a:ext uri="{FF2B5EF4-FFF2-40B4-BE49-F238E27FC236}">
                <a16:creationId xmlns:a16="http://schemas.microsoft.com/office/drawing/2014/main" id="{1009346B-1AF4-4889-B59C-6E883A32A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4346" y="37746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(29)</a:t>
            </a:r>
          </a:p>
        </p:txBody>
      </p:sp>
      <p:sp>
        <p:nvSpPr>
          <p:cNvPr id="72" name="Line 25">
            <a:extLst>
              <a:ext uri="{FF2B5EF4-FFF2-40B4-BE49-F238E27FC236}">
                <a16:creationId xmlns:a16="http://schemas.microsoft.com/office/drawing/2014/main" id="{BD626080-691D-4EFC-B2C6-EF8895C032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91696" y="4384268"/>
            <a:ext cx="4572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3" name="Text Box 26">
            <a:extLst>
              <a:ext uri="{FF2B5EF4-FFF2-40B4-BE49-F238E27FC236}">
                <a16:creationId xmlns:a16="http://schemas.microsoft.com/office/drawing/2014/main" id="{42BCEC01-93BF-443E-BA92-BB89F830D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8096" y="27078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(50)</a:t>
            </a:r>
          </a:p>
        </p:txBody>
      </p:sp>
      <p:sp>
        <p:nvSpPr>
          <p:cNvPr id="74" name="Line 27">
            <a:extLst>
              <a:ext uri="{FF2B5EF4-FFF2-40B4-BE49-F238E27FC236}">
                <a16:creationId xmlns:a16="http://schemas.microsoft.com/office/drawing/2014/main" id="{6C0F4394-D44B-4C32-95F2-A73D35A108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9496" y="33936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5" name="Line 28">
            <a:extLst>
              <a:ext uri="{FF2B5EF4-FFF2-40B4-BE49-F238E27FC236}">
                <a16:creationId xmlns:a16="http://schemas.microsoft.com/office/drawing/2014/main" id="{DF817EB0-2B5E-412E-955C-590A766F6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4896" y="34698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6" name="Text Box 29">
            <a:extLst>
              <a:ext uri="{FF2B5EF4-FFF2-40B4-BE49-F238E27FC236}">
                <a16:creationId xmlns:a16="http://schemas.microsoft.com/office/drawing/2014/main" id="{CF2DF9AE-EDB4-4B9D-8BDE-7176D6E67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7296" y="27078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(49)</a:t>
            </a:r>
          </a:p>
        </p:txBody>
      </p:sp>
      <p:sp>
        <p:nvSpPr>
          <p:cNvPr id="77" name="Line 30">
            <a:extLst>
              <a:ext uri="{FF2B5EF4-FFF2-40B4-BE49-F238E27FC236}">
                <a16:creationId xmlns:a16="http://schemas.microsoft.com/office/drawing/2014/main" id="{38E4E116-F241-4A54-A665-6E66934C51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1496" y="2326868"/>
            <a:ext cx="3810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20000"/>
              </a:spcBef>
              <a:buClr>
                <a:srgbClr val="CC9900"/>
              </a:buClr>
              <a:buSzPct val="65000"/>
              <a:buFont typeface="Wingdings" panose="05000000000000000000" pitchFamily="2" charset="2"/>
              <a:buNone/>
            </a:pP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8" name="Text Box 31">
            <a:extLst>
              <a:ext uri="{FF2B5EF4-FFF2-40B4-BE49-F238E27FC236}">
                <a16:creationId xmlns:a16="http://schemas.microsoft.com/office/drawing/2014/main" id="{21C6CC59-7C61-4706-92CD-DAA5D2E31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896" y="1641068"/>
            <a:ext cx="692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(59)</a:t>
            </a:r>
          </a:p>
        </p:txBody>
      </p:sp>
      <p:sp>
        <p:nvSpPr>
          <p:cNvPr id="79" name="Text Box 32">
            <a:extLst>
              <a:ext uri="{FF2B5EF4-FFF2-40B4-BE49-F238E27FC236}">
                <a16:creationId xmlns:a16="http://schemas.microsoft.com/office/drawing/2014/main" id="{A4690CBA-2630-41D1-945C-960ECE6F9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56241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0" name="Text Box 33">
            <a:extLst>
              <a:ext uri="{FF2B5EF4-FFF2-40B4-BE49-F238E27FC236}">
                <a16:creationId xmlns:a16="http://schemas.microsoft.com/office/drawing/2014/main" id="{DB9CCE7F-767F-4A28-BA2D-476A512AA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46335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1" name="Text Box 34">
            <a:extLst>
              <a:ext uri="{FF2B5EF4-FFF2-40B4-BE49-F238E27FC236}">
                <a16:creationId xmlns:a16="http://schemas.microsoft.com/office/drawing/2014/main" id="{87C3A9E5-284C-4C25-B11A-E66884B3A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35667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2" name="Text Box 35">
            <a:extLst>
              <a:ext uri="{FF2B5EF4-FFF2-40B4-BE49-F238E27FC236}">
                <a16:creationId xmlns:a16="http://schemas.microsoft.com/office/drawing/2014/main" id="{1A557F12-1ABE-45B2-88EC-E8B9D7AA1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8096" y="2499906"/>
            <a:ext cx="9493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决策  </a:t>
            </a:r>
          </a:p>
        </p:txBody>
      </p:sp>
      <p:sp>
        <p:nvSpPr>
          <p:cNvPr id="83" name="Text Box 36">
            <a:extLst>
              <a:ext uri="{FF2B5EF4-FFF2-40B4-BE49-F238E27FC236}">
                <a16:creationId xmlns:a16="http://schemas.microsoft.com/office/drawing/2014/main" id="{B7C9B9A5-13F5-46D8-A001-220EC169F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2496" y="6060668"/>
            <a:ext cx="110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阶段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rPr>
              <a:t>1  </a:t>
            </a:r>
          </a:p>
        </p:txBody>
      </p:sp>
    </p:spTree>
    <p:extLst>
      <p:ext uri="{BB962C8B-B14F-4D97-AF65-F5344CB8AC3E}">
        <p14:creationId xmlns:p14="http://schemas.microsoft.com/office/powerpoint/2010/main" val="7010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59" grpId="0" animBg="1"/>
      <p:bldP spid="60" grpId="0"/>
      <p:bldP spid="61" grpId="0" animBg="1"/>
      <p:bldP spid="62" grpId="0"/>
      <p:bldP spid="63" grpId="0" animBg="1"/>
      <p:bldP spid="64" grpId="0"/>
      <p:bldP spid="65" grpId="0"/>
      <p:bldP spid="66" grpId="0" animBg="1"/>
      <p:bldP spid="67" grpId="0" animBg="1"/>
      <p:bldP spid="68" grpId="0"/>
      <p:bldP spid="69" grpId="0"/>
      <p:bldP spid="70" grpId="0" animBg="1"/>
      <p:bldP spid="71" grpId="0"/>
      <p:bldP spid="72" grpId="0" animBg="1"/>
      <p:bldP spid="73" grpId="0"/>
      <p:bldP spid="74" grpId="0" animBg="1"/>
      <p:bldP spid="75" grpId="0" animBg="1"/>
      <p:bldP spid="76" grpId="0"/>
      <p:bldP spid="77" grpId="0" animBg="1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911" y="1633446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动态规划的三要素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911" y="2062708"/>
            <a:ext cx="10087671" cy="316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阶段：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把求解的问题分成许多阶段或多个子问题，然后按顺序求解各子问题，最后一个子问题就是初始问题的解；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每个子问题表示的含义；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决策：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每阶段选择当前最优解；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50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517611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动态规划的基本条件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928859"/>
            <a:ext cx="9980682" cy="4385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无后效性：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某阶段状态一旦确定以后，就不受以后决策的影响。即某状态以后的过程不会影响以前的状态，只与当前状态有关；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的最大和只要考虑到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的最大和与到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的最大和哪个更大，而后续到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的最大值对当前状态没有影响</a:t>
            </a: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最优子结构：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问题的最优解包含着其子问题的最优解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9-&gt;12-&gt;10-&gt;18-&gt;10</a:t>
            </a:r>
          </a:p>
          <a:p>
            <a:pPr marL="669925" lvl="1" indent="-325755">
              <a:lnSpc>
                <a:spcPct val="200000"/>
              </a:lnSpc>
              <a:spcBef>
                <a:spcPct val="20000"/>
              </a:spcBef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12-&gt;10-&gt;18-&gt;10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到最后一层的最大和</a:t>
            </a:r>
            <a:r>
              <a:rPr lang="en-US" altLang="zh-CN" sz="16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lvl="0">
              <a:lnSpc>
                <a:spcPct val="200000"/>
              </a:lnSpc>
              <a:defRPr/>
            </a:pPr>
            <a:endParaRPr lang="en-US" altLang="zh-CN" sz="16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16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123" y="1547972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动态规划的特点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123" y="1959220"/>
            <a:ext cx="9896751" cy="3161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空间换时间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子问题重叠性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669925" lvl="1" indent="-325755" fontAlgn="auto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800" b="0" dirty="0">
                <a:solidFill>
                  <a:srgbClr val="514843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递归算法效率低的主要原因是因为进行了大量的重复计算。而动态规划的基本动机就是充分利用重叠子问题</a:t>
            </a:r>
            <a:endParaRPr lang="en-US" altLang="zh-CN" sz="1800" b="0" dirty="0">
              <a:solidFill>
                <a:srgbClr val="514843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69925" lvl="1" indent="-325755" fontAlgn="auto">
              <a:lnSpc>
                <a:spcPct val="200000"/>
              </a:lnSpc>
              <a:spcBef>
                <a:spcPct val="20000"/>
              </a:spcBef>
              <a:spcAft>
                <a:spcPts val="0"/>
              </a:spcAft>
              <a:buClr>
                <a:srgbClr val="3B812F"/>
              </a:buClr>
              <a:buSzPct val="60000"/>
              <a:buFont typeface="Wingdings" panose="05000000000000000000" pitchFamily="2" charset="2"/>
              <a:buChar char="q"/>
              <a:defRPr/>
            </a:pPr>
            <a:r>
              <a:rPr lang="zh-CN" altLang="en-US" sz="1800" b="0" dirty="0">
                <a:solidFill>
                  <a:srgbClr val="514843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动态规划将以前（子问题）计算过的结果都记录下来，遇到使用子问题结果的时候只需查表</a:t>
            </a:r>
          </a:p>
        </p:txBody>
      </p:sp>
    </p:spTree>
    <p:extLst>
      <p:ext uri="{BB962C8B-B14F-4D97-AF65-F5344CB8AC3E}">
        <p14:creationId xmlns:p14="http://schemas.microsoft.com/office/powerpoint/2010/main" val="55577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5C630-1056-4725-A145-659285F53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动态规划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BECC9B-AEB6-4A13-8C28-EDD1472A3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1502609"/>
            <a:ext cx="8229600" cy="4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defRPr/>
            </a:pPr>
            <a:r>
              <a:rPr lang="zh-CN" altLang="en-US" sz="1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动态规划的基本类型</a:t>
            </a:r>
            <a:endParaRPr lang="en-US" altLang="zh-CN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endParaRPr lang="zh-CN" altLang="en-US" sz="1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Rectangle 2">
            <a:extLst>
              <a:ext uri="{FF2B5EF4-FFF2-40B4-BE49-F238E27FC236}">
                <a16:creationId xmlns:a16="http://schemas.microsoft.com/office/drawing/2014/main" id="{536D7CA1-5298-4CF7-A221-425DBA00C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7624" y="1913857"/>
            <a:ext cx="9896751" cy="422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线性动态规划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背包问题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区间动态规划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树上动态规划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状态压缩类动态规划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单调队列优化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en-US" altLang="zh-CN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7.</a:t>
            </a:r>
            <a:r>
              <a:rPr lang="zh-CN" altLang="en-US" sz="1800" b="0" dirty="0">
                <a:solidFill>
                  <a:schemeClr val="tx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斜率优化</a:t>
            </a:r>
            <a:endParaRPr lang="en-US" altLang="zh-CN" sz="1800" b="0" dirty="0">
              <a:solidFill>
                <a:schemeClr val="tx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616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1209</Words>
  <Application>Microsoft Office PowerPoint</Application>
  <PresentationFormat>宽屏</PresentationFormat>
  <Paragraphs>171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宋体</vt:lpstr>
      <vt:lpstr>微软雅黑</vt:lpstr>
      <vt:lpstr>Arial</vt:lpstr>
      <vt:lpstr>Euphemia</vt:lpstr>
      <vt:lpstr>Garamond</vt:lpstr>
      <vt:lpstr>Times New Roman</vt:lpstr>
      <vt:lpstr>Wingdings</vt:lpstr>
      <vt:lpstr>学术文献 16x9</vt:lpstr>
      <vt:lpstr>动态规划基础</vt:lpstr>
      <vt:lpstr>学习目标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动态规划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2021-11-21T04:13:09Z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