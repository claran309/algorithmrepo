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1" r:id="rId7"/>
    <p:sldId id="262" r:id="rId8"/>
    <p:sldId id="260" r:id="rId9"/>
    <p:sldId id="263" r:id="rId10"/>
    <p:sldId id="264" r:id="rId11"/>
    <p:sldId id="265" r:id="rId12"/>
    <p:sldId id="266" r:id="rId13"/>
    <p:sldId id="267" r:id="rId14"/>
    <p:sldId id="268" r:id="rId15"/>
    <p:sldId id="269" r:id="rId16"/>
    <p:sldId id="286" r:id="rId17"/>
    <p:sldId id="287" r:id="rId18"/>
    <p:sldId id="271" r:id="rId19"/>
    <p:sldId id="272" r:id="rId20"/>
    <p:sldId id="273" r:id="rId21"/>
    <p:sldId id="274" r:id="rId22"/>
    <p:sldId id="275" r:id="rId23"/>
    <p:sldId id="276" r:id="rId24"/>
    <p:sldId id="277" r:id="rId25"/>
    <p:sldId id="279" r:id="rId26"/>
    <p:sldId id="281" r:id="rId27"/>
    <p:sldId id="282" r:id="rId28"/>
    <p:sldId id="283" r:id="rId29"/>
    <p:sldId id="284" r:id="rId30"/>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p:scale>
          <a:sx n="66" d="100"/>
          <a:sy n="66" d="100"/>
        </p:scale>
        <p:origin x="-1488" y="-216"/>
      </p:cViewPr>
      <p:guideLst>
        <p:guide orient="horz" pos="2160"/>
        <p:guide pos="2880"/>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170" name="Rectangle 2"/>
          <p:cNvSpPr>
            <a:spLocks noGrp="1" noRot="1" noChangeArrowheads="1"/>
          </p:cNvSpPr>
          <p:nvPr>
            <p:ph type="ctrTitle"/>
          </p:nvPr>
        </p:nvSpPr>
        <p:spPr>
          <a:xfrm>
            <a:off x="685800" y="2286000"/>
            <a:ext cx="77724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717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endParaRPr lang="zh-CN" altLang="en-US" strike="noStrike" noProof="1"/>
          </a:p>
        </p:txBody>
      </p:sp>
      <p:sp>
        <p:nvSpPr>
          <p:cNvPr id="7"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indent="0" algn="l" defTabSz="914400" rtl="0" eaLnBrk="1" fontAlgn="base" latinLnBrk="0" hangingPunct="1">
              <a:lnSpc>
                <a:spcPct val="100000"/>
              </a:lnSpc>
              <a:spcBef>
                <a:spcPct val="0"/>
              </a:spcBef>
              <a:spcAft>
                <a:spcPct val="0"/>
              </a:spcAft>
              <a:buClrTx/>
              <a:buSzTx/>
              <a:buFontTx/>
              <a:buNone/>
              <a:defRPr/>
            </a:pPr>
            <a:endParaRPr kumimoji="0" lang="en-US" altLang="zh-CN" b="0" i="0" strike="noStrike" kern="1200" cap="none" spc="0" normalizeH="0" baseline="0" noProof="0" smtClean="0">
              <a:solidFill>
                <a:schemeClr val="tx1"/>
              </a:solidFill>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indent="0" defTabSz="914400" rtl="0" eaLnBrk="1" fontAlgn="base" latinLnBrk="0" hangingPunct="1">
              <a:lnSpc>
                <a:spcPct val="100000"/>
              </a:lnSpc>
              <a:spcBef>
                <a:spcPct val="0"/>
              </a:spcBef>
              <a:spcAft>
                <a:spcPct val="0"/>
              </a:spcAft>
              <a:buClrTx/>
              <a:buSzTx/>
              <a:buFontTx/>
              <a:buNone/>
              <a:defRPr/>
            </a:pPr>
            <a:endParaRPr kumimoji="0" lang="en-US" altLang="zh-CN" b="0" i="0" strike="noStrike" kern="1200" cap="none" spc="0" normalizeH="0" baseline="0" noProof="0" smtClean="0">
              <a:solidFill>
                <a:schemeClr val="tx1"/>
              </a:solidFill>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p>
            <a:pPr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01625" y="228600"/>
            <a:ext cx="6253163" cy="587057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noRot="1"/>
          </p:cNvSpPr>
          <p:nvPr>
            <p:ph type="title"/>
          </p:nvPr>
        </p:nvSpPr>
        <p:spPr>
          <a:xfrm>
            <a:off x="301625" y="228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noRot="1"/>
          </p:cNvSpPr>
          <p:nvPr>
            <p:ph type="body"/>
          </p:nvPr>
        </p:nvSpPr>
        <p:spPr>
          <a:xfrm>
            <a:off x="301625" y="1600200"/>
            <a:ext cx="8540750" cy="4498975"/>
          </a:xfrm>
          <a:prstGeom prst="rect">
            <a:avLst/>
          </a:prstGeom>
          <a:noFill/>
          <a:ln w="9525">
            <a:noFill/>
          </a:ln>
        </p:spPr>
        <p:txBody>
          <a:bodyPr anchor="t" anchorCtr="0"/>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6148"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0"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p>
            <a:pPr lvl="0" algn="r" eaLnBrk="1" fontAlgn="base" hangingPunct="1"/>
            <a:fld id="{9A0DB2DC-4C9A-4742-B13C-FB6460FD3503}" type="slidenum">
              <a:rPr lang="en-US" altLang="zh-CN" sz="1400" strike="noStrike" noProof="1">
                <a:latin typeface="Arial" panose="020B0604020202020204" pitchFamily="34" charset="0"/>
                <a:ea typeface="宋体" panose="02010600030101010101" pitchFamily="2" charset="-122"/>
                <a:cs typeface="+mn-ea"/>
              </a:rPr>
            </a:fld>
            <a:endParaRPr lang="en-US" altLang="zh-CN" sz="1400" strike="noStrike" noProof="1"/>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folHlink"/>
        </a:buClr>
        <a:buSzPct val="90000"/>
        <a:buFont typeface="Wingdings" panose="05000000000000000000" pitchFamily="2" charset="2"/>
        <a:buChar char="w"/>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95000"/>
        <a:buFont typeface="Wingdings" panose="05000000000000000000" pitchFamily="2" charset="2"/>
        <a:buChar char="ª"/>
        <a:defRPr sz="2800">
          <a:solidFill>
            <a:schemeClr val="tx1"/>
          </a:solidFill>
          <a:latin typeface="+mn-lt"/>
          <a:ea typeface="+mn-ea"/>
        </a:defRPr>
      </a:lvl2pPr>
      <a:lvl3pPr marL="1143000" indent="-228600" algn="l" rtl="0" fontAlgn="base">
        <a:spcBef>
          <a:spcPct val="20000"/>
        </a:spcBef>
        <a:spcAft>
          <a:spcPct val="0"/>
        </a:spcAft>
        <a:buClr>
          <a:schemeClr val="folHlink"/>
        </a:buClr>
        <a:buFont typeface="Wingdings" panose="05000000000000000000" pitchFamily="2" charset="2"/>
        <a:buChar char="w"/>
        <a:defRPr sz="2400">
          <a:solidFill>
            <a:schemeClr val="tx1"/>
          </a:solidFill>
          <a:latin typeface="+mn-lt"/>
          <a:ea typeface="+mn-ea"/>
        </a:defRPr>
      </a:lvl3pPr>
      <a:lvl4pPr marL="1600200" indent="-228600" algn="l" rtl="0" fontAlgn="base">
        <a:spcBef>
          <a:spcPct val="20000"/>
        </a:spcBef>
        <a:spcAft>
          <a:spcPct val="0"/>
        </a:spcAft>
        <a:buClr>
          <a:schemeClr val="hlink"/>
        </a:buClr>
        <a:buFont typeface="Wingdings" panose="05000000000000000000" pitchFamily="2" charset="2"/>
        <a:buChar char="ª"/>
        <a:defRPr sz="2000">
          <a:solidFill>
            <a:schemeClr val="tx1"/>
          </a:solidFill>
          <a:latin typeface="+mn-lt"/>
          <a:ea typeface="+mn-ea"/>
        </a:defRPr>
      </a:lvl4pPr>
      <a:lvl5pPr marL="2057400"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noRot="1"/>
          </p:cNvSpPr>
          <p:nvPr>
            <p:ph type="ctrTitle"/>
          </p:nvPr>
        </p:nvSpPr>
        <p:spPr>
          <a:ln/>
        </p:spPr>
        <p:txBody>
          <a:bodyPr wrap="square" lIns="91440" tIns="45720" rIns="91440" bIns="45720" anchor="ctr" anchorCtr="0"/>
          <a:p>
            <a:pPr eaLnBrk="1" hangingPunct="1">
              <a:buClrTx/>
              <a:buSzTx/>
              <a:buFontTx/>
            </a:pPr>
            <a:r>
              <a:rPr lang="zh-CN" altLang="en-US" b="1" dirty="0">
                <a:latin typeface="+mj-lt"/>
                <a:ea typeface="+mj-ea"/>
                <a:cs typeface="+mj-cs"/>
              </a:rPr>
              <a:t>第八章  广度优先搜索</a:t>
            </a:r>
            <a:endParaRPr lang="zh-CN" altLang="en-US" b="1" dirty="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3"/>
          <p:cNvSpPr>
            <a:spLocks noGrp="1" noRot="1"/>
          </p:cNvSpPr>
          <p:nvPr>
            <p:ph idx="1"/>
          </p:nvPr>
        </p:nvSpPr>
        <p:spPr>
          <a:xfrm>
            <a:off x="152400" y="152400"/>
            <a:ext cx="8540750" cy="609600"/>
          </a:xfrm>
          <a:ln/>
        </p:spPr>
        <p:txBody>
          <a:bodyPr wrap="square" lIns="91440" tIns="45720" rIns="91440" bIns="45720" anchor="t" anchorCtr="0"/>
          <a:p>
            <a:pPr eaLnBrk="1" hangingPunct="1"/>
            <a:r>
              <a:rPr lang="zh-CN" altLang="en-US" b="1" dirty="0">
                <a:solidFill>
                  <a:schemeClr val="tx2"/>
                </a:solidFill>
              </a:rPr>
              <a:t>广度优先搜索的过程 </a:t>
            </a:r>
            <a:endParaRPr lang="zh-CN" altLang="en-US" b="1" dirty="0">
              <a:solidFill>
                <a:schemeClr val="tx2"/>
              </a:solidFill>
            </a:endParaRPr>
          </a:p>
        </p:txBody>
      </p:sp>
      <p:sp>
        <p:nvSpPr>
          <p:cNvPr id="4098" name="Text Box 4"/>
          <p:cNvSpPr txBox="1"/>
          <p:nvPr/>
        </p:nvSpPr>
        <p:spPr>
          <a:xfrm>
            <a:off x="381000" y="1203325"/>
            <a:ext cx="8458200" cy="4359275"/>
          </a:xfrm>
          <a:prstGeom prst="rect">
            <a:avLst/>
          </a:prstGeom>
          <a:noFill/>
          <a:ln w="9525">
            <a:noFill/>
          </a:ln>
        </p:spPr>
        <p:txBody>
          <a:bodyPr anchor="t" anchorCtr="0">
            <a:spAutoFit/>
          </a:bodyPr>
          <a:p>
            <a:r>
              <a:rPr lang="en-US" altLang="zh-CN" sz="200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广度优先搜索算法（又称宽度优先搜索）是最简便的图的搜索算法之一，这一算法也是很多重要的图的算法的原型。</a:t>
            </a:r>
            <a:r>
              <a:rPr lang="en-US" altLang="zh-CN" sz="2000" err="1">
                <a:latin typeface="Arial" panose="020B0604020202020204" pitchFamily="34" charset="0"/>
                <a:ea typeface="宋体" panose="02010600030101010101" pitchFamily="2" charset="-122"/>
              </a:rPr>
              <a:t>Dijkstra</a:t>
            </a:r>
            <a:r>
              <a:rPr lang="zh-CN" altLang="en-US" sz="2000" dirty="0">
                <a:latin typeface="Arial" panose="020B0604020202020204" pitchFamily="34" charset="0"/>
                <a:ea typeface="宋体" panose="02010600030101010101" pitchFamily="2" charset="-122"/>
              </a:rPr>
              <a:t>单源最短路径算法和</a:t>
            </a:r>
            <a:r>
              <a:rPr lang="en-US" altLang="zh-CN" sz="2000">
                <a:latin typeface="Arial" panose="020B0604020202020204" pitchFamily="34" charset="0"/>
                <a:ea typeface="宋体" panose="02010600030101010101" pitchFamily="2" charset="-122"/>
              </a:rPr>
              <a:t>Prim</a:t>
            </a:r>
            <a:r>
              <a:rPr lang="zh-CN" altLang="en-US" sz="2000" dirty="0">
                <a:latin typeface="Arial" panose="020B0604020202020204" pitchFamily="34" charset="0"/>
                <a:ea typeface="宋体" panose="02010600030101010101" pitchFamily="2" charset="-122"/>
              </a:rPr>
              <a:t>最小生成树算法都采用了和宽度优先搜索类似的思想。</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广度优先算法的核心思想是：从初始节点开始，应用算符生成第一层节点，检查目标节点是否在这些后继节点中，若没有，再用产生式规则将所有第一层的节点逐一扩展，得到第二层节点，并逐一检查第二层节点中是否包含目标节点。若没有，再用算符逐一扩展第二层的所有节点</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，如此依次扩展，检查下去，直到发现目标节点为止。即</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⒈从图中的某一顶点</a:t>
            </a:r>
            <a:r>
              <a:rPr lang="en-US" altLang="zh-CN" sz="2000">
                <a:latin typeface="Arial" panose="020B0604020202020204" pitchFamily="34" charset="0"/>
                <a:ea typeface="宋体" panose="02010600030101010101" pitchFamily="2" charset="-122"/>
              </a:rPr>
              <a:t>V0</a:t>
            </a:r>
            <a:r>
              <a:rPr lang="zh-CN" altLang="en-US" sz="2000" dirty="0">
                <a:latin typeface="Arial" panose="020B0604020202020204" pitchFamily="34" charset="0"/>
                <a:ea typeface="宋体" panose="02010600030101010101" pitchFamily="2" charset="-122"/>
              </a:rPr>
              <a:t>开始，先访问</a:t>
            </a:r>
            <a:r>
              <a:rPr lang="en-US" altLang="zh-CN" sz="2000">
                <a:latin typeface="Arial" panose="020B0604020202020204" pitchFamily="34" charset="0"/>
                <a:ea typeface="宋体" panose="02010600030101010101" pitchFamily="2" charset="-122"/>
              </a:rPr>
              <a:t>V0</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⒉访问所有与</a:t>
            </a:r>
            <a:r>
              <a:rPr lang="en-US" altLang="zh-CN" sz="2000">
                <a:latin typeface="Arial" panose="020B0604020202020204" pitchFamily="34" charset="0"/>
                <a:ea typeface="宋体" panose="02010600030101010101" pitchFamily="2" charset="-122"/>
              </a:rPr>
              <a:t>V0</a:t>
            </a:r>
            <a:r>
              <a:rPr lang="zh-CN" altLang="en-US" sz="2000" dirty="0">
                <a:latin typeface="Arial" panose="020B0604020202020204" pitchFamily="34" charset="0"/>
                <a:ea typeface="宋体" panose="02010600030101010101" pitchFamily="2" charset="-122"/>
              </a:rPr>
              <a:t>相邻接的顶点</a:t>
            </a:r>
            <a:r>
              <a:rPr lang="en-US" altLang="zh-CN" sz="2000">
                <a:latin typeface="Arial" panose="020B0604020202020204" pitchFamily="34" charset="0"/>
                <a:ea typeface="宋体" panose="02010600030101010101" pitchFamily="2" charset="-122"/>
              </a:rPr>
              <a:t>V1</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V2</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a:t>
            </a:r>
            <a:r>
              <a:rPr lang="en-US" altLang="zh-CN" sz="2000" err="1">
                <a:latin typeface="Arial" panose="020B0604020202020204" pitchFamily="34" charset="0"/>
                <a:ea typeface="宋体" panose="02010600030101010101" pitchFamily="2" charset="-122"/>
              </a:rPr>
              <a:t>Vt</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⒊依次访问与</a:t>
            </a:r>
            <a:r>
              <a:rPr lang="en-US" altLang="zh-CN" sz="2000">
                <a:latin typeface="Arial" panose="020B0604020202020204" pitchFamily="34" charset="0"/>
                <a:ea typeface="宋体" panose="02010600030101010101" pitchFamily="2" charset="-122"/>
              </a:rPr>
              <a:t>V1</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V2</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a:t>
            </a:r>
            <a:r>
              <a:rPr lang="en-US" altLang="zh-CN" sz="2000" err="1">
                <a:latin typeface="Arial" panose="020B0604020202020204" pitchFamily="34" charset="0"/>
                <a:ea typeface="宋体" panose="02010600030101010101" pitchFamily="2" charset="-122"/>
              </a:rPr>
              <a:t>Vt</a:t>
            </a:r>
            <a:r>
              <a:rPr lang="zh-CN" altLang="en-US" sz="2000" dirty="0">
                <a:latin typeface="Arial" panose="020B0604020202020204" pitchFamily="34" charset="0"/>
                <a:ea typeface="宋体" panose="02010600030101010101" pitchFamily="2" charset="-122"/>
              </a:rPr>
              <a:t>相邻接的所有未曾访问过的顶点；</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⒋循此以往，直至所有的顶点都被访问过为止。</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这种搜索的次序体现沿层次向横向扩展的趋势，所以称之为广度优先搜索。</a:t>
            </a:r>
            <a:endParaRPr lang="zh-CN" altLang="en-US" sz="2000" dirty="0">
              <a:latin typeface="Arial" panose="020B0604020202020204" pitchFamily="34"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3"/>
          <p:cNvSpPr>
            <a:spLocks noGrp="1" noRot="1"/>
          </p:cNvSpPr>
          <p:nvPr>
            <p:ph idx="1"/>
          </p:nvPr>
        </p:nvSpPr>
        <p:spPr>
          <a:xfrm>
            <a:off x="222250" y="228600"/>
            <a:ext cx="8540750" cy="685800"/>
          </a:xfrm>
          <a:ln/>
        </p:spPr>
        <p:txBody>
          <a:bodyPr wrap="square" lIns="91440" tIns="45720" rIns="91440" bIns="45720" anchor="t" anchorCtr="0"/>
          <a:p>
            <a:pPr eaLnBrk="1" hangingPunct="1"/>
            <a:r>
              <a:rPr lang="zh-CN" altLang="en-US" b="1" dirty="0">
                <a:solidFill>
                  <a:schemeClr val="tx2"/>
                </a:solidFill>
              </a:rPr>
              <a:t>广度优先搜索算法描述：</a:t>
            </a:r>
            <a:endParaRPr lang="zh-CN" altLang="en-US" b="1" dirty="0">
              <a:solidFill>
                <a:schemeClr val="tx2"/>
              </a:solidFill>
            </a:endParaRPr>
          </a:p>
        </p:txBody>
      </p:sp>
      <p:sp>
        <p:nvSpPr>
          <p:cNvPr id="5122" name="Text Box 4"/>
          <p:cNvSpPr txBox="1"/>
          <p:nvPr/>
        </p:nvSpPr>
        <p:spPr>
          <a:xfrm>
            <a:off x="457200" y="990600"/>
            <a:ext cx="8305800" cy="5310188"/>
          </a:xfrm>
          <a:prstGeom prst="rect">
            <a:avLst/>
          </a:prstGeom>
          <a:noFill/>
          <a:ln w="9525">
            <a:noFill/>
          </a:ln>
        </p:spPr>
        <p:txBody>
          <a:bodyPr anchor="t" anchorCtr="0">
            <a:spAutoFit/>
          </a:bodyPr>
          <a:p>
            <a:r>
              <a:rPr lang="en-US" altLang="zh-CN" err="1">
                <a:latin typeface="Arial" panose="020B0604020202020204" pitchFamily="34" charset="0"/>
                <a:ea typeface="宋体" panose="02010600030101010101" pitchFamily="2" charset="-122"/>
              </a:rPr>
              <a:t>int</a:t>
            </a:r>
            <a:r>
              <a:rPr lang="en-US" altLang="zh-CN">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bfs</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初始化，初始状态存入队列；</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队列首指针</a:t>
            </a:r>
            <a:r>
              <a:rPr lang="en-US" altLang="zh-CN">
                <a:latin typeface="Arial" panose="020B0604020202020204" pitchFamily="34" charset="0"/>
                <a:ea typeface="宋体" panose="02010600030101010101" pitchFamily="2" charset="-122"/>
              </a:rPr>
              <a:t>head=0; </a:t>
            </a:r>
            <a:r>
              <a:rPr lang="zh-CN" altLang="en-US" dirty="0">
                <a:latin typeface="Arial" panose="020B0604020202020204" pitchFamily="34" charset="0"/>
                <a:ea typeface="宋体" panose="02010600030101010101" pitchFamily="2" charset="-122"/>
              </a:rPr>
              <a:t>尾指针</a:t>
            </a:r>
            <a:r>
              <a:rPr lang="en-US" altLang="zh-CN">
                <a:latin typeface="Arial" panose="020B0604020202020204" pitchFamily="34" charset="0"/>
                <a:ea typeface="宋体" panose="02010600030101010101" pitchFamily="2" charset="-122"/>
              </a:rPr>
              <a:t>tail=1</a:t>
            </a:r>
            <a:r>
              <a:rPr lang="zh-CN" altLang="en-US"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do</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指针</a:t>
            </a:r>
            <a:r>
              <a:rPr lang="en-US" altLang="zh-CN">
                <a:latin typeface="Arial" panose="020B0604020202020204" pitchFamily="34" charset="0"/>
                <a:ea typeface="宋体" panose="02010600030101010101" pitchFamily="2" charset="-122"/>
              </a:rPr>
              <a:t>head</a:t>
            </a:r>
            <a:r>
              <a:rPr lang="zh-CN" altLang="en-US" dirty="0">
                <a:latin typeface="Arial" panose="020B0604020202020204" pitchFamily="34" charset="0"/>
                <a:ea typeface="宋体" panose="02010600030101010101" pitchFamily="2" charset="-122"/>
              </a:rPr>
              <a:t>后移一位，指向待扩展结点；</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for (</a:t>
            </a:r>
            <a:r>
              <a:rPr lang="en-US" altLang="zh-CN" err="1">
                <a:latin typeface="Arial" panose="020B0604020202020204" pitchFamily="34" charset="0"/>
                <a:ea typeface="宋体" panose="02010600030101010101" pitchFamily="2" charset="-122"/>
              </a:rPr>
              <a:t>int</a:t>
            </a:r>
            <a:r>
              <a:rPr lang="en-US" altLang="zh-CN">
                <a:latin typeface="Arial" panose="020B0604020202020204" pitchFamily="34" charset="0"/>
                <a:ea typeface="宋体" panose="02010600030101010101" pitchFamily="2" charset="-122"/>
              </a:rPr>
              <a:t> i=1;i&lt;=</a:t>
            </a:r>
            <a:r>
              <a:rPr lang="en-US" altLang="zh-CN" err="1">
                <a:latin typeface="Arial" panose="020B0604020202020204" pitchFamily="34" charset="0"/>
                <a:ea typeface="宋体" panose="02010600030101010101" pitchFamily="2" charset="-122"/>
              </a:rPr>
              <a:t>max;++i</a:t>
            </a:r>
            <a:r>
              <a:rPr lang="en-US" altLang="zh-CN">
                <a:latin typeface="Arial" panose="020B0604020202020204" pitchFamily="34" charset="0"/>
                <a:ea typeface="宋体" panose="02010600030101010101" pitchFamily="2" charset="-122"/>
              </a:rPr>
              <a:t>)                  //max</a:t>
            </a:r>
            <a:r>
              <a:rPr lang="zh-CN" altLang="en-US" dirty="0">
                <a:latin typeface="Arial" panose="020B0604020202020204" pitchFamily="34" charset="0"/>
                <a:ea typeface="宋体" panose="02010600030101010101" pitchFamily="2" charset="-122"/>
              </a:rPr>
              <a:t>为产生子结点的规则数</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if (</a:t>
            </a:r>
            <a:r>
              <a:rPr lang="zh-CN" altLang="en-US" dirty="0">
                <a:latin typeface="Arial" panose="020B0604020202020204" pitchFamily="34" charset="0"/>
                <a:ea typeface="宋体" panose="02010600030101010101" pitchFamily="2" charset="-122"/>
              </a:rPr>
              <a:t>子结点符合条件</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tail</a:t>
            </a:r>
            <a:r>
              <a:rPr lang="zh-CN" altLang="en-US" dirty="0">
                <a:latin typeface="Arial" panose="020B0604020202020204" pitchFamily="34" charset="0"/>
                <a:ea typeface="宋体" panose="02010600030101010101" pitchFamily="2" charset="-122"/>
              </a:rPr>
              <a:t>指针增</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，把新结点存入列尾；</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if (</a:t>
            </a:r>
            <a:r>
              <a:rPr lang="zh-CN" altLang="en-US" dirty="0">
                <a:latin typeface="Arial" panose="020B0604020202020204" pitchFamily="34" charset="0"/>
                <a:ea typeface="宋体" panose="02010600030101010101" pitchFamily="2" charset="-122"/>
              </a:rPr>
              <a:t>新结点与原已产生结点重复</a:t>
            </a:r>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删去该结点（取消入队，</a:t>
            </a:r>
            <a:r>
              <a:rPr lang="en-US" altLang="zh-CN">
                <a:latin typeface="Arial" panose="020B0604020202020204" pitchFamily="34" charset="0"/>
                <a:ea typeface="宋体" panose="02010600030101010101" pitchFamily="2" charset="-122"/>
              </a:rPr>
              <a:t>tail</a:t>
            </a:r>
            <a:r>
              <a:rPr lang="zh-CN" altLang="en-US" dirty="0">
                <a:latin typeface="Arial" panose="020B0604020202020204" pitchFamily="34" charset="0"/>
                <a:ea typeface="宋体" panose="02010600030101010101" pitchFamily="2" charset="-122"/>
              </a:rPr>
              <a:t>减</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else</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if (</a:t>
            </a:r>
            <a:r>
              <a:rPr lang="zh-CN" altLang="en-US" dirty="0">
                <a:latin typeface="Arial" panose="020B0604020202020204" pitchFamily="34" charset="0"/>
                <a:ea typeface="宋体" panose="02010600030101010101" pitchFamily="2" charset="-122"/>
              </a:rPr>
              <a:t>新结点是目标结点</a:t>
            </a:r>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输出并退出；</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a:t>
            </a:r>
            <a:r>
              <a:rPr lang="en-US" altLang="zh-CN" err="1">
                <a:latin typeface="Arial" panose="020B0604020202020204" pitchFamily="34" charset="0"/>
                <a:ea typeface="宋体" panose="02010600030101010101" pitchFamily="2" charset="-122"/>
              </a:rPr>
              <a:t>while(head</a:t>
            </a:r>
            <a:r>
              <a:rPr lang="en-US" altLang="zh-CN">
                <a:latin typeface="Arial" panose="020B0604020202020204" pitchFamily="34" charset="0"/>
                <a:ea typeface="宋体" panose="02010600030101010101" pitchFamily="2" charset="-122"/>
              </a:rPr>
              <a:t>&lt;tail);                       //</a:t>
            </a:r>
            <a:r>
              <a:rPr lang="zh-CN" altLang="en-US" dirty="0">
                <a:latin typeface="Arial" panose="020B0604020202020204" pitchFamily="34" charset="0"/>
                <a:ea typeface="宋体" panose="02010600030101010101" pitchFamily="2" charset="-122"/>
              </a:rPr>
              <a:t>队列为空</a:t>
            </a:r>
            <a:endParaRPr lang="zh-CN" altLang="en-US" dirty="0">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3"/>
          <p:cNvSpPr>
            <a:spLocks noGrp="1" noRot="1"/>
          </p:cNvSpPr>
          <p:nvPr>
            <p:ph idx="1"/>
          </p:nvPr>
        </p:nvSpPr>
        <p:spPr>
          <a:xfrm>
            <a:off x="301625" y="152400"/>
            <a:ext cx="8540750" cy="685800"/>
          </a:xfrm>
          <a:ln/>
        </p:spPr>
        <p:txBody>
          <a:bodyPr wrap="square" lIns="91440" tIns="45720" rIns="91440" bIns="45720" anchor="t" anchorCtr="0"/>
          <a:p>
            <a:pPr eaLnBrk="1" hangingPunct="1"/>
            <a:r>
              <a:rPr lang="zh-CN" altLang="en-US" b="1" dirty="0">
                <a:solidFill>
                  <a:schemeClr val="tx2"/>
                </a:solidFill>
              </a:rPr>
              <a:t>广度优先搜索注意事项：</a:t>
            </a:r>
            <a:endParaRPr lang="zh-CN" altLang="en-US" b="1" dirty="0">
              <a:solidFill>
                <a:schemeClr val="tx2"/>
              </a:solidFill>
            </a:endParaRPr>
          </a:p>
        </p:txBody>
      </p:sp>
      <p:sp>
        <p:nvSpPr>
          <p:cNvPr id="6146" name="Text Box 4"/>
          <p:cNvSpPr txBox="1"/>
          <p:nvPr/>
        </p:nvSpPr>
        <p:spPr>
          <a:xfrm>
            <a:off x="304800" y="685800"/>
            <a:ext cx="8534400" cy="3444875"/>
          </a:xfrm>
          <a:prstGeom prst="rect">
            <a:avLst/>
          </a:prstGeom>
          <a:noFill/>
          <a:ln w="9525">
            <a:noFill/>
          </a:ln>
        </p:spPr>
        <p:txBody>
          <a:bodyPr anchor="t" anchorCtr="0">
            <a:spAutoFit/>
          </a:bodyPr>
          <a:p>
            <a:r>
              <a:rPr lang="en-US" altLang="zh-CN" sz="2000">
                <a:latin typeface="Arial" panose="020B0604020202020204" pitchFamily="34" charset="0"/>
                <a:ea typeface="宋体" panose="02010600030101010101" pitchFamily="2" charset="-122"/>
              </a:rPr>
              <a:t>        1</a:t>
            </a:r>
            <a:r>
              <a:rPr lang="zh-CN" altLang="en-US" sz="2000" dirty="0">
                <a:latin typeface="Arial" panose="020B0604020202020204" pitchFamily="34" charset="0"/>
                <a:ea typeface="宋体" panose="02010600030101010101" pitchFamily="2" charset="-122"/>
              </a:rPr>
              <a:t>、每生成一个子结点，就要提供指向它们父亲结点的指针。当解出现时候，通过逆向跟踪，找到从根结点到目标结点的一条路径。当然不要求输出路径，就没必要记父亲。</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a:t>
            </a:r>
            <a:r>
              <a:rPr lang="en-US" altLang="zh-CN" sz="200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、生成的结点要与前面所有已经产生结点比较，以免出现重复结点，浪费时间和空间，还有可能陷入死循环。</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a:t>
            </a:r>
            <a:r>
              <a:rPr lang="en-US" altLang="zh-CN" sz="200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如果目标结点的深度与“费用”（如：路径长度）成正比，那么，找到的第一个解即为最优解，这时，搜索速度比深度搜索要快些，在求最优解时往往采用广度优先搜索；如果结点的“费用”不与深度成正比时，第一次找到的解不一定是最优解。</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a:t>
            </a:r>
            <a:r>
              <a:rPr lang="en-US" altLang="zh-CN" sz="2000">
                <a:latin typeface="Arial" panose="020B0604020202020204" pitchFamily="34" charset="0"/>
                <a:ea typeface="宋体" panose="02010600030101010101" pitchFamily="2" charset="-122"/>
              </a:rPr>
              <a:t>4</a:t>
            </a:r>
            <a:r>
              <a:rPr lang="zh-CN" altLang="en-US" sz="2000" dirty="0">
                <a:latin typeface="Arial" panose="020B0604020202020204" pitchFamily="34" charset="0"/>
                <a:ea typeface="宋体" panose="02010600030101010101" pitchFamily="2" charset="-122"/>
              </a:rPr>
              <a:t>、广度优先搜索的效率还有赖于目标结点所在位置情况，如果目标结点深度处于较深层时，需搜索的结点数基本上以指数增长。</a:t>
            </a:r>
            <a:endParaRPr lang="zh-CN" altLang="en-US" sz="2000" dirty="0">
              <a:latin typeface="Arial" panose="020B0604020202020204" pitchFamily="34" charset="0"/>
              <a:ea typeface="宋体" panose="02010600030101010101" pitchFamily="2" charset="-122"/>
            </a:endParaRPr>
          </a:p>
        </p:txBody>
      </p:sp>
      <p:sp>
        <p:nvSpPr>
          <p:cNvPr id="6147" name="Text Box 5"/>
          <p:cNvSpPr txBox="1"/>
          <p:nvPr/>
        </p:nvSpPr>
        <p:spPr>
          <a:xfrm>
            <a:off x="304800" y="4127500"/>
            <a:ext cx="8305800" cy="1739900"/>
          </a:xfrm>
          <a:prstGeom prst="rect">
            <a:avLst/>
          </a:prstGeom>
          <a:noFill/>
          <a:ln w="9525">
            <a:noFill/>
          </a:ln>
        </p:spPr>
        <p:txBody>
          <a:bodyPr anchor="t" anchorCtr="0">
            <a:spAutoFit/>
          </a:bodyPr>
          <a:p>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下面我们看看怎样用宽度优先搜索来解决八数码问题。</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例如　图</a:t>
            </a:r>
            <a:r>
              <a:rPr lang="en-US" altLang="zh-CN">
                <a:latin typeface="Arial" panose="020B0604020202020204" pitchFamily="34" charset="0"/>
                <a:ea typeface="宋体" panose="02010600030101010101" pitchFamily="2" charset="-122"/>
              </a:rPr>
              <a:t>8-1</a:t>
            </a:r>
            <a:r>
              <a:rPr lang="zh-CN" altLang="en-US" dirty="0">
                <a:latin typeface="Arial" panose="020B0604020202020204" pitchFamily="34" charset="0"/>
                <a:ea typeface="宋体" panose="02010600030101010101" pitchFamily="2" charset="-122"/>
              </a:rPr>
              <a:t>给出广度优先搜索应用于八数码难题时所生成的搜索树。搜索树上的所有结点都标记它们所对应的状态，每个结点旁边的数字表示结点扩展的顺序。粗线条路径表明求得的一个解。从图中可以看出，扩展第２６个结点，总共生成４６个结点之后，才求得这个解。此外，直接观察此图表明，不存在有更短走步序列的解。</a:t>
            </a: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69" name="Picture 2" descr="12-1"/>
          <p:cNvPicPr>
            <a:picLocks noChangeAspect="1"/>
          </p:cNvPicPr>
          <p:nvPr/>
        </p:nvPicPr>
        <p:blipFill>
          <a:blip r:embed="rId1"/>
          <a:stretch>
            <a:fillRect/>
          </a:stretch>
        </p:blipFill>
        <p:spPr>
          <a:xfrm>
            <a:off x="152400" y="228600"/>
            <a:ext cx="8915400" cy="63246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ext Box 2"/>
          <p:cNvSpPr txBox="1"/>
          <p:nvPr/>
        </p:nvSpPr>
        <p:spPr>
          <a:xfrm>
            <a:off x="381000" y="609600"/>
            <a:ext cx="8077200" cy="1006475"/>
          </a:xfrm>
          <a:prstGeom prst="rect">
            <a:avLst/>
          </a:prstGeom>
          <a:noFill/>
          <a:ln w="9525">
            <a:noFill/>
          </a:ln>
        </p:spPr>
        <p:txBody>
          <a:bodyPr anchor="t" anchorCtr="0">
            <a:spAutoFit/>
          </a:bodyPr>
          <a:p>
            <a:pPr>
              <a:spcBef>
                <a:spcPct val="50000"/>
              </a:spcBef>
            </a:pPr>
            <a:r>
              <a:rPr lang="en-US" altLang="zh-CN" sz="2000" b="1">
                <a:solidFill>
                  <a:schemeClr val="tx2"/>
                </a:solidFill>
                <a:latin typeface="Arial" panose="020B0604020202020204" pitchFamily="34" charset="0"/>
                <a:ea typeface="宋体" panose="02010600030101010101" pitchFamily="2" charset="-122"/>
              </a:rPr>
              <a:t>【</a:t>
            </a:r>
            <a:r>
              <a:rPr lang="zh-CN" altLang="en-US" sz="2000" b="1" dirty="0">
                <a:solidFill>
                  <a:schemeClr val="tx2"/>
                </a:solidFill>
                <a:latin typeface="Arial" panose="020B0604020202020204" pitchFamily="34" charset="0"/>
                <a:ea typeface="宋体" panose="02010600030101010101" pitchFamily="2" charset="-122"/>
              </a:rPr>
              <a:t>例</a:t>
            </a:r>
            <a:r>
              <a:rPr lang="en-US" altLang="zh-CN" sz="2000" b="1">
                <a:solidFill>
                  <a:schemeClr val="tx2"/>
                </a:solidFill>
                <a:latin typeface="Arial" panose="020B0604020202020204" pitchFamily="34" charset="0"/>
                <a:ea typeface="宋体" panose="02010600030101010101" pitchFamily="2" charset="-122"/>
              </a:rPr>
              <a:t>8.1】</a:t>
            </a:r>
            <a:r>
              <a:rPr lang="zh-CN" altLang="en-US" sz="2000" dirty="0">
                <a:latin typeface="Arial" panose="020B0604020202020204" pitchFamily="34" charset="0"/>
                <a:ea typeface="宋体" panose="02010600030101010101" pitchFamily="2" charset="-122"/>
              </a:rPr>
              <a:t>图</a:t>
            </a:r>
            <a:r>
              <a:rPr lang="en-US" altLang="zh-CN" sz="2000">
                <a:latin typeface="Arial" panose="020B0604020202020204" pitchFamily="34" charset="0"/>
                <a:ea typeface="宋体" panose="02010600030101010101" pitchFamily="2" charset="-122"/>
              </a:rPr>
              <a:t>8-2</a:t>
            </a:r>
            <a:r>
              <a:rPr lang="zh-CN" altLang="en-US" sz="2000" dirty="0">
                <a:latin typeface="Arial" panose="020B0604020202020204" pitchFamily="34" charset="0"/>
                <a:ea typeface="宋体" panose="02010600030101010101" pitchFamily="2" charset="-122"/>
              </a:rPr>
              <a:t>表示的是从城市</a:t>
            </a:r>
            <a:r>
              <a:rPr lang="en-US" altLang="zh-CN" sz="2000">
                <a:latin typeface="Arial" panose="020B0604020202020204" pitchFamily="34" charset="0"/>
                <a:ea typeface="宋体" panose="02010600030101010101" pitchFamily="2" charset="-122"/>
              </a:rPr>
              <a:t>A</a:t>
            </a:r>
            <a:r>
              <a:rPr lang="zh-CN" altLang="en-US" sz="2000" dirty="0">
                <a:latin typeface="Arial" panose="020B0604020202020204" pitchFamily="34" charset="0"/>
                <a:ea typeface="宋体" panose="02010600030101010101" pitchFamily="2" charset="-122"/>
              </a:rPr>
              <a:t>到城市</a:t>
            </a:r>
            <a:r>
              <a:rPr lang="en-US" altLang="zh-CN" sz="2000">
                <a:latin typeface="Arial" panose="020B0604020202020204" pitchFamily="34" charset="0"/>
                <a:ea typeface="宋体" panose="02010600030101010101" pitchFamily="2" charset="-122"/>
              </a:rPr>
              <a:t>H</a:t>
            </a:r>
            <a:r>
              <a:rPr lang="zh-CN" altLang="en-US" sz="2000" dirty="0">
                <a:latin typeface="Arial" panose="020B0604020202020204" pitchFamily="34" charset="0"/>
                <a:ea typeface="宋体" panose="02010600030101010101" pitchFamily="2" charset="-122"/>
              </a:rPr>
              <a:t>的交通图。从图中可以看出，从城市</a:t>
            </a:r>
            <a:r>
              <a:rPr lang="en-US" altLang="zh-CN" sz="2000">
                <a:latin typeface="Arial" panose="020B0604020202020204" pitchFamily="34" charset="0"/>
                <a:ea typeface="宋体" panose="02010600030101010101" pitchFamily="2" charset="-122"/>
              </a:rPr>
              <a:t>A</a:t>
            </a:r>
            <a:r>
              <a:rPr lang="zh-CN" altLang="en-US" sz="2000" dirty="0">
                <a:latin typeface="Arial" panose="020B0604020202020204" pitchFamily="34" charset="0"/>
                <a:ea typeface="宋体" panose="02010600030101010101" pitchFamily="2" charset="-122"/>
              </a:rPr>
              <a:t>到城市</a:t>
            </a:r>
            <a:r>
              <a:rPr lang="en-US" altLang="zh-CN" sz="2000">
                <a:latin typeface="Arial" panose="020B0604020202020204" pitchFamily="34" charset="0"/>
                <a:ea typeface="宋体" panose="02010600030101010101" pitchFamily="2" charset="-122"/>
              </a:rPr>
              <a:t>H</a:t>
            </a:r>
            <a:r>
              <a:rPr lang="zh-CN" altLang="en-US" sz="2000" dirty="0">
                <a:latin typeface="Arial" panose="020B0604020202020204" pitchFamily="34" charset="0"/>
                <a:ea typeface="宋体" panose="02010600030101010101" pitchFamily="2" charset="-122"/>
              </a:rPr>
              <a:t>要经过若干个城市。现要找出一条经过城市最少的一条路线。</a:t>
            </a:r>
            <a:endParaRPr lang="zh-CN" altLang="en-US" sz="2000" dirty="0">
              <a:latin typeface="Arial" panose="020B0604020202020204" pitchFamily="34" charset="0"/>
              <a:ea typeface="宋体" panose="02010600030101010101" pitchFamily="2" charset="-122"/>
            </a:endParaRPr>
          </a:p>
        </p:txBody>
      </p:sp>
      <p:pic>
        <p:nvPicPr>
          <p:cNvPr id="8194" name="Picture 4"/>
          <p:cNvPicPr>
            <a:picLocks noChangeAspect="1"/>
          </p:cNvPicPr>
          <p:nvPr/>
        </p:nvPicPr>
        <p:blipFill>
          <a:blip r:embed="rId1"/>
          <a:stretch>
            <a:fillRect/>
          </a:stretch>
        </p:blipFill>
        <p:spPr>
          <a:xfrm>
            <a:off x="838200" y="2133600"/>
            <a:ext cx="7315200" cy="3440113"/>
          </a:xfrm>
          <a:prstGeom prst="rect">
            <a:avLst/>
          </a:prstGeom>
          <a:noFill/>
          <a:ln w="9525">
            <a:noFill/>
          </a:ln>
        </p:spPr>
      </p:pic>
      <p:sp>
        <p:nvSpPr>
          <p:cNvPr id="8195" name="TextBox 5"/>
          <p:cNvSpPr txBox="1"/>
          <p:nvPr/>
        </p:nvSpPr>
        <p:spPr>
          <a:xfrm>
            <a:off x="3429000" y="5943600"/>
            <a:ext cx="1676400" cy="369888"/>
          </a:xfrm>
          <a:prstGeom prst="rect">
            <a:avLst/>
          </a:prstGeom>
          <a:noFill/>
          <a:ln w="9525">
            <a:noFill/>
          </a:ln>
        </p:spPr>
        <p:txBody>
          <a:bodyPr anchor="t" anchorCtr="0">
            <a:spAutoFit/>
          </a:bodyPr>
          <a:p>
            <a:r>
              <a:rPr lang="zh-CN" altLang="en-US" dirty="0">
                <a:latin typeface="Arial" panose="020B0604020202020204" pitchFamily="34" charset="0"/>
                <a:ea typeface="宋体" panose="02010600030101010101" pitchFamily="2" charset="-122"/>
              </a:rPr>
              <a:t>图</a:t>
            </a:r>
            <a:r>
              <a:rPr lang="en-US" altLang="zh-CN">
                <a:latin typeface="Arial" panose="020B0604020202020204" pitchFamily="34" charset="0"/>
                <a:ea typeface="宋体" panose="02010600030101010101" pitchFamily="2" charset="-122"/>
              </a:rPr>
              <a:t>8-2</a:t>
            </a: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Text Box 2"/>
          <p:cNvSpPr txBox="1"/>
          <p:nvPr/>
        </p:nvSpPr>
        <p:spPr>
          <a:xfrm>
            <a:off x="304800" y="0"/>
            <a:ext cx="8382000" cy="701675"/>
          </a:xfrm>
          <a:prstGeom prst="rect">
            <a:avLst/>
          </a:prstGeom>
          <a:noFill/>
          <a:ln w="9525">
            <a:noFill/>
          </a:ln>
        </p:spPr>
        <p:txBody>
          <a:bodyPr anchor="t" anchorCtr="0">
            <a:spAutoFit/>
          </a:bodyPr>
          <a:p>
            <a:r>
              <a:rPr lang="en-US" altLang="zh-CN" sz="2000" b="1">
                <a:solidFill>
                  <a:schemeClr val="tx2"/>
                </a:solidFill>
                <a:latin typeface="Arial" panose="020B0604020202020204" pitchFamily="34" charset="0"/>
                <a:ea typeface="宋体" panose="02010600030101010101" pitchFamily="2" charset="-122"/>
              </a:rPr>
              <a:t>【</a:t>
            </a:r>
            <a:r>
              <a:rPr lang="zh-CN" altLang="en-US" sz="2000" b="1" dirty="0">
                <a:solidFill>
                  <a:schemeClr val="tx2"/>
                </a:solidFill>
                <a:latin typeface="Arial" panose="020B0604020202020204" pitchFamily="34" charset="0"/>
                <a:ea typeface="宋体" panose="02010600030101010101" pitchFamily="2" charset="-122"/>
              </a:rPr>
              <a:t>算法分析</a:t>
            </a:r>
            <a:r>
              <a:rPr lang="en-US" altLang="zh-CN" sz="2000" b="1">
                <a:solidFill>
                  <a:schemeClr val="tx2"/>
                </a:solidFill>
                <a:latin typeface="Arial" panose="020B0604020202020204" pitchFamily="34" charset="0"/>
                <a:ea typeface="宋体" panose="02010600030101010101" pitchFamily="2" charset="-122"/>
              </a:rPr>
              <a:t>】</a:t>
            </a:r>
            <a:endParaRPr lang="en-US" altLang="zh-CN" sz="2000" b="1">
              <a:solidFill>
                <a:schemeClr val="tx2"/>
              </a:solidFill>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看到这图很容易想到用邻接距阵来表示，</a:t>
            </a:r>
            <a:r>
              <a:rPr lang="en-US" altLang="zh-CN" sz="2000">
                <a:latin typeface="Arial" panose="020B0604020202020204" pitchFamily="34" charset="0"/>
                <a:ea typeface="宋体" panose="02010600030101010101" pitchFamily="2" charset="-122"/>
              </a:rPr>
              <a:t>0</a:t>
            </a:r>
            <a:r>
              <a:rPr lang="zh-CN" altLang="en-US" sz="2000" dirty="0">
                <a:latin typeface="Arial" panose="020B0604020202020204" pitchFamily="34" charset="0"/>
                <a:ea typeface="宋体" panose="02010600030101010101" pitchFamily="2" charset="-122"/>
              </a:rPr>
              <a:t>表示能走，</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表示不能走。如图。</a:t>
            </a:r>
            <a:endParaRPr lang="zh-CN" altLang="en-US" sz="2000" dirty="0">
              <a:latin typeface="Arial" panose="020B0604020202020204" pitchFamily="34" charset="0"/>
              <a:ea typeface="宋体" panose="02010600030101010101" pitchFamily="2" charset="-122"/>
            </a:endParaRPr>
          </a:p>
        </p:txBody>
      </p:sp>
      <p:pic>
        <p:nvPicPr>
          <p:cNvPr id="9218" name="Picture 4"/>
          <p:cNvPicPr>
            <a:picLocks noChangeAspect="1"/>
          </p:cNvPicPr>
          <p:nvPr/>
        </p:nvPicPr>
        <p:blipFill>
          <a:blip r:embed="rId1"/>
          <a:stretch>
            <a:fillRect/>
          </a:stretch>
        </p:blipFill>
        <p:spPr>
          <a:xfrm>
            <a:off x="1219200" y="715963"/>
            <a:ext cx="5867400" cy="3627437"/>
          </a:xfrm>
          <a:prstGeom prst="rect">
            <a:avLst/>
          </a:prstGeom>
          <a:noFill/>
          <a:ln w="9525">
            <a:noFill/>
          </a:ln>
        </p:spPr>
      </p:pic>
      <p:sp>
        <p:nvSpPr>
          <p:cNvPr id="9219" name="Text Box 5"/>
          <p:cNvSpPr txBox="1"/>
          <p:nvPr/>
        </p:nvSpPr>
        <p:spPr>
          <a:xfrm>
            <a:off x="152400" y="4403725"/>
            <a:ext cx="8915400" cy="2225675"/>
          </a:xfrm>
          <a:prstGeom prst="rect">
            <a:avLst/>
          </a:prstGeom>
          <a:noFill/>
          <a:ln w="9525">
            <a:noFill/>
          </a:ln>
        </p:spPr>
        <p:txBody>
          <a:bodyPr anchor="t" anchorCtr="0">
            <a:spAutoFit/>
          </a:bodyPr>
          <a:p>
            <a:r>
              <a:rPr lang="en-US" altLang="zh-CN" sz="200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首先想到的是用队列的思想。</a:t>
            </a:r>
            <a:r>
              <a:rPr lang="en-US" altLang="zh-CN" sz="2000">
                <a:latin typeface="Arial" panose="020B0604020202020204" pitchFamily="34" charset="0"/>
                <a:ea typeface="宋体" panose="02010600030101010101" pitchFamily="2" charset="-122"/>
              </a:rPr>
              <a:t>a</a:t>
            </a:r>
            <a:r>
              <a:rPr lang="zh-CN" altLang="en-US" sz="2000" dirty="0">
                <a:latin typeface="Arial" panose="020B0604020202020204" pitchFamily="34" charset="0"/>
                <a:ea typeface="宋体" panose="02010600030101010101" pitchFamily="2" charset="-122"/>
              </a:rPr>
              <a:t>数组是存储扩展结点的队列，</a:t>
            </a:r>
            <a:r>
              <a:rPr lang="en-US" altLang="zh-CN" sz="2000" err="1">
                <a:latin typeface="Arial" panose="020B0604020202020204" pitchFamily="34" charset="0"/>
                <a:ea typeface="宋体" panose="02010600030101010101" pitchFamily="2" charset="-122"/>
              </a:rPr>
              <a:t>a[i</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记录经过的城市</a:t>
            </a:r>
            <a:r>
              <a:rPr lang="en-US" altLang="zh-CN" sz="2000">
                <a:latin typeface="Arial" panose="020B0604020202020204" pitchFamily="34" charset="0"/>
                <a:ea typeface="宋体" panose="02010600030101010101" pitchFamily="2" charset="-122"/>
              </a:rPr>
              <a:t>,</a:t>
            </a:r>
            <a:r>
              <a:rPr lang="en-US" altLang="zh-CN" sz="2000" err="1">
                <a:latin typeface="Arial" panose="020B0604020202020204" pitchFamily="34" charset="0"/>
                <a:ea typeface="宋体" panose="02010600030101010101" pitchFamily="2" charset="-122"/>
              </a:rPr>
              <a:t>b[i</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记录前趋城市，这样就可以倒推出最短线路。具体过程如下：</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 将城市</a:t>
            </a:r>
            <a:r>
              <a:rPr lang="en-US" altLang="zh-CN" sz="2000">
                <a:latin typeface="Arial" panose="020B0604020202020204" pitchFamily="34" charset="0"/>
                <a:ea typeface="宋体" panose="02010600030101010101" pitchFamily="2" charset="-122"/>
              </a:rPr>
              <a:t>A</a:t>
            </a:r>
            <a:r>
              <a:rPr lang="zh-CN" altLang="en-US" sz="2000" dirty="0">
                <a:latin typeface="Arial" panose="020B0604020202020204" pitchFamily="34" charset="0"/>
                <a:ea typeface="宋体" panose="02010600030101010101" pitchFamily="2" charset="-122"/>
              </a:rPr>
              <a:t>入队，队首为</a:t>
            </a:r>
            <a:r>
              <a:rPr lang="en-US" altLang="zh-CN" sz="2000">
                <a:latin typeface="Arial" panose="020B0604020202020204" pitchFamily="34" charset="0"/>
                <a:ea typeface="宋体" panose="02010600030101010101" pitchFamily="2" charset="-122"/>
              </a:rPr>
              <a:t>0</a:t>
            </a:r>
            <a:r>
              <a:rPr lang="zh-CN" altLang="en-US" sz="2000" dirty="0">
                <a:latin typeface="Arial" panose="020B0604020202020204" pitchFamily="34" charset="0"/>
                <a:ea typeface="宋体" panose="02010600030101010101" pitchFamily="2" charset="-122"/>
              </a:rPr>
              <a:t>、队尾为</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）将队首所指的城市所有可直通的城市入队（如果这个城市在队列中出现过就不入队，可用一布尔数组</a:t>
            </a:r>
            <a:r>
              <a:rPr lang="en-US" altLang="zh-CN" sz="2000" err="1">
                <a:latin typeface="Arial" panose="020B0604020202020204" pitchFamily="34" charset="0"/>
                <a:ea typeface="宋体" panose="02010600030101010101" pitchFamily="2" charset="-122"/>
              </a:rPr>
              <a:t>s[i</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来判断），将入队城市的前趋城市保存在</a:t>
            </a:r>
            <a:r>
              <a:rPr lang="en-US" altLang="zh-CN" sz="2000" err="1">
                <a:latin typeface="Arial" panose="020B0604020202020204" pitchFamily="34" charset="0"/>
                <a:ea typeface="宋体" panose="02010600030101010101" pitchFamily="2" charset="-122"/>
              </a:rPr>
              <a:t>b[i</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中。然后将队首加</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，得到新的队首城市。重复以上步骤，直到搜到城市</a:t>
            </a:r>
            <a:r>
              <a:rPr lang="en-US" altLang="zh-CN" sz="2000">
                <a:latin typeface="Arial" panose="020B0604020202020204" pitchFamily="34" charset="0"/>
                <a:ea typeface="宋体" panose="02010600030101010101" pitchFamily="2" charset="-122"/>
              </a:rPr>
              <a:t>H</a:t>
            </a:r>
            <a:r>
              <a:rPr lang="zh-CN" altLang="en-US" sz="2000" dirty="0">
                <a:latin typeface="Arial" panose="020B0604020202020204" pitchFamily="34" charset="0"/>
                <a:ea typeface="宋体" panose="02010600030101010101" pitchFamily="2" charset="-122"/>
              </a:rPr>
              <a:t>时，搜索结束。利用</a:t>
            </a:r>
            <a:r>
              <a:rPr lang="en-US" altLang="zh-CN" sz="2000" err="1">
                <a:latin typeface="Arial" panose="020B0604020202020204" pitchFamily="34" charset="0"/>
                <a:ea typeface="宋体" panose="02010600030101010101" pitchFamily="2" charset="-122"/>
              </a:rPr>
              <a:t>b[i</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可倒推出最少城市线路。</a:t>
            </a:r>
            <a:endParaRPr lang="zh-CN" altLang="en-US" sz="2000" dirty="0">
              <a:latin typeface="Arial" panose="020B0604020202020204" pitchFamily="34"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a:spLocks noGrp="1" noRot="1"/>
          </p:cNvSpPr>
          <p:nvPr>
            <p:ph idx="1"/>
          </p:nvPr>
        </p:nvSpPr>
        <p:spPr>
          <a:xfrm>
            <a:off x="0" y="0"/>
            <a:ext cx="9144000" cy="6858000"/>
          </a:xfrm>
          <a:ln/>
        </p:spPr>
        <p:txBody>
          <a:bodyPr wrap="square" lIns="91440" tIns="45720" rIns="91440" bIns="45720" anchor="t" anchorCtr="0"/>
          <a:p>
            <a:pPr eaLnBrk="1" hangingPunct="1">
              <a:lnSpc>
                <a:spcPct val="80000"/>
              </a:lnSpc>
            </a:pPr>
            <a:r>
              <a:rPr lang="en-US" altLang="zh-CN" sz="1800" b="1"/>
              <a:t>【</a:t>
            </a:r>
            <a:r>
              <a:rPr lang="zh-CN" altLang="en-US" sz="1800" b="1" dirty="0"/>
              <a:t>参考程序</a:t>
            </a:r>
            <a:r>
              <a:rPr lang="en-US" altLang="zh-CN" sz="1800" b="1"/>
              <a:t>】</a:t>
            </a:r>
            <a:endParaRPr lang="en-US" altLang="zh-CN" sz="1800"/>
          </a:p>
          <a:p>
            <a:pPr eaLnBrk="1" hangingPunct="1">
              <a:lnSpc>
                <a:spcPct val="80000"/>
              </a:lnSpc>
            </a:pPr>
            <a:r>
              <a:rPr lang="en-US" altLang="zh-CN" sz="1800"/>
              <a:t>#include&lt;</a:t>
            </a:r>
            <a:r>
              <a:rPr lang="en-US" altLang="zh-CN" sz="1800" err="1"/>
              <a:t>iostream</a:t>
            </a:r>
            <a:r>
              <a:rPr lang="en-US" altLang="zh-CN" sz="1800"/>
              <a:t>&gt;</a:t>
            </a:r>
            <a:endParaRPr lang="en-US" altLang="zh-CN" sz="1800"/>
          </a:p>
          <a:p>
            <a:pPr eaLnBrk="1" hangingPunct="1">
              <a:lnSpc>
                <a:spcPct val="80000"/>
              </a:lnSpc>
            </a:pPr>
            <a:r>
              <a:rPr lang="en-US" altLang="zh-CN" sz="1800"/>
              <a:t>#include&lt;</a:t>
            </a:r>
            <a:r>
              <a:rPr lang="en-US" altLang="zh-CN" sz="1800" err="1"/>
              <a:t>cstring</a:t>
            </a:r>
            <a:r>
              <a:rPr lang="en-US" altLang="zh-CN" sz="1800"/>
              <a:t>&gt;</a:t>
            </a:r>
            <a:endParaRPr lang="en-US" altLang="zh-CN" sz="1800"/>
          </a:p>
          <a:p>
            <a:pPr eaLnBrk="1" hangingPunct="1">
              <a:lnSpc>
                <a:spcPct val="80000"/>
              </a:lnSpc>
            </a:pPr>
            <a:r>
              <a:rPr lang="en-US" altLang="zh-CN" sz="1800"/>
              <a:t>using namespace std;</a:t>
            </a:r>
            <a:endParaRPr lang="en-US" altLang="zh-CN" sz="1800"/>
          </a:p>
          <a:p>
            <a:pPr eaLnBrk="1" hangingPunct="1">
              <a:lnSpc>
                <a:spcPct val="80000"/>
              </a:lnSpc>
            </a:pPr>
            <a:r>
              <a:rPr lang="en-US" altLang="zh-CN" sz="1800" err="1"/>
              <a:t>int</a:t>
            </a:r>
            <a:r>
              <a:rPr lang="en-US" altLang="zh-CN" sz="1800"/>
              <a:t>  ju[9][9]={{0,0,0,0,0,0,0,0,0},</a:t>
            </a:r>
            <a:endParaRPr lang="en-US" altLang="zh-CN" sz="1800"/>
          </a:p>
          <a:p>
            <a:pPr eaLnBrk="1" hangingPunct="1">
              <a:lnSpc>
                <a:spcPct val="80000"/>
              </a:lnSpc>
            </a:pPr>
            <a:r>
              <a:rPr lang="en-US" altLang="zh-CN" sz="1800"/>
              <a:t>                    {0,1,0,0,0,1,0,1,1},</a:t>
            </a:r>
            <a:endParaRPr lang="en-US" altLang="zh-CN" sz="1800"/>
          </a:p>
          <a:p>
            <a:pPr eaLnBrk="1" hangingPunct="1">
              <a:lnSpc>
                <a:spcPct val="80000"/>
              </a:lnSpc>
            </a:pPr>
            <a:r>
              <a:rPr lang="en-US" altLang="zh-CN" sz="1800"/>
              <a:t>                    {0,0,1,1,1,1,0,1,1},</a:t>
            </a:r>
            <a:endParaRPr lang="en-US" altLang="zh-CN" sz="1800"/>
          </a:p>
          <a:p>
            <a:pPr eaLnBrk="1" hangingPunct="1">
              <a:lnSpc>
                <a:spcPct val="80000"/>
              </a:lnSpc>
            </a:pPr>
            <a:r>
              <a:rPr lang="en-US" altLang="zh-CN" sz="1800"/>
              <a:t>                    {0,0,1,1,0,0,1,1,1},</a:t>
            </a:r>
            <a:endParaRPr lang="en-US" altLang="zh-CN" sz="1800"/>
          </a:p>
          <a:p>
            <a:pPr eaLnBrk="1" hangingPunct="1">
              <a:lnSpc>
                <a:spcPct val="80000"/>
              </a:lnSpc>
            </a:pPr>
            <a:r>
              <a:rPr lang="en-US" altLang="zh-CN" sz="1800"/>
              <a:t>                    {0,0,1,0,1,1,1,0,1},</a:t>
            </a:r>
            <a:endParaRPr lang="en-US" altLang="zh-CN" sz="1800"/>
          </a:p>
          <a:p>
            <a:pPr eaLnBrk="1" hangingPunct="1">
              <a:lnSpc>
                <a:spcPct val="80000"/>
              </a:lnSpc>
            </a:pPr>
            <a:r>
              <a:rPr lang="en-US" altLang="zh-CN" sz="1800"/>
              <a:t>                    {0,1,1,0,1,1,1,0,0},</a:t>
            </a:r>
            <a:endParaRPr lang="en-US" altLang="zh-CN" sz="1800"/>
          </a:p>
          <a:p>
            <a:pPr eaLnBrk="1" hangingPunct="1">
              <a:lnSpc>
                <a:spcPct val="80000"/>
              </a:lnSpc>
            </a:pPr>
            <a:r>
              <a:rPr lang="en-US" altLang="zh-CN" sz="1800"/>
              <a:t>                    {0,0,0,1,1,1,1,1,0},</a:t>
            </a:r>
            <a:endParaRPr lang="en-US" altLang="zh-CN" sz="1800"/>
          </a:p>
          <a:p>
            <a:pPr eaLnBrk="1" hangingPunct="1">
              <a:lnSpc>
                <a:spcPct val="80000"/>
              </a:lnSpc>
            </a:pPr>
            <a:r>
              <a:rPr lang="en-US" altLang="zh-CN" sz="1800"/>
              <a:t>                    {0,1,1,1,0,0,1,1,0},</a:t>
            </a:r>
            <a:endParaRPr lang="en-US" altLang="zh-CN" sz="1800"/>
          </a:p>
          <a:p>
            <a:pPr eaLnBrk="1" hangingPunct="1">
              <a:lnSpc>
                <a:spcPct val="80000"/>
              </a:lnSpc>
            </a:pPr>
            <a:r>
              <a:rPr lang="en-US" altLang="zh-CN" sz="1800"/>
              <a:t>                    {0,1,1,1,1,0,0,0,1}};</a:t>
            </a:r>
            <a:endParaRPr lang="en-US" altLang="zh-CN" sz="1800"/>
          </a:p>
          <a:p>
            <a:pPr eaLnBrk="1" hangingPunct="1">
              <a:lnSpc>
                <a:spcPct val="80000"/>
              </a:lnSpc>
            </a:pPr>
            <a:r>
              <a:rPr lang="en-US" altLang="zh-CN" sz="1800" err="1"/>
              <a:t>int</a:t>
            </a:r>
            <a:r>
              <a:rPr lang="en-US" altLang="zh-CN" sz="1800"/>
              <a:t> a[101],b[101];</a:t>
            </a:r>
            <a:endParaRPr lang="en-US" altLang="zh-CN" sz="1800"/>
          </a:p>
          <a:p>
            <a:pPr eaLnBrk="1" hangingPunct="1">
              <a:lnSpc>
                <a:spcPct val="80000"/>
              </a:lnSpc>
            </a:pPr>
            <a:r>
              <a:rPr lang="en-US" altLang="zh-CN" sz="1800" err="1"/>
              <a:t>bool</a:t>
            </a:r>
            <a:r>
              <a:rPr lang="en-US" altLang="zh-CN" sz="1800"/>
              <a:t> s[9];                              //</a:t>
            </a:r>
            <a:r>
              <a:rPr lang="zh-CN" altLang="en-US" sz="1800" dirty="0"/>
              <a:t>初始化</a:t>
            </a:r>
            <a:endParaRPr lang="zh-CN" altLang="en-US" sz="1800" dirty="0"/>
          </a:p>
          <a:p>
            <a:pPr eaLnBrk="1" hangingPunct="1">
              <a:lnSpc>
                <a:spcPct val="80000"/>
              </a:lnSpc>
            </a:pPr>
            <a:r>
              <a:rPr lang="en-US" altLang="zh-CN" sz="1800" err="1"/>
              <a:t>int</a:t>
            </a:r>
            <a:r>
              <a:rPr lang="en-US" altLang="zh-CN" sz="1800"/>
              <a:t> </a:t>
            </a:r>
            <a:r>
              <a:rPr lang="en-US" altLang="zh-CN" sz="1800" err="1"/>
              <a:t>out(int</a:t>
            </a:r>
            <a:r>
              <a:rPr lang="en-US" altLang="zh-CN" sz="1800"/>
              <a:t> d)                          //</a:t>
            </a:r>
            <a:r>
              <a:rPr lang="zh-CN" altLang="en-US" sz="1800" dirty="0"/>
              <a:t>输出过程</a:t>
            </a:r>
            <a:endParaRPr lang="zh-CN" altLang="en-US" sz="1800" dirty="0"/>
          </a:p>
          <a:p>
            <a:pPr eaLnBrk="1" hangingPunct="1">
              <a:lnSpc>
                <a:spcPct val="80000"/>
              </a:lnSpc>
            </a:pPr>
            <a:r>
              <a:rPr lang="en-US" altLang="zh-CN" sz="1800"/>
              <a:t>{</a:t>
            </a:r>
            <a:endParaRPr lang="en-US" altLang="zh-CN" sz="1800"/>
          </a:p>
          <a:p>
            <a:pPr eaLnBrk="1" hangingPunct="1">
              <a:lnSpc>
                <a:spcPct val="80000"/>
              </a:lnSpc>
            </a:pPr>
            <a:r>
              <a:rPr lang="en-US" altLang="zh-CN" sz="1800"/>
              <a:t>  </a:t>
            </a:r>
            <a:r>
              <a:rPr lang="en-US" altLang="zh-CN" sz="1800" err="1"/>
              <a:t>cout</a:t>
            </a:r>
            <a:r>
              <a:rPr lang="en-US" altLang="zh-CN" sz="1800"/>
              <a:t>&lt;&lt;char(a[d]+64);</a:t>
            </a:r>
            <a:endParaRPr lang="en-US" altLang="zh-CN" sz="1800"/>
          </a:p>
          <a:p>
            <a:pPr eaLnBrk="1" hangingPunct="1">
              <a:lnSpc>
                <a:spcPct val="80000"/>
              </a:lnSpc>
            </a:pPr>
            <a:r>
              <a:rPr lang="en-US" altLang="zh-CN" sz="1800"/>
              <a:t>  while (</a:t>
            </a:r>
            <a:r>
              <a:rPr lang="en-US" altLang="zh-CN" sz="1800" err="1"/>
              <a:t>b[d</a:t>
            </a:r>
            <a:r>
              <a:rPr lang="en-US" altLang="zh-CN" sz="1800"/>
              <a:t>])</a:t>
            </a:r>
            <a:endParaRPr lang="en-US" altLang="zh-CN" sz="1800"/>
          </a:p>
          <a:p>
            <a:pPr eaLnBrk="1" hangingPunct="1">
              <a:lnSpc>
                <a:spcPct val="80000"/>
              </a:lnSpc>
            </a:pPr>
            <a:r>
              <a:rPr lang="en-US" altLang="zh-CN" sz="1800"/>
              <a:t>   {</a:t>
            </a:r>
            <a:endParaRPr lang="en-US" altLang="zh-CN" sz="1800"/>
          </a:p>
          <a:p>
            <a:pPr eaLnBrk="1" hangingPunct="1">
              <a:lnSpc>
                <a:spcPct val="80000"/>
              </a:lnSpc>
            </a:pPr>
            <a:r>
              <a:rPr lang="en-US" altLang="zh-CN" sz="1800"/>
              <a:t>     d=</a:t>
            </a:r>
            <a:r>
              <a:rPr lang="en-US" altLang="zh-CN" sz="1800" err="1"/>
              <a:t>b[d</a:t>
            </a:r>
            <a:r>
              <a:rPr lang="en-US" altLang="zh-CN" sz="1800"/>
              <a:t>];</a:t>
            </a:r>
            <a:endParaRPr lang="en-US" altLang="zh-CN" sz="1800"/>
          </a:p>
          <a:p>
            <a:pPr eaLnBrk="1" hangingPunct="1">
              <a:lnSpc>
                <a:spcPct val="80000"/>
              </a:lnSpc>
            </a:pPr>
            <a:r>
              <a:rPr lang="en-US" altLang="zh-CN" sz="1800"/>
              <a:t>     </a:t>
            </a:r>
            <a:r>
              <a:rPr lang="en-US" altLang="zh-CN" sz="1800" err="1"/>
              <a:t>cout</a:t>
            </a:r>
            <a:r>
              <a:rPr lang="en-US" altLang="zh-CN" sz="1800"/>
              <a:t>&lt;&lt;"--"&lt;&lt;char(a[d]+64);</a:t>
            </a:r>
            <a:endParaRPr lang="en-US" altLang="zh-CN" sz="1800"/>
          </a:p>
          <a:p>
            <a:pPr eaLnBrk="1" hangingPunct="1">
              <a:lnSpc>
                <a:spcPct val="80000"/>
              </a:lnSpc>
            </a:pPr>
            <a:r>
              <a:rPr lang="en-US" altLang="zh-CN" sz="1800"/>
              <a:t>   }</a:t>
            </a:r>
            <a:endParaRPr lang="en-US" altLang="zh-CN" sz="1800"/>
          </a:p>
          <a:p>
            <a:pPr eaLnBrk="1" hangingPunct="1">
              <a:lnSpc>
                <a:spcPct val="80000"/>
              </a:lnSpc>
            </a:pPr>
            <a:r>
              <a:rPr lang="en-US" altLang="zh-CN" sz="1800"/>
              <a:t>  </a:t>
            </a:r>
            <a:r>
              <a:rPr lang="en-US" altLang="zh-CN" sz="1800" err="1"/>
              <a:t>cout</a:t>
            </a:r>
            <a:r>
              <a:rPr lang="en-US" altLang="zh-CN" sz="1800"/>
              <a:t>&lt;&lt;</a:t>
            </a:r>
            <a:r>
              <a:rPr lang="en-US" altLang="zh-CN" sz="1800" err="1"/>
              <a:t>endl</a:t>
            </a:r>
            <a:r>
              <a:rPr lang="en-US" altLang="zh-CN" sz="1800"/>
              <a:t>;</a:t>
            </a:r>
            <a:endParaRPr lang="en-US" altLang="zh-CN" sz="1800"/>
          </a:p>
          <a:p>
            <a:pPr eaLnBrk="1" hangingPunct="1">
              <a:lnSpc>
                <a:spcPct val="80000"/>
              </a:lnSpc>
            </a:pPr>
            <a:r>
              <a:rPr lang="en-US" altLang="zh-CN" sz="1800"/>
              <a:t>}</a:t>
            </a:r>
            <a:endParaRPr lang="en-US" altLang="zh-CN"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Text Box 2"/>
          <p:cNvSpPr txBox="1"/>
          <p:nvPr/>
        </p:nvSpPr>
        <p:spPr>
          <a:xfrm>
            <a:off x="0" y="-55562"/>
            <a:ext cx="9144000" cy="366712"/>
          </a:xfrm>
          <a:prstGeom prst="rect">
            <a:avLst/>
          </a:prstGeom>
          <a:noFill/>
          <a:ln w="9525">
            <a:noFill/>
          </a:ln>
        </p:spPr>
        <p:txBody>
          <a:bodyPr anchor="t" anchorCtr="0">
            <a:spAutoFit/>
          </a:bodyPr>
          <a:p>
            <a:endParaRPr lang="zh-CN" altLang="zh-CN" dirty="0">
              <a:latin typeface="Arial" panose="020B0604020202020204" pitchFamily="34" charset="0"/>
              <a:ea typeface="宋体" panose="02010600030101010101" pitchFamily="2" charset="-122"/>
            </a:endParaRPr>
          </a:p>
        </p:txBody>
      </p:sp>
      <p:sp>
        <p:nvSpPr>
          <p:cNvPr id="11266" name="Rectangle 6"/>
          <p:cNvSpPr>
            <a:spLocks noGrp="1" noRot="1"/>
          </p:cNvSpPr>
          <p:nvPr>
            <p:ph idx="1"/>
          </p:nvPr>
        </p:nvSpPr>
        <p:spPr>
          <a:xfrm>
            <a:off x="0" y="0"/>
            <a:ext cx="9144000" cy="6858000"/>
          </a:xfrm>
          <a:ln/>
        </p:spPr>
        <p:txBody>
          <a:bodyPr wrap="square" lIns="91440" tIns="45720" rIns="91440" bIns="45720" anchor="t" anchorCtr="0"/>
          <a:p>
            <a:pPr eaLnBrk="1" hangingPunct="1">
              <a:lnSpc>
                <a:spcPct val="80000"/>
              </a:lnSpc>
            </a:pPr>
            <a:r>
              <a:rPr lang="en-US" altLang="zh-CN" sz="1600"/>
              <a:t>void</a:t>
            </a:r>
            <a:r>
              <a:rPr lang="fr-FR" altLang="zh-CN" sz="1600" dirty="0"/>
              <a:t> doit()</a:t>
            </a:r>
            <a:endParaRPr lang="fr-FR" altLang="zh-CN" sz="1600" dirty="0"/>
          </a:p>
          <a:p>
            <a:pPr eaLnBrk="1" hangingPunct="1">
              <a:lnSpc>
                <a:spcPct val="80000"/>
              </a:lnSpc>
            </a:pPr>
            <a:r>
              <a:rPr lang="fr-FR" altLang="zh-CN" sz="1600" dirty="0"/>
              <a:t>{</a:t>
            </a:r>
            <a:endParaRPr lang="fr-FR" altLang="zh-CN" sz="1600" dirty="0"/>
          </a:p>
          <a:p>
            <a:pPr eaLnBrk="1" hangingPunct="1">
              <a:lnSpc>
                <a:spcPct val="80000"/>
              </a:lnSpc>
            </a:pPr>
            <a:r>
              <a:rPr lang="fr-FR" altLang="zh-CN" sz="1600" dirty="0"/>
              <a:t>   int head,tail,i; </a:t>
            </a:r>
            <a:endParaRPr lang="fr-FR" altLang="zh-CN" sz="1600" dirty="0"/>
          </a:p>
          <a:p>
            <a:pPr eaLnBrk="1" hangingPunct="1">
              <a:lnSpc>
                <a:spcPct val="80000"/>
              </a:lnSpc>
            </a:pPr>
            <a:r>
              <a:rPr lang="fr-FR" altLang="zh-CN" sz="1600" dirty="0"/>
              <a:t>   head=0;tail=1;                        //</a:t>
            </a:r>
            <a:r>
              <a:rPr lang="zh-CN" altLang="fr-FR" sz="1600" dirty="0"/>
              <a:t>队首为</a:t>
            </a:r>
            <a:r>
              <a:rPr lang="fr-FR" altLang="zh-CN" sz="1600" dirty="0"/>
              <a:t>0</a:t>
            </a:r>
            <a:r>
              <a:rPr lang="zh-CN" altLang="fr-FR" sz="1600" dirty="0"/>
              <a:t>、队尾为</a:t>
            </a:r>
            <a:r>
              <a:rPr lang="fr-FR" altLang="zh-CN" sz="1600" dirty="0"/>
              <a:t>1</a:t>
            </a:r>
            <a:endParaRPr lang="fr-FR" altLang="zh-CN" sz="1600" dirty="0"/>
          </a:p>
          <a:p>
            <a:pPr eaLnBrk="1" hangingPunct="1">
              <a:lnSpc>
                <a:spcPct val="80000"/>
              </a:lnSpc>
            </a:pPr>
            <a:r>
              <a:rPr lang="fr-FR" altLang="zh-CN" sz="1600" dirty="0"/>
              <a:t>   a[1]=1;                                   //</a:t>
            </a:r>
            <a:r>
              <a:rPr lang="zh-CN" altLang="fr-FR" sz="1600" dirty="0"/>
              <a:t>记录经过的城市</a:t>
            </a:r>
            <a:endParaRPr lang="zh-CN" altLang="fr-FR" sz="1600" dirty="0"/>
          </a:p>
          <a:p>
            <a:pPr eaLnBrk="1" hangingPunct="1">
              <a:lnSpc>
                <a:spcPct val="80000"/>
              </a:lnSpc>
            </a:pPr>
            <a:r>
              <a:rPr lang="zh-CN" altLang="fr-FR" sz="1600" dirty="0"/>
              <a:t>   </a:t>
            </a:r>
            <a:r>
              <a:rPr lang="fr-FR" altLang="zh-CN" sz="1600" dirty="0"/>
              <a:t>b[1]=0;                                   //</a:t>
            </a:r>
            <a:r>
              <a:rPr lang="zh-CN" altLang="fr-FR" sz="1600" dirty="0"/>
              <a:t>记录前趋城市</a:t>
            </a:r>
            <a:endParaRPr lang="zh-CN" altLang="fr-FR" sz="1600" dirty="0"/>
          </a:p>
          <a:p>
            <a:pPr eaLnBrk="1" hangingPunct="1">
              <a:lnSpc>
                <a:spcPct val="80000"/>
              </a:lnSpc>
            </a:pPr>
            <a:r>
              <a:rPr lang="zh-CN" altLang="fr-FR" sz="1600" dirty="0"/>
              <a:t>   </a:t>
            </a:r>
            <a:r>
              <a:rPr lang="fr-FR" altLang="zh-CN" sz="1600" dirty="0"/>
              <a:t>s[1]=1;                                   //</a:t>
            </a:r>
            <a:r>
              <a:rPr lang="zh-CN" altLang="fr-FR" sz="1600" dirty="0"/>
              <a:t>表示该城市已经到过</a:t>
            </a:r>
            <a:endParaRPr lang="zh-CN" altLang="fr-FR" sz="1600" dirty="0"/>
          </a:p>
          <a:p>
            <a:pPr eaLnBrk="1" hangingPunct="1">
              <a:lnSpc>
                <a:spcPct val="80000"/>
              </a:lnSpc>
            </a:pPr>
            <a:r>
              <a:rPr lang="zh-CN" altLang="fr-FR" sz="1600" dirty="0"/>
              <a:t>   </a:t>
            </a:r>
            <a:r>
              <a:rPr lang="fr-FR" altLang="zh-CN" sz="1600" dirty="0"/>
              <a:t>do                                          //</a:t>
            </a:r>
            <a:r>
              <a:rPr lang="zh-CN" altLang="fr-FR" sz="1600" dirty="0"/>
              <a:t>步骤</a:t>
            </a:r>
            <a:r>
              <a:rPr lang="fr-FR" altLang="zh-CN" sz="1600" dirty="0"/>
              <a:t>2</a:t>
            </a:r>
            <a:endParaRPr lang="fr-FR" altLang="zh-CN" sz="1600" dirty="0"/>
          </a:p>
          <a:p>
            <a:pPr eaLnBrk="1" hangingPunct="1">
              <a:lnSpc>
                <a:spcPct val="80000"/>
              </a:lnSpc>
            </a:pPr>
            <a:r>
              <a:rPr lang="fr-FR" altLang="zh-CN" sz="1600" dirty="0"/>
              <a:t>    {</a:t>
            </a:r>
            <a:endParaRPr lang="fr-FR" altLang="zh-CN" sz="1600" dirty="0"/>
          </a:p>
          <a:p>
            <a:pPr eaLnBrk="1" hangingPunct="1">
              <a:lnSpc>
                <a:spcPct val="80000"/>
              </a:lnSpc>
            </a:pPr>
            <a:r>
              <a:rPr lang="fr-FR" altLang="zh-CN" sz="1600" dirty="0"/>
              <a:t>     head++;                               //</a:t>
            </a:r>
            <a:r>
              <a:rPr lang="zh-CN" altLang="fr-FR" sz="1600" dirty="0"/>
              <a:t>队首加一，出队</a:t>
            </a:r>
            <a:endParaRPr lang="zh-CN" altLang="fr-FR" sz="1600" dirty="0"/>
          </a:p>
          <a:p>
            <a:pPr eaLnBrk="1" hangingPunct="1">
              <a:lnSpc>
                <a:spcPct val="80000"/>
              </a:lnSpc>
            </a:pPr>
            <a:r>
              <a:rPr lang="zh-CN" altLang="fr-FR" sz="1600" dirty="0"/>
              <a:t>     </a:t>
            </a:r>
            <a:r>
              <a:rPr lang="fr-FR" altLang="zh-CN" sz="1600" dirty="0"/>
              <a:t>for (i=1;i&lt;=8;i++)                 //</a:t>
            </a:r>
            <a:r>
              <a:rPr lang="zh-CN" altLang="fr-FR" sz="1600" dirty="0"/>
              <a:t>搜索可直通的城市</a:t>
            </a:r>
            <a:endParaRPr lang="zh-CN" altLang="fr-FR" sz="1600" dirty="0"/>
          </a:p>
          <a:p>
            <a:pPr eaLnBrk="1" hangingPunct="1">
              <a:lnSpc>
                <a:spcPct val="80000"/>
              </a:lnSpc>
            </a:pPr>
            <a:r>
              <a:rPr lang="zh-CN" altLang="fr-FR" sz="1600" dirty="0"/>
              <a:t>      </a:t>
            </a:r>
            <a:r>
              <a:rPr lang="fr-FR" altLang="zh-CN" sz="1600" dirty="0"/>
              <a:t>if ((ju[a[head]][i]==0)&amp;&amp;(s[i]==0))  //</a:t>
            </a:r>
            <a:r>
              <a:rPr lang="zh-CN" altLang="fr-FR" sz="1600" dirty="0"/>
              <a:t>判断城市是否走过</a:t>
            </a:r>
            <a:endParaRPr lang="zh-CN" altLang="fr-FR" sz="1600" dirty="0"/>
          </a:p>
          <a:p>
            <a:pPr eaLnBrk="1" hangingPunct="1">
              <a:lnSpc>
                <a:spcPct val="80000"/>
              </a:lnSpc>
            </a:pPr>
            <a:r>
              <a:rPr lang="zh-CN" altLang="fr-FR" sz="1600" dirty="0"/>
              <a:t>       </a:t>
            </a:r>
            <a:r>
              <a:rPr lang="fr-FR" altLang="zh-CN" sz="1600" dirty="0"/>
              <a:t>{</a:t>
            </a:r>
            <a:endParaRPr lang="fr-FR" altLang="zh-CN" sz="1600" dirty="0"/>
          </a:p>
          <a:p>
            <a:pPr eaLnBrk="1" hangingPunct="1">
              <a:lnSpc>
                <a:spcPct val="80000"/>
              </a:lnSpc>
            </a:pPr>
            <a:r>
              <a:rPr lang="fr-FR" altLang="zh-CN" sz="1600" dirty="0"/>
              <a:t>         tail++;                              //</a:t>
            </a:r>
            <a:r>
              <a:rPr lang="zh-CN" altLang="fr-FR" sz="1600" dirty="0"/>
              <a:t>队尾加一，入队</a:t>
            </a:r>
            <a:endParaRPr lang="zh-CN" altLang="fr-FR" sz="1600" dirty="0"/>
          </a:p>
          <a:p>
            <a:pPr eaLnBrk="1" hangingPunct="1">
              <a:lnSpc>
                <a:spcPct val="80000"/>
              </a:lnSpc>
            </a:pPr>
            <a:r>
              <a:rPr lang="zh-CN" altLang="fr-FR" sz="1600" dirty="0"/>
              <a:t>         </a:t>
            </a:r>
            <a:r>
              <a:rPr lang="fr-FR" altLang="zh-CN" sz="1600" dirty="0"/>
              <a:t>a[tail]=i;</a:t>
            </a:r>
            <a:endParaRPr lang="fr-FR" altLang="zh-CN" sz="1600" dirty="0"/>
          </a:p>
          <a:p>
            <a:pPr eaLnBrk="1" hangingPunct="1">
              <a:lnSpc>
                <a:spcPct val="80000"/>
              </a:lnSpc>
            </a:pPr>
            <a:r>
              <a:rPr lang="fr-FR" altLang="zh-CN" sz="1600" dirty="0"/>
              <a:t>         </a:t>
            </a:r>
            <a:r>
              <a:rPr lang="en-US" altLang="zh-CN" sz="1600" err="1"/>
              <a:t>b[tail</a:t>
            </a:r>
            <a:r>
              <a:rPr lang="en-US" altLang="zh-CN" sz="1600"/>
              <a:t>]=head;</a:t>
            </a:r>
            <a:endParaRPr lang="en-US" altLang="zh-CN" sz="1600"/>
          </a:p>
          <a:p>
            <a:pPr eaLnBrk="1" hangingPunct="1">
              <a:lnSpc>
                <a:spcPct val="80000"/>
              </a:lnSpc>
            </a:pPr>
            <a:r>
              <a:rPr lang="en-US" altLang="zh-CN" sz="1600"/>
              <a:t>         </a:t>
            </a:r>
            <a:r>
              <a:rPr lang="en-US" altLang="zh-CN" sz="1600" err="1"/>
              <a:t>s[i</a:t>
            </a:r>
            <a:r>
              <a:rPr lang="en-US" altLang="zh-CN" sz="1600"/>
              <a:t>]=1;</a:t>
            </a:r>
            <a:endParaRPr lang="en-US" altLang="zh-CN" sz="1600"/>
          </a:p>
          <a:p>
            <a:pPr eaLnBrk="1" hangingPunct="1">
              <a:lnSpc>
                <a:spcPct val="80000"/>
              </a:lnSpc>
            </a:pPr>
            <a:r>
              <a:rPr lang="en-US" altLang="zh-CN" sz="1600"/>
              <a:t>         if (i==8) </a:t>
            </a:r>
            <a:endParaRPr lang="en-US" altLang="zh-CN" sz="1600"/>
          </a:p>
          <a:p>
            <a:pPr eaLnBrk="1" hangingPunct="1">
              <a:lnSpc>
                <a:spcPct val="80000"/>
              </a:lnSpc>
            </a:pPr>
            <a:r>
              <a:rPr lang="en-US" altLang="zh-CN" sz="1600"/>
              <a:t>          {</a:t>
            </a:r>
            <a:endParaRPr lang="en-US" altLang="zh-CN" sz="1600"/>
          </a:p>
          <a:p>
            <a:pPr eaLnBrk="1" hangingPunct="1">
              <a:lnSpc>
                <a:spcPct val="80000"/>
              </a:lnSpc>
            </a:pPr>
            <a:r>
              <a:rPr lang="en-US" altLang="zh-CN" sz="1600"/>
              <a:t>             </a:t>
            </a:r>
            <a:r>
              <a:rPr lang="en-US" altLang="zh-CN" sz="1600" err="1"/>
              <a:t>out(tail);head</a:t>
            </a:r>
            <a:r>
              <a:rPr lang="en-US" altLang="zh-CN" sz="1600"/>
              <a:t>=</a:t>
            </a:r>
            <a:r>
              <a:rPr lang="en-US" altLang="zh-CN" sz="1600" err="1"/>
              <a:t>tail;break</a:t>
            </a:r>
            <a:r>
              <a:rPr lang="en-US" altLang="zh-CN" sz="1600"/>
              <a:t>; //</a:t>
            </a:r>
            <a:r>
              <a:rPr lang="zh-CN" altLang="en-US" sz="1600" dirty="0"/>
              <a:t>第一次搜到</a:t>
            </a:r>
            <a:r>
              <a:rPr lang="en-US" altLang="zh-CN" sz="1600"/>
              <a:t>H</a:t>
            </a:r>
            <a:r>
              <a:rPr lang="zh-CN" altLang="en-US" sz="1600" dirty="0"/>
              <a:t>城市时路线最短</a:t>
            </a:r>
            <a:endParaRPr lang="zh-CN" altLang="en-US" sz="1600" dirty="0"/>
          </a:p>
          <a:p>
            <a:pPr eaLnBrk="1" hangingPunct="1">
              <a:lnSpc>
                <a:spcPct val="80000"/>
              </a:lnSpc>
            </a:pPr>
            <a:r>
              <a:rPr lang="zh-CN" altLang="en-US" sz="1600" dirty="0"/>
              <a:t>          </a:t>
            </a:r>
            <a:r>
              <a:rPr lang="en-US" altLang="zh-CN" sz="1600"/>
              <a:t>}</a:t>
            </a:r>
            <a:endParaRPr lang="en-US" altLang="zh-CN" sz="1600"/>
          </a:p>
          <a:p>
            <a:pPr eaLnBrk="1" hangingPunct="1">
              <a:lnSpc>
                <a:spcPct val="80000"/>
              </a:lnSpc>
            </a:pPr>
            <a:r>
              <a:rPr lang="en-US" altLang="zh-CN" sz="1600"/>
              <a:t>       }</a:t>
            </a:r>
            <a:endParaRPr lang="en-US" altLang="zh-CN" sz="1600"/>
          </a:p>
          <a:p>
            <a:pPr eaLnBrk="1" hangingPunct="1">
              <a:lnSpc>
                <a:spcPct val="80000"/>
              </a:lnSpc>
            </a:pPr>
            <a:r>
              <a:rPr lang="en-US" altLang="zh-CN" sz="1600"/>
              <a:t>    }while (head&lt;tail);</a:t>
            </a:r>
            <a:endParaRPr lang="en-US" altLang="zh-CN" sz="1600"/>
          </a:p>
          <a:p>
            <a:pPr eaLnBrk="1" hangingPunct="1">
              <a:lnSpc>
                <a:spcPct val="80000"/>
              </a:lnSpc>
            </a:pPr>
            <a:r>
              <a:rPr lang="en-US" altLang="zh-CN" sz="1600"/>
              <a:t>}</a:t>
            </a:r>
            <a:endParaRPr lang="en-US" altLang="zh-CN" sz="1600"/>
          </a:p>
          <a:p>
            <a:pPr eaLnBrk="1" hangingPunct="1">
              <a:lnSpc>
                <a:spcPct val="80000"/>
              </a:lnSpc>
            </a:pPr>
            <a:r>
              <a:rPr lang="en-US" altLang="zh-CN" sz="1600" err="1"/>
              <a:t>int</a:t>
            </a:r>
            <a:r>
              <a:rPr lang="en-US" altLang="zh-CN" sz="1600"/>
              <a:t> main()                                   //</a:t>
            </a:r>
            <a:r>
              <a:rPr lang="zh-CN" altLang="en-US" sz="1600" dirty="0"/>
              <a:t>主程序</a:t>
            </a:r>
            <a:endParaRPr lang="zh-CN" altLang="fr-FR" sz="1600" dirty="0"/>
          </a:p>
          <a:p>
            <a:pPr eaLnBrk="1" hangingPunct="1">
              <a:lnSpc>
                <a:spcPct val="80000"/>
              </a:lnSpc>
            </a:pPr>
            <a:r>
              <a:rPr lang="fr-FR" altLang="zh-CN" sz="1600" dirty="0"/>
              <a:t>{</a:t>
            </a:r>
            <a:endParaRPr lang="en-US" altLang="zh-CN" sz="1600"/>
          </a:p>
          <a:p>
            <a:pPr eaLnBrk="1" hangingPunct="1">
              <a:lnSpc>
                <a:spcPct val="80000"/>
              </a:lnSpc>
            </a:pPr>
            <a:r>
              <a:rPr lang="en-US" altLang="zh-CN" sz="1600"/>
              <a:t>  </a:t>
            </a:r>
            <a:r>
              <a:rPr lang="en-US" altLang="zh-CN" sz="1600" err="1"/>
              <a:t>memset(s,false,sizeof(s</a:t>
            </a:r>
            <a:r>
              <a:rPr lang="en-US" altLang="zh-CN" sz="1600"/>
              <a:t>));</a:t>
            </a:r>
            <a:endParaRPr lang="fr-FR" altLang="zh-CN" sz="1600" dirty="0"/>
          </a:p>
          <a:p>
            <a:pPr eaLnBrk="1" hangingPunct="1">
              <a:lnSpc>
                <a:spcPct val="80000"/>
              </a:lnSpc>
            </a:pPr>
            <a:r>
              <a:rPr lang="fr-FR" altLang="zh-CN" sz="1600" dirty="0"/>
              <a:t>  doit();</a:t>
            </a:r>
            <a:r>
              <a:rPr lang="en-US" altLang="zh-CN" sz="1600"/>
              <a:t>                                       //</a:t>
            </a:r>
            <a:r>
              <a:rPr lang="zh-CN" altLang="en-US" sz="1600" dirty="0"/>
              <a:t>进行</a:t>
            </a:r>
            <a:r>
              <a:rPr lang="en-US" altLang="zh-CN" sz="1600" err="1"/>
              <a:t>Bfs</a:t>
            </a:r>
            <a:r>
              <a:rPr lang="zh-CN" altLang="en-US" sz="1600" dirty="0"/>
              <a:t>操作</a:t>
            </a:r>
            <a:endParaRPr lang="zh-CN" altLang="en-US" sz="1600" dirty="0"/>
          </a:p>
          <a:p>
            <a:pPr eaLnBrk="1" hangingPunct="1">
              <a:lnSpc>
                <a:spcPct val="80000"/>
              </a:lnSpc>
            </a:pPr>
            <a:r>
              <a:rPr lang="zh-CN" altLang="en-US" sz="1600" dirty="0"/>
              <a:t>  </a:t>
            </a:r>
            <a:r>
              <a:rPr lang="en-US" altLang="zh-CN" sz="1600"/>
              <a:t>return 0;</a:t>
            </a:r>
            <a:endParaRPr lang="fr-FR" altLang="zh-CN" sz="1600" dirty="0"/>
          </a:p>
          <a:p>
            <a:pPr eaLnBrk="1" hangingPunct="1">
              <a:lnSpc>
                <a:spcPct val="80000"/>
              </a:lnSpc>
            </a:pPr>
            <a:r>
              <a:rPr lang="fr-FR" altLang="zh-CN" sz="1600" dirty="0"/>
              <a:t>}</a:t>
            </a:r>
            <a:endParaRPr lang="en-US" altLang="zh-CN"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Text Box 2"/>
          <p:cNvSpPr txBox="1"/>
          <p:nvPr/>
        </p:nvSpPr>
        <p:spPr>
          <a:xfrm>
            <a:off x="228600" y="152400"/>
            <a:ext cx="8610600" cy="6797675"/>
          </a:xfrm>
          <a:prstGeom prst="rect">
            <a:avLst/>
          </a:prstGeom>
          <a:noFill/>
          <a:ln w="9525">
            <a:noFill/>
          </a:ln>
        </p:spPr>
        <p:txBody>
          <a:bodyPr anchor="t" anchorCtr="0">
            <a:spAutoFit/>
          </a:bodyPr>
          <a:p>
            <a:r>
              <a:rPr lang="en-US" altLang="zh-CN" sz="2000" b="1">
                <a:solidFill>
                  <a:schemeClr val="tx2"/>
                </a:solidFill>
                <a:latin typeface="Arial" panose="020B0604020202020204" pitchFamily="34" charset="0"/>
                <a:ea typeface="宋体" panose="02010600030101010101" pitchFamily="2" charset="-122"/>
              </a:rPr>
              <a:t>【</a:t>
            </a:r>
            <a:r>
              <a:rPr lang="zh-CN" altLang="en-US" sz="2000" b="1" dirty="0">
                <a:solidFill>
                  <a:schemeClr val="tx2"/>
                </a:solidFill>
                <a:latin typeface="Arial" panose="020B0604020202020204" pitchFamily="34" charset="0"/>
                <a:ea typeface="宋体" panose="02010600030101010101" pitchFamily="2" charset="-122"/>
              </a:rPr>
              <a:t>例</a:t>
            </a:r>
            <a:r>
              <a:rPr lang="en-US" altLang="zh-CN" sz="2000" b="1">
                <a:solidFill>
                  <a:schemeClr val="tx2"/>
                </a:solidFill>
                <a:latin typeface="Arial" panose="020B0604020202020204" pitchFamily="34" charset="0"/>
                <a:ea typeface="宋体" panose="02010600030101010101" pitchFamily="2" charset="-122"/>
              </a:rPr>
              <a:t>8.2】</a:t>
            </a:r>
            <a:r>
              <a:rPr lang="zh-CN" altLang="en-US" sz="2000" dirty="0">
                <a:latin typeface="Arial" panose="020B0604020202020204" pitchFamily="34" charset="0"/>
                <a:ea typeface="宋体" panose="02010600030101010101" pitchFamily="2" charset="-122"/>
              </a:rPr>
              <a:t>一矩形阵列由数字</a:t>
            </a:r>
            <a:r>
              <a:rPr lang="en-US" altLang="zh-CN" sz="2000">
                <a:latin typeface="Arial" panose="020B0604020202020204" pitchFamily="34" charset="0"/>
                <a:ea typeface="宋体" panose="02010600030101010101" pitchFamily="2" charset="-122"/>
              </a:rPr>
              <a:t>0</a:t>
            </a:r>
            <a:r>
              <a:rPr lang="zh-CN" altLang="en-US" sz="2000" dirty="0">
                <a:latin typeface="Arial" panose="020B0604020202020204" pitchFamily="34" charset="0"/>
                <a:ea typeface="宋体" panose="02010600030101010101" pitchFamily="2" charset="-122"/>
              </a:rPr>
              <a:t>到</a:t>
            </a:r>
            <a:r>
              <a:rPr lang="en-US" altLang="zh-CN" sz="2000">
                <a:latin typeface="Arial" panose="020B0604020202020204" pitchFamily="34" charset="0"/>
                <a:ea typeface="宋体" panose="02010600030101010101" pitchFamily="2" charset="-122"/>
              </a:rPr>
              <a:t>9</a:t>
            </a:r>
            <a:r>
              <a:rPr lang="zh-CN" altLang="en-US" sz="2000" dirty="0">
                <a:latin typeface="Arial" panose="020B0604020202020204" pitchFamily="34" charset="0"/>
                <a:ea typeface="宋体" panose="02010600030101010101" pitchFamily="2" charset="-122"/>
              </a:rPr>
              <a:t>组成</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数字</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到</a:t>
            </a:r>
            <a:r>
              <a:rPr lang="en-US" altLang="zh-CN" sz="2000">
                <a:latin typeface="Arial" panose="020B0604020202020204" pitchFamily="34" charset="0"/>
                <a:ea typeface="宋体" panose="02010600030101010101" pitchFamily="2" charset="-122"/>
              </a:rPr>
              <a:t>9</a:t>
            </a:r>
            <a:r>
              <a:rPr lang="zh-CN" altLang="en-US" sz="2000" dirty="0">
                <a:latin typeface="Arial" panose="020B0604020202020204" pitchFamily="34" charset="0"/>
                <a:ea typeface="宋体" panose="02010600030101010101" pitchFamily="2" charset="-122"/>
              </a:rPr>
              <a:t>代表细胞</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细胞的定义为沿细胞数字上下左右还是细胞数字则为同一细胞</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求给定矩形阵列的细胞个数。如</a:t>
            </a:r>
            <a:r>
              <a:rPr lang="en-US" altLang="zh-CN" sz="2000">
                <a:latin typeface="Arial" panose="020B0604020202020204" pitchFamily="34"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阵列  </a:t>
            </a:r>
            <a:endParaRPr lang="zh-CN" altLang="en-US" sz="2000" dirty="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4  10</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0234500067</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1034560500</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2045600671</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0000000089</a:t>
            </a:r>
            <a:endParaRPr lang="en-US" altLang="zh-CN" sz="200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有</a:t>
            </a:r>
            <a:r>
              <a:rPr lang="en-US" altLang="zh-CN" sz="2000">
                <a:latin typeface="Arial" panose="020B0604020202020204" pitchFamily="34" charset="0"/>
                <a:ea typeface="宋体" panose="02010600030101010101" pitchFamily="2" charset="-122"/>
              </a:rPr>
              <a:t>4</a:t>
            </a:r>
            <a:r>
              <a:rPr lang="zh-CN" altLang="en-US" sz="2000" dirty="0">
                <a:latin typeface="Arial" panose="020B0604020202020204" pitchFamily="34" charset="0"/>
                <a:ea typeface="宋体" panose="02010600030101010101" pitchFamily="2" charset="-122"/>
              </a:rPr>
              <a:t>个细胞。</a:t>
            </a:r>
            <a:endParaRPr lang="zh-CN" altLang="en-US" sz="2000" dirty="0">
              <a:latin typeface="Arial" panose="020B0604020202020204" pitchFamily="34" charset="0"/>
              <a:ea typeface="宋体" panose="02010600030101010101" pitchFamily="2" charset="-122"/>
            </a:endParaRPr>
          </a:p>
          <a:p>
            <a:r>
              <a:rPr lang="en-US" altLang="zh-CN" sz="2000" b="1">
                <a:solidFill>
                  <a:schemeClr val="tx2"/>
                </a:solidFill>
                <a:latin typeface="Arial" panose="020B0604020202020204" pitchFamily="34" charset="0"/>
                <a:ea typeface="宋体" panose="02010600030101010101" pitchFamily="2" charset="-122"/>
              </a:rPr>
              <a:t>【</a:t>
            </a:r>
            <a:r>
              <a:rPr lang="zh-CN" altLang="en-US" sz="2000" b="1" dirty="0">
                <a:solidFill>
                  <a:schemeClr val="tx2"/>
                </a:solidFill>
                <a:latin typeface="Arial" panose="020B0604020202020204" pitchFamily="34" charset="0"/>
                <a:ea typeface="宋体" panose="02010600030101010101" pitchFamily="2" charset="-122"/>
              </a:rPr>
              <a:t>算法分析</a:t>
            </a:r>
            <a:r>
              <a:rPr lang="en-US" altLang="zh-CN" sz="2000" b="1">
                <a:solidFill>
                  <a:schemeClr val="tx2"/>
                </a:solidFill>
                <a:latin typeface="Arial" panose="020B0604020202020204" pitchFamily="34" charset="0"/>
                <a:ea typeface="宋体" panose="02010600030101010101" pitchFamily="2" charset="-122"/>
              </a:rPr>
              <a:t>】</a:t>
            </a:r>
            <a:endParaRPr lang="en-US" altLang="zh-CN" sz="2000" b="1">
              <a:solidFill>
                <a:schemeClr val="tx2"/>
              </a:solidFill>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   ⑴</a:t>
            </a:r>
            <a:r>
              <a:rPr lang="zh-CN" altLang="en-US" sz="2000" dirty="0">
                <a:latin typeface="Arial" panose="020B0604020202020204" pitchFamily="34" charset="0"/>
                <a:ea typeface="宋体" panose="02010600030101010101" pitchFamily="2" charset="-122"/>
              </a:rPr>
              <a:t>从文件中读入</a:t>
            </a:r>
            <a:r>
              <a:rPr lang="en-US" altLang="zh-CN" sz="2000">
                <a:latin typeface="Arial" panose="020B0604020202020204" pitchFamily="34" charset="0"/>
                <a:ea typeface="宋体" panose="02010600030101010101" pitchFamily="2" charset="-122"/>
              </a:rPr>
              <a:t>m*n</a:t>
            </a:r>
            <a:r>
              <a:rPr lang="zh-CN" altLang="en-US" sz="2000" dirty="0">
                <a:latin typeface="Arial" panose="020B0604020202020204" pitchFamily="34" charset="0"/>
                <a:ea typeface="宋体" panose="02010600030101010101" pitchFamily="2" charset="-122"/>
              </a:rPr>
              <a:t>矩阵阵列，将其转换为</a:t>
            </a:r>
            <a:r>
              <a:rPr lang="en-US" altLang="zh-CN" sz="2000" err="1">
                <a:latin typeface="Arial" panose="020B0604020202020204" pitchFamily="34" charset="0"/>
                <a:ea typeface="宋体" panose="02010600030101010101" pitchFamily="2" charset="-122"/>
              </a:rPr>
              <a:t>boolean</a:t>
            </a:r>
            <a:r>
              <a:rPr lang="zh-CN" altLang="en-US" sz="2000" dirty="0">
                <a:latin typeface="Arial" panose="020B0604020202020204" pitchFamily="34" charset="0"/>
                <a:ea typeface="宋体" panose="02010600030101010101" pitchFamily="2" charset="-122"/>
              </a:rPr>
              <a:t>矩阵存入</a:t>
            </a:r>
            <a:r>
              <a:rPr lang="en-US" altLang="zh-CN" sz="2000" err="1">
                <a:latin typeface="Arial" panose="020B0604020202020204" pitchFamily="34" charset="0"/>
                <a:ea typeface="宋体" panose="02010600030101010101" pitchFamily="2" charset="-122"/>
              </a:rPr>
              <a:t>bz</a:t>
            </a:r>
            <a:r>
              <a:rPr lang="zh-CN" altLang="en-US" sz="2000" dirty="0">
                <a:latin typeface="Arial" panose="020B0604020202020204" pitchFamily="34" charset="0"/>
                <a:ea typeface="宋体" panose="02010600030101010101" pitchFamily="2" charset="-122"/>
              </a:rPr>
              <a:t>数组中；</a:t>
            </a:r>
            <a:br>
              <a:rPr lang="zh-CN" altLang="en-US" sz="2000"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   ⑵沿</a:t>
            </a:r>
            <a:r>
              <a:rPr lang="en-US" altLang="zh-CN" sz="2000" err="1">
                <a:latin typeface="Arial" panose="020B0604020202020204" pitchFamily="34" charset="0"/>
                <a:ea typeface="宋体" panose="02010600030101010101" pitchFamily="2" charset="-122"/>
              </a:rPr>
              <a:t>bz</a:t>
            </a:r>
            <a:r>
              <a:rPr lang="zh-CN" altLang="en-US" sz="2000" dirty="0">
                <a:latin typeface="Arial" panose="020B0604020202020204" pitchFamily="34" charset="0"/>
                <a:ea typeface="宋体" panose="02010600030101010101" pitchFamily="2" charset="-122"/>
              </a:rPr>
              <a:t>数组矩阵从上到下，从左到右，找到遇到的第一个细胞；</a:t>
            </a:r>
            <a:br>
              <a:rPr lang="zh-CN" altLang="en-US" sz="2000"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   ⑶将细胞的位置入队</a:t>
            </a:r>
            <a:r>
              <a:rPr lang="en-US" altLang="zh-CN" sz="2000">
                <a:latin typeface="Arial" panose="020B0604020202020204" pitchFamily="34" charset="0"/>
                <a:ea typeface="宋体" panose="02010600030101010101" pitchFamily="2" charset="-122"/>
              </a:rPr>
              <a:t>h</a:t>
            </a:r>
            <a:r>
              <a:rPr lang="zh-CN" altLang="en-US" sz="2000" dirty="0">
                <a:latin typeface="Arial" panose="020B0604020202020204" pitchFamily="34" charset="0"/>
                <a:ea typeface="宋体" panose="02010600030101010101" pitchFamily="2" charset="-122"/>
              </a:rPr>
              <a:t>，并沿其上、下、左、右四个方向上的细胞位置入队，入队后的位置</a:t>
            </a:r>
            <a:r>
              <a:rPr lang="en-US" altLang="zh-CN" sz="2000" err="1">
                <a:latin typeface="Arial" panose="020B0604020202020204" pitchFamily="34" charset="0"/>
                <a:ea typeface="宋体" panose="02010600030101010101" pitchFamily="2" charset="-122"/>
              </a:rPr>
              <a:t>bz</a:t>
            </a:r>
            <a:r>
              <a:rPr lang="zh-CN" altLang="en-US" sz="2000" dirty="0">
                <a:latin typeface="Arial" panose="020B0604020202020204" pitchFamily="34" charset="0"/>
                <a:ea typeface="宋体" panose="02010600030101010101" pitchFamily="2" charset="-122"/>
              </a:rPr>
              <a:t>数组置为</a:t>
            </a:r>
            <a:r>
              <a:rPr lang="en-US" altLang="zh-CN" sz="2000" err="1">
                <a:latin typeface="Arial" panose="020B0604020202020204" pitchFamily="34" charset="0"/>
                <a:ea typeface="宋体" panose="02010600030101010101" pitchFamily="2" charset="-122"/>
              </a:rPr>
              <a:t>flase</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⑷将</a:t>
            </a:r>
            <a:r>
              <a:rPr lang="en-US" altLang="zh-CN" sz="2000">
                <a:latin typeface="Arial" panose="020B0604020202020204" pitchFamily="34" charset="0"/>
                <a:ea typeface="宋体" panose="02010600030101010101" pitchFamily="2" charset="-122"/>
              </a:rPr>
              <a:t>h</a:t>
            </a:r>
            <a:r>
              <a:rPr lang="zh-CN" altLang="en-US" sz="2000" dirty="0">
                <a:latin typeface="Arial" panose="020B0604020202020204" pitchFamily="34" charset="0"/>
                <a:ea typeface="宋体" panose="02010600030101010101" pitchFamily="2" charset="-122"/>
              </a:rPr>
              <a:t>队的队头出队，沿其上、下、左、右四个方向上的细胞位置入队，入队后的位置</a:t>
            </a:r>
            <a:r>
              <a:rPr lang="en-US" altLang="zh-CN" sz="2000" err="1">
                <a:latin typeface="Arial" panose="020B0604020202020204" pitchFamily="34" charset="0"/>
                <a:ea typeface="宋体" panose="02010600030101010101" pitchFamily="2" charset="-122"/>
              </a:rPr>
              <a:t>bz</a:t>
            </a:r>
            <a:r>
              <a:rPr lang="zh-CN" altLang="en-US" sz="2000" dirty="0">
                <a:latin typeface="Arial" panose="020B0604020202020204" pitchFamily="34" charset="0"/>
                <a:ea typeface="宋体" panose="02010600030101010101" pitchFamily="2" charset="-122"/>
              </a:rPr>
              <a:t>数组置为</a:t>
            </a:r>
            <a:r>
              <a:rPr lang="en-US" altLang="zh-CN" sz="2000" err="1">
                <a:latin typeface="Arial" panose="020B0604020202020204" pitchFamily="34" charset="0"/>
                <a:ea typeface="宋体" panose="02010600030101010101" pitchFamily="2" charset="-122"/>
              </a:rPr>
              <a:t>flase</a:t>
            </a:r>
            <a:r>
              <a:rPr lang="zh-CN" altLang="en-US" sz="2000" dirty="0">
                <a:latin typeface="Arial" panose="020B0604020202020204" pitchFamily="34" charset="0"/>
                <a:ea typeface="宋体" panose="02010600030101010101" pitchFamily="2" charset="-122"/>
              </a:rPr>
              <a:t>；</a:t>
            </a:r>
            <a:br>
              <a:rPr lang="zh-CN" altLang="en-US" sz="2000"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  ⑸重复</a:t>
            </a:r>
            <a:r>
              <a:rPr lang="en-US" altLang="zh-CN" sz="2000">
                <a:latin typeface="Arial" panose="020B0604020202020204" pitchFamily="34" charset="0"/>
                <a:ea typeface="宋体" panose="02010600030101010101" pitchFamily="2" charset="-122"/>
              </a:rPr>
              <a:t>4</a:t>
            </a:r>
            <a:r>
              <a:rPr lang="zh-CN" altLang="en-US" sz="2000" dirty="0">
                <a:latin typeface="Arial" panose="020B0604020202020204" pitchFamily="34" charset="0"/>
                <a:ea typeface="宋体" panose="02010600030101010101" pitchFamily="2" charset="-122"/>
              </a:rPr>
              <a:t>，直至</a:t>
            </a:r>
            <a:r>
              <a:rPr lang="en-US" altLang="zh-CN" sz="2000">
                <a:latin typeface="Arial" panose="020B0604020202020204" pitchFamily="34" charset="0"/>
                <a:ea typeface="宋体" panose="02010600030101010101" pitchFamily="2" charset="-122"/>
              </a:rPr>
              <a:t>h</a:t>
            </a:r>
            <a:r>
              <a:rPr lang="zh-CN" altLang="en-US" sz="2000" dirty="0">
                <a:latin typeface="Arial" panose="020B0604020202020204" pitchFamily="34" charset="0"/>
                <a:ea typeface="宋体" panose="02010600030101010101" pitchFamily="2" charset="-122"/>
              </a:rPr>
              <a:t>队空为止，则此时找出了一个细胞；</a:t>
            </a:r>
            <a:br>
              <a:rPr lang="zh-CN" altLang="en-US" sz="2000"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  ⑹重复</a:t>
            </a:r>
            <a:r>
              <a:rPr lang="en-US" altLang="zh-CN" sz="200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，直至矩阵找不到细胞；</a:t>
            </a:r>
            <a:br>
              <a:rPr lang="zh-CN" altLang="en-US" sz="2000"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  ⑺输出找到的细胞数。</a:t>
            </a:r>
            <a:br>
              <a:rPr lang="zh-CN" altLang="en-US" sz="2000" dirty="0">
                <a:latin typeface="Arial" panose="020B0604020202020204" pitchFamily="34" charset="0"/>
                <a:ea typeface="宋体" panose="02010600030101010101" pitchFamily="2" charset="-122"/>
              </a:rPr>
            </a:br>
            <a:br>
              <a:rPr lang="zh-CN" altLang="en-US" sz="2000" dirty="0">
                <a:latin typeface="Arial" panose="020B0604020202020204" pitchFamily="34" charset="0"/>
                <a:ea typeface="宋体" panose="02010600030101010101" pitchFamily="2" charset="-122"/>
              </a:rPr>
            </a:br>
            <a:endParaRPr lang="zh-CN" altLang="en-US" sz="2000" dirty="0">
              <a:latin typeface="Arial" panose="020B060402020202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Text Box 2"/>
          <p:cNvSpPr txBox="1"/>
          <p:nvPr/>
        </p:nvSpPr>
        <p:spPr>
          <a:xfrm>
            <a:off x="0" y="-136525"/>
            <a:ext cx="9144000" cy="396875"/>
          </a:xfrm>
          <a:prstGeom prst="rect">
            <a:avLst/>
          </a:prstGeom>
          <a:noFill/>
          <a:ln w="9525">
            <a:noFill/>
          </a:ln>
        </p:spPr>
        <p:txBody>
          <a:bodyPr anchor="t" anchorCtr="0">
            <a:spAutoFit/>
          </a:bodyPr>
          <a:p>
            <a:endParaRPr lang="zh-CN" altLang="zh-CN" sz="2000" dirty="0">
              <a:latin typeface="Arial" panose="020B0604020202020204" pitchFamily="34" charset="0"/>
              <a:ea typeface="宋体" panose="02010600030101010101" pitchFamily="2" charset="-122"/>
            </a:endParaRPr>
          </a:p>
        </p:txBody>
      </p:sp>
      <p:sp>
        <p:nvSpPr>
          <p:cNvPr id="13314" name="Rectangle 4"/>
          <p:cNvSpPr>
            <a:spLocks noGrp="1" noRot="1"/>
          </p:cNvSpPr>
          <p:nvPr>
            <p:ph idx="1"/>
          </p:nvPr>
        </p:nvSpPr>
        <p:spPr>
          <a:xfrm>
            <a:off x="0" y="0"/>
            <a:ext cx="9144000" cy="6858000"/>
          </a:xfrm>
          <a:ln/>
        </p:spPr>
        <p:txBody>
          <a:bodyPr wrap="square" lIns="91440" tIns="45720" rIns="91440" bIns="45720" anchor="t" anchorCtr="0"/>
          <a:p>
            <a:pPr eaLnBrk="1" hangingPunct="1">
              <a:lnSpc>
                <a:spcPct val="80000"/>
              </a:lnSpc>
            </a:pPr>
            <a:r>
              <a:rPr lang="en-US" altLang="zh-CN" sz="1600" b="1"/>
              <a:t>【</a:t>
            </a:r>
            <a:r>
              <a:rPr lang="zh-CN" altLang="en-US" sz="1600" b="1" dirty="0"/>
              <a:t>参考程序</a:t>
            </a:r>
            <a:r>
              <a:rPr lang="en-US" altLang="zh-CN" sz="1600" b="1"/>
              <a:t>】</a:t>
            </a:r>
            <a:endParaRPr lang="en-US" altLang="zh-CN" sz="1600"/>
          </a:p>
          <a:p>
            <a:pPr eaLnBrk="1" hangingPunct="1">
              <a:lnSpc>
                <a:spcPct val="80000"/>
              </a:lnSpc>
            </a:pPr>
            <a:r>
              <a:rPr lang="en-US" altLang="zh-CN" sz="1600"/>
              <a:t>#include&lt;</a:t>
            </a:r>
            <a:r>
              <a:rPr lang="en-US" altLang="zh-CN" sz="1600" err="1"/>
              <a:t>cstdio</a:t>
            </a:r>
            <a:r>
              <a:rPr lang="en-US" altLang="zh-CN" sz="1600"/>
              <a:t>&gt;</a:t>
            </a:r>
            <a:endParaRPr lang="en-US" altLang="zh-CN" sz="1600"/>
          </a:p>
          <a:p>
            <a:pPr eaLnBrk="1" hangingPunct="1">
              <a:lnSpc>
                <a:spcPct val="80000"/>
              </a:lnSpc>
            </a:pPr>
            <a:r>
              <a:rPr lang="en-US" altLang="zh-CN" sz="1600"/>
              <a:t>using namespace std;</a:t>
            </a:r>
            <a:endParaRPr lang="en-US" altLang="zh-CN" sz="1600"/>
          </a:p>
          <a:p>
            <a:pPr eaLnBrk="1" hangingPunct="1">
              <a:lnSpc>
                <a:spcPct val="80000"/>
              </a:lnSpc>
            </a:pPr>
            <a:r>
              <a:rPr lang="en-US" altLang="zh-CN" sz="1600" err="1"/>
              <a:t>int</a:t>
            </a:r>
            <a:r>
              <a:rPr lang="en-US" altLang="zh-CN" sz="1600"/>
              <a:t> dx[4]={-1,0,1,0},</a:t>
            </a:r>
            <a:endParaRPr lang="en-US" altLang="zh-CN" sz="1600"/>
          </a:p>
          <a:p>
            <a:pPr eaLnBrk="1" hangingPunct="1">
              <a:lnSpc>
                <a:spcPct val="80000"/>
              </a:lnSpc>
            </a:pPr>
            <a:r>
              <a:rPr lang="en-US" altLang="zh-CN" sz="1600"/>
              <a:t>    </a:t>
            </a:r>
            <a:r>
              <a:rPr lang="fr-FR" altLang="zh-CN" sz="1600" dirty="0"/>
              <a:t>dy[4]={0,1,0,-1};</a:t>
            </a:r>
            <a:endParaRPr lang="fr-FR" altLang="zh-CN" sz="1600" dirty="0"/>
          </a:p>
          <a:p>
            <a:pPr eaLnBrk="1" hangingPunct="1">
              <a:lnSpc>
                <a:spcPct val="80000"/>
              </a:lnSpc>
            </a:pPr>
            <a:r>
              <a:rPr lang="fr-FR" altLang="zh-CN" sz="1600" dirty="0"/>
              <a:t>int bz[100][100],num=0,n,m; </a:t>
            </a:r>
            <a:endParaRPr lang="en-US" altLang="zh-CN" sz="1600"/>
          </a:p>
          <a:p>
            <a:pPr eaLnBrk="1" hangingPunct="1">
              <a:lnSpc>
                <a:spcPct val="80000"/>
              </a:lnSpc>
            </a:pPr>
            <a:r>
              <a:rPr lang="en-US" altLang="zh-CN" sz="1600"/>
              <a:t>void</a:t>
            </a:r>
            <a:r>
              <a:rPr lang="fr-FR" altLang="zh-CN" sz="1600" dirty="0"/>
              <a:t> doit(int p,int q)</a:t>
            </a:r>
            <a:endParaRPr lang="fr-FR" altLang="zh-CN" sz="1600" dirty="0"/>
          </a:p>
          <a:p>
            <a:pPr eaLnBrk="1" hangingPunct="1">
              <a:lnSpc>
                <a:spcPct val="80000"/>
              </a:lnSpc>
            </a:pPr>
            <a:r>
              <a:rPr lang="fr-FR" altLang="zh-CN" sz="1600" dirty="0"/>
              <a:t>{</a:t>
            </a:r>
            <a:endParaRPr lang="fr-FR" altLang="zh-CN" sz="1600" dirty="0"/>
          </a:p>
          <a:p>
            <a:pPr eaLnBrk="1" hangingPunct="1">
              <a:lnSpc>
                <a:spcPct val="80000"/>
              </a:lnSpc>
            </a:pPr>
            <a:r>
              <a:rPr lang="fr-FR" altLang="zh-CN" sz="1600" dirty="0"/>
              <a:t>   int x,y,t,w,i;</a:t>
            </a:r>
            <a:endParaRPr lang="fr-FR" altLang="zh-CN" sz="1600" dirty="0"/>
          </a:p>
          <a:p>
            <a:pPr eaLnBrk="1" hangingPunct="1">
              <a:lnSpc>
                <a:spcPct val="80000"/>
              </a:lnSpc>
            </a:pPr>
            <a:r>
              <a:rPr lang="fr-FR" altLang="zh-CN" sz="1600" dirty="0"/>
              <a:t>   int h[1000][2];</a:t>
            </a:r>
            <a:endParaRPr lang="fr-FR" altLang="zh-CN" sz="1600" dirty="0"/>
          </a:p>
          <a:p>
            <a:pPr eaLnBrk="1" hangingPunct="1">
              <a:lnSpc>
                <a:spcPct val="80000"/>
              </a:lnSpc>
            </a:pPr>
            <a:r>
              <a:rPr lang="fr-FR" altLang="zh-CN" sz="1600" dirty="0"/>
              <a:t>   num++;bz[p][q]=0;</a:t>
            </a:r>
            <a:endParaRPr lang="fr-FR" altLang="zh-CN" sz="1600" dirty="0"/>
          </a:p>
          <a:p>
            <a:pPr eaLnBrk="1" hangingPunct="1">
              <a:lnSpc>
                <a:spcPct val="80000"/>
              </a:lnSpc>
            </a:pPr>
            <a:r>
              <a:rPr lang="fr-FR" altLang="zh-CN" sz="1600" dirty="0"/>
              <a:t>   t=0;w=1;h[1][1]=p;h[1][2]=q;       //</a:t>
            </a:r>
            <a:r>
              <a:rPr lang="zh-CN" altLang="fr-FR" sz="1600" dirty="0"/>
              <a:t>遇到的第一个细胞入队</a:t>
            </a:r>
            <a:endParaRPr lang="zh-CN" altLang="fr-FR" sz="1600" dirty="0"/>
          </a:p>
          <a:p>
            <a:pPr eaLnBrk="1" hangingPunct="1">
              <a:lnSpc>
                <a:spcPct val="80000"/>
              </a:lnSpc>
            </a:pPr>
            <a:r>
              <a:rPr lang="zh-CN" altLang="fr-FR" sz="1600" dirty="0"/>
              <a:t>   </a:t>
            </a:r>
            <a:r>
              <a:rPr lang="fr-FR" altLang="zh-CN" sz="1600" dirty="0"/>
              <a:t>do</a:t>
            </a:r>
            <a:endParaRPr lang="fr-FR" altLang="zh-CN" sz="1600" dirty="0"/>
          </a:p>
          <a:p>
            <a:pPr eaLnBrk="1" hangingPunct="1">
              <a:lnSpc>
                <a:spcPct val="80000"/>
              </a:lnSpc>
            </a:pPr>
            <a:r>
              <a:rPr lang="fr-FR" altLang="zh-CN" sz="1600" dirty="0"/>
              <a:t>    {</a:t>
            </a:r>
            <a:endParaRPr lang="fr-FR" altLang="zh-CN" sz="1600" dirty="0"/>
          </a:p>
          <a:p>
            <a:pPr eaLnBrk="1" hangingPunct="1">
              <a:lnSpc>
                <a:spcPct val="80000"/>
              </a:lnSpc>
            </a:pPr>
            <a:r>
              <a:rPr lang="fr-FR" altLang="zh-CN" sz="1600" dirty="0"/>
              <a:t>     t++;                                          //</a:t>
            </a:r>
            <a:r>
              <a:rPr lang="zh-CN" altLang="fr-FR" sz="1600" dirty="0"/>
              <a:t>队头指针加</a:t>
            </a:r>
            <a:r>
              <a:rPr lang="fr-FR" altLang="zh-CN" sz="1600" dirty="0"/>
              <a:t>1</a:t>
            </a:r>
            <a:endParaRPr lang="fr-FR" altLang="zh-CN" sz="1600" dirty="0"/>
          </a:p>
          <a:p>
            <a:pPr eaLnBrk="1" hangingPunct="1">
              <a:lnSpc>
                <a:spcPct val="80000"/>
              </a:lnSpc>
            </a:pPr>
            <a:r>
              <a:rPr lang="fr-FR" altLang="zh-CN" sz="1600" dirty="0"/>
              <a:t>     for (i=0;i&lt;=3;i++)                      //</a:t>
            </a:r>
            <a:r>
              <a:rPr lang="zh-CN" altLang="fr-FR" sz="1600" dirty="0"/>
              <a:t>沿细胞的上下左右四个方向搜索细胞</a:t>
            </a:r>
            <a:endParaRPr lang="zh-CN" altLang="fr-FR" sz="1600" dirty="0"/>
          </a:p>
          <a:p>
            <a:pPr eaLnBrk="1" hangingPunct="1">
              <a:lnSpc>
                <a:spcPct val="80000"/>
              </a:lnSpc>
            </a:pPr>
            <a:r>
              <a:rPr lang="zh-CN" altLang="fr-FR" sz="1600" dirty="0"/>
              <a:t>      </a:t>
            </a:r>
            <a:r>
              <a:rPr lang="fr-FR" altLang="zh-CN" sz="1600" dirty="0"/>
              <a:t>{</a:t>
            </a:r>
            <a:endParaRPr lang="fr-FR" altLang="zh-CN" sz="1600" dirty="0"/>
          </a:p>
          <a:p>
            <a:pPr eaLnBrk="1" hangingPunct="1">
              <a:lnSpc>
                <a:spcPct val="80000"/>
              </a:lnSpc>
            </a:pPr>
            <a:r>
              <a:rPr lang="fr-FR" altLang="zh-CN" sz="1600" dirty="0"/>
              <a:t>        x=h[t][1]+dx[i];y=h[t][2]+dy[i];</a:t>
            </a:r>
            <a:endParaRPr lang="fr-FR" altLang="zh-CN" sz="1600" dirty="0"/>
          </a:p>
          <a:p>
            <a:pPr eaLnBrk="1" hangingPunct="1">
              <a:lnSpc>
                <a:spcPct val="80000"/>
              </a:lnSpc>
            </a:pPr>
            <a:r>
              <a:rPr lang="fr-FR" altLang="zh-CN" sz="1600" dirty="0"/>
              <a:t>        </a:t>
            </a:r>
            <a:r>
              <a:rPr lang="es-ES" altLang="zh-CN" sz="1600" dirty="0"/>
              <a:t>if ((x&gt;=0)&amp;&amp;(x&lt;m)&amp;&amp;(y&gt;=0)&amp;&amp;(y&lt;n)&amp;&amp;(bz[x][y]))</a:t>
            </a:r>
            <a:r>
              <a:rPr lang="en-US" altLang="zh-CN" sz="1600"/>
              <a:t>  //</a:t>
            </a:r>
            <a:r>
              <a:rPr lang="zh-CN" altLang="en-US" sz="1600" dirty="0"/>
              <a:t>判断该点是否可以入队</a:t>
            </a:r>
            <a:endParaRPr lang="zh-CN" altLang="es-ES" sz="1600" dirty="0"/>
          </a:p>
          <a:p>
            <a:pPr eaLnBrk="1" hangingPunct="1">
              <a:lnSpc>
                <a:spcPct val="80000"/>
              </a:lnSpc>
            </a:pPr>
            <a:r>
              <a:rPr lang="zh-CN" altLang="es-ES" sz="1600" dirty="0"/>
              <a:t>         </a:t>
            </a:r>
            <a:r>
              <a:rPr lang="pl-PL" altLang="zh-CN" sz="1600" dirty="0"/>
              <a:t>{</a:t>
            </a:r>
            <a:endParaRPr lang="pl-PL" altLang="zh-CN" sz="1600" dirty="0"/>
          </a:p>
          <a:p>
            <a:pPr eaLnBrk="1" hangingPunct="1">
              <a:lnSpc>
                <a:spcPct val="80000"/>
              </a:lnSpc>
            </a:pPr>
            <a:r>
              <a:rPr lang="pl-PL" altLang="zh-CN" sz="1600" dirty="0"/>
              <a:t>           w++;</a:t>
            </a:r>
            <a:endParaRPr lang="pl-PL" altLang="zh-CN" sz="1600" dirty="0"/>
          </a:p>
          <a:p>
            <a:pPr eaLnBrk="1" hangingPunct="1">
              <a:lnSpc>
                <a:spcPct val="80000"/>
              </a:lnSpc>
            </a:pPr>
            <a:r>
              <a:rPr lang="pl-PL" altLang="zh-CN" sz="1600" dirty="0"/>
              <a:t>           h[w][1]=x;</a:t>
            </a:r>
            <a:endParaRPr lang="pl-PL" altLang="zh-CN" sz="1600" dirty="0"/>
          </a:p>
          <a:p>
            <a:pPr eaLnBrk="1" hangingPunct="1">
              <a:lnSpc>
                <a:spcPct val="80000"/>
              </a:lnSpc>
            </a:pPr>
            <a:r>
              <a:rPr lang="pl-PL" altLang="zh-CN" sz="1600" dirty="0"/>
              <a:t>           h[w][2]=y;</a:t>
            </a:r>
            <a:endParaRPr lang="pl-PL" altLang="zh-CN" sz="1600" dirty="0"/>
          </a:p>
          <a:p>
            <a:pPr eaLnBrk="1" hangingPunct="1">
              <a:lnSpc>
                <a:spcPct val="80000"/>
              </a:lnSpc>
            </a:pPr>
            <a:r>
              <a:rPr lang="pl-PL" altLang="zh-CN" sz="1600" dirty="0"/>
              <a:t>           bz[x][y]=0;</a:t>
            </a:r>
            <a:endParaRPr lang="pl-PL" altLang="zh-CN" sz="1600" dirty="0"/>
          </a:p>
          <a:p>
            <a:pPr eaLnBrk="1" hangingPunct="1">
              <a:lnSpc>
                <a:spcPct val="80000"/>
              </a:lnSpc>
            </a:pPr>
            <a:r>
              <a:rPr lang="pl-PL" altLang="zh-CN" sz="1600" dirty="0"/>
              <a:t>         </a:t>
            </a:r>
            <a:r>
              <a:rPr lang="en-US" altLang="zh-CN" sz="1600"/>
              <a:t>}                                          //</a:t>
            </a:r>
            <a:r>
              <a:rPr lang="zh-CN" altLang="en-US" sz="1600" dirty="0"/>
              <a:t>本方向搜索到细胞就入队</a:t>
            </a:r>
            <a:endParaRPr lang="zh-CN" altLang="en-US" sz="1600" dirty="0"/>
          </a:p>
          <a:p>
            <a:pPr eaLnBrk="1" hangingPunct="1">
              <a:lnSpc>
                <a:spcPct val="80000"/>
              </a:lnSpc>
            </a:pPr>
            <a:r>
              <a:rPr lang="zh-CN" altLang="en-US" sz="1600" dirty="0"/>
              <a:t>      </a:t>
            </a:r>
            <a:r>
              <a:rPr lang="en-US" altLang="zh-CN" sz="1600"/>
              <a:t>}</a:t>
            </a:r>
            <a:endParaRPr lang="en-US" altLang="zh-CN" sz="1600"/>
          </a:p>
          <a:p>
            <a:pPr eaLnBrk="1" hangingPunct="1">
              <a:lnSpc>
                <a:spcPct val="80000"/>
              </a:lnSpc>
            </a:pPr>
            <a:r>
              <a:rPr lang="en-US" altLang="zh-CN" sz="1600"/>
              <a:t>    }while (t&lt;w);                             //</a:t>
            </a:r>
            <a:r>
              <a:rPr lang="zh-CN" altLang="en-US" sz="1600" dirty="0"/>
              <a:t>直至队空为止</a:t>
            </a:r>
            <a:endParaRPr lang="zh-CN" altLang="en-US" sz="1600" dirty="0"/>
          </a:p>
          <a:p>
            <a:pPr eaLnBrk="1" hangingPunct="1">
              <a:lnSpc>
                <a:spcPct val="80000"/>
              </a:lnSpc>
            </a:pPr>
            <a:r>
              <a:rPr lang="en-US" altLang="zh-CN" sz="1600"/>
              <a:t>}</a:t>
            </a:r>
            <a:endParaRPr lang="en-US" altLang="zh-CN"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18"/>
          <p:cNvSpPr>
            <a:spLocks noGrp="1" noRot="1"/>
          </p:cNvSpPr>
          <p:nvPr>
            <p:ph idx="1"/>
          </p:nvPr>
        </p:nvSpPr>
        <p:spPr>
          <a:xfrm>
            <a:off x="0" y="0"/>
            <a:ext cx="9144000" cy="6858000"/>
          </a:xfrm>
          <a:ln/>
        </p:spPr>
        <p:txBody>
          <a:bodyPr wrap="square" lIns="91440" tIns="45720" rIns="91440" bIns="45720" anchor="t" anchorCtr="0"/>
          <a:p>
            <a:pPr eaLnBrk="1" hangingPunct="1">
              <a:lnSpc>
                <a:spcPct val="80000"/>
              </a:lnSpc>
            </a:pPr>
            <a:r>
              <a:rPr lang="en-US" altLang="zh-CN" sz="2000" err="1"/>
              <a:t>int</a:t>
            </a:r>
            <a:r>
              <a:rPr lang="en-US" altLang="zh-CN" sz="2000"/>
              <a:t> main()</a:t>
            </a:r>
            <a:endParaRPr lang="en-US" altLang="zh-CN" sz="2000"/>
          </a:p>
          <a:p>
            <a:pPr eaLnBrk="1" hangingPunct="1">
              <a:lnSpc>
                <a:spcPct val="80000"/>
              </a:lnSpc>
            </a:pPr>
            <a:r>
              <a:rPr lang="en-US" altLang="zh-CN" sz="2000"/>
              <a:t>{</a:t>
            </a:r>
            <a:endParaRPr lang="en-US" altLang="zh-CN" sz="2000"/>
          </a:p>
          <a:p>
            <a:pPr eaLnBrk="1" hangingPunct="1">
              <a:lnSpc>
                <a:spcPct val="80000"/>
              </a:lnSpc>
            </a:pPr>
            <a:r>
              <a:rPr lang="en-US" altLang="zh-CN" sz="2000"/>
              <a:t>   </a:t>
            </a:r>
            <a:r>
              <a:rPr lang="en-US" altLang="zh-CN" sz="2000" err="1"/>
              <a:t>int</a:t>
            </a:r>
            <a:r>
              <a:rPr lang="en-US" altLang="zh-CN" sz="2000"/>
              <a:t> </a:t>
            </a:r>
            <a:r>
              <a:rPr lang="en-US" altLang="zh-CN" sz="2000" err="1"/>
              <a:t>i,j</a:t>
            </a:r>
            <a:r>
              <a:rPr lang="en-US" altLang="zh-CN" sz="2000"/>
              <a:t>; </a:t>
            </a:r>
            <a:endParaRPr lang="en-US" altLang="zh-CN" sz="2000"/>
          </a:p>
          <a:p>
            <a:pPr eaLnBrk="1" hangingPunct="1">
              <a:lnSpc>
                <a:spcPct val="80000"/>
              </a:lnSpc>
            </a:pPr>
            <a:r>
              <a:rPr lang="en-US" altLang="zh-CN" sz="2000"/>
              <a:t>   char s[100],ch;</a:t>
            </a:r>
            <a:endParaRPr lang="en-US" altLang="zh-CN" sz="2000"/>
          </a:p>
          <a:p>
            <a:pPr eaLnBrk="1" hangingPunct="1">
              <a:lnSpc>
                <a:spcPct val="80000"/>
              </a:lnSpc>
            </a:pPr>
            <a:r>
              <a:rPr lang="en-US" altLang="zh-CN" sz="2000"/>
              <a:t>   </a:t>
            </a:r>
            <a:r>
              <a:rPr lang="en-US" altLang="zh-CN" sz="2000" err="1"/>
              <a:t>scanf("%d%d\n",&amp;m,&amp;n</a:t>
            </a:r>
            <a:r>
              <a:rPr lang="en-US" altLang="zh-CN" sz="2000"/>
              <a:t>);</a:t>
            </a:r>
            <a:endParaRPr lang="en-US" altLang="zh-CN" sz="2000"/>
          </a:p>
          <a:p>
            <a:pPr eaLnBrk="1" hangingPunct="1">
              <a:lnSpc>
                <a:spcPct val="80000"/>
              </a:lnSpc>
            </a:pPr>
            <a:r>
              <a:rPr lang="en-US" altLang="zh-CN" sz="2000"/>
              <a:t>   </a:t>
            </a:r>
            <a:r>
              <a:rPr lang="da-DK" altLang="zh-CN" sz="2000" dirty="0"/>
              <a:t>for (i=0; i&lt;=m-1;i++ )</a:t>
            </a:r>
            <a:endParaRPr lang="da-DK" altLang="zh-CN" sz="2000" dirty="0"/>
          </a:p>
          <a:p>
            <a:pPr eaLnBrk="1" hangingPunct="1">
              <a:lnSpc>
                <a:spcPct val="80000"/>
              </a:lnSpc>
            </a:pPr>
            <a:r>
              <a:rPr lang="da-DK" altLang="zh-CN" sz="2000" dirty="0"/>
              <a:t>     for (j=0;j&lt;=n-1;j++ )</a:t>
            </a:r>
            <a:endParaRPr lang="da-DK" altLang="zh-CN" sz="2000" dirty="0"/>
          </a:p>
          <a:p>
            <a:pPr eaLnBrk="1" hangingPunct="1">
              <a:lnSpc>
                <a:spcPct val="80000"/>
              </a:lnSpc>
            </a:pPr>
            <a:r>
              <a:rPr lang="da-DK" altLang="zh-CN" sz="2000" dirty="0"/>
              <a:t>       bz[i][j]=1;                              //</a:t>
            </a:r>
            <a:r>
              <a:rPr lang="zh-CN" altLang="da-DK" sz="2000" dirty="0"/>
              <a:t>初始化</a:t>
            </a:r>
            <a:endParaRPr lang="zh-CN" altLang="da-DK" sz="2000" dirty="0"/>
          </a:p>
          <a:p>
            <a:pPr eaLnBrk="1" hangingPunct="1">
              <a:lnSpc>
                <a:spcPct val="80000"/>
              </a:lnSpc>
            </a:pPr>
            <a:r>
              <a:rPr lang="zh-CN" altLang="da-DK" sz="2000" dirty="0"/>
              <a:t>   </a:t>
            </a:r>
            <a:r>
              <a:rPr lang="da-DK" altLang="zh-CN" sz="2000" dirty="0"/>
              <a:t>for (i=0;i&lt;=m-1;i++)</a:t>
            </a:r>
            <a:endParaRPr lang="da-DK" altLang="zh-CN" sz="2000" dirty="0"/>
          </a:p>
          <a:p>
            <a:pPr eaLnBrk="1" hangingPunct="1">
              <a:lnSpc>
                <a:spcPct val="80000"/>
              </a:lnSpc>
            </a:pPr>
            <a:r>
              <a:rPr lang="da-DK" altLang="zh-CN" sz="2000" dirty="0"/>
              <a:t>    </a:t>
            </a:r>
            <a:r>
              <a:rPr lang="en-US" altLang="zh-CN" sz="2000"/>
              <a:t>{</a:t>
            </a:r>
            <a:endParaRPr lang="en-US" altLang="zh-CN" sz="2000"/>
          </a:p>
          <a:p>
            <a:pPr eaLnBrk="1" hangingPunct="1">
              <a:lnSpc>
                <a:spcPct val="80000"/>
              </a:lnSpc>
            </a:pPr>
            <a:r>
              <a:rPr lang="en-US" altLang="zh-CN" sz="2000"/>
              <a:t>       </a:t>
            </a:r>
            <a:r>
              <a:rPr lang="en-US" altLang="zh-CN" sz="2000" err="1"/>
              <a:t>gets(s</a:t>
            </a:r>
            <a:r>
              <a:rPr lang="en-US" altLang="zh-CN" sz="2000"/>
              <a:t>); </a:t>
            </a:r>
            <a:endParaRPr lang="en-US" altLang="zh-CN" sz="2000"/>
          </a:p>
          <a:p>
            <a:pPr eaLnBrk="1" hangingPunct="1">
              <a:lnSpc>
                <a:spcPct val="80000"/>
              </a:lnSpc>
            </a:pPr>
            <a:r>
              <a:rPr lang="en-US" altLang="zh-CN" sz="2000"/>
              <a:t>       for (j=0;j&lt;=n-1;j++)</a:t>
            </a:r>
            <a:endParaRPr lang="en-US" altLang="zh-CN" sz="2000"/>
          </a:p>
          <a:p>
            <a:pPr eaLnBrk="1" hangingPunct="1">
              <a:lnSpc>
                <a:spcPct val="80000"/>
              </a:lnSpc>
            </a:pPr>
            <a:r>
              <a:rPr lang="en-US" altLang="zh-CN" sz="2000"/>
              <a:t>        if (</a:t>
            </a:r>
            <a:r>
              <a:rPr lang="en-US" altLang="zh-CN" sz="2000" err="1"/>
              <a:t>s[j</a:t>
            </a:r>
            <a:r>
              <a:rPr lang="en-US" altLang="zh-CN" sz="2000"/>
              <a:t>]=='0') </a:t>
            </a:r>
            <a:r>
              <a:rPr lang="en-US" altLang="zh-CN" sz="2000" err="1"/>
              <a:t>bz[i][j</a:t>
            </a:r>
            <a:r>
              <a:rPr lang="en-US" altLang="zh-CN" sz="2000"/>
              <a:t>]=0;</a:t>
            </a:r>
            <a:endParaRPr lang="en-US" altLang="zh-CN" sz="2000"/>
          </a:p>
          <a:p>
            <a:pPr eaLnBrk="1" hangingPunct="1">
              <a:lnSpc>
                <a:spcPct val="80000"/>
              </a:lnSpc>
            </a:pPr>
            <a:r>
              <a:rPr lang="en-US" altLang="zh-CN" sz="2000"/>
              <a:t>    }</a:t>
            </a:r>
            <a:endParaRPr lang="en-US" altLang="zh-CN" sz="2000"/>
          </a:p>
          <a:p>
            <a:pPr eaLnBrk="1" hangingPunct="1">
              <a:lnSpc>
                <a:spcPct val="80000"/>
              </a:lnSpc>
            </a:pPr>
            <a:r>
              <a:rPr lang="en-US" altLang="zh-CN" sz="2000"/>
              <a:t>   for (i=0;i&lt;=m-1;i++)</a:t>
            </a:r>
            <a:endParaRPr lang="en-US" altLang="zh-CN" sz="2000"/>
          </a:p>
          <a:p>
            <a:pPr eaLnBrk="1" hangingPunct="1">
              <a:lnSpc>
                <a:spcPct val="80000"/>
              </a:lnSpc>
            </a:pPr>
            <a:r>
              <a:rPr lang="en-US" altLang="zh-CN" sz="2000"/>
              <a:t>    for (j=0;j&lt;=n-1;j++)</a:t>
            </a:r>
            <a:endParaRPr lang="en-US" altLang="zh-CN" sz="2000"/>
          </a:p>
          <a:p>
            <a:pPr eaLnBrk="1" hangingPunct="1">
              <a:lnSpc>
                <a:spcPct val="80000"/>
              </a:lnSpc>
            </a:pPr>
            <a:r>
              <a:rPr lang="en-US" altLang="zh-CN" sz="2000"/>
              <a:t>      if (</a:t>
            </a:r>
            <a:r>
              <a:rPr lang="en-US" altLang="zh-CN" sz="2000" err="1"/>
              <a:t>bz[i][j</a:t>
            </a:r>
            <a:r>
              <a:rPr lang="en-US" altLang="zh-CN" sz="2000"/>
              <a:t>])</a:t>
            </a:r>
            <a:endParaRPr lang="en-US" altLang="zh-CN" sz="2000"/>
          </a:p>
          <a:p>
            <a:pPr eaLnBrk="1" hangingPunct="1">
              <a:lnSpc>
                <a:spcPct val="80000"/>
              </a:lnSpc>
            </a:pPr>
            <a:r>
              <a:rPr lang="en-US" altLang="zh-CN" sz="2000"/>
              <a:t>        </a:t>
            </a:r>
            <a:r>
              <a:rPr lang="en-US" altLang="zh-CN" sz="2000" err="1"/>
              <a:t>doit(i,j</a:t>
            </a:r>
            <a:r>
              <a:rPr lang="en-US" altLang="zh-CN" sz="2000"/>
              <a:t>);                                //</a:t>
            </a:r>
            <a:r>
              <a:rPr lang="zh-CN" altLang="en-US" sz="2000" dirty="0"/>
              <a:t>在矩阵中寻找细胞</a:t>
            </a:r>
            <a:endParaRPr lang="zh-CN" altLang="en-US" sz="2000" dirty="0"/>
          </a:p>
          <a:p>
            <a:pPr eaLnBrk="1" hangingPunct="1">
              <a:lnSpc>
                <a:spcPct val="80000"/>
              </a:lnSpc>
            </a:pPr>
            <a:r>
              <a:rPr lang="zh-CN" altLang="en-US" sz="2000" dirty="0"/>
              <a:t>   </a:t>
            </a:r>
            <a:r>
              <a:rPr lang="en-US" altLang="zh-CN" sz="2000" err="1"/>
              <a:t>printf("NUMBER</a:t>
            </a:r>
            <a:r>
              <a:rPr lang="en-US" altLang="zh-CN" sz="2000"/>
              <a:t> of cells=%</a:t>
            </a:r>
            <a:r>
              <a:rPr lang="en-US" altLang="zh-CN" sz="2000" err="1"/>
              <a:t>d",num</a:t>
            </a:r>
            <a:r>
              <a:rPr lang="en-US" altLang="zh-CN" sz="2000"/>
              <a:t>);</a:t>
            </a:r>
            <a:endParaRPr lang="en-US" altLang="zh-CN" sz="2000"/>
          </a:p>
          <a:p>
            <a:pPr eaLnBrk="1" hangingPunct="1">
              <a:lnSpc>
                <a:spcPct val="80000"/>
              </a:lnSpc>
            </a:pPr>
            <a:r>
              <a:rPr lang="en-US" altLang="zh-CN" sz="2000"/>
              <a:t>   return 0;</a:t>
            </a:r>
            <a:endParaRPr lang="fr-FR" altLang="zh-CN" sz="2000" dirty="0"/>
          </a:p>
          <a:p>
            <a:pPr eaLnBrk="1" hangingPunct="1">
              <a:lnSpc>
                <a:spcPct val="80000"/>
              </a:lnSpc>
            </a:pPr>
            <a:r>
              <a:rPr lang="fr-FR" altLang="zh-CN" sz="2000" dirty="0"/>
              <a:t>}</a:t>
            </a:r>
            <a:endParaRPr lang="en-US" altLang="zh-CN"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Text Box 2"/>
          <p:cNvSpPr txBox="1"/>
          <p:nvPr/>
        </p:nvSpPr>
        <p:spPr>
          <a:xfrm>
            <a:off x="76200" y="212725"/>
            <a:ext cx="9067800" cy="6361113"/>
          </a:xfrm>
          <a:prstGeom prst="rect">
            <a:avLst/>
          </a:prstGeom>
          <a:noFill/>
          <a:ln w="9525">
            <a:noFill/>
          </a:ln>
        </p:spPr>
        <p:txBody>
          <a:bodyPr anchor="t" anchorCtr="0">
            <a:spAutoFit/>
          </a:bodyPr>
          <a:p>
            <a:r>
              <a:rPr lang="en-US" altLang="zh-CN" sz="2800" b="1">
                <a:solidFill>
                  <a:schemeClr val="tx2"/>
                </a:solidFill>
                <a:latin typeface="Arial" panose="020B0604020202020204" pitchFamily="34" charset="0"/>
                <a:ea typeface="宋体" panose="02010600030101010101" pitchFamily="2" charset="-122"/>
              </a:rPr>
              <a:t>【</a:t>
            </a:r>
            <a:r>
              <a:rPr lang="zh-CN" altLang="en-US" sz="2800" b="1" dirty="0">
                <a:solidFill>
                  <a:schemeClr val="tx2"/>
                </a:solidFill>
                <a:latin typeface="Arial" panose="020B0604020202020204" pitchFamily="34" charset="0"/>
                <a:ea typeface="宋体" panose="02010600030101010101" pitchFamily="2" charset="-122"/>
              </a:rPr>
              <a:t>例</a:t>
            </a:r>
            <a:r>
              <a:rPr lang="en-US" altLang="zh-CN" sz="2800" b="1">
                <a:solidFill>
                  <a:schemeClr val="tx2"/>
                </a:solidFill>
                <a:latin typeface="Arial" panose="020B0604020202020204" pitchFamily="34" charset="0"/>
                <a:ea typeface="宋体" panose="02010600030101010101" pitchFamily="2" charset="-122"/>
              </a:rPr>
              <a:t>8.3】</a:t>
            </a:r>
            <a:r>
              <a:rPr lang="zh-CN" altLang="nb-NO" sz="2800" b="1" dirty="0">
                <a:latin typeface="Arial" panose="020B0604020202020204" pitchFamily="34" charset="0"/>
                <a:ea typeface="宋体" panose="02010600030101010101" pitchFamily="2" charset="-122"/>
              </a:rPr>
              <a:t>最少步数</a:t>
            </a:r>
            <a:endParaRPr lang="zh-CN" altLang="nb-NO" sz="2800" b="1" dirty="0">
              <a:latin typeface="Arial" panose="020B0604020202020204" pitchFamily="34" charset="0"/>
              <a:ea typeface="宋体" panose="02010600030101010101" pitchFamily="2" charset="-122"/>
            </a:endParaRPr>
          </a:p>
          <a:p>
            <a:r>
              <a:rPr lang="nb-NO" altLang="zh-CN" sz="2400" b="1" dirty="0">
                <a:latin typeface="Arial" panose="020B0604020202020204" pitchFamily="34" charset="0"/>
                <a:ea typeface="宋体" panose="02010600030101010101" pitchFamily="2" charset="-122"/>
              </a:rPr>
              <a:t>【</a:t>
            </a:r>
            <a:r>
              <a:rPr lang="zh-CN" altLang="nb-NO" sz="2400" b="1" dirty="0">
                <a:latin typeface="Arial" panose="020B0604020202020204" pitchFamily="34" charset="0"/>
                <a:ea typeface="宋体" panose="02010600030101010101" pitchFamily="2" charset="-122"/>
              </a:rPr>
              <a:t>问题描述</a:t>
            </a:r>
            <a:r>
              <a:rPr lang="nb-NO" altLang="zh-CN" sz="2400" b="1" dirty="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a:p>
            <a:r>
              <a:rPr lang="en-US" altLang="zh-CN" sz="240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在各种棋中，棋子的走法总是一定的，如中国象棋中马走“日”。有一位小学生就想如果马能有两种走法将增加其趣味性，因此，他规定马既能按“日”走，也能如象一样走“田”字。他的同桌平时喜欢下围棋，知道这件事后觉得很有趣，就想试一试，在一个（</a:t>
            </a:r>
            <a:r>
              <a:rPr lang="en-US" altLang="zh-CN" sz="2400">
                <a:latin typeface="Arial" panose="020B0604020202020204" pitchFamily="34" charset="0"/>
                <a:ea typeface="宋体" panose="02010600030101010101" pitchFamily="2" charset="-122"/>
              </a:rPr>
              <a:t>100*</a:t>
            </a:r>
            <a:r>
              <a:rPr lang="en-US" altLang="zh-CN" sz="2400" err="1">
                <a:latin typeface="Arial" panose="020B0604020202020204" pitchFamily="34" charset="0"/>
                <a:ea typeface="宋体" panose="02010600030101010101" pitchFamily="2" charset="-122"/>
              </a:rPr>
              <a:t>100</a:t>
            </a:r>
            <a:r>
              <a:rPr lang="zh-CN" altLang="en-US" sz="2400" dirty="0">
                <a:latin typeface="Arial" panose="020B0604020202020204" pitchFamily="34" charset="0"/>
                <a:ea typeface="宋体" panose="02010600030101010101" pitchFamily="2" charset="-122"/>
              </a:rPr>
              <a:t>）的围棋盘上任选两点</a:t>
            </a:r>
            <a:r>
              <a:rPr lang="en-US" altLang="zh-CN" sz="2400">
                <a:latin typeface="Arial" panose="020B0604020202020204" pitchFamily="34" charset="0"/>
                <a:ea typeface="宋体" panose="02010600030101010101" pitchFamily="2" charset="-122"/>
              </a:rPr>
              <a:t>A</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B</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A</a:t>
            </a:r>
            <a:r>
              <a:rPr lang="zh-CN" altLang="en-US" sz="2400" dirty="0">
                <a:latin typeface="Arial" panose="020B0604020202020204" pitchFamily="34" charset="0"/>
                <a:ea typeface="宋体" panose="02010600030101010101" pitchFamily="2" charset="-122"/>
              </a:rPr>
              <a:t>点放上黑子，</a:t>
            </a:r>
            <a:r>
              <a:rPr lang="en-US" altLang="zh-CN" sz="2400">
                <a:latin typeface="Arial" panose="020B0604020202020204" pitchFamily="34" charset="0"/>
                <a:ea typeface="宋体" panose="02010600030101010101" pitchFamily="2" charset="-122"/>
              </a:rPr>
              <a:t>B</a:t>
            </a:r>
            <a:r>
              <a:rPr lang="zh-CN" altLang="en-US" sz="2400" dirty="0">
                <a:latin typeface="Arial" panose="020B0604020202020204" pitchFamily="34" charset="0"/>
                <a:ea typeface="宋体" panose="02010600030101010101" pitchFamily="2" charset="-122"/>
              </a:rPr>
              <a:t>点放上白子，代表两匹马。棋子可以按“日”字走，也可以按“田”字走，俩人一个走黑马，一个走白马。谁用最少的步数走到左上角坐标为</a:t>
            </a:r>
            <a:r>
              <a:rPr lang="en-US" altLang="zh-CN" sz="2400">
                <a:latin typeface="Arial" panose="020B0604020202020204" pitchFamily="34" charset="0"/>
                <a:ea typeface="宋体" panose="02010600030101010101" pitchFamily="2" charset="-122"/>
              </a:rPr>
              <a:t>(1,1)</a:t>
            </a:r>
            <a:r>
              <a:rPr lang="zh-CN" altLang="en-US" sz="2400" dirty="0">
                <a:latin typeface="Arial" panose="020B0604020202020204" pitchFamily="34" charset="0"/>
                <a:ea typeface="宋体" panose="02010600030101010101" pitchFamily="2" charset="-122"/>
              </a:rPr>
              <a:t>的点时，谁获胜。现在他请你帮忙，给你</a:t>
            </a:r>
            <a:r>
              <a:rPr lang="en-US" altLang="zh-CN" sz="2400">
                <a:latin typeface="Arial" panose="020B0604020202020204" pitchFamily="34" charset="0"/>
                <a:ea typeface="宋体" panose="02010600030101010101" pitchFamily="2" charset="-122"/>
              </a:rPr>
              <a:t>A</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B</a:t>
            </a:r>
            <a:r>
              <a:rPr lang="zh-CN" altLang="en-US" sz="2400" dirty="0">
                <a:latin typeface="Arial" panose="020B0604020202020204" pitchFamily="34" charset="0"/>
                <a:ea typeface="宋体" panose="02010600030101010101" pitchFamily="2" charset="-122"/>
              </a:rPr>
              <a:t>两点的坐标，想知道两个位置到（</a:t>
            </a:r>
            <a:r>
              <a:rPr lang="en-US" altLang="zh-CN" sz="2400">
                <a:latin typeface="Arial" panose="020B0604020202020204" pitchFamily="34" charset="0"/>
                <a:ea typeface="宋体" panose="02010600030101010101" pitchFamily="2" charset="-122"/>
              </a:rPr>
              <a:t>1,1</a:t>
            </a:r>
            <a:r>
              <a:rPr lang="zh-CN" altLang="en-US" sz="2400" dirty="0">
                <a:latin typeface="Arial" panose="020B0604020202020204" pitchFamily="34" charset="0"/>
                <a:ea typeface="宋体" panose="02010600030101010101" pitchFamily="2" charset="-122"/>
              </a:rPr>
              <a:t>）点可能的最少步数。</a:t>
            </a:r>
            <a:br>
              <a:rPr lang="zh-CN" altLang="en-US" sz="2400" dirty="0">
                <a:latin typeface="Arial" panose="020B0604020202020204" pitchFamily="34" charset="0"/>
                <a:ea typeface="宋体" panose="02010600030101010101" pitchFamily="2" charset="-122"/>
              </a:rPr>
            </a:br>
            <a:r>
              <a:rPr lang="en-US" altLang="zh-CN" sz="2400" b="1">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输入样例</a:t>
            </a:r>
            <a:r>
              <a:rPr lang="en-US" altLang="zh-CN" sz="2400" b="1">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a:p>
            <a:r>
              <a:rPr lang="zh-CN" altLang="en-US" sz="2400" dirty="0">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12 16</a:t>
            </a:r>
            <a:br>
              <a:rPr lang="en-US" altLang="zh-CN" sz="2400">
                <a:latin typeface="Arial" panose="020B0604020202020204" pitchFamily="34" charset="0"/>
                <a:ea typeface="宋体" panose="02010600030101010101" pitchFamily="2" charset="-122"/>
              </a:rPr>
            </a:br>
            <a:r>
              <a:rPr lang="en-US" altLang="zh-CN" sz="2400">
                <a:latin typeface="Arial" panose="020B0604020202020204" pitchFamily="34" charset="0"/>
                <a:ea typeface="宋体" panose="02010600030101010101" pitchFamily="2" charset="-122"/>
              </a:rPr>
              <a:t>        18 10</a:t>
            </a:r>
            <a:br>
              <a:rPr lang="en-US" altLang="zh-CN" sz="2400">
                <a:latin typeface="Arial" panose="020B0604020202020204" pitchFamily="34" charset="0"/>
                <a:ea typeface="宋体" panose="02010600030101010101" pitchFamily="2" charset="-122"/>
              </a:rPr>
            </a:br>
            <a:r>
              <a:rPr lang="en-US" altLang="zh-CN" sz="2400" b="1">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输出样例</a:t>
            </a:r>
            <a:r>
              <a:rPr lang="en-US" altLang="zh-CN" sz="2400" b="1">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a:p>
            <a:r>
              <a:rPr lang="zh-CN" altLang="en-US" sz="2400" dirty="0">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8</a:t>
            </a:r>
            <a:br>
              <a:rPr lang="en-US" altLang="zh-CN" sz="2400">
                <a:latin typeface="Arial" panose="020B0604020202020204" pitchFamily="34" charset="0"/>
                <a:ea typeface="宋体" panose="02010600030101010101" pitchFamily="2" charset="-122"/>
              </a:rPr>
            </a:br>
            <a:r>
              <a:rPr lang="en-US" altLang="zh-CN" sz="2400">
                <a:latin typeface="Arial" panose="020B0604020202020204" pitchFamily="34" charset="0"/>
                <a:ea typeface="宋体" panose="02010600030101010101" pitchFamily="2" charset="-122"/>
              </a:rPr>
              <a:t>        9</a:t>
            </a:r>
            <a:endParaRPr lang="zh-CN" altLang="en-US" sz="2400" dirty="0">
              <a:latin typeface="Arial" panose="020B0604020202020204" pitchFamily="34"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Text Box 2"/>
          <p:cNvSpPr txBox="1"/>
          <p:nvPr/>
        </p:nvSpPr>
        <p:spPr>
          <a:xfrm>
            <a:off x="152400" y="212725"/>
            <a:ext cx="8915400" cy="6140450"/>
          </a:xfrm>
          <a:prstGeom prst="rect">
            <a:avLst/>
          </a:prstGeom>
          <a:noFill/>
          <a:ln w="9525">
            <a:noFill/>
          </a:ln>
        </p:spPr>
        <p:txBody>
          <a:bodyPr anchor="t" anchorCtr="0">
            <a:spAutoFit/>
          </a:bodyPr>
          <a:p>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算法分析</a:t>
            </a:r>
            <a:r>
              <a:rPr lang="en-US" altLang="zh-CN" sz="2000" b="1">
                <a:latin typeface="Arial" panose="020B0604020202020204" pitchFamily="34" charset="0"/>
                <a:ea typeface="宋体" panose="02010600030101010101" pitchFamily="2" charset="-122"/>
              </a:rPr>
              <a:t>】</a:t>
            </a:r>
            <a:endParaRPr lang="en-US" altLang="zh-CN" sz="2000" b="1">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由于</a:t>
            </a:r>
            <a:r>
              <a:rPr lang="en-US" altLang="zh-CN" sz="1400" b="1">
                <a:latin typeface="Arial" panose="020B0604020202020204" pitchFamily="34" charset="0"/>
                <a:ea typeface="宋体" panose="02010600030101010101" pitchFamily="2" charset="-122"/>
              </a:rPr>
              <a:t>A</a:t>
            </a:r>
            <a:r>
              <a:rPr lang="zh-CN" altLang="en-US" sz="1400" b="1" dirty="0">
                <a:latin typeface="Arial" panose="020B0604020202020204" pitchFamily="34" charset="0"/>
                <a:ea typeface="宋体" panose="02010600030101010101" pitchFamily="2" charset="-122"/>
              </a:rPr>
              <a:t>、</a:t>
            </a:r>
            <a:r>
              <a:rPr lang="en-US" altLang="zh-CN" sz="1400" b="1">
                <a:latin typeface="Arial" panose="020B0604020202020204" pitchFamily="34" charset="0"/>
                <a:ea typeface="宋体" panose="02010600030101010101" pitchFamily="2" charset="-122"/>
              </a:rPr>
              <a:t>B</a:t>
            </a:r>
            <a:r>
              <a:rPr lang="zh-CN" altLang="en-US" sz="1400" b="1" dirty="0">
                <a:latin typeface="Arial" panose="020B0604020202020204" pitchFamily="34" charset="0"/>
                <a:ea typeface="宋体" panose="02010600030101010101" pitchFamily="2" charset="-122"/>
              </a:rPr>
              <a:t>两点是随机输入的，因此无法找到计算最少步数的数学规律，只能通过广度优先搜索的办法求解。</a:t>
            </a:r>
            <a:endParaRPr lang="zh-CN" altLang="en-US" sz="1400" b="1" dirty="0">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1</a:t>
            </a:r>
            <a:r>
              <a:rPr lang="zh-CN" altLang="en-US" sz="1400" b="1" dirty="0">
                <a:latin typeface="Arial" panose="020B0604020202020204" pitchFamily="34" charset="0"/>
                <a:ea typeface="宋体" panose="02010600030101010101" pitchFamily="2" charset="-122"/>
              </a:rPr>
              <a:t>、确定出发点</a:t>
            </a:r>
            <a:endParaRPr lang="zh-CN" altLang="en-US" sz="1400" b="1" dirty="0">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从（</a:t>
            </a:r>
            <a:r>
              <a:rPr lang="en-US" altLang="zh-CN" sz="1400" b="1" err="1">
                <a:latin typeface="Arial" panose="020B0604020202020204" pitchFamily="34" charset="0"/>
                <a:ea typeface="宋体" panose="02010600030101010101" pitchFamily="2" charset="-122"/>
              </a:rPr>
              <a:t>x,y</a:t>
            </a:r>
            <a:r>
              <a:rPr lang="zh-CN" altLang="en-US" sz="1400" b="1" dirty="0">
                <a:latin typeface="Arial" panose="020B0604020202020204" pitchFamily="34" charset="0"/>
                <a:ea typeface="宋体" panose="02010600030101010101" pitchFamily="2" charset="-122"/>
              </a:rPr>
              <a:t>）出发通过一次广度优先搜索，可以找到从</a:t>
            </a:r>
            <a:r>
              <a:rPr lang="en-US" altLang="zh-CN" sz="1400" b="1">
                <a:latin typeface="Arial" panose="020B0604020202020204" pitchFamily="34" charset="0"/>
                <a:ea typeface="宋体" panose="02010600030101010101" pitchFamily="2" charset="-122"/>
              </a:rPr>
              <a:t>(</a:t>
            </a:r>
            <a:r>
              <a:rPr lang="en-US" altLang="zh-CN" sz="1400" b="1" err="1">
                <a:latin typeface="Arial" panose="020B0604020202020204" pitchFamily="34" charset="0"/>
                <a:ea typeface="宋体" panose="02010600030101010101" pitchFamily="2" charset="-122"/>
              </a:rPr>
              <a:t>x,y</a:t>
            </a:r>
            <a:r>
              <a:rPr lang="en-US" altLang="zh-CN" sz="1400" b="1">
                <a:latin typeface="Arial" panose="020B0604020202020204" pitchFamily="34" charset="0"/>
                <a:ea typeface="宋体" panose="02010600030101010101" pitchFamily="2" charset="-122"/>
              </a:rPr>
              <a:t>)</a:t>
            </a:r>
            <a:r>
              <a:rPr lang="zh-CN" altLang="en-US" sz="1400" b="1" dirty="0">
                <a:latin typeface="Arial" panose="020B0604020202020204" pitchFamily="34" charset="0"/>
                <a:ea typeface="宋体" panose="02010600030101010101" pitchFamily="2" charset="-122"/>
              </a:rPr>
              <a:t>至棋盘上所有可达点的最少步数。而问题中要求的是黑马所在的（</a:t>
            </a:r>
            <a:r>
              <a:rPr lang="en-US" altLang="zh-CN" sz="1400" b="1">
                <a:latin typeface="Arial" panose="020B0604020202020204" pitchFamily="34" charset="0"/>
                <a:ea typeface="宋体" panose="02010600030101010101" pitchFamily="2" charset="-122"/>
              </a:rPr>
              <a:t>x1</a:t>
            </a:r>
            <a:r>
              <a:rPr lang="zh-CN" altLang="en-US" sz="1400" b="1" dirty="0">
                <a:latin typeface="Arial" panose="020B0604020202020204" pitchFamily="34" charset="0"/>
                <a:ea typeface="宋体" panose="02010600030101010101" pitchFamily="2" charset="-122"/>
              </a:rPr>
              <a:t>，</a:t>
            </a:r>
            <a:r>
              <a:rPr lang="en-US" altLang="zh-CN" sz="1400" b="1">
                <a:latin typeface="Arial" panose="020B0604020202020204" pitchFamily="34" charset="0"/>
                <a:ea typeface="宋体" panose="02010600030101010101" pitchFamily="2" charset="-122"/>
              </a:rPr>
              <a:t>y1</a:t>
            </a:r>
            <a:r>
              <a:rPr lang="zh-CN" altLang="en-US" sz="1400" b="1" dirty="0">
                <a:latin typeface="Arial" panose="020B0604020202020204" pitchFamily="34" charset="0"/>
                <a:ea typeface="宋体" panose="02010600030101010101" pitchFamily="2" charset="-122"/>
              </a:rPr>
              <a:t>）和白马所在（</a:t>
            </a:r>
            <a:r>
              <a:rPr lang="en-US" altLang="zh-CN" sz="1400" b="1">
                <a:latin typeface="Arial" panose="020B0604020202020204" pitchFamily="34" charset="0"/>
                <a:ea typeface="宋体" panose="02010600030101010101" pitchFamily="2" charset="-122"/>
              </a:rPr>
              <a:t>x2</a:t>
            </a:r>
            <a:r>
              <a:rPr lang="zh-CN" altLang="en-US" sz="1400" b="1" dirty="0">
                <a:latin typeface="Arial" panose="020B0604020202020204" pitchFamily="34" charset="0"/>
                <a:ea typeface="宋体" panose="02010600030101010101" pitchFamily="2" charset="-122"/>
              </a:rPr>
              <a:t>，</a:t>
            </a:r>
            <a:r>
              <a:rPr lang="en-US" altLang="zh-CN" sz="1400" b="1">
                <a:latin typeface="Arial" panose="020B0604020202020204" pitchFamily="34" charset="0"/>
                <a:ea typeface="宋体" panose="02010600030101010101" pitchFamily="2" charset="-122"/>
              </a:rPr>
              <a:t>y2</a:t>
            </a:r>
            <a:r>
              <a:rPr lang="zh-CN" altLang="en-US" sz="1400" b="1" dirty="0">
                <a:latin typeface="Arial" panose="020B0604020202020204" pitchFamily="34" charset="0"/>
                <a:ea typeface="宋体" panose="02010600030101010101" pitchFamily="2" charset="-122"/>
              </a:rPr>
              <a:t>）到达 </a:t>
            </a:r>
            <a:r>
              <a:rPr lang="en-US" altLang="zh-CN" sz="1400" b="1">
                <a:latin typeface="Arial" panose="020B0604020202020204" pitchFamily="34" charset="0"/>
                <a:ea typeface="宋体" panose="02010600030101010101" pitchFamily="2" charset="-122"/>
              </a:rPr>
              <a:t>(1,1) </a:t>
            </a:r>
            <a:r>
              <a:rPr lang="zh-CN" altLang="en-US" sz="1400" b="1" dirty="0">
                <a:latin typeface="Arial" panose="020B0604020202020204" pitchFamily="34" charset="0"/>
                <a:ea typeface="宋体" panose="02010600030101010101" pitchFamily="2" charset="-122"/>
              </a:rPr>
              <a:t>目标点的最少步数。虽然两条路径的起点不一样，但是它们的终点却是一样的。如果我们将终点</a:t>
            </a:r>
            <a:r>
              <a:rPr lang="en-US" altLang="zh-CN" sz="1400" b="1">
                <a:latin typeface="Arial" panose="020B0604020202020204" pitchFamily="34" charset="0"/>
                <a:ea typeface="宋体" panose="02010600030101010101" pitchFamily="2" charset="-122"/>
              </a:rPr>
              <a:t>(1,1)</a:t>
            </a:r>
            <a:r>
              <a:rPr lang="zh-CN" altLang="en-US" sz="1400" b="1" dirty="0">
                <a:latin typeface="Arial" panose="020B0604020202020204" pitchFamily="34" charset="0"/>
                <a:ea typeface="宋体" panose="02010600030101010101" pitchFamily="2" charset="-122"/>
              </a:rPr>
              <a:t>作为起点，这样只需要一次广度优先搜索便可以得到（</a:t>
            </a:r>
            <a:r>
              <a:rPr lang="en-US" altLang="zh-CN" sz="1400" b="1">
                <a:latin typeface="Arial" panose="020B0604020202020204" pitchFamily="34" charset="0"/>
                <a:ea typeface="宋体" panose="02010600030101010101" pitchFamily="2" charset="-122"/>
              </a:rPr>
              <a:t>x1</a:t>
            </a:r>
            <a:r>
              <a:rPr lang="zh-CN" altLang="en-US" sz="1400" b="1" dirty="0">
                <a:latin typeface="Arial" panose="020B0604020202020204" pitchFamily="34" charset="0"/>
                <a:ea typeface="宋体" panose="02010600030101010101" pitchFamily="2" charset="-122"/>
              </a:rPr>
              <a:t>，</a:t>
            </a:r>
            <a:r>
              <a:rPr lang="en-US" altLang="zh-CN" sz="1400" b="1">
                <a:latin typeface="Arial" panose="020B0604020202020204" pitchFamily="34" charset="0"/>
                <a:ea typeface="宋体" panose="02010600030101010101" pitchFamily="2" charset="-122"/>
              </a:rPr>
              <a:t>y1</a:t>
            </a:r>
            <a:r>
              <a:rPr lang="zh-CN" altLang="en-US" sz="1400" b="1" dirty="0">
                <a:latin typeface="Arial" panose="020B0604020202020204" pitchFamily="34" charset="0"/>
                <a:ea typeface="宋体" panose="02010600030101010101" pitchFamily="2" charset="-122"/>
              </a:rPr>
              <a:t>）和（</a:t>
            </a:r>
            <a:r>
              <a:rPr lang="en-US" altLang="zh-CN" sz="1400" b="1">
                <a:latin typeface="Arial" panose="020B0604020202020204" pitchFamily="34" charset="0"/>
                <a:ea typeface="宋体" panose="02010600030101010101" pitchFamily="2" charset="-122"/>
              </a:rPr>
              <a:t>x2</a:t>
            </a:r>
            <a:r>
              <a:rPr lang="zh-CN" altLang="en-US" sz="1400" b="1" dirty="0">
                <a:latin typeface="Arial" panose="020B0604020202020204" pitchFamily="34" charset="0"/>
                <a:ea typeface="宋体" panose="02010600030101010101" pitchFamily="2" charset="-122"/>
              </a:rPr>
              <a:t>，</a:t>
            </a:r>
            <a:r>
              <a:rPr lang="en-US" altLang="zh-CN" sz="1400" b="1">
                <a:latin typeface="Arial" panose="020B0604020202020204" pitchFamily="34" charset="0"/>
                <a:ea typeface="宋体" panose="02010600030101010101" pitchFamily="2" charset="-122"/>
              </a:rPr>
              <a:t>y2</a:t>
            </a:r>
            <a:r>
              <a:rPr lang="zh-CN" altLang="en-US" sz="1400" b="1" dirty="0">
                <a:latin typeface="Arial" panose="020B0604020202020204" pitchFamily="34" charset="0"/>
                <a:ea typeface="宋体" panose="02010600030101010101" pitchFamily="2" charset="-122"/>
              </a:rPr>
              <a:t>）到达</a:t>
            </a:r>
            <a:r>
              <a:rPr lang="en-US" altLang="zh-CN" sz="1400" b="1">
                <a:latin typeface="Arial" panose="020B0604020202020204" pitchFamily="34" charset="0"/>
                <a:ea typeface="宋体" panose="02010600030101010101" pitchFamily="2" charset="-122"/>
              </a:rPr>
              <a:t>(1,1)</a:t>
            </a:r>
            <a:r>
              <a:rPr lang="zh-CN" altLang="en-US" sz="1400" b="1" dirty="0">
                <a:latin typeface="Arial" panose="020B0604020202020204" pitchFamily="34" charset="0"/>
                <a:ea typeface="宋体" panose="02010600030101010101" pitchFamily="2" charset="-122"/>
              </a:rPr>
              <a:t>的最少步数。</a:t>
            </a:r>
            <a:endParaRPr lang="zh-CN" altLang="en-US" sz="1400" b="1" dirty="0">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2</a:t>
            </a:r>
            <a:r>
              <a:rPr lang="zh-CN" altLang="en-US" sz="1400" b="1" dirty="0">
                <a:latin typeface="Arial" panose="020B0604020202020204" pitchFamily="34" charset="0"/>
                <a:ea typeface="宋体" panose="02010600030101010101" pitchFamily="2" charset="-122"/>
              </a:rPr>
              <a:t>、数据结构</a:t>
            </a:r>
            <a:endParaRPr lang="zh-CN" altLang="en-US" sz="1400" b="1" dirty="0">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设</a:t>
            </a:r>
            <a:r>
              <a:rPr lang="en-US" altLang="zh-CN" sz="1400" b="1">
                <a:latin typeface="Arial" panose="020B0604020202020204" pitchFamily="34" charset="0"/>
                <a:ea typeface="宋体" panose="02010600030101010101" pitchFamily="2" charset="-122"/>
              </a:rPr>
              <a:t>queue——</a:t>
            </a:r>
            <a:r>
              <a:rPr lang="zh-CN" altLang="en-US" sz="1400" b="1" dirty="0">
                <a:latin typeface="Arial" panose="020B0604020202020204" pitchFamily="34" charset="0"/>
                <a:ea typeface="宋体" panose="02010600030101010101" pitchFamily="2" charset="-122"/>
              </a:rPr>
              <a:t>队列，存储从</a:t>
            </a:r>
            <a:r>
              <a:rPr lang="en-US" altLang="zh-CN" sz="1400" b="1">
                <a:latin typeface="Arial" panose="020B0604020202020204" pitchFamily="34" charset="0"/>
                <a:ea typeface="宋体" panose="02010600030101010101" pitchFamily="2" charset="-122"/>
              </a:rPr>
              <a:t>(1,1)</a:t>
            </a:r>
            <a:r>
              <a:rPr lang="zh-CN" altLang="en-US" sz="1400" b="1" dirty="0">
                <a:latin typeface="Arial" panose="020B0604020202020204" pitchFamily="34" charset="0"/>
                <a:ea typeface="宋体" panose="02010600030101010101" pitchFamily="2" charset="-122"/>
              </a:rPr>
              <a:t>可达的点（</a:t>
            </a:r>
            <a:r>
              <a:rPr lang="en-US" altLang="zh-CN" sz="1400" b="1">
                <a:latin typeface="Arial" panose="020B0604020202020204" pitchFamily="34" charset="0"/>
                <a:ea typeface="宋体" panose="02010600030101010101" pitchFamily="2" charset="-122"/>
              </a:rPr>
              <a:t>queue[k][1..2]</a:t>
            </a:r>
            <a:r>
              <a:rPr lang="zh-CN" altLang="en-US" sz="1400" b="1" dirty="0">
                <a:latin typeface="Arial" panose="020B0604020202020204" pitchFamily="34" charset="0"/>
                <a:ea typeface="宋体" panose="02010600030101010101" pitchFamily="2" charset="-122"/>
              </a:rPr>
              <a:t>）以及到达该点所需要的最少步数（</a:t>
            </a:r>
            <a:r>
              <a:rPr lang="en-US" altLang="zh-CN" sz="1400" b="1">
                <a:latin typeface="Arial" panose="020B0604020202020204" pitchFamily="34" charset="0"/>
                <a:ea typeface="宋体" panose="02010600030101010101" pitchFamily="2" charset="-122"/>
              </a:rPr>
              <a:t>queue[k][3]</a:t>
            </a:r>
            <a:r>
              <a:rPr lang="zh-CN" altLang="en-US" sz="1400" b="1" dirty="0">
                <a:latin typeface="Arial" panose="020B0604020202020204" pitchFamily="34" charset="0"/>
                <a:ea typeface="宋体" panose="02010600030101010101" pitchFamily="2" charset="-122"/>
              </a:rPr>
              <a:t>）（</a:t>
            </a:r>
            <a:r>
              <a:rPr lang="en-US" altLang="zh-CN" sz="1400" b="1">
                <a:latin typeface="Arial" panose="020B0604020202020204" pitchFamily="34" charset="0"/>
                <a:ea typeface="宋体" panose="02010600030101010101" pitchFamily="2" charset="-122"/>
              </a:rPr>
              <a:t>0≤k≤192+1</a:t>
            </a:r>
            <a:r>
              <a:rPr lang="zh-CN" altLang="en-US" sz="1400" b="1" dirty="0">
                <a:latin typeface="Arial" panose="020B0604020202020204" pitchFamily="34" charset="0"/>
                <a:ea typeface="宋体" panose="02010600030101010101" pitchFamily="2" charset="-122"/>
              </a:rPr>
              <a:t>）。队列的首指针为</a:t>
            </a:r>
            <a:r>
              <a:rPr lang="en-US" altLang="zh-CN" sz="1400" b="1">
                <a:latin typeface="Arial" panose="020B0604020202020204" pitchFamily="34" charset="0"/>
                <a:ea typeface="宋体" panose="02010600030101010101" pitchFamily="2" charset="-122"/>
              </a:rPr>
              <a:t>head</a:t>
            </a:r>
            <a:r>
              <a:rPr lang="zh-CN" altLang="en-US" sz="1400" b="1" dirty="0">
                <a:latin typeface="Arial" panose="020B0604020202020204" pitchFamily="34" charset="0"/>
                <a:ea typeface="宋体" panose="02010600030101010101" pitchFamily="2" charset="-122"/>
              </a:rPr>
              <a:t>，尾指针为</a:t>
            </a:r>
            <a:r>
              <a:rPr lang="en-US" altLang="zh-CN" sz="1400" b="1">
                <a:latin typeface="Arial" panose="020B0604020202020204" pitchFamily="34" charset="0"/>
                <a:ea typeface="宋体" panose="02010600030101010101" pitchFamily="2" charset="-122"/>
              </a:rPr>
              <a:t>tail</a:t>
            </a:r>
            <a:r>
              <a:rPr lang="zh-CN" altLang="en-US" sz="1400" b="1" dirty="0">
                <a:latin typeface="Arial" panose="020B0604020202020204" pitchFamily="34" charset="0"/>
                <a:ea typeface="宋体" panose="02010600030101010101" pitchFamily="2" charset="-122"/>
              </a:rPr>
              <a:t>。初始时，</a:t>
            </a:r>
            <a:r>
              <a:rPr lang="en-US" altLang="zh-CN" sz="1400" b="1">
                <a:latin typeface="Arial" panose="020B0604020202020204" pitchFamily="34" charset="0"/>
                <a:ea typeface="宋体" panose="02010600030101010101" pitchFamily="2" charset="-122"/>
              </a:rPr>
              <a:t>queue</a:t>
            </a:r>
            <a:r>
              <a:rPr lang="zh-CN" altLang="en-US" sz="1400" b="1" dirty="0">
                <a:latin typeface="Arial" panose="020B0604020202020204" pitchFamily="34" charset="0"/>
                <a:ea typeface="宋体" panose="02010600030101010101" pitchFamily="2" charset="-122"/>
              </a:rPr>
              <a:t>中只有一个元素为</a:t>
            </a:r>
            <a:r>
              <a:rPr lang="en-US" altLang="zh-CN" sz="1400" b="1">
                <a:latin typeface="Arial" panose="020B0604020202020204" pitchFamily="34" charset="0"/>
                <a:ea typeface="宋体" panose="02010600030101010101" pitchFamily="2" charset="-122"/>
              </a:rPr>
              <a:t>(1,1)</a:t>
            </a:r>
            <a:r>
              <a:rPr lang="zh-CN" altLang="en-US" sz="1400" b="1" dirty="0">
                <a:latin typeface="Arial" panose="020B0604020202020204" pitchFamily="34" charset="0"/>
                <a:ea typeface="宋体" panose="02010600030101010101" pitchFamily="2" charset="-122"/>
              </a:rPr>
              <a:t>，最少步数为</a:t>
            </a:r>
            <a:r>
              <a:rPr lang="en-US" altLang="zh-CN" sz="1400" b="1">
                <a:latin typeface="Arial" panose="020B0604020202020204" pitchFamily="34" charset="0"/>
                <a:ea typeface="宋体" panose="02010600030101010101" pitchFamily="2" charset="-122"/>
              </a:rPr>
              <a:t>0</a:t>
            </a:r>
            <a:r>
              <a:rPr lang="zh-CN" altLang="en-US" sz="1400" b="1" dirty="0">
                <a:latin typeface="Arial" panose="020B0604020202020204" pitchFamily="34" charset="0"/>
                <a:ea typeface="宋体" panose="02010600030101010101" pitchFamily="2" charset="-122"/>
              </a:rPr>
              <a:t>。</a:t>
            </a:r>
            <a:endParaRPr lang="zh-CN" altLang="en-US" sz="1400" b="1" dirty="0">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S —</a:t>
            </a:r>
            <a:r>
              <a:rPr lang="zh-CN" altLang="en-US" sz="1400" b="1" dirty="0">
                <a:latin typeface="Arial" panose="020B0604020202020204" pitchFamily="34" charset="0"/>
                <a:ea typeface="宋体" panose="02010600030101010101" pitchFamily="2" charset="-122"/>
              </a:rPr>
              <a:t>记录</a:t>
            </a:r>
            <a:r>
              <a:rPr lang="en-US" altLang="zh-CN" sz="1400" b="1">
                <a:latin typeface="Arial" panose="020B0604020202020204" pitchFamily="34" charset="0"/>
                <a:ea typeface="宋体" panose="02010600030101010101" pitchFamily="2" charset="-122"/>
              </a:rPr>
              <a:t>(1,1)</a:t>
            </a:r>
            <a:r>
              <a:rPr lang="zh-CN" altLang="en-US" sz="1400" b="1" dirty="0">
                <a:latin typeface="Arial" panose="020B0604020202020204" pitchFamily="34" charset="0"/>
                <a:ea typeface="宋体" panose="02010600030101010101" pitchFamily="2" charset="-122"/>
              </a:rPr>
              <a:t>到每点所需要的最少步数。显然，问题的答案是</a:t>
            </a:r>
            <a:r>
              <a:rPr lang="en-US" altLang="zh-CN" sz="1400" b="1">
                <a:latin typeface="Arial" panose="020B0604020202020204" pitchFamily="34" charset="0"/>
                <a:ea typeface="宋体" panose="02010600030101010101" pitchFamily="2" charset="-122"/>
              </a:rPr>
              <a:t>s[x1][y1]</a:t>
            </a:r>
            <a:r>
              <a:rPr lang="zh-CN" altLang="en-US" sz="1400" b="1" dirty="0">
                <a:latin typeface="Arial" panose="020B0604020202020204" pitchFamily="34" charset="0"/>
                <a:ea typeface="宋体" panose="02010600030101010101" pitchFamily="2" charset="-122"/>
              </a:rPr>
              <a:t>和</a:t>
            </a:r>
            <a:r>
              <a:rPr lang="en-US" altLang="zh-CN" sz="1400" b="1">
                <a:latin typeface="Arial" panose="020B0604020202020204" pitchFamily="34" charset="0"/>
                <a:ea typeface="宋体" panose="02010600030101010101" pitchFamily="2" charset="-122"/>
              </a:rPr>
              <a:t>s[x2][y2]</a:t>
            </a:r>
            <a:r>
              <a:rPr lang="zh-CN" altLang="en-US" sz="1400" b="1" dirty="0">
                <a:latin typeface="Arial" panose="020B0604020202020204" pitchFamily="34" charset="0"/>
                <a:ea typeface="宋体" panose="02010600030101010101" pitchFamily="2" charset="-122"/>
              </a:rPr>
              <a:t>。初始时，</a:t>
            </a:r>
            <a:r>
              <a:rPr lang="en-US" altLang="zh-CN" sz="1400" b="1">
                <a:latin typeface="Arial" panose="020B0604020202020204" pitchFamily="34" charset="0"/>
                <a:ea typeface="宋体" panose="02010600030101010101" pitchFamily="2" charset="-122"/>
              </a:rPr>
              <a:t>s[1][1]</a:t>
            </a:r>
            <a:r>
              <a:rPr lang="zh-CN" altLang="en-US" sz="1400" b="1" dirty="0">
                <a:latin typeface="Arial" panose="020B0604020202020204" pitchFamily="34" charset="0"/>
                <a:ea typeface="宋体" panose="02010600030101010101" pitchFamily="2" charset="-122"/>
              </a:rPr>
              <a:t>为</a:t>
            </a:r>
            <a:r>
              <a:rPr lang="en-US" altLang="zh-CN" sz="1400" b="1">
                <a:latin typeface="Arial" panose="020B0604020202020204" pitchFamily="34" charset="0"/>
                <a:ea typeface="宋体" panose="02010600030101010101" pitchFamily="2" charset="-122"/>
              </a:rPr>
              <a:t>0</a:t>
            </a:r>
            <a:r>
              <a:rPr lang="zh-CN" altLang="en-US" sz="1400" b="1" dirty="0">
                <a:latin typeface="Arial" panose="020B0604020202020204" pitchFamily="34" charset="0"/>
                <a:ea typeface="宋体" panose="02010600030101010101" pitchFamily="2" charset="-122"/>
              </a:rPr>
              <a:t>，除此之外的所有元素值设为</a:t>
            </a:r>
            <a:r>
              <a:rPr lang="en-US" altLang="zh-CN" sz="1400" b="1">
                <a:latin typeface="Arial" panose="020B0604020202020204" pitchFamily="34" charset="0"/>
                <a:ea typeface="宋体" panose="02010600030101010101" pitchFamily="2" charset="-122"/>
              </a:rPr>
              <a:t>-1</a:t>
            </a:r>
            <a:r>
              <a:rPr lang="zh-CN" altLang="en-US" sz="1400" b="1" dirty="0">
                <a:latin typeface="Arial" panose="020B0604020202020204" pitchFamily="34" charset="0"/>
                <a:ea typeface="宋体" panose="02010600030101010101" pitchFamily="2" charset="-122"/>
              </a:rPr>
              <a:t>。</a:t>
            </a:r>
            <a:endParaRPr lang="zh-CN" altLang="en-US" sz="1400" b="1" dirty="0">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a:t>
            </a:r>
            <a:r>
              <a:rPr lang="en-US" altLang="zh-CN" sz="1400" b="1" err="1">
                <a:latin typeface="Arial" panose="020B0604020202020204" pitchFamily="34" charset="0"/>
                <a:ea typeface="宋体" panose="02010600030101010101" pitchFamily="2" charset="-122"/>
              </a:rPr>
              <a:t>dx</a:t>
            </a:r>
            <a:r>
              <a:rPr lang="zh-CN" altLang="en-US" sz="1400" b="1" dirty="0">
                <a:latin typeface="Arial" panose="020B0604020202020204" pitchFamily="34" charset="0"/>
                <a:ea typeface="宋体" panose="02010600030101010101" pitchFamily="2" charset="-122"/>
              </a:rPr>
              <a:t>、</a:t>
            </a:r>
            <a:r>
              <a:rPr lang="en-US" altLang="zh-CN" sz="1400" b="1" err="1">
                <a:latin typeface="Arial" panose="020B0604020202020204" pitchFamily="34" charset="0"/>
                <a:ea typeface="宋体" panose="02010600030101010101" pitchFamily="2" charset="-122"/>
              </a:rPr>
              <a:t>dy</a:t>
            </a:r>
            <a:r>
              <a:rPr lang="en-US" altLang="zh-CN" sz="1400" b="1">
                <a:latin typeface="Arial" panose="020B0604020202020204" pitchFamily="34" charset="0"/>
                <a:ea typeface="宋体" panose="02010600030101010101" pitchFamily="2" charset="-122"/>
              </a:rPr>
              <a:t>——</a:t>
            </a:r>
            <a:r>
              <a:rPr lang="zh-CN" altLang="en-US" sz="1400" b="1" dirty="0">
                <a:latin typeface="Arial" panose="020B0604020202020204" pitchFamily="34" charset="0"/>
                <a:ea typeface="宋体" panose="02010600030101010101" pitchFamily="2" charset="-122"/>
              </a:rPr>
              <a:t>移动后的位置增量数组。马有</a:t>
            </a:r>
            <a:r>
              <a:rPr lang="en-US" altLang="zh-CN" sz="1400" b="1">
                <a:latin typeface="Arial" panose="020B0604020202020204" pitchFamily="34" charset="0"/>
                <a:ea typeface="宋体" panose="02010600030101010101" pitchFamily="2" charset="-122"/>
              </a:rPr>
              <a:t>12</a:t>
            </a:r>
            <a:r>
              <a:rPr lang="zh-CN" altLang="en-US" sz="1400" b="1" dirty="0">
                <a:latin typeface="Arial" panose="020B0604020202020204" pitchFamily="34" charset="0"/>
                <a:ea typeface="宋体" panose="02010600030101010101" pitchFamily="2" charset="-122"/>
              </a:rPr>
              <a:t>种不同的扩展方向：</a:t>
            </a:r>
            <a:endParaRPr lang="zh-CN" altLang="en-US" sz="1400" b="1" dirty="0">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马走“日”：</a:t>
            </a:r>
            <a:endParaRPr lang="zh-CN" altLang="en-US" sz="1400" b="1" dirty="0">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(x-2,y-1)(x-1,y-2)(x-2,y+1)(x-1,y+2)(x+2,y-1)(x+1,y-2)(x+2,y+1)(x+1,y+2)</a:t>
            </a:r>
            <a:endParaRPr lang="en-US" altLang="zh-CN" sz="1400" b="1">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马走“田”：</a:t>
            </a:r>
            <a:endParaRPr lang="zh-CN" altLang="en-US" sz="1400" b="1" dirty="0">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(x-2,y-2)(x-2,y+2)(x+2,y-2)(x+2,y+2)</a:t>
            </a:r>
            <a:endParaRPr lang="en-US" altLang="zh-CN" sz="1400" b="1">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我们将</a:t>
            </a:r>
            <a:r>
              <a:rPr lang="en-US" altLang="zh-CN" sz="1400" b="1">
                <a:latin typeface="Arial" panose="020B0604020202020204" pitchFamily="34" charset="0"/>
                <a:ea typeface="宋体" panose="02010600030101010101" pitchFamily="2" charset="-122"/>
              </a:rPr>
              <a:t>i</a:t>
            </a:r>
            <a:r>
              <a:rPr lang="zh-CN" altLang="en-US" sz="1400" b="1" dirty="0">
                <a:latin typeface="Arial" panose="020B0604020202020204" pitchFamily="34" charset="0"/>
                <a:ea typeface="宋体" panose="02010600030101010101" pitchFamily="2" charset="-122"/>
              </a:rPr>
              <a:t>方向上的位置增量存入常量数组</a:t>
            </a:r>
            <a:r>
              <a:rPr lang="en-US" altLang="zh-CN" sz="1400" b="1" err="1">
                <a:latin typeface="Arial" panose="020B0604020202020204" pitchFamily="34" charset="0"/>
                <a:ea typeface="宋体" panose="02010600030101010101" pitchFamily="2" charset="-122"/>
              </a:rPr>
              <a:t>dx[i</a:t>
            </a:r>
            <a:r>
              <a:rPr lang="en-US" altLang="zh-CN" sz="1400" b="1">
                <a:latin typeface="Arial" panose="020B0604020202020204" pitchFamily="34" charset="0"/>
                <a:ea typeface="宋体" panose="02010600030101010101" pitchFamily="2" charset="-122"/>
              </a:rPr>
              <a:t>]</a:t>
            </a:r>
            <a:r>
              <a:rPr lang="zh-CN" altLang="en-US" sz="1400" b="1" dirty="0">
                <a:latin typeface="Arial" panose="020B0604020202020204" pitchFamily="34" charset="0"/>
                <a:ea typeface="宋体" panose="02010600030101010101" pitchFamily="2" charset="-122"/>
              </a:rPr>
              <a:t>、</a:t>
            </a:r>
            <a:r>
              <a:rPr lang="en-US" altLang="zh-CN" sz="1400" b="1" err="1">
                <a:latin typeface="Arial" panose="020B0604020202020204" pitchFamily="34" charset="0"/>
                <a:ea typeface="宋体" panose="02010600030101010101" pitchFamily="2" charset="-122"/>
              </a:rPr>
              <a:t>dy[i</a:t>
            </a:r>
            <a:r>
              <a:rPr lang="en-US" altLang="zh-CN" sz="1400" b="1">
                <a:latin typeface="Arial" panose="020B0604020202020204" pitchFamily="34" charset="0"/>
                <a:ea typeface="宋体" panose="02010600030101010101" pitchFamily="2" charset="-122"/>
              </a:rPr>
              <a:t>]</a:t>
            </a:r>
            <a:r>
              <a:rPr lang="zh-CN" altLang="en-US" sz="1400" b="1" dirty="0">
                <a:latin typeface="Arial" panose="020B0604020202020204" pitchFamily="34" charset="0"/>
                <a:ea typeface="宋体" panose="02010600030101010101" pitchFamily="2" charset="-122"/>
              </a:rPr>
              <a:t>中（</a:t>
            </a:r>
            <a:r>
              <a:rPr lang="en-US" altLang="zh-CN" sz="1400" b="1">
                <a:latin typeface="Arial" panose="020B0604020202020204" pitchFamily="34" charset="0"/>
                <a:ea typeface="宋体" panose="02010600030101010101" pitchFamily="2" charset="-122"/>
              </a:rPr>
              <a:t>0≤i≤11</a:t>
            </a:r>
            <a:r>
              <a:rPr lang="zh-CN" altLang="en-US" sz="1400" b="1" dirty="0">
                <a:latin typeface="Arial" panose="020B0604020202020204" pitchFamily="34" charset="0"/>
                <a:ea typeface="宋体" panose="02010600030101010101" pitchFamily="2" charset="-122"/>
              </a:rPr>
              <a:t>）</a:t>
            </a:r>
            <a:endParaRPr lang="zh-CN" altLang="en-US" sz="1400" b="1" dirty="0">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a:t>
            </a:r>
            <a:r>
              <a:rPr lang="en-US" altLang="zh-CN" sz="1400" b="1" err="1">
                <a:latin typeface="Arial" panose="020B0604020202020204" pitchFamily="34" charset="0"/>
                <a:ea typeface="宋体" panose="02010600030101010101" pitchFamily="2" charset="-122"/>
              </a:rPr>
              <a:t>int</a:t>
            </a:r>
            <a:r>
              <a:rPr lang="en-US" altLang="zh-CN" sz="1400" b="1">
                <a:latin typeface="Arial" panose="020B0604020202020204" pitchFamily="34" charset="0"/>
                <a:ea typeface="宋体" panose="02010600030101010101" pitchFamily="2" charset="-122"/>
              </a:rPr>
              <a:t> dx[12]={-2,-2,-1,1,2,2,2,2,1,-1,-2,-2},</a:t>
            </a:r>
            <a:endParaRPr lang="en-US" altLang="zh-CN" sz="1400" b="1">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dy[12]={-1,-2,-2,-2,-2,-1,1,2,2,2,2,1};</a:t>
            </a:r>
            <a:endParaRPr lang="en-US" altLang="zh-CN" sz="1400" b="1">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3</a:t>
            </a:r>
            <a:r>
              <a:rPr lang="zh-CN" altLang="en-US" sz="1400" b="1" dirty="0">
                <a:latin typeface="Arial" panose="020B0604020202020204" pitchFamily="34" charset="0"/>
                <a:ea typeface="宋体" panose="02010600030101010101" pitchFamily="2" charset="-122"/>
              </a:rPr>
              <a:t>、约束条件</a:t>
            </a:r>
            <a:endParaRPr lang="zh-CN" altLang="en-US" sz="1400" b="1" dirty="0">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⑴不能越出界外。由于马的所有可能的落脚点</a:t>
            </a:r>
            <a:r>
              <a:rPr lang="en-US" altLang="zh-CN" sz="1400" b="1">
                <a:latin typeface="Arial" panose="020B0604020202020204" pitchFamily="34" charset="0"/>
                <a:ea typeface="宋体" panose="02010600030101010101" pitchFamily="2" charset="-122"/>
              </a:rPr>
              <a:t>s</a:t>
            </a:r>
            <a:r>
              <a:rPr lang="zh-CN" altLang="en-US" sz="1400" b="1" dirty="0">
                <a:latin typeface="Arial" panose="020B0604020202020204" pitchFamily="34" charset="0"/>
                <a:ea typeface="宋体" panose="02010600030101010101" pitchFamily="2" charset="-122"/>
              </a:rPr>
              <a:t>均在</a:t>
            </a:r>
            <a:r>
              <a:rPr lang="en-US" altLang="zh-CN" sz="1400" b="1">
                <a:latin typeface="Arial" panose="020B0604020202020204" pitchFamily="34" charset="0"/>
                <a:ea typeface="宋体" panose="02010600030101010101" pitchFamily="2" charset="-122"/>
              </a:rPr>
              <a:t>s</a:t>
            </a:r>
            <a:r>
              <a:rPr lang="zh-CN" altLang="en-US" sz="1400" b="1" dirty="0">
                <a:latin typeface="Arial" panose="020B0604020202020204" pitchFamily="34" charset="0"/>
                <a:ea typeface="宋体" panose="02010600030101010101" pitchFamily="2" charset="-122"/>
              </a:rPr>
              <a:t>的范围内，因此一旦马越出界外，就将其</a:t>
            </a:r>
            <a:r>
              <a:rPr lang="en-US" altLang="zh-CN" sz="1400" b="1">
                <a:latin typeface="Arial" panose="020B0604020202020204" pitchFamily="34" charset="0"/>
                <a:ea typeface="宋体" panose="02010600030101010101" pitchFamily="2" charset="-122"/>
              </a:rPr>
              <a:t>s</a:t>
            </a:r>
            <a:r>
              <a:rPr lang="zh-CN" altLang="en-US" sz="1400" b="1" dirty="0">
                <a:latin typeface="Arial" panose="020B0604020202020204" pitchFamily="34" charset="0"/>
                <a:ea typeface="宋体" panose="02010600030101010101" pitchFamily="2" charset="-122"/>
              </a:rPr>
              <a:t>值赋为</a:t>
            </a:r>
            <a:r>
              <a:rPr lang="en-US" altLang="zh-CN" sz="1400" b="1">
                <a:latin typeface="Arial" panose="020B0604020202020204" pitchFamily="34" charset="0"/>
                <a:ea typeface="宋体" panose="02010600030101010101" pitchFamily="2" charset="-122"/>
              </a:rPr>
              <a:t>0</a:t>
            </a:r>
            <a:r>
              <a:rPr lang="zh-CN" altLang="en-US" sz="1400" b="1" dirty="0">
                <a:latin typeface="Arial" panose="020B0604020202020204" pitchFamily="34" charset="0"/>
                <a:ea typeface="宋体" panose="02010600030101010101" pitchFamily="2" charset="-122"/>
              </a:rPr>
              <a:t>，表示“已经扩展过，且</a:t>
            </a:r>
            <a:r>
              <a:rPr lang="en-US" altLang="zh-CN" sz="1400" b="1">
                <a:latin typeface="Arial" panose="020B0604020202020204" pitchFamily="34" charset="0"/>
                <a:ea typeface="宋体" panose="02010600030101010101" pitchFamily="2" charset="-122"/>
              </a:rPr>
              <a:t>(1,1)</a:t>
            </a:r>
            <a:r>
              <a:rPr lang="zh-CN" altLang="en-US" sz="1400" b="1" dirty="0">
                <a:latin typeface="Arial" panose="020B0604020202020204" pitchFamily="34" charset="0"/>
                <a:ea typeface="宋体" panose="02010600030101010101" pitchFamily="2" charset="-122"/>
              </a:rPr>
              <a:t>到达其最少需要</a:t>
            </a:r>
            <a:r>
              <a:rPr lang="en-US" altLang="zh-CN" sz="1400" b="1">
                <a:latin typeface="Arial" panose="020B0604020202020204" pitchFamily="34" charset="0"/>
                <a:ea typeface="宋体" panose="02010600030101010101" pitchFamily="2" charset="-122"/>
              </a:rPr>
              <a:t>0</a:t>
            </a:r>
            <a:r>
              <a:rPr lang="zh-CN" altLang="en-US" sz="1400" b="1" dirty="0">
                <a:latin typeface="Arial" panose="020B0604020202020204" pitchFamily="34" charset="0"/>
                <a:ea typeface="宋体" panose="02010600030101010101" pitchFamily="2" charset="-122"/>
              </a:rPr>
              <a:t>步”。这看上去是荒谬的，但可以简单而有效地避免马再次落入这些界外点。</a:t>
            </a:r>
            <a:endParaRPr lang="zh-CN" altLang="en-US" sz="1400" b="1" dirty="0">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⑵该点在以前的扩展中没有到达过。如果曾经到达过，则根据广度优先搜索的原理，先前到达该点所需的步数一定小于当前步数，因此完全没有必要再扩展下去。</a:t>
            </a:r>
            <a:endParaRPr lang="zh-CN" altLang="en-US" sz="1400" b="1" dirty="0">
              <a:latin typeface="Arial" panose="020B0604020202020204" pitchFamily="34" charset="0"/>
              <a:ea typeface="宋体" panose="02010600030101010101" pitchFamily="2" charset="-122"/>
            </a:endParaRPr>
          </a:p>
          <a:p>
            <a:r>
              <a:rPr lang="zh-CN" altLang="en-US" sz="1400" b="1" dirty="0">
                <a:latin typeface="Arial" panose="020B0604020202020204" pitchFamily="34" charset="0"/>
                <a:ea typeface="宋体" panose="02010600030101010101" pitchFamily="2" charset="-122"/>
              </a:rPr>
              <a:t>       由此得出，马的跳后位置（</a:t>
            </a:r>
            <a:r>
              <a:rPr lang="en-US" altLang="zh-CN" sz="1400" b="1" err="1">
                <a:latin typeface="Arial" panose="020B0604020202020204" pitchFamily="34" charset="0"/>
                <a:ea typeface="宋体" panose="02010600030101010101" pitchFamily="2" charset="-122"/>
              </a:rPr>
              <a:t>x,y</a:t>
            </a:r>
            <a:r>
              <a:rPr lang="zh-CN" altLang="en-US" sz="1400" b="1" dirty="0">
                <a:latin typeface="Arial" panose="020B0604020202020204" pitchFamily="34" charset="0"/>
                <a:ea typeface="宋体" panose="02010600030101010101" pitchFamily="2" charset="-122"/>
              </a:rPr>
              <a:t>）是否可以入队的约束条件是</a:t>
            </a:r>
            <a:r>
              <a:rPr lang="en-US" altLang="zh-CN" sz="1400" b="1" err="1">
                <a:latin typeface="Arial" panose="020B0604020202020204" pitchFamily="34" charset="0"/>
                <a:ea typeface="宋体" panose="02010600030101010101" pitchFamily="2" charset="-122"/>
              </a:rPr>
              <a:t>s[x][y</a:t>
            </a:r>
            <a:r>
              <a:rPr lang="en-US" altLang="zh-CN" sz="1400" b="1">
                <a:latin typeface="Arial" panose="020B0604020202020204" pitchFamily="34" charset="0"/>
                <a:ea typeface="宋体" panose="02010600030101010101" pitchFamily="2" charset="-122"/>
              </a:rPr>
              <a:t>]&lt;0</a:t>
            </a:r>
            <a:r>
              <a:rPr lang="zh-CN" altLang="en-US" sz="1400" b="1" dirty="0">
                <a:latin typeface="Arial" panose="020B0604020202020204" pitchFamily="34" charset="0"/>
                <a:ea typeface="宋体" panose="02010600030101010101" pitchFamily="2" charset="-122"/>
              </a:rPr>
              <a:t>。</a:t>
            </a:r>
            <a:endParaRPr lang="zh-CN" altLang="en-US" sz="1400" b="1" dirty="0">
              <a:latin typeface="Arial" panose="020B060402020202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47107"/>
          <p:cNvSpPr>
            <a:spLocks noGrp="1" noRot="1"/>
          </p:cNvSpPr>
          <p:nvPr>
            <p:ph type="title"/>
          </p:nvPr>
        </p:nvSpPr>
        <p:spPr>
          <a:xfrm>
            <a:off x="301625" y="228600"/>
            <a:ext cx="8461375" cy="6400800"/>
          </a:xfrm>
          <a:ln/>
        </p:spPr>
        <p:txBody>
          <a:bodyPr anchor="ctr" anchorCtr="0"/>
          <a:p>
            <a:pPr algn="l"/>
            <a:r>
              <a:rPr lang="en-US" altLang="zh-CN" sz="2000" b="1"/>
              <a:t>4</a:t>
            </a:r>
            <a:r>
              <a:rPr lang="zh-CN" altLang="en-US" sz="2000" b="1" dirty="0"/>
              <a:t>、算法流程</a:t>
            </a:r>
            <a:br>
              <a:rPr lang="zh-CN" altLang="en-US" sz="2000" b="1" dirty="0"/>
            </a:br>
            <a:r>
              <a:rPr lang="en-US" altLang="zh-CN" sz="2000" b="1"/>
              <a:t>#include &lt;</a:t>
            </a:r>
            <a:r>
              <a:rPr lang="en-US" altLang="zh-CN" sz="2000" b="1" err="1"/>
              <a:t>cstdlib</a:t>
            </a:r>
            <a:r>
              <a:rPr lang="en-US" altLang="zh-CN" sz="2000" b="1"/>
              <a:t>&gt;</a:t>
            </a:r>
            <a:br>
              <a:rPr lang="en-US" altLang="zh-CN" sz="2000" b="1"/>
            </a:br>
            <a:r>
              <a:rPr lang="en-US" altLang="zh-CN" sz="2000" b="1"/>
              <a:t>#include &lt;</a:t>
            </a:r>
            <a:r>
              <a:rPr lang="en-US" altLang="zh-CN" sz="2000" b="1" err="1"/>
              <a:t>cstring</a:t>
            </a:r>
            <a:r>
              <a:rPr lang="en-US" altLang="zh-CN" sz="2000" b="1"/>
              <a:t>&gt;</a:t>
            </a:r>
            <a:br>
              <a:rPr lang="en-US" altLang="zh-CN" sz="2000"/>
            </a:br>
            <a:r>
              <a:rPr lang="en-US" altLang="zh-CN" sz="2000"/>
              <a:t>#include &lt;</a:t>
            </a:r>
            <a:r>
              <a:rPr lang="en-US" altLang="zh-CN" sz="2000" err="1"/>
              <a:t>iostream</a:t>
            </a:r>
            <a:r>
              <a:rPr lang="en-US" altLang="zh-CN" sz="2000"/>
              <a:t>&gt;</a:t>
            </a:r>
            <a:br>
              <a:rPr lang="en-US" altLang="zh-CN" sz="2000"/>
            </a:br>
            <a:r>
              <a:rPr lang="en-US" altLang="zh-CN" sz="2000"/>
              <a:t>using namespace std;</a:t>
            </a:r>
            <a:br>
              <a:rPr lang="fr-FR" altLang="zh-CN" sz="2000" dirty="0"/>
            </a:br>
            <a:r>
              <a:rPr lang="fr-FR" altLang="zh-CN" sz="2000" dirty="0"/>
              <a:t>int dx[12]={-2,-2,-1,1,2,2,2,2,1,-1,-2,-2},</a:t>
            </a:r>
            <a:br>
              <a:rPr lang="fr-FR" altLang="zh-CN" sz="2000" dirty="0"/>
            </a:br>
            <a:r>
              <a:rPr lang="fr-FR" altLang="zh-CN" sz="2000" dirty="0"/>
              <a:t>    dy[12]={-1,-2,-2,-2,-2,-1,1,2,2,2,2,1};</a:t>
            </a:r>
            <a:br>
              <a:rPr lang="fr-FR" altLang="zh-CN" sz="2000" dirty="0"/>
            </a:br>
            <a:r>
              <a:rPr lang="fr-FR" altLang="zh-CN" sz="2000" dirty="0"/>
              <a:t>int main()</a:t>
            </a:r>
            <a:br>
              <a:rPr lang="fr-FR" altLang="zh-CN" sz="2000" dirty="0"/>
            </a:br>
            <a:r>
              <a:rPr lang="fr-FR" altLang="zh-CN" sz="2000" dirty="0"/>
              <a:t>{</a:t>
            </a:r>
            <a:br>
              <a:rPr lang="fr-FR" altLang="zh-CN" sz="2000" dirty="0"/>
            </a:br>
            <a:r>
              <a:rPr lang="fr-FR" altLang="zh-CN" sz="2000" dirty="0"/>
              <a:t>  int s[101][101],que[10000][4]={0},x1,y1,x2,y2;</a:t>
            </a:r>
            <a:br>
              <a:rPr lang="fr-FR" altLang="zh-CN" sz="2000" dirty="0"/>
            </a:br>
            <a:r>
              <a:rPr lang="fr-FR" altLang="zh-CN" sz="2000" dirty="0"/>
              <a:t>  memset(s,0xff,sizeof(s));             //s</a:t>
            </a:r>
            <a:r>
              <a:rPr lang="zh-CN" altLang="fr-FR" sz="2000" dirty="0"/>
              <a:t>数组的初始化</a:t>
            </a:r>
            <a:br>
              <a:rPr lang="zh-CN" altLang="fr-FR" sz="2000" dirty="0"/>
            </a:br>
            <a:r>
              <a:rPr lang="zh-CN" altLang="fr-FR" sz="2000" dirty="0"/>
              <a:t>  </a:t>
            </a:r>
            <a:r>
              <a:rPr lang="fr-FR" altLang="zh-CN" sz="2000" dirty="0"/>
              <a:t>int head=1,tail=1;                         //</a:t>
            </a:r>
            <a:r>
              <a:rPr lang="zh-CN" altLang="fr-FR" sz="2000" dirty="0"/>
              <a:t>初始位置入队</a:t>
            </a:r>
            <a:br>
              <a:rPr lang="zh-CN" altLang="fr-FR" sz="2000" dirty="0"/>
            </a:br>
            <a:r>
              <a:rPr lang="zh-CN" altLang="fr-FR" sz="2000" dirty="0"/>
              <a:t>  </a:t>
            </a:r>
            <a:r>
              <a:rPr lang="fr-FR" altLang="zh-CN" sz="2000" dirty="0"/>
              <a:t>que[1][1]=1;que[1][2]=1;que[1][3]=0;    </a:t>
            </a:r>
            <a:br>
              <a:rPr lang="fr-FR" altLang="zh-CN" sz="2000" dirty="0"/>
            </a:br>
            <a:r>
              <a:rPr lang="fr-FR" altLang="zh-CN" sz="2000" dirty="0"/>
              <a:t>  cin&gt;&gt;x1&gt;&gt;y1&gt;&gt;x2&gt;&gt;y2;               //</a:t>
            </a:r>
            <a:r>
              <a:rPr lang="zh-CN" altLang="fr-FR" sz="2000" dirty="0"/>
              <a:t>读入黑马和白马的出发位置</a:t>
            </a:r>
            <a:br>
              <a:rPr lang="zh-CN" altLang="fr-FR" sz="2000" dirty="0"/>
            </a:br>
            <a:r>
              <a:rPr lang="zh-CN" altLang="fr-FR" sz="2000" dirty="0"/>
              <a:t>  </a:t>
            </a:r>
            <a:r>
              <a:rPr lang="fr-FR" altLang="zh-CN" sz="2000" dirty="0"/>
              <a:t>while(head&lt;=tail)                         //</a:t>
            </a:r>
            <a:r>
              <a:rPr lang="zh-CN" altLang="fr-FR" sz="2000" dirty="0"/>
              <a:t>若队列非空，则扩展队首结点</a:t>
            </a:r>
            <a:br>
              <a:rPr lang="zh-CN" altLang="fr-FR" sz="2000" dirty="0"/>
            </a:br>
            <a:r>
              <a:rPr lang="zh-CN" altLang="fr-FR" sz="2000" dirty="0"/>
              <a:t>  </a:t>
            </a:r>
            <a:r>
              <a:rPr lang="fr-FR" altLang="zh-CN" sz="2000" dirty="0"/>
              <a:t>{</a:t>
            </a:r>
            <a:br>
              <a:rPr lang="fr-FR" altLang="zh-CN" sz="2000" dirty="0"/>
            </a:br>
            <a:r>
              <a:rPr lang="fr-FR" altLang="zh-CN" sz="2000" dirty="0"/>
              <a:t>   for(int d=0;d&lt;=11;d++)                //</a:t>
            </a:r>
            <a:r>
              <a:rPr lang="zh-CN" altLang="fr-FR" sz="2000" dirty="0"/>
              <a:t>枚举</a:t>
            </a:r>
            <a:r>
              <a:rPr lang="fr-FR" altLang="zh-CN" sz="2000" dirty="0"/>
              <a:t>12</a:t>
            </a:r>
            <a:r>
              <a:rPr lang="zh-CN" altLang="fr-FR" sz="2000" dirty="0"/>
              <a:t>个扩展方向</a:t>
            </a:r>
            <a:br>
              <a:rPr lang="zh-CN" altLang="fr-FR" sz="2000" dirty="0"/>
            </a:br>
            <a:r>
              <a:rPr lang="zh-CN" altLang="fr-FR" sz="2000" dirty="0"/>
              <a:t>    </a:t>
            </a:r>
            <a:r>
              <a:rPr lang="fr-FR" altLang="zh-CN" sz="2000" dirty="0"/>
              <a:t>{</a:t>
            </a:r>
            <a:br>
              <a:rPr lang="fr-FR" altLang="zh-CN" sz="2000" dirty="0"/>
            </a:br>
            <a:r>
              <a:rPr lang="fr-FR" altLang="zh-CN" sz="2000" dirty="0"/>
              <a:t>          int x=que[head][1]+dx[d];     //</a:t>
            </a:r>
            <a:r>
              <a:rPr lang="zh-CN" altLang="fr-FR" sz="2000" dirty="0"/>
              <a:t>计算马按</a:t>
            </a:r>
            <a:r>
              <a:rPr lang="fr-FR" altLang="zh-CN" sz="2000" dirty="0"/>
              <a:t>d</a:t>
            </a:r>
            <a:r>
              <a:rPr lang="zh-CN" altLang="fr-FR" sz="2000" dirty="0"/>
              <a:t>方向跳跃后的位置</a:t>
            </a:r>
            <a:br>
              <a:rPr lang="zh-CN" altLang="fr-FR" sz="2000" dirty="0"/>
            </a:br>
            <a:r>
              <a:rPr lang="zh-CN" altLang="fr-FR" sz="2000" dirty="0"/>
              <a:t>          </a:t>
            </a:r>
            <a:r>
              <a:rPr lang="fr-FR" altLang="zh-CN" sz="2000" dirty="0"/>
              <a:t>int y=que[head][2]+dy[d];</a:t>
            </a:r>
            <a:endParaRPr lang="zh-CN"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标题 49155"/>
          <p:cNvSpPr>
            <a:spLocks noGrp="1" noRot="1"/>
          </p:cNvSpPr>
          <p:nvPr>
            <p:ph type="title"/>
          </p:nvPr>
        </p:nvSpPr>
        <p:spPr>
          <a:xfrm>
            <a:off x="301625" y="228600"/>
            <a:ext cx="8537575" cy="6248400"/>
          </a:xfrm>
          <a:ln/>
        </p:spPr>
        <p:txBody>
          <a:bodyPr anchor="ctr" anchorCtr="0"/>
          <a:p>
            <a:pPr algn="l"/>
            <a:r>
              <a:rPr lang="zh-CN" altLang="fr-FR" sz="2000" dirty="0"/>
              <a:t>     </a:t>
            </a:r>
            <a:r>
              <a:rPr lang="fr-FR" altLang="zh-CN" sz="2000" dirty="0"/>
              <a:t>if(x&gt;0&amp;&amp;y&gt;0&amp;&amp;x&lt;=100&amp;&amp;y&lt;=100) </a:t>
            </a:r>
            <a:br>
              <a:rPr lang="fr-FR" altLang="zh-CN" sz="2000" dirty="0"/>
            </a:br>
            <a:r>
              <a:rPr lang="fr-FR" altLang="zh-CN" sz="2000" dirty="0"/>
              <a:t>       if(s[x][y]==-1)                          //</a:t>
            </a:r>
            <a:r>
              <a:rPr lang="zh-CN" altLang="fr-FR" sz="2000" dirty="0"/>
              <a:t>若（</a:t>
            </a:r>
            <a:r>
              <a:rPr lang="fr-FR" altLang="zh-CN" sz="2000" dirty="0"/>
              <a:t>x,y</a:t>
            </a:r>
            <a:r>
              <a:rPr lang="zh-CN" altLang="fr-FR" sz="2000" dirty="0"/>
              <a:t>）满足约束条件</a:t>
            </a:r>
            <a:br>
              <a:rPr lang="zh-CN" altLang="fr-FR" sz="2000" dirty="0"/>
            </a:br>
            <a:r>
              <a:rPr lang="zh-CN" altLang="fr-FR" sz="2000" dirty="0"/>
              <a:t>       </a:t>
            </a:r>
            <a:r>
              <a:rPr lang="fr-FR" altLang="zh-CN" sz="2000" dirty="0"/>
              <a:t>{</a:t>
            </a:r>
            <a:br>
              <a:rPr lang="fr-FR" altLang="zh-CN" sz="2000" dirty="0"/>
            </a:br>
            <a:r>
              <a:rPr lang="fr-FR" altLang="zh-CN" sz="2000" dirty="0"/>
              <a:t>           s[x][y]=que[head][3]+1;        //</a:t>
            </a:r>
            <a:r>
              <a:rPr lang="zh-CN" altLang="fr-FR" sz="2000" dirty="0"/>
              <a:t>计算</a:t>
            </a:r>
            <a:r>
              <a:rPr lang="fr-FR" altLang="zh-CN" sz="2000" dirty="0"/>
              <a:t>(1,1)</a:t>
            </a:r>
            <a:r>
              <a:rPr lang="zh-CN" altLang="fr-FR" sz="2000" dirty="0"/>
              <a:t>到</a:t>
            </a:r>
            <a:r>
              <a:rPr lang="fr-FR" altLang="zh-CN" sz="2000" dirty="0"/>
              <a:t>(x,y)</a:t>
            </a:r>
            <a:r>
              <a:rPr lang="zh-CN" altLang="fr-FR" sz="2000" dirty="0"/>
              <a:t>的最少步数</a:t>
            </a:r>
            <a:br>
              <a:rPr lang="zh-CN" altLang="fr-FR" sz="2000" dirty="0"/>
            </a:br>
            <a:r>
              <a:rPr lang="zh-CN" altLang="fr-FR" sz="2000" dirty="0"/>
              <a:t>           </a:t>
            </a:r>
            <a:r>
              <a:rPr lang="fr-FR" altLang="zh-CN" sz="2000" dirty="0"/>
              <a:t>tail++;                                   //</a:t>
            </a:r>
            <a:r>
              <a:rPr lang="zh-CN" altLang="fr-FR" sz="2000" dirty="0"/>
              <a:t>（</a:t>
            </a:r>
            <a:r>
              <a:rPr lang="fr-FR" altLang="zh-CN" sz="2000" dirty="0"/>
              <a:t>1,1</a:t>
            </a:r>
            <a:r>
              <a:rPr lang="zh-CN" altLang="fr-FR" sz="2000" dirty="0"/>
              <a:t>）至（</a:t>
            </a:r>
            <a:r>
              <a:rPr lang="fr-FR" altLang="zh-CN" sz="2000" dirty="0"/>
              <a:t>x,y</a:t>
            </a:r>
            <a:r>
              <a:rPr lang="zh-CN" altLang="fr-FR" sz="2000" dirty="0"/>
              <a:t>）的最少步数入队</a:t>
            </a:r>
            <a:br>
              <a:rPr lang="zh-CN" altLang="fr-FR" sz="2000" dirty="0"/>
            </a:br>
            <a:r>
              <a:rPr lang="zh-CN" altLang="fr-FR" sz="2000" dirty="0"/>
              <a:t>           </a:t>
            </a:r>
            <a:r>
              <a:rPr lang="fr-FR" altLang="zh-CN" sz="2000" dirty="0"/>
              <a:t>que[tail][1]=x;</a:t>
            </a:r>
            <a:br>
              <a:rPr lang="fr-FR" altLang="zh-CN" sz="2000" dirty="0"/>
            </a:br>
            <a:r>
              <a:rPr lang="fr-FR" altLang="zh-CN" sz="2000" dirty="0"/>
              <a:t>           que[tail][2]=y;</a:t>
            </a:r>
            <a:br>
              <a:rPr lang="fr-FR" altLang="zh-CN" sz="2000" dirty="0"/>
            </a:br>
            <a:r>
              <a:rPr lang="fr-FR" altLang="zh-CN" sz="2000" dirty="0"/>
              <a:t>           que[tail][3]=s[x][y];</a:t>
            </a:r>
            <a:br>
              <a:rPr lang="fr-FR" altLang="zh-CN" sz="2000" dirty="0"/>
            </a:br>
            <a:r>
              <a:rPr lang="fr-FR" altLang="zh-CN" sz="2000" dirty="0"/>
              <a:t>           if(s[x1][y1]&gt;0&amp;&amp;s[x2][y2]&gt;0)  //</a:t>
            </a:r>
            <a:r>
              <a:rPr lang="zh-CN" altLang="fr-FR" sz="2000" dirty="0"/>
              <a:t>输出问题的解</a:t>
            </a:r>
            <a:br>
              <a:rPr lang="zh-CN" altLang="fr-FR" sz="2000" dirty="0"/>
            </a:br>
            <a:r>
              <a:rPr lang="zh-CN" altLang="fr-FR" sz="2000" dirty="0"/>
              <a:t>            </a:t>
            </a:r>
            <a:r>
              <a:rPr lang="fr-FR" altLang="zh-CN" sz="2000" dirty="0"/>
              <a:t>{</a:t>
            </a:r>
            <a:br>
              <a:rPr lang="fr-FR" altLang="zh-CN" sz="2000" dirty="0"/>
            </a:br>
            <a:r>
              <a:rPr lang="fr-FR" altLang="zh-CN" sz="2000" dirty="0"/>
              <a:t>               cout&lt;&lt;s[x1][y1]&lt;&lt;endl; </a:t>
            </a:r>
            <a:br>
              <a:rPr lang="fr-FR" altLang="zh-CN" sz="2000" dirty="0"/>
            </a:br>
            <a:r>
              <a:rPr lang="fr-FR" altLang="zh-CN" sz="2000" dirty="0"/>
              <a:t>               cout&lt;&lt;s[x2][y2]&lt;&lt;endl;</a:t>
            </a:r>
            <a:br>
              <a:rPr lang="fr-FR" altLang="zh-CN" sz="2000" dirty="0"/>
            </a:br>
            <a:r>
              <a:rPr lang="fr-FR" altLang="zh-CN" sz="2000" dirty="0"/>
              <a:t>               system("pause");</a:t>
            </a:r>
            <a:br>
              <a:rPr lang="fr-FR" altLang="zh-CN" sz="2000" dirty="0"/>
            </a:br>
            <a:r>
              <a:rPr lang="fr-FR" altLang="zh-CN" sz="2000" dirty="0"/>
              <a:t>               </a:t>
            </a:r>
            <a:r>
              <a:rPr lang="en-US" altLang="zh-CN" sz="2000"/>
              <a:t>return 0;</a:t>
            </a:r>
            <a:br>
              <a:rPr lang="en-US" altLang="zh-CN" sz="2000"/>
            </a:br>
            <a:r>
              <a:rPr lang="en-US" altLang="zh-CN" sz="2000"/>
              <a:t>            }</a:t>
            </a:r>
            <a:br>
              <a:rPr lang="en-US" altLang="zh-CN" sz="2000"/>
            </a:br>
            <a:r>
              <a:rPr lang="en-US" altLang="zh-CN" sz="2000"/>
              <a:t>         }</a:t>
            </a:r>
            <a:br>
              <a:rPr lang="en-US" altLang="zh-CN" sz="2000"/>
            </a:br>
            <a:r>
              <a:rPr lang="en-US" altLang="zh-CN" sz="2000"/>
              <a:t>     }</a:t>
            </a:r>
            <a:br>
              <a:rPr lang="en-US" altLang="zh-CN" sz="2000"/>
            </a:br>
            <a:r>
              <a:rPr lang="en-US" altLang="zh-CN" sz="2000"/>
              <a:t>     head++;</a:t>
            </a:r>
            <a:br>
              <a:rPr lang="en-US" altLang="zh-CN" sz="2000"/>
            </a:br>
            <a:r>
              <a:rPr lang="en-US" altLang="zh-CN" sz="2000"/>
              <a:t>  }</a:t>
            </a:r>
            <a:br>
              <a:rPr lang="en-US" altLang="zh-CN" sz="2000"/>
            </a:br>
            <a:r>
              <a:rPr lang="en-US" altLang="zh-CN" sz="2000"/>
              <a:t>}</a:t>
            </a:r>
            <a:endParaRPr lang="zh-CN"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Text Box 2"/>
          <p:cNvSpPr txBox="1"/>
          <p:nvPr/>
        </p:nvSpPr>
        <p:spPr>
          <a:xfrm>
            <a:off x="228600" y="304800"/>
            <a:ext cx="8458200" cy="1616075"/>
          </a:xfrm>
          <a:prstGeom prst="rect">
            <a:avLst/>
          </a:prstGeom>
          <a:noFill/>
          <a:ln w="9525">
            <a:noFill/>
          </a:ln>
        </p:spPr>
        <p:txBody>
          <a:bodyPr anchor="t" anchorCtr="0">
            <a:spAutoFit/>
          </a:bodyPr>
          <a:p>
            <a:r>
              <a:rPr lang="en-US" altLang="zh-CN" sz="2000" b="1">
                <a:solidFill>
                  <a:schemeClr val="tx2"/>
                </a:solidFill>
                <a:latin typeface="Arial" panose="020B0604020202020204" pitchFamily="34" charset="0"/>
                <a:ea typeface="宋体" panose="02010600030101010101" pitchFamily="2" charset="-122"/>
              </a:rPr>
              <a:t>【</a:t>
            </a:r>
            <a:r>
              <a:rPr lang="zh-CN" altLang="en-US" sz="2000" b="1" dirty="0">
                <a:solidFill>
                  <a:schemeClr val="tx2"/>
                </a:solidFill>
                <a:latin typeface="Arial" panose="020B0604020202020204" pitchFamily="34" charset="0"/>
                <a:ea typeface="宋体" panose="02010600030101010101" pitchFamily="2" charset="-122"/>
              </a:rPr>
              <a:t>例</a:t>
            </a:r>
            <a:r>
              <a:rPr lang="en-US" altLang="zh-CN" sz="2000" b="1">
                <a:solidFill>
                  <a:schemeClr val="tx2"/>
                </a:solidFill>
                <a:latin typeface="Arial" panose="020B0604020202020204" pitchFamily="34" charset="0"/>
                <a:ea typeface="宋体" panose="02010600030101010101" pitchFamily="2" charset="-122"/>
              </a:rPr>
              <a:t>8.4】</a:t>
            </a:r>
            <a:r>
              <a:rPr lang="zh-CN" altLang="en-US" sz="2000" b="1" dirty="0">
                <a:latin typeface="Arial" panose="020B0604020202020204" pitchFamily="34" charset="0"/>
                <a:ea typeface="宋体" panose="02010600030101010101" pitchFamily="2" charset="-122"/>
              </a:rPr>
              <a:t>迷宫问题</a:t>
            </a:r>
            <a:endParaRPr lang="zh-CN" altLang="en-US" sz="2000" b="1"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如下图所示，给出一个</a:t>
            </a:r>
            <a:r>
              <a:rPr lang="en-US" altLang="zh-CN" sz="2000">
                <a:latin typeface="Arial" panose="020B0604020202020204" pitchFamily="34" charset="0"/>
                <a:ea typeface="宋体" panose="02010600030101010101" pitchFamily="2" charset="-122"/>
              </a:rPr>
              <a:t>N*M</a:t>
            </a:r>
            <a:r>
              <a:rPr lang="zh-CN" altLang="en-US" sz="2000" dirty="0">
                <a:latin typeface="Arial" panose="020B0604020202020204" pitchFamily="34" charset="0"/>
                <a:ea typeface="宋体" panose="02010600030101010101" pitchFamily="2" charset="-122"/>
              </a:rPr>
              <a:t>的迷宫图和一个入口、一个出口。</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编一个程序，打印一条从迷宫入口到出口的路径。这里黑色方块的单元表示走不通（用</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表示），白色方块的单元表示可以走（用</a:t>
            </a:r>
            <a:r>
              <a:rPr lang="en-US" altLang="zh-CN" sz="2000">
                <a:latin typeface="Arial" panose="020B0604020202020204" pitchFamily="34" charset="0"/>
                <a:ea typeface="宋体" panose="02010600030101010101" pitchFamily="2" charset="-122"/>
              </a:rPr>
              <a:t>0</a:t>
            </a:r>
            <a:r>
              <a:rPr lang="zh-CN" altLang="en-US" sz="2000" dirty="0">
                <a:latin typeface="Arial" panose="020B0604020202020204" pitchFamily="34" charset="0"/>
                <a:ea typeface="宋体" panose="02010600030101010101" pitchFamily="2" charset="-122"/>
              </a:rPr>
              <a:t>表示）。只能往上、下、左、右四个方向走。如果无路则输出“</a:t>
            </a:r>
            <a:r>
              <a:rPr lang="en-US" altLang="zh-CN" sz="2000">
                <a:latin typeface="Arial" panose="020B0604020202020204" pitchFamily="34" charset="0"/>
                <a:ea typeface="宋体" panose="02010600030101010101" pitchFamily="2" charset="-122"/>
              </a:rPr>
              <a:t>no way.”</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19458" name="Rectangle 3"/>
          <p:cNvSpPr/>
          <p:nvPr/>
        </p:nvSpPr>
        <p:spPr>
          <a:xfrm>
            <a:off x="0" y="2135188"/>
            <a:ext cx="9144000" cy="0"/>
          </a:xfrm>
          <a:prstGeom prst="rect">
            <a:avLst/>
          </a:prstGeom>
          <a:noFill/>
          <a:ln w="9525">
            <a:noFill/>
          </a:ln>
        </p:spPr>
        <p:txBody>
          <a:bodyPr wrap="none" anchor="ctr" anchorCtr="0">
            <a:spAutoFit/>
          </a:bodyPr>
          <a:p>
            <a:endParaRPr lang="zh-CN" altLang="zh-CN" dirty="0">
              <a:latin typeface="Arial" panose="020B0604020202020204" pitchFamily="34" charset="0"/>
              <a:ea typeface="宋体" panose="02010600030101010101" pitchFamily="2" charset="-122"/>
            </a:endParaRPr>
          </a:p>
        </p:txBody>
      </p:sp>
      <p:graphicFrame>
        <p:nvGraphicFramePr>
          <p:cNvPr id="18436" name="表格 18435"/>
          <p:cNvGraphicFramePr/>
          <p:nvPr/>
        </p:nvGraphicFramePr>
        <p:xfrm>
          <a:off x="609600" y="2135188"/>
          <a:ext cx="7772400" cy="2592388"/>
        </p:xfrm>
        <a:graphic>
          <a:graphicData uri="http://schemas.openxmlformats.org/drawingml/2006/table">
            <a:tbl>
              <a:tblPr/>
              <a:tblGrid>
                <a:gridCol w="869950"/>
                <a:gridCol w="657225"/>
                <a:gridCol w="657225"/>
                <a:gridCol w="658813"/>
                <a:gridCol w="657225"/>
                <a:gridCol w="660400"/>
                <a:gridCol w="657225"/>
                <a:gridCol w="658812"/>
                <a:gridCol w="657225"/>
                <a:gridCol w="658813"/>
                <a:gridCol w="979487"/>
              </a:tblGrid>
              <a:tr h="701675">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zh-CN" altLang="en-US" sz="2000" dirty="0">
                          <a:latin typeface="华文中宋" pitchFamily="2" charset="-122"/>
                          <a:ea typeface="华文中宋" pitchFamily="2" charset="-122"/>
                        </a:rPr>
                        <a:t>入口→</a:t>
                      </a:r>
                      <a:endParaRPr lang="zh-CN" altLang="en-US" sz="2000" dirty="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5288">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00087">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 </a:t>
                      </a:r>
                      <a:r>
                        <a:rPr lang="zh-CN" altLang="en-US" sz="2000" dirty="0">
                          <a:latin typeface="华文中宋" pitchFamily="2" charset="-122"/>
                          <a:ea typeface="华文中宋" pitchFamily="2" charset="-122"/>
                        </a:rPr>
                        <a:t>出口</a:t>
                      </a:r>
                      <a:endParaRPr lang="zh-CN" altLang="en-US" sz="2000" dirty="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0</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algn="ctr" eaLnBrk="1" hangingPunct="1">
                        <a:spcBef>
                          <a:spcPct val="0"/>
                        </a:spcBef>
                        <a:buClrTx/>
                        <a:buNone/>
                      </a:pPr>
                      <a:r>
                        <a:rPr lang="en-US" altLang="zh-CN" sz="2000">
                          <a:latin typeface="华文中宋" pitchFamily="2" charset="-122"/>
                          <a:ea typeface="华文中宋" pitchFamily="2" charset="-122"/>
                        </a:rPr>
                        <a:t>-1</a:t>
                      </a:r>
                      <a:endParaRPr lang="en-US" altLang="zh-CN" sz="2000">
                        <a:ea typeface="华文中宋"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buNone/>
                      </a:pPr>
                      <a:endParaRPr lang="zh-CN" altLang="zh-CN"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9533" name="Text Box 366"/>
          <p:cNvSpPr txBox="1"/>
          <p:nvPr/>
        </p:nvSpPr>
        <p:spPr>
          <a:xfrm>
            <a:off x="381000" y="4953000"/>
            <a:ext cx="8153400" cy="1006475"/>
          </a:xfrm>
          <a:prstGeom prst="rect">
            <a:avLst/>
          </a:prstGeom>
          <a:noFill/>
          <a:ln w="9525">
            <a:noFill/>
          </a:ln>
        </p:spPr>
        <p:txBody>
          <a:bodyPr anchor="t" anchorCtr="0">
            <a:spAutoFit/>
          </a:bodyPr>
          <a:p>
            <a:r>
              <a:rPr lang="en-US" altLang="zh-CN" sz="2000" b="1">
                <a:solidFill>
                  <a:schemeClr val="tx2"/>
                </a:solidFill>
                <a:latin typeface="Arial" panose="020B0604020202020204" pitchFamily="34" charset="0"/>
                <a:ea typeface="宋体" panose="02010600030101010101" pitchFamily="2" charset="-122"/>
              </a:rPr>
              <a:t>【</a:t>
            </a:r>
            <a:r>
              <a:rPr lang="zh-CN" altLang="en-US" sz="2000" b="1" dirty="0">
                <a:solidFill>
                  <a:schemeClr val="tx2"/>
                </a:solidFill>
                <a:latin typeface="Arial" panose="020B0604020202020204" pitchFamily="34" charset="0"/>
                <a:ea typeface="宋体" panose="02010600030101010101" pitchFamily="2" charset="-122"/>
              </a:rPr>
              <a:t>算法分析</a:t>
            </a:r>
            <a:r>
              <a:rPr lang="en-US" altLang="zh-CN" sz="2000" b="1">
                <a:solidFill>
                  <a:schemeClr val="tx2"/>
                </a:solidFill>
                <a:latin typeface="Arial" panose="020B0604020202020204" pitchFamily="34" charset="0"/>
                <a:ea typeface="宋体" panose="02010600030101010101" pitchFamily="2" charset="-122"/>
              </a:rPr>
              <a:t>】</a:t>
            </a:r>
            <a:endParaRPr lang="en-US" altLang="zh-CN" sz="2000" b="1">
              <a:solidFill>
                <a:schemeClr val="tx2"/>
              </a:solidFill>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只要输出一条路径即可，所以是一个经典的回溯算法问题，本例给出了回溯（深搜）程序和广搜程序。实现见参考程序。</a:t>
            </a:r>
            <a:endParaRPr lang="zh-CN" altLang="en-US" sz="2000" dirty="0">
              <a:latin typeface="Arial" panose="020B0604020202020204" pitchFamily="34"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4"/>
          <p:cNvSpPr>
            <a:spLocks noGrp="1" noRot="1"/>
          </p:cNvSpPr>
          <p:nvPr>
            <p:ph idx="1"/>
          </p:nvPr>
        </p:nvSpPr>
        <p:spPr>
          <a:xfrm>
            <a:off x="0" y="0"/>
            <a:ext cx="9144000" cy="6858000"/>
          </a:xfrm>
          <a:ln/>
        </p:spPr>
        <p:txBody>
          <a:bodyPr wrap="square" lIns="91440" tIns="45720" rIns="91440" bIns="45720" anchor="t" anchorCtr="0"/>
          <a:p>
            <a:pPr eaLnBrk="1" hangingPunct="1">
              <a:lnSpc>
                <a:spcPct val="80000"/>
              </a:lnSpc>
            </a:pPr>
            <a:r>
              <a:rPr lang="en-US" altLang="zh-CN" sz="2000" b="1"/>
              <a:t>【</a:t>
            </a:r>
            <a:r>
              <a:rPr lang="zh-CN" altLang="en-US" sz="2000" b="1" dirty="0"/>
              <a:t>深搜参考程序</a:t>
            </a:r>
            <a:r>
              <a:rPr lang="en-US" altLang="zh-CN" sz="2000" b="1"/>
              <a:t>】</a:t>
            </a:r>
            <a:endParaRPr lang="en-US" altLang="zh-CN" sz="2000"/>
          </a:p>
          <a:p>
            <a:pPr eaLnBrk="1" hangingPunct="1">
              <a:lnSpc>
                <a:spcPct val="80000"/>
              </a:lnSpc>
            </a:pPr>
            <a:r>
              <a:rPr lang="en-US" altLang="zh-CN" sz="2000"/>
              <a:t>#include &lt;</a:t>
            </a:r>
            <a:r>
              <a:rPr lang="en-US" altLang="zh-CN" sz="2000" err="1"/>
              <a:t>iostream</a:t>
            </a:r>
            <a:r>
              <a:rPr lang="en-US" altLang="zh-CN" sz="2000"/>
              <a:t>&gt;</a:t>
            </a:r>
            <a:endParaRPr lang="en-US" altLang="zh-CN" sz="2000"/>
          </a:p>
          <a:p>
            <a:pPr eaLnBrk="1" hangingPunct="1">
              <a:lnSpc>
                <a:spcPct val="80000"/>
              </a:lnSpc>
            </a:pPr>
            <a:r>
              <a:rPr lang="en-US" altLang="zh-CN" sz="2000"/>
              <a:t>using namespace std;</a:t>
            </a:r>
            <a:endParaRPr lang="en-US" altLang="zh-CN" sz="2000"/>
          </a:p>
          <a:p>
            <a:pPr eaLnBrk="1" hangingPunct="1">
              <a:lnSpc>
                <a:spcPct val="80000"/>
              </a:lnSpc>
            </a:pPr>
            <a:r>
              <a:rPr lang="en-US" altLang="zh-CN" sz="2000" err="1"/>
              <a:t>int</a:t>
            </a:r>
            <a:r>
              <a:rPr lang="en-US" altLang="zh-CN" sz="2000"/>
              <a:t> n,m,desx,desy,soux,souy,totstep,a[51],b[51],map[51][51];</a:t>
            </a:r>
            <a:endParaRPr lang="en-US" altLang="zh-CN" sz="2000"/>
          </a:p>
          <a:p>
            <a:pPr eaLnBrk="1" hangingPunct="1">
              <a:lnSpc>
                <a:spcPct val="80000"/>
              </a:lnSpc>
            </a:pPr>
            <a:r>
              <a:rPr lang="en-US" altLang="zh-CN" sz="2000" err="1"/>
              <a:t>bool</a:t>
            </a:r>
            <a:r>
              <a:rPr lang="en-US" altLang="zh-CN" sz="2000"/>
              <a:t> f;</a:t>
            </a:r>
            <a:endParaRPr lang="en-US" altLang="zh-CN" sz="2000"/>
          </a:p>
          <a:p>
            <a:pPr eaLnBrk="1" hangingPunct="1">
              <a:lnSpc>
                <a:spcPct val="80000"/>
              </a:lnSpc>
            </a:pPr>
            <a:r>
              <a:rPr lang="en-US" altLang="zh-CN" sz="2000" err="1"/>
              <a:t>int</a:t>
            </a:r>
            <a:r>
              <a:rPr lang="en-US" altLang="zh-CN" sz="2000"/>
              <a:t> </a:t>
            </a:r>
            <a:r>
              <a:rPr lang="en-US" altLang="zh-CN" sz="2000" err="1"/>
              <a:t>move(int</a:t>
            </a:r>
            <a:r>
              <a:rPr lang="en-US" altLang="zh-CN" sz="2000"/>
              <a:t> x, </a:t>
            </a:r>
            <a:r>
              <a:rPr lang="en-US" altLang="zh-CN" sz="2000" err="1"/>
              <a:t>int</a:t>
            </a:r>
            <a:r>
              <a:rPr lang="en-US" altLang="zh-CN" sz="2000"/>
              <a:t> </a:t>
            </a:r>
            <a:r>
              <a:rPr lang="en-US" altLang="zh-CN" sz="2000" err="1"/>
              <a:t>y,int</a:t>
            </a:r>
            <a:r>
              <a:rPr lang="en-US" altLang="zh-CN" sz="2000"/>
              <a:t> step)</a:t>
            </a:r>
            <a:endParaRPr lang="en-US" altLang="zh-CN" sz="2000"/>
          </a:p>
          <a:p>
            <a:pPr eaLnBrk="1" hangingPunct="1">
              <a:lnSpc>
                <a:spcPct val="80000"/>
              </a:lnSpc>
            </a:pPr>
            <a:r>
              <a:rPr lang="en-US" altLang="zh-CN" sz="2000"/>
              <a:t>{</a:t>
            </a:r>
            <a:endParaRPr lang="en-US" altLang="zh-CN" sz="2000"/>
          </a:p>
          <a:p>
            <a:pPr eaLnBrk="1" hangingPunct="1">
              <a:lnSpc>
                <a:spcPct val="80000"/>
              </a:lnSpc>
            </a:pPr>
            <a:r>
              <a:rPr lang="en-US" altLang="zh-CN" sz="2000"/>
              <a:t>  </a:t>
            </a:r>
            <a:r>
              <a:rPr lang="en-US" altLang="zh-CN" sz="2000" err="1"/>
              <a:t>map[x][y</a:t>
            </a:r>
            <a:r>
              <a:rPr lang="en-US" altLang="zh-CN" sz="2000"/>
              <a:t>]=step;                              //</a:t>
            </a:r>
            <a:r>
              <a:rPr lang="zh-CN" altLang="en-US" sz="2000" dirty="0"/>
              <a:t>走一步，作标记，把步数记下来</a:t>
            </a:r>
            <a:endParaRPr lang="zh-CN" altLang="en-US" sz="2000" dirty="0"/>
          </a:p>
          <a:p>
            <a:pPr eaLnBrk="1" hangingPunct="1">
              <a:lnSpc>
                <a:spcPct val="80000"/>
              </a:lnSpc>
            </a:pPr>
            <a:r>
              <a:rPr lang="zh-CN" altLang="en-US" sz="2000" dirty="0"/>
              <a:t>  </a:t>
            </a:r>
            <a:r>
              <a:rPr lang="en-US" altLang="zh-CN" sz="2000" err="1"/>
              <a:t>a[step</a:t>
            </a:r>
            <a:r>
              <a:rPr lang="en-US" altLang="zh-CN" sz="2000"/>
              <a:t>]=x;  </a:t>
            </a:r>
            <a:r>
              <a:rPr lang="en-US" altLang="zh-CN" sz="2000" err="1"/>
              <a:t>b[step</a:t>
            </a:r>
            <a:r>
              <a:rPr lang="en-US" altLang="zh-CN" sz="2000"/>
              <a:t>]=y;                     //</a:t>
            </a:r>
            <a:r>
              <a:rPr lang="zh-CN" altLang="en-US" sz="2000" dirty="0"/>
              <a:t>记路径</a:t>
            </a:r>
            <a:endParaRPr lang="zh-CN" altLang="en-US" sz="2000" dirty="0"/>
          </a:p>
          <a:p>
            <a:pPr eaLnBrk="1" hangingPunct="1">
              <a:lnSpc>
                <a:spcPct val="80000"/>
              </a:lnSpc>
            </a:pPr>
            <a:r>
              <a:rPr lang="zh-CN" altLang="en-US" sz="2000" dirty="0"/>
              <a:t>  </a:t>
            </a:r>
            <a:r>
              <a:rPr lang="en-US" altLang="zh-CN" sz="2000"/>
              <a:t>if ((x==</a:t>
            </a:r>
            <a:r>
              <a:rPr lang="en-US" altLang="zh-CN" sz="2000" err="1"/>
              <a:t>desx)&amp;&amp;(y</a:t>
            </a:r>
            <a:r>
              <a:rPr lang="en-US" altLang="zh-CN" sz="2000"/>
              <a:t>==</a:t>
            </a:r>
            <a:r>
              <a:rPr lang="en-US" altLang="zh-CN" sz="2000" err="1"/>
              <a:t>desy</a:t>
            </a:r>
            <a:r>
              <a:rPr lang="en-US" altLang="zh-CN" sz="2000"/>
              <a:t>))</a:t>
            </a:r>
            <a:endParaRPr lang="en-US" altLang="zh-CN" sz="2000"/>
          </a:p>
          <a:p>
            <a:pPr eaLnBrk="1" hangingPunct="1">
              <a:lnSpc>
                <a:spcPct val="80000"/>
              </a:lnSpc>
            </a:pPr>
            <a:r>
              <a:rPr lang="en-US" altLang="zh-CN" sz="2000"/>
              <a:t>  {</a:t>
            </a:r>
            <a:endParaRPr lang="en-US" altLang="zh-CN" sz="2000"/>
          </a:p>
          <a:p>
            <a:pPr eaLnBrk="1" hangingPunct="1">
              <a:lnSpc>
                <a:spcPct val="80000"/>
              </a:lnSpc>
            </a:pPr>
            <a:r>
              <a:rPr lang="en-US" altLang="zh-CN" sz="2000"/>
              <a:t>   f=1;</a:t>
            </a:r>
            <a:endParaRPr lang="en-US" altLang="zh-CN" sz="2000"/>
          </a:p>
          <a:p>
            <a:pPr eaLnBrk="1" hangingPunct="1">
              <a:lnSpc>
                <a:spcPct val="80000"/>
              </a:lnSpc>
            </a:pPr>
            <a:r>
              <a:rPr lang="en-US" altLang="zh-CN" sz="2000"/>
              <a:t>   </a:t>
            </a:r>
            <a:r>
              <a:rPr lang="en-US" altLang="zh-CN" sz="2000" err="1"/>
              <a:t>totstep</a:t>
            </a:r>
            <a:r>
              <a:rPr lang="en-US" altLang="zh-CN" sz="2000"/>
              <a:t>=step;</a:t>
            </a:r>
            <a:endParaRPr lang="en-US" altLang="zh-CN" sz="2000"/>
          </a:p>
          <a:p>
            <a:pPr eaLnBrk="1" hangingPunct="1">
              <a:lnSpc>
                <a:spcPct val="80000"/>
              </a:lnSpc>
            </a:pPr>
            <a:r>
              <a:rPr lang="en-US" altLang="zh-CN" sz="2000"/>
              <a:t>  } </a:t>
            </a:r>
            <a:endParaRPr lang="en-US" altLang="zh-CN" sz="2000"/>
          </a:p>
          <a:p>
            <a:pPr eaLnBrk="1" hangingPunct="1">
              <a:lnSpc>
                <a:spcPct val="80000"/>
              </a:lnSpc>
            </a:pPr>
            <a:r>
              <a:rPr lang="en-US" altLang="zh-CN" sz="2000"/>
              <a:t>   else</a:t>
            </a:r>
            <a:endParaRPr lang="en-US" altLang="zh-CN" sz="2000"/>
          </a:p>
          <a:p>
            <a:pPr eaLnBrk="1" hangingPunct="1">
              <a:lnSpc>
                <a:spcPct val="80000"/>
              </a:lnSpc>
            </a:pPr>
            <a:r>
              <a:rPr lang="en-US" altLang="zh-CN" sz="2000"/>
              <a:t>   {</a:t>
            </a:r>
            <a:endParaRPr lang="en-US" altLang="zh-CN" sz="2000"/>
          </a:p>
          <a:p>
            <a:pPr eaLnBrk="1" hangingPunct="1">
              <a:lnSpc>
                <a:spcPct val="80000"/>
              </a:lnSpc>
            </a:pPr>
            <a:r>
              <a:rPr lang="en-US" altLang="zh-CN" sz="2000"/>
              <a:t>     if ((y!=m)&amp;&amp;(map[x][y+1]==0))  move(x,y+1,step+1);         //</a:t>
            </a:r>
            <a:r>
              <a:rPr lang="zh-CN" altLang="en-US" sz="2000" dirty="0"/>
              <a:t>向右</a:t>
            </a:r>
            <a:endParaRPr lang="zh-CN" altLang="en-US" sz="2000" dirty="0"/>
          </a:p>
          <a:p>
            <a:pPr eaLnBrk="1" hangingPunct="1">
              <a:lnSpc>
                <a:spcPct val="80000"/>
              </a:lnSpc>
            </a:pPr>
            <a:r>
              <a:rPr lang="zh-CN" altLang="en-US" sz="2000" dirty="0"/>
              <a:t>     </a:t>
            </a:r>
            <a:r>
              <a:rPr lang="en-US" altLang="zh-CN" sz="2000"/>
              <a:t>if ((!</a:t>
            </a:r>
            <a:r>
              <a:rPr lang="en-US" altLang="zh-CN" sz="2000" err="1"/>
              <a:t>f)&amp;&amp;(x</a:t>
            </a:r>
            <a:r>
              <a:rPr lang="en-US" altLang="zh-CN" sz="2000"/>
              <a:t>!=n)&amp;&amp;(map[x+1][y]==0))  move(x+1,y,step+1); //</a:t>
            </a:r>
            <a:r>
              <a:rPr lang="zh-CN" altLang="en-US" sz="2000" dirty="0"/>
              <a:t>往下</a:t>
            </a:r>
            <a:endParaRPr lang="zh-CN" altLang="en-US" sz="2000" dirty="0"/>
          </a:p>
          <a:p>
            <a:pPr eaLnBrk="1" hangingPunct="1">
              <a:lnSpc>
                <a:spcPct val="80000"/>
              </a:lnSpc>
            </a:pPr>
            <a:r>
              <a:rPr lang="zh-CN" altLang="en-US" sz="2000" dirty="0"/>
              <a:t>     </a:t>
            </a:r>
            <a:r>
              <a:rPr lang="en-US" altLang="zh-CN" sz="2000"/>
              <a:t>if ((!</a:t>
            </a:r>
            <a:r>
              <a:rPr lang="en-US" altLang="zh-CN" sz="2000" err="1"/>
              <a:t>f)&amp;&amp;(y</a:t>
            </a:r>
            <a:r>
              <a:rPr lang="en-US" altLang="zh-CN" sz="2000"/>
              <a:t>!=1)&amp;&amp;(map[x][y-1]==0))  move(x,y-1,step+1);   //</a:t>
            </a:r>
            <a:r>
              <a:rPr lang="zh-CN" altLang="en-US" sz="2000" dirty="0"/>
              <a:t>往左</a:t>
            </a:r>
            <a:endParaRPr lang="zh-CN" altLang="en-US" sz="2000" dirty="0"/>
          </a:p>
          <a:p>
            <a:pPr eaLnBrk="1" hangingPunct="1">
              <a:lnSpc>
                <a:spcPct val="80000"/>
              </a:lnSpc>
            </a:pPr>
            <a:r>
              <a:rPr lang="zh-CN" altLang="en-US" sz="2000" dirty="0"/>
              <a:t>     </a:t>
            </a:r>
            <a:r>
              <a:rPr lang="en-US" altLang="zh-CN" sz="2000"/>
              <a:t>if ((!</a:t>
            </a:r>
            <a:r>
              <a:rPr lang="en-US" altLang="zh-CN" sz="2000" err="1"/>
              <a:t>f)&amp;&amp;(x</a:t>
            </a:r>
            <a:r>
              <a:rPr lang="en-US" altLang="zh-CN" sz="2000"/>
              <a:t>!=1)&amp;&amp;(map[x-1][y]==0))  move(x-1,y,step+1);   //</a:t>
            </a:r>
            <a:r>
              <a:rPr lang="zh-CN" altLang="en-US" sz="2000" dirty="0"/>
              <a:t>往上</a:t>
            </a:r>
            <a:endParaRPr lang="zh-CN" altLang="en-US" sz="2000" dirty="0"/>
          </a:p>
          <a:p>
            <a:pPr eaLnBrk="1" hangingPunct="1">
              <a:lnSpc>
                <a:spcPct val="80000"/>
              </a:lnSpc>
            </a:pPr>
            <a:r>
              <a:rPr lang="zh-CN" altLang="en-US" sz="2000" dirty="0"/>
              <a:t>   </a:t>
            </a:r>
            <a:r>
              <a:rPr lang="en-US" altLang="zh-CN" sz="2000"/>
              <a:t>}</a:t>
            </a:r>
            <a:endParaRPr lang="en-US" altLang="zh-CN" sz="2000"/>
          </a:p>
          <a:p>
            <a:pPr eaLnBrk="1" hangingPunct="1">
              <a:lnSpc>
                <a:spcPct val="80000"/>
              </a:lnSpc>
            </a:pPr>
            <a:r>
              <a:rPr lang="en-US" altLang="zh-CN" sz="2000"/>
              <a:t>}</a:t>
            </a:r>
            <a:endParaRPr lang="en-US" altLang="zh-CN"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3"/>
          <p:cNvSpPr/>
          <p:nvPr/>
        </p:nvSpPr>
        <p:spPr>
          <a:xfrm>
            <a:off x="228600" y="136525"/>
            <a:ext cx="8382000" cy="5859463"/>
          </a:xfrm>
          <a:prstGeom prst="rect">
            <a:avLst/>
          </a:prstGeom>
          <a:noFill/>
          <a:ln w="9525">
            <a:noFill/>
          </a:ln>
        </p:spPr>
        <p:txBody>
          <a:bodyPr anchor="t" anchorCtr="0">
            <a:spAutoFit/>
          </a:bodyPr>
          <a:p>
            <a:r>
              <a:rPr lang="en-US" altLang="zh-CN" err="1">
                <a:latin typeface="Arial" panose="020B0604020202020204" pitchFamily="34" charset="0"/>
                <a:ea typeface="宋体" panose="02010600030101010101" pitchFamily="2" charset="-122"/>
              </a:rPr>
              <a:t>int</a:t>
            </a:r>
            <a:r>
              <a:rPr lang="en-US" altLang="zh-CN">
                <a:latin typeface="Arial" panose="020B0604020202020204" pitchFamily="34" charset="0"/>
                <a:ea typeface="宋体" panose="02010600030101010101" pitchFamily="2" charset="-122"/>
              </a:rPr>
              <a:t> main()</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int</a:t>
            </a:r>
            <a:r>
              <a:rPr lang="en-US" altLang="zh-CN">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i,j</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cin</a:t>
            </a:r>
            <a:r>
              <a:rPr lang="en-US" altLang="zh-CN">
                <a:latin typeface="Arial" panose="020B0604020202020204" pitchFamily="34" charset="0"/>
                <a:ea typeface="宋体" panose="02010600030101010101" pitchFamily="2" charset="-122"/>
              </a:rPr>
              <a:t>&gt;&gt;n&gt;&gt;m;                                   //n</a:t>
            </a:r>
            <a:r>
              <a:rPr lang="zh-CN" altLang="en-US" dirty="0">
                <a:latin typeface="Arial" panose="020B0604020202020204" pitchFamily="34" charset="0"/>
                <a:ea typeface="宋体" panose="02010600030101010101" pitchFamily="2" charset="-122"/>
              </a:rPr>
              <a:t>行</a:t>
            </a:r>
            <a:r>
              <a:rPr lang="en-US" altLang="zh-CN">
                <a:latin typeface="Arial" panose="020B0604020202020204" pitchFamily="34" charset="0"/>
                <a:ea typeface="宋体" panose="02010600030101010101" pitchFamily="2" charset="-122"/>
              </a:rPr>
              <a:t>m</a:t>
            </a:r>
            <a:r>
              <a:rPr lang="zh-CN" altLang="en-US" dirty="0">
                <a:latin typeface="Arial" panose="020B0604020202020204" pitchFamily="34" charset="0"/>
                <a:ea typeface="宋体" panose="02010600030101010101" pitchFamily="2" charset="-122"/>
              </a:rPr>
              <a:t>列的迷宫</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for (i=1;i&lt;=</a:t>
            </a:r>
            <a:r>
              <a:rPr lang="en-US" altLang="zh-CN" err="1">
                <a:latin typeface="Arial" panose="020B0604020202020204" pitchFamily="34" charset="0"/>
                <a:ea typeface="宋体" panose="02010600030101010101" pitchFamily="2" charset="-122"/>
              </a:rPr>
              <a:t>n;i</a:t>
            </a:r>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读入迷宫，</a:t>
            </a:r>
            <a:r>
              <a:rPr lang="en-US" altLang="zh-CN">
                <a:latin typeface="Arial" panose="020B0604020202020204" pitchFamily="34" charset="0"/>
                <a:ea typeface="宋体" panose="02010600030101010101" pitchFamily="2" charset="-122"/>
              </a:rPr>
              <a:t>0</a:t>
            </a:r>
            <a:r>
              <a:rPr lang="zh-CN" altLang="en-US" dirty="0">
                <a:latin typeface="Arial" panose="020B0604020202020204" pitchFamily="34" charset="0"/>
                <a:ea typeface="宋体" panose="02010600030101010101" pitchFamily="2" charset="-122"/>
              </a:rPr>
              <a:t>表示通，</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表示不通</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da-DK" altLang="zh-CN" dirty="0">
                <a:latin typeface="Arial" panose="020B0604020202020204" pitchFamily="34" charset="0"/>
                <a:ea typeface="宋体" panose="02010600030101010101" pitchFamily="2" charset="-122"/>
              </a:rPr>
              <a:t>for (j=1;j&lt;=m;j++)</a:t>
            </a:r>
            <a:endParaRPr lang="da-DK" altLang="zh-CN" dirty="0">
              <a:latin typeface="Arial" panose="020B0604020202020204" pitchFamily="34" charset="0"/>
              <a:ea typeface="宋体" panose="02010600030101010101" pitchFamily="2" charset="-122"/>
            </a:endParaRPr>
          </a:p>
          <a:p>
            <a:r>
              <a:rPr lang="da-DK" altLang="zh-CN" dirty="0">
                <a:latin typeface="Arial" panose="020B0604020202020204" pitchFamily="34" charset="0"/>
                <a:ea typeface="宋体" panose="02010600030101010101" pitchFamily="2" charset="-122"/>
              </a:rPr>
              <a:t>    cin&gt;&gt;map[i][j];</a:t>
            </a:r>
            <a:endParaRPr lang="da-DK" altLang="zh-CN" dirty="0">
              <a:latin typeface="Arial" panose="020B0604020202020204" pitchFamily="34" charset="0"/>
              <a:ea typeface="宋体" panose="02010600030101010101" pitchFamily="2" charset="-122"/>
            </a:endParaRPr>
          </a:p>
          <a:p>
            <a:r>
              <a:rPr lang="da-DK" altLang="zh-CN" dirty="0">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cout</a:t>
            </a:r>
            <a:r>
              <a:rPr lang="en-US" altLang="zh-CN">
                <a:latin typeface="Arial" panose="020B0604020202020204" pitchFamily="34" charset="0"/>
                <a:ea typeface="宋体" panose="02010600030101010101" pitchFamily="2" charset="-122"/>
              </a:rPr>
              <a:t>&lt;&lt;"input the enter:";</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cin</a:t>
            </a:r>
            <a:r>
              <a:rPr lang="en-US" altLang="zh-CN">
                <a:latin typeface="Arial" panose="020B0604020202020204" pitchFamily="34" charset="0"/>
                <a:ea typeface="宋体" panose="02010600030101010101" pitchFamily="2" charset="-122"/>
              </a:rPr>
              <a:t>&gt;&gt;</a:t>
            </a:r>
            <a:r>
              <a:rPr lang="en-US" altLang="zh-CN" err="1">
                <a:latin typeface="Arial" panose="020B0604020202020204" pitchFamily="34" charset="0"/>
                <a:ea typeface="宋体" panose="02010600030101010101" pitchFamily="2" charset="-122"/>
              </a:rPr>
              <a:t>soux</a:t>
            </a:r>
            <a:r>
              <a:rPr lang="en-US" altLang="zh-CN">
                <a:latin typeface="Arial" panose="020B0604020202020204" pitchFamily="34" charset="0"/>
                <a:ea typeface="宋体" panose="02010600030101010101" pitchFamily="2" charset="-122"/>
              </a:rPr>
              <a:t>&gt;&gt;</a:t>
            </a:r>
            <a:r>
              <a:rPr lang="en-US" altLang="zh-CN" err="1">
                <a:latin typeface="Arial" panose="020B0604020202020204" pitchFamily="34" charset="0"/>
                <a:ea typeface="宋体" panose="02010600030101010101" pitchFamily="2" charset="-122"/>
              </a:rPr>
              <a:t>souy</a:t>
            </a:r>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入口</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cout</a:t>
            </a:r>
            <a:r>
              <a:rPr lang="en-US" altLang="zh-CN">
                <a:latin typeface="Arial" panose="020B0604020202020204" pitchFamily="34" charset="0"/>
                <a:ea typeface="宋体" panose="02010600030101010101" pitchFamily="2" charset="-122"/>
              </a:rPr>
              <a:t>&lt;&lt;"input the exit:";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cin</a:t>
            </a:r>
            <a:r>
              <a:rPr lang="en-US" altLang="zh-CN">
                <a:latin typeface="Arial" panose="020B0604020202020204" pitchFamily="34" charset="0"/>
                <a:ea typeface="宋体" panose="02010600030101010101" pitchFamily="2" charset="-122"/>
              </a:rPr>
              <a:t>&gt;&gt;</a:t>
            </a:r>
            <a:r>
              <a:rPr lang="en-US" altLang="zh-CN" err="1">
                <a:latin typeface="Arial" panose="020B0604020202020204" pitchFamily="34" charset="0"/>
                <a:ea typeface="宋体" panose="02010600030101010101" pitchFamily="2" charset="-122"/>
              </a:rPr>
              <a:t>desx</a:t>
            </a:r>
            <a:r>
              <a:rPr lang="en-US" altLang="zh-CN">
                <a:latin typeface="Arial" panose="020B0604020202020204" pitchFamily="34" charset="0"/>
                <a:ea typeface="宋体" panose="02010600030101010101" pitchFamily="2" charset="-122"/>
              </a:rPr>
              <a:t>&gt;&gt;</a:t>
            </a:r>
            <a:r>
              <a:rPr lang="en-US" altLang="zh-CN" err="1">
                <a:latin typeface="Arial" panose="020B0604020202020204" pitchFamily="34" charset="0"/>
                <a:ea typeface="宋体" panose="02010600030101010101" pitchFamily="2" charset="-122"/>
              </a:rPr>
              <a:t>desy</a:t>
            </a:r>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出口</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f=0;                                               //f=0</a:t>
            </a:r>
            <a:r>
              <a:rPr lang="zh-CN" altLang="en-US" dirty="0">
                <a:latin typeface="Arial" panose="020B0604020202020204" pitchFamily="34" charset="0"/>
                <a:ea typeface="宋体" panose="02010600030101010101" pitchFamily="2" charset="-122"/>
              </a:rPr>
              <a:t>表示无解；</a:t>
            </a:r>
            <a:r>
              <a:rPr lang="en-US" altLang="zh-CN">
                <a:latin typeface="Arial" panose="020B0604020202020204" pitchFamily="34" charset="0"/>
                <a:ea typeface="宋体" panose="02010600030101010101" pitchFamily="2" charset="-122"/>
              </a:rPr>
              <a:t>f=1</a:t>
            </a:r>
            <a:r>
              <a:rPr lang="zh-CN" altLang="en-US" dirty="0">
                <a:latin typeface="Arial" panose="020B0604020202020204" pitchFamily="34" charset="0"/>
                <a:ea typeface="宋体" panose="02010600030101010101" pitchFamily="2" charset="-122"/>
              </a:rPr>
              <a:t>表示找到了一个解</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move(soux,souy,1);</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if (f)</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for (i=1;i&lt;=</a:t>
            </a:r>
            <a:r>
              <a:rPr lang="en-US" altLang="zh-CN" err="1">
                <a:latin typeface="Arial" panose="020B0604020202020204" pitchFamily="34" charset="0"/>
                <a:ea typeface="宋体" panose="02010600030101010101" pitchFamily="2" charset="-122"/>
              </a:rPr>
              <a:t>totstep;i</a:t>
            </a:r>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输出直迷宫的路径</a:t>
            </a:r>
            <a:endParaRPr lang="zh-CN" altLang="en-US"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     </a:t>
            </a:r>
            <a:r>
              <a:rPr lang="en-US" altLang="zh-CN" err="1">
                <a:latin typeface="Arial" panose="020B0604020202020204" pitchFamily="34" charset="0"/>
                <a:ea typeface="宋体" panose="02010600030101010101" pitchFamily="2" charset="-122"/>
              </a:rPr>
              <a:t>cout</a:t>
            </a:r>
            <a:r>
              <a:rPr lang="en-US" altLang="zh-CN">
                <a:latin typeface="Arial" panose="020B0604020202020204" pitchFamily="34" charset="0"/>
                <a:ea typeface="宋体" panose="02010600030101010101" pitchFamily="2" charset="-122"/>
              </a:rPr>
              <a:t>&lt;&lt;</a:t>
            </a:r>
            <a:r>
              <a:rPr lang="en-US" altLang="zh-CN" err="1">
                <a:latin typeface="Arial" panose="020B0604020202020204" pitchFamily="34" charset="0"/>
                <a:ea typeface="宋体" panose="02010600030101010101" pitchFamily="2" charset="-122"/>
              </a:rPr>
              <a:t>a[i</a:t>
            </a:r>
            <a:r>
              <a:rPr lang="en-US" altLang="zh-CN">
                <a:latin typeface="Arial" panose="020B0604020202020204" pitchFamily="34" charset="0"/>
                <a:ea typeface="宋体" panose="02010600030101010101" pitchFamily="2" charset="-122"/>
              </a:rPr>
              <a:t>]&lt;&lt;","&lt;&lt;</a:t>
            </a:r>
            <a:r>
              <a:rPr lang="en-US" altLang="zh-CN" err="1">
                <a:latin typeface="Arial" panose="020B0604020202020204" pitchFamily="34" charset="0"/>
                <a:ea typeface="宋体" panose="02010600030101010101" pitchFamily="2" charset="-122"/>
              </a:rPr>
              <a:t>b[i</a:t>
            </a:r>
            <a:r>
              <a:rPr lang="en-US" altLang="zh-CN">
                <a:latin typeface="Arial" panose="020B0604020202020204" pitchFamily="34" charset="0"/>
                <a:ea typeface="宋体" panose="02010600030101010101" pitchFamily="2" charset="-122"/>
              </a:rPr>
              <a:t>]&lt;&lt;</a:t>
            </a:r>
            <a:r>
              <a:rPr lang="en-US" altLang="zh-CN" err="1">
                <a:latin typeface="Arial" panose="020B0604020202020204" pitchFamily="34" charset="0"/>
                <a:ea typeface="宋体" panose="02010600030101010101" pitchFamily="2" charset="-122"/>
              </a:rPr>
              <a:t>endl</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else  </a:t>
            </a:r>
            <a:r>
              <a:rPr lang="en-US" altLang="zh-CN" err="1">
                <a:latin typeface="Arial" panose="020B0604020202020204" pitchFamily="34" charset="0"/>
                <a:ea typeface="宋体" panose="02010600030101010101" pitchFamily="2" charset="-122"/>
              </a:rPr>
              <a:t>cout</a:t>
            </a:r>
            <a:r>
              <a:rPr lang="en-US" altLang="zh-CN">
                <a:latin typeface="Arial" panose="020B0604020202020204" pitchFamily="34" charset="0"/>
                <a:ea typeface="宋体" panose="02010600030101010101" pitchFamily="2" charset="-122"/>
              </a:rPr>
              <a:t>&lt;&lt;"no way."&lt;&lt;</a:t>
            </a:r>
            <a:r>
              <a:rPr lang="en-US" altLang="zh-CN" err="1">
                <a:latin typeface="Arial" panose="020B0604020202020204" pitchFamily="34" charset="0"/>
                <a:ea typeface="宋体" panose="02010600030101010101" pitchFamily="2" charset="-122"/>
              </a:rPr>
              <a:t>endl</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return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ext Box 2"/>
          <p:cNvSpPr txBox="1"/>
          <p:nvPr/>
        </p:nvSpPr>
        <p:spPr>
          <a:xfrm>
            <a:off x="0" y="0"/>
            <a:ext cx="9144000" cy="6958013"/>
          </a:xfrm>
          <a:prstGeom prst="rect">
            <a:avLst/>
          </a:prstGeom>
          <a:noFill/>
          <a:ln w="9525">
            <a:noFill/>
          </a:ln>
        </p:spPr>
        <p:txBody>
          <a:bodyPr anchor="t" anchorCtr="0">
            <a:spAutoFit/>
          </a:bodyPr>
          <a:p>
            <a:r>
              <a:rPr lang="en-US" altLang="zh-CN" b="1">
                <a:latin typeface="Arial" panose="020B0604020202020204" pitchFamily="34" charset="0"/>
                <a:ea typeface="宋体" panose="02010600030101010101" pitchFamily="2" charset="-122"/>
              </a:rPr>
              <a:t>【</a:t>
            </a:r>
            <a:r>
              <a:rPr lang="zh-CN" altLang="en-US" b="1" dirty="0">
                <a:latin typeface="Arial" panose="020B0604020202020204" pitchFamily="34" charset="0"/>
                <a:ea typeface="宋体" panose="02010600030101010101" pitchFamily="2" charset="-122"/>
              </a:rPr>
              <a:t>广搜参考程序</a:t>
            </a:r>
            <a:r>
              <a:rPr lang="en-US" altLang="zh-CN" b="1">
                <a:latin typeface="Arial" panose="020B0604020202020204" pitchFamily="34" charset="0"/>
                <a:ea typeface="宋体" panose="02010600030101010101" pitchFamily="2" charset="-122"/>
              </a:rPr>
              <a: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#include &lt;</a:t>
            </a:r>
            <a:r>
              <a:rPr lang="en-US" altLang="zh-CN" b="1" err="1">
                <a:latin typeface="Arial" panose="020B0604020202020204" pitchFamily="34" charset="0"/>
                <a:ea typeface="宋体" panose="02010600030101010101" pitchFamily="2" charset="-122"/>
              </a:rPr>
              <a:t>iostream</a:t>
            </a:r>
            <a:r>
              <a:rPr lang="en-US" altLang="zh-CN" b="1">
                <a:latin typeface="Arial" panose="020B0604020202020204" pitchFamily="34" charset="0"/>
                <a:ea typeface="宋体" panose="02010600030101010101" pitchFamily="2" charset="-122"/>
              </a:rPr>
              <a:t>&gt;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using namespace std;</a:t>
            </a:r>
            <a:endParaRPr lang="en-US" altLang="zh-CN" b="1">
              <a:latin typeface="Arial" panose="020B0604020202020204" pitchFamily="34" charset="0"/>
              <a:ea typeface="宋体" panose="02010600030101010101" pitchFamily="2" charset="-122"/>
            </a:endParaRPr>
          </a:p>
          <a:p>
            <a:r>
              <a:rPr lang="en-US" altLang="zh-CN" b="1" err="1">
                <a:latin typeface="Arial" panose="020B0604020202020204" pitchFamily="34" charset="0"/>
                <a:ea typeface="宋体" panose="02010600030101010101" pitchFamily="2" charset="-122"/>
              </a:rPr>
              <a:t>int</a:t>
            </a:r>
            <a:r>
              <a:rPr lang="en-US" altLang="zh-CN" b="1">
                <a:latin typeface="Arial" panose="020B0604020202020204" pitchFamily="34" charset="0"/>
                <a:ea typeface="宋体" panose="02010600030101010101" pitchFamily="2" charset="-122"/>
              </a:rPr>
              <a:t> u[5]={0,0,1,0,-1},</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w[5]={0,1,0,-1,0};</a:t>
            </a:r>
            <a:endParaRPr lang="en-US" altLang="zh-CN" b="1">
              <a:latin typeface="Arial" panose="020B0604020202020204" pitchFamily="34" charset="0"/>
              <a:ea typeface="宋体" panose="02010600030101010101" pitchFamily="2" charset="-122"/>
            </a:endParaRPr>
          </a:p>
          <a:p>
            <a:r>
              <a:rPr lang="en-US" altLang="zh-CN" b="1" err="1">
                <a:latin typeface="Arial" panose="020B0604020202020204" pitchFamily="34" charset="0"/>
                <a:ea typeface="宋体" panose="02010600030101010101" pitchFamily="2" charset="-122"/>
              </a:rPr>
              <a:t>int</a:t>
            </a:r>
            <a:r>
              <a:rPr lang="en-US" altLang="zh-CN" b="1">
                <a:latin typeface="Arial" panose="020B0604020202020204" pitchFamily="34" charset="0"/>
                <a:ea typeface="宋体" panose="02010600030101010101" pitchFamily="2" charset="-122"/>
              </a:rPr>
              <a:t> n,m,i,j,desx,desy,soux,souy,head,tail,x,y,a[51],b[51],pre[51],map[51][51];</a:t>
            </a:r>
            <a:endParaRPr lang="en-US" altLang="zh-CN" b="1">
              <a:latin typeface="Arial" panose="020B0604020202020204" pitchFamily="34" charset="0"/>
              <a:ea typeface="宋体" panose="02010600030101010101" pitchFamily="2" charset="-122"/>
            </a:endParaRPr>
          </a:p>
          <a:p>
            <a:r>
              <a:rPr lang="en-US" altLang="zh-CN" b="1" err="1">
                <a:latin typeface="Arial" panose="020B0604020202020204" pitchFamily="34" charset="0"/>
                <a:ea typeface="宋体" panose="02010600030101010101" pitchFamily="2" charset="-122"/>
              </a:rPr>
              <a:t>bool</a:t>
            </a:r>
            <a:r>
              <a:rPr lang="en-US" altLang="zh-CN" b="1">
                <a:latin typeface="Arial" panose="020B0604020202020204" pitchFamily="34" charset="0"/>
                <a:ea typeface="宋体" panose="02010600030101010101" pitchFamily="2" charset="-122"/>
              </a:rPr>
              <a:t> f;</a:t>
            </a:r>
            <a:endParaRPr lang="en-US" altLang="zh-CN" b="1">
              <a:latin typeface="Arial" panose="020B0604020202020204" pitchFamily="34" charset="0"/>
              <a:ea typeface="宋体" panose="02010600030101010101" pitchFamily="2" charset="-122"/>
            </a:endParaRPr>
          </a:p>
          <a:p>
            <a:r>
              <a:rPr lang="en-US" altLang="zh-CN" b="1" err="1">
                <a:latin typeface="Arial" panose="020B0604020202020204" pitchFamily="34" charset="0"/>
                <a:ea typeface="宋体" panose="02010600030101010101" pitchFamily="2" charset="-122"/>
              </a:rPr>
              <a:t>int</a:t>
            </a:r>
            <a:r>
              <a:rPr lang="en-US" altLang="zh-CN" b="1">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print(int</a:t>
            </a:r>
            <a:r>
              <a:rPr lang="en-US" altLang="zh-CN" b="1">
                <a:latin typeface="Arial" panose="020B0604020202020204" pitchFamily="34" charset="0"/>
                <a:ea typeface="宋体" panose="02010600030101010101" pitchFamily="2" charset="-122"/>
              </a:rPr>
              <a:t> d)</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if (</a:t>
            </a:r>
            <a:r>
              <a:rPr lang="en-US" altLang="zh-CN" b="1" err="1">
                <a:latin typeface="Arial" panose="020B0604020202020204" pitchFamily="34" charset="0"/>
                <a:ea typeface="宋体" panose="02010600030101010101" pitchFamily="2" charset="-122"/>
              </a:rPr>
              <a:t>pre[d</a:t>
            </a:r>
            <a:r>
              <a:rPr lang="en-US" altLang="zh-CN" b="1">
                <a:latin typeface="Arial" panose="020B0604020202020204" pitchFamily="34" charset="0"/>
                <a:ea typeface="宋体" panose="02010600030101010101" pitchFamily="2" charset="-122"/>
              </a:rPr>
              <a:t>]!=0) print (</a:t>
            </a:r>
            <a:r>
              <a:rPr lang="en-US" altLang="zh-CN" b="1" err="1">
                <a:latin typeface="Arial" panose="020B0604020202020204" pitchFamily="34" charset="0"/>
                <a:ea typeface="宋体" panose="02010600030101010101" pitchFamily="2" charset="-122"/>
              </a:rPr>
              <a:t>pre[d</a:t>
            </a:r>
            <a:r>
              <a:rPr lang="en-US" altLang="zh-CN" b="1">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递归输出路径</a:t>
            </a:r>
            <a:endParaRPr lang="zh-CN" altLang="en-US"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cout</a:t>
            </a:r>
            <a:r>
              <a:rPr lang="en-US" altLang="zh-CN" b="1">
                <a:latin typeface="Arial" panose="020B0604020202020204" pitchFamily="34" charset="0"/>
                <a:ea typeface="宋体" panose="02010600030101010101" pitchFamily="2" charset="-122"/>
              </a:rPr>
              <a:t>&lt;&lt;</a:t>
            </a:r>
            <a:r>
              <a:rPr lang="en-US" altLang="zh-CN" b="1" err="1">
                <a:latin typeface="Arial" panose="020B0604020202020204" pitchFamily="34" charset="0"/>
                <a:ea typeface="宋体" panose="02010600030101010101" pitchFamily="2" charset="-122"/>
              </a:rPr>
              <a:t>a[d</a:t>
            </a:r>
            <a:r>
              <a:rPr lang="en-US" altLang="zh-CN" b="1">
                <a:latin typeface="Arial" panose="020B0604020202020204" pitchFamily="34" charset="0"/>
                <a:ea typeface="宋体" panose="02010600030101010101" pitchFamily="2" charset="-122"/>
              </a:rPr>
              <a:t>]&lt;&lt;","&lt;&lt;</a:t>
            </a:r>
            <a:r>
              <a:rPr lang="en-US" altLang="zh-CN" b="1" err="1">
                <a:latin typeface="Arial" panose="020B0604020202020204" pitchFamily="34" charset="0"/>
                <a:ea typeface="宋体" panose="02010600030101010101" pitchFamily="2" charset="-122"/>
              </a:rPr>
              <a:t>b[d</a:t>
            </a:r>
            <a:r>
              <a:rPr lang="en-US" altLang="zh-CN" b="1">
                <a:latin typeface="Arial" panose="020B0604020202020204" pitchFamily="34" charset="0"/>
                <a:ea typeface="宋体" panose="02010600030101010101" pitchFamily="2" charset="-122"/>
              </a:rPr>
              <a:t>]&lt;&lt;</a:t>
            </a:r>
            <a:r>
              <a:rPr lang="en-US" altLang="zh-CN" b="1" err="1">
                <a:latin typeface="Arial" panose="020B0604020202020204" pitchFamily="34" charset="0"/>
                <a:ea typeface="宋体" panose="02010600030101010101" pitchFamily="2" charset="-122"/>
              </a:rPr>
              <a:t>endl</a:t>
            </a:r>
            <a:r>
              <a:rPr lang="en-US" altLang="zh-CN" b="1">
                <a:latin typeface="Arial" panose="020B0604020202020204" pitchFamily="34" charset="0"/>
                <a:ea typeface="宋体" panose="02010600030101010101" pitchFamily="2" charset="-122"/>
              </a:rPr>
              <a: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a:t>
            </a:r>
            <a:endParaRPr lang="en-US" altLang="zh-CN" b="1">
              <a:latin typeface="Arial" panose="020B0604020202020204" pitchFamily="34" charset="0"/>
              <a:ea typeface="宋体" panose="02010600030101010101" pitchFamily="2" charset="-122"/>
            </a:endParaRPr>
          </a:p>
          <a:p>
            <a:r>
              <a:rPr lang="en-US" altLang="zh-CN" b="1" err="1">
                <a:latin typeface="Arial" panose="020B0604020202020204" pitchFamily="34" charset="0"/>
                <a:ea typeface="宋体" panose="02010600030101010101" pitchFamily="2" charset="-122"/>
              </a:rPr>
              <a:t>int</a:t>
            </a:r>
            <a:r>
              <a:rPr lang="en-US" altLang="zh-CN" b="1">
                <a:latin typeface="Arial" panose="020B0604020202020204" pitchFamily="34" charset="0"/>
                <a:ea typeface="宋体" panose="02010600030101010101" pitchFamily="2" charset="-122"/>
              </a:rPr>
              <a:t> main()</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int</a:t>
            </a:r>
            <a:r>
              <a:rPr lang="en-US" altLang="zh-CN" b="1">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i,j</a:t>
            </a:r>
            <a:r>
              <a:rPr lang="en-US" altLang="zh-CN" b="1">
                <a:latin typeface="Arial" panose="020B0604020202020204" pitchFamily="34" charset="0"/>
                <a:ea typeface="宋体" panose="02010600030101010101" pitchFamily="2" charset="-122"/>
              </a:rPr>
              <a: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cin</a:t>
            </a:r>
            <a:r>
              <a:rPr lang="en-US" altLang="zh-CN" b="1">
                <a:latin typeface="Arial" panose="020B0604020202020204" pitchFamily="34" charset="0"/>
                <a:ea typeface="宋体" panose="02010600030101010101" pitchFamily="2" charset="-122"/>
              </a:rPr>
              <a:t>&gt;&gt;n&gt;&gt;m;                                       //n</a:t>
            </a:r>
            <a:r>
              <a:rPr lang="zh-CN" altLang="en-US" b="1" dirty="0">
                <a:latin typeface="Arial" panose="020B0604020202020204" pitchFamily="34" charset="0"/>
                <a:ea typeface="宋体" panose="02010600030101010101" pitchFamily="2" charset="-122"/>
              </a:rPr>
              <a:t>行</a:t>
            </a:r>
            <a:r>
              <a:rPr lang="en-US" altLang="zh-CN" b="1">
                <a:latin typeface="Arial" panose="020B0604020202020204" pitchFamily="34" charset="0"/>
                <a:ea typeface="宋体" panose="02010600030101010101" pitchFamily="2" charset="-122"/>
              </a:rPr>
              <a:t>m</a:t>
            </a:r>
            <a:r>
              <a:rPr lang="zh-CN" altLang="en-US" b="1" dirty="0">
                <a:latin typeface="Arial" panose="020B0604020202020204" pitchFamily="34" charset="0"/>
                <a:ea typeface="宋体" panose="02010600030101010101" pitchFamily="2" charset="-122"/>
              </a:rPr>
              <a:t>列的迷宫</a:t>
            </a:r>
            <a:endParaRPr lang="zh-CN" altLang="en-US"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  </a:t>
            </a:r>
            <a:r>
              <a:rPr lang="en-US" altLang="zh-CN" b="1">
                <a:latin typeface="Arial" panose="020B0604020202020204" pitchFamily="34" charset="0"/>
                <a:ea typeface="宋体" panose="02010600030101010101" pitchFamily="2" charset="-122"/>
              </a:rPr>
              <a:t>for (i=1;i&lt;=</a:t>
            </a:r>
            <a:r>
              <a:rPr lang="en-US" altLang="zh-CN" b="1" err="1">
                <a:latin typeface="Arial" panose="020B0604020202020204" pitchFamily="34" charset="0"/>
                <a:ea typeface="宋体" panose="02010600030101010101" pitchFamily="2" charset="-122"/>
              </a:rPr>
              <a:t>n;i</a:t>
            </a:r>
            <a:r>
              <a:rPr lang="en-US" altLang="zh-CN" b="1">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读入迷宫，</a:t>
            </a:r>
            <a:r>
              <a:rPr lang="en-US" altLang="zh-CN" b="1">
                <a:latin typeface="Arial" panose="020B0604020202020204" pitchFamily="34" charset="0"/>
                <a:ea typeface="宋体" panose="02010600030101010101" pitchFamily="2" charset="-122"/>
              </a:rPr>
              <a:t>0</a:t>
            </a:r>
            <a:r>
              <a:rPr lang="zh-CN" altLang="en-US" b="1" dirty="0">
                <a:latin typeface="Arial" panose="020B0604020202020204" pitchFamily="34" charset="0"/>
                <a:ea typeface="宋体" panose="02010600030101010101" pitchFamily="2" charset="-122"/>
              </a:rPr>
              <a:t>表示通，</a:t>
            </a:r>
            <a:r>
              <a:rPr lang="en-US" altLang="zh-CN" b="1">
                <a:latin typeface="Arial" panose="020B0604020202020204" pitchFamily="34" charset="0"/>
                <a:ea typeface="宋体" panose="02010600030101010101" pitchFamily="2" charset="-122"/>
              </a:rPr>
              <a:t>-1</a:t>
            </a:r>
            <a:r>
              <a:rPr lang="zh-CN" altLang="en-US" b="1" dirty="0">
                <a:latin typeface="Arial" panose="020B0604020202020204" pitchFamily="34" charset="0"/>
                <a:ea typeface="宋体" panose="02010600030101010101" pitchFamily="2" charset="-122"/>
              </a:rPr>
              <a:t>表示不通</a:t>
            </a:r>
            <a:endParaRPr lang="zh-CN" altLang="en-US"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   </a:t>
            </a:r>
            <a:r>
              <a:rPr lang="da-DK" altLang="zh-CN" b="1" dirty="0">
                <a:latin typeface="Arial" panose="020B0604020202020204" pitchFamily="34" charset="0"/>
                <a:ea typeface="宋体" panose="02010600030101010101" pitchFamily="2" charset="-122"/>
              </a:rPr>
              <a:t>for (j=1;j&lt;=m;j++) </a:t>
            </a:r>
            <a:endParaRPr lang="da-DK" altLang="zh-CN" b="1" dirty="0">
              <a:latin typeface="Arial" panose="020B0604020202020204" pitchFamily="34" charset="0"/>
              <a:ea typeface="宋体" panose="02010600030101010101" pitchFamily="2" charset="-122"/>
            </a:endParaRPr>
          </a:p>
          <a:p>
            <a:r>
              <a:rPr lang="da-DK" altLang="zh-CN" b="1" dirty="0">
                <a:latin typeface="Arial" panose="020B0604020202020204" pitchFamily="34" charset="0"/>
                <a:ea typeface="宋体" panose="02010600030101010101" pitchFamily="2" charset="-122"/>
              </a:rPr>
              <a:t>    cin&gt;&gt;map[i][j];</a:t>
            </a:r>
            <a:endParaRPr lang="da-DK" altLang="zh-CN" b="1" dirty="0">
              <a:latin typeface="Arial" panose="020B0604020202020204" pitchFamily="34" charset="0"/>
              <a:ea typeface="宋体" panose="02010600030101010101" pitchFamily="2" charset="-122"/>
            </a:endParaRPr>
          </a:p>
          <a:p>
            <a:r>
              <a:rPr lang="da-DK" altLang="zh-CN" b="1" dirty="0">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cout</a:t>
            </a:r>
            <a:r>
              <a:rPr lang="en-US" altLang="zh-CN" b="1">
                <a:latin typeface="Arial" panose="020B0604020202020204" pitchFamily="34" charset="0"/>
                <a:ea typeface="宋体" panose="02010600030101010101" pitchFamily="2" charset="-122"/>
              </a:rPr>
              <a:t>&lt;&lt;"input the enter:";</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cin</a:t>
            </a:r>
            <a:r>
              <a:rPr lang="en-US" altLang="zh-CN" b="1">
                <a:latin typeface="Arial" panose="020B0604020202020204" pitchFamily="34" charset="0"/>
                <a:ea typeface="宋体" panose="02010600030101010101" pitchFamily="2" charset="-122"/>
              </a:rPr>
              <a:t>&gt;&gt;</a:t>
            </a:r>
            <a:r>
              <a:rPr lang="en-US" altLang="zh-CN" b="1" err="1">
                <a:latin typeface="Arial" panose="020B0604020202020204" pitchFamily="34" charset="0"/>
                <a:ea typeface="宋体" panose="02010600030101010101" pitchFamily="2" charset="-122"/>
              </a:rPr>
              <a:t>soux</a:t>
            </a:r>
            <a:r>
              <a:rPr lang="en-US" altLang="zh-CN" b="1">
                <a:latin typeface="Arial" panose="020B0604020202020204" pitchFamily="34" charset="0"/>
                <a:ea typeface="宋体" panose="02010600030101010101" pitchFamily="2" charset="-122"/>
              </a:rPr>
              <a:t>&gt;&gt;</a:t>
            </a:r>
            <a:r>
              <a:rPr lang="en-US" altLang="zh-CN" b="1" err="1">
                <a:latin typeface="Arial" panose="020B0604020202020204" pitchFamily="34" charset="0"/>
                <a:ea typeface="宋体" panose="02010600030101010101" pitchFamily="2" charset="-122"/>
              </a:rPr>
              <a:t>souy</a:t>
            </a:r>
            <a:r>
              <a:rPr lang="en-US" altLang="zh-CN" b="1">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入口</a:t>
            </a:r>
            <a:endParaRPr lang="zh-CN" altLang="en-US"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cout</a:t>
            </a:r>
            <a:r>
              <a:rPr lang="en-US" altLang="zh-CN" b="1">
                <a:latin typeface="Arial" panose="020B0604020202020204" pitchFamily="34" charset="0"/>
                <a:ea typeface="宋体" panose="02010600030101010101" pitchFamily="2" charset="-122"/>
              </a:rPr>
              <a:t>&lt;&lt;"input the exit:";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a:t>
            </a:r>
            <a:r>
              <a:rPr lang="en-US" altLang="zh-CN" b="1" err="1">
                <a:latin typeface="Arial" panose="020B0604020202020204" pitchFamily="34" charset="0"/>
                <a:ea typeface="宋体" panose="02010600030101010101" pitchFamily="2" charset="-122"/>
              </a:rPr>
              <a:t>cin</a:t>
            </a:r>
            <a:r>
              <a:rPr lang="en-US" altLang="zh-CN" b="1">
                <a:latin typeface="Arial" panose="020B0604020202020204" pitchFamily="34" charset="0"/>
                <a:ea typeface="宋体" panose="02010600030101010101" pitchFamily="2" charset="-122"/>
              </a:rPr>
              <a:t>&gt;&gt;</a:t>
            </a:r>
            <a:r>
              <a:rPr lang="en-US" altLang="zh-CN" b="1" err="1">
                <a:latin typeface="Arial" panose="020B0604020202020204" pitchFamily="34" charset="0"/>
                <a:ea typeface="宋体" panose="02010600030101010101" pitchFamily="2" charset="-122"/>
              </a:rPr>
              <a:t>desx</a:t>
            </a:r>
            <a:r>
              <a:rPr lang="en-US" altLang="zh-CN" b="1">
                <a:latin typeface="Arial" panose="020B0604020202020204" pitchFamily="34" charset="0"/>
                <a:ea typeface="宋体" panose="02010600030101010101" pitchFamily="2" charset="-122"/>
              </a:rPr>
              <a:t>&gt;&gt;</a:t>
            </a:r>
            <a:r>
              <a:rPr lang="en-US" altLang="zh-CN" b="1" err="1">
                <a:latin typeface="Arial" panose="020B0604020202020204" pitchFamily="34" charset="0"/>
                <a:ea typeface="宋体" panose="02010600030101010101" pitchFamily="2" charset="-122"/>
              </a:rPr>
              <a:t>desy</a:t>
            </a:r>
            <a:r>
              <a:rPr lang="en-US" altLang="zh-CN" b="1">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出口</a:t>
            </a:r>
            <a:endParaRPr lang="zh-CN" altLang="en-US"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  </a:t>
            </a:r>
            <a:r>
              <a:rPr lang="en-US" altLang="zh-CN" b="1">
                <a:latin typeface="Arial" panose="020B0604020202020204" pitchFamily="34" charset="0"/>
                <a:ea typeface="宋体" panose="02010600030101010101" pitchFamily="2" charset="-122"/>
              </a:rPr>
              <a:t>head=0;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a:t>
            </a:r>
            <a:r>
              <a:rPr lang="fr-FR" altLang="zh-CN" b="1" dirty="0">
                <a:latin typeface="Arial" panose="020B0604020202020204" pitchFamily="34" charset="0"/>
                <a:ea typeface="宋体" panose="02010600030101010101" pitchFamily="2" charset="-122"/>
              </a:rPr>
              <a:t>tail=1;</a:t>
            </a:r>
            <a:endParaRPr lang="en-US" altLang="zh-CN" b="1">
              <a:latin typeface="Arial" panose="020B0604020202020204" pitchFamily="3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p:nvPr/>
        </p:nvSpPr>
        <p:spPr>
          <a:xfrm>
            <a:off x="0" y="152400"/>
            <a:ext cx="9144000" cy="6802438"/>
          </a:xfrm>
          <a:prstGeom prst="rect">
            <a:avLst/>
          </a:prstGeom>
          <a:noFill/>
          <a:ln w="9525">
            <a:noFill/>
          </a:ln>
        </p:spPr>
        <p:txBody>
          <a:bodyPr anchor="t" anchorCtr="0">
            <a:spAutoFit/>
          </a:bodyPr>
          <a:p>
            <a:r>
              <a:rPr lang="fr-FR" altLang="zh-CN" dirty="0">
                <a:latin typeface="Arial" panose="020B0604020202020204" pitchFamily="34" charset="0"/>
                <a:ea typeface="宋体" panose="02010600030101010101" pitchFamily="2" charset="-122"/>
              </a:rPr>
              <a:t> </a:t>
            </a:r>
            <a:r>
              <a:rPr lang="fr-FR" altLang="zh-CN" sz="1600" b="1" dirty="0">
                <a:latin typeface="Arial" panose="020B0604020202020204" pitchFamily="34" charset="0"/>
                <a:ea typeface="宋体" panose="02010600030101010101" pitchFamily="2" charset="-122"/>
              </a:rPr>
              <a:t>f=0;</a:t>
            </a:r>
            <a:endParaRPr lang="fr-FR" altLang="zh-CN" sz="1600" b="1" dirty="0">
              <a:latin typeface="Arial" panose="020B0604020202020204" pitchFamily="34" charset="0"/>
              <a:ea typeface="宋体" panose="02010600030101010101" pitchFamily="2" charset="-122"/>
            </a:endParaRPr>
          </a:p>
          <a:p>
            <a:r>
              <a:rPr lang="fr-FR" altLang="zh-CN" sz="1600" b="1" dirty="0">
                <a:latin typeface="Arial" panose="020B0604020202020204" pitchFamily="34" charset="0"/>
                <a:ea typeface="宋体" panose="02010600030101010101" pitchFamily="2" charset="-122"/>
              </a:rPr>
              <a:t>  map[soux][souy]=-1;</a:t>
            </a:r>
            <a:endParaRPr lang="fr-FR" altLang="zh-CN" sz="1600" b="1" dirty="0">
              <a:latin typeface="Arial" panose="020B0604020202020204" pitchFamily="34" charset="0"/>
              <a:ea typeface="宋体" panose="02010600030101010101" pitchFamily="2" charset="-122"/>
            </a:endParaRPr>
          </a:p>
          <a:p>
            <a:r>
              <a:rPr lang="fr-FR" altLang="zh-CN" sz="1600" b="1" dirty="0">
                <a:latin typeface="Arial" panose="020B0604020202020204" pitchFamily="34" charset="0"/>
                <a:ea typeface="宋体" panose="02010600030101010101" pitchFamily="2" charset="-122"/>
              </a:rPr>
              <a:t>  a[tail]=soux;  b[tail]=souy; pre[tail]=0;</a:t>
            </a:r>
            <a:endParaRPr lang="fr-FR" altLang="zh-CN" sz="1600" b="1" dirty="0">
              <a:latin typeface="Arial" panose="020B0604020202020204" pitchFamily="34" charset="0"/>
              <a:ea typeface="宋体" panose="02010600030101010101" pitchFamily="2" charset="-122"/>
            </a:endParaRPr>
          </a:p>
          <a:p>
            <a:r>
              <a:rPr lang="fr-FR" altLang="zh-CN" sz="1600" b="1" dirty="0">
                <a:latin typeface="Arial" panose="020B0604020202020204" pitchFamily="34" charset="0"/>
                <a:ea typeface="宋体" panose="02010600030101010101" pitchFamily="2" charset="-122"/>
              </a:rPr>
              <a:t>  while (head!=tail)                           //</a:t>
            </a:r>
            <a:r>
              <a:rPr lang="zh-CN" altLang="fr-FR" sz="1600" b="1" dirty="0">
                <a:latin typeface="Arial" panose="020B0604020202020204" pitchFamily="34" charset="0"/>
                <a:ea typeface="宋体" panose="02010600030101010101" pitchFamily="2" charset="-122"/>
              </a:rPr>
              <a:t>队列不为空</a:t>
            </a:r>
            <a:endParaRPr lang="zh-CN" altLang="fr-FR" sz="1600" b="1" dirty="0">
              <a:latin typeface="Arial" panose="020B0604020202020204" pitchFamily="34" charset="0"/>
              <a:ea typeface="宋体" panose="02010600030101010101" pitchFamily="2" charset="-122"/>
            </a:endParaRPr>
          </a:p>
          <a:p>
            <a:r>
              <a:rPr lang="zh-CN" altLang="fr-FR" sz="1600" b="1" dirty="0">
                <a:latin typeface="Arial" panose="020B0604020202020204" pitchFamily="34" charset="0"/>
                <a:ea typeface="宋体" panose="02010600030101010101" pitchFamily="2" charset="-122"/>
              </a:rPr>
              <a:t>  </a:t>
            </a:r>
            <a:r>
              <a:rPr lang="fr-FR" altLang="zh-CN" sz="1600" b="1" dirty="0">
                <a:latin typeface="Arial" panose="020B0604020202020204" pitchFamily="34" charset="0"/>
                <a:ea typeface="宋体" panose="02010600030101010101" pitchFamily="2" charset="-122"/>
              </a:rPr>
              <a:t>{</a:t>
            </a:r>
            <a:endParaRPr lang="fr-FR" altLang="zh-CN" sz="1600" b="1" dirty="0">
              <a:latin typeface="Arial" panose="020B0604020202020204" pitchFamily="34" charset="0"/>
              <a:ea typeface="宋体" panose="02010600030101010101" pitchFamily="2" charset="-122"/>
            </a:endParaRPr>
          </a:p>
          <a:p>
            <a:r>
              <a:rPr lang="fr-FR" altLang="zh-CN" sz="1600" b="1" dirty="0">
                <a:latin typeface="Arial" panose="020B0604020202020204" pitchFamily="34" charset="0"/>
                <a:ea typeface="宋体" panose="02010600030101010101" pitchFamily="2" charset="-122"/>
              </a:rPr>
              <a:t>    head++;</a:t>
            </a:r>
            <a:endParaRPr lang="fr-FR" altLang="zh-CN" sz="1600" b="1" dirty="0">
              <a:latin typeface="Arial" panose="020B0604020202020204" pitchFamily="34" charset="0"/>
              <a:ea typeface="宋体" panose="02010600030101010101" pitchFamily="2" charset="-122"/>
            </a:endParaRPr>
          </a:p>
          <a:p>
            <a:r>
              <a:rPr lang="fr-FR" altLang="zh-CN" sz="1600" b="1" dirty="0">
                <a:latin typeface="Arial" panose="020B0604020202020204" pitchFamily="34" charset="0"/>
                <a:ea typeface="宋体" panose="02010600030101010101" pitchFamily="2" charset="-122"/>
              </a:rPr>
              <a:t>    for (i=1;i&lt;=4;i++)                         //4</a:t>
            </a:r>
            <a:r>
              <a:rPr lang="zh-CN" altLang="fr-FR" sz="1600" b="1" dirty="0">
                <a:latin typeface="Arial" panose="020B0604020202020204" pitchFamily="34" charset="0"/>
                <a:ea typeface="宋体" panose="02010600030101010101" pitchFamily="2" charset="-122"/>
              </a:rPr>
              <a:t>个方向</a:t>
            </a:r>
            <a:endParaRPr lang="zh-CN" altLang="fr-FR" sz="1600" b="1" dirty="0">
              <a:latin typeface="Arial" panose="020B0604020202020204" pitchFamily="34" charset="0"/>
              <a:ea typeface="宋体" panose="02010600030101010101" pitchFamily="2" charset="-122"/>
            </a:endParaRPr>
          </a:p>
          <a:p>
            <a:r>
              <a:rPr lang="zh-CN" altLang="fr-FR" sz="1600" b="1" dirty="0">
                <a:latin typeface="Arial" panose="020B0604020202020204" pitchFamily="34" charset="0"/>
                <a:ea typeface="宋体" panose="02010600030101010101" pitchFamily="2" charset="-122"/>
              </a:rPr>
              <a:t>    </a:t>
            </a:r>
            <a:r>
              <a:rPr lang="fr-FR" altLang="zh-CN" sz="1600" b="1" dirty="0">
                <a:latin typeface="Arial" panose="020B0604020202020204" pitchFamily="34" charset="0"/>
                <a:ea typeface="宋体" panose="02010600030101010101" pitchFamily="2" charset="-122"/>
              </a:rPr>
              <a:t>{</a:t>
            </a:r>
            <a:endParaRPr lang="fr-FR" altLang="zh-CN" sz="1600" b="1" dirty="0">
              <a:latin typeface="Arial" panose="020B0604020202020204" pitchFamily="34" charset="0"/>
              <a:ea typeface="宋体" panose="02010600030101010101" pitchFamily="2" charset="-122"/>
            </a:endParaRPr>
          </a:p>
          <a:p>
            <a:r>
              <a:rPr lang="fr-FR" altLang="zh-CN" sz="1600" b="1" dirty="0">
                <a:latin typeface="Arial" panose="020B0604020202020204" pitchFamily="34" charset="0"/>
                <a:ea typeface="宋体" panose="02010600030101010101" pitchFamily="2" charset="-122"/>
              </a:rPr>
              <a:t>      x=a[head]+u[i];  y=b[head]+w[i];</a:t>
            </a:r>
            <a:endParaRPr lang="fr-FR" altLang="zh-CN" sz="1600" b="1" dirty="0">
              <a:latin typeface="Arial" panose="020B0604020202020204" pitchFamily="34" charset="0"/>
              <a:ea typeface="宋体" panose="02010600030101010101" pitchFamily="2" charset="-122"/>
            </a:endParaRPr>
          </a:p>
          <a:p>
            <a:r>
              <a:rPr lang="fr-FR" altLang="zh-CN" sz="1600" b="1" dirty="0">
                <a:latin typeface="Arial" panose="020B0604020202020204" pitchFamily="34" charset="0"/>
                <a:ea typeface="宋体" panose="02010600030101010101" pitchFamily="2" charset="-122"/>
              </a:rPr>
              <a:t>      </a:t>
            </a:r>
            <a:r>
              <a:rPr lang="es-ES" altLang="zh-CN" sz="1600" b="1" dirty="0">
                <a:latin typeface="Arial" panose="020B0604020202020204" pitchFamily="34" charset="0"/>
                <a:ea typeface="宋体" panose="02010600030101010101" pitchFamily="2" charset="-122"/>
              </a:rPr>
              <a:t>if ((x&gt;0)&amp;&amp;(x&lt;=n)&amp;&amp;(y&gt;0)&amp;&amp;(y&lt;=m)&amp;&amp;(map[x][y]==0))</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                                                  //</a:t>
            </a:r>
            <a:r>
              <a:rPr lang="zh-CN" altLang="es-ES" sz="1600" b="1" dirty="0">
                <a:latin typeface="Arial" panose="020B0604020202020204" pitchFamily="34" charset="0"/>
                <a:ea typeface="宋体" panose="02010600030101010101" pitchFamily="2" charset="-122"/>
              </a:rPr>
              <a:t>本方向上可以走</a:t>
            </a:r>
            <a:endParaRPr lang="zh-CN" altLang="es-ES" sz="1600" b="1" dirty="0">
              <a:latin typeface="Arial" panose="020B0604020202020204" pitchFamily="34" charset="0"/>
              <a:ea typeface="宋体" panose="02010600030101010101" pitchFamily="2" charset="-122"/>
            </a:endParaRPr>
          </a:p>
          <a:p>
            <a:r>
              <a:rPr lang="zh-CN" altLang="es-ES" sz="1600" b="1" dirty="0">
                <a:latin typeface="Arial" panose="020B0604020202020204" pitchFamily="34" charset="0"/>
                <a:ea typeface="宋体" panose="02010600030101010101" pitchFamily="2" charset="-122"/>
              </a:rPr>
              <a:t>        </a:t>
            </a:r>
            <a:r>
              <a:rPr lang="es-ES" altLang="zh-CN" sz="1600" b="1" dirty="0">
                <a:latin typeface="Arial" panose="020B0604020202020204" pitchFamily="34" charset="0"/>
                <a:ea typeface="宋体" panose="02010600030101010101" pitchFamily="2" charset="-122"/>
              </a:rPr>
              <a:t>tail++;</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a[tail]=x;  b[tail]=y;  pre[tail]=head;</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map[x][y]=-1;</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if ((x==desx)&amp;&amp;(y==desy))     //</a:t>
            </a:r>
            <a:r>
              <a:rPr lang="zh-CN" altLang="es-ES" sz="1600" b="1" dirty="0">
                <a:latin typeface="Arial" panose="020B0604020202020204" pitchFamily="34" charset="0"/>
                <a:ea typeface="宋体" panose="02010600030101010101" pitchFamily="2" charset="-122"/>
              </a:rPr>
              <a:t>扩展出的结点为目标结点</a:t>
            </a:r>
            <a:endParaRPr lang="zh-CN" altLang="es-ES" sz="1600" b="1" dirty="0">
              <a:latin typeface="Arial" panose="020B0604020202020204" pitchFamily="34" charset="0"/>
              <a:ea typeface="宋体" panose="02010600030101010101" pitchFamily="2" charset="-122"/>
            </a:endParaRPr>
          </a:p>
          <a:p>
            <a:r>
              <a:rPr lang="zh-CN" altLang="es-ES" sz="1600" b="1" dirty="0">
                <a:latin typeface="Arial" panose="020B0604020202020204" pitchFamily="34" charset="0"/>
                <a:ea typeface="宋体" panose="02010600030101010101" pitchFamily="2" charset="-122"/>
              </a:rPr>
              <a:t>        </a:t>
            </a:r>
            <a:r>
              <a:rPr lang="es-ES" altLang="zh-CN" sz="1600" b="1" dirty="0">
                <a:latin typeface="Arial" panose="020B0604020202020204" pitchFamily="34" charset="0"/>
                <a:ea typeface="宋体" panose="02010600030101010101" pitchFamily="2" charset="-122"/>
              </a:rPr>
              <a:t>{</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f=1;</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print(tail);</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break;</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if (f) break;</a:t>
            </a:r>
            <a:endParaRPr lang="es-ES" altLang="zh-CN" sz="1600" b="1" dirty="0">
              <a:latin typeface="Arial" panose="020B0604020202020204" pitchFamily="34" charset="0"/>
              <a:ea typeface="宋体" panose="02010600030101010101" pitchFamily="2" charset="-122"/>
            </a:endParaRPr>
          </a:p>
          <a:p>
            <a:r>
              <a:rPr lang="es-ES" altLang="zh-CN" sz="1600" b="1" dirty="0">
                <a:latin typeface="Arial" panose="020B0604020202020204" pitchFamily="34" charset="0"/>
                <a:ea typeface="宋体" panose="02010600030101010101" pitchFamily="2" charset="-122"/>
              </a:rPr>
              <a:t>  </a:t>
            </a:r>
            <a:r>
              <a:rPr lang="en-US" altLang="zh-CN" sz="1600" b="1">
                <a:latin typeface="Arial" panose="020B0604020202020204" pitchFamily="34" charset="0"/>
                <a:ea typeface="宋体" panose="02010600030101010101" pitchFamily="2" charset="-122"/>
              </a:rPr>
              <a:t>}</a:t>
            </a:r>
            <a:endParaRPr lang="en-US" altLang="zh-CN" sz="1600" b="1">
              <a:latin typeface="Arial" panose="020B0604020202020204" pitchFamily="34" charset="0"/>
              <a:ea typeface="宋体" panose="02010600030101010101" pitchFamily="2" charset="-122"/>
            </a:endParaRPr>
          </a:p>
          <a:p>
            <a:r>
              <a:rPr lang="en-US" altLang="zh-CN" sz="1600" b="1">
                <a:latin typeface="Arial" panose="020B0604020202020204" pitchFamily="34" charset="0"/>
                <a:ea typeface="宋体" panose="02010600030101010101" pitchFamily="2" charset="-122"/>
              </a:rPr>
              <a:t>  if (!f) </a:t>
            </a:r>
            <a:r>
              <a:rPr lang="en-US" altLang="zh-CN" sz="1600" b="1" err="1">
                <a:latin typeface="Arial" panose="020B0604020202020204" pitchFamily="34" charset="0"/>
                <a:ea typeface="宋体" panose="02010600030101010101" pitchFamily="2" charset="-122"/>
              </a:rPr>
              <a:t>cout</a:t>
            </a:r>
            <a:r>
              <a:rPr lang="en-US" altLang="zh-CN" sz="1600" b="1">
                <a:latin typeface="Arial" panose="020B0604020202020204" pitchFamily="34" charset="0"/>
                <a:ea typeface="宋体" panose="02010600030101010101" pitchFamily="2" charset="-122"/>
              </a:rPr>
              <a:t>&lt;&lt;"no way."&lt;&lt;</a:t>
            </a:r>
            <a:r>
              <a:rPr lang="en-US" altLang="zh-CN" sz="1600" b="1" err="1">
                <a:latin typeface="Arial" panose="020B0604020202020204" pitchFamily="34" charset="0"/>
                <a:ea typeface="宋体" panose="02010600030101010101" pitchFamily="2" charset="-122"/>
              </a:rPr>
              <a:t>endl</a:t>
            </a:r>
            <a:r>
              <a:rPr lang="en-US" altLang="zh-CN" sz="1600" b="1">
                <a:latin typeface="Arial" panose="020B0604020202020204" pitchFamily="34" charset="0"/>
                <a:ea typeface="宋体" panose="02010600030101010101" pitchFamily="2" charset="-122"/>
              </a:rPr>
              <a:t>;</a:t>
            </a:r>
            <a:endParaRPr lang="en-US" altLang="zh-CN" sz="1600" b="1">
              <a:latin typeface="Arial" panose="020B0604020202020204" pitchFamily="34" charset="0"/>
              <a:ea typeface="宋体" panose="02010600030101010101" pitchFamily="2" charset="-122"/>
            </a:endParaRPr>
          </a:p>
          <a:p>
            <a:r>
              <a:rPr lang="en-US" altLang="zh-CN" sz="1600" b="1">
                <a:latin typeface="Arial" panose="020B0604020202020204" pitchFamily="34" charset="0"/>
                <a:ea typeface="宋体" panose="02010600030101010101" pitchFamily="2" charset="-122"/>
              </a:rPr>
              <a:t>  return 0;</a:t>
            </a:r>
            <a:endParaRPr lang="en-US" altLang="zh-CN" sz="1600"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3554" name="表格 23553"/>
          <p:cNvGraphicFramePr/>
          <p:nvPr/>
        </p:nvGraphicFramePr>
        <p:xfrm>
          <a:off x="0" y="381000"/>
          <a:ext cx="9220200" cy="3476625"/>
        </p:xfrm>
        <a:graphic>
          <a:graphicData uri="http://schemas.openxmlformats.org/drawingml/2006/table">
            <a:tbl>
              <a:tblPr/>
              <a:tblGrid>
                <a:gridCol w="2249488"/>
                <a:gridCol w="2322512"/>
                <a:gridCol w="2189163"/>
                <a:gridCol w="2459037"/>
              </a:tblGrid>
              <a:tr h="365125">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zh-CN" altLang="en-US" sz="1800" b="1" dirty="0">
                          <a:latin typeface="华文中宋" pitchFamily="2" charset="-122"/>
                          <a:ea typeface="华文中宋" pitchFamily="2" charset="-122"/>
                        </a:rPr>
                        <a:t>输入</a:t>
                      </a:r>
                      <a:r>
                        <a:rPr lang="en-US" altLang="zh-CN" sz="1800" b="1">
                          <a:latin typeface="华文中宋" pitchFamily="2" charset="-122"/>
                          <a:ea typeface="华文中宋" pitchFamily="2" charset="-122"/>
                        </a:rPr>
                        <a:t>1</a:t>
                      </a:r>
                      <a:r>
                        <a:rPr lang="zh-CN" altLang="en-US" sz="1800" b="1" dirty="0">
                          <a:latin typeface="华文中宋" pitchFamily="2" charset="-122"/>
                          <a:ea typeface="华文中宋" pitchFamily="2" charset="-122"/>
                        </a:rPr>
                        <a:t>：</a:t>
                      </a:r>
                      <a:endParaRPr lang="zh-CN" altLang="en-US" sz="1800" b="1" dirty="0">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zh-CN" altLang="en-US" sz="1800" b="1" dirty="0">
                          <a:latin typeface="华文中宋" pitchFamily="2" charset="-122"/>
                          <a:ea typeface="华文中宋" pitchFamily="2" charset="-122"/>
                        </a:rPr>
                        <a:t>输出</a:t>
                      </a:r>
                      <a:r>
                        <a:rPr lang="en-US" altLang="zh-CN" sz="1800" b="1">
                          <a:latin typeface="华文中宋" pitchFamily="2" charset="-122"/>
                          <a:ea typeface="华文中宋" pitchFamily="2" charset="-122"/>
                        </a:rPr>
                        <a:t>1</a:t>
                      </a:r>
                      <a:r>
                        <a:rPr lang="zh-CN" altLang="en-US" sz="1800" b="1" dirty="0">
                          <a:latin typeface="华文中宋" pitchFamily="2" charset="-122"/>
                          <a:ea typeface="华文中宋" pitchFamily="2" charset="-122"/>
                        </a:rPr>
                        <a:t>：</a:t>
                      </a:r>
                      <a:endParaRPr lang="zh-CN" altLang="en-US" sz="1800" b="1" dirty="0">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zh-CN" altLang="en-US" sz="1800" b="1" dirty="0">
                          <a:latin typeface="华文中宋" pitchFamily="2" charset="-122"/>
                          <a:ea typeface="华文中宋" pitchFamily="2" charset="-122"/>
                        </a:rPr>
                        <a:t>输入</a:t>
                      </a:r>
                      <a:r>
                        <a:rPr lang="en-US" altLang="zh-CN" sz="1800" b="1">
                          <a:latin typeface="华文中宋" pitchFamily="2" charset="-122"/>
                          <a:ea typeface="华文中宋" pitchFamily="2" charset="-122"/>
                        </a:rPr>
                        <a:t>2</a:t>
                      </a:r>
                      <a:r>
                        <a:rPr lang="zh-CN" altLang="en-US" sz="1800" b="1" dirty="0">
                          <a:latin typeface="华文中宋" pitchFamily="2" charset="-122"/>
                          <a:ea typeface="华文中宋" pitchFamily="2" charset="-122"/>
                        </a:rPr>
                        <a:t>：</a:t>
                      </a:r>
                      <a:endParaRPr lang="zh-CN" altLang="en-US" sz="1800" b="1" dirty="0">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zh-CN" altLang="en-US" sz="1800" b="1" dirty="0">
                          <a:latin typeface="华文中宋" pitchFamily="2" charset="-122"/>
                          <a:ea typeface="华文中宋" pitchFamily="2" charset="-122"/>
                        </a:rPr>
                        <a:t>输出</a:t>
                      </a:r>
                      <a:r>
                        <a:rPr lang="en-US" altLang="zh-CN" sz="1800" b="1">
                          <a:latin typeface="华文中宋" pitchFamily="2" charset="-122"/>
                          <a:ea typeface="华文中宋" pitchFamily="2" charset="-122"/>
                        </a:rPr>
                        <a:t>2</a:t>
                      </a:r>
                      <a:r>
                        <a:rPr lang="zh-CN" altLang="en-US" sz="1800" b="1" dirty="0">
                          <a:latin typeface="华文中宋" pitchFamily="2" charset="-122"/>
                          <a:ea typeface="华文中宋" pitchFamily="2" charset="-122"/>
                        </a:rPr>
                        <a:t>：</a:t>
                      </a:r>
                      <a:endParaRPr lang="zh-CN" altLang="en-US" sz="1800" b="1" dirty="0">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109913">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1800" b="1">
                          <a:latin typeface="华文中宋" pitchFamily="2" charset="-122"/>
                          <a:ea typeface="华文中宋" pitchFamily="2" charset="-122"/>
                        </a:rPr>
                        <a:t>8  5</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 0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-1 </a:t>
                      </a:r>
                      <a:r>
                        <a:rPr lang="en-US" altLang="zh-CN" sz="1800" b="1" err="1">
                          <a:latin typeface="华文中宋" pitchFamily="2" charset="-122"/>
                          <a:ea typeface="华文中宋" pitchFamily="2" charset="-122"/>
                        </a:rPr>
                        <a:t>-1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2 1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8 4</a:t>
                      </a:r>
                      <a:endParaRPr lang="en-US" altLang="zh-CN" sz="1800" b="1">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1800" b="1">
                          <a:latin typeface="华文中宋" pitchFamily="2" charset="-122"/>
                          <a:ea typeface="华文中宋" pitchFamily="2" charset="-122"/>
                        </a:rPr>
                        <a:t>2,1</a:t>
                      </a:r>
                      <a:endParaRPr lang="en-US" altLang="zh-CN" sz="1800" b="1">
                        <a:latin typeface="华文中宋" pitchFamily="2" charset="-122"/>
                        <a:ea typeface="华文中宋" pitchFamily="2" charset="-122"/>
                      </a:endParaRPr>
                    </a:p>
                    <a:p>
                      <a:pPr marL="0" lvl="0" indent="0" eaLnBrk="1" hangingPunct="1">
                        <a:spcBef>
                          <a:spcPct val="0"/>
                        </a:spcBef>
                        <a:buClrTx/>
                        <a:buNone/>
                      </a:pPr>
                      <a:r>
                        <a:rPr lang="en-US" altLang="zh-CN" sz="1800" b="1">
                          <a:latin typeface="华文中宋" pitchFamily="2" charset="-122"/>
                          <a:ea typeface="华文中宋" pitchFamily="2" charset="-122"/>
                        </a:rPr>
                        <a:t>2,2</a:t>
                      </a:r>
                      <a:endParaRPr lang="en-US" altLang="zh-CN" sz="1800" b="1">
                        <a:latin typeface="华文中宋" pitchFamily="2" charset="-122"/>
                        <a:ea typeface="华文中宋" pitchFamily="2" charset="-122"/>
                      </a:endParaRPr>
                    </a:p>
                    <a:p>
                      <a:pPr marL="0" lvl="0" indent="0" eaLnBrk="1" hangingPunct="1">
                        <a:spcBef>
                          <a:spcPct val="0"/>
                        </a:spcBef>
                        <a:buClrTx/>
                        <a:buNone/>
                      </a:pPr>
                      <a:r>
                        <a:rPr lang="en-US" altLang="zh-CN" sz="1800" b="1">
                          <a:latin typeface="华文中宋" pitchFamily="2" charset="-122"/>
                          <a:ea typeface="华文中宋" pitchFamily="2" charset="-122"/>
                        </a:rPr>
                        <a:t>2,3</a:t>
                      </a:r>
                      <a:endParaRPr lang="en-US" altLang="zh-CN" sz="1800" b="1">
                        <a:latin typeface="华文中宋" pitchFamily="2" charset="-122"/>
                        <a:ea typeface="华文中宋" pitchFamily="2" charset="-122"/>
                      </a:endParaRPr>
                    </a:p>
                    <a:p>
                      <a:pPr marL="0" lvl="0" indent="0" eaLnBrk="1" hangingPunct="1">
                        <a:spcBef>
                          <a:spcPct val="0"/>
                        </a:spcBef>
                        <a:buClrTx/>
                        <a:buNone/>
                      </a:pPr>
                      <a:r>
                        <a:rPr lang="en-US" altLang="zh-CN" sz="1800" b="1">
                          <a:latin typeface="华文中宋" pitchFamily="2" charset="-122"/>
                          <a:ea typeface="华文中宋" pitchFamily="2" charset="-122"/>
                        </a:rPr>
                        <a:t>2,4</a:t>
                      </a:r>
                      <a:endParaRPr lang="en-US" altLang="zh-CN" sz="1800" b="1">
                        <a:latin typeface="华文中宋" pitchFamily="2" charset="-122"/>
                        <a:ea typeface="华文中宋" pitchFamily="2" charset="-122"/>
                      </a:endParaRPr>
                    </a:p>
                    <a:p>
                      <a:pPr marL="0" lvl="0" indent="0" eaLnBrk="1" hangingPunct="1">
                        <a:spcBef>
                          <a:spcPct val="0"/>
                        </a:spcBef>
                        <a:buClrTx/>
                        <a:buNone/>
                      </a:pPr>
                      <a:r>
                        <a:rPr lang="en-US" altLang="zh-CN" sz="1800" b="1">
                          <a:ea typeface="华文中宋" pitchFamily="2" charset="-122"/>
                        </a:rPr>
                        <a:t>3,4</a:t>
                      </a:r>
                      <a:endParaRPr lang="en-US" altLang="zh-CN" sz="1800" b="1">
                        <a:ea typeface="华文中宋" pitchFamily="2" charset="-122"/>
                      </a:endParaRPr>
                    </a:p>
                    <a:p>
                      <a:pPr marL="0" lvl="0" indent="0" eaLnBrk="1" hangingPunct="1">
                        <a:spcBef>
                          <a:spcPct val="0"/>
                        </a:spcBef>
                        <a:buClrTx/>
                        <a:buNone/>
                      </a:pPr>
                      <a:r>
                        <a:rPr lang="en-US" altLang="zh-CN" sz="1800" b="1">
                          <a:ea typeface="华文中宋" pitchFamily="2" charset="-122"/>
                        </a:rPr>
                        <a:t>4,4</a:t>
                      </a:r>
                      <a:endParaRPr lang="en-US" altLang="zh-CN" sz="1800" b="1">
                        <a:ea typeface="华文中宋" pitchFamily="2" charset="-122"/>
                      </a:endParaRPr>
                    </a:p>
                    <a:p>
                      <a:pPr marL="0" lvl="0" indent="0" eaLnBrk="1" hangingPunct="1">
                        <a:spcBef>
                          <a:spcPct val="0"/>
                        </a:spcBef>
                        <a:buClrTx/>
                        <a:buNone/>
                      </a:pPr>
                      <a:r>
                        <a:rPr lang="en-US" altLang="zh-CN" sz="1800" b="1">
                          <a:ea typeface="华文中宋" pitchFamily="2" charset="-122"/>
                        </a:rPr>
                        <a:t>4,3</a:t>
                      </a:r>
                      <a:endParaRPr lang="en-US" altLang="zh-CN" sz="1800" b="1">
                        <a:ea typeface="华文中宋" pitchFamily="2" charset="-122"/>
                      </a:endParaRPr>
                    </a:p>
                    <a:p>
                      <a:pPr marL="0" lvl="0" indent="0" eaLnBrk="1" hangingPunct="1">
                        <a:spcBef>
                          <a:spcPct val="0"/>
                        </a:spcBef>
                        <a:buClrTx/>
                        <a:buNone/>
                      </a:pPr>
                      <a:r>
                        <a:rPr lang="en-US" altLang="zh-CN" sz="1800" b="1">
                          <a:ea typeface="华文中宋" pitchFamily="2" charset="-122"/>
                        </a:rPr>
                        <a:t>5,3</a:t>
                      </a:r>
                      <a:endParaRPr lang="en-US" altLang="zh-CN" sz="1800" b="1">
                        <a:ea typeface="华文中宋" pitchFamily="2" charset="-122"/>
                      </a:endParaRPr>
                    </a:p>
                    <a:p>
                      <a:pPr marL="0" lvl="0" indent="0" eaLnBrk="1" hangingPunct="1">
                        <a:spcBef>
                          <a:spcPct val="0"/>
                        </a:spcBef>
                        <a:buClrTx/>
                        <a:buNone/>
                      </a:pPr>
                      <a:r>
                        <a:rPr lang="en-US" altLang="zh-CN" sz="1800" b="1">
                          <a:ea typeface="华文中宋" pitchFamily="2" charset="-122"/>
                        </a:rPr>
                        <a:t>6,3</a:t>
                      </a:r>
                      <a:endParaRPr lang="en-US" altLang="zh-CN" sz="1800" b="1">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1800" b="1">
                          <a:latin typeface="华文中宋" pitchFamily="2" charset="-122"/>
                          <a:ea typeface="华文中宋" pitchFamily="2" charset="-122"/>
                        </a:rPr>
                        <a:t>8 5</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 0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0 -1 </a:t>
                      </a:r>
                      <a:r>
                        <a:rPr lang="en-US" altLang="zh-CN" sz="1800" b="1" err="1">
                          <a:latin typeface="华文中宋" pitchFamily="2" charset="-122"/>
                          <a:ea typeface="华文中宋" pitchFamily="2" charset="-122"/>
                        </a:rPr>
                        <a:t>-1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r>
                        <a:rPr lang="en-US" altLang="zh-CN" sz="1800" b="1">
                          <a:latin typeface="华文中宋" pitchFamily="2" charset="-122"/>
                          <a:ea typeface="华文中宋" pitchFamily="2" charset="-122"/>
                        </a:rPr>
                        <a:t> </a:t>
                      </a:r>
                      <a:r>
                        <a:rPr lang="en-US" altLang="zh-CN" sz="1800" b="1" err="1">
                          <a:latin typeface="华文中宋" pitchFamily="2" charset="-122"/>
                          <a:ea typeface="华文中宋" pitchFamily="2" charset="-122"/>
                        </a:rPr>
                        <a:t>-1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-1  0  0  0 -1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2 1</a:t>
                      </a:r>
                      <a:endParaRPr lang="en-US" altLang="zh-CN" sz="1800" b="1">
                        <a:ea typeface="华文中宋" pitchFamily="2" charset="-122"/>
                      </a:endParaRPr>
                    </a:p>
                    <a:p>
                      <a:pPr marL="0" lvl="0" indent="0">
                        <a:spcBef>
                          <a:spcPct val="0"/>
                        </a:spcBef>
                        <a:buClrTx/>
                        <a:buNone/>
                      </a:pPr>
                      <a:r>
                        <a:rPr lang="en-US" altLang="zh-CN" sz="1800" b="1">
                          <a:latin typeface="华文中宋" pitchFamily="2" charset="-122"/>
                          <a:ea typeface="华文中宋" pitchFamily="2" charset="-122"/>
                        </a:rPr>
                        <a:t>8 4</a:t>
                      </a:r>
                      <a:endParaRPr lang="en-US" altLang="zh-CN" sz="1800" b="1">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1800" b="1">
                          <a:latin typeface="华文中宋" pitchFamily="2" charset="-122"/>
                          <a:ea typeface="华文中宋" pitchFamily="2" charset="-122"/>
                        </a:rPr>
                        <a:t>no way.</a:t>
                      </a:r>
                      <a:endParaRPr lang="en-US" altLang="zh-CN" sz="1800" b="1">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noRot="1"/>
          </p:cNvSpPr>
          <p:nvPr>
            <p:ph type="title"/>
          </p:nvPr>
        </p:nvSpPr>
        <p:spPr>
          <a:xfrm>
            <a:off x="301625" y="-76200"/>
            <a:ext cx="8540750" cy="533400"/>
          </a:xfrm>
          <a:ln/>
        </p:spPr>
        <p:txBody>
          <a:bodyPr wrap="square" lIns="91440" tIns="45720" rIns="91440" bIns="45720" anchor="ctr" anchorCtr="0"/>
          <a:p>
            <a:pPr eaLnBrk="1" hangingPunct="1"/>
            <a:r>
              <a:rPr lang="en-US" altLang="zh-CN" sz="4000" b="1"/>
              <a:t>【</a:t>
            </a:r>
            <a:r>
              <a:rPr lang="zh-CN" altLang="en-US" sz="4000" b="1" dirty="0"/>
              <a:t>上机练习</a:t>
            </a:r>
            <a:r>
              <a:rPr lang="en-US" altLang="zh-CN" sz="4000" b="1"/>
              <a:t>】</a:t>
            </a:r>
            <a:endParaRPr lang="en-US" altLang="zh-CN" sz="4000" b="1"/>
          </a:p>
        </p:txBody>
      </p:sp>
      <p:sp>
        <p:nvSpPr>
          <p:cNvPr id="25602" name="Text Box 3"/>
          <p:cNvSpPr txBox="1"/>
          <p:nvPr/>
        </p:nvSpPr>
        <p:spPr>
          <a:xfrm>
            <a:off x="0" y="457200"/>
            <a:ext cx="9144000" cy="4386263"/>
          </a:xfrm>
          <a:prstGeom prst="rect">
            <a:avLst/>
          </a:prstGeom>
          <a:noFill/>
          <a:ln w="9525">
            <a:noFill/>
          </a:ln>
        </p:spPr>
        <p:txBody>
          <a:bodyPr anchor="t" anchorCtr="0">
            <a:spAutoFit/>
          </a:bodyPr>
          <a:p>
            <a:r>
              <a:rPr lang="en-US" altLang="zh-CN" b="1">
                <a:latin typeface="Arial" panose="020B0604020202020204" pitchFamily="34" charset="0"/>
                <a:ea typeface="宋体" panose="02010600030101010101" pitchFamily="2" charset="-122"/>
              </a:rPr>
              <a:t>1</a:t>
            </a:r>
            <a:r>
              <a:rPr lang="zh-CN" altLang="en-US" b="1" dirty="0">
                <a:latin typeface="Arial" panose="020B0604020202020204" pitchFamily="34" charset="0"/>
                <a:ea typeface="宋体" panose="02010600030101010101" pitchFamily="2" charset="-122"/>
              </a:rPr>
              <a:t>、面积（</a:t>
            </a:r>
            <a:r>
              <a:rPr lang="en-US" altLang="zh-CN" b="1">
                <a:latin typeface="Arial" panose="020B0604020202020204" pitchFamily="34" charset="0"/>
                <a:ea typeface="宋体" panose="02010600030101010101" pitchFamily="2" charset="-122"/>
              </a:rPr>
              <a:t>area</a:t>
            </a:r>
            <a:r>
              <a:rPr lang="zh-CN" altLang="en-US" b="1" dirty="0">
                <a:latin typeface="Arial" panose="020B0604020202020204" pitchFamily="34" charset="0"/>
                <a:ea typeface="宋体" panose="02010600030101010101" pitchFamily="2" charset="-122"/>
              </a:rPr>
              <a:t>）</a:t>
            </a:r>
            <a:endParaRPr lang="en-US" altLang="zh-CN" b="1">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编程计算由“*”号围成的下列图形的面积。面积计算方法是统计*号所围成的闭合曲线中水平线和垂直线交点的数目。如下图所示，在</a:t>
            </a:r>
            <a:r>
              <a:rPr lang="en-US" altLang="zh-CN">
                <a:latin typeface="Arial" panose="020B0604020202020204" pitchFamily="34" charset="0"/>
                <a:ea typeface="宋体" panose="02010600030101010101" pitchFamily="2" charset="-122"/>
              </a:rPr>
              <a:t>10*</a:t>
            </a:r>
            <a:r>
              <a:rPr lang="en-US" altLang="zh-CN" err="1">
                <a:latin typeface="Arial" panose="020B0604020202020204" pitchFamily="34" charset="0"/>
                <a:ea typeface="宋体" panose="02010600030101010101" pitchFamily="2" charset="-122"/>
              </a:rPr>
              <a:t>10</a:t>
            </a:r>
            <a:r>
              <a:rPr lang="zh-CN" altLang="en-US" dirty="0">
                <a:latin typeface="Arial" panose="020B0604020202020204" pitchFamily="34" charset="0"/>
                <a:ea typeface="宋体" panose="02010600030101010101" pitchFamily="2" charset="-122"/>
              </a:rPr>
              <a:t>的二维数组中，有“*”围住了</a:t>
            </a:r>
            <a:r>
              <a:rPr lang="en-US" altLang="zh-CN">
                <a:latin typeface="Arial" panose="020B0604020202020204" pitchFamily="34" charset="0"/>
                <a:ea typeface="宋体" panose="02010600030101010101" pitchFamily="2" charset="-122"/>
              </a:rPr>
              <a:t>15</a:t>
            </a:r>
            <a:r>
              <a:rPr lang="zh-CN" altLang="en-US" dirty="0">
                <a:latin typeface="Arial" panose="020B0604020202020204" pitchFamily="34" charset="0"/>
                <a:ea typeface="宋体" panose="02010600030101010101" pitchFamily="2" charset="-122"/>
              </a:rPr>
              <a:t>个点，因此面积为</a:t>
            </a:r>
            <a:r>
              <a:rPr lang="en-US" altLang="zh-CN">
                <a:latin typeface="Arial" panose="020B0604020202020204" pitchFamily="34" charset="0"/>
                <a:ea typeface="宋体" panose="02010600030101010101" pitchFamily="2" charset="-122"/>
              </a:rPr>
              <a:t>15</a:t>
            </a:r>
            <a:r>
              <a:rPr lang="zh-CN" altLang="en-US" dirty="0">
                <a:latin typeface="Arial" panose="020B0604020202020204" pitchFamily="34" charset="0"/>
                <a:ea typeface="宋体" panose="02010600030101010101" pitchFamily="2" charset="-122"/>
              </a:rPr>
              <a:t>。</a:t>
            </a:r>
            <a:endParaRPr lang="zh-CN" altLang="en-US" b="1" dirty="0">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0  0  0  0  0  0  0  0  0  0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0  0  *  *  *  0  0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0  0  *  0  0  *  0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0  0  0  *  0  0  *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  0  0  0  *  0  *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  0  *  0  *  0  0  *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  0  0  *  *  0  *  *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  0  0  0  0  *  0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0  *  *  *  *  *  0  0</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0  0  0  0  0  0  0  0  0  0</a:t>
            </a:r>
            <a:endParaRPr lang="en-US" altLang="zh-CN" b="1">
              <a:latin typeface="Arial" panose="020B0604020202020204" pitchFamily="34" charset="0"/>
              <a:ea typeface="宋体" panose="02010600030101010101" pitchFamily="2" charset="-122"/>
            </a:endParaRPr>
          </a:p>
          <a:p>
            <a:pPr>
              <a:spcBef>
                <a:spcPct val="50000"/>
              </a:spcBef>
            </a:pPr>
            <a:endParaRPr lang="en-US" altLang="zh-CN">
              <a:latin typeface="Arial" panose="020B0604020202020204" pitchFamily="34" charset="0"/>
              <a:ea typeface="宋体" panose="02010600030101010101" pitchFamily="2" charset="-122"/>
            </a:endParaRPr>
          </a:p>
        </p:txBody>
      </p:sp>
      <p:sp>
        <p:nvSpPr>
          <p:cNvPr id="25603" name="Rectangle 4"/>
          <p:cNvSpPr/>
          <p:nvPr/>
        </p:nvSpPr>
        <p:spPr>
          <a:xfrm>
            <a:off x="3048000" y="3744913"/>
            <a:ext cx="4572000" cy="3113087"/>
          </a:xfrm>
          <a:prstGeom prst="rect">
            <a:avLst/>
          </a:prstGeom>
          <a:noFill/>
          <a:ln w="9525">
            <a:noFill/>
          </a:ln>
        </p:spPr>
        <p:txBody>
          <a:bodyPr anchor="t" anchorCtr="0">
            <a:spAutoFit/>
          </a:bodyPr>
          <a:p>
            <a:r>
              <a:rPr lang="en-US" altLang="zh-CN" b="1">
                <a:latin typeface="Arial" panose="020B0604020202020204" pitchFamily="34" charset="0"/>
                <a:ea typeface="宋体" panose="02010600030101010101" pitchFamily="2" charset="-122"/>
              </a:rPr>
              <a:t>【</a:t>
            </a:r>
            <a:r>
              <a:rPr lang="zh-CN" altLang="en-US" b="1" dirty="0">
                <a:latin typeface="Arial" panose="020B0604020202020204" pitchFamily="34" charset="0"/>
                <a:ea typeface="宋体" panose="02010600030101010101" pitchFamily="2" charset="-122"/>
              </a:rPr>
              <a:t>样例输入</a:t>
            </a:r>
            <a:r>
              <a:rPr lang="en-US" altLang="zh-CN" b="1">
                <a:latin typeface="Arial" panose="020B0604020202020204" pitchFamily="34" charset="0"/>
                <a:ea typeface="宋体" panose="02010600030101010101" pitchFamily="2" charset="-122"/>
              </a:rPr>
              <a:t>】</a:t>
            </a:r>
            <a:r>
              <a:rPr lang="en-US" altLang="zh-CN" b="1" err="1">
                <a:latin typeface="Arial" panose="020B0604020202020204" pitchFamily="34" charset="0"/>
                <a:ea typeface="宋体" panose="02010600030101010101" pitchFamily="2" charset="-122"/>
              </a:rPr>
              <a:t>area.in</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0 0 0 0 0 0 0 0 0 0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0 0 0 0 1 1 1 0 0 0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0 0 0 0 1 0 0 1 0 0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0 0 0 0 0 1 0 0 1 0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0 0 1 0 0 0 1 0 1 0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0 1 0 1 0 1 0 0 1 0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0 1 0 0 1 1 0 1 1 0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0 0 1 0 0 0 0 1 0 0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0 0 0 1 1 1 1 1 0 0</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0 0 0 0 0 0 0 0 0 0</a:t>
            </a:r>
            <a:endParaRPr lang="en-US" altLang="zh-CN">
              <a:latin typeface="Arial" panose="020B0604020202020204" pitchFamily="34" charset="0"/>
              <a:ea typeface="宋体" panose="02010600030101010101" pitchFamily="2" charset="-122"/>
            </a:endParaRPr>
          </a:p>
        </p:txBody>
      </p:sp>
      <p:sp>
        <p:nvSpPr>
          <p:cNvPr id="25604" name="Rectangle 5"/>
          <p:cNvSpPr/>
          <p:nvPr/>
        </p:nvSpPr>
        <p:spPr>
          <a:xfrm>
            <a:off x="5892800" y="3763963"/>
            <a:ext cx="2819400" cy="641350"/>
          </a:xfrm>
          <a:prstGeom prst="rect">
            <a:avLst/>
          </a:prstGeom>
          <a:noFill/>
          <a:ln w="9525">
            <a:noFill/>
          </a:ln>
        </p:spPr>
        <p:txBody>
          <a:bodyPr anchor="t" anchorCtr="0">
            <a:spAutoFit/>
          </a:bodyPr>
          <a:p>
            <a:r>
              <a:rPr lang="en-US" altLang="zh-CN" b="1">
                <a:latin typeface="Arial" panose="020B0604020202020204" pitchFamily="34" charset="0"/>
                <a:ea typeface="宋体" panose="02010600030101010101" pitchFamily="2" charset="-122"/>
              </a:rPr>
              <a:t>【</a:t>
            </a:r>
            <a:r>
              <a:rPr lang="zh-CN" altLang="en-US" b="1" dirty="0">
                <a:latin typeface="Arial" panose="020B0604020202020204" pitchFamily="34" charset="0"/>
                <a:ea typeface="宋体" panose="02010600030101010101" pitchFamily="2" charset="-122"/>
              </a:rPr>
              <a:t>样例输出</a:t>
            </a:r>
            <a:r>
              <a:rPr lang="en-US" altLang="zh-CN" b="1">
                <a:latin typeface="Arial" panose="020B0604020202020204" pitchFamily="34" charset="0"/>
                <a:ea typeface="宋体" panose="02010600030101010101" pitchFamily="2" charset="-122"/>
              </a:rPr>
              <a:t>】</a:t>
            </a:r>
            <a:r>
              <a:rPr lang="en-US" altLang="zh-CN" b="1" err="1">
                <a:latin typeface="Arial" panose="020B0604020202020204" pitchFamily="34" charset="0"/>
                <a:ea typeface="宋体" panose="02010600030101010101" pitchFamily="2" charset="-122"/>
              </a:rPr>
              <a:t>area.out</a:t>
            </a:r>
            <a:endParaRPr lang="en-US" altLang="zh-CN"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15</a:t>
            </a:r>
            <a:endParaRPr lang="en-US" altLang="zh-CN" b="1">
              <a:latin typeface="Arial" panose="020B0604020202020204" pitchFamily="34" charset="0"/>
              <a:ea typeface="宋体" panose="02010600030101010101" pitchFamily="2" charset="-122"/>
            </a:endParaRPr>
          </a:p>
        </p:txBody>
      </p:sp>
      <p:sp>
        <p:nvSpPr>
          <p:cNvPr id="25605" name="Rectangle 6"/>
          <p:cNvSpPr/>
          <p:nvPr/>
        </p:nvSpPr>
        <p:spPr>
          <a:xfrm>
            <a:off x="2819400" y="3657600"/>
            <a:ext cx="5943600" cy="320040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Text Box 2"/>
          <p:cNvSpPr txBox="1"/>
          <p:nvPr/>
        </p:nvSpPr>
        <p:spPr>
          <a:xfrm>
            <a:off x="76200" y="60325"/>
            <a:ext cx="9144000" cy="6492875"/>
          </a:xfrm>
          <a:prstGeom prst="rect">
            <a:avLst/>
          </a:prstGeom>
          <a:noFill/>
          <a:ln w="9525">
            <a:noFill/>
          </a:ln>
        </p:spPr>
        <p:txBody>
          <a:bodyPr anchor="t" anchorCtr="0">
            <a:spAutoFit/>
          </a:bodyPr>
          <a:p>
            <a:r>
              <a:rPr lang="en-US" altLang="zh-CN" sz="2000" b="1">
                <a:latin typeface="Arial" panose="020B0604020202020204" pitchFamily="34" charset="0"/>
                <a:ea typeface="宋体" panose="02010600030101010101" pitchFamily="2" charset="-122"/>
              </a:rPr>
              <a:t>2</a:t>
            </a:r>
            <a:r>
              <a:rPr lang="zh-CN" altLang="en-US" sz="2000" b="1" dirty="0">
                <a:latin typeface="Arial" panose="020B0604020202020204" pitchFamily="34" charset="0"/>
                <a:ea typeface="宋体" panose="02010600030101010101" pitchFamily="2" charset="-122"/>
              </a:rPr>
              <a:t>、营救</a:t>
            </a:r>
            <a:endParaRPr lang="zh-CN" altLang="en-US" sz="2000" b="1" dirty="0">
              <a:latin typeface="Arial" panose="020B0604020202020204" pitchFamily="34" charset="0"/>
              <a:ea typeface="宋体" panose="02010600030101010101" pitchFamily="2" charset="-122"/>
            </a:endParaRPr>
          </a:p>
          <a:p>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问题描述</a:t>
            </a:r>
            <a:r>
              <a:rPr lang="en-US" altLang="zh-CN" sz="2000" b="1">
                <a:latin typeface="Arial" panose="020B0604020202020204" pitchFamily="34"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铁塔尼号遇险了！他发出了求救信号。距离最近的哥伦比亚号收到了讯息，时间就是生命，必须尽快赶到那里。</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通过侦测，哥伦比亚号获取了一张海洋图。这张图将海洋部分分化成</a:t>
            </a:r>
            <a:r>
              <a:rPr lang="en-US" altLang="zh-CN" sz="2000">
                <a:latin typeface="Arial" panose="020B0604020202020204" pitchFamily="34" charset="0"/>
                <a:ea typeface="宋体" panose="02010600030101010101" pitchFamily="2" charset="-122"/>
              </a:rPr>
              <a:t>n*n</a:t>
            </a:r>
            <a:r>
              <a:rPr lang="zh-CN" altLang="en-US" sz="2000" dirty="0">
                <a:latin typeface="Arial" panose="020B0604020202020204" pitchFamily="34" charset="0"/>
                <a:ea typeface="宋体" panose="02010600030101010101" pitchFamily="2" charset="-122"/>
              </a:rPr>
              <a:t>个比较小的单位，其中用</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标明的是陆地，用</a:t>
            </a:r>
            <a:r>
              <a:rPr lang="en-US" altLang="zh-CN" sz="2000">
                <a:latin typeface="Arial" panose="020B0604020202020204" pitchFamily="34" charset="0"/>
                <a:ea typeface="宋体" panose="02010600030101010101" pitchFamily="2" charset="-122"/>
              </a:rPr>
              <a:t>0</a:t>
            </a:r>
            <a:r>
              <a:rPr lang="zh-CN" altLang="en-US" sz="2000" dirty="0">
                <a:latin typeface="Arial" panose="020B0604020202020204" pitchFamily="34" charset="0"/>
                <a:ea typeface="宋体" panose="02010600030101010101" pitchFamily="2" charset="-122"/>
              </a:rPr>
              <a:t>标明是海洋。船只能从一个格子，移到相邻的四个格子。</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       为了尽快赶到出事地点，哥伦比亚号最少需要走多远的距离。</a:t>
            </a:r>
            <a:endParaRPr lang="zh-CN" altLang="en-US" sz="2000" b="1" dirty="0">
              <a:latin typeface="Arial" panose="020B0604020202020204" pitchFamily="34" charset="0"/>
              <a:ea typeface="宋体" panose="02010600030101010101" pitchFamily="2" charset="-122"/>
            </a:endParaRPr>
          </a:p>
          <a:p>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输入格式</a:t>
            </a:r>
            <a:r>
              <a:rPr lang="en-US" altLang="zh-CN" sz="2000" b="1">
                <a:latin typeface="Arial" panose="020B0604020202020204" pitchFamily="34"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第一行为</a:t>
            </a:r>
            <a:r>
              <a:rPr lang="en-US" altLang="zh-CN" sz="2000">
                <a:latin typeface="Arial" panose="020B0604020202020204" pitchFamily="34" charset="0"/>
                <a:ea typeface="宋体" panose="02010600030101010101" pitchFamily="2" charset="-122"/>
              </a:rPr>
              <a:t>n,</a:t>
            </a:r>
            <a:r>
              <a:rPr lang="zh-CN" altLang="en-US" sz="2000" dirty="0">
                <a:latin typeface="Arial" panose="020B0604020202020204" pitchFamily="34" charset="0"/>
                <a:ea typeface="宋体" panose="02010600030101010101" pitchFamily="2" charset="-122"/>
              </a:rPr>
              <a:t>下面是一个</a:t>
            </a:r>
            <a:r>
              <a:rPr lang="en-US" altLang="zh-CN" sz="2000">
                <a:latin typeface="Arial" panose="020B0604020202020204" pitchFamily="34" charset="0"/>
                <a:ea typeface="宋体" panose="02010600030101010101" pitchFamily="2" charset="-122"/>
              </a:rPr>
              <a:t>n*n</a:t>
            </a:r>
            <a:r>
              <a:rPr lang="zh-CN" altLang="en-US" sz="2000" dirty="0">
                <a:latin typeface="Arial" panose="020B0604020202020204" pitchFamily="34" charset="0"/>
                <a:ea typeface="宋体" panose="02010600030101010101" pitchFamily="2" charset="-122"/>
              </a:rPr>
              <a:t>的</a:t>
            </a:r>
            <a:r>
              <a:rPr lang="en-US" altLang="zh-CN" sz="2000">
                <a:latin typeface="Arial" panose="020B0604020202020204" pitchFamily="34" charset="0"/>
                <a:ea typeface="宋体" panose="02010600030101010101" pitchFamily="2" charset="-122"/>
              </a:rPr>
              <a:t>0</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矩阵，表示海洋地图</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最后一行为四个小于</a:t>
            </a:r>
            <a:r>
              <a:rPr lang="en-US" altLang="zh-CN" sz="2000">
                <a:latin typeface="Arial" panose="020B0604020202020204" pitchFamily="34" charset="0"/>
                <a:ea typeface="宋体" panose="02010600030101010101" pitchFamily="2" charset="-122"/>
              </a:rPr>
              <a:t>n</a:t>
            </a:r>
            <a:r>
              <a:rPr lang="zh-CN" altLang="en-US" sz="2000" dirty="0">
                <a:latin typeface="Arial" panose="020B0604020202020204" pitchFamily="34" charset="0"/>
                <a:ea typeface="宋体" panose="02010600030101010101" pitchFamily="2" charset="-122"/>
              </a:rPr>
              <a:t>的整数，分别表示哥伦比亚号和铁塔尼号的位置。</a:t>
            </a:r>
            <a:endParaRPr lang="zh-CN" altLang="en-US" sz="2000" dirty="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输出格式</a:t>
            </a:r>
            <a:r>
              <a:rPr lang="en-US" altLang="zh-CN" sz="2000">
                <a:latin typeface="Arial" panose="020B0604020202020204" pitchFamily="34"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哥伦比亚号到铁塔尼号的最短距离，答案精确到整数。</a:t>
            </a:r>
            <a:endParaRPr lang="zh-CN" altLang="en-US" sz="2000" b="1" dirty="0">
              <a:latin typeface="Arial" panose="020B0604020202020204" pitchFamily="34" charset="0"/>
              <a:ea typeface="宋体" panose="02010600030101010101" pitchFamily="2" charset="-122"/>
            </a:endParaRPr>
          </a:p>
          <a:p>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输入样例</a:t>
            </a:r>
            <a:r>
              <a:rPr lang="en-US" altLang="zh-CN" sz="2000" b="1">
                <a:latin typeface="Arial" panose="020B0604020202020204" pitchFamily="34" charset="0"/>
                <a:ea typeface="宋体" panose="02010600030101010101" pitchFamily="2" charset="-122"/>
              </a:rPr>
              <a:t>】</a:t>
            </a:r>
            <a:r>
              <a:rPr lang="en-US" altLang="zh-CN" sz="2000" b="1" err="1">
                <a:latin typeface="Arial" panose="020B0604020202020204" pitchFamily="34" charset="0"/>
                <a:ea typeface="宋体" panose="02010600030101010101" pitchFamily="2" charset="-122"/>
              </a:rPr>
              <a:t>save.in</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3</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001</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101</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100</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1 1 3 3</a:t>
            </a:r>
            <a:endParaRPr lang="en-US" altLang="zh-CN" sz="2000" b="1">
              <a:latin typeface="Arial" panose="020B0604020202020204" pitchFamily="34" charset="0"/>
              <a:ea typeface="宋体" panose="02010600030101010101" pitchFamily="2" charset="-122"/>
            </a:endParaRPr>
          </a:p>
          <a:p>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数据范围</a:t>
            </a:r>
            <a:r>
              <a:rPr lang="en-US" altLang="zh-CN" sz="2000" b="1">
                <a:latin typeface="Arial" panose="020B0604020202020204" pitchFamily="34"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N&lt;=1000</a:t>
            </a:r>
            <a:endParaRPr lang="en-US" altLang="zh-CN" sz="2000">
              <a:latin typeface="Arial" panose="020B0604020202020204" pitchFamily="34" charset="0"/>
              <a:ea typeface="宋体" panose="02010600030101010101" pitchFamily="2" charset="-122"/>
            </a:endParaRPr>
          </a:p>
        </p:txBody>
      </p:sp>
      <p:sp>
        <p:nvSpPr>
          <p:cNvPr id="26626" name="Rectangle 3"/>
          <p:cNvSpPr/>
          <p:nvPr/>
        </p:nvSpPr>
        <p:spPr>
          <a:xfrm>
            <a:off x="3429000" y="4038600"/>
            <a:ext cx="4572000" cy="701675"/>
          </a:xfrm>
          <a:prstGeom prst="rect">
            <a:avLst/>
          </a:prstGeom>
          <a:noFill/>
          <a:ln w="9525">
            <a:noFill/>
          </a:ln>
        </p:spPr>
        <p:txBody>
          <a:bodyPr anchor="t" anchorCtr="0">
            <a:spAutoFit/>
          </a:bodyPr>
          <a:p>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输出样例</a:t>
            </a:r>
            <a:r>
              <a:rPr lang="en-US" altLang="zh-CN" sz="2000" b="1">
                <a:latin typeface="Arial" panose="020B0604020202020204" pitchFamily="34" charset="0"/>
                <a:ea typeface="宋体" panose="02010600030101010101" pitchFamily="2" charset="-122"/>
              </a:rPr>
              <a:t>】</a:t>
            </a:r>
            <a:r>
              <a:rPr lang="en-US" altLang="zh-CN" sz="2000" b="1" err="1">
                <a:latin typeface="Arial" panose="020B0604020202020204" pitchFamily="34" charset="0"/>
                <a:ea typeface="宋体" panose="02010600030101010101" pitchFamily="2" charset="-122"/>
              </a:rPr>
              <a:t>save.out</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4</a:t>
            </a:r>
            <a:endParaRPr lang="en-US" altLang="zh-CN" sz="2000">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ext Box 2"/>
          <p:cNvSpPr txBox="1"/>
          <p:nvPr/>
        </p:nvSpPr>
        <p:spPr>
          <a:xfrm>
            <a:off x="0" y="60325"/>
            <a:ext cx="9144000" cy="2225675"/>
          </a:xfrm>
          <a:prstGeom prst="rect">
            <a:avLst/>
          </a:prstGeom>
          <a:noFill/>
          <a:ln w="9525">
            <a:noFill/>
          </a:ln>
        </p:spPr>
        <p:txBody>
          <a:bodyPr anchor="t" anchorCtr="0">
            <a:spAutoFit/>
          </a:bodyPr>
          <a:p>
            <a:r>
              <a:rPr lang="en-US" altLang="zh-CN" sz="2000" b="1">
                <a:latin typeface="Arial" panose="020B0604020202020204" pitchFamily="34" charset="0"/>
                <a:ea typeface="宋体" panose="02010600030101010101" pitchFamily="2" charset="-122"/>
              </a:rPr>
              <a:t>3</a:t>
            </a:r>
            <a:r>
              <a:rPr lang="zh-CN" altLang="en-US" sz="2000" b="1" dirty="0">
                <a:latin typeface="Arial" panose="020B0604020202020204" pitchFamily="34" charset="0"/>
                <a:ea typeface="宋体" panose="02010600030101010101" pitchFamily="2" charset="-122"/>
              </a:rPr>
              <a:t>、最少转弯问题（</a:t>
            </a:r>
            <a:r>
              <a:rPr lang="en-US" altLang="zh-CN" sz="2000" b="1">
                <a:latin typeface="Arial" panose="020B0604020202020204" pitchFamily="34" charset="0"/>
                <a:ea typeface="宋体" panose="02010600030101010101" pitchFamily="2" charset="-122"/>
              </a:rPr>
              <a:t>TURN</a:t>
            </a:r>
            <a:r>
              <a:rPr lang="zh-CN" altLang="en-US" sz="2000" b="1" dirty="0">
                <a:latin typeface="Arial" panose="020B0604020202020204" pitchFamily="34" charset="0"/>
                <a:ea typeface="宋体" panose="02010600030101010101" pitchFamily="2" charset="-122"/>
              </a:rPr>
              <a:t>）</a:t>
            </a:r>
            <a:endParaRPr lang="zh-CN" altLang="en-US" sz="2000" b="1" dirty="0">
              <a:latin typeface="Arial" panose="020B0604020202020204" pitchFamily="34" charset="0"/>
              <a:ea typeface="宋体" panose="02010600030101010101" pitchFamily="2" charset="-122"/>
            </a:endParaRPr>
          </a:p>
          <a:p>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问题描述</a:t>
            </a:r>
            <a:r>
              <a:rPr lang="en-US" altLang="zh-CN" sz="2000" b="1">
                <a:latin typeface="Arial" panose="020B0604020202020204" pitchFamily="34" charset="0"/>
                <a:ea typeface="宋体" panose="02010600030101010101" pitchFamily="2" charset="-122"/>
              </a:rPr>
              <a:t>】</a:t>
            </a:r>
            <a:endParaRPr lang="en-US" altLang="zh-CN" sz="2000" b="1">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给出一张地图，这张地图被分为</a:t>
            </a:r>
            <a:r>
              <a:rPr lang="en-US" altLang="zh-CN" sz="2000" err="1">
                <a:latin typeface="Arial" panose="020B0604020202020204" pitchFamily="34" charset="0"/>
                <a:ea typeface="宋体" panose="02010600030101010101" pitchFamily="2" charset="-122"/>
              </a:rPr>
              <a:t>n×m</a:t>
            </a:r>
            <a:r>
              <a:rPr lang="zh-CN" altLang="en-US" sz="2000" dirty="0">
                <a:latin typeface="Arial" panose="020B0604020202020204" pitchFamily="34" charset="0"/>
                <a:ea typeface="宋体" panose="02010600030101010101" pitchFamily="2" charset="-122"/>
              </a:rPr>
              <a:t>（</a:t>
            </a:r>
            <a:r>
              <a:rPr lang="en-US" altLang="zh-CN" sz="2000" err="1">
                <a:latin typeface="Arial" panose="020B0604020202020204" pitchFamily="34" charset="0"/>
                <a:ea typeface="宋体" panose="02010600030101010101" pitchFamily="2" charset="-122"/>
              </a:rPr>
              <a:t>n,m</a:t>
            </a:r>
            <a:r>
              <a:rPr lang="en-US" altLang="zh-CN" sz="2000">
                <a:latin typeface="Arial" panose="020B0604020202020204" pitchFamily="34" charset="0"/>
                <a:ea typeface="宋体" panose="02010600030101010101" pitchFamily="2" charset="-122"/>
              </a:rPr>
              <a:t>&lt;=100</a:t>
            </a:r>
            <a:r>
              <a:rPr lang="zh-CN" altLang="en-US" sz="2000" dirty="0">
                <a:latin typeface="Arial" panose="020B0604020202020204" pitchFamily="34" charset="0"/>
                <a:ea typeface="宋体" panose="02010600030101010101" pitchFamily="2" charset="-122"/>
              </a:rPr>
              <a:t>）个方块，任何一个方块不是平地就是高山。平地可以通过，高山则不能。现在你处在地图的（</a:t>
            </a:r>
            <a:r>
              <a:rPr lang="en-US" altLang="zh-CN" sz="2000">
                <a:latin typeface="Arial" panose="020B0604020202020204" pitchFamily="34" charset="0"/>
                <a:ea typeface="宋体" panose="02010600030101010101" pitchFamily="2" charset="-122"/>
              </a:rPr>
              <a:t>x1,y1</a:t>
            </a:r>
            <a:r>
              <a:rPr lang="zh-CN" altLang="en-US" sz="2000" dirty="0">
                <a:latin typeface="Arial" panose="020B0604020202020204" pitchFamily="34" charset="0"/>
                <a:ea typeface="宋体" panose="02010600030101010101" pitchFamily="2" charset="-122"/>
              </a:rPr>
              <a:t>）这块平地，问：你至少需要拐几个弯才能到达目的地（</a:t>
            </a:r>
            <a:r>
              <a:rPr lang="en-US" altLang="zh-CN" sz="2000">
                <a:latin typeface="Arial" panose="020B0604020202020204" pitchFamily="34" charset="0"/>
                <a:ea typeface="宋体" panose="02010600030101010101" pitchFamily="2" charset="-122"/>
              </a:rPr>
              <a:t>x2,y2</a:t>
            </a:r>
            <a:r>
              <a:rPr lang="zh-CN" altLang="en-US" sz="2000" dirty="0">
                <a:latin typeface="Arial" panose="020B0604020202020204" pitchFamily="34" charset="0"/>
                <a:ea typeface="宋体" panose="02010600030101010101" pitchFamily="2" charset="-122"/>
              </a:rPr>
              <a:t>）？你只能沿着水平和垂直方向的平地上行进，拐弯次数就等于行进方向的改变（从水平到垂直或从垂直到水平）的次数。例如：如图，最少的拐弯次数为</a:t>
            </a:r>
            <a:r>
              <a:rPr lang="en-US" altLang="zh-CN" sz="2000">
                <a:latin typeface="Arial" panose="020B0604020202020204" pitchFamily="34" charset="0"/>
                <a:ea typeface="宋体" panose="02010600030101010101" pitchFamily="2" charset="-122"/>
              </a:rPr>
              <a:t>5</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pic>
        <p:nvPicPr>
          <p:cNvPr id="27650" name="Picture 244"/>
          <p:cNvPicPr>
            <a:picLocks noChangeAspect="1"/>
          </p:cNvPicPr>
          <p:nvPr/>
        </p:nvPicPr>
        <p:blipFill>
          <a:blip r:embed="rId1"/>
          <a:stretch>
            <a:fillRect/>
          </a:stretch>
        </p:blipFill>
        <p:spPr>
          <a:xfrm>
            <a:off x="1143000" y="2286000"/>
            <a:ext cx="5334000" cy="4243388"/>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Text Box 3"/>
          <p:cNvSpPr txBox="1"/>
          <p:nvPr/>
        </p:nvSpPr>
        <p:spPr>
          <a:xfrm>
            <a:off x="228600" y="381000"/>
            <a:ext cx="8686800" cy="3140075"/>
          </a:xfrm>
          <a:prstGeom prst="rect">
            <a:avLst/>
          </a:prstGeom>
          <a:noFill/>
          <a:ln w="9525">
            <a:noFill/>
          </a:ln>
        </p:spPr>
        <p:txBody>
          <a:bodyPr anchor="t" anchorCtr="0">
            <a:spAutoFit/>
          </a:bodyPr>
          <a:p>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输入格式</a:t>
            </a:r>
            <a:r>
              <a:rPr lang="en-US" altLang="zh-CN" sz="2000">
                <a:latin typeface="Arial" panose="020B0604020202020204" pitchFamily="34"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第</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行：</a:t>
            </a:r>
            <a:r>
              <a:rPr lang="en-US" altLang="zh-CN" sz="2000">
                <a:latin typeface="Arial" panose="020B0604020202020204" pitchFamily="34" charset="0"/>
                <a:ea typeface="宋体" panose="02010600030101010101" pitchFamily="2" charset="-122"/>
              </a:rPr>
              <a:t>n   m</a:t>
            </a:r>
            <a:endParaRPr lang="en-US" altLang="zh-CN" sz="200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第</a:t>
            </a:r>
            <a:r>
              <a:rPr lang="en-US" altLang="zh-CN" sz="200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至</a:t>
            </a:r>
            <a:r>
              <a:rPr lang="en-US" altLang="zh-CN" sz="2000">
                <a:latin typeface="Arial" panose="020B0604020202020204" pitchFamily="34" charset="0"/>
                <a:ea typeface="宋体" panose="02010600030101010101" pitchFamily="2" charset="-122"/>
              </a:rPr>
              <a:t>n+1</a:t>
            </a:r>
            <a:r>
              <a:rPr lang="zh-CN" altLang="en-US" sz="2000" dirty="0">
                <a:latin typeface="Arial" panose="020B0604020202020204" pitchFamily="34" charset="0"/>
                <a:ea typeface="宋体" panose="02010600030101010101" pitchFamily="2" charset="-122"/>
              </a:rPr>
              <a:t>行：整个地图地形描述（</a:t>
            </a:r>
            <a:r>
              <a:rPr lang="en-US" altLang="zh-CN" sz="2000">
                <a:latin typeface="Arial" panose="020B0604020202020204" pitchFamily="34" charset="0"/>
                <a:ea typeface="宋体" panose="02010600030101010101" pitchFamily="2" charset="-122"/>
              </a:rPr>
              <a:t>0</a:t>
            </a:r>
            <a:r>
              <a:rPr lang="zh-CN" altLang="en-US" sz="2000" dirty="0">
                <a:latin typeface="Arial" panose="020B0604020202020204" pitchFamily="34" charset="0"/>
                <a:ea typeface="宋体" panose="02010600030101010101" pitchFamily="2" charset="-122"/>
              </a:rPr>
              <a:t>：空地；</a:t>
            </a:r>
            <a:r>
              <a:rPr lang="en-US" altLang="zh-CN" sz="200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：高山），</a:t>
            </a:r>
            <a:endParaRPr lang="zh-CN" altLang="en-US" sz="2000" dirty="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如（图）第</a:t>
            </a:r>
            <a:r>
              <a:rPr lang="en-US" altLang="zh-CN" sz="200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行地形描述为：</a:t>
            </a:r>
            <a:r>
              <a:rPr lang="en-US" altLang="zh-CN" sz="2000">
                <a:latin typeface="Arial" panose="020B0604020202020204" pitchFamily="34" charset="0"/>
                <a:ea typeface="宋体" panose="02010600030101010101" pitchFamily="2" charset="-122"/>
              </a:rPr>
              <a:t>1 0 0 0 0 1 0</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第</a:t>
            </a:r>
            <a:r>
              <a:rPr lang="en-US" altLang="zh-CN" sz="200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行地形描述为：</a:t>
            </a:r>
            <a:r>
              <a:rPr lang="en-US" altLang="zh-CN" sz="2000">
                <a:latin typeface="Arial" panose="020B0604020202020204" pitchFamily="34" charset="0"/>
                <a:ea typeface="宋体" panose="02010600030101010101" pitchFamily="2" charset="-122"/>
              </a:rPr>
              <a:t>0 0 1 0 1 0 0</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               ……</a:t>
            </a:r>
            <a:endParaRPr lang="en-US" altLang="zh-CN" sz="2000">
              <a:latin typeface="Arial" panose="020B0604020202020204" pitchFamily="34" charset="0"/>
              <a:ea typeface="宋体" panose="02010600030101010101" pitchFamily="2" charset="-122"/>
            </a:endParaRPr>
          </a:p>
          <a:p>
            <a:r>
              <a:rPr lang="zh-CN" altLang="en-US" sz="2000" dirty="0">
                <a:latin typeface="Arial" panose="020B0604020202020204" pitchFamily="34" charset="0"/>
                <a:ea typeface="宋体" panose="02010600030101010101" pitchFamily="2" charset="-122"/>
              </a:rPr>
              <a:t>第</a:t>
            </a:r>
            <a:r>
              <a:rPr lang="en-US" altLang="zh-CN" sz="2000">
                <a:latin typeface="Arial" panose="020B0604020202020204" pitchFamily="34" charset="0"/>
                <a:ea typeface="宋体" panose="02010600030101010101" pitchFamily="2" charset="-122"/>
              </a:rPr>
              <a:t>n+2</a:t>
            </a:r>
            <a:r>
              <a:rPr lang="zh-CN" altLang="en-US" sz="2000" dirty="0">
                <a:latin typeface="Arial" panose="020B0604020202020204" pitchFamily="34" charset="0"/>
                <a:ea typeface="宋体" panose="02010600030101010101" pitchFamily="2" charset="-122"/>
              </a:rPr>
              <a:t>行：</a:t>
            </a:r>
            <a:r>
              <a:rPr lang="en-US" altLang="zh-CN" sz="2000">
                <a:latin typeface="Arial" panose="020B0604020202020204" pitchFamily="34" charset="0"/>
                <a:ea typeface="宋体" panose="02010600030101010101" pitchFamily="2" charset="-122"/>
              </a:rPr>
              <a:t>x1  y1  x2  y2  </a:t>
            </a:r>
            <a:r>
              <a:rPr lang="zh-CN" altLang="en-US" sz="2000" dirty="0">
                <a:latin typeface="Arial" panose="020B0604020202020204" pitchFamily="34" charset="0"/>
                <a:ea typeface="宋体" panose="02010600030101010101" pitchFamily="2" charset="-122"/>
              </a:rPr>
              <a:t>（分别为起点、终点坐标）</a:t>
            </a:r>
            <a:endParaRPr lang="zh-CN" altLang="en-US" sz="2000" dirty="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输出格式</a:t>
            </a:r>
            <a:r>
              <a:rPr lang="en-US" altLang="zh-CN" sz="2000">
                <a:latin typeface="Arial" panose="020B0604020202020204" pitchFamily="34"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s </a:t>
            </a:r>
            <a:r>
              <a:rPr lang="zh-CN" altLang="en-US" sz="2000" dirty="0">
                <a:latin typeface="Arial" panose="020B0604020202020204" pitchFamily="34" charset="0"/>
                <a:ea typeface="宋体" panose="02010600030101010101" pitchFamily="2" charset="-122"/>
              </a:rPr>
              <a:t>（即最少的拐弯次数）</a:t>
            </a:r>
            <a:endParaRPr lang="zh-CN" altLang="en-US" sz="2000" dirty="0">
              <a:latin typeface="Arial" panose="020B0604020202020204" pitchFamily="34" charset="0"/>
              <a:ea typeface="宋体" panose="02010600030101010101" pitchFamily="2" charset="-122"/>
            </a:endParaRPr>
          </a:p>
          <a:p>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输入输出样例</a:t>
            </a:r>
            <a:r>
              <a:rPr lang="en-US" altLang="zh-CN" sz="200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（见图）：</a:t>
            </a:r>
            <a:endParaRPr lang="zh-CN" altLang="en-US" sz="2000" dirty="0">
              <a:latin typeface="Arial" panose="020B0604020202020204" pitchFamily="34" charset="0"/>
              <a:ea typeface="宋体" panose="02010600030101010101" pitchFamily="2" charset="-122"/>
            </a:endParaRPr>
          </a:p>
        </p:txBody>
      </p:sp>
      <p:graphicFrame>
        <p:nvGraphicFramePr>
          <p:cNvPr id="27651" name="表格 27650"/>
          <p:cNvGraphicFramePr/>
          <p:nvPr/>
        </p:nvGraphicFramePr>
        <p:xfrm>
          <a:off x="381000" y="3733800"/>
          <a:ext cx="7772400" cy="2743200"/>
        </p:xfrm>
        <a:graphic>
          <a:graphicData uri="http://schemas.openxmlformats.org/drawingml/2006/table">
            <a:tbl>
              <a:tblPr/>
              <a:tblGrid>
                <a:gridCol w="4432300"/>
                <a:gridCol w="3340100"/>
              </a:tblGrid>
              <a:tr h="490538">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2000">
                          <a:latin typeface="华文中宋" pitchFamily="2" charset="-122"/>
                          <a:ea typeface="华文中宋" pitchFamily="2" charset="-122"/>
                        </a:rPr>
                        <a:t>TURN.IN</a:t>
                      </a:r>
                      <a:endParaRPr lang="en-US" altLang="zh-CN" sz="2000">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2000">
                          <a:latin typeface="华文中宋" pitchFamily="2" charset="-122"/>
                          <a:ea typeface="华文中宋" pitchFamily="2" charset="-122"/>
                        </a:rPr>
                        <a:t>TURN.OUT</a:t>
                      </a:r>
                      <a:endParaRPr lang="en-US" altLang="zh-CN" sz="2000">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252662">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2000">
                          <a:latin typeface="华文中宋" pitchFamily="2" charset="-122"/>
                          <a:ea typeface="华文中宋" pitchFamily="2" charset="-122"/>
                        </a:rPr>
                        <a:t>5 7</a:t>
                      </a:r>
                      <a:endParaRPr lang="en-US" altLang="zh-CN" sz="2000">
                        <a:ea typeface="华文中宋" pitchFamily="2" charset="-122"/>
                      </a:endParaRPr>
                    </a:p>
                    <a:p>
                      <a:pPr marL="0" lvl="0" indent="0">
                        <a:spcBef>
                          <a:spcPct val="0"/>
                        </a:spcBef>
                        <a:buClrTx/>
                        <a:buNone/>
                      </a:pPr>
                      <a:r>
                        <a:rPr lang="en-US" altLang="zh-CN" sz="2000">
                          <a:latin typeface="华文中宋" pitchFamily="2" charset="-122"/>
                          <a:ea typeface="华文中宋" pitchFamily="2" charset="-122"/>
                        </a:rPr>
                        <a:t>1 0 0 0 0 1 0 </a:t>
                      </a:r>
                      <a:endParaRPr lang="en-US" altLang="zh-CN" sz="2000">
                        <a:ea typeface="华文中宋" pitchFamily="2" charset="-122"/>
                      </a:endParaRPr>
                    </a:p>
                    <a:p>
                      <a:pPr marL="0" lvl="0" indent="0">
                        <a:spcBef>
                          <a:spcPct val="0"/>
                        </a:spcBef>
                        <a:buClrTx/>
                        <a:buNone/>
                      </a:pPr>
                      <a:r>
                        <a:rPr lang="en-US" altLang="zh-CN" sz="2000">
                          <a:latin typeface="华文中宋" pitchFamily="2" charset="-122"/>
                          <a:ea typeface="华文中宋" pitchFamily="2" charset="-122"/>
                        </a:rPr>
                        <a:t>0 0 1 0 1 0 0 </a:t>
                      </a:r>
                      <a:endParaRPr lang="en-US" altLang="zh-CN" sz="2000">
                        <a:ea typeface="华文中宋" pitchFamily="2" charset="-122"/>
                      </a:endParaRPr>
                    </a:p>
                    <a:p>
                      <a:pPr marL="0" lvl="0" indent="0">
                        <a:spcBef>
                          <a:spcPct val="0"/>
                        </a:spcBef>
                        <a:buClrTx/>
                        <a:buNone/>
                      </a:pPr>
                      <a:r>
                        <a:rPr lang="en-US" altLang="zh-CN" sz="2000">
                          <a:latin typeface="华文中宋" pitchFamily="2" charset="-122"/>
                          <a:ea typeface="华文中宋" pitchFamily="2" charset="-122"/>
                        </a:rPr>
                        <a:t>0 0 0 0 1 0 1 </a:t>
                      </a:r>
                      <a:endParaRPr lang="en-US" altLang="zh-CN" sz="2000">
                        <a:ea typeface="华文中宋" pitchFamily="2" charset="-122"/>
                      </a:endParaRPr>
                    </a:p>
                    <a:p>
                      <a:pPr marL="0" lvl="0" indent="0">
                        <a:spcBef>
                          <a:spcPct val="0"/>
                        </a:spcBef>
                        <a:buClrTx/>
                        <a:buNone/>
                      </a:pPr>
                      <a:r>
                        <a:rPr lang="en-US" altLang="zh-CN" sz="2000">
                          <a:latin typeface="华文中宋" pitchFamily="2" charset="-122"/>
                          <a:ea typeface="华文中宋" pitchFamily="2" charset="-122"/>
                        </a:rPr>
                        <a:t>0 1 1 0 0 0 0 </a:t>
                      </a:r>
                      <a:endParaRPr lang="en-US" altLang="zh-CN" sz="2000">
                        <a:ea typeface="华文中宋" pitchFamily="2" charset="-122"/>
                      </a:endParaRPr>
                    </a:p>
                    <a:p>
                      <a:pPr marL="0" lvl="0" indent="0">
                        <a:spcBef>
                          <a:spcPct val="0"/>
                        </a:spcBef>
                        <a:buClrTx/>
                        <a:buNone/>
                      </a:pPr>
                      <a:r>
                        <a:rPr lang="en-US" altLang="zh-CN" sz="2000">
                          <a:latin typeface="华文中宋" pitchFamily="2" charset="-122"/>
                          <a:ea typeface="华文中宋" pitchFamily="2" charset="-122"/>
                        </a:rPr>
                        <a:t>0 0 0 0 1 1 0</a:t>
                      </a:r>
                      <a:endParaRPr lang="en-US" altLang="zh-CN" sz="2000">
                        <a:ea typeface="华文中宋" pitchFamily="2" charset="-122"/>
                      </a:endParaRPr>
                    </a:p>
                    <a:p>
                      <a:pPr marL="0" lvl="0" indent="0">
                        <a:spcBef>
                          <a:spcPct val="0"/>
                        </a:spcBef>
                        <a:buClrTx/>
                        <a:buNone/>
                      </a:pPr>
                      <a:r>
                        <a:rPr lang="en-US" altLang="zh-CN" sz="2000">
                          <a:latin typeface="华文中宋" pitchFamily="2" charset="-122"/>
                          <a:ea typeface="华文中宋" pitchFamily="2" charset="-122"/>
                        </a:rPr>
                        <a:t>1 3 1 7</a:t>
                      </a:r>
                      <a:endParaRPr lang="en-US" altLang="zh-CN" sz="2000">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lr>
                          <a:schemeClr val="folHlink"/>
                        </a:buClr>
                        <a:buSzPct val="90000"/>
                        <a:buFont typeface="Wingdings" panose="05000000000000000000" pitchFamily="2" charset="2"/>
                        <a:buChar char="w"/>
                        <a:defRPr sz="2800">
                          <a:solidFill>
                            <a:schemeClr val="tx1"/>
                          </a:solidFill>
                          <a:latin typeface="+mn-lt"/>
                          <a:ea typeface="+mn-ea"/>
                          <a:cs typeface="+mn-cs"/>
                        </a:defRPr>
                      </a:lvl1pPr>
                      <a:lvl2pPr marL="742950" lvl="1" indent="-285750" algn="l" rtl="0" fontAlgn="base">
                        <a:spcBef>
                          <a:spcPct val="20000"/>
                        </a:spcBef>
                        <a:spcAft>
                          <a:spcPct val="0"/>
                        </a:spcAft>
                        <a:buClr>
                          <a:schemeClr val="hlink"/>
                        </a:buClr>
                        <a:buSzPct val="95000"/>
                        <a:buFont typeface="Wingdings" panose="05000000000000000000" pitchFamily="2" charset="2"/>
                        <a:buChar char="ª"/>
                        <a:defRPr sz="2400">
                          <a:solidFill>
                            <a:schemeClr val="tx1"/>
                          </a:solidFill>
                          <a:latin typeface="+mn-lt"/>
                          <a:ea typeface="+mn-ea"/>
                        </a:defRPr>
                      </a:lvl2pPr>
                      <a:lvl3pPr marL="1143000" lvl="2" indent="-228600" algn="l" rtl="0" fontAlgn="base">
                        <a:spcBef>
                          <a:spcPct val="20000"/>
                        </a:spcBef>
                        <a:spcAft>
                          <a:spcPct val="0"/>
                        </a:spcAft>
                        <a:buClr>
                          <a:schemeClr val="folHlink"/>
                        </a:buClr>
                        <a:buFont typeface="Wingdings" panose="05000000000000000000" pitchFamily="2" charset="2"/>
                        <a:buChar char="w"/>
                        <a:defRPr sz="2000">
                          <a:solidFill>
                            <a:schemeClr val="tx1"/>
                          </a:solidFill>
                          <a:latin typeface="+mn-lt"/>
                          <a:ea typeface="+mn-ea"/>
                        </a:defRPr>
                      </a:lvl3pPr>
                      <a:lvl4pPr marL="1600200" lvl="3" indent="-228600" algn="l" rtl="0" fontAlgn="base">
                        <a:spcBef>
                          <a:spcPct val="20000"/>
                        </a:spcBef>
                        <a:spcAft>
                          <a:spcPct val="0"/>
                        </a:spcAft>
                        <a:buClr>
                          <a:schemeClr val="hlink"/>
                        </a:buClr>
                        <a:buFont typeface="Wingdings" panose="05000000000000000000" pitchFamily="2" charset="2"/>
                        <a:buChar char="ª"/>
                        <a:defRPr sz="1800">
                          <a:solidFill>
                            <a:schemeClr val="tx1"/>
                          </a:solidFill>
                          <a:latin typeface="+mn-lt"/>
                          <a:ea typeface="+mn-ea"/>
                        </a:defRPr>
                      </a:lvl4pPr>
                      <a:lvl5pPr marL="2057400" lvl="4" indent="-228600" algn="l" rtl="0" fontAlgn="base">
                        <a:spcBef>
                          <a:spcPct val="20000"/>
                        </a:spcBef>
                        <a:spcAft>
                          <a:spcPct val="0"/>
                        </a:spcAft>
                        <a:buClr>
                          <a:schemeClr val="folHlink"/>
                        </a:buClr>
                        <a:buFont typeface="Wingdings" panose="05000000000000000000" pitchFamily="2" charset="2"/>
                        <a:buChar char="w"/>
                        <a:defRPr sz="1800">
                          <a:solidFill>
                            <a:schemeClr val="tx1"/>
                          </a:solidFill>
                          <a:latin typeface="+mn-lt"/>
                          <a:ea typeface="+mn-ea"/>
                        </a:defRPr>
                      </a:lvl5pPr>
                    </a:lstStyle>
                    <a:p>
                      <a:pPr marL="0" lvl="0" indent="0" eaLnBrk="1" hangingPunct="1">
                        <a:spcBef>
                          <a:spcPct val="0"/>
                        </a:spcBef>
                        <a:buClrTx/>
                        <a:buNone/>
                      </a:pPr>
                      <a:r>
                        <a:rPr lang="en-US" altLang="zh-CN" sz="2000">
                          <a:latin typeface="华文中宋" pitchFamily="2" charset="-122"/>
                          <a:ea typeface="华文中宋" pitchFamily="2" charset="-122"/>
                        </a:rPr>
                        <a:t>5</a:t>
                      </a:r>
                      <a:endParaRPr lang="en-US" altLang="zh-CN" sz="2000">
                        <a:ea typeface="华文中宋"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Box 1"/>
          <p:cNvSpPr txBox="1"/>
          <p:nvPr/>
        </p:nvSpPr>
        <p:spPr>
          <a:xfrm>
            <a:off x="838200" y="762000"/>
            <a:ext cx="7086600" cy="5632450"/>
          </a:xfrm>
          <a:prstGeom prst="rect">
            <a:avLst/>
          </a:prstGeom>
          <a:noFill/>
          <a:ln w="9525">
            <a:noFill/>
          </a:ln>
        </p:spPr>
        <p:txBody>
          <a:bodyPr anchor="t" anchorCtr="0">
            <a:spAutoFit/>
          </a:bodyPr>
          <a:p>
            <a:r>
              <a:rPr lang="en-US" altLang="zh-CN">
                <a:latin typeface="Arial" panose="020B0604020202020204" pitchFamily="34" charset="0"/>
                <a:ea typeface="宋体" panose="02010600030101010101" pitchFamily="2" charset="-122"/>
              </a:rPr>
              <a:t>4.</a:t>
            </a:r>
            <a:r>
              <a:rPr lang="zh-CN" altLang="en-US" dirty="0">
                <a:latin typeface="Arial" panose="020B0604020202020204" pitchFamily="34" charset="0"/>
                <a:ea typeface="宋体" panose="02010600030101010101" pitchFamily="2" charset="-122"/>
              </a:rPr>
              <a:t>麻将游戏</a:t>
            </a:r>
            <a:endParaRPr lang="en-US" altLang="zh-CN">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题目描述</a:t>
            </a:r>
            <a:r>
              <a:rPr lang="en-US" altLang="zh-CN">
                <a:latin typeface="Arial" panose="020B0604020202020204" pitchFamily="34" charset="0"/>
                <a:ea typeface="宋体" panose="02010600030101010101" pitchFamily="2" charset="-122"/>
              </a:rPr>
              <a:t>】</a:t>
            </a:r>
            <a:br>
              <a:rPr lang="en-US" altLang="zh-CN">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在一种</a:t>
            </a:r>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麻将</a:t>
            </a:r>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游戏中，游戏是在一个有</a:t>
            </a:r>
            <a:r>
              <a:rPr lang="en-US" altLang="zh-CN">
                <a:latin typeface="Arial" panose="020B0604020202020204" pitchFamily="34" charset="0"/>
                <a:ea typeface="宋体" panose="02010600030101010101" pitchFamily="2" charset="-122"/>
              </a:rPr>
              <a:t>W</a:t>
            </a: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H</a:t>
            </a:r>
            <a:r>
              <a:rPr lang="zh-CN" altLang="en-US" dirty="0">
                <a:latin typeface="Arial" panose="020B0604020202020204" pitchFamily="34" charset="0"/>
                <a:ea typeface="宋体" panose="02010600030101010101" pitchFamily="2" charset="-122"/>
              </a:rPr>
              <a:t>格子的矩形平板上进行的。每个格子可以放置一个麻将牌，也可以不放（如图所示）。玩家的目标是将平板上的所有可通过一条路径相连的两张相同的麻将牌，从平板上移去。最后如果能将所有牌移出平板，则算过关。 </a:t>
            </a:r>
            <a:br>
              <a:rPr lang="zh-CN" altLang="en-US" dirty="0">
                <a:latin typeface="Arial" panose="020B0604020202020204" pitchFamily="34" charset="0"/>
                <a:ea typeface="宋体" panose="02010600030101010101" pitchFamily="2" charset="-122"/>
              </a:rPr>
            </a:b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　　这个游戏中的一个关键问题是：两张牌之间是否可以被一条路径所连接，该路径满足以下两个特性： </a:t>
            </a: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1. </a:t>
            </a:r>
            <a:br>
              <a:rPr lang="en-US" altLang="zh-CN">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它由若干条线段组成，每条线段要么是水平方向，要么是垂直方向。 </a:t>
            </a: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2. </a:t>
            </a:r>
            <a:r>
              <a:rPr lang="zh-CN" altLang="en-US" dirty="0">
                <a:latin typeface="Arial" panose="020B0604020202020204" pitchFamily="34" charset="0"/>
                <a:ea typeface="宋体" panose="02010600030101010101" pitchFamily="2" charset="-122"/>
              </a:rPr>
              <a:t>这条路径不能横穿任何一个麻将牌 </a:t>
            </a:r>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但允许路径暂时离开平板</a:t>
            </a:r>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 </a:t>
            </a:r>
            <a:br>
              <a:rPr lang="zh-CN" altLang="en-US" dirty="0">
                <a:latin typeface="Arial" panose="020B0604020202020204" pitchFamily="34" charset="0"/>
                <a:ea typeface="宋体" panose="02010600030101010101" pitchFamily="2" charset="-122"/>
              </a:rPr>
            </a:b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　　这是一个例子： </a:t>
            </a:r>
            <a:br>
              <a:rPr lang="zh-CN" altLang="en-US" dirty="0">
                <a:latin typeface="Arial" panose="020B0604020202020204" pitchFamily="34" charset="0"/>
                <a:ea typeface="宋体" panose="02010600030101010101" pitchFamily="2" charset="-122"/>
              </a:rPr>
            </a:b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在（</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3</a:t>
            </a:r>
            <a:r>
              <a:rPr lang="zh-CN" altLang="en-US" dirty="0">
                <a:latin typeface="Arial" panose="020B0604020202020204" pitchFamily="34" charset="0"/>
                <a:ea typeface="宋体" panose="02010600030101010101" pitchFamily="2" charset="-122"/>
              </a:rPr>
              <a:t>）的牌和在</a:t>
            </a:r>
            <a:r>
              <a:rPr lang="en-US" altLang="zh-CN">
                <a:latin typeface="Arial" panose="020B0604020202020204" pitchFamily="34" charset="0"/>
                <a:ea typeface="宋体" panose="02010600030101010101" pitchFamily="2" charset="-122"/>
              </a:rPr>
              <a:t>(4, 4)</a:t>
            </a:r>
            <a:r>
              <a:rPr lang="zh-CN" altLang="en-US" dirty="0">
                <a:latin typeface="Arial" panose="020B0604020202020204" pitchFamily="34" charset="0"/>
                <a:ea typeface="宋体" panose="02010600030101010101" pitchFamily="2" charset="-122"/>
              </a:rPr>
              <a:t>的牌可以被连接。</a:t>
            </a:r>
            <a:r>
              <a:rPr lang="en-US" altLang="zh-CN">
                <a:latin typeface="Arial" panose="020B0604020202020204" pitchFamily="34" charset="0"/>
                <a:ea typeface="宋体" panose="02010600030101010101" pitchFamily="2" charset="-122"/>
              </a:rPr>
              <a:t>(2,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3)</a:t>
            </a:r>
            <a:r>
              <a:rPr lang="zh-CN" altLang="en-US" dirty="0">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(3, 4)</a:t>
            </a:r>
            <a:r>
              <a:rPr lang="zh-CN" altLang="en-US" dirty="0">
                <a:latin typeface="Arial" panose="020B0604020202020204" pitchFamily="34" charset="0"/>
                <a:ea typeface="宋体" panose="02010600030101010101" pitchFamily="2" charset="-122"/>
              </a:rPr>
              <a:t>不能被连接。 </a:t>
            </a: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你的任务是编一个程序，检测两张牌是否能被一条符合以上规定的路径所连接。</a:t>
            </a:r>
            <a:br>
              <a:rPr lang="zh-CN" altLang="en-US" dirty="0">
                <a:latin typeface="Arial" panose="020B0604020202020204" pitchFamily="34" charset="0"/>
                <a:ea typeface="宋体" panose="02010600030101010101" pitchFamily="2" charset="-122"/>
              </a:rPr>
            </a:b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extBox 1"/>
          <p:cNvSpPr txBox="1"/>
          <p:nvPr/>
        </p:nvSpPr>
        <p:spPr>
          <a:xfrm>
            <a:off x="0" y="228600"/>
            <a:ext cx="9144000" cy="7570788"/>
          </a:xfrm>
          <a:prstGeom prst="rect">
            <a:avLst/>
          </a:prstGeom>
          <a:noFill/>
          <a:ln w="9525">
            <a:noFill/>
          </a:ln>
        </p:spPr>
        <p:txBody>
          <a:bodyPr anchor="t" anchorCtr="0">
            <a:spAutoFit/>
          </a:bodyPr>
          <a:p>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输入</a:t>
            </a:r>
            <a:r>
              <a:rPr lang="en-US" altLang="zh-CN">
                <a:latin typeface="Arial" panose="020B0604020202020204" pitchFamily="34" charset="0"/>
                <a:ea typeface="宋体" panose="02010600030101010101" pitchFamily="2" charset="-122"/>
              </a:rPr>
              <a:t>】</a:t>
            </a:r>
            <a:br>
              <a:rPr lang="en-US" altLang="zh-CN">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第一行有两个整数</a:t>
            </a:r>
            <a:r>
              <a:rPr lang="en-US" altLang="zh-CN">
                <a:latin typeface="Arial" panose="020B0604020202020204" pitchFamily="34" charset="0"/>
                <a:ea typeface="宋体" panose="02010600030101010101" pitchFamily="2" charset="-122"/>
              </a:rPr>
              <a:t>w</a:t>
            </a: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h </a:t>
            </a:r>
            <a:br>
              <a:rPr lang="en-US" altLang="zh-CN">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1&lt;=w</a:t>
            </a: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h&lt;=75</a:t>
            </a:r>
            <a:r>
              <a:rPr lang="zh-CN" altLang="en-US" dirty="0">
                <a:latin typeface="Arial" panose="020B0604020202020204" pitchFamily="34" charset="0"/>
                <a:ea typeface="宋体" panose="02010600030101010101" pitchFamily="2" charset="-122"/>
              </a:rPr>
              <a:t>），表示平板的宽和高。接下来</a:t>
            </a:r>
            <a:r>
              <a:rPr lang="en-US" altLang="zh-CN">
                <a:latin typeface="Arial" panose="020B0604020202020204" pitchFamily="34" charset="0"/>
                <a:ea typeface="宋体" panose="02010600030101010101" pitchFamily="2" charset="-122"/>
              </a:rPr>
              <a:t>h</a:t>
            </a:r>
            <a:r>
              <a:rPr lang="zh-CN" altLang="en-US" dirty="0">
                <a:latin typeface="Arial" panose="020B0604020202020204" pitchFamily="34" charset="0"/>
                <a:ea typeface="宋体" panose="02010600030101010101" pitchFamily="2" charset="-122"/>
              </a:rPr>
              <a:t>行描述平板信息，每行包含</a:t>
            </a:r>
            <a:r>
              <a:rPr lang="en-US" altLang="zh-CN">
                <a:latin typeface="Arial" panose="020B0604020202020204" pitchFamily="34" charset="0"/>
                <a:ea typeface="宋体" panose="02010600030101010101" pitchFamily="2" charset="-122"/>
              </a:rPr>
              <a:t>w</a:t>
            </a:r>
            <a:r>
              <a:rPr lang="zh-CN" altLang="en-US" dirty="0">
                <a:latin typeface="Arial" panose="020B0604020202020204" pitchFamily="34" charset="0"/>
                <a:ea typeface="宋体" panose="02010600030101010101" pitchFamily="2" charset="-122"/>
              </a:rPr>
              <a:t>个字符，如果某格子有一张牌，则这个格子上有个</a:t>
            </a:r>
            <a:r>
              <a:rPr lang="en-US" altLang="zh-CN">
                <a:latin typeface="Arial" panose="020B0604020202020204" pitchFamily="34" charset="0"/>
                <a:ea typeface="宋体" panose="02010600030101010101" pitchFamily="2" charset="-122"/>
              </a:rPr>
              <a:t>'X'</a:t>
            </a:r>
            <a:r>
              <a:rPr lang="zh-CN" altLang="en-US" dirty="0">
                <a:latin typeface="Arial" panose="020B0604020202020204" pitchFamily="34" charset="0"/>
                <a:ea typeface="宋体" panose="02010600030101010101" pitchFamily="2" charset="-122"/>
              </a:rPr>
              <a:t>，否则是一个空格。平板上最左上角格子的坐标为（</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），最右下角格子的坐标为（</a:t>
            </a:r>
            <a:r>
              <a:rPr lang="en-US" altLang="zh-CN" err="1">
                <a:latin typeface="Arial" panose="020B0604020202020204" pitchFamily="34" charset="0"/>
                <a:ea typeface="宋体" panose="02010600030101010101" pitchFamily="2" charset="-122"/>
              </a:rPr>
              <a:t>w,h</a:t>
            </a:r>
            <a:r>
              <a:rPr lang="zh-CN" altLang="en-US" dirty="0">
                <a:latin typeface="Arial" panose="020B0604020202020204" pitchFamily="34" charset="0"/>
                <a:ea typeface="宋体" panose="02010600030101010101" pitchFamily="2" charset="-122"/>
              </a:rPr>
              <a:t>）。接下来的若干行，每行有四个数</a:t>
            </a:r>
            <a:r>
              <a:rPr lang="en-US" altLang="zh-CN">
                <a:latin typeface="Arial" panose="020B0604020202020204" pitchFamily="34" charset="0"/>
                <a:ea typeface="宋体" panose="02010600030101010101" pitchFamily="2" charset="-122"/>
              </a:rPr>
              <a:t>x1</a:t>
            </a:r>
            <a:r>
              <a:rPr lang="zh-CN" altLang="en-US" dirty="0">
                <a:latin typeface="Arial" panose="020B0604020202020204" pitchFamily="34" charset="0"/>
                <a:ea typeface="宋体" panose="02010600030101010101" pitchFamily="2" charset="-122"/>
              </a:rPr>
              <a:t>， </a:t>
            </a:r>
            <a:br>
              <a:rPr lang="zh-CN" altLang="en-US" dirty="0">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y1</a:t>
            </a:r>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x2</a:t>
            </a:r>
            <a:r>
              <a:rPr lang="zh-CN" altLang="en-US" dirty="0">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y2 </a:t>
            </a:r>
            <a:br>
              <a:rPr lang="en-US" altLang="zh-CN">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，且满足</a:t>
            </a:r>
            <a:r>
              <a:rPr lang="en-US" altLang="zh-CN">
                <a:latin typeface="Arial" panose="020B0604020202020204" pitchFamily="34" charset="0"/>
                <a:ea typeface="宋体" panose="02010600030101010101" pitchFamily="2" charset="-122"/>
              </a:rPr>
              <a:t>1&lt;=x1,x2&lt;=w</a:t>
            </a:r>
            <a:r>
              <a:rPr lang="zh-CN" altLang="en-US" dirty="0">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1&lt;=y1,y2&lt;=h</a:t>
            </a:r>
            <a:r>
              <a:rPr lang="zh-CN" altLang="en-US" dirty="0">
                <a:latin typeface="Arial" panose="020B0604020202020204" pitchFamily="34" charset="0"/>
                <a:ea typeface="宋体" panose="02010600030101010101" pitchFamily="2" charset="-122"/>
              </a:rPr>
              <a:t>，表示两张牌的坐标（这两张牌的坐标总是不同的）。如果出现连续四个</a:t>
            </a:r>
            <a:r>
              <a:rPr lang="en-US" altLang="zh-CN">
                <a:latin typeface="Arial" panose="020B0604020202020204" pitchFamily="34" charset="0"/>
                <a:ea typeface="宋体" panose="02010600030101010101" pitchFamily="2" charset="-122"/>
              </a:rPr>
              <a:t>0</a:t>
            </a:r>
            <a:r>
              <a:rPr lang="zh-CN" altLang="en-US" dirty="0">
                <a:latin typeface="Arial" panose="020B0604020202020204" pitchFamily="34" charset="0"/>
                <a:ea typeface="宋体" panose="02010600030101010101" pitchFamily="2" charset="-122"/>
              </a:rPr>
              <a:t>，则表示输入结束。</a:t>
            </a:r>
            <a:br>
              <a:rPr lang="zh-CN" altLang="en-US" dirty="0">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输出</a:t>
            </a:r>
            <a:r>
              <a:rPr lang="en-US" altLang="zh-CN">
                <a:latin typeface="Arial" panose="020B0604020202020204" pitchFamily="34" charset="0"/>
                <a:ea typeface="宋体" panose="02010600030101010101" pitchFamily="2" charset="-122"/>
              </a:rPr>
              <a:t>】</a:t>
            </a:r>
            <a:br>
              <a:rPr lang="en-US" altLang="zh-CN">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对于每一对牌输出占一行，为连接这一对牌的路径最少包含的线段数。如果不存在路径则输出</a:t>
            </a:r>
            <a:r>
              <a:rPr lang="en-US" altLang="zh-CN">
                <a:latin typeface="Arial" panose="020B0604020202020204" pitchFamily="34" charset="0"/>
                <a:ea typeface="宋体" panose="02010600030101010101" pitchFamily="2" charset="-122"/>
              </a:rPr>
              <a:t>0</a:t>
            </a:r>
            <a:r>
              <a:rPr lang="zh-CN" altLang="en-US" dirty="0">
                <a:latin typeface="Arial" panose="020B0604020202020204" pitchFamily="34" charset="0"/>
                <a:ea typeface="宋体" panose="02010600030101010101" pitchFamily="2" charset="-122"/>
              </a:rPr>
              <a:t>。</a:t>
            </a:r>
            <a:br>
              <a:rPr lang="zh-CN" altLang="en-US" dirty="0">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输入样例</a:t>
            </a:r>
            <a:r>
              <a:rPr lang="en-US" altLang="zh-CN">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输出样例</a:t>
            </a:r>
            <a:r>
              <a:rPr lang="en-US" altLang="zh-CN">
                <a:latin typeface="Arial" panose="020B0604020202020204" pitchFamily="34" charset="0"/>
                <a:ea typeface="宋体" panose="02010600030101010101" pitchFamily="2" charset="-122"/>
              </a:rPr>
              <a:t>】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5 4                          4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XXXXX                   3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X X                         0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XXX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X</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XXX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2 3 5 3</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1 3 4 4</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2 3 3 4</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0 0 0 0</a:t>
            </a:r>
            <a:br>
              <a:rPr lang="en-US" altLang="zh-CN">
                <a:latin typeface="Arial" panose="020B0604020202020204" pitchFamily="34" charset="0"/>
                <a:ea typeface="宋体" panose="02010600030101010101" pitchFamily="2" charset="-122"/>
              </a:rPr>
            </a:br>
            <a:br>
              <a:rPr lang="en-US" altLang="zh-CN">
                <a:latin typeface="Arial" panose="020B0604020202020204" pitchFamily="34" charset="0"/>
                <a:ea typeface="宋体" panose="02010600030101010101" pitchFamily="2" charset="-122"/>
              </a:rPr>
            </a:br>
            <a:br>
              <a:rPr lang="en-US" altLang="zh-CN">
                <a:latin typeface="Arial" panose="020B0604020202020204" pitchFamily="34" charset="0"/>
                <a:ea typeface="宋体" panose="02010600030101010101" pitchFamily="2" charset="-122"/>
              </a:rPr>
            </a:br>
            <a:br>
              <a:rPr lang="en-US" altLang="zh-CN">
                <a:latin typeface="Arial" panose="020B0604020202020204" pitchFamily="34" charset="0"/>
                <a:ea typeface="宋体" panose="02010600030101010101" pitchFamily="2" charset="-122"/>
              </a:rPr>
            </a:br>
            <a:br>
              <a:rPr lang="en-US" altLang="zh-CN">
                <a:latin typeface="Arial" panose="020B0604020202020204" pitchFamily="34" charset="0"/>
                <a:ea typeface="宋体" panose="02010600030101010101" pitchFamily="2" charset="-122"/>
              </a:rPr>
            </a:b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theme/theme1.xml><?xml version="1.0" encoding="utf-8"?>
<a:theme xmlns:a="http://schemas.openxmlformats.org/drawingml/2006/main" name="飞天乐舞">
  <a:themeElements>
    <a:clrScheme name="飞天乐舞 1">
      <a:dk1>
        <a:srgbClr val="C0C0C0"/>
      </a:dk1>
      <a:lt1>
        <a:srgbClr val="FFFFFF"/>
      </a:lt1>
      <a:dk2>
        <a:srgbClr val="7979A5"/>
      </a:dk2>
      <a:lt2>
        <a:srgbClr val="FFFF00"/>
      </a:lt2>
      <a:accent1>
        <a:srgbClr val="7499D0"/>
      </a:accent1>
      <a:accent2>
        <a:srgbClr val="CCCCFF"/>
      </a:accent2>
      <a:accent3>
        <a:srgbClr val="BEBECF"/>
      </a:accent3>
      <a:accent4>
        <a:srgbClr val="DADADA"/>
      </a:accent4>
      <a:accent5>
        <a:srgbClr val="BCCAE4"/>
      </a:accent5>
      <a:accent6>
        <a:srgbClr val="B9B9E7"/>
      </a:accent6>
      <a:hlink>
        <a:srgbClr val="66FFFF"/>
      </a:hlink>
      <a:folHlink>
        <a:srgbClr val="FFCCFF"/>
      </a:folHlink>
    </a:clrScheme>
    <a:fontScheme name="飞天乐舞">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飞天乐舞 1">
        <a:dk1>
          <a:srgbClr val="C0C0C0"/>
        </a:dk1>
        <a:lt1>
          <a:srgbClr val="FFFFFF"/>
        </a:lt1>
        <a:dk2>
          <a:srgbClr val="7979A5"/>
        </a:dk2>
        <a:lt2>
          <a:srgbClr val="FFFF00"/>
        </a:lt2>
        <a:accent1>
          <a:srgbClr val="7499D0"/>
        </a:accent1>
        <a:accent2>
          <a:srgbClr val="CCCCFF"/>
        </a:accent2>
        <a:accent3>
          <a:srgbClr val="BEBECF"/>
        </a:accent3>
        <a:accent4>
          <a:srgbClr val="DADADA"/>
        </a:accent4>
        <a:accent5>
          <a:srgbClr val="BCCAE4"/>
        </a:accent5>
        <a:accent6>
          <a:srgbClr val="B9B9E7"/>
        </a:accent6>
        <a:hlink>
          <a:srgbClr val="66FFFF"/>
        </a:hlink>
        <a:folHlink>
          <a:srgbClr val="FFCCFF"/>
        </a:folHlink>
      </a:clrScheme>
      <a:clrMap bg1="dk2" tx1="lt1" bg2="dk1" tx2="lt2" accent1="accent1" accent2="accent2" accent3="accent3" accent4="accent4" accent5="accent5" accent6="accent6" hlink="hlink" folHlink="folHlink"/>
    </a:extraClrScheme>
    <a:extraClrScheme>
      <a:clrScheme name="飞天乐舞 2">
        <a:dk1>
          <a:srgbClr val="C0C0C0"/>
        </a:dk1>
        <a:lt1>
          <a:srgbClr val="FFFFFF"/>
        </a:lt1>
        <a:dk2>
          <a:srgbClr val="586AA4"/>
        </a:dk2>
        <a:lt2>
          <a:srgbClr val="FFFFFF"/>
        </a:lt2>
        <a:accent1>
          <a:srgbClr val="829FB4"/>
        </a:accent1>
        <a:accent2>
          <a:srgbClr val="CCCCFF"/>
        </a:accent2>
        <a:accent3>
          <a:srgbClr val="B4B9CF"/>
        </a:accent3>
        <a:accent4>
          <a:srgbClr val="DADADA"/>
        </a:accent4>
        <a:accent5>
          <a:srgbClr val="C1CDD6"/>
        </a:accent5>
        <a:accent6>
          <a:srgbClr val="B9B9E7"/>
        </a:accent6>
        <a:hlink>
          <a:srgbClr val="FFCC66"/>
        </a:hlink>
        <a:folHlink>
          <a:srgbClr val="66FFFF"/>
        </a:folHlink>
      </a:clrScheme>
      <a:clrMap bg1="dk2" tx1="lt1" bg2="dk1" tx2="lt2" accent1="accent1" accent2="accent2" accent3="accent3" accent4="accent4" accent5="accent5" accent6="accent6" hlink="hlink" folHlink="folHlink"/>
    </a:extraClrScheme>
    <a:extraClrScheme>
      <a:clrScheme name="飞天乐舞 3">
        <a:dk1>
          <a:srgbClr val="C0C0C0"/>
        </a:dk1>
        <a:lt1>
          <a:srgbClr val="FFFF66"/>
        </a:lt1>
        <a:dk2>
          <a:srgbClr val="000000"/>
        </a:dk2>
        <a:lt2>
          <a:srgbClr val="FFFFFF"/>
        </a:lt2>
        <a:accent1>
          <a:srgbClr val="79869D"/>
        </a:accent1>
        <a:accent2>
          <a:srgbClr val="66FFCC"/>
        </a:accent2>
        <a:accent3>
          <a:srgbClr val="AAAAAA"/>
        </a:accent3>
        <a:accent4>
          <a:srgbClr val="DADA56"/>
        </a:accent4>
        <a:accent5>
          <a:srgbClr val="BEC3CC"/>
        </a:accent5>
        <a:accent6>
          <a:srgbClr val="5CE7B9"/>
        </a:accent6>
        <a:hlink>
          <a:srgbClr val="99CCFF"/>
        </a:hlink>
        <a:folHlink>
          <a:srgbClr val="FFCC00"/>
        </a:folHlink>
      </a:clrScheme>
      <a:clrMap bg1="dk2" tx1="lt1" bg2="dk1" tx2="lt2" accent1="accent1" accent2="accent2" accent3="accent3" accent4="accent4" accent5="accent5" accent6="accent6" hlink="hlink" folHlink="folHlink"/>
    </a:extraClrScheme>
    <a:extraClrScheme>
      <a:clrScheme name="飞天乐舞 4">
        <a:dk1>
          <a:srgbClr val="C0C0C0"/>
        </a:dk1>
        <a:lt1>
          <a:srgbClr val="FFFF66"/>
        </a:lt1>
        <a:dk2>
          <a:srgbClr val="FFCC99"/>
        </a:dk2>
        <a:lt2>
          <a:srgbClr val="FFFFFF"/>
        </a:lt2>
        <a:accent1>
          <a:srgbClr val="829FB4"/>
        </a:accent1>
        <a:accent2>
          <a:srgbClr val="CCCCFF"/>
        </a:accent2>
        <a:accent3>
          <a:srgbClr val="FFE2CA"/>
        </a:accent3>
        <a:accent4>
          <a:srgbClr val="DADA56"/>
        </a:accent4>
        <a:accent5>
          <a:srgbClr val="C1CDD6"/>
        </a:accent5>
        <a:accent6>
          <a:srgbClr val="B9B9E7"/>
        </a:accent6>
        <a:hlink>
          <a:srgbClr val="99FF99"/>
        </a:hlink>
        <a:folHlink>
          <a:srgbClr val="66FFFF"/>
        </a:folHlink>
      </a:clrScheme>
      <a:clrMap bg1="dk2" tx1="lt1" bg2="dk1" tx2="lt2" accent1="accent1" accent2="accent2" accent3="accent3" accent4="accent4" accent5="accent5" accent6="accent6" hlink="hlink" folHlink="folHlink"/>
    </a:extraClrScheme>
    <a:extraClrScheme>
      <a:clrScheme name="飞天乐舞 5">
        <a:dk1>
          <a:srgbClr val="C0C0C0"/>
        </a:dk1>
        <a:lt1>
          <a:srgbClr val="FFFFFF"/>
        </a:lt1>
        <a:dk2>
          <a:srgbClr val="6699FF"/>
        </a:dk2>
        <a:lt2>
          <a:srgbClr val="FFFF66"/>
        </a:lt2>
        <a:accent1>
          <a:srgbClr val="529280"/>
        </a:accent1>
        <a:accent2>
          <a:srgbClr val="FF99FF"/>
        </a:accent2>
        <a:accent3>
          <a:srgbClr val="B8CAFF"/>
        </a:accent3>
        <a:accent4>
          <a:srgbClr val="DADADA"/>
        </a:accent4>
        <a:accent5>
          <a:srgbClr val="B3C7C0"/>
        </a:accent5>
        <a:accent6>
          <a:srgbClr val="E78AE7"/>
        </a:accent6>
        <a:hlink>
          <a:srgbClr val="FFCC00"/>
        </a:hlink>
        <a:folHlink>
          <a:srgbClr val="99FF99"/>
        </a:folHlink>
      </a:clrScheme>
      <a:clrMap bg1="dk2" tx1="lt1" bg2="dk1" tx2="lt2" accent1="accent1" accent2="accent2" accent3="accent3" accent4="accent4" accent5="accent5" accent6="accent6" hlink="hlink" folHlink="folHlink"/>
    </a:extraClrScheme>
    <a:extraClrScheme>
      <a:clrScheme name="飞天乐舞 6">
        <a:dk1>
          <a:srgbClr val="C0C0C0"/>
        </a:dk1>
        <a:lt1>
          <a:srgbClr val="FFFFFF"/>
        </a:lt1>
        <a:dk2>
          <a:srgbClr val="3366CC"/>
        </a:dk2>
        <a:lt2>
          <a:srgbClr val="66FFFF"/>
        </a:lt2>
        <a:accent1>
          <a:srgbClr val="58A9CA"/>
        </a:accent1>
        <a:accent2>
          <a:srgbClr val="FFCCFF"/>
        </a:accent2>
        <a:accent3>
          <a:srgbClr val="ADB8E2"/>
        </a:accent3>
        <a:accent4>
          <a:srgbClr val="DADADA"/>
        </a:accent4>
        <a:accent5>
          <a:srgbClr val="B4D1E1"/>
        </a:accent5>
        <a:accent6>
          <a:srgbClr val="E7B9E7"/>
        </a:accent6>
        <a:hlink>
          <a:srgbClr val="FFFF00"/>
        </a:hlink>
        <a:folHlink>
          <a:srgbClr val="99FF99"/>
        </a:folHlink>
      </a:clrScheme>
      <a:clrMap bg1="dk2" tx1="lt1" bg2="dk1" tx2="lt2" accent1="accent1" accent2="accent2" accent3="accent3" accent4="accent4" accent5="accent5" accent6="accent6" hlink="hlink" folHlink="folHlink"/>
    </a:extraClrScheme>
    <a:extraClrScheme>
      <a:clrScheme name="飞天乐舞 7">
        <a:dk1>
          <a:srgbClr val="C0C0C0"/>
        </a:dk1>
        <a:lt1>
          <a:srgbClr val="FFFF00"/>
        </a:lt1>
        <a:dk2>
          <a:srgbClr val="3F528D"/>
        </a:dk2>
        <a:lt2>
          <a:srgbClr val="00FF00"/>
        </a:lt2>
        <a:accent1>
          <a:srgbClr val="899DAB"/>
        </a:accent1>
        <a:accent2>
          <a:srgbClr val="FF9999"/>
        </a:accent2>
        <a:accent3>
          <a:srgbClr val="AFB3C5"/>
        </a:accent3>
        <a:accent4>
          <a:srgbClr val="DADA00"/>
        </a:accent4>
        <a:accent5>
          <a:srgbClr val="C4CCD2"/>
        </a:accent5>
        <a:accent6>
          <a:srgbClr val="E78A8A"/>
        </a:accent6>
        <a:hlink>
          <a:srgbClr val="FFFFFF"/>
        </a:hlink>
        <a:folHlink>
          <a:srgbClr val="CCCCFF"/>
        </a:folHlink>
      </a:clrScheme>
      <a:clrMap bg1="dk2" tx1="lt1" bg2="dk1" tx2="lt2" accent1="accent1" accent2="accent2" accent3="accent3" accent4="accent4" accent5="accent5" accent6="accent6" hlink="hlink" folHlink="folHlink"/>
    </a:extraClrScheme>
    <a:extraClrScheme>
      <a:clrScheme name="飞天乐舞 8">
        <a:dk1>
          <a:srgbClr val="C0C0C0"/>
        </a:dk1>
        <a:lt1>
          <a:srgbClr val="99FFCC"/>
        </a:lt1>
        <a:dk2>
          <a:srgbClr val="558167"/>
        </a:dk2>
        <a:lt2>
          <a:srgbClr val="FFCC00"/>
        </a:lt2>
        <a:accent1>
          <a:srgbClr val="6D9D8B"/>
        </a:accent1>
        <a:accent2>
          <a:srgbClr val="CCCCFF"/>
        </a:accent2>
        <a:accent3>
          <a:srgbClr val="B4C1B8"/>
        </a:accent3>
        <a:accent4>
          <a:srgbClr val="82DAAE"/>
        </a:accent4>
        <a:accent5>
          <a:srgbClr val="BACCC4"/>
        </a:accent5>
        <a:accent6>
          <a:srgbClr val="B9B9E7"/>
        </a:accent6>
        <a:hlink>
          <a:srgbClr val="FFFF66"/>
        </a:hlink>
        <a:folHlink>
          <a:srgbClr val="FFFF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CDESIGNH</Template>
  <TotalTime>0</TotalTime>
  <Words>12563</Words>
  <Application>WPS 演示</Application>
  <PresentationFormat>在屏幕上显示</PresentationFormat>
  <Paragraphs>536</Paragraphs>
  <Slides>28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Arial</vt:lpstr>
      <vt:lpstr>宋体</vt:lpstr>
      <vt:lpstr>Wingdings</vt:lpstr>
      <vt:lpstr>Calibri</vt:lpstr>
      <vt:lpstr>华文中宋</vt:lpstr>
      <vt:lpstr>Times New Roman</vt:lpstr>
      <vt:lpstr>微软雅黑</vt:lpstr>
      <vt:lpstr>Arial Unicode MS</vt:lpstr>
      <vt:lpstr>飞天乐舞</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豆豆章</cp:lastModifiedBy>
  <cp:revision>26</cp:revision>
  <dcterms:created xsi:type="dcterms:W3CDTF">2017-08-24T02:09:00Z</dcterms:created>
  <dcterms:modified xsi:type="dcterms:W3CDTF">2022-07-20T01:03:49Z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2052-11.1.0.11875</vt:lpwstr>
  </property>
  <property fmtid="{D5CDD505-2E9C-101B-9397-08002B2CF9AE}" pid="4" name="ICV">
    <vt:lpwstr>E3126942466F4DC995F853E7B636C8B1</vt:lpwstr>
  </property>
</Properties>
</file>