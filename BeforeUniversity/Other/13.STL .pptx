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0"/>
  </p:notesMasterIdLst>
  <p:handoutMasterIdLst>
    <p:handoutMasterId r:id="rId71"/>
  </p:handoutMasterIdLst>
  <p:sldIdLst>
    <p:sldId id="256" r:id="rId2"/>
    <p:sldId id="512" r:id="rId3"/>
    <p:sldId id="535" r:id="rId4"/>
    <p:sldId id="515" r:id="rId5"/>
    <p:sldId id="582" r:id="rId6"/>
    <p:sldId id="513" r:id="rId7"/>
    <p:sldId id="536" r:id="rId8"/>
    <p:sldId id="538" r:id="rId9"/>
    <p:sldId id="596" r:id="rId10"/>
    <p:sldId id="588" r:id="rId11"/>
    <p:sldId id="597" r:id="rId12"/>
    <p:sldId id="587" r:id="rId13"/>
    <p:sldId id="539" r:id="rId14"/>
    <p:sldId id="543" r:id="rId15"/>
    <p:sldId id="544" r:id="rId16"/>
    <p:sldId id="546" r:id="rId17"/>
    <p:sldId id="598" r:id="rId18"/>
    <p:sldId id="599" r:id="rId19"/>
    <p:sldId id="600" r:id="rId20"/>
    <p:sldId id="601" r:id="rId21"/>
    <p:sldId id="649" r:id="rId22"/>
    <p:sldId id="650" r:id="rId23"/>
    <p:sldId id="602" r:id="rId24"/>
    <p:sldId id="603" r:id="rId25"/>
    <p:sldId id="604" r:id="rId26"/>
    <p:sldId id="605" r:id="rId27"/>
    <p:sldId id="606" r:id="rId28"/>
    <p:sldId id="607" r:id="rId29"/>
    <p:sldId id="608" r:id="rId30"/>
    <p:sldId id="609" r:id="rId31"/>
    <p:sldId id="610" r:id="rId32"/>
    <p:sldId id="614" r:id="rId33"/>
    <p:sldId id="613" r:id="rId34"/>
    <p:sldId id="611" r:id="rId35"/>
    <p:sldId id="612" r:id="rId36"/>
    <p:sldId id="615" r:id="rId37"/>
    <p:sldId id="616" r:id="rId38"/>
    <p:sldId id="617" r:id="rId39"/>
    <p:sldId id="618" r:id="rId40"/>
    <p:sldId id="619" r:id="rId41"/>
    <p:sldId id="620" r:id="rId42"/>
    <p:sldId id="622" r:id="rId43"/>
    <p:sldId id="623" r:id="rId44"/>
    <p:sldId id="625" r:id="rId45"/>
    <p:sldId id="626" r:id="rId46"/>
    <p:sldId id="627" r:id="rId47"/>
    <p:sldId id="628" r:id="rId48"/>
    <p:sldId id="629" r:id="rId49"/>
    <p:sldId id="630" r:id="rId50"/>
    <p:sldId id="631" r:id="rId51"/>
    <p:sldId id="632" r:id="rId52"/>
    <p:sldId id="633" r:id="rId53"/>
    <p:sldId id="634" r:id="rId54"/>
    <p:sldId id="635" r:id="rId55"/>
    <p:sldId id="636" r:id="rId56"/>
    <p:sldId id="637" r:id="rId57"/>
    <p:sldId id="638" r:id="rId58"/>
    <p:sldId id="639" r:id="rId59"/>
    <p:sldId id="640" r:id="rId60"/>
    <p:sldId id="641" r:id="rId61"/>
    <p:sldId id="642" r:id="rId62"/>
    <p:sldId id="643" r:id="rId63"/>
    <p:sldId id="644" r:id="rId64"/>
    <p:sldId id="645" r:id="rId65"/>
    <p:sldId id="646" r:id="rId66"/>
    <p:sldId id="647" r:id="rId67"/>
    <p:sldId id="648" r:id="rId68"/>
    <p:sldId id="502" r:id="rId69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FF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62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413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2021/6/27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pPr algn="r" rtl="0"/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pPr/>
              <a:t>2021/6/27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pPr/>
              <a:t>1</a:t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pPr/>
              <a:t>2021/6/27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pPr/>
              <a:t>2021/6/27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pPr/>
              <a:t>2021/6/27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pPr/>
              <a:t>2021/6/27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pPr/>
              <a:t>2021/6/27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pPr/>
              <a:t>2021/6/27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pPr/>
              <a:t>2021/6/27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pPr/>
              <a:t>2021/6/27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pPr/>
              <a:t>2021/6/27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pPr/>
              <a:t>2021/6/27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pPr/>
              <a:t>2021/6/27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pPr/>
              <a:t>2021/6/27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pPr algn="r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2965142" y="2356101"/>
            <a:ext cx="1970843" cy="1470175"/>
          </a:xfrm>
        </p:spPr>
        <p:txBody>
          <a:bodyPr rtlCol="0" anchor="ctr">
            <a:normAutofit/>
          </a:bodyPr>
          <a:lstStyle/>
          <a:p>
            <a:pPr rtl="0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623484" y="3942368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714284E-AE49-4ACF-9408-156B8F7B5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350" y="1751861"/>
            <a:ext cx="9961079" cy="964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719138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2000"/>
              </a:spcAft>
              <a:buClr>
                <a:schemeClr val="accent2"/>
              </a:buClr>
              <a:buSzPct val="80000"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的标准模板库。</a:t>
            </a:r>
          </a:p>
          <a:p>
            <a:pPr>
              <a:spcAft>
                <a:spcPts val="2000"/>
              </a:spcAft>
              <a:buClr>
                <a:schemeClr val="accent2"/>
              </a:buClr>
              <a:buSzPct val="80000"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vector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stack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pair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string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的使用方法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51DCB32-C949-4662-BB8A-B96F00B94C06}"/>
              </a:ext>
            </a:extLst>
          </p:cNvPr>
          <p:cNvSpPr txBox="1"/>
          <p:nvPr/>
        </p:nvSpPr>
        <p:spPr>
          <a:xfrm>
            <a:off x="1013814" y="61074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学习目标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AAD5FF89-979C-4556-A53B-2CF9F04CEB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0000"/>
                </a:solidFill>
                <a:cs typeface="+mn-cs"/>
              </a:rPr>
              <a:t>标准模板库（</a:t>
            </a:r>
            <a:r>
              <a:rPr lang="en-US" altLang="zh-CN" dirty="0">
                <a:solidFill>
                  <a:srgbClr val="000000"/>
                </a:solidFill>
                <a:cs typeface="+mn-cs"/>
              </a:rPr>
              <a:t>Standard Template Library</a:t>
            </a:r>
            <a:r>
              <a:rPr lang="zh-CN" altLang="en-US" dirty="0">
                <a:solidFill>
                  <a:srgbClr val="000000"/>
                </a:solidFill>
                <a:cs typeface="+mn-cs"/>
              </a:rPr>
              <a:t>，</a:t>
            </a:r>
            <a:r>
              <a:rPr lang="en-US" altLang="zh-CN" dirty="0">
                <a:solidFill>
                  <a:srgbClr val="000000"/>
                </a:solidFill>
                <a:cs typeface="+mn-cs"/>
              </a:rPr>
              <a:t>STL</a:t>
            </a:r>
            <a:r>
              <a:rPr lang="zh-CN" altLang="en-US" dirty="0">
                <a:solidFill>
                  <a:srgbClr val="000000"/>
                </a:solidFill>
                <a:cs typeface="+mn-cs"/>
              </a:rPr>
              <a:t>）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44E41D-2F46-4BA8-A9B4-37E2EC9ACEE9}"/>
              </a:ext>
            </a:extLst>
          </p:cNvPr>
          <p:cNvSpPr txBox="1"/>
          <p:nvPr/>
        </p:nvSpPr>
        <p:spPr>
          <a:xfrm>
            <a:off x="1127951" y="1442405"/>
            <a:ext cx="9892682" cy="37828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3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定义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功能强大，为开发者提供了标准模板库，其中封装了很多实用的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。容器可以理解成能够实现很多功能的系统函数，或者说用来存放数据的对象，开发者可以根据接口规范（调用格式）直接调用，而不用关心其内部实现的原理和具体代码，十分方便快捷。</a:t>
            </a:r>
          </a:p>
          <a:p>
            <a:pPr>
              <a:lnSpc>
                <a:spcPct val="3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常见的容器有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vector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stack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8334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CN" dirty="0"/>
              <a:t>Vector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64071-D6AF-4D8A-A122-8CB789873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vector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BF035D3-870F-4D80-A8C3-62F82E8A2C4E}"/>
              </a:ext>
            </a:extLst>
          </p:cNvPr>
          <p:cNvSpPr txBox="1"/>
          <p:nvPr/>
        </p:nvSpPr>
        <p:spPr>
          <a:xfrm>
            <a:off x="950030" y="1490624"/>
            <a:ext cx="10046776" cy="27787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vector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直接翻译为“向量”，一般说成“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变长数组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”，也即“长度根据需要而自动改变的数组。</a:t>
            </a:r>
          </a:p>
          <a:p>
            <a: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在信息学竞赛中，有些题目需要定义很大的数组，这样会出现“超出内存限制”的错误。比如，如果一个图的顶点太多，使用邻接矩阵就会超出内存限制，使用指针实现邻接表又很容易出错，而使用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vector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实现简洁方便，还可以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节省存储空间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vector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，需要添加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vector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头文件，即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#include &lt;vector&gt;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753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AAD5FF89-979C-4556-A53B-2CF9F04CEB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000000"/>
                </a:solidFill>
                <a:cs typeface="+mn-cs"/>
              </a:rPr>
              <a:t>vector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EF097E-E855-42BD-B2D1-0CCD58C2B3AD}"/>
              </a:ext>
            </a:extLst>
          </p:cNvPr>
          <p:cNvSpPr txBox="1"/>
          <p:nvPr/>
        </p:nvSpPr>
        <p:spPr>
          <a:xfrm>
            <a:off x="1044607" y="1447782"/>
            <a:ext cx="8283183" cy="1116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vector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vector&lt;</a:t>
            </a:r>
            <a:r>
              <a:rPr lang="en-US" altLang="zh-CN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typename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name;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67AC7C-F097-41D7-B130-9802C3C2F1C3}"/>
              </a:ext>
            </a:extLst>
          </p:cNvPr>
          <p:cNvSpPr/>
          <p:nvPr/>
        </p:nvSpPr>
        <p:spPr>
          <a:xfrm>
            <a:off x="1044607" y="2933559"/>
            <a:ext cx="10008092" cy="1670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以上定义相当于定义了一个一维数组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name[size]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，只是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size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不确定，其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长度可以根据需要而变化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。其中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typename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可以是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任何基本类型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，例如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double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、结构体等，也可以是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标准容器，例如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vector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queue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AAD5FF89-979C-4556-A53B-2CF9F04CEB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000000"/>
                </a:solidFill>
                <a:cs typeface="+mn-cs"/>
              </a:rPr>
              <a:t>vector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EDEF30-B6D1-4A28-9444-41D8B725B706}"/>
              </a:ext>
            </a:extLst>
          </p:cNvPr>
          <p:cNvSpPr/>
          <p:nvPr/>
        </p:nvSpPr>
        <p:spPr>
          <a:xfrm>
            <a:off x="1168894" y="1654733"/>
            <a:ext cx="10248530" cy="4198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 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vector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中的元素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一般有两种方式。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第一种是通过“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下标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”访问。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例如，对于容器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vector&lt;int&gt; 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，可以使用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v[index]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来访问它的第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index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个元素。其中，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0≤index≤v.size()-1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v.size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vector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中元素的个数。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第二种方式是通过“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”访问。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可以将迭代器（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iterator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）理解为一种类似指针的变量。其定义为：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vector&lt;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typename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&gt;::iterator it;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vector&lt;int&gt;::iterator it=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v.begin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for(int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0;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&lt;= 5;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++)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printf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("%d ",*(it +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));</a:t>
            </a:r>
          </a:p>
          <a:p>
            <a:pPr>
              <a:lnSpc>
                <a:spcPct val="15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24246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82B0A1-E996-4AED-BA80-182DA80DB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vector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09A02E-17DE-4E6A-A523-7CB8F829237F}"/>
              </a:ext>
            </a:extLst>
          </p:cNvPr>
          <p:cNvSpPr/>
          <p:nvPr/>
        </p:nvSpPr>
        <p:spPr>
          <a:xfrm>
            <a:off x="1042756" y="1409694"/>
            <a:ext cx="10292443" cy="499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vector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的常用函数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push_back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>
              <a:lnSpc>
                <a:spcPct val="20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push_back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vector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后面添加一个元素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，时间复杂度为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0(1)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size()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如果是一维数组，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size()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用来获得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vector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中元素的个数；如果是二维数组，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size()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用来获得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vector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中第二维的元素个数，时间复杂度为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(1)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pop_back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  <a:p>
            <a:pPr>
              <a:lnSpc>
                <a:spcPct val="200000"/>
              </a:lnSpc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pop_back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用来删除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vector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的尾元素，时间复杂度为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0(1)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5034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82B0A1-E996-4AED-BA80-182DA80DB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vector</a:t>
            </a: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09A02E-17DE-4E6A-A523-7CB8F829237F}"/>
              </a:ext>
            </a:extLst>
          </p:cNvPr>
          <p:cNvSpPr/>
          <p:nvPr/>
        </p:nvSpPr>
        <p:spPr>
          <a:xfrm>
            <a:off x="1042756" y="1409694"/>
            <a:ext cx="10292443" cy="499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vector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的常用函数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clear()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clear()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用来清空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vector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中的所有元素，时间复杂度为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0(n)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，其中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vector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中元素的个数。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insert ()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insert(it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用来向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vector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任意迭代器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处插入一个元素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，时间复杂度为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0(n)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erase()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erase()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用来删除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vector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中的元素，有两种用法。一种是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erase(it)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，删除迭代器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处的元素；另一种是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erase(first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last)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，删除左闭右开区间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[first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last)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内的所有元素。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2854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697FF0-5108-4450-8997-42EAC2CE9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</a:rPr>
              <a:t>vector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F8872F-6900-4B90-98F9-8212993385FA}"/>
              </a:ext>
            </a:extLst>
          </p:cNvPr>
          <p:cNvSpPr/>
          <p:nvPr/>
        </p:nvSpPr>
        <p:spPr>
          <a:xfrm>
            <a:off x="1032197" y="1654490"/>
            <a:ext cx="10053385" cy="2059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】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中间数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依次读入若干正整数，如果是奇数个就输出最中间的那个数；否则，输出中间两个数的和。以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作为结束标志，但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不计数。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None/>
            </a:pPr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215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697FF0-5108-4450-8997-42EAC2CE9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</a:rPr>
              <a:t>vector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04E89E3-9DA2-4732-AF14-89F1C6AC8155}"/>
              </a:ext>
            </a:extLst>
          </p:cNvPr>
          <p:cNvSpPr/>
          <p:nvPr/>
        </p:nvSpPr>
        <p:spPr>
          <a:xfrm>
            <a:off x="1104900" y="1289872"/>
            <a:ext cx="10383915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#include&lt;bits/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stdc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++.h&gt;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vector &lt;int&gt; a;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t,i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do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&gt;&gt;t;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a.push_back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}while(t!=0);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a.pop_back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if(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a.size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()%2==1)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&lt;&lt;a[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a.size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()/2];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else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&lt;&lt;a[(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a.size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()-1)/2]+a[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a.size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()/2];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for(int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=0;i&lt;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a.size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();++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&lt;&lt;a[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]&lt;&lt;" ";  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下标访问 </a:t>
            </a:r>
          </a:p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for(vector&lt;int&gt;::iterator it =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a.begin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();it!=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a.end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();++it)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&lt;&lt;*it&lt;&lt;" "; 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迭代器访问 </a:t>
            </a:r>
          </a:p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a.clear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清空 </a:t>
            </a:r>
          </a:p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26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dirty="0"/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341602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stack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1003801" y="1934683"/>
            <a:ext cx="893177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stack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翻译为栈，是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STL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中实现的一个“</a:t>
            </a:r>
            <a:r>
              <a:rPr lang="zh-CN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后进先出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”的容器，其只能通过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top()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pop()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来访问栈顶元素。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stack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前，要先添加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stack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头文件，即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 &lt;stack&gt;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定义一个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stack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的方法如下：</a:t>
            </a: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stack&lt;typename&gt; name;</a:t>
            </a: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typename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可以是任何基本类型或者容器，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name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是栈的名字。</a:t>
            </a:r>
          </a:p>
        </p:txBody>
      </p:sp>
      <p:pic>
        <p:nvPicPr>
          <p:cNvPr id="6" name="Picture 3" descr="sta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7554" y="2689474"/>
            <a:ext cx="2715023" cy="2564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683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stack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19332" y="1585735"/>
            <a:ext cx="9913257" cy="4654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push()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push(x)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用来将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压栈，时间复杂度为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0(1)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top()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top()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用来获得栈顶元素，时间复杂度为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0(1)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pop()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pop()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用来弹出栈顶元素，时间复杂度为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0(1)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empty()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empty()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用来检测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stack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是否为空，空返回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，否则返回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，时间复杂度为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0(1)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size()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size()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用来返回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stack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内元素的个数，时间复杂度为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0(1)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stack</a:t>
            </a:r>
          </a:p>
        </p:txBody>
      </p:sp>
      <p:sp>
        <p:nvSpPr>
          <p:cNvPr id="4" name="矩形 3"/>
          <p:cNvSpPr/>
          <p:nvPr/>
        </p:nvSpPr>
        <p:spPr>
          <a:xfrm>
            <a:off x="1055426" y="1591945"/>
            <a:ext cx="9671714" cy="3675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2】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括号的匹配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【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问题描述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】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SzPct val="80000"/>
              <a:buNone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栈在计算机科学领域有着广泛的应用。比如在编译和运行计算机程序的过程中，就需要用栈进行语法检查，如检查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begin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end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{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}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、（和）等是否匹配。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SzPct val="80000"/>
              <a:buNone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假设一个表达式只由小写英文字母、运算符（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+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-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，*，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/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）和左、右小括号构成，以“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@”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作为表达式的结束符。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SzPct val="80000"/>
              <a:buNone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请编程检查表达式中的左、右小括号是否匹配，若匹配，则返回“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YES”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；否则返回“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NO”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，不必关心表达式中的其他错误。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stack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00183" y="1600200"/>
            <a:ext cx="10250038" cy="310242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SzPct val="80000"/>
              <a:buNone/>
            </a:pPr>
            <a:r>
              <a:rPr lang="en-US" altLang="zh-CN" sz="1800" b="1" dirty="0">
                <a:solidFill>
                  <a:schemeClr val="accent2"/>
                </a:solidFill>
                <a:cs typeface="Times New Roman" pitchFamily="18" charset="0"/>
              </a:rPr>
              <a:t>【</a:t>
            </a:r>
            <a:r>
              <a:rPr lang="zh-CN" altLang="en-US" sz="1800" b="1" dirty="0">
                <a:solidFill>
                  <a:schemeClr val="accent2"/>
                </a:solidFill>
                <a:cs typeface="Times New Roman" pitchFamily="18" charset="0"/>
              </a:rPr>
              <a:t>问题分析</a:t>
            </a:r>
            <a:r>
              <a:rPr lang="en-US" altLang="zh-CN" sz="1800" b="1" dirty="0">
                <a:solidFill>
                  <a:schemeClr val="accent2"/>
                </a:solidFill>
                <a:cs typeface="Times New Roman" pitchFamily="18" charset="0"/>
              </a:rPr>
              <a:t>】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SzPct val="80000"/>
              <a:buNone/>
            </a:pPr>
            <a:r>
              <a:rPr lang="zh-CN" altLang="en-US" sz="1800" dirty="0">
                <a:cs typeface="Times New Roman" pitchFamily="18" charset="0"/>
              </a:rPr>
              <a:t>用一个栈存放表达式中从左往右的左小括号。从左往右按顺序扫描表达式的每个字符，若是“（”，则将它压栈；若是“）”，则执行一次出栈操作。当栈发生下溢（右括号多）或当表达式处理完毕而栈非空（左括号多）时，意味着表达式中的括号不匹配，则输出“</a:t>
            </a:r>
            <a:r>
              <a:rPr lang="en-US" altLang="zh-CN" sz="1800" dirty="0">
                <a:cs typeface="Times New Roman" pitchFamily="18" charset="0"/>
              </a:rPr>
              <a:t>NO”</a:t>
            </a:r>
            <a:r>
              <a:rPr lang="zh-CN" altLang="en-US" sz="1800" dirty="0">
                <a:cs typeface="Times New Roman" pitchFamily="18" charset="0"/>
              </a:rPr>
              <a:t>；否则，表示小括号完全匹配，就输出“</a:t>
            </a:r>
            <a:r>
              <a:rPr lang="en-US" altLang="zh-CN" sz="1800" dirty="0">
                <a:cs typeface="Times New Roman" pitchFamily="18" charset="0"/>
              </a:rPr>
              <a:t>YES”</a:t>
            </a:r>
            <a:r>
              <a:rPr lang="zh-CN" altLang="en-US" sz="1800" dirty="0">
                <a:cs typeface="Times New Roman" pitchFamily="18" charset="0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stack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0222" y="1210426"/>
            <a:ext cx="10250038" cy="70627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SzPct val="80000"/>
              <a:buNone/>
            </a:pPr>
            <a:r>
              <a:rPr lang="en-US" altLang="zh-CN" sz="1800" b="1" dirty="0">
                <a:solidFill>
                  <a:schemeClr val="accent2"/>
                </a:solidFill>
                <a:cs typeface="Times New Roman" pitchFamily="18" charset="0"/>
              </a:rPr>
              <a:t>【</a:t>
            </a:r>
            <a:r>
              <a:rPr lang="zh-CN" altLang="en-US" sz="1800" b="1" dirty="0">
                <a:solidFill>
                  <a:schemeClr val="accent2"/>
                </a:solidFill>
                <a:cs typeface="Times New Roman" pitchFamily="18" charset="0"/>
              </a:rPr>
              <a:t>参考程序</a:t>
            </a:r>
            <a:r>
              <a:rPr lang="en-US" altLang="zh-CN" sz="1800" b="1" dirty="0">
                <a:solidFill>
                  <a:schemeClr val="accent2"/>
                </a:solidFill>
                <a:cs typeface="Times New Roman" pitchFamily="18" charset="0"/>
              </a:rPr>
              <a:t>】</a:t>
            </a:r>
          </a:p>
        </p:txBody>
      </p:sp>
      <p:sp>
        <p:nvSpPr>
          <p:cNvPr id="4" name="矩形 3"/>
          <p:cNvSpPr/>
          <p:nvPr/>
        </p:nvSpPr>
        <p:spPr>
          <a:xfrm>
            <a:off x="2311020" y="1348800"/>
            <a:ext cx="6096000" cy="55092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#include&lt;bits/stdc++.h&gt;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using namespace std;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stack &lt;char&gt; st;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bool judge=true;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char ch;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int main()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do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{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	ch=getchar();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	if(ch=='(') st.push(ch);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	else if(ch==')')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	{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		if(!st.empty()) st.pop();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		else 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		{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			judge=false;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			break;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		}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	}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}while(ch!='@');</a:t>
            </a:r>
          </a:p>
          <a:p>
            <a:r>
              <a:rPr lang="en-US" altLang="zh-CN" sz="1600" dirty="0">
                <a:latin typeface="Times New Roman" pitchFamily="18" charset="0"/>
                <a:cs typeface="Times New Roman" pitchFamily="18" charset="0"/>
              </a:rPr>
              <a:t>	</a:t>
            </a:r>
            <a:endParaRPr lang="zh-CN" alt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481247" y="1600201"/>
            <a:ext cx="4249003" cy="2777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if(!st.empty()) judge=false;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if(judge) cout&lt;&lt;"YES"&lt;&lt;endl;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else cout&lt;&lt;"NO"&lt;&lt;endl;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	return 0;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}</a:t>
            </a: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7246961" y="1651380"/>
            <a:ext cx="0" cy="470847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altLang="zh-CN" dirty="0"/>
              <a:t>queue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02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queue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1003800" y="1880091"/>
            <a:ext cx="1007818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queue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翻译为队列，是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STL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中实现的一个“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先进先出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”的容器，只能通过函数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front ()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来访问队首元素，或通过函数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back()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来访问队尾元素。要使用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queue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，必须先添加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queue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头文件，即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#include &lt;queue&gt;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。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定义一个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queue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的方法为：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queue&lt;typename&gt; name;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其中，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typename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可以是任何基本类型或者容器，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name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为队列的名字</a:t>
            </a:r>
          </a:p>
        </p:txBody>
      </p:sp>
    </p:spTree>
    <p:extLst>
      <p:ext uri="{BB962C8B-B14F-4D97-AF65-F5344CB8AC3E}">
        <p14:creationId xmlns:p14="http://schemas.microsoft.com/office/powerpoint/2010/main" val="132683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queue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600502" y="1689022"/>
            <a:ext cx="1069984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push()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push(x)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用来将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x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入队，时间复杂度为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0(1)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front 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back()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front 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back()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分别用来获得队首元素和队尾元素，时间复杂度为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0(1)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pop()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pop()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用来让队首元素出队，时间复杂度为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0(1)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empty()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empty()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用来检测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queue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是否为空，返回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true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或者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false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，时间复杂度为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0(1)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size()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size()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返回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queue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内元素的个数，时间复杂度为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0(1)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2683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deque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879514" y="1400697"/>
            <a:ext cx="10078181" cy="3332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双向队列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，顾名思义就是队列二边都可以操作的队列。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双向队列和向量很相似，但是它允许在容器头部快速插入和删除（就像在尾部一样）。双向都可以进行相应的操作。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定义一个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deque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的方法为：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deque&lt;typename&gt; name;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其中，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typename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可以是任何基本类型或者容器，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name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为队列的名字</a:t>
            </a:r>
          </a:p>
        </p:txBody>
      </p:sp>
    </p:spTree>
    <p:extLst>
      <p:ext uri="{BB962C8B-B14F-4D97-AF65-F5344CB8AC3E}">
        <p14:creationId xmlns:p14="http://schemas.microsoft.com/office/powerpoint/2010/main" val="2982848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deque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591624" y="1484836"/>
            <a:ext cx="10699844" cy="444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(1)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deque.push_back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(elem);    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在容器尾部添加一个数据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(2)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deque.push_front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(elem);  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在容器头部插入一个数据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(3)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deque.pop_back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 );           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删除容器最后一个数据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(4)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deque.pop_front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 );        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删除容器第一个数据</a:t>
            </a:r>
          </a:p>
        </p:txBody>
      </p:sp>
    </p:spTree>
    <p:extLst>
      <p:ext uri="{BB962C8B-B14F-4D97-AF65-F5344CB8AC3E}">
        <p14:creationId xmlns:p14="http://schemas.microsoft.com/office/powerpoint/2010/main" val="2434117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queue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982639" y="1429716"/>
            <a:ext cx="9976513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3】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瓷砖</a:t>
            </a:r>
            <a:endParaRPr lang="en-US" altLang="zh-CN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问题描述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】</a:t>
            </a: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在一个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w×h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的矩形广场上，每一块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1×1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的地面都铺设了红色或黑色的瓷砖。小林同学站在某一块黑色的瓷砖上，他可以从此处出发，移动到上、下、左、右四个相邻的且是黑色的瓷砖上。现在，他想知道，通过重复上述移动所能经过的黑色瓷砖数。</a:t>
            </a: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输入格式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】</a:t>
            </a: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第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行为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h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w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2≤w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h≤50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，之间由一个空格隔开。</a:t>
            </a: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以下为一个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w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行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h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列的二维字符矩阵，每个字符为“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.”“#”“@”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，分别表示该位置为黑色的瓷砖、红色的瓷砖，以及小林的初始位置。</a:t>
            </a:r>
          </a:p>
        </p:txBody>
      </p:sp>
    </p:spTree>
    <p:extLst>
      <p:ext uri="{BB962C8B-B14F-4D97-AF65-F5344CB8AC3E}">
        <p14:creationId xmlns:p14="http://schemas.microsoft.com/office/powerpoint/2010/main" val="132683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queue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982639" y="1429716"/>
            <a:ext cx="9976513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3】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瓷砖</a:t>
            </a:r>
            <a:endParaRPr lang="en-US" altLang="zh-CN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问题描述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】</a:t>
            </a: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在一个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w×h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的矩形广场上，每一块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1×1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的地面都铺设了红色或黑色的瓷砖。小林同学站在某一块黑色的瓷砖上，他可以从此处出发，移动到上、下、左、右四个相邻的且是黑色的瓷砖上。现在，他想知道，通过重复上述移动所能经过的黑色瓷砖数。</a:t>
            </a: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输入格式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】</a:t>
            </a: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第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行为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h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w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2≤w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h≤50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，之间由一个空格隔开。</a:t>
            </a: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以下为一个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w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行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h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列的二维字符矩阵，每个字符为“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.”“#”“@”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，分别表示该位置为黑色的瓷砖、红色的瓷砖，以及小林的初始位置。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3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输出格式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】</a:t>
            </a:r>
          </a:p>
          <a:p>
            <a:pPr>
              <a:lnSpc>
                <a:spcPts val="3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输出一行一个整数，表示小林从初始位置出发可以到达的瓷砖数。</a:t>
            </a: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683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queue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982639" y="1429716"/>
            <a:ext cx="9976513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输入输出样例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】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9900" y="2151037"/>
            <a:ext cx="7200209" cy="4181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2683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altLang="zh-CN" dirty="0"/>
              <a:t>Map / pair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02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map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990152" y="1770909"/>
            <a:ext cx="1003724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map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翻译为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映射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，是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STL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中的常用容器。其实，数组就是一种映射，比如：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int a[100]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；就是定义了一个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的映射。而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a[5]=25;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就是把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映射到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。数组总是将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类型映射到其它基本类型（称为数组的基类型），这同时也带来了一个问题，有时候我们希望把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映射成一个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，数组就不方便了。这时就可以使用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map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map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可以将任何基本类型（包括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STL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容器）映射到任何基本类型（包括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STL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容器）。</a:t>
            </a:r>
            <a:endParaRPr lang="zh-CN" altLang="en-US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83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map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894617" y="1689023"/>
            <a:ext cx="10228307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map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的用途至少有以下三种情形：</a:t>
            </a:r>
          </a:p>
          <a:p>
            <a:pPr indent="574675">
              <a:lnSpc>
                <a:spcPct val="20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）需要建立字符（串）与整数之间的映射，使用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map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可以减少代码量。</a:t>
            </a:r>
          </a:p>
          <a:p>
            <a:pPr indent="574675">
              <a:lnSpc>
                <a:spcPct val="20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）判断大整数（比如几千位）或者其他类型数据是否存在，可以把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map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当布尔型数组使用（哈希表）。</a:t>
            </a:r>
          </a:p>
          <a:p>
            <a:pPr indent="574675">
              <a:lnSpc>
                <a:spcPct val="20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）字符串与字符串之间的映射。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endParaRPr lang="zh-CN" altLang="en-US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83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map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1126629" y="1538897"/>
            <a:ext cx="10228307" cy="4385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要使用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map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，必须先添加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map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头文件，即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#include &lt;map&gt;</a:t>
            </a:r>
            <a:endParaRPr lang="zh-CN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定义一个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map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的方法为：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map&lt;typename1,typename2&gt; name;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其中，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typename1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是映射前的类型（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键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key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typename2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是映射后的类型（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值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value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name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为映射的名字。</a:t>
            </a:r>
            <a:endParaRPr lang="zh-CN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普通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数组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就是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map&lt;int,int&gt; 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。而如果是字符串到整型的映射，就必须使用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，而不能使用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，即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map&lt;string,int&gt; a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map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的键和值也可以是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STL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容器，比如：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map&lt;set&lt;int&gt;,string&gt; mp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。当然，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map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的键和值都是唯一的。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683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map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812730" y="1525249"/>
            <a:ext cx="10228307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访问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map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的元素有两种方式，一种是通过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下标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访问；另一种是通过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迭代器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访问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20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通过下标访问就像普通的数组元素访问，例如先定义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map&lt;char,int&gt; mp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，然后就可以通过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mp[‘c’]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的方式来访问它对应的元素，如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mp[‘c’]=124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20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通过迭代器访问，先作如下定义：</a:t>
            </a:r>
          </a:p>
          <a:p>
            <a:pPr indent="574675">
              <a:lnSpc>
                <a:spcPct val="20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map&lt;typename1,typename2&gt;::iterator it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 indent="574675">
              <a:lnSpc>
                <a:spcPct val="20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因为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map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的每一对映射都有两个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typename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，所以，我们使用“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it-&gt;first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”来访问键，而使用“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it-&gt;second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”来访问值。 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683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map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457887" y="1538896"/>
            <a:ext cx="10869755" cy="5721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find()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size()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find(key)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是返回键为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key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的映射的迭代器，时间复杂度为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0(log 2 n)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n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为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map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中映射的对数。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size()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用来获得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map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中映射的对数，时间复杂度为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O(1)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zh-CN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clear()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clear()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用来清空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map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，时间复杂度为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0(n)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erase()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erase()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可以删除单个元素，也可以删除一个区间内的所有元素。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删除单个元素可以用：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erase(it)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为要删除的元素的迭代器，时间复杂度为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O(1)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也可以用：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erase(key)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key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为要删除的映射的键，时间复杂度为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O(log2n)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删除一个区间内的所有元素用：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erase(first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last)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first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为区间的起始迭代器，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last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为区间的末尾迭代器的下一个地址，也就是左闭右开的区间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[first,last)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，时间复杂度为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O(last-first)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50877" y="1306351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常见函数</a:t>
            </a:r>
          </a:p>
        </p:txBody>
      </p:sp>
    </p:spTree>
    <p:extLst>
      <p:ext uri="{BB962C8B-B14F-4D97-AF65-F5344CB8AC3E}">
        <p14:creationId xmlns:p14="http://schemas.microsoft.com/office/powerpoint/2010/main" val="132683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map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876108" y="1246971"/>
            <a:ext cx="10209405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4】map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综合应用</a:t>
            </a:r>
            <a:endParaRPr lang="en-US" altLang="zh-CN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E11FE2-5EE7-4DE6-8A97-EFB833CC4CF1}"/>
              </a:ext>
            </a:extLst>
          </p:cNvPr>
          <p:cNvSpPr/>
          <p:nvPr/>
        </p:nvSpPr>
        <p:spPr>
          <a:xfrm>
            <a:off x="1104900" y="1705879"/>
            <a:ext cx="922870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#include&lt;bits/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++.h&gt;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map&lt;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char,int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['a']=20;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['b']=30;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['c']=40;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mp.size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()&lt;&lt;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map&lt;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char,int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:: iterator it 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mp.find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('b');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&lt;&lt;it-&gt;first&lt;&lt;" "&lt;&lt;it-&gt;second&lt;&lt;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mp.erase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(it);  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//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mp.erase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it,mp.end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for(map&lt;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char,int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:: iterator it 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mp.begin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it!=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mp.end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();it++)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&lt;&lt;it-&gt;first&lt;&lt;" "&lt;&lt;it-&gt;second&lt;&lt;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mp.clear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0;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984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map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876108" y="1275256"/>
            <a:ext cx="10209405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5】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统计字符串出现的次数</a:t>
            </a:r>
            <a:endParaRPr lang="en-US" altLang="zh-CN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问题描述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】</a:t>
            </a:r>
          </a:p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给定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个字符串，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个问题，每个问题询问一个字符串出现的次数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E11FE2-5EE7-4DE6-8A97-EFB833CC4CF1}"/>
              </a:ext>
            </a:extLst>
          </p:cNvPr>
          <p:cNvSpPr/>
          <p:nvPr/>
        </p:nvSpPr>
        <p:spPr>
          <a:xfrm>
            <a:off x="989490" y="2667254"/>
            <a:ext cx="304985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#include&lt;bits/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++.h&gt;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n,m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map&lt;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string,int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h;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char str[25];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&gt;&gt;n&gt;&gt;m;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for(int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&gt;&gt;str;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h[str]++;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2E69E4-C341-4E69-8795-ACDA91D8303B}"/>
              </a:ext>
            </a:extLst>
          </p:cNvPr>
          <p:cNvSpPr/>
          <p:nvPr/>
        </p:nvSpPr>
        <p:spPr>
          <a:xfrm>
            <a:off x="5670091" y="2992224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m;i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&gt;&gt;str;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if(h[str]!=0)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&lt;&lt;h[str];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else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&lt;&lt;0;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0;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1F43D32-8AF1-4FED-89CD-FFA92A76197B}"/>
              </a:ext>
            </a:extLst>
          </p:cNvPr>
          <p:cNvCxnSpPr>
            <a:cxnSpLocks/>
          </p:cNvCxnSpPr>
          <p:nvPr/>
        </p:nvCxnSpPr>
        <p:spPr>
          <a:xfrm>
            <a:off x="4947644" y="2598695"/>
            <a:ext cx="0" cy="4107436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639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pair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723331" y="1634430"/>
            <a:ext cx="9962865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pair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是“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二元结构体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”的替代品，将两个元素捆绑在一起，节省编码时间。相当于以下定义：</a:t>
            </a:r>
          </a:p>
          <a:p>
            <a:pPr indent="574675">
              <a:lnSpc>
                <a:spcPct val="20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struct pair{</a:t>
            </a:r>
          </a:p>
          <a:p>
            <a:pPr indent="574675">
              <a:lnSpc>
                <a:spcPct val="20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	typename1 first;</a:t>
            </a:r>
          </a:p>
          <a:p>
            <a:pPr indent="574675">
              <a:lnSpc>
                <a:spcPct val="20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	typename2 second;</a:t>
            </a:r>
          </a:p>
          <a:p>
            <a:pPr indent="574675">
              <a:lnSpc>
                <a:spcPct val="20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}</a:t>
            </a:r>
            <a:endParaRPr lang="zh-CN" altLang="en-US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spcAft>
                <a:spcPts val="600"/>
              </a:spcAft>
              <a:buClr>
                <a:schemeClr val="accent2"/>
              </a:buClr>
              <a:buSzPct val="80000"/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683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pair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1078173" y="1648078"/>
            <a:ext cx="999016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要使用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pair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，必须先添加头文件，即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#include &lt;utility&gt;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，同时，必须要有“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using namespace std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”。因为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map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的内部实现中涉及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pair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，因此添加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map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头文件时会自动添加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utility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头文件，此时可以省去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utility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头文件。</a:t>
            </a:r>
            <a:endParaRPr lang="zh-CN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 pair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有两个参数，分别对应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first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second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的数据类型，可以是任意基本数据类型或者容器。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定义一个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pair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的方法为：</a:t>
            </a:r>
            <a:endParaRPr lang="zh-CN" altLang="zh-CN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pair&lt;typename1,typename2&gt; name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;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6830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altLang="zh-CN" dirty="0"/>
              <a:t>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707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set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928008" y="1398047"/>
            <a:ext cx="10037240" cy="444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set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翻译为集合，是一个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内部自动有序且不含重复元素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的容器。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set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最主要的作用就是自动去重并按升序排序，因此遇到需要去重但是又不方便直接开数组的情况。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set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中的元素是唯一的，其内部采用“红黑树”实现。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使用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set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前，必须先添加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set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头文件，即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#include &lt;set&gt;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定义一个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set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的方法如下：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set&lt;</a:t>
            </a:r>
            <a:r>
              <a:rPr lang="en-US" altLang="zh-CN" b="1" dirty="0" err="1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typename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&gt; name;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其中，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typename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可以是任何基本类型或者容器，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name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是集合的名字。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endParaRPr lang="zh-CN" altLang="en-US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529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set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928008" y="1548968"/>
            <a:ext cx="10037240" cy="444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也可以定义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set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数组，例如：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set&lt;int&gt;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[100];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这样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[0]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～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[99]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中的每一个元素都是一个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set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容器。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需要注意的是，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set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只能通过迭代器访问。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即先定义一个迭代器：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set&lt;</a:t>
            </a:r>
            <a:r>
              <a:rPr lang="en-US" altLang="zh-CN" b="1" dirty="0" err="1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typename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&gt;::iterator it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然后使用“*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it”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来访问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set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中的元素。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set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也不支持“*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it+i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)”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和“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it &lt;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st.end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()”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的访问方式（实际上除了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vector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之外的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STL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容器都不支持）。 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endParaRPr lang="zh-CN" altLang="en-US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29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set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643923" y="1460192"/>
            <a:ext cx="10441590" cy="444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insert 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size()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insert(x)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用来将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x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插入到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set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中，并自动递增排序和去重，时间复杂度为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O(log2n)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n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为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set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中的元素个数。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size()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用来获得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set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中的元素个数，时间复杂度为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O(1)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find()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find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value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）是返回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set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中对应值为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value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的迭代器，时间复杂度为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O(log2n)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clear()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clear()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用来清空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set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中的所有元素，时间复杂度为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O(n)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endParaRPr lang="zh-CN" altLang="en-US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455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set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928008" y="1548968"/>
            <a:ext cx="10037240" cy="3886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erase()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erase()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可以删除单个元素，也可以删除一个区间内的所有元素。删除单个元素可以用：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erase(it)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为要删除的元素的迭代器，时间复杂度为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O(1)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。也可以用：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erase(value)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value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为要删除的元素的值，时间复杂度为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O(log2n)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删除一个区间内的所有元素用：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erase(first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last)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first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为区间的起始迭代器，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last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为区间的末尾迭代器的下一个地址，也就是左闭右开的区间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[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first,last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），时间复杂度为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O(last-first)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 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endParaRPr lang="zh-CN" altLang="en-US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355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set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876107" y="1182041"/>
            <a:ext cx="10209405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6】set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综合应用</a:t>
            </a:r>
            <a:endParaRPr lang="en-US" altLang="zh-CN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E11FE2-5EE7-4DE6-8A97-EFB833CC4CF1}"/>
              </a:ext>
            </a:extLst>
          </p:cNvPr>
          <p:cNvSpPr/>
          <p:nvPr/>
        </p:nvSpPr>
        <p:spPr>
          <a:xfrm>
            <a:off x="990502" y="1545657"/>
            <a:ext cx="9980613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#include&lt;bits/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stdc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++.h&gt;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set&lt;int&gt;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k;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for(int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=1;i&lt;=5;i++)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&gt;&gt;k;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st.insert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st.size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()&lt;&lt;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st.erase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st.find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//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st.erase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st.find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(2),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st.end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for(set&lt;int&gt; :: iterator it 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st.begin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it!=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st.end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();it++)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&lt;&lt;*it&lt;&lt;" "; 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st.clear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0;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959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altLang="zh-CN" dirty="0"/>
              <a:t>string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710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string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1104899" y="1398047"/>
            <a:ext cx="9980613" cy="499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语言中，一般使用字符数组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char str[]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来存放字符串，但是操作麻烦，容易出错。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STL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中加入了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类型，对字符串常用的需求功能进行了封装，使得操作起来更加方便，且不必担心内存是否足够、字符串的长度等问题。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，需要添加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头文件，即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#include &lt;string&gt;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定义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的方法为：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string name;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其中，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name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是字符串变量的名字。例如：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 str;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也可以定义的同时初始化，即：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 str=“abcd”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endParaRPr lang="zh-CN" altLang="en-US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152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string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474584" y="1357324"/>
            <a:ext cx="10610929" cy="499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string 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的访问</a:t>
            </a:r>
            <a:endParaRPr lang="en-US" altLang="zh-CN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一种访问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的方法，就像普通字符数组一样操作。例如：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 str= “ abcd “ 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for(int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= 0;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&lt;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str.length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();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++)    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printf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 “ %c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”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,str[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])         //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输出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abcd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如果要读入或者输出整个字符串，一般只能用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cin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cout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。例如：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 str;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cin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&gt;&gt;str;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cout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&lt;&lt;str&lt;&lt;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endl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endParaRPr lang="zh-CN" altLang="en-US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391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string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785304" y="1309237"/>
            <a:ext cx="10300209" cy="5548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string 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的访问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另一种访问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的方法是通过迭代器，主要与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insert()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erase()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等函数配合使用。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先定义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迭代器：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string::iterator it;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然后就可以通过“*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it”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来访问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里的每一个字符了，而且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vector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一样，支持直接对迭代器进行加减某个数字，如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str.begin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()+3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等。例如：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 str="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abcdefg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";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for(string::iterator it =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str.begin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()+2; it !=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str.end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(); it++)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printf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("%c",*it);//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输出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cdefg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endParaRPr lang="zh-CN" altLang="en-US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4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string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536727" y="1306328"/>
            <a:ext cx="10548786" cy="4752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string 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的运算</a:t>
            </a:r>
            <a:endParaRPr lang="en-US" altLang="zh-CN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字符串可以做“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加法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”运算。加法是把两个字符串直接拼接起来。例如：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 str1= “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abc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“ ,str2= “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xyz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“ ,str3;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str3 = str1 + str2;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str1 += str2;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cout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&lt;&lt; str1 &lt;&lt;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endl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;//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输出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abcxyz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cout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&lt;&lt; str3 &lt;&lt;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endl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;//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输出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abcxyz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字符串还可以做“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关系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”运算，是按照字典序比较两个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类型的大小。例如：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 str1= “ aa “ ,str2= “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aaa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“ ,str3= “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abc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“ ;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if(str1 &lt; str2)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printf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 “ OK1 “ );//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输出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OK1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if(str1 &lt; str3)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printf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 “ OK2 “ );//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输出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OK2</a:t>
            </a:r>
            <a:endParaRPr lang="zh-CN" altLang="en-US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497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string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483461" y="1327026"/>
            <a:ext cx="10800056" cy="4025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string 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的常用函数</a:t>
            </a:r>
            <a:endParaRPr lang="en-US" altLang="zh-CN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length()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size()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length()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用来返回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的长度（字符个数），时间复杂度为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O(1)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size()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与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length()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一样。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clear()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clear()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用来清空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中的所有元素，时间复杂度为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 (1)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substr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()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Substr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pos,len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返回从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pos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号位置开始、长度为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len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的子串，时间复杂度为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 (n)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endParaRPr lang="zh-CN" altLang="en-US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E45C6E0-2020-4FCF-9B37-8076BFE5D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452" y="4556602"/>
            <a:ext cx="4806372" cy="135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79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string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589994" y="1282637"/>
            <a:ext cx="9980613" cy="3332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insert ()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insert 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有多种写法，时间复杂度都是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 (n)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insert(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pos,string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，表示在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pos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号位置插入字符串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insert(it,it2,it3)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为原字符串的欲插入位置，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it2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it3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为待插入字符串的首尾迭代器（左闭右开区间）。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endParaRPr lang="zh-CN" altLang="en-US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EDBFC9-B83C-4AF8-BDA7-80D382773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875" y="4367628"/>
            <a:ext cx="7000875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319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string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856325" y="1256004"/>
            <a:ext cx="10072087" cy="3090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erase()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erase()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可以删除单个元素，也可以删除一个区间内的所有元素，时间复杂度均为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 (n)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删除单个元素用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erase(it)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it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为要删除的元素的迭代器。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删除一个区间内的所有元素可以用两种方法。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erase(first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last)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first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为区间的起始迭代器，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last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为区间的末尾迭代器的下一个地址，也就是左闭右开的区间［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first,last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erase(pos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length)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pos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为需要删除的字符串起始位置，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length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为要删除的字符个数。 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2524FB8-67C0-411F-8482-253FD1D92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979" y="4429243"/>
            <a:ext cx="6467475" cy="17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19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string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660459" y="1094668"/>
            <a:ext cx="10072087" cy="3332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find()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str.find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(str2)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，当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的子串时，返回其在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第一次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出现的位置；否则返回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string::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npos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string::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npos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是一个常数，其本身的值等于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-1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，但由于是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unsigned int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类型，因此，也可以认为是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unsigned int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类型的最大值（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4294967295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）。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str.find(str2,pos)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，是从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pos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号位开始匹配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，返回值同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str.find(str2)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。以上两种写法的时间复杂度都是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O(n*m)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，其中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分别为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的长度。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BEB740A-66BD-4DBB-BC52-B15F93E31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506" y="4427440"/>
            <a:ext cx="8724900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898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string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760811" y="1389962"/>
            <a:ext cx="10072087" cy="222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7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replace()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str.replace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(pos,len,str2)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表示把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pos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号位开始、长度为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len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的子串替换为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。也可以写成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str.replace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(it1,it2,str2)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，表示把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的迭代器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it1~it2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范围内（左闭右开区间）的子串替换为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str2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。时间复杂度都是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str.length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。时间复杂度都是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str.length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39D974A-655B-4B7E-98E7-036B185C9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484" y="3960041"/>
            <a:ext cx="8595535" cy="159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1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string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370192" y="1093264"/>
            <a:ext cx="10824549" cy="6183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7】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字符串乘方</a:t>
            </a:r>
            <a:endParaRPr lang="en-US" altLang="zh-CN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问题描述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】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给定两个字符串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a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b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，定义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a*b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为它们的连接。例如，如果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a=  “ </a:t>
            </a:r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abc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  “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而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b=  “ def  “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，则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a*b=“ </a:t>
            </a:r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abcdef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  “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。如果将连接考虑成乘法，一个非负整数的乘方将用一种通常的方式定义：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a^0=  “ “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（空字符串），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a^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n+1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=a*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a^n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）。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输入格式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】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每一个测试样例是一行可打印的字符，用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s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表示。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s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的长度至少为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，且不会超过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10000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最后的测试样例后面将是一个点号作为一行。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输出格式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】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对于每一个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s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，你应该打印最大的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，使得存在一个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，让 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s=</a:t>
            </a:r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a^n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输入样例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】                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abcd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aaaa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ababab</a:t>
            </a:r>
            <a:endParaRPr lang="en-US" altLang="zh-CN" sz="1600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.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C4DF96-632E-456F-A6F9-B5E3929A850C}"/>
              </a:ext>
            </a:extLst>
          </p:cNvPr>
          <p:cNvSpPr/>
          <p:nvPr/>
        </p:nvSpPr>
        <p:spPr>
          <a:xfrm>
            <a:off x="3882502" y="5026045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输出样例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】</a:t>
            </a: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1</a:t>
            </a: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4</a:t>
            </a:r>
          </a:p>
          <a:p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16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8771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string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1104899" y="1599292"/>
            <a:ext cx="9980614" cy="17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】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分析题意可知，有循环节必定为字符串长度的约数，枚举约数判断即可。另外，由于本题输入量很大，如果需要请用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scanf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代替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cin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，从而避免超时。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0776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string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305909" y="1265889"/>
            <a:ext cx="9980614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】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84B259C-2718-42A3-AD9A-D75CA60EC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715" y="1703092"/>
            <a:ext cx="6597497" cy="493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43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altLang="zh-CN" dirty="0"/>
              <a:t>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3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algorithm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1104899" y="1398047"/>
            <a:ext cx="9980613" cy="1116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algorithm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翻译为算法，是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标准模版库中最重要的头文件之一，提供了大量基于迭代器的非成员模板函数。要使用这些函数，需要添加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algorithm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头文件，即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#include &lt;algorithm&gt;</a:t>
            </a:r>
            <a:endParaRPr lang="zh-CN" altLang="en-US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112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algorithm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1104899" y="1398047"/>
            <a:ext cx="9980613" cy="2778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max(</a:t>
            </a:r>
            <a:r>
              <a:rPr lang="en-US" altLang="zh-CN" b="1" dirty="0" err="1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x,y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min(</a:t>
            </a:r>
            <a:r>
              <a:rPr lang="en-US" altLang="zh-CN" b="1" dirty="0" err="1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x,y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分别返回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x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y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中的较大值和较小值，且参数必须是两个，可以是浮点数。如果要返回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3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个数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x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y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z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的最大值，可以使用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max(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x,max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y,z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))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的方法。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abs(x)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是返回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x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的绝对值，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x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必须是整数。如果要求浮点数的绝对值，可以使用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math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头文件下的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fabs(x)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swap(</a:t>
            </a:r>
            <a:r>
              <a:rPr lang="en-US" altLang="zh-CN" b="1" dirty="0" err="1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x,y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用来交换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x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y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的值。</a:t>
            </a:r>
          </a:p>
        </p:txBody>
      </p:sp>
    </p:spTree>
    <p:extLst>
      <p:ext uri="{BB962C8B-B14F-4D97-AF65-F5344CB8AC3E}">
        <p14:creationId xmlns:p14="http://schemas.microsoft.com/office/powerpoint/2010/main" val="332841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algorithm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881609" y="1448371"/>
            <a:ext cx="10427194" cy="5548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reverse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it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it2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可以将数组指针在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it~it2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之间的元素，或容器的迭代器在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it~it2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范围内的所有元素进行反转。注意：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it~it2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是左闭右开区间。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int a[10] = {10,11,12,13,14,15};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reverse(a,a+4);                                                               //</a:t>
            </a:r>
            <a:r>
              <a:rPr lang="zh-CN" altLang="en-US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将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a[0]</a:t>
            </a:r>
            <a:r>
              <a:rPr lang="zh-CN" altLang="en-US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a[3]</a:t>
            </a:r>
            <a:r>
              <a:rPr lang="zh-CN" altLang="en-US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这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个元素反转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for(int </a:t>
            </a:r>
            <a:r>
              <a:rPr lang="en-US" altLang="zh-CN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= 0; </a:t>
            </a:r>
            <a:r>
              <a:rPr lang="en-US" altLang="zh-CN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&lt; 6; </a:t>
            </a:r>
            <a:r>
              <a:rPr lang="en-US" altLang="zh-CN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++) </a:t>
            </a:r>
            <a:r>
              <a:rPr lang="en-US" altLang="zh-CN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("%d ",a[</a:t>
            </a:r>
            <a:r>
              <a:rPr lang="en-US" altLang="zh-CN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]);                    //</a:t>
            </a:r>
            <a:r>
              <a:rPr lang="zh-CN" altLang="en-US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输出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13 12 11 10 14 15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string str = "</a:t>
            </a:r>
            <a:r>
              <a:rPr lang="en-US" altLang="zh-CN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abcdefghi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";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reverse(</a:t>
            </a:r>
            <a:r>
              <a:rPr lang="en-US" altLang="zh-CN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str.begin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()+2,str.begin()+6);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for(int </a:t>
            </a:r>
            <a:r>
              <a:rPr lang="en-US" altLang="zh-CN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= 0; </a:t>
            </a:r>
            <a:r>
              <a:rPr lang="en-US" altLang="zh-CN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&lt; </a:t>
            </a:r>
            <a:r>
              <a:rPr lang="en-US" altLang="zh-CN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str.length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(); </a:t>
            </a:r>
            <a:r>
              <a:rPr lang="en-US" altLang="zh-CN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++) </a:t>
            </a:r>
            <a:r>
              <a:rPr lang="en-US" altLang="zh-CN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("%</a:t>
            </a:r>
            <a:r>
              <a:rPr lang="en-US" altLang="zh-CN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c",str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[</a:t>
            </a:r>
            <a:r>
              <a:rPr lang="en-US" altLang="zh-CN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]);        //</a:t>
            </a:r>
            <a:r>
              <a:rPr lang="zh-CN" altLang="en-US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输出</a:t>
            </a:r>
            <a:r>
              <a:rPr lang="en-US" altLang="zh-CN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abfedcghi</a:t>
            </a:r>
            <a:endParaRPr lang="en-US" altLang="zh-CN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endParaRPr lang="zh-CN" altLang="en-US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821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algorithm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874080" y="1495702"/>
            <a:ext cx="10211433" cy="499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 next_permutation()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是求出一个序列在全排列中的下一个序列。例如，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n=3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的全排列为：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123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132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213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231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312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321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，所以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231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的下一个排列就是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312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。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int a[10] = {1,2,3};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do{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("%d %d %d\</a:t>
            </a:r>
            <a:r>
              <a:rPr lang="en-US" altLang="zh-CN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n",a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[0],a[1],a[2]);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}while(next_permutation(a,a+3));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//a[0],a[1],a[2]</a:t>
            </a:r>
            <a:r>
              <a:rPr lang="zh-CN" altLang="en-US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三个元素的排列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  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//next_permutation</a:t>
            </a:r>
            <a:r>
              <a:rPr lang="zh-CN" altLang="en-US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在达到全排列的最后一个时会返回</a:t>
            </a:r>
            <a:r>
              <a:rPr lang="en-US" altLang="zh-CN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false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endParaRPr lang="zh-CN" altLang="en-US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001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algorithm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1104899" y="1548967"/>
            <a:ext cx="9980613" cy="2953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fill 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可以把数组或容器的某一段区间赋为某个相同的值。和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memset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不同，这里的赋值可以是数组类型对应范围中的任意值。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int a[5];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fill(a,a+5,123);// </a:t>
            </a:r>
            <a:r>
              <a:rPr lang="zh-CN" altLang="en-US" sz="2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将 </a:t>
            </a:r>
            <a:r>
              <a:rPr lang="en-US" altLang="zh-CN" sz="2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a[0] </a:t>
            </a:r>
            <a:r>
              <a:rPr lang="zh-CN" altLang="en-US" sz="2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到 </a:t>
            </a:r>
            <a:r>
              <a:rPr lang="en-US" altLang="zh-CN" sz="2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a[4] </a:t>
            </a:r>
            <a:r>
              <a:rPr lang="zh-CN" altLang="en-US" sz="2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均赋值为 </a:t>
            </a:r>
            <a:r>
              <a:rPr lang="en-US" altLang="zh-CN" sz="2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123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sz="2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for(int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 = 0;i &lt; 5;i++) 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printf</a:t>
            </a:r>
            <a:r>
              <a:rPr lang="en-US" altLang="zh-CN" sz="2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 “ %d  “ ,a[</a:t>
            </a:r>
            <a:r>
              <a:rPr lang="en-US" altLang="zh-CN" sz="2000" dirty="0" err="1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]);</a:t>
            </a:r>
            <a:endParaRPr lang="zh-CN" altLang="en-US" sz="2000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308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algorithm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1104899" y="1398047"/>
            <a:ext cx="9980613" cy="444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sort 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是实现排序的函数。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sort 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在具体实现中规避了经典快速排序（包括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语言中的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qsort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函数）可能出现的、会导致实际复杂度退化到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O(n2)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的极端情况。它根据具体情形使用不同的排序方法，效率极高。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sort 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函数的基本格式为：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sort(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首元素地址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尾元素地址的下一个地址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比较函数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);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我们看到，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sort()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有三个参数，其中前两个是必填的，比较函数缺省表示对区间元素进行递增排序。对于数组基类型是基本数据类型的，如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double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，可以直接比较大小，使用方便。</a:t>
            </a:r>
          </a:p>
        </p:txBody>
      </p:sp>
    </p:spTree>
    <p:extLst>
      <p:ext uri="{BB962C8B-B14F-4D97-AF65-F5344CB8AC3E}">
        <p14:creationId xmlns:p14="http://schemas.microsoft.com/office/powerpoint/2010/main" val="3481293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algorithm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492341" y="1513457"/>
            <a:ext cx="10515970" cy="444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int a[6] = {9,4,2,5,6,-1};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sort(a,a+4);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for(int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= 0;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&lt; 6;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++)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printf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("%d ",a[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]);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输出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 4 5 9 6 -1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char c[] = {'T','W','A','K'};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sort(c,c+4);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for(int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= 0;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&lt; 4;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++)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printf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("%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c",c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[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]);</a:t>
            </a:r>
            <a:br>
              <a:rPr lang="en-US" altLang="zh-CN" dirty="0">
                <a:latin typeface="微软雅黑" pitchFamily="34" charset="-122"/>
                <a:ea typeface="微软雅黑" pitchFamily="34" charset="-122"/>
              </a:rPr>
            </a:b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  //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输出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AKTW</a:t>
            </a:r>
          </a:p>
        </p:txBody>
      </p:sp>
    </p:spTree>
    <p:extLst>
      <p:ext uri="{BB962C8B-B14F-4D97-AF65-F5344CB8AC3E}">
        <p14:creationId xmlns:p14="http://schemas.microsoft.com/office/powerpoint/2010/main" val="62339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/>
          <a:lstStyle/>
          <a:p>
            <a:r>
              <a:rPr lang="en-US" altLang="zh-CN" dirty="0"/>
              <a:t>algorithm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980612" y="1353658"/>
            <a:ext cx="10104901" cy="3886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lower_bound(</a:t>
            </a:r>
            <a:r>
              <a:rPr lang="en-US" altLang="zh-CN" b="1" dirty="0" err="1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first,last,val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用来寻找一个有序数组或者容器中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first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～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last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范围内（左闭右开区间），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第一个值大于等于</a:t>
            </a:r>
            <a:r>
              <a:rPr lang="en-US" altLang="zh-CN" b="1" dirty="0" err="1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val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的元素的位置。如果是数组，则返回该位置的指针；如果是容器，则返回该位置的迭代器。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b="1" dirty="0" err="1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upper_bound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b="1" dirty="0" err="1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first,last,val</a:t>
            </a:r>
            <a:r>
              <a:rPr lang="en-US" altLang="zh-CN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用来寻找一个有序数组或者容器中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first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～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last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范围内（左闭右开区间），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第一个值大于</a:t>
            </a:r>
            <a:r>
              <a:rPr lang="en-US" altLang="zh-CN" b="1" dirty="0" err="1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val</a:t>
            </a:r>
            <a:r>
              <a:rPr lang="zh-CN" altLang="en-US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的元素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的位置。如果是数组，则返回该位置的指针；如果是容器，则返回该位置的迭代器。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</a:t>
            </a:r>
            <a:endParaRPr lang="zh-CN" altLang="en-US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A308ED6-D4ED-406A-8944-8D4C5E234D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470" y="5034792"/>
            <a:ext cx="5798783" cy="138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187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CN" altLang="en-US" dirty="0"/>
              <a:t>习题练习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854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1.ASCII</a:t>
            </a:r>
            <a:r>
              <a:rPr lang="zh-CN" altLang="en-US" sz="2400" b="1" dirty="0">
                <a:solidFill>
                  <a:schemeClr val="accent2"/>
                </a:solidFill>
              </a:rPr>
              <a:t>码排序</a:t>
            </a:r>
            <a:endParaRPr lang="zh-CN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794180" y="1433559"/>
            <a:ext cx="10291333" cy="4752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描述输入三个字符（可以重复）后，按各字符的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ASCII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码从小到大的顺序输出这三个字符。输入第一行输入一个数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N,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表示有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组测试数据。后面的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行输入多组数据，每组输入数据都是占一行，有三个字符组成，之间无空格。输出对于每组输入数据，输出一行，字符中间用一个空格分开。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样例输入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qwe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asd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样例输出</a:t>
            </a: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e q w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 d s</a:t>
            </a:r>
          </a:p>
        </p:txBody>
      </p:sp>
    </p:spTree>
    <p:extLst>
      <p:ext uri="{BB962C8B-B14F-4D97-AF65-F5344CB8AC3E}">
        <p14:creationId xmlns:p14="http://schemas.microsoft.com/office/powerpoint/2010/main" val="4198036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2.Binary String Matching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598872" y="1297450"/>
            <a:ext cx="10371232" cy="5588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描述</a:t>
            </a:r>
            <a:r>
              <a:rPr lang="en-US" altLang="zh-CN" sz="16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Given two strings A and B, whose alphabet consist only ‘0’ and ‘1’. Your task is only to tell how many times does A appear as a substring of B? For example, the text string B is ‘1001110110’ while the pattern string A is ‘11’, you should output 3, because the pattern A appeared at the posit.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输入</a:t>
            </a:r>
            <a:r>
              <a:rPr lang="en-US" altLang="zh-CN" sz="16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The first line consist only one integer N, indicates N cases follows. In each case, there are two lines, the first line gives the string A, length (A) &lt;= 10, and the second line gives the string B, length (B) &lt;= 1000. And it is guaranteed that B is always longer than A.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输出</a:t>
            </a:r>
            <a:r>
              <a:rPr lang="en-US" altLang="zh-CN" sz="16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For each case, output a single line consist a single integer, tells how many times do B appears as a substring of A.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sz="16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样例输入</a:t>
            </a:r>
            <a:endParaRPr lang="en-US" altLang="zh-CN" sz="1600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16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3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16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11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16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1001110110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16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101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16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110010010010001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16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1010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16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110100010101011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666287-CDA9-4ECA-AC32-8710B27941D6}"/>
              </a:ext>
            </a:extLst>
          </p:cNvPr>
          <p:cNvSpPr/>
          <p:nvPr/>
        </p:nvSpPr>
        <p:spPr>
          <a:xfrm>
            <a:off x="7057320" y="4256388"/>
            <a:ext cx="132320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样例输出</a:t>
            </a:r>
            <a:endParaRPr lang="en-US" altLang="zh-CN" sz="1600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3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0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3 </a:t>
            </a:r>
          </a:p>
        </p:txBody>
      </p:sp>
    </p:spTree>
    <p:extLst>
      <p:ext uri="{BB962C8B-B14F-4D97-AF65-F5344CB8AC3E}">
        <p14:creationId xmlns:p14="http://schemas.microsoft.com/office/powerpoint/2010/main" val="654504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8789C4F-0E3F-483A-B46E-4EC26C4F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13" cy="1096963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3.</a:t>
            </a:r>
            <a:r>
              <a:rPr lang="zh-CN" altLang="en-US" sz="2400" b="1" dirty="0">
                <a:solidFill>
                  <a:schemeClr val="accent2"/>
                </a:solidFill>
              </a:rPr>
              <a:t>找球号</a:t>
            </a:r>
            <a:endParaRPr lang="zh-CN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A546A-102F-426E-A05A-2CDCCA80D93C}"/>
              </a:ext>
            </a:extLst>
          </p:cNvPr>
          <p:cNvSpPr/>
          <p:nvPr/>
        </p:nvSpPr>
        <p:spPr>
          <a:xfrm>
            <a:off x="1016121" y="1209984"/>
            <a:ext cx="10291333" cy="6102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sz="16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描述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在某一国度里流行着一种游戏。游戏规则为：在一堆球中，每个球上都有一个整数编号</a:t>
            </a:r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(0&lt;=</a:t>
            </a:r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&lt;=100000000),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编号可重复，现在说一个随机整数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k(0&lt;=k&lt;=100000100)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，判断编号为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的球是否在这堆球中（存在为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"YES",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否则为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"NO"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），先答出者为胜。现在有一个人想玩玩这个游戏，但他又很懒。他希望你能帮助他取得胜利。输入第一行有两个整数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n(0&lt;=n&lt;=100000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0&lt;=m&lt;=1000000)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表示这堆球里有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个球，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表示这个游戏进行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次。接下来输入</a:t>
            </a:r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m+n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个整数，前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个分别表示这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个球的编号</a:t>
            </a:r>
            <a:r>
              <a:rPr lang="en-US" altLang="zh-CN" sz="16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，后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个分别表示每次游戏中的随机整数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输出输出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"YES"</a:t>
            </a:r>
            <a:r>
              <a:rPr lang="zh-CN" altLang="en-US" sz="1600" dirty="0"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"NO“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sz="16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样例输入</a:t>
            </a:r>
            <a:endParaRPr lang="en-US" altLang="zh-CN" sz="16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6 4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23 34 46 768 343 343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2 4 23 343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zh-CN" altLang="en-US" sz="16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样例输出</a:t>
            </a:r>
            <a:endParaRPr lang="en-US" altLang="zh-CN" sz="16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NO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NO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YES</a:t>
            </a:r>
          </a:p>
          <a:p>
            <a:pPr indent="574675">
              <a:lnSpc>
                <a:spcPct val="150000"/>
              </a:lnSpc>
              <a:buClr>
                <a:schemeClr val="accent2"/>
              </a:buClr>
              <a:buSzPct val="80000"/>
            </a:pPr>
            <a:r>
              <a:rPr lang="en-US" altLang="zh-CN" sz="1600" dirty="0">
                <a:latin typeface="微软雅黑" pitchFamily="34" charset="-122"/>
                <a:ea typeface="微软雅黑" pitchFamily="34" charset="-122"/>
              </a:rPr>
              <a:t>YES</a:t>
            </a:r>
          </a:p>
          <a:p>
            <a:pPr indent="574675">
              <a:lnSpc>
                <a:spcPct val="200000"/>
              </a:lnSpc>
              <a:buClr>
                <a:schemeClr val="accent2"/>
              </a:buClr>
              <a:buSzPct val="80000"/>
            </a:pPr>
            <a:endParaRPr lang="en-US" altLang="zh-CN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2825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Academic Literature">
    <a:dk1>
      <a:srgbClr val="514843"/>
    </a:dk1>
    <a:lt1>
      <a:srgbClr val="FFFFFF"/>
    </a:lt1>
    <a:dk2>
      <a:srgbClr val="000000"/>
    </a:dk2>
    <a:lt2>
      <a:srgbClr val="FFFFF3"/>
    </a:lt2>
    <a:accent1>
      <a:srgbClr val="514843"/>
    </a:accent1>
    <a:accent2>
      <a:srgbClr val="6D7D66"/>
    </a:accent2>
    <a:accent3>
      <a:srgbClr val="525A6A"/>
    </a:accent3>
    <a:accent4>
      <a:srgbClr val="827266"/>
    </a:accent4>
    <a:accent5>
      <a:srgbClr val="AE9A7E"/>
    </a:accent5>
    <a:accent6>
      <a:srgbClr val="A8A39E"/>
    </a:accent6>
    <a:hlink>
      <a:srgbClr val="59704F"/>
    </a:hlink>
    <a:folHlink>
      <a:srgbClr val="A8A39E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6607</Words>
  <Application>Microsoft Office PowerPoint</Application>
  <PresentationFormat>宽屏</PresentationFormat>
  <Paragraphs>482</Paragraphs>
  <Slides>68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73" baseType="lpstr">
      <vt:lpstr>微软雅黑</vt:lpstr>
      <vt:lpstr>Euphemia</vt:lpstr>
      <vt:lpstr>Times New Roman</vt:lpstr>
      <vt:lpstr>Wingdings</vt:lpstr>
      <vt:lpstr>学术文献 16x9</vt:lpstr>
      <vt:lpstr>STL</vt:lpstr>
      <vt:lpstr>PowerPoint 演示文稿</vt:lpstr>
      <vt:lpstr>标准模板库（Standard Template Library，STL）</vt:lpstr>
      <vt:lpstr>Vector</vt:lpstr>
      <vt:lpstr>vector</vt:lpstr>
      <vt:lpstr>vector</vt:lpstr>
      <vt:lpstr>vector</vt:lpstr>
      <vt:lpstr>vector</vt:lpstr>
      <vt:lpstr>vector</vt:lpstr>
      <vt:lpstr>vector</vt:lpstr>
      <vt:lpstr>vector</vt:lpstr>
      <vt:lpstr>stack</vt:lpstr>
      <vt:lpstr>stack</vt:lpstr>
      <vt:lpstr>stack</vt:lpstr>
      <vt:lpstr>stack</vt:lpstr>
      <vt:lpstr>stack</vt:lpstr>
      <vt:lpstr>stack</vt:lpstr>
      <vt:lpstr>queue</vt:lpstr>
      <vt:lpstr>queue</vt:lpstr>
      <vt:lpstr>queue</vt:lpstr>
      <vt:lpstr>deque</vt:lpstr>
      <vt:lpstr>deque</vt:lpstr>
      <vt:lpstr>queue</vt:lpstr>
      <vt:lpstr>queue</vt:lpstr>
      <vt:lpstr>queue</vt:lpstr>
      <vt:lpstr>Map / pair</vt:lpstr>
      <vt:lpstr>map</vt:lpstr>
      <vt:lpstr>map</vt:lpstr>
      <vt:lpstr>map</vt:lpstr>
      <vt:lpstr>map</vt:lpstr>
      <vt:lpstr>map</vt:lpstr>
      <vt:lpstr>map</vt:lpstr>
      <vt:lpstr>map</vt:lpstr>
      <vt:lpstr>pair</vt:lpstr>
      <vt:lpstr>pair</vt:lpstr>
      <vt:lpstr>set</vt:lpstr>
      <vt:lpstr>set</vt:lpstr>
      <vt:lpstr>set</vt:lpstr>
      <vt:lpstr>set</vt:lpstr>
      <vt:lpstr>set</vt:lpstr>
      <vt:lpstr>set</vt:lpstr>
      <vt:lpstr>string</vt:lpstr>
      <vt:lpstr>string</vt:lpstr>
      <vt:lpstr>string</vt:lpstr>
      <vt:lpstr>string</vt:lpstr>
      <vt:lpstr>string</vt:lpstr>
      <vt:lpstr>string</vt:lpstr>
      <vt:lpstr>string</vt:lpstr>
      <vt:lpstr>string</vt:lpstr>
      <vt:lpstr>string</vt:lpstr>
      <vt:lpstr>string</vt:lpstr>
      <vt:lpstr>string</vt:lpstr>
      <vt:lpstr>string</vt:lpstr>
      <vt:lpstr>string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algorithm</vt:lpstr>
      <vt:lpstr>习题练习</vt:lpstr>
      <vt:lpstr>1.ASCII码排序</vt:lpstr>
      <vt:lpstr>2.Binary String Matching</vt:lpstr>
      <vt:lpstr>3.找球号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</cp:revision>
  <dcterms:created xsi:type="dcterms:W3CDTF">2017-11-04T04:56:00Z</dcterms:created>
  <dcterms:modified xsi:type="dcterms:W3CDTF">2021-06-27T02:12:05Z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2052-10.1.0.7520</vt:lpwstr>
  </property>
</Properties>
</file>