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25"/>
  </p:notesMasterIdLst>
  <p:handoutMasterIdLst>
    <p:handoutMasterId r:id="rId26"/>
  </p:handoutMasterIdLst>
  <p:sldIdLst>
    <p:sldId id="256" r:id="rId2"/>
    <p:sldId id="512" r:id="rId3"/>
    <p:sldId id="513" r:id="rId4"/>
    <p:sldId id="556" r:id="rId5"/>
    <p:sldId id="514" r:id="rId6"/>
    <p:sldId id="557" r:id="rId7"/>
    <p:sldId id="558" r:id="rId8"/>
    <p:sldId id="559" r:id="rId9"/>
    <p:sldId id="579" r:id="rId10"/>
    <p:sldId id="540" r:id="rId11"/>
    <p:sldId id="560" r:id="rId12"/>
    <p:sldId id="561" r:id="rId13"/>
    <p:sldId id="577" r:id="rId14"/>
    <p:sldId id="566" r:id="rId15"/>
    <p:sldId id="567" r:id="rId16"/>
    <p:sldId id="565" r:id="rId17"/>
    <p:sldId id="568" r:id="rId18"/>
    <p:sldId id="569" r:id="rId19"/>
    <p:sldId id="570" r:id="rId20"/>
    <p:sldId id="574" r:id="rId21"/>
    <p:sldId id="575" r:id="rId22"/>
    <p:sldId id="576" r:id="rId23"/>
    <p:sldId id="502" r:id="rId24"/>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9E9"/>
    <a:srgbClr val="FFFF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autoAdjust="0"/>
  </p:normalViewPr>
  <p:slideViewPr>
    <p:cSldViewPr snapToGrid="0" showGuides="1">
      <p:cViewPr varScale="1">
        <p:scale>
          <a:sx n="78" d="100"/>
          <a:sy n="78" d="100"/>
        </p:scale>
        <p:origin x="192" y="43"/>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20" d="100"/>
        <a:sy n="20" d="100"/>
      </p:scale>
      <p:origin x="0" y="0"/>
    </p:cViewPr>
  </p:sorterViewPr>
  <p:notesViewPr>
    <p:cSldViewPr snapToGrid="0">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2021/6/25</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2021/6/25</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a:t>
            </a:fld>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1104900" y="2292094"/>
            <a:ext cx="10096500" cy="2219691"/>
          </a:xfrm>
        </p:spPr>
        <p:txBody>
          <a:bodyPr rtlCol="0" anchor="ctr">
            <a:normAutofit/>
          </a:bodyPr>
          <a:lstStyle>
            <a:lvl1pPr algn="l" rtl="0">
              <a:defRPr sz="44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898" y="4511784"/>
            <a:ext cx="10096501"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2021/6/25</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4445" y="0"/>
            <a:ext cx="1747524" cy="22920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3"/>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2021/6/25</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rtl="0"/>
            <a:r>
              <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anose="020B0604020202020204" pitchFamily="34" charset="0"/>
              </a:rPr>
              <a:t>若要更改此幻灯片上的图像，请选择该图片，并将其删除。然后单击占位符中的图片图标以插入自己的图像。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0"/>
            <a:ext cx="12192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104899" y="2971806"/>
            <a:ext cx="10071099" cy="1684150"/>
          </a:xfrm>
        </p:spPr>
        <p:txBody>
          <a:bodyPr rtlCol="0" anchor="ctr">
            <a:normAutofit/>
          </a:bodyPr>
          <a:lstStyle>
            <a:lvl1pPr algn="l" rtl="0">
              <a:defRPr sz="44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899" y="4655956"/>
            <a:ext cx="10071099" cy="509750"/>
          </a:xfrm>
        </p:spPr>
        <p:txBody>
          <a:bodyPr rtlCol="0">
            <a:normAutofit/>
          </a:bodyPr>
          <a:lstStyle>
            <a:lvl1pPr marL="0" indent="0" algn="l" rtl="0">
              <a:spcBef>
                <a:spcPts val="0"/>
              </a:spcBef>
              <a:buNone/>
              <a:defRPr sz="1600">
                <a:solidFill>
                  <a:schemeClr val="bg1"/>
                </a:solidFill>
                <a:latin typeface="微软雅黑" panose="020B0503020204020204" pitchFamily="34" charset="-122"/>
                <a:ea typeface="微软雅黑" panose="020B0503020204020204" pitchFamily="34" charset="-122"/>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2021/6/25</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11049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61722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dirty="0" smtClean="0"/>
              <a:pPr/>
              <a:t>2021/6/25</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90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110490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616611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6" name="内容占位符 5"/>
          <p:cNvSpPr>
            <a:spLocks noGrp="1"/>
          </p:cNvSpPr>
          <p:nvPr>
            <p:ph sz="quarter" idx="4"/>
          </p:nvPr>
        </p:nvSpPr>
        <p:spPr>
          <a:xfrm>
            <a:off x="616611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2021/6/25</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2021/6/25</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2021/6/25</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641848" y="1600199"/>
            <a:ext cx="5445252" cy="4572001"/>
          </a:xfrm>
        </p:spPr>
        <p:txBody>
          <a:bodyPr rtlCol="0">
            <a:normAutofit/>
          </a:bodyPr>
          <a:lstStyle>
            <a:lvl1pPr algn="l" rtl="0">
              <a:defRPr sz="2000"/>
            </a:lvl1pPr>
            <a:lvl2pPr algn="l" rtl="0">
              <a:defRPr sz="16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1104900" y="1600200"/>
            <a:ext cx="4384548"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2021/6/25</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4654671" y="1600199"/>
            <a:ext cx="6430912" cy="4572001"/>
          </a:xfrm>
        </p:spPr>
        <p:txBody>
          <a:bodyPr tIns="1188720" rtlCol="0">
            <a:normAutofit/>
          </a:bodyPr>
          <a:lstStyle>
            <a:lvl1pPr marL="0" indent="0" algn="ctr" rtl="0">
              <a:buNone/>
              <a:defRPr sz="2000">
                <a:latin typeface="微软雅黑" panose="020B0503020204020204" pitchFamily="34" charset="-122"/>
                <a:ea typeface="微软雅黑" panose="020B0503020204020204" pitchFamily="34" charset="-122"/>
              </a:defRPr>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104900" y="1600200"/>
            <a:ext cx="3396996" cy="4572000"/>
          </a:xfrm>
        </p:spPr>
        <p:txBody>
          <a:bodyPr rtlCol="0">
            <a:normAutofit/>
          </a:bodyPr>
          <a:lstStyle>
            <a:lvl1pPr marL="0" indent="0" algn="l" rtl="0">
              <a:spcBef>
                <a:spcPts val="1200"/>
              </a:spcBef>
              <a:buNone/>
              <a:defRPr sz="1800">
                <a:latin typeface="微软雅黑" panose="020B0503020204020204" pitchFamily="34" charset="-122"/>
                <a:ea typeface="微软雅黑" panose="020B0503020204020204" pitchFamily="34" charset="-122"/>
              </a:defRPr>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2021/6/25</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2021/6/25</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372600" y="365125"/>
            <a:ext cx="1714500"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1104900" y="365125"/>
            <a:ext cx="8098896" cy="5811838"/>
          </a:xfrm>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2021/6/25</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6514047" y="3228843"/>
            <a:ext cx="5632704" cy="84403"/>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dirty="0" smtClean="0"/>
              <a:pPr/>
              <a:t>2021/6/25</a:t>
            </a:fld>
            <a:r>
              <a:rPr lang="zh-CN" altLang="en-US" dirty="0"/>
              <a:t>​</a:t>
            </a:r>
          </a:p>
        </p:txBody>
      </p:sp>
      <p:sp>
        <p:nvSpPr>
          <p:cNvPr id="5" name="页脚占位符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1103376" y="1219201"/>
            <a:ext cx="9985248"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1115188" y="2227736"/>
            <a:ext cx="5734050" cy="1954514"/>
          </a:xfrm>
        </p:spPr>
        <p:txBody>
          <a:bodyPr rtlCol="0" anchor="ctr"/>
          <a:lstStyle/>
          <a:p>
            <a:pPr rtl="0"/>
            <a:r>
              <a:rPr lang="zh-CN" altLang="en-US" dirty="0"/>
              <a:t>数据结构</a:t>
            </a:r>
            <a:r>
              <a:rPr lang="en-US" altLang="zh-CN" dirty="0"/>
              <a:t>——</a:t>
            </a:r>
            <a:r>
              <a:rPr lang="zh-CN" altLang="en-US" dirty="0">
                <a:latin typeface="微软雅黑" panose="020B0503020204020204" pitchFamily="34" charset="-122"/>
                <a:ea typeface="微软雅黑" panose="020B0503020204020204" pitchFamily="34" charset="-122"/>
              </a:rPr>
              <a:t>栈</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361950" y="3877450"/>
            <a:ext cx="5734050" cy="955565"/>
          </a:xfrm>
        </p:spPr>
        <p:txBody>
          <a:bodyPr rtlCol="0">
            <a:normAutofit/>
          </a:bodyPr>
          <a:lstStyle/>
          <a:p>
            <a:pPr algn="ctr" rtl="0">
              <a:lnSpc>
                <a:spcPct val="150000"/>
              </a:lnSpc>
            </a:pPr>
            <a:r>
              <a:rPr lang="zh-CN" altLang="en-US" sz="2400" dirty="0"/>
              <a:t>代伟</a:t>
            </a:r>
            <a:endParaRPr lang="en-US" altLang="zh-CN" sz="2400" dirty="0">
              <a:latin typeface="微软雅黑" panose="020B0503020204020204" pitchFamily="34" charset="-122"/>
              <a:ea typeface="微软雅黑" panose="020B0503020204020204" pitchFamily="34" charset="-122"/>
            </a:endParaRPr>
          </a:p>
        </p:txBody>
      </p:sp>
      <p:pic>
        <p:nvPicPr>
          <p:cNvPr id="8" name="图片占位符 3" descr="桌上一本打开的书，书架在背景中模糊显示"/>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5" r="8895"/>
          <a:stretch>
            <a:fillRect/>
          </a:stretch>
        </p:blipFill>
        <p:spPr>
          <a:prstGeom prst="rect">
            <a:avLst/>
          </a:prstGeom>
          <a:solidFill>
            <a:schemeClr val="tx1">
              <a:lumMod val="20000"/>
              <a:lumOff val="80000"/>
            </a:schemeClr>
          </a:solid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714284E-AE49-4ACF-9408-156B8F7B5E38}"/>
              </a:ext>
            </a:extLst>
          </p:cNvPr>
          <p:cNvSpPr>
            <a:spLocks noChangeArrowheads="1"/>
          </p:cNvSpPr>
          <p:nvPr/>
        </p:nvSpPr>
        <p:spPr bwMode="auto">
          <a:xfrm>
            <a:off x="301841" y="1680839"/>
            <a:ext cx="7287519" cy="1087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719138">
              <a:defRPr kumimoji="1" sz="2000" b="1">
                <a:solidFill>
                  <a:srgbClr val="000066"/>
                </a:solidFill>
                <a:latin typeface="Times New Roman" panose="02020603050405020304" pitchFamily="18" charset="0"/>
                <a:ea typeface="宋体" panose="02010600030101010101" pitchFamily="2" charset="-122"/>
              </a:defRPr>
            </a:lvl1pPr>
            <a:lvl2pPr marL="742950" indent="-285750">
              <a:defRPr kumimoji="1" sz="2000" b="1">
                <a:solidFill>
                  <a:srgbClr val="000066"/>
                </a:solidFill>
                <a:latin typeface="Times New Roman" panose="02020603050405020304" pitchFamily="18" charset="0"/>
                <a:ea typeface="宋体" panose="02010600030101010101" pitchFamily="2" charset="-122"/>
              </a:defRPr>
            </a:lvl2pPr>
            <a:lvl3pPr marL="1143000" indent="-228600">
              <a:defRPr kumimoji="1" sz="2000" b="1">
                <a:solidFill>
                  <a:srgbClr val="000066"/>
                </a:solidFill>
                <a:latin typeface="Times New Roman" panose="02020603050405020304" pitchFamily="18" charset="0"/>
                <a:ea typeface="宋体" panose="02010600030101010101" pitchFamily="2" charset="-122"/>
              </a:defRPr>
            </a:lvl3pPr>
            <a:lvl4pPr marL="1600200" indent="-228600">
              <a:defRPr kumimoji="1" sz="2000" b="1">
                <a:solidFill>
                  <a:srgbClr val="000066"/>
                </a:solidFill>
                <a:latin typeface="Times New Roman" panose="02020603050405020304" pitchFamily="18" charset="0"/>
                <a:ea typeface="宋体" panose="02010600030101010101" pitchFamily="2" charset="-122"/>
              </a:defRPr>
            </a:lvl4pPr>
            <a:lvl5pPr marL="2057400" indent="-228600">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9pPr>
          </a:lstStyle>
          <a:p>
            <a:pPr eaLnBrk="1" hangingPunct="1">
              <a:spcAft>
                <a:spcPts val="2000"/>
              </a:spcAft>
              <a:buClr>
                <a:schemeClr val="accent2"/>
              </a:buClr>
              <a:buSzPct val="80000"/>
              <a:buFont typeface="Wingdings" panose="05000000000000000000" pitchFamily="2" charset="2"/>
              <a:buNone/>
            </a:pPr>
            <a:r>
              <a:rPr lang="en-US" altLang="zh-CN" sz="2400" dirty="0">
                <a:solidFill>
                  <a:schemeClr val="tx1"/>
                </a:solidFill>
                <a:latin typeface="微软雅黑" panose="020B0503020204020204" pitchFamily="34" charset="-122"/>
                <a:ea typeface="微软雅黑" panose="020B0503020204020204" pitchFamily="34" charset="-122"/>
              </a:rPr>
              <a:t>1. </a:t>
            </a:r>
            <a:r>
              <a:rPr lang="zh-CN" altLang="en-US" sz="2400" dirty="0">
                <a:solidFill>
                  <a:schemeClr val="tx1"/>
                </a:solidFill>
                <a:latin typeface="微软雅黑" panose="020B0503020204020204" pitchFamily="34" charset="-122"/>
                <a:ea typeface="微软雅黑" panose="020B0503020204020204" pitchFamily="34" charset="-122"/>
              </a:rPr>
              <a:t>理解数据结构的含义。</a:t>
            </a:r>
          </a:p>
          <a:p>
            <a:pPr eaLnBrk="1" hangingPunct="1">
              <a:spcAft>
                <a:spcPts val="2000"/>
              </a:spcAft>
              <a:buClr>
                <a:schemeClr val="accent2"/>
              </a:buClr>
              <a:buSzPct val="80000"/>
              <a:buFont typeface="Wingdings" panose="05000000000000000000" pitchFamily="2" charset="2"/>
              <a:buNone/>
            </a:pPr>
            <a:r>
              <a:rPr lang="en-US" altLang="zh-CN" sz="2400" dirty="0">
                <a:solidFill>
                  <a:schemeClr val="tx1"/>
                </a:solidFill>
                <a:latin typeface="微软雅黑" panose="020B0503020204020204" pitchFamily="34" charset="-122"/>
                <a:ea typeface="微软雅黑" panose="020B0503020204020204" pitchFamily="34" charset="-122"/>
              </a:rPr>
              <a:t>2. </a:t>
            </a:r>
            <a:r>
              <a:rPr lang="zh-CN" altLang="en-US" sz="2400" dirty="0">
                <a:solidFill>
                  <a:schemeClr val="tx1"/>
                </a:solidFill>
                <a:latin typeface="微软雅黑" panose="020B0503020204020204" pitchFamily="34" charset="-122"/>
                <a:ea typeface="微软雅黑" panose="020B0503020204020204" pitchFamily="34" charset="-122"/>
              </a:rPr>
              <a:t>掌握栈的基本原理和应用。</a:t>
            </a:r>
          </a:p>
        </p:txBody>
      </p:sp>
      <p:sp>
        <p:nvSpPr>
          <p:cNvPr id="5" name="文本框 4">
            <a:extLst>
              <a:ext uri="{FF2B5EF4-FFF2-40B4-BE49-F238E27FC236}">
                <a16:creationId xmlns:a16="http://schemas.microsoft.com/office/drawing/2014/main" id="{051DCB32-C949-4662-BB8A-B96F00B94C06}"/>
              </a:ext>
            </a:extLst>
          </p:cNvPr>
          <p:cNvSpPr txBox="1"/>
          <p:nvPr/>
        </p:nvSpPr>
        <p:spPr>
          <a:xfrm>
            <a:off x="1013814" y="610745"/>
            <a:ext cx="1620957" cy="523220"/>
          </a:xfrm>
          <a:prstGeom prst="rect">
            <a:avLst/>
          </a:prstGeom>
          <a:noFill/>
        </p:spPr>
        <p:txBody>
          <a:bodyPr wrap="none" rtlCol="0">
            <a:spAutoFit/>
          </a:bodyPr>
          <a:lstStyle/>
          <a:p>
            <a:r>
              <a:rPr lang="zh-CN" altLang="en-US" sz="2800"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学习目标</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zh-CN" altLang="en-US" dirty="0">
                <a:solidFill>
                  <a:srgbClr val="000000"/>
                </a:solidFill>
                <a:cs typeface="+mn-cs"/>
              </a:rPr>
              <a:t>数据结构</a:t>
            </a:r>
            <a:endParaRPr lang="en-US" altLang="zh-CN" dirty="0">
              <a:solidFill>
                <a:srgbClr val="000000"/>
              </a:solidFill>
              <a:cs typeface="+mn-cs"/>
            </a:endParaRPr>
          </a:p>
        </p:txBody>
      </p:sp>
      <p:sp>
        <p:nvSpPr>
          <p:cNvPr id="10" name="矩形 2">
            <a:extLst>
              <a:ext uri="{FF2B5EF4-FFF2-40B4-BE49-F238E27FC236}">
                <a16:creationId xmlns:a16="http://schemas.microsoft.com/office/drawing/2014/main" id="{9E9CDA5A-157A-4DE2-8231-06CC1B6BE65A}"/>
              </a:ext>
            </a:extLst>
          </p:cNvPr>
          <p:cNvSpPr>
            <a:spLocks noChangeArrowheads="1"/>
          </p:cNvSpPr>
          <p:nvPr/>
        </p:nvSpPr>
        <p:spPr bwMode="auto">
          <a:xfrm>
            <a:off x="485312" y="1433884"/>
            <a:ext cx="10585141" cy="3323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647700">
              <a:defRPr kumimoji="1" sz="2000" b="1">
                <a:solidFill>
                  <a:srgbClr val="000066"/>
                </a:solidFill>
                <a:latin typeface="Times New Roman" panose="02020603050405020304" pitchFamily="18" charset="0"/>
                <a:ea typeface="宋体" panose="02010600030101010101" pitchFamily="2" charset="-122"/>
              </a:defRPr>
            </a:lvl1pPr>
            <a:lvl2pPr marL="742950" indent="-285750">
              <a:defRPr kumimoji="1" sz="2000" b="1">
                <a:solidFill>
                  <a:srgbClr val="000066"/>
                </a:solidFill>
                <a:latin typeface="Times New Roman" panose="02020603050405020304" pitchFamily="18" charset="0"/>
                <a:ea typeface="宋体" panose="02010600030101010101" pitchFamily="2" charset="-122"/>
              </a:defRPr>
            </a:lvl2pPr>
            <a:lvl3pPr marL="1143000" indent="-228600">
              <a:defRPr kumimoji="1" sz="2000" b="1">
                <a:solidFill>
                  <a:srgbClr val="000066"/>
                </a:solidFill>
                <a:latin typeface="Times New Roman" panose="02020603050405020304" pitchFamily="18" charset="0"/>
                <a:ea typeface="宋体" panose="02010600030101010101" pitchFamily="2" charset="-122"/>
              </a:defRPr>
            </a:lvl3pPr>
            <a:lvl4pPr marL="1600200" indent="-228600">
              <a:defRPr kumimoji="1" sz="2000" b="1">
                <a:solidFill>
                  <a:srgbClr val="000066"/>
                </a:solidFill>
                <a:latin typeface="Times New Roman" panose="02020603050405020304" pitchFamily="18" charset="0"/>
                <a:ea typeface="宋体" panose="02010600030101010101" pitchFamily="2" charset="-122"/>
              </a:defRPr>
            </a:lvl4pPr>
            <a:lvl5pPr marL="2057400" indent="-228600">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9pPr>
          </a:lstStyle>
          <a:p>
            <a:pPr>
              <a:lnSpc>
                <a:spcPct val="200000"/>
              </a:lnSpc>
              <a:buClr>
                <a:schemeClr val="accent2"/>
              </a:buClr>
              <a:buSzPct val="80000"/>
              <a:buFont typeface="Wingdings" panose="05000000000000000000" pitchFamily="2" charset="2"/>
              <a:buNone/>
            </a:pPr>
            <a:r>
              <a:rPr lang="zh-CN" altLang="en-US" sz="2800" dirty="0">
                <a:solidFill>
                  <a:schemeClr val="accent2"/>
                </a:solidFill>
                <a:latin typeface="微软雅黑" panose="020B0503020204020204" pitchFamily="34" charset="-122"/>
                <a:ea typeface="微软雅黑" panose="020B0503020204020204" pitchFamily="34" charset="-122"/>
              </a:rPr>
              <a:t>信息奥赛：语言</a:t>
            </a:r>
            <a:r>
              <a:rPr lang="en-US" altLang="zh-CN" sz="2800" dirty="0">
                <a:solidFill>
                  <a:schemeClr val="accent2"/>
                </a:solidFill>
                <a:latin typeface="微软雅黑" panose="020B0503020204020204" pitchFamily="34" charset="-122"/>
                <a:ea typeface="微软雅黑" panose="020B0503020204020204" pitchFamily="34" charset="-122"/>
              </a:rPr>
              <a:t>+</a:t>
            </a:r>
            <a:r>
              <a:rPr lang="zh-CN" altLang="en-US" sz="2800" dirty="0">
                <a:solidFill>
                  <a:schemeClr val="accent2"/>
                </a:solidFill>
                <a:latin typeface="微软雅黑" panose="020B0503020204020204" pitchFamily="34" charset="-122"/>
                <a:ea typeface="微软雅黑" panose="020B0503020204020204" pitchFamily="34" charset="-122"/>
              </a:rPr>
              <a:t>算法</a:t>
            </a:r>
            <a:r>
              <a:rPr lang="en-US" altLang="zh-CN" sz="2800" dirty="0">
                <a:solidFill>
                  <a:schemeClr val="accent2"/>
                </a:solidFill>
                <a:latin typeface="微软雅黑" panose="020B0503020204020204" pitchFamily="34" charset="-122"/>
                <a:ea typeface="微软雅黑" panose="020B0503020204020204" pitchFamily="34" charset="-122"/>
              </a:rPr>
              <a:t>+</a:t>
            </a:r>
            <a:r>
              <a:rPr lang="zh-CN" altLang="en-US" sz="2800" dirty="0">
                <a:solidFill>
                  <a:schemeClr val="accent2"/>
                </a:solidFill>
                <a:latin typeface="微软雅黑" panose="020B0503020204020204" pitchFamily="34" charset="-122"/>
                <a:ea typeface="微软雅黑" panose="020B0503020204020204" pitchFamily="34" charset="-122"/>
              </a:rPr>
              <a:t>数据结构</a:t>
            </a:r>
            <a:endParaRPr lang="en-US" altLang="zh-CN" sz="2800" dirty="0">
              <a:solidFill>
                <a:schemeClr val="accent2"/>
              </a:solidFill>
              <a:latin typeface="微软雅黑" panose="020B0503020204020204" pitchFamily="34" charset="-122"/>
              <a:ea typeface="微软雅黑" panose="020B0503020204020204" pitchFamily="34" charset="-122"/>
            </a:endParaRPr>
          </a:p>
          <a:p>
            <a:pPr>
              <a:lnSpc>
                <a:spcPct val="200000"/>
              </a:lnSpc>
              <a:buClr>
                <a:schemeClr val="accent2"/>
              </a:buClr>
              <a:buSzPct val="80000"/>
              <a:buFont typeface="Wingdings" panose="05000000000000000000" pitchFamily="2" charset="2"/>
              <a:buNone/>
            </a:pPr>
            <a:r>
              <a:rPr lang="zh-CN" altLang="en-US" b="0" dirty="0">
                <a:solidFill>
                  <a:schemeClr val="tx1"/>
                </a:solidFill>
                <a:latin typeface="微软雅黑" panose="020B0503020204020204" pitchFamily="34" charset="-122"/>
                <a:ea typeface="微软雅黑" panose="020B0503020204020204" pitchFamily="34" charset="-122"/>
              </a:rPr>
              <a:t>数据结构</a:t>
            </a:r>
            <a:r>
              <a:rPr lang="en-US" altLang="zh-CN" b="0" dirty="0">
                <a:solidFill>
                  <a:schemeClr val="tx1"/>
                </a:solidFill>
                <a:latin typeface="微软雅黑" panose="020B0503020204020204" pitchFamily="34" charset="-122"/>
                <a:ea typeface="微软雅黑" panose="020B0503020204020204" pitchFamily="34" charset="-122"/>
              </a:rPr>
              <a:t>=</a:t>
            </a:r>
            <a:r>
              <a:rPr lang="zh-CN" altLang="en-US" b="0" dirty="0">
                <a:solidFill>
                  <a:schemeClr val="tx1"/>
                </a:solidFill>
                <a:latin typeface="微软雅黑" panose="020B0503020204020204" pitchFamily="34" charset="-122"/>
                <a:ea typeface="微软雅黑" panose="020B0503020204020204" pitchFamily="34" charset="-122"/>
              </a:rPr>
              <a:t>数据</a:t>
            </a:r>
            <a:r>
              <a:rPr lang="en-US" altLang="zh-CN" b="0" dirty="0">
                <a:solidFill>
                  <a:schemeClr val="tx1"/>
                </a:solidFill>
                <a:latin typeface="微软雅黑" panose="020B0503020204020204" pitchFamily="34" charset="-122"/>
                <a:ea typeface="微软雅黑" panose="020B0503020204020204" pitchFamily="34" charset="-122"/>
              </a:rPr>
              <a:t>+</a:t>
            </a:r>
            <a:r>
              <a:rPr lang="zh-CN" altLang="en-US" b="0" dirty="0">
                <a:solidFill>
                  <a:schemeClr val="tx1"/>
                </a:solidFill>
                <a:latin typeface="微软雅黑" panose="020B0503020204020204" pitchFamily="34" charset="-122"/>
                <a:ea typeface="微软雅黑" panose="020B0503020204020204" pitchFamily="34" charset="-122"/>
              </a:rPr>
              <a:t>结构</a:t>
            </a:r>
          </a:p>
          <a:p>
            <a:pPr>
              <a:lnSpc>
                <a:spcPct val="200000"/>
              </a:lnSpc>
              <a:buClr>
                <a:schemeClr val="accent2"/>
              </a:buClr>
              <a:buSzPct val="80000"/>
              <a:buFont typeface="Wingdings" panose="05000000000000000000" pitchFamily="2" charset="2"/>
              <a:buNone/>
            </a:pPr>
            <a:r>
              <a:rPr lang="zh-CN" altLang="en-US" b="0" dirty="0">
                <a:solidFill>
                  <a:schemeClr val="tx1"/>
                </a:solidFill>
                <a:latin typeface="微软雅黑" panose="020B0503020204020204" pitchFamily="34" charset="-122"/>
                <a:ea typeface="微软雅黑" panose="020B0503020204020204" pitchFamily="34" charset="-122"/>
              </a:rPr>
              <a:t>结构：存储、操作、关系等</a:t>
            </a:r>
          </a:p>
          <a:p>
            <a:pPr>
              <a:lnSpc>
                <a:spcPct val="200000"/>
              </a:lnSpc>
              <a:buClr>
                <a:schemeClr val="accent2"/>
              </a:buClr>
              <a:buSzPct val="80000"/>
              <a:buFont typeface="Wingdings" panose="05000000000000000000" pitchFamily="2" charset="2"/>
              <a:buNone/>
            </a:pPr>
            <a:r>
              <a:rPr lang="zh-CN" altLang="en-US" b="0" dirty="0">
                <a:solidFill>
                  <a:schemeClr val="tx1"/>
                </a:solidFill>
                <a:latin typeface="微软雅黑" panose="020B0503020204020204" pitchFamily="34" charset="-122"/>
                <a:ea typeface="微软雅黑" panose="020B0503020204020204" pitchFamily="34" charset="-122"/>
              </a:rPr>
              <a:t>数据结构：是计算机存储、组织数据的方式；</a:t>
            </a:r>
          </a:p>
          <a:p>
            <a:pPr>
              <a:lnSpc>
                <a:spcPct val="200000"/>
              </a:lnSpc>
              <a:buClr>
                <a:schemeClr val="accent2"/>
              </a:buClr>
              <a:buSzPct val="80000"/>
              <a:buFont typeface="Wingdings" panose="05000000000000000000" pitchFamily="2" charset="2"/>
              <a:buNone/>
            </a:pPr>
            <a:r>
              <a:rPr lang="zh-CN" altLang="en-US" b="0" dirty="0">
                <a:solidFill>
                  <a:schemeClr val="tx1"/>
                </a:solidFill>
                <a:latin typeface="微软雅黑" panose="020B0503020204020204" pitchFamily="34" charset="-122"/>
                <a:ea typeface="微软雅黑" panose="020B0503020204020204" pitchFamily="34" charset="-122"/>
              </a:rPr>
              <a:t>数据结构：指相互之间存在一种或多种特定关系的数据结构的集合。</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zh-CN" altLang="en-US" dirty="0">
                <a:solidFill>
                  <a:srgbClr val="000000"/>
                </a:solidFill>
                <a:cs typeface="+mn-cs"/>
              </a:rPr>
              <a:t>数据结构</a:t>
            </a:r>
            <a:endParaRPr lang="en-US" altLang="zh-CN" dirty="0">
              <a:solidFill>
                <a:srgbClr val="000000"/>
              </a:solidFill>
              <a:cs typeface="+mn-cs"/>
            </a:endParaRPr>
          </a:p>
        </p:txBody>
      </p:sp>
      <p:sp>
        <p:nvSpPr>
          <p:cNvPr id="10" name="矩形 2">
            <a:extLst>
              <a:ext uri="{FF2B5EF4-FFF2-40B4-BE49-F238E27FC236}">
                <a16:creationId xmlns:a16="http://schemas.microsoft.com/office/drawing/2014/main" id="{9E9CDA5A-157A-4DE2-8231-06CC1B6BE65A}"/>
              </a:ext>
            </a:extLst>
          </p:cNvPr>
          <p:cNvSpPr>
            <a:spLocks noChangeArrowheads="1"/>
          </p:cNvSpPr>
          <p:nvPr/>
        </p:nvSpPr>
        <p:spPr bwMode="auto">
          <a:xfrm>
            <a:off x="372123" y="1203064"/>
            <a:ext cx="10585141" cy="3077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647700">
              <a:defRPr kumimoji="1" sz="2000" b="1">
                <a:solidFill>
                  <a:srgbClr val="000066"/>
                </a:solidFill>
                <a:latin typeface="Times New Roman" panose="02020603050405020304" pitchFamily="18" charset="0"/>
                <a:ea typeface="宋体" panose="02010600030101010101" pitchFamily="2" charset="-122"/>
              </a:defRPr>
            </a:lvl1pPr>
            <a:lvl2pPr marL="742950" indent="-285750">
              <a:defRPr kumimoji="1" sz="2000" b="1">
                <a:solidFill>
                  <a:srgbClr val="000066"/>
                </a:solidFill>
                <a:latin typeface="Times New Roman" panose="02020603050405020304" pitchFamily="18" charset="0"/>
                <a:ea typeface="宋体" panose="02010600030101010101" pitchFamily="2" charset="-122"/>
              </a:defRPr>
            </a:lvl2pPr>
            <a:lvl3pPr marL="1143000" indent="-228600">
              <a:defRPr kumimoji="1" sz="2000" b="1">
                <a:solidFill>
                  <a:srgbClr val="000066"/>
                </a:solidFill>
                <a:latin typeface="Times New Roman" panose="02020603050405020304" pitchFamily="18" charset="0"/>
                <a:ea typeface="宋体" panose="02010600030101010101" pitchFamily="2" charset="-122"/>
              </a:defRPr>
            </a:lvl3pPr>
            <a:lvl4pPr marL="1600200" indent="-228600">
              <a:defRPr kumimoji="1" sz="2000" b="1">
                <a:solidFill>
                  <a:srgbClr val="000066"/>
                </a:solidFill>
                <a:latin typeface="Times New Roman" panose="02020603050405020304" pitchFamily="18" charset="0"/>
                <a:ea typeface="宋体" panose="02010600030101010101" pitchFamily="2" charset="-122"/>
              </a:defRPr>
            </a:lvl4pPr>
            <a:lvl5pPr marL="2057400" indent="-228600">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9pPr>
          </a:lstStyle>
          <a:p>
            <a:pPr>
              <a:lnSpc>
                <a:spcPct val="200000"/>
              </a:lnSpc>
              <a:buClr>
                <a:schemeClr val="accent2"/>
              </a:buClr>
              <a:buSzPct val="80000"/>
              <a:buFont typeface="Wingdings" panose="05000000000000000000" pitchFamily="2" charset="2"/>
              <a:buNone/>
            </a:pPr>
            <a:r>
              <a:rPr lang="zh-CN" altLang="en-US" b="0" dirty="0">
                <a:solidFill>
                  <a:schemeClr val="tx1"/>
                </a:solidFill>
                <a:latin typeface="微软雅黑" panose="020B0503020204020204" pitchFamily="34" charset="-122"/>
                <a:ea typeface="微软雅黑" panose="020B0503020204020204" pitchFamily="34" charset="-122"/>
              </a:rPr>
              <a:t>四类基本结构： </a:t>
            </a:r>
          </a:p>
          <a:p>
            <a:pPr>
              <a:lnSpc>
                <a:spcPct val="200000"/>
              </a:lnSpc>
              <a:buClr>
                <a:schemeClr val="accent2"/>
              </a:buClr>
              <a:buSzPct val="80000"/>
              <a:buFont typeface="Wingdings" panose="05000000000000000000" pitchFamily="2" charset="2"/>
              <a:buNone/>
            </a:pPr>
            <a:r>
              <a:rPr lang="zh-CN" altLang="en-US" b="0" dirty="0">
                <a:solidFill>
                  <a:schemeClr val="tx1"/>
                </a:solidFill>
                <a:latin typeface="微软雅黑" panose="020B0503020204020204" pitchFamily="34" charset="-122"/>
                <a:ea typeface="微软雅黑" panose="020B0503020204020204" pitchFamily="34" charset="-122"/>
              </a:rPr>
              <a:t>（</a:t>
            </a:r>
            <a:r>
              <a:rPr lang="en-US" altLang="zh-CN" b="0" dirty="0">
                <a:solidFill>
                  <a:schemeClr val="tx1"/>
                </a:solidFill>
                <a:latin typeface="微软雅黑" panose="020B0503020204020204" pitchFamily="34" charset="-122"/>
                <a:ea typeface="微软雅黑" panose="020B0503020204020204" pitchFamily="34" charset="-122"/>
              </a:rPr>
              <a:t>1</a:t>
            </a:r>
            <a:r>
              <a:rPr lang="zh-CN" altLang="en-US" b="0" dirty="0">
                <a:solidFill>
                  <a:schemeClr val="tx1"/>
                </a:solidFill>
                <a:latin typeface="微软雅黑" panose="020B0503020204020204" pitchFamily="34" charset="-122"/>
                <a:ea typeface="微软雅黑" panose="020B0503020204020204" pitchFamily="34" charset="-122"/>
              </a:rPr>
              <a:t>）</a:t>
            </a:r>
            <a:r>
              <a:rPr lang="zh-CN" altLang="en-US" dirty="0">
                <a:solidFill>
                  <a:schemeClr val="accent2"/>
                </a:solidFill>
                <a:latin typeface="微软雅黑" panose="020B0503020204020204" pitchFamily="34" charset="-122"/>
                <a:ea typeface="微软雅黑" panose="020B0503020204020204" pitchFamily="34" charset="-122"/>
              </a:rPr>
              <a:t>集合</a:t>
            </a:r>
            <a:r>
              <a:rPr lang="en-US" altLang="zh-CN" b="0" dirty="0">
                <a:solidFill>
                  <a:schemeClr val="tx1"/>
                </a:solidFill>
                <a:latin typeface="微软雅黑" panose="020B0503020204020204" pitchFamily="34" charset="-122"/>
                <a:ea typeface="微软雅黑" panose="020B0503020204020204" pitchFamily="34" charset="-122"/>
              </a:rPr>
              <a:t>:</a:t>
            </a:r>
            <a:r>
              <a:rPr lang="zh-CN" altLang="en-US" b="0" dirty="0">
                <a:solidFill>
                  <a:schemeClr val="tx1"/>
                </a:solidFill>
                <a:latin typeface="微软雅黑" panose="020B0503020204020204" pitchFamily="34" charset="-122"/>
                <a:ea typeface="微软雅黑" panose="020B0503020204020204" pitchFamily="34" charset="-122"/>
              </a:rPr>
              <a:t>数据元素间的关系是同属一个集合。</a:t>
            </a:r>
          </a:p>
          <a:p>
            <a:pPr>
              <a:lnSpc>
                <a:spcPct val="200000"/>
              </a:lnSpc>
              <a:buClr>
                <a:schemeClr val="accent2"/>
              </a:buClr>
              <a:buSzPct val="80000"/>
              <a:buFont typeface="Wingdings" panose="05000000000000000000" pitchFamily="2" charset="2"/>
              <a:buNone/>
            </a:pPr>
            <a:r>
              <a:rPr lang="zh-CN" altLang="en-US" b="0" dirty="0">
                <a:solidFill>
                  <a:schemeClr val="tx1"/>
                </a:solidFill>
                <a:latin typeface="微软雅黑" panose="020B0503020204020204" pitchFamily="34" charset="-122"/>
                <a:ea typeface="微软雅黑" panose="020B0503020204020204" pitchFamily="34" charset="-122"/>
              </a:rPr>
              <a:t>（</a:t>
            </a:r>
            <a:r>
              <a:rPr lang="en-US" altLang="zh-CN" b="0" dirty="0">
                <a:solidFill>
                  <a:schemeClr val="tx1"/>
                </a:solidFill>
                <a:latin typeface="微软雅黑" panose="020B0503020204020204" pitchFamily="34" charset="-122"/>
                <a:ea typeface="微软雅黑" panose="020B0503020204020204" pitchFamily="34" charset="-122"/>
              </a:rPr>
              <a:t>2</a:t>
            </a:r>
            <a:r>
              <a:rPr lang="zh-CN" altLang="en-US" b="0" dirty="0">
                <a:solidFill>
                  <a:schemeClr val="tx1"/>
                </a:solidFill>
                <a:latin typeface="微软雅黑" panose="020B0503020204020204" pitchFamily="34" charset="-122"/>
                <a:ea typeface="微软雅黑" panose="020B0503020204020204" pitchFamily="34" charset="-122"/>
              </a:rPr>
              <a:t>）</a:t>
            </a:r>
            <a:r>
              <a:rPr lang="zh-CN" altLang="en-US" dirty="0">
                <a:solidFill>
                  <a:schemeClr val="accent2"/>
                </a:solidFill>
                <a:latin typeface="微软雅黑" panose="020B0503020204020204" pitchFamily="34" charset="-122"/>
                <a:ea typeface="微软雅黑" panose="020B0503020204020204" pitchFamily="34" charset="-122"/>
              </a:rPr>
              <a:t>线性结构</a:t>
            </a:r>
            <a:r>
              <a:rPr lang="en-US" altLang="zh-CN" dirty="0">
                <a:solidFill>
                  <a:schemeClr val="accent2"/>
                </a:solidFill>
                <a:latin typeface="微软雅黑" panose="020B0503020204020204" pitchFamily="34" charset="-122"/>
                <a:ea typeface="微软雅黑" panose="020B0503020204020204" pitchFamily="34" charset="-122"/>
              </a:rPr>
              <a:t>:</a:t>
            </a:r>
            <a:r>
              <a:rPr lang="zh-CN" altLang="en-US" b="0" dirty="0">
                <a:solidFill>
                  <a:schemeClr val="tx1"/>
                </a:solidFill>
                <a:latin typeface="微软雅黑" panose="020B0503020204020204" pitchFamily="34" charset="-122"/>
                <a:ea typeface="微软雅黑" panose="020B0503020204020204" pitchFamily="34" charset="-122"/>
              </a:rPr>
              <a:t>数据元素间存在一对一的关系。</a:t>
            </a:r>
          </a:p>
          <a:p>
            <a:pPr>
              <a:lnSpc>
                <a:spcPct val="200000"/>
              </a:lnSpc>
              <a:buClr>
                <a:schemeClr val="accent2"/>
              </a:buClr>
              <a:buSzPct val="80000"/>
              <a:buFont typeface="Wingdings" panose="05000000000000000000" pitchFamily="2" charset="2"/>
              <a:buNone/>
            </a:pPr>
            <a:r>
              <a:rPr lang="zh-CN" altLang="en-US" b="0" dirty="0">
                <a:solidFill>
                  <a:schemeClr val="tx1"/>
                </a:solidFill>
                <a:latin typeface="微软雅黑" panose="020B0503020204020204" pitchFamily="34" charset="-122"/>
                <a:ea typeface="微软雅黑" panose="020B0503020204020204" pitchFamily="34" charset="-122"/>
              </a:rPr>
              <a:t>（</a:t>
            </a:r>
            <a:r>
              <a:rPr lang="en-US" altLang="zh-CN" b="0" dirty="0">
                <a:solidFill>
                  <a:schemeClr val="tx1"/>
                </a:solidFill>
                <a:latin typeface="微软雅黑" panose="020B0503020204020204" pitchFamily="34" charset="-122"/>
                <a:ea typeface="微软雅黑" panose="020B0503020204020204" pitchFamily="34" charset="-122"/>
              </a:rPr>
              <a:t>3</a:t>
            </a:r>
            <a:r>
              <a:rPr lang="zh-CN" altLang="en-US" b="0" dirty="0">
                <a:solidFill>
                  <a:schemeClr val="tx1"/>
                </a:solidFill>
                <a:latin typeface="微软雅黑" panose="020B0503020204020204" pitchFamily="34" charset="-122"/>
                <a:ea typeface="微软雅黑" panose="020B0503020204020204" pitchFamily="34" charset="-122"/>
              </a:rPr>
              <a:t>）</a:t>
            </a:r>
            <a:r>
              <a:rPr lang="zh-CN" altLang="en-US" dirty="0">
                <a:solidFill>
                  <a:schemeClr val="accent2"/>
                </a:solidFill>
                <a:latin typeface="微软雅黑" panose="020B0503020204020204" pitchFamily="34" charset="-122"/>
                <a:ea typeface="微软雅黑" panose="020B0503020204020204" pitchFamily="34" charset="-122"/>
              </a:rPr>
              <a:t>树形结构</a:t>
            </a:r>
            <a:r>
              <a:rPr lang="zh-CN" altLang="en-US" b="0" dirty="0">
                <a:solidFill>
                  <a:schemeClr val="tx1"/>
                </a:solidFill>
                <a:latin typeface="微软雅黑" panose="020B0503020204020204" pitchFamily="34" charset="-122"/>
                <a:ea typeface="微软雅黑" panose="020B0503020204020204" pitchFamily="34" charset="-122"/>
              </a:rPr>
              <a:t>：结构中的元素间的关系是一对多的关系。</a:t>
            </a:r>
          </a:p>
          <a:p>
            <a:pPr>
              <a:lnSpc>
                <a:spcPct val="200000"/>
              </a:lnSpc>
              <a:buClr>
                <a:schemeClr val="accent2"/>
              </a:buClr>
              <a:buSzPct val="80000"/>
              <a:buFont typeface="Wingdings" panose="05000000000000000000" pitchFamily="2" charset="2"/>
              <a:buNone/>
            </a:pPr>
            <a:r>
              <a:rPr lang="zh-CN" altLang="en-US" b="0" dirty="0">
                <a:solidFill>
                  <a:schemeClr val="tx1"/>
                </a:solidFill>
                <a:latin typeface="微软雅黑" panose="020B0503020204020204" pitchFamily="34" charset="-122"/>
                <a:ea typeface="微软雅黑" panose="020B0503020204020204" pitchFamily="34" charset="-122"/>
              </a:rPr>
              <a:t>（</a:t>
            </a:r>
            <a:r>
              <a:rPr lang="en-US" altLang="zh-CN" b="0" dirty="0">
                <a:solidFill>
                  <a:schemeClr val="tx1"/>
                </a:solidFill>
                <a:latin typeface="微软雅黑" panose="020B0503020204020204" pitchFamily="34" charset="-122"/>
                <a:ea typeface="微软雅黑" panose="020B0503020204020204" pitchFamily="34" charset="-122"/>
              </a:rPr>
              <a:t>4</a:t>
            </a:r>
            <a:r>
              <a:rPr lang="zh-CN" altLang="en-US" b="0" dirty="0">
                <a:solidFill>
                  <a:schemeClr val="tx1"/>
                </a:solidFill>
                <a:latin typeface="微软雅黑" panose="020B0503020204020204" pitchFamily="34" charset="-122"/>
                <a:ea typeface="微软雅黑" panose="020B0503020204020204" pitchFamily="34" charset="-122"/>
              </a:rPr>
              <a:t>）</a:t>
            </a:r>
            <a:r>
              <a:rPr lang="zh-CN" altLang="en-US" dirty="0">
                <a:solidFill>
                  <a:schemeClr val="accent2"/>
                </a:solidFill>
                <a:latin typeface="微软雅黑" panose="020B0503020204020204" pitchFamily="34" charset="-122"/>
                <a:ea typeface="微软雅黑" panose="020B0503020204020204" pitchFamily="34" charset="-122"/>
              </a:rPr>
              <a:t>图（网）状结构</a:t>
            </a:r>
            <a:r>
              <a:rPr lang="zh-CN" altLang="en-US" b="0" dirty="0">
                <a:solidFill>
                  <a:schemeClr val="tx1"/>
                </a:solidFill>
                <a:latin typeface="微软雅黑" panose="020B0503020204020204" pitchFamily="34" charset="-122"/>
                <a:ea typeface="微软雅黑" panose="020B0503020204020204" pitchFamily="34" charset="-122"/>
              </a:rPr>
              <a:t>：结构中的元素间的关系是多对多的关系。</a:t>
            </a:r>
          </a:p>
        </p:txBody>
      </p:sp>
      <p:pic>
        <p:nvPicPr>
          <p:cNvPr id="5" name="Picture 4" descr="dj1">
            <a:extLst>
              <a:ext uri="{FF2B5EF4-FFF2-40B4-BE49-F238E27FC236}">
                <a16:creationId xmlns:a16="http://schemas.microsoft.com/office/drawing/2014/main" id="{1DEFE8AB-F18D-4FCC-9A3A-8F05C2963C6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09008" y="1640795"/>
            <a:ext cx="2389090" cy="194031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dj1">
            <a:extLst>
              <a:ext uri="{FF2B5EF4-FFF2-40B4-BE49-F238E27FC236}">
                <a16:creationId xmlns:a16="http://schemas.microsoft.com/office/drawing/2014/main" id="{A1686FE6-9186-481C-BD14-9EF8706624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2144" y="4344925"/>
            <a:ext cx="3525978" cy="130675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dj1">
            <a:extLst>
              <a:ext uri="{FF2B5EF4-FFF2-40B4-BE49-F238E27FC236}">
                <a16:creationId xmlns:a16="http://schemas.microsoft.com/office/drawing/2014/main" id="{42F3073C-0F8F-41EB-9665-1761549828B7}"/>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13502"/>
          <a:stretch/>
        </p:blipFill>
        <p:spPr bwMode="auto">
          <a:xfrm>
            <a:off x="4642182" y="4344925"/>
            <a:ext cx="2765273" cy="2055875"/>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组合 10">
            <a:extLst>
              <a:ext uri="{FF2B5EF4-FFF2-40B4-BE49-F238E27FC236}">
                <a16:creationId xmlns:a16="http://schemas.microsoft.com/office/drawing/2014/main" id="{860C2E38-8FFA-41CC-976E-CABC6C73A3A6}"/>
              </a:ext>
            </a:extLst>
          </p:cNvPr>
          <p:cNvGrpSpPr/>
          <p:nvPr/>
        </p:nvGrpSpPr>
        <p:grpSpPr>
          <a:xfrm>
            <a:off x="7623183" y="4348823"/>
            <a:ext cx="3334081" cy="1736764"/>
            <a:chOff x="8015539" y="4478644"/>
            <a:chExt cx="3636466" cy="1894280"/>
          </a:xfrm>
        </p:grpSpPr>
        <p:pic>
          <p:nvPicPr>
            <p:cNvPr id="3" name="图片 2">
              <a:extLst>
                <a:ext uri="{FF2B5EF4-FFF2-40B4-BE49-F238E27FC236}">
                  <a16:creationId xmlns:a16="http://schemas.microsoft.com/office/drawing/2014/main" id="{10FE9045-1E6C-4AFF-BE48-5CC92BB1B07C}"/>
                </a:ext>
              </a:extLst>
            </p:cNvPr>
            <p:cNvPicPr>
              <a:picLocks noChangeAspect="1"/>
            </p:cNvPicPr>
            <p:nvPr/>
          </p:nvPicPr>
          <p:blipFill>
            <a:blip r:embed="rId5" cstate="print"/>
            <a:stretch>
              <a:fillRect/>
            </a:stretch>
          </p:blipFill>
          <p:spPr>
            <a:xfrm>
              <a:off x="8015539" y="4478644"/>
              <a:ext cx="3636466" cy="1894280"/>
            </a:xfrm>
            <a:prstGeom prst="rect">
              <a:avLst/>
            </a:prstGeom>
          </p:spPr>
        </p:pic>
        <p:sp>
          <p:nvSpPr>
            <p:cNvPr id="9" name="文本框 8">
              <a:extLst>
                <a:ext uri="{FF2B5EF4-FFF2-40B4-BE49-F238E27FC236}">
                  <a16:creationId xmlns:a16="http://schemas.microsoft.com/office/drawing/2014/main" id="{CFDCEE6D-4958-43C7-89D3-61836D88AD5A}"/>
                </a:ext>
              </a:extLst>
            </p:cNvPr>
            <p:cNvSpPr txBox="1"/>
            <p:nvPr/>
          </p:nvSpPr>
          <p:spPr>
            <a:xfrm>
              <a:off x="8220722" y="4505803"/>
              <a:ext cx="568171" cy="338554"/>
            </a:xfrm>
            <a:prstGeom prst="rect">
              <a:avLst/>
            </a:prstGeom>
            <a:noFill/>
          </p:spPr>
          <p:txBody>
            <a:bodyPr wrap="square" rtlCol="0">
              <a:spAutoFit/>
            </a:bodyPr>
            <a:lstStyle/>
            <a:p>
              <a:r>
                <a:rPr lang="zh-CN" altLang="en-US" sz="1600" dirty="0"/>
                <a:t>图</a:t>
              </a:r>
            </a:p>
          </p:txBody>
        </p:sp>
      </p:grpSp>
    </p:spTree>
    <p:extLst>
      <p:ext uri="{BB962C8B-B14F-4D97-AF65-F5344CB8AC3E}">
        <p14:creationId xmlns:p14="http://schemas.microsoft.com/office/powerpoint/2010/main" val="3483453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04A4E4C-F26A-4A35-88AF-956C21E7D748}"/>
              </a:ext>
            </a:extLst>
          </p:cNvPr>
          <p:cNvSpPr txBox="1">
            <a:spLocks noChangeArrowheads="1"/>
          </p:cNvSpPr>
          <p:nvPr/>
        </p:nvSpPr>
        <p:spPr>
          <a:xfrm>
            <a:off x="1088994" y="601525"/>
            <a:ext cx="8991600" cy="563563"/>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栈</a:t>
            </a:r>
            <a:endParaRPr lang="en-US" altLang="zh-CN" dirty="0"/>
          </a:p>
        </p:txBody>
      </p:sp>
      <p:sp>
        <p:nvSpPr>
          <p:cNvPr id="4" name="矩形 2">
            <a:extLst>
              <a:ext uri="{FF2B5EF4-FFF2-40B4-BE49-F238E27FC236}">
                <a16:creationId xmlns:a16="http://schemas.microsoft.com/office/drawing/2014/main" id="{DDEDC142-C849-4F32-99C1-520F97CD5D8C}"/>
              </a:ext>
            </a:extLst>
          </p:cNvPr>
          <p:cNvSpPr>
            <a:spLocks noChangeArrowheads="1"/>
          </p:cNvSpPr>
          <p:nvPr/>
        </p:nvSpPr>
        <p:spPr bwMode="auto">
          <a:xfrm>
            <a:off x="361781" y="1356957"/>
            <a:ext cx="10815206" cy="28464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indent="647700">
              <a:defRPr kumimoji="1" sz="2000" b="1">
                <a:solidFill>
                  <a:srgbClr val="000066"/>
                </a:solidFill>
                <a:latin typeface="Times New Roman" panose="02020603050405020304" pitchFamily="18" charset="0"/>
                <a:ea typeface="宋体" panose="02010600030101010101" pitchFamily="2" charset="-122"/>
              </a:defRPr>
            </a:lvl1pPr>
            <a:lvl2pPr marL="742950" indent="-285750">
              <a:defRPr kumimoji="1" sz="2000" b="1">
                <a:solidFill>
                  <a:srgbClr val="000066"/>
                </a:solidFill>
                <a:latin typeface="Times New Roman" panose="02020603050405020304" pitchFamily="18" charset="0"/>
                <a:ea typeface="宋体" panose="02010600030101010101" pitchFamily="2" charset="-122"/>
              </a:defRPr>
            </a:lvl2pPr>
            <a:lvl3pPr marL="1143000" indent="-228600">
              <a:defRPr kumimoji="1" sz="2000" b="1">
                <a:solidFill>
                  <a:srgbClr val="000066"/>
                </a:solidFill>
                <a:latin typeface="Times New Roman" panose="02020603050405020304" pitchFamily="18" charset="0"/>
                <a:ea typeface="宋体" panose="02010600030101010101" pitchFamily="2" charset="-122"/>
              </a:defRPr>
            </a:lvl3pPr>
            <a:lvl4pPr marL="1600200" indent="-228600">
              <a:defRPr kumimoji="1" sz="2000" b="1">
                <a:solidFill>
                  <a:srgbClr val="000066"/>
                </a:solidFill>
                <a:latin typeface="Times New Roman" panose="02020603050405020304" pitchFamily="18" charset="0"/>
                <a:ea typeface="宋体" panose="02010600030101010101" pitchFamily="2" charset="-122"/>
              </a:defRPr>
            </a:lvl4pPr>
            <a:lvl5pPr marL="2057400" indent="-228600">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9pPr>
          </a:lstStyle>
          <a:p>
            <a:pPr>
              <a:lnSpc>
                <a:spcPct val="200000"/>
              </a:lnSpc>
              <a:spcAft>
                <a:spcPts val="1000"/>
              </a:spcAft>
              <a:buClr>
                <a:schemeClr val="accent2"/>
              </a:buClr>
              <a:buSzPct val="80000"/>
            </a:pPr>
            <a:r>
              <a:rPr lang="zh-CN" altLang="en-US" b="0" dirty="0">
                <a:solidFill>
                  <a:schemeClr val="tx1"/>
                </a:solidFill>
                <a:latin typeface="微软雅黑" panose="020B0503020204020204" pitchFamily="34" charset="-122"/>
                <a:ea typeface="微软雅黑" panose="020B0503020204020204" pitchFamily="34" charset="-122"/>
              </a:rPr>
              <a:t>栈：只和能在某一端插入和删除的特殊线性表。（</a:t>
            </a:r>
            <a:r>
              <a:rPr lang="en-US" altLang="zh-CN" b="0" dirty="0" err="1">
                <a:solidFill>
                  <a:schemeClr val="tx1"/>
                </a:solidFill>
                <a:latin typeface="微软雅黑" panose="020B0503020204020204" pitchFamily="34" charset="-122"/>
                <a:ea typeface="微软雅黑" panose="020B0503020204020204" pitchFamily="34" charset="-122"/>
              </a:rPr>
              <a:t>eg</a:t>
            </a:r>
            <a:r>
              <a:rPr lang="zh-CN" altLang="en-US" b="0" dirty="0">
                <a:solidFill>
                  <a:schemeClr val="tx1"/>
                </a:solidFill>
                <a:latin typeface="微软雅黑" panose="020B0503020204020204" pitchFamily="34" charset="-122"/>
                <a:ea typeface="微软雅黑" panose="020B0503020204020204" pitchFamily="34" charset="-122"/>
              </a:rPr>
              <a:t>：子弹夹、推积物品）</a:t>
            </a:r>
            <a:endParaRPr lang="en-US" altLang="zh-CN" b="0" dirty="0">
              <a:solidFill>
                <a:schemeClr val="tx1"/>
              </a:solidFill>
              <a:latin typeface="微软雅黑" panose="020B0503020204020204" pitchFamily="34" charset="-122"/>
              <a:ea typeface="微软雅黑" panose="020B0503020204020204" pitchFamily="34" charset="-122"/>
            </a:endParaRPr>
          </a:p>
          <a:p>
            <a:pPr>
              <a:lnSpc>
                <a:spcPct val="200000"/>
              </a:lnSpc>
              <a:spcAft>
                <a:spcPts val="1000"/>
              </a:spcAft>
              <a:buClr>
                <a:schemeClr val="accent2"/>
              </a:buClr>
              <a:buSzPct val="80000"/>
            </a:pPr>
            <a:r>
              <a:rPr lang="zh-CN" altLang="en-US" b="0" dirty="0">
                <a:solidFill>
                  <a:schemeClr val="tx1"/>
                </a:solidFill>
                <a:latin typeface="微软雅黑" panose="020B0503020204020204" pitchFamily="34" charset="-122"/>
                <a:ea typeface="微软雅黑" panose="020B0503020204020204" pitchFamily="34" charset="-122"/>
              </a:rPr>
              <a:t>进行删除插入的一端称</a:t>
            </a:r>
            <a:r>
              <a:rPr lang="zh-CN" altLang="en-US" dirty="0">
                <a:solidFill>
                  <a:schemeClr val="accent2"/>
                </a:solidFill>
                <a:latin typeface="微软雅黑" panose="020B0503020204020204" pitchFamily="34" charset="-122"/>
                <a:ea typeface="微软雅黑" panose="020B0503020204020204" pitchFamily="34" charset="-122"/>
              </a:rPr>
              <a:t>栈顶</a:t>
            </a:r>
            <a:r>
              <a:rPr lang="zh-CN" altLang="en-US" b="0" dirty="0">
                <a:solidFill>
                  <a:schemeClr val="tx1"/>
                </a:solidFill>
                <a:latin typeface="微软雅黑" panose="020B0503020204020204" pitchFamily="34" charset="-122"/>
                <a:ea typeface="微软雅黑" panose="020B0503020204020204" pitchFamily="34" charset="-122"/>
              </a:rPr>
              <a:t>，另一堆称</a:t>
            </a:r>
            <a:r>
              <a:rPr lang="zh-CN" altLang="en-US" dirty="0">
                <a:solidFill>
                  <a:schemeClr val="accent2"/>
                </a:solidFill>
                <a:latin typeface="微软雅黑" panose="020B0503020204020204" pitchFamily="34" charset="-122"/>
                <a:ea typeface="微软雅黑" panose="020B0503020204020204" pitchFamily="34" charset="-122"/>
              </a:rPr>
              <a:t>栈底</a:t>
            </a:r>
            <a:r>
              <a:rPr lang="zh-CN" altLang="en-US" b="0" dirty="0">
                <a:solidFill>
                  <a:schemeClr val="tx1"/>
                </a:solidFill>
                <a:latin typeface="微软雅黑" panose="020B0503020204020204" pitchFamily="34" charset="-122"/>
                <a:ea typeface="微软雅黑" panose="020B0503020204020204" pitchFamily="34" charset="-122"/>
              </a:rPr>
              <a:t>。</a:t>
            </a:r>
            <a:endParaRPr lang="en-US" altLang="zh-CN" b="0" dirty="0">
              <a:solidFill>
                <a:schemeClr val="tx1"/>
              </a:solidFill>
              <a:latin typeface="微软雅黑" panose="020B0503020204020204" pitchFamily="34" charset="-122"/>
              <a:ea typeface="微软雅黑" panose="020B0503020204020204" pitchFamily="34" charset="-122"/>
            </a:endParaRPr>
          </a:p>
          <a:p>
            <a:pPr>
              <a:lnSpc>
                <a:spcPct val="200000"/>
              </a:lnSpc>
              <a:spcAft>
                <a:spcPts val="1000"/>
              </a:spcAft>
              <a:buClr>
                <a:schemeClr val="accent2"/>
              </a:buClr>
              <a:buSzPct val="80000"/>
            </a:pPr>
            <a:r>
              <a:rPr lang="zh-CN" altLang="en-US" b="0" dirty="0">
                <a:solidFill>
                  <a:schemeClr val="tx1"/>
                </a:solidFill>
                <a:latin typeface="微软雅黑" panose="020B0503020204020204" pitchFamily="34" charset="-122"/>
                <a:ea typeface="微软雅黑" panose="020B0503020204020204" pitchFamily="34" charset="-122"/>
              </a:rPr>
              <a:t>插入一般称为</a:t>
            </a:r>
            <a:r>
              <a:rPr lang="zh-CN" altLang="en-US" dirty="0">
                <a:solidFill>
                  <a:schemeClr val="accent2"/>
                </a:solidFill>
                <a:latin typeface="微软雅黑" panose="020B0503020204020204" pitchFamily="34" charset="-122"/>
                <a:ea typeface="微软雅黑" panose="020B0503020204020204" pitchFamily="34" charset="-122"/>
              </a:rPr>
              <a:t>进栈</a:t>
            </a:r>
            <a:r>
              <a:rPr lang="zh-CN" altLang="en-US" b="0" dirty="0">
                <a:solidFill>
                  <a:schemeClr val="tx1"/>
                </a:solidFill>
                <a:latin typeface="微软雅黑" panose="020B0503020204020204" pitchFamily="34" charset="-122"/>
                <a:ea typeface="微软雅黑" panose="020B0503020204020204" pitchFamily="34" charset="-122"/>
              </a:rPr>
              <a:t>（</a:t>
            </a:r>
            <a:r>
              <a:rPr lang="en-US" altLang="zh-CN" b="0" dirty="0">
                <a:solidFill>
                  <a:schemeClr val="tx1"/>
                </a:solidFill>
                <a:latin typeface="微软雅黑" panose="020B0503020204020204" pitchFamily="34" charset="-122"/>
                <a:ea typeface="微软雅黑" panose="020B0503020204020204" pitchFamily="34" charset="-122"/>
              </a:rPr>
              <a:t>PUSH</a:t>
            </a:r>
            <a:r>
              <a:rPr lang="zh-CN" altLang="en-US" b="0" dirty="0">
                <a:solidFill>
                  <a:schemeClr val="tx1"/>
                </a:solidFill>
                <a:latin typeface="微软雅黑" panose="020B0503020204020204" pitchFamily="34" charset="-122"/>
                <a:ea typeface="微软雅黑" panose="020B0503020204020204" pitchFamily="34" charset="-122"/>
              </a:rPr>
              <a:t>），删除则称为</a:t>
            </a:r>
            <a:r>
              <a:rPr lang="zh-CN" altLang="en-US" dirty="0">
                <a:solidFill>
                  <a:schemeClr val="accent2"/>
                </a:solidFill>
                <a:latin typeface="微软雅黑" panose="020B0503020204020204" pitchFamily="34" charset="-122"/>
                <a:ea typeface="微软雅黑" panose="020B0503020204020204" pitchFamily="34" charset="-122"/>
              </a:rPr>
              <a:t>退栈</a:t>
            </a:r>
            <a:r>
              <a:rPr lang="zh-CN" altLang="en-US" b="0" dirty="0">
                <a:solidFill>
                  <a:schemeClr val="tx1"/>
                </a:solidFill>
                <a:latin typeface="微软雅黑" panose="020B0503020204020204" pitchFamily="34" charset="-122"/>
                <a:ea typeface="微软雅黑" panose="020B0503020204020204" pitchFamily="34" charset="-122"/>
              </a:rPr>
              <a:t>（</a:t>
            </a:r>
            <a:r>
              <a:rPr lang="en-US" altLang="zh-CN" b="0" dirty="0">
                <a:solidFill>
                  <a:schemeClr val="tx1"/>
                </a:solidFill>
                <a:latin typeface="微软雅黑" panose="020B0503020204020204" pitchFamily="34" charset="-122"/>
                <a:ea typeface="微软雅黑" panose="020B0503020204020204" pitchFamily="34" charset="-122"/>
              </a:rPr>
              <a:t>POP</a:t>
            </a:r>
            <a:r>
              <a:rPr lang="zh-CN" altLang="en-US" b="0" dirty="0">
                <a:solidFill>
                  <a:schemeClr val="tx1"/>
                </a:solidFill>
                <a:latin typeface="微软雅黑" panose="020B0503020204020204" pitchFamily="34" charset="-122"/>
                <a:ea typeface="微软雅黑" panose="020B0503020204020204" pitchFamily="34" charset="-122"/>
              </a:rPr>
              <a:t>）。 </a:t>
            </a:r>
            <a:endParaRPr lang="en-US" altLang="zh-CN" b="0" dirty="0">
              <a:solidFill>
                <a:schemeClr val="tx1"/>
              </a:solidFill>
              <a:latin typeface="微软雅黑" panose="020B0503020204020204" pitchFamily="34" charset="-122"/>
              <a:ea typeface="微软雅黑" panose="020B0503020204020204" pitchFamily="34" charset="-122"/>
            </a:endParaRPr>
          </a:p>
          <a:p>
            <a:pPr>
              <a:lnSpc>
                <a:spcPct val="200000"/>
              </a:lnSpc>
              <a:spcAft>
                <a:spcPts val="1000"/>
              </a:spcAft>
              <a:buClr>
                <a:schemeClr val="accent2"/>
              </a:buClr>
              <a:buSzPct val="80000"/>
            </a:pPr>
            <a:r>
              <a:rPr lang="zh-CN" altLang="en-US" b="0" dirty="0">
                <a:solidFill>
                  <a:schemeClr val="tx1"/>
                </a:solidFill>
                <a:latin typeface="微软雅黑" panose="020B0503020204020204" pitchFamily="34" charset="-122"/>
                <a:ea typeface="微软雅黑" panose="020B0503020204020204" pitchFamily="34" charset="-122"/>
              </a:rPr>
              <a:t>栈也称为</a:t>
            </a:r>
            <a:r>
              <a:rPr lang="zh-CN" altLang="en-US" dirty="0">
                <a:solidFill>
                  <a:schemeClr val="accent2"/>
                </a:solidFill>
                <a:latin typeface="微软雅黑" panose="020B0503020204020204" pitchFamily="34" charset="-122"/>
                <a:ea typeface="微软雅黑" panose="020B0503020204020204" pitchFamily="34" charset="-122"/>
              </a:rPr>
              <a:t>后进先出表</a:t>
            </a:r>
            <a:r>
              <a:rPr lang="zh-CN" altLang="en-US" b="0" dirty="0">
                <a:solidFill>
                  <a:schemeClr val="tx1"/>
                </a:solidFill>
                <a:latin typeface="微软雅黑" panose="020B0503020204020204" pitchFamily="34" charset="-122"/>
                <a:ea typeface="微软雅黑" panose="020B0503020204020204" pitchFamily="34" charset="-122"/>
              </a:rPr>
              <a:t>（</a:t>
            </a:r>
            <a:r>
              <a:rPr lang="en-US" altLang="zh-CN" b="0" dirty="0">
                <a:solidFill>
                  <a:schemeClr val="tx1"/>
                </a:solidFill>
                <a:latin typeface="微软雅黑" panose="020B0503020204020204" pitchFamily="34" charset="-122"/>
                <a:ea typeface="微软雅黑" panose="020B0503020204020204" pitchFamily="34" charset="-122"/>
              </a:rPr>
              <a:t>LIFO</a:t>
            </a:r>
            <a:r>
              <a:rPr lang="zh-CN" altLang="en-US" b="0" dirty="0">
                <a:solidFill>
                  <a:schemeClr val="tx1"/>
                </a:solidFill>
                <a:latin typeface="微软雅黑" panose="020B0503020204020204" pitchFamily="34" charset="-122"/>
                <a:ea typeface="微软雅黑" panose="020B0503020204020204" pitchFamily="34" charset="-122"/>
              </a:rPr>
              <a:t>表）。</a:t>
            </a:r>
          </a:p>
        </p:txBody>
      </p:sp>
      <p:pic>
        <p:nvPicPr>
          <p:cNvPr id="5" name="Picture 3" descr="stack">
            <a:extLst>
              <a:ext uri="{FF2B5EF4-FFF2-40B4-BE49-F238E27FC236}">
                <a16:creationId xmlns:a16="http://schemas.microsoft.com/office/drawing/2014/main" id="{3C8FF448-10BE-473B-A697-7B26FB91252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04086" y="2657404"/>
            <a:ext cx="3272901" cy="309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04A4E4C-F26A-4A35-88AF-956C21E7D748}"/>
              </a:ext>
            </a:extLst>
          </p:cNvPr>
          <p:cNvSpPr txBox="1">
            <a:spLocks noChangeArrowheads="1"/>
          </p:cNvSpPr>
          <p:nvPr/>
        </p:nvSpPr>
        <p:spPr>
          <a:xfrm>
            <a:off x="1088994" y="601525"/>
            <a:ext cx="8991600" cy="563563"/>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栈</a:t>
            </a:r>
            <a:endParaRPr lang="en-US" altLang="zh-CN" dirty="0"/>
          </a:p>
        </p:txBody>
      </p:sp>
      <p:sp>
        <p:nvSpPr>
          <p:cNvPr id="4" name="矩形 2">
            <a:extLst>
              <a:ext uri="{FF2B5EF4-FFF2-40B4-BE49-F238E27FC236}">
                <a16:creationId xmlns:a16="http://schemas.microsoft.com/office/drawing/2014/main" id="{DDEDC142-C849-4F32-99C1-520F97CD5D8C}"/>
              </a:ext>
            </a:extLst>
          </p:cNvPr>
          <p:cNvSpPr>
            <a:spLocks noChangeArrowheads="1"/>
          </p:cNvSpPr>
          <p:nvPr/>
        </p:nvSpPr>
        <p:spPr bwMode="auto">
          <a:xfrm>
            <a:off x="969751" y="1283535"/>
            <a:ext cx="9601115" cy="27181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indent="647700">
              <a:defRPr kumimoji="1" sz="2000" b="1">
                <a:solidFill>
                  <a:srgbClr val="000066"/>
                </a:solidFill>
                <a:latin typeface="Times New Roman" panose="02020603050405020304" pitchFamily="18" charset="0"/>
                <a:ea typeface="宋体" panose="02010600030101010101" pitchFamily="2" charset="-122"/>
              </a:defRPr>
            </a:lvl1pPr>
            <a:lvl2pPr marL="742950" indent="-285750">
              <a:defRPr kumimoji="1" sz="2000" b="1">
                <a:solidFill>
                  <a:srgbClr val="000066"/>
                </a:solidFill>
                <a:latin typeface="Times New Roman" panose="02020603050405020304" pitchFamily="18" charset="0"/>
                <a:ea typeface="宋体" panose="02010600030101010101" pitchFamily="2" charset="-122"/>
              </a:defRPr>
            </a:lvl2pPr>
            <a:lvl3pPr marL="1143000" indent="-228600">
              <a:defRPr kumimoji="1" sz="2000" b="1">
                <a:solidFill>
                  <a:srgbClr val="000066"/>
                </a:solidFill>
                <a:latin typeface="Times New Roman" panose="02020603050405020304" pitchFamily="18" charset="0"/>
                <a:ea typeface="宋体" panose="02010600030101010101" pitchFamily="2" charset="-122"/>
              </a:defRPr>
            </a:lvl3pPr>
            <a:lvl4pPr marL="1600200" indent="-228600">
              <a:defRPr kumimoji="1" sz="2000" b="1">
                <a:solidFill>
                  <a:srgbClr val="000066"/>
                </a:solidFill>
                <a:latin typeface="Times New Roman" panose="02020603050405020304" pitchFamily="18" charset="0"/>
                <a:ea typeface="宋体" panose="02010600030101010101" pitchFamily="2" charset="-122"/>
              </a:defRPr>
            </a:lvl4pPr>
            <a:lvl5pPr marL="2057400" indent="-228600">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9pPr>
          </a:lstStyle>
          <a:p>
            <a:pPr indent="0">
              <a:lnSpc>
                <a:spcPct val="200000"/>
              </a:lnSpc>
              <a:spcAft>
                <a:spcPts val="1000"/>
              </a:spcAft>
              <a:buClr>
                <a:schemeClr val="accent2"/>
              </a:buClr>
              <a:buSzPct val="80000"/>
            </a:pPr>
            <a:r>
              <a:rPr lang="zh-CN" altLang="en-US" b="0" dirty="0">
                <a:solidFill>
                  <a:schemeClr val="tx1"/>
                </a:solidFill>
                <a:latin typeface="微软雅黑" panose="020B0503020204020204" pitchFamily="34" charset="-122"/>
                <a:ea typeface="微软雅黑" panose="020B0503020204020204" pitchFamily="34" charset="-122"/>
              </a:rPr>
              <a:t>一个栈可以用定长为Ｎ的数组Ｓ来表示，用一个栈指针</a:t>
            </a:r>
            <a:r>
              <a:rPr lang="en-US" altLang="zh-CN" b="0" dirty="0">
                <a:solidFill>
                  <a:schemeClr val="tx1"/>
                </a:solidFill>
                <a:latin typeface="微软雅黑" panose="020B0503020204020204" pitchFamily="34" charset="-122"/>
                <a:ea typeface="微软雅黑" panose="020B0503020204020204" pitchFamily="34" charset="-122"/>
              </a:rPr>
              <a:t>TOP</a:t>
            </a:r>
            <a:r>
              <a:rPr lang="zh-CN" altLang="en-US" b="0" dirty="0">
                <a:solidFill>
                  <a:schemeClr val="tx1"/>
                </a:solidFill>
                <a:latin typeface="微软雅黑" panose="020B0503020204020204" pitchFamily="34" charset="-122"/>
                <a:ea typeface="微软雅黑" panose="020B0503020204020204" pitchFamily="34" charset="-122"/>
              </a:rPr>
              <a:t>指向栈顶。</a:t>
            </a:r>
            <a:endParaRPr lang="en-US" altLang="zh-CN" b="0" dirty="0">
              <a:solidFill>
                <a:schemeClr val="tx1"/>
              </a:solidFill>
              <a:latin typeface="微软雅黑" panose="020B0503020204020204" pitchFamily="34" charset="-122"/>
              <a:ea typeface="微软雅黑" panose="020B0503020204020204" pitchFamily="34" charset="-122"/>
            </a:endParaRPr>
          </a:p>
          <a:p>
            <a:pPr indent="0">
              <a:lnSpc>
                <a:spcPct val="200000"/>
              </a:lnSpc>
              <a:spcAft>
                <a:spcPts val="1000"/>
              </a:spcAft>
              <a:buClr>
                <a:schemeClr val="accent2"/>
              </a:buClr>
              <a:buSzPct val="80000"/>
            </a:pPr>
            <a:r>
              <a:rPr lang="zh-CN" altLang="en-US" b="0" dirty="0">
                <a:solidFill>
                  <a:schemeClr val="tx1"/>
                </a:solidFill>
                <a:latin typeface="微软雅黑" panose="020B0503020204020204" pitchFamily="34" charset="-122"/>
                <a:ea typeface="微软雅黑" panose="020B0503020204020204" pitchFamily="34" charset="-122"/>
              </a:rPr>
              <a:t>若</a:t>
            </a:r>
            <a:r>
              <a:rPr lang="en-US" altLang="zh-CN" b="0" dirty="0">
                <a:solidFill>
                  <a:schemeClr val="tx1"/>
                </a:solidFill>
                <a:latin typeface="微软雅黑" panose="020B0503020204020204" pitchFamily="34" charset="-122"/>
                <a:ea typeface="微软雅黑" panose="020B0503020204020204" pitchFamily="34" charset="-122"/>
              </a:rPr>
              <a:t>TOP</a:t>
            </a:r>
            <a:r>
              <a:rPr lang="zh-CN" altLang="en-US" b="0" dirty="0">
                <a:solidFill>
                  <a:schemeClr val="tx1"/>
                </a:solidFill>
                <a:latin typeface="微软雅黑" panose="020B0503020204020204" pitchFamily="34" charset="-122"/>
                <a:ea typeface="微软雅黑" panose="020B0503020204020204" pitchFamily="34" charset="-122"/>
              </a:rPr>
              <a:t>＝</a:t>
            </a:r>
            <a:r>
              <a:rPr lang="en-US" altLang="zh-CN" b="0" dirty="0">
                <a:solidFill>
                  <a:schemeClr val="tx1"/>
                </a:solidFill>
                <a:latin typeface="微软雅黑" panose="020B0503020204020204" pitchFamily="34" charset="-122"/>
                <a:ea typeface="微软雅黑" panose="020B0503020204020204" pitchFamily="34" charset="-122"/>
              </a:rPr>
              <a:t>0</a:t>
            </a:r>
            <a:r>
              <a:rPr lang="zh-CN" altLang="en-US" b="0" dirty="0">
                <a:solidFill>
                  <a:schemeClr val="tx1"/>
                </a:solidFill>
                <a:latin typeface="微软雅黑" panose="020B0503020204020204" pitchFamily="34" charset="-122"/>
                <a:ea typeface="微软雅黑" panose="020B0503020204020204" pitchFamily="34" charset="-122"/>
              </a:rPr>
              <a:t>，表示栈空，</a:t>
            </a:r>
            <a:r>
              <a:rPr lang="en-US" altLang="zh-CN" b="0" dirty="0">
                <a:solidFill>
                  <a:schemeClr val="tx1"/>
                </a:solidFill>
                <a:latin typeface="微软雅黑" panose="020B0503020204020204" pitchFamily="34" charset="-122"/>
                <a:ea typeface="微软雅黑" panose="020B0503020204020204" pitchFamily="34" charset="-122"/>
              </a:rPr>
              <a:t>TOP=N</a:t>
            </a:r>
            <a:r>
              <a:rPr lang="zh-CN" altLang="en-US" b="0" dirty="0">
                <a:solidFill>
                  <a:schemeClr val="tx1"/>
                </a:solidFill>
                <a:latin typeface="微软雅黑" panose="020B0503020204020204" pitchFamily="34" charset="-122"/>
                <a:ea typeface="微软雅黑" panose="020B0503020204020204" pitchFamily="34" charset="-122"/>
              </a:rPr>
              <a:t>时栈满。进栈时</a:t>
            </a:r>
            <a:r>
              <a:rPr lang="en-US" altLang="zh-CN" b="0" dirty="0">
                <a:solidFill>
                  <a:schemeClr val="tx1"/>
                </a:solidFill>
                <a:latin typeface="微软雅黑" panose="020B0503020204020204" pitchFamily="34" charset="-122"/>
                <a:ea typeface="微软雅黑" panose="020B0503020204020204" pitchFamily="34" charset="-122"/>
              </a:rPr>
              <a:t>TOP</a:t>
            </a:r>
            <a:r>
              <a:rPr lang="zh-CN" altLang="en-US" b="0" dirty="0">
                <a:solidFill>
                  <a:schemeClr val="tx1"/>
                </a:solidFill>
                <a:latin typeface="微软雅黑" panose="020B0503020204020204" pitchFamily="34" charset="-122"/>
                <a:ea typeface="微软雅黑" panose="020B0503020204020204" pitchFamily="34" charset="-122"/>
              </a:rPr>
              <a:t>加１。退栈时</a:t>
            </a:r>
            <a:r>
              <a:rPr lang="en-US" altLang="zh-CN" b="0" dirty="0">
                <a:solidFill>
                  <a:schemeClr val="tx1"/>
                </a:solidFill>
                <a:latin typeface="微软雅黑" panose="020B0503020204020204" pitchFamily="34" charset="-122"/>
                <a:ea typeface="微软雅黑" panose="020B0503020204020204" pitchFamily="34" charset="-122"/>
              </a:rPr>
              <a:t>TOP</a:t>
            </a:r>
            <a:r>
              <a:rPr lang="zh-CN" altLang="en-US" b="0" dirty="0">
                <a:solidFill>
                  <a:schemeClr val="tx1"/>
                </a:solidFill>
                <a:latin typeface="微软雅黑" panose="020B0503020204020204" pitchFamily="34" charset="-122"/>
                <a:ea typeface="微软雅黑" panose="020B0503020204020204" pitchFamily="34" charset="-122"/>
              </a:rPr>
              <a:t>减１。    </a:t>
            </a:r>
            <a:r>
              <a:rPr lang="en-US" altLang="zh-CN" b="0" dirty="0">
                <a:solidFill>
                  <a:schemeClr val="tx1"/>
                </a:solidFill>
                <a:latin typeface="微软雅黑" panose="020B0503020204020204" pitchFamily="34" charset="-122"/>
                <a:ea typeface="微软雅黑" panose="020B0503020204020204" pitchFamily="34" charset="-122"/>
              </a:rPr>
              <a:t>                  </a:t>
            </a:r>
            <a:r>
              <a:rPr lang="zh-CN" altLang="en-US" b="0" dirty="0">
                <a:solidFill>
                  <a:schemeClr val="tx1"/>
                </a:solidFill>
                <a:latin typeface="微软雅黑" panose="020B0503020204020204" pitchFamily="34" charset="-122"/>
                <a:ea typeface="微软雅黑" panose="020B0503020204020204" pitchFamily="34" charset="-122"/>
              </a:rPr>
              <a:t>当</a:t>
            </a:r>
            <a:r>
              <a:rPr lang="en-US" altLang="zh-CN" b="0" dirty="0">
                <a:solidFill>
                  <a:schemeClr val="tx1"/>
                </a:solidFill>
                <a:latin typeface="微软雅黑" panose="020B0503020204020204" pitchFamily="34" charset="-122"/>
                <a:ea typeface="微软雅黑" panose="020B0503020204020204" pitchFamily="34" charset="-122"/>
              </a:rPr>
              <a:t>TOP&lt;0</a:t>
            </a:r>
            <a:r>
              <a:rPr lang="zh-CN" altLang="en-US" b="0" dirty="0">
                <a:solidFill>
                  <a:schemeClr val="tx1"/>
                </a:solidFill>
                <a:latin typeface="微软雅黑" panose="020B0503020204020204" pitchFamily="34" charset="-122"/>
                <a:ea typeface="微软雅黑" panose="020B0503020204020204" pitchFamily="34" charset="-122"/>
              </a:rPr>
              <a:t>时为下溢。</a:t>
            </a:r>
            <a:r>
              <a:rPr lang="zh-CN" altLang="en-US" dirty="0">
                <a:solidFill>
                  <a:schemeClr val="accent2"/>
                </a:solidFill>
                <a:latin typeface="微软雅黑" panose="020B0503020204020204" pitchFamily="34" charset="-122"/>
                <a:ea typeface="微软雅黑" panose="020B0503020204020204" pitchFamily="34" charset="-122"/>
              </a:rPr>
              <a:t>栈指针在运算中永远指向栈顶。</a:t>
            </a:r>
            <a:endParaRPr lang="en-US" altLang="zh-CN" dirty="0">
              <a:solidFill>
                <a:schemeClr val="accent2"/>
              </a:solidFill>
              <a:latin typeface="微软雅黑" panose="020B0503020204020204" pitchFamily="34" charset="-122"/>
              <a:ea typeface="微软雅黑" panose="020B0503020204020204" pitchFamily="34" charset="-122"/>
            </a:endParaRPr>
          </a:p>
          <a:p>
            <a:pPr>
              <a:lnSpc>
                <a:spcPct val="200000"/>
              </a:lnSpc>
              <a:spcAft>
                <a:spcPts val="1000"/>
              </a:spcAft>
              <a:buClr>
                <a:schemeClr val="accent2"/>
              </a:buClr>
              <a:buSzPct val="80000"/>
            </a:pPr>
            <a:endParaRPr lang="zh-CN" altLang="zh-CN" dirty="0">
              <a:solidFill>
                <a:schemeClr val="accent2"/>
              </a:solidFill>
              <a:latin typeface="微软雅黑" panose="020B0503020204020204" pitchFamily="34" charset="-122"/>
              <a:ea typeface="微软雅黑" panose="020B0503020204020204" pitchFamily="34" charset="-122"/>
            </a:endParaRPr>
          </a:p>
        </p:txBody>
      </p:sp>
      <p:pic>
        <p:nvPicPr>
          <p:cNvPr id="8" name="Picture 3" descr="stack">
            <a:extLst>
              <a:ext uri="{FF2B5EF4-FFF2-40B4-BE49-F238E27FC236}">
                <a16:creationId xmlns:a16="http://schemas.microsoft.com/office/drawing/2014/main" id="{94C7A7CC-E224-4A77-BB6C-7EE273FC1FB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97965" y="3164528"/>
            <a:ext cx="3272901" cy="309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5BCF568B-4695-46E7-9437-E0A791D4F379}"/>
              </a:ext>
            </a:extLst>
          </p:cNvPr>
          <p:cNvSpPr/>
          <p:nvPr/>
        </p:nvSpPr>
        <p:spPr>
          <a:xfrm>
            <a:off x="969751" y="3490919"/>
            <a:ext cx="6096000" cy="1258486"/>
          </a:xfrm>
          <a:prstGeom prst="rect">
            <a:avLst/>
          </a:prstGeom>
        </p:spPr>
        <p:txBody>
          <a:bodyPr>
            <a:spAutoFit/>
          </a:bodyPr>
          <a:lstStyle/>
          <a:p>
            <a:pPr>
              <a:lnSpc>
                <a:spcPct val="150000"/>
              </a:lnSpc>
              <a:spcAft>
                <a:spcPts val="1000"/>
              </a:spcAft>
              <a:buClr>
                <a:schemeClr val="accent2"/>
              </a:buClr>
              <a:buSzPct val="80000"/>
            </a:pPr>
            <a:r>
              <a:rPr lang="en-US" altLang="zh-CN" sz="2400" dirty="0">
                <a:latin typeface="Times New Roman" panose="02020603050405020304" pitchFamily="18" charset="0"/>
                <a:cs typeface="Times New Roman" panose="02020603050405020304" pitchFamily="18" charset="0"/>
              </a:rPr>
              <a:t>#define N 200</a:t>
            </a:r>
          </a:p>
          <a:p>
            <a:pPr>
              <a:lnSpc>
                <a:spcPct val="150000"/>
              </a:lnSpc>
              <a:spcAft>
                <a:spcPts val="1000"/>
              </a:spcAft>
              <a:buClr>
                <a:schemeClr val="accent2"/>
              </a:buClr>
              <a:buSzPct val="80000"/>
            </a:pPr>
            <a:r>
              <a:rPr lang="en-US" altLang="zh-CN" sz="2400" dirty="0">
                <a:latin typeface="Times New Roman" panose="02020603050405020304" pitchFamily="18" charset="0"/>
                <a:cs typeface="Times New Roman" panose="02020603050405020304" pitchFamily="18" charset="0"/>
              </a:rPr>
              <a:t>int stack[N],top=0; //</a:t>
            </a:r>
            <a:r>
              <a:rPr lang="zh-CN" altLang="en-US" sz="2400" dirty="0">
                <a:latin typeface="Times New Roman" panose="02020603050405020304" pitchFamily="18" charset="0"/>
                <a:cs typeface="Times New Roman" panose="02020603050405020304" pitchFamily="18" charset="0"/>
              </a:rPr>
              <a:t>数组模拟栈</a:t>
            </a: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4089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04A4E4C-F26A-4A35-88AF-956C21E7D748}"/>
              </a:ext>
            </a:extLst>
          </p:cNvPr>
          <p:cNvSpPr txBox="1">
            <a:spLocks noChangeArrowheads="1"/>
          </p:cNvSpPr>
          <p:nvPr/>
        </p:nvSpPr>
        <p:spPr>
          <a:xfrm>
            <a:off x="1088994" y="601525"/>
            <a:ext cx="8991600" cy="563563"/>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栈</a:t>
            </a:r>
            <a:endParaRPr lang="en-US" altLang="zh-CN" dirty="0"/>
          </a:p>
        </p:txBody>
      </p:sp>
      <p:sp>
        <p:nvSpPr>
          <p:cNvPr id="4" name="矩形 2">
            <a:extLst>
              <a:ext uri="{FF2B5EF4-FFF2-40B4-BE49-F238E27FC236}">
                <a16:creationId xmlns:a16="http://schemas.microsoft.com/office/drawing/2014/main" id="{DDEDC142-C849-4F32-99C1-520F97CD5D8C}"/>
              </a:ext>
            </a:extLst>
          </p:cNvPr>
          <p:cNvSpPr>
            <a:spLocks noChangeArrowheads="1"/>
          </p:cNvSpPr>
          <p:nvPr/>
        </p:nvSpPr>
        <p:spPr bwMode="auto">
          <a:xfrm>
            <a:off x="969751" y="1429533"/>
            <a:ext cx="9601115" cy="27310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indent="647700">
              <a:defRPr kumimoji="1" sz="2000" b="1">
                <a:solidFill>
                  <a:srgbClr val="000066"/>
                </a:solidFill>
                <a:latin typeface="Times New Roman" panose="02020603050405020304" pitchFamily="18" charset="0"/>
                <a:ea typeface="宋体" panose="02010600030101010101" pitchFamily="2" charset="-122"/>
              </a:defRPr>
            </a:lvl1pPr>
            <a:lvl2pPr marL="742950" indent="-285750">
              <a:defRPr kumimoji="1" sz="2000" b="1">
                <a:solidFill>
                  <a:srgbClr val="000066"/>
                </a:solidFill>
                <a:latin typeface="Times New Roman" panose="02020603050405020304" pitchFamily="18" charset="0"/>
                <a:ea typeface="宋体" panose="02010600030101010101" pitchFamily="2" charset="-122"/>
              </a:defRPr>
            </a:lvl2pPr>
            <a:lvl3pPr marL="1143000" indent="-228600">
              <a:defRPr kumimoji="1" sz="2000" b="1">
                <a:solidFill>
                  <a:srgbClr val="000066"/>
                </a:solidFill>
                <a:latin typeface="Times New Roman" panose="02020603050405020304" pitchFamily="18" charset="0"/>
                <a:ea typeface="宋体" panose="02010600030101010101" pitchFamily="2" charset="-122"/>
              </a:defRPr>
            </a:lvl3pPr>
            <a:lvl4pPr marL="1600200" indent="-228600">
              <a:defRPr kumimoji="1" sz="2000" b="1">
                <a:solidFill>
                  <a:srgbClr val="000066"/>
                </a:solidFill>
                <a:latin typeface="Times New Roman" panose="02020603050405020304" pitchFamily="18" charset="0"/>
                <a:ea typeface="宋体" panose="02010600030101010101" pitchFamily="2" charset="-122"/>
              </a:defRPr>
            </a:lvl4pPr>
            <a:lvl5pPr marL="2057400" indent="-228600">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9pPr>
          </a:lstStyle>
          <a:p>
            <a:pPr indent="0">
              <a:lnSpc>
                <a:spcPct val="150000"/>
              </a:lnSpc>
              <a:spcAft>
                <a:spcPts val="1000"/>
              </a:spcAft>
              <a:buClr>
                <a:schemeClr val="accent2"/>
              </a:buClr>
              <a:buSzPct val="80000"/>
            </a:pPr>
            <a:r>
              <a:rPr lang="en-US" altLang="zh-CN" b="0" dirty="0">
                <a:solidFill>
                  <a:schemeClr val="tx1"/>
                </a:solidFill>
                <a:latin typeface="微软雅黑" panose="020B0503020204020204" pitchFamily="34" charset="-122"/>
                <a:ea typeface="微软雅黑" panose="020B0503020204020204" pitchFamily="34" charset="-122"/>
              </a:rPr>
              <a:t>1</a:t>
            </a:r>
            <a:r>
              <a:rPr lang="zh-CN" altLang="en-US" b="0" dirty="0">
                <a:solidFill>
                  <a:schemeClr val="tx1"/>
                </a:solidFill>
                <a:latin typeface="微软雅黑" panose="020B0503020204020204" pitchFamily="34" charset="-122"/>
                <a:ea typeface="微软雅黑" panose="020B0503020204020204" pitchFamily="34" charset="-122"/>
              </a:rPr>
              <a:t>、</a:t>
            </a:r>
            <a:r>
              <a:rPr lang="zh-CN" altLang="en-US" dirty="0">
                <a:solidFill>
                  <a:schemeClr val="accent2"/>
                </a:solidFill>
                <a:latin typeface="微软雅黑" panose="020B0503020204020204" pitchFamily="34" charset="-122"/>
                <a:ea typeface="微软雅黑" panose="020B0503020204020204" pitchFamily="34" charset="-122"/>
              </a:rPr>
              <a:t>进栈</a:t>
            </a:r>
            <a:r>
              <a:rPr lang="zh-CN" altLang="en-US" b="0" dirty="0">
                <a:solidFill>
                  <a:schemeClr val="tx1"/>
                </a:solidFill>
                <a:latin typeface="微软雅黑" panose="020B0503020204020204" pitchFamily="34" charset="-122"/>
                <a:ea typeface="微软雅黑" panose="020B0503020204020204" pitchFamily="34" charset="-122"/>
              </a:rPr>
              <a:t>（</a:t>
            </a:r>
            <a:r>
              <a:rPr lang="en-US" altLang="zh-CN" b="0" dirty="0">
                <a:solidFill>
                  <a:schemeClr val="tx1"/>
                </a:solidFill>
                <a:latin typeface="微软雅黑" panose="020B0503020204020204" pitchFamily="34" charset="-122"/>
                <a:ea typeface="微软雅黑" panose="020B0503020204020204" pitchFamily="34" charset="-122"/>
              </a:rPr>
              <a:t>PUSH</a:t>
            </a:r>
            <a:r>
              <a:rPr lang="zh-CN" altLang="en-US" b="0" dirty="0">
                <a:solidFill>
                  <a:schemeClr val="tx1"/>
                </a:solidFill>
                <a:latin typeface="微软雅黑" panose="020B0503020204020204" pitchFamily="34" charset="-122"/>
                <a:ea typeface="微软雅黑" panose="020B0503020204020204" pitchFamily="34" charset="-122"/>
              </a:rPr>
              <a:t>）算法</a:t>
            </a:r>
          </a:p>
          <a:p>
            <a:pPr indent="0">
              <a:lnSpc>
                <a:spcPct val="150000"/>
              </a:lnSpc>
              <a:spcAft>
                <a:spcPts val="1000"/>
              </a:spcAft>
              <a:buClr>
                <a:schemeClr val="accent2"/>
              </a:buClr>
              <a:buSzPct val="80000"/>
            </a:pPr>
            <a:r>
              <a:rPr lang="zh-CN" altLang="en-US" b="0" dirty="0">
                <a:solidFill>
                  <a:schemeClr val="tx1"/>
                </a:solidFill>
                <a:latin typeface="微软雅黑" panose="020B0503020204020204" pitchFamily="34" charset="-122"/>
                <a:ea typeface="微软雅黑" panose="020B0503020204020204" pitchFamily="34" charset="-122"/>
              </a:rPr>
              <a:t>①若</a:t>
            </a:r>
            <a:r>
              <a:rPr lang="en-US" altLang="zh-CN" b="0" dirty="0">
                <a:solidFill>
                  <a:schemeClr val="tx1"/>
                </a:solidFill>
                <a:latin typeface="微软雅黑" panose="020B0503020204020204" pitchFamily="34" charset="-122"/>
                <a:ea typeface="微软雅黑" panose="020B0503020204020204" pitchFamily="34" charset="-122"/>
              </a:rPr>
              <a:t>TOP≥N</a:t>
            </a:r>
            <a:r>
              <a:rPr lang="zh-CN" altLang="en-US" b="0" dirty="0">
                <a:solidFill>
                  <a:schemeClr val="tx1"/>
                </a:solidFill>
                <a:latin typeface="微软雅黑" panose="020B0503020204020204" pitchFamily="34" charset="-122"/>
                <a:ea typeface="微软雅黑" panose="020B0503020204020204" pitchFamily="34" charset="-122"/>
              </a:rPr>
              <a:t>时，则给出溢出信息，作出错处理（进栈前首先检查栈是否已满，满则溢出；不满则作②）；</a:t>
            </a:r>
          </a:p>
          <a:p>
            <a:pPr indent="0">
              <a:lnSpc>
                <a:spcPct val="150000"/>
              </a:lnSpc>
              <a:spcAft>
                <a:spcPts val="1000"/>
              </a:spcAft>
              <a:buClr>
                <a:schemeClr val="accent2"/>
              </a:buClr>
              <a:buSzPct val="80000"/>
            </a:pPr>
            <a:r>
              <a:rPr lang="zh-CN" altLang="en-US" b="0" dirty="0">
                <a:solidFill>
                  <a:schemeClr val="tx1"/>
                </a:solidFill>
                <a:latin typeface="微软雅黑" panose="020B0503020204020204" pitchFamily="34" charset="-122"/>
                <a:ea typeface="微软雅黑" panose="020B0503020204020204" pitchFamily="34" charset="-122"/>
              </a:rPr>
              <a:t>②</a:t>
            </a:r>
            <a:r>
              <a:rPr lang="en-US" altLang="zh-CN" b="0" dirty="0">
                <a:solidFill>
                  <a:schemeClr val="tx1"/>
                </a:solidFill>
                <a:latin typeface="微软雅黑" panose="020B0503020204020204" pitchFamily="34" charset="-122"/>
                <a:ea typeface="微软雅黑" panose="020B0503020204020204" pitchFamily="34" charset="-122"/>
              </a:rPr>
              <a:t>TOP++</a:t>
            </a:r>
            <a:r>
              <a:rPr lang="zh-CN" altLang="en-US" b="0" dirty="0">
                <a:solidFill>
                  <a:schemeClr val="tx1"/>
                </a:solidFill>
                <a:latin typeface="微软雅黑" panose="020B0503020204020204" pitchFamily="34" charset="-122"/>
                <a:ea typeface="微软雅黑" panose="020B0503020204020204" pitchFamily="34" charset="-122"/>
              </a:rPr>
              <a:t>（栈指针加１，指向进栈地址）；</a:t>
            </a:r>
          </a:p>
          <a:p>
            <a:pPr indent="0">
              <a:lnSpc>
                <a:spcPct val="150000"/>
              </a:lnSpc>
              <a:spcAft>
                <a:spcPts val="1000"/>
              </a:spcAft>
              <a:buClr>
                <a:schemeClr val="accent2"/>
              </a:buClr>
              <a:buSzPct val="80000"/>
            </a:pPr>
            <a:r>
              <a:rPr lang="zh-CN" altLang="en-US" b="0" dirty="0">
                <a:solidFill>
                  <a:schemeClr val="tx1"/>
                </a:solidFill>
                <a:latin typeface="微软雅黑" panose="020B0503020204020204" pitchFamily="34" charset="-122"/>
                <a:ea typeface="微软雅黑" panose="020B0503020204020204" pitchFamily="34" charset="-122"/>
              </a:rPr>
              <a:t>③</a:t>
            </a:r>
            <a:r>
              <a:rPr lang="en-US" altLang="zh-CN" b="0" dirty="0">
                <a:solidFill>
                  <a:schemeClr val="tx1"/>
                </a:solidFill>
                <a:latin typeface="微软雅黑" panose="020B0503020204020204" pitchFamily="34" charset="-122"/>
                <a:ea typeface="微软雅黑" panose="020B0503020204020204" pitchFamily="34" charset="-122"/>
              </a:rPr>
              <a:t>S[TOP]=X</a:t>
            </a:r>
            <a:r>
              <a:rPr lang="zh-CN" altLang="en-US" b="0" dirty="0">
                <a:solidFill>
                  <a:schemeClr val="tx1"/>
                </a:solidFill>
                <a:latin typeface="微软雅黑" panose="020B0503020204020204" pitchFamily="34" charset="-122"/>
                <a:ea typeface="微软雅黑" panose="020B0503020204020204" pitchFamily="34" charset="-122"/>
              </a:rPr>
              <a:t>，结束（</a:t>
            </a:r>
            <a:r>
              <a:rPr lang="en-US" altLang="zh-CN" b="0" dirty="0">
                <a:solidFill>
                  <a:schemeClr val="tx1"/>
                </a:solidFill>
                <a:latin typeface="微软雅黑" panose="020B0503020204020204" pitchFamily="34" charset="-122"/>
                <a:ea typeface="微软雅黑" panose="020B0503020204020204" pitchFamily="34" charset="-122"/>
              </a:rPr>
              <a:t>X</a:t>
            </a:r>
            <a:r>
              <a:rPr lang="zh-CN" altLang="en-US" b="0" dirty="0">
                <a:solidFill>
                  <a:schemeClr val="tx1"/>
                </a:solidFill>
                <a:latin typeface="微软雅黑" panose="020B0503020204020204" pitchFamily="34" charset="-122"/>
                <a:ea typeface="微软雅黑" panose="020B0503020204020204" pitchFamily="34" charset="-122"/>
              </a:rPr>
              <a:t>为新进栈的元素）；</a:t>
            </a:r>
          </a:p>
        </p:txBody>
      </p:sp>
      <p:sp>
        <p:nvSpPr>
          <p:cNvPr id="5" name="矩形 4">
            <a:extLst>
              <a:ext uri="{FF2B5EF4-FFF2-40B4-BE49-F238E27FC236}">
                <a16:creationId xmlns:a16="http://schemas.microsoft.com/office/drawing/2014/main" id="{1BA2998E-6778-457D-84FF-E676BE75F383}"/>
              </a:ext>
            </a:extLst>
          </p:cNvPr>
          <p:cNvSpPr/>
          <p:nvPr/>
        </p:nvSpPr>
        <p:spPr>
          <a:xfrm>
            <a:off x="969751" y="4424983"/>
            <a:ext cx="6096000" cy="1262205"/>
          </a:xfrm>
          <a:prstGeom prst="rect">
            <a:avLst/>
          </a:prstGeom>
        </p:spPr>
        <p:txBody>
          <a:bodyPr>
            <a:spAutoFit/>
          </a:bodyPr>
          <a:lstStyle/>
          <a:p>
            <a:pPr>
              <a:lnSpc>
                <a:spcPct val="150000"/>
              </a:lnSpc>
              <a:spcAft>
                <a:spcPts val="1000"/>
              </a:spcAft>
              <a:buClr>
                <a:schemeClr val="accent2"/>
              </a:buClr>
              <a:buSzPct val="80000"/>
            </a:pPr>
            <a:r>
              <a:rPr lang="en-US" altLang="zh-CN" sz="2400" dirty="0">
                <a:latin typeface="Times New Roman" panose="02020603050405020304" pitchFamily="18" charset="0"/>
                <a:cs typeface="Times New Roman" panose="02020603050405020304" pitchFamily="18" charset="0"/>
              </a:rPr>
              <a:t>if(top&gt;=n) printf("overflow");</a:t>
            </a:r>
          </a:p>
          <a:p>
            <a:pPr>
              <a:lnSpc>
                <a:spcPct val="150000"/>
              </a:lnSpc>
              <a:spcAft>
                <a:spcPts val="1000"/>
              </a:spcAft>
              <a:buClr>
                <a:schemeClr val="accent2"/>
              </a:buClr>
              <a:buSzPct val="80000"/>
            </a:pPr>
            <a:r>
              <a:rPr lang="en-US" altLang="zh-CN" sz="2400" dirty="0">
                <a:latin typeface="Times New Roman" panose="02020603050405020304" pitchFamily="18" charset="0"/>
                <a:cs typeface="Times New Roman" panose="02020603050405020304" pitchFamily="18" charset="0"/>
              </a:rPr>
              <a:t>else  stack[++top]=x;</a:t>
            </a:r>
          </a:p>
        </p:txBody>
      </p:sp>
    </p:spTree>
    <p:extLst>
      <p:ext uri="{BB962C8B-B14F-4D97-AF65-F5344CB8AC3E}">
        <p14:creationId xmlns:p14="http://schemas.microsoft.com/office/powerpoint/2010/main" val="298757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04A4E4C-F26A-4A35-88AF-956C21E7D748}"/>
              </a:ext>
            </a:extLst>
          </p:cNvPr>
          <p:cNvSpPr txBox="1">
            <a:spLocks noChangeArrowheads="1"/>
          </p:cNvSpPr>
          <p:nvPr/>
        </p:nvSpPr>
        <p:spPr>
          <a:xfrm>
            <a:off x="1088994" y="601525"/>
            <a:ext cx="8991600" cy="563563"/>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栈</a:t>
            </a:r>
            <a:endParaRPr lang="en-US" altLang="zh-CN" dirty="0"/>
          </a:p>
        </p:txBody>
      </p:sp>
      <p:sp>
        <p:nvSpPr>
          <p:cNvPr id="4" name="矩形 2">
            <a:extLst>
              <a:ext uri="{FF2B5EF4-FFF2-40B4-BE49-F238E27FC236}">
                <a16:creationId xmlns:a16="http://schemas.microsoft.com/office/drawing/2014/main" id="{DDEDC142-C849-4F32-99C1-520F97CD5D8C}"/>
              </a:ext>
            </a:extLst>
          </p:cNvPr>
          <p:cNvSpPr>
            <a:spLocks noChangeArrowheads="1"/>
          </p:cNvSpPr>
          <p:nvPr/>
        </p:nvSpPr>
        <p:spPr bwMode="auto">
          <a:xfrm>
            <a:off x="969751" y="1429533"/>
            <a:ext cx="9845733" cy="24745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indent="647700">
              <a:defRPr kumimoji="1" sz="2000" b="1">
                <a:solidFill>
                  <a:srgbClr val="000066"/>
                </a:solidFill>
                <a:latin typeface="Times New Roman" panose="02020603050405020304" pitchFamily="18" charset="0"/>
                <a:ea typeface="宋体" panose="02010600030101010101" pitchFamily="2" charset="-122"/>
              </a:defRPr>
            </a:lvl1pPr>
            <a:lvl2pPr marL="742950" indent="-285750">
              <a:defRPr kumimoji="1" sz="2000" b="1">
                <a:solidFill>
                  <a:srgbClr val="000066"/>
                </a:solidFill>
                <a:latin typeface="Times New Roman" panose="02020603050405020304" pitchFamily="18" charset="0"/>
                <a:ea typeface="宋体" panose="02010600030101010101" pitchFamily="2" charset="-122"/>
              </a:defRPr>
            </a:lvl2pPr>
            <a:lvl3pPr marL="1143000" indent="-228600">
              <a:defRPr kumimoji="1" sz="2000" b="1">
                <a:solidFill>
                  <a:srgbClr val="000066"/>
                </a:solidFill>
                <a:latin typeface="Times New Roman" panose="02020603050405020304" pitchFamily="18" charset="0"/>
                <a:ea typeface="宋体" panose="02010600030101010101" pitchFamily="2" charset="-122"/>
              </a:defRPr>
            </a:lvl3pPr>
            <a:lvl4pPr marL="1600200" indent="-228600">
              <a:defRPr kumimoji="1" sz="2000" b="1">
                <a:solidFill>
                  <a:srgbClr val="000066"/>
                </a:solidFill>
                <a:latin typeface="Times New Roman" panose="02020603050405020304" pitchFamily="18" charset="0"/>
                <a:ea typeface="宋体" panose="02010600030101010101" pitchFamily="2" charset="-122"/>
              </a:defRPr>
            </a:lvl4pPr>
            <a:lvl5pPr marL="2057400" indent="-228600">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9pPr>
          </a:lstStyle>
          <a:p>
            <a:pPr indent="0">
              <a:lnSpc>
                <a:spcPct val="150000"/>
              </a:lnSpc>
              <a:spcAft>
                <a:spcPts val="1000"/>
              </a:spcAft>
              <a:buClr>
                <a:schemeClr val="accent2"/>
              </a:buClr>
              <a:buSzPct val="80000"/>
            </a:pPr>
            <a:r>
              <a:rPr lang="en-US" altLang="zh-CN" b="0" dirty="0">
                <a:solidFill>
                  <a:schemeClr val="tx1"/>
                </a:solidFill>
                <a:latin typeface="微软雅黑" panose="020B0503020204020204" pitchFamily="34" charset="-122"/>
                <a:ea typeface="微软雅黑" panose="020B0503020204020204" pitchFamily="34" charset="-122"/>
              </a:rPr>
              <a:t>2</a:t>
            </a:r>
            <a:r>
              <a:rPr lang="zh-CN" altLang="en-US" b="0" dirty="0">
                <a:solidFill>
                  <a:schemeClr val="tx1"/>
                </a:solidFill>
                <a:latin typeface="微软雅黑" panose="020B0503020204020204" pitchFamily="34" charset="-122"/>
                <a:ea typeface="微软雅黑" panose="020B0503020204020204" pitchFamily="34" charset="-122"/>
              </a:rPr>
              <a:t>、</a:t>
            </a:r>
            <a:r>
              <a:rPr lang="zh-CN" altLang="en-US" dirty="0">
                <a:solidFill>
                  <a:schemeClr val="accent2"/>
                </a:solidFill>
                <a:latin typeface="微软雅黑" panose="020B0503020204020204" pitchFamily="34" charset="-122"/>
                <a:ea typeface="微软雅黑" panose="020B0503020204020204" pitchFamily="34" charset="-122"/>
              </a:rPr>
              <a:t>退栈</a:t>
            </a:r>
            <a:r>
              <a:rPr lang="zh-CN" altLang="en-US" b="0" dirty="0">
                <a:solidFill>
                  <a:schemeClr val="tx1"/>
                </a:solidFill>
                <a:latin typeface="微软雅黑" panose="020B0503020204020204" pitchFamily="34" charset="-122"/>
                <a:ea typeface="微软雅黑" panose="020B0503020204020204" pitchFamily="34" charset="-122"/>
              </a:rPr>
              <a:t>（</a:t>
            </a:r>
            <a:r>
              <a:rPr lang="en-US" altLang="zh-CN" b="0" dirty="0">
                <a:solidFill>
                  <a:schemeClr val="tx1"/>
                </a:solidFill>
                <a:latin typeface="微软雅黑" panose="020B0503020204020204" pitchFamily="34" charset="-122"/>
                <a:ea typeface="微软雅黑" panose="020B0503020204020204" pitchFamily="34" charset="-122"/>
              </a:rPr>
              <a:t>POP</a:t>
            </a:r>
            <a:r>
              <a:rPr lang="zh-CN" altLang="en-US" b="0" dirty="0">
                <a:solidFill>
                  <a:schemeClr val="tx1"/>
                </a:solidFill>
                <a:latin typeface="微软雅黑" panose="020B0503020204020204" pitchFamily="34" charset="-122"/>
                <a:ea typeface="微软雅黑" panose="020B0503020204020204" pitchFamily="34" charset="-122"/>
              </a:rPr>
              <a:t>）算法</a:t>
            </a:r>
          </a:p>
          <a:p>
            <a:pPr indent="0">
              <a:lnSpc>
                <a:spcPct val="150000"/>
              </a:lnSpc>
              <a:spcAft>
                <a:spcPts val="1000"/>
              </a:spcAft>
              <a:buClr>
                <a:schemeClr val="accent2"/>
              </a:buClr>
              <a:buSzPct val="80000"/>
            </a:pPr>
            <a:r>
              <a:rPr lang="zh-CN" altLang="en-US" b="0" dirty="0">
                <a:solidFill>
                  <a:schemeClr val="tx1"/>
                </a:solidFill>
                <a:latin typeface="微软雅黑" panose="020B0503020204020204" pitchFamily="34" charset="-122"/>
                <a:ea typeface="微软雅黑" panose="020B0503020204020204" pitchFamily="34" charset="-122"/>
              </a:rPr>
              <a:t>①若</a:t>
            </a:r>
            <a:r>
              <a:rPr lang="en-US" altLang="zh-CN" b="0" dirty="0">
                <a:solidFill>
                  <a:schemeClr val="tx1"/>
                </a:solidFill>
                <a:latin typeface="微软雅黑" panose="020B0503020204020204" pitchFamily="34" charset="-122"/>
                <a:ea typeface="微软雅黑" panose="020B0503020204020204" pitchFamily="34" charset="-122"/>
              </a:rPr>
              <a:t>TOP≤0</a:t>
            </a:r>
            <a:r>
              <a:rPr lang="zh-CN" altLang="en-US" b="0" dirty="0">
                <a:solidFill>
                  <a:schemeClr val="tx1"/>
                </a:solidFill>
                <a:latin typeface="微软雅黑" panose="020B0503020204020204" pitchFamily="34" charset="-122"/>
                <a:ea typeface="微软雅黑" panose="020B0503020204020204" pitchFamily="34" charset="-122"/>
              </a:rPr>
              <a:t>，则给出下溢信息，作出错处理</a:t>
            </a:r>
            <a:r>
              <a:rPr lang="en-US" altLang="zh-CN" b="0" dirty="0">
                <a:solidFill>
                  <a:schemeClr val="tx1"/>
                </a:solidFill>
                <a:latin typeface="微软雅黑" panose="020B0503020204020204" pitchFamily="34" charset="-122"/>
                <a:ea typeface="微软雅黑" panose="020B0503020204020204" pitchFamily="34" charset="-122"/>
              </a:rPr>
              <a:t>(</a:t>
            </a:r>
            <a:r>
              <a:rPr lang="zh-CN" altLang="en-US" b="0" dirty="0">
                <a:solidFill>
                  <a:schemeClr val="tx1"/>
                </a:solidFill>
                <a:latin typeface="微软雅黑" panose="020B0503020204020204" pitchFamily="34" charset="-122"/>
                <a:ea typeface="微软雅黑" panose="020B0503020204020204" pitchFamily="34" charset="-122"/>
              </a:rPr>
              <a:t>退栈前先检查是否已为空栈， 空则下溢；不空则作②</a:t>
            </a:r>
            <a:r>
              <a:rPr lang="en-US" altLang="zh-CN" b="0" dirty="0">
                <a:solidFill>
                  <a:schemeClr val="tx1"/>
                </a:solidFill>
                <a:latin typeface="微软雅黑" panose="020B0503020204020204" pitchFamily="34" charset="-122"/>
                <a:ea typeface="微软雅黑" panose="020B0503020204020204" pitchFamily="34" charset="-122"/>
              </a:rPr>
              <a:t>)</a:t>
            </a:r>
            <a:r>
              <a:rPr lang="zh-CN" altLang="en-US" b="0" dirty="0">
                <a:solidFill>
                  <a:schemeClr val="tx1"/>
                </a:solidFill>
                <a:latin typeface="微软雅黑" panose="020B0503020204020204" pitchFamily="34" charset="-122"/>
                <a:ea typeface="微软雅黑" panose="020B0503020204020204" pitchFamily="34" charset="-122"/>
              </a:rPr>
              <a:t>；</a:t>
            </a:r>
            <a:br>
              <a:rPr lang="zh-CN" altLang="en-US" b="0" dirty="0">
                <a:solidFill>
                  <a:schemeClr val="tx1"/>
                </a:solidFill>
                <a:latin typeface="微软雅黑" panose="020B0503020204020204" pitchFamily="34" charset="-122"/>
                <a:ea typeface="微软雅黑" panose="020B0503020204020204" pitchFamily="34" charset="-122"/>
              </a:rPr>
            </a:br>
            <a:r>
              <a:rPr lang="zh-CN" altLang="en-US" b="0" dirty="0">
                <a:solidFill>
                  <a:schemeClr val="tx1"/>
                </a:solidFill>
                <a:latin typeface="微软雅黑" panose="020B0503020204020204" pitchFamily="34" charset="-122"/>
                <a:ea typeface="微软雅黑" panose="020B0503020204020204" pitchFamily="34" charset="-122"/>
              </a:rPr>
              <a:t>②</a:t>
            </a:r>
            <a:r>
              <a:rPr lang="en-US" altLang="zh-CN" b="0" dirty="0">
                <a:solidFill>
                  <a:schemeClr val="tx1"/>
                </a:solidFill>
                <a:latin typeface="微软雅黑" panose="020B0503020204020204" pitchFamily="34" charset="-122"/>
                <a:ea typeface="微软雅黑" panose="020B0503020204020204" pitchFamily="34" charset="-122"/>
              </a:rPr>
              <a:t>X=S[TOP]</a:t>
            </a:r>
            <a:r>
              <a:rPr lang="zh-CN" altLang="en-US" b="0" dirty="0">
                <a:solidFill>
                  <a:schemeClr val="tx1"/>
                </a:solidFill>
                <a:latin typeface="微软雅黑" panose="020B0503020204020204" pitchFamily="34" charset="-122"/>
                <a:ea typeface="微软雅黑" panose="020B0503020204020204" pitchFamily="34" charset="-122"/>
              </a:rPr>
              <a:t>，（退栈后的元素赋给</a:t>
            </a:r>
            <a:r>
              <a:rPr lang="en-US" altLang="zh-CN" b="0" dirty="0">
                <a:solidFill>
                  <a:schemeClr val="tx1"/>
                </a:solidFill>
                <a:latin typeface="微软雅黑" panose="020B0503020204020204" pitchFamily="34" charset="-122"/>
                <a:ea typeface="微软雅黑" panose="020B0503020204020204" pitchFamily="34" charset="-122"/>
              </a:rPr>
              <a:t>X</a:t>
            </a:r>
            <a:r>
              <a:rPr lang="zh-CN" altLang="en-US" b="0" dirty="0">
                <a:solidFill>
                  <a:schemeClr val="tx1"/>
                </a:solidFill>
                <a:latin typeface="微软雅黑" panose="020B0503020204020204" pitchFamily="34" charset="-122"/>
                <a:ea typeface="微软雅黑" panose="020B0503020204020204" pitchFamily="34" charset="-122"/>
              </a:rPr>
              <a:t>）；</a:t>
            </a:r>
            <a:br>
              <a:rPr lang="zh-CN" altLang="en-US" b="0" dirty="0">
                <a:solidFill>
                  <a:schemeClr val="tx1"/>
                </a:solidFill>
                <a:latin typeface="微软雅黑" panose="020B0503020204020204" pitchFamily="34" charset="-122"/>
                <a:ea typeface="微软雅黑" panose="020B0503020204020204" pitchFamily="34" charset="-122"/>
              </a:rPr>
            </a:br>
            <a:r>
              <a:rPr lang="zh-CN" altLang="en-US" b="0" dirty="0">
                <a:solidFill>
                  <a:schemeClr val="tx1"/>
                </a:solidFill>
                <a:latin typeface="微软雅黑" panose="020B0503020204020204" pitchFamily="34" charset="-122"/>
                <a:ea typeface="微软雅黑" panose="020B0503020204020204" pitchFamily="34" charset="-122"/>
              </a:rPr>
              <a:t>③</a:t>
            </a:r>
            <a:r>
              <a:rPr lang="en-US" altLang="zh-CN" b="0" dirty="0">
                <a:solidFill>
                  <a:schemeClr val="tx1"/>
                </a:solidFill>
                <a:latin typeface="微软雅黑" panose="020B0503020204020204" pitchFamily="34" charset="-122"/>
                <a:ea typeface="微软雅黑" panose="020B0503020204020204" pitchFamily="34" charset="-122"/>
              </a:rPr>
              <a:t>TOP--</a:t>
            </a:r>
            <a:r>
              <a:rPr lang="zh-CN" altLang="en-US" b="0" dirty="0">
                <a:solidFill>
                  <a:schemeClr val="tx1"/>
                </a:solidFill>
                <a:latin typeface="微软雅黑" panose="020B0503020204020204" pitchFamily="34" charset="-122"/>
                <a:ea typeface="微软雅黑" panose="020B0503020204020204" pitchFamily="34" charset="-122"/>
              </a:rPr>
              <a:t>，结束（栈指针减１，指向栈顶）。</a:t>
            </a:r>
          </a:p>
        </p:txBody>
      </p:sp>
      <p:sp>
        <p:nvSpPr>
          <p:cNvPr id="5" name="矩形 4">
            <a:extLst>
              <a:ext uri="{FF2B5EF4-FFF2-40B4-BE49-F238E27FC236}">
                <a16:creationId xmlns:a16="http://schemas.microsoft.com/office/drawing/2014/main" id="{1BA2998E-6778-457D-84FF-E676BE75F383}"/>
              </a:ext>
            </a:extLst>
          </p:cNvPr>
          <p:cNvSpPr/>
          <p:nvPr/>
        </p:nvSpPr>
        <p:spPr>
          <a:xfrm>
            <a:off x="969751" y="4071022"/>
            <a:ext cx="6096000" cy="1262205"/>
          </a:xfrm>
          <a:prstGeom prst="rect">
            <a:avLst/>
          </a:prstGeom>
        </p:spPr>
        <p:txBody>
          <a:bodyPr>
            <a:spAutoFit/>
          </a:bodyPr>
          <a:lstStyle/>
          <a:p>
            <a:pPr>
              <a:lnSpc>
                <a:spcPct val="150000"/>
              </a:lnSpc>
              <a:spcAft>
                <a:spcPts val="1000"/>
              </a:spcAft>
              <a:buClr>
                <a:schemeClr val="accent2"/>
              </a:buClr>
              <a:buSzPct val="80000"/>
            </a:pPr>
            <a:r>
              <a:rPr lang="en-US" altLang="zh-CN" sz="2400" dirty="0">
                <a:latin typeface="Times New Roman" panose="02020603050405020304" pitchFamily="18" charset="0"/>
                <a:cs typeface="Times New Roman" panose="02020603050405020304" pitchFamily="18" charset="0"/>
              </a:rPr>
              <a:t>if(top&lt;=0) printf(“underflow");</a:t>
            </a:r>
          </a:p>
          <a:p>
            <a:pPr>
              <a:lnSpc>
                <a:spcPct val="150000"/>
              </a:lnSpc>
              <a:spcAft>
                <a:spcPts val="1000"/>
              </a:spcAft>
              <a:buClr>
                <a:schemeClr val="accent2"/>
              </a:buClr>
              <a:buSzPct val="80000"/>
            </a:pPr>
            <a:r>
              <a:rPr lang="en-US" altLang="zh-CN" sz="2400" dirty="0">
                <a:latin typeface="Times New Roman" panose="02020603050405020304" pitchFamily="18" charset="0"/>
                <a:cs typeface="Times New Roman" panose="02020603050405020304" pitchFamily="18" charset="0"/>
              </a:rPr>
              <a:t>else  x=stack[top--];</a:t>
            </a:r>
          </a:p>
        </p:txBody>
      </p:sp>
    </p:spTree>
    <p:extLst>
      <p:ext uri="{BB962C8B-B14F-4D97-AF65-F5344CB8AC3E}">
        <p14:creationId xmlns:p14="http://schemas.microsoft.com/office/powerpoint/2010/main" val="1644132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04A4E4C-F26A-4A35-88AF-956C21E7D748}"/>
              </a:ext>
            </a:extLst>
          </p:cNvPr>
          <p:cNvSpPr txBox="1">
            <a:spLocks noChangeArrowheads="1"/>
          </p:cNvSpPr>
          <p:nvPr/>
        </p:nvSpPr>
        <p:spPr>
          <a:xfrm>
            <a:off x="1088994" y="601525"/>
            <a:ext cx="8991600" cy="563563"/>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栈</a:t>
            </a:r>
            <a:endParaRPr lang="en-US" altLang="zh-CN" dirty="0"/>
          </a:p>
        </p:txBody>
      </p:sp>
      <p:sp>
        <p:nvSpPr>
          <p:cNvPr id="4" name="矩形 2">
            <a:extLst>
              <a:ext uri="{FF2B5EF4-FFF2-40B4-BE49-F238E27FC236}">
                <a16:creationId xmlns:a16="http://schemas.microsoft.com/office/drawing/2014/main" id="{DDEDC142-C849-4F32-99C1-520F97CD5D8C}"/>
              </a:ext>
            </a:extLst>
          </p:cNvPr>
          <p:cNvSpPr>
            <a:spLocks noChangeArrowheads="1"/>
          </p:cNvSpPr>
          <p:nvPr/>
        </p:nvSpPr>
        <p:spPr bwMode="auto">
          <a:xfrm>
            <a:off x="1027893" y="1234225"/>
            <a:ext cx="10136214" cy="52512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indent="647700">
              <a:defRPr kumimoji="1" sz="2000" b="1">
                <a:solidFill>
                  <a:srgbClr val="000066"/>
                </a:solidFill>
                <a:latin typeface="Times New Roman" panose="02020603050405020304" pitchFamily="18" charset="0"/>
                <a:ea typeface="宋体" panose="02010600030101010101" pitchFamily="2" charset="-122"/>
              </a:defRPr>
            </a:lvl1pPr>
            <a:lvl2pPr marL="742950" indent="-285750">
              <a:defRPr kumimoji="1" sz="2000" b="1">
                <a:solidFill>
                  <a:srgbClr val="000066"/>
                </a:solidFill>
                <a:latin typeface="Times New Roman" panose="02020603050405020304" pitchFamily="18" charset="0"/>
                <a:ea typeface="宋体" panose="02010600030101010101" pitchFamily="2" charset="-122"/>
              </a:defRPr>
            </a:lvl2pPr>
            <a:lvl3pPr marL="1143000" indent="-228600">
              <a:defRPr kumimoji="1" sz="2000" b="1">
                <a:solidFill>
                  <a:srgbClr val="000066"/>
                </a:solidFill>
                <a:latin typeface="Times New Roman" panose="02020603050405020304" pitchFamily="18" charset="0"/>
                <a:ea typeface="宋体" panose="02010600030101010101" pitchFamily="2" charset="-122"/>
              </a:defRPr>
            </a:lvl3pPr>
            <a:lvl4pPr marL="1600200" indent="-228600">
              <a:defRPr kumimoji="1" sz="2000" b="1">
                <a:solidFill>
                  <a:srgbClr val="000066"/>
                </a:solidFill>
                <a:latin typeface="Times New Roman" panose="02020603050405020304" pitchFamily="18" charset="0"/>
                <a:ea typeface="宋体" panose="02010600030101010101" pitchFamily="2" charset="-122"/>
              </a:defRPr>
            </a:lvl4pPr>
            <a:lvl5pPr marL="2057400" indent="-228600">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9pPr>
          </a:lstStyle>
          <a:p>
            <a:pPr indent="0">
              <a:lnSpc>
                <a:spcPct val="200000"/>
              </a:lnSpc>
              <a:spcAft>
                <a:spcPts val="1000"/>
              </a:spcAft>
              <a:buClr>
                <a:schemeClr val="accent2"/>
              </a:buClr>
              <a:buSzPct val="80000"/>
            </a:pPr>
            <a:r>
              <a:rPr lang="zh-CN" altLang="en-US" sz="1800" dirty="0">
                <a:solidFill>
                  <a:schemeClr val="accent2"/>
                </a:solidFill>
                <a:latin typeface="微软雅黑" panose="020B0503020204020204" pitchFamily="34" charset="-122"/>
                <a:ea typeface="微软雅黑" panose="020B0503020204020204" pitchFamily="34" charset="-122"/>
              </a:rPr>
              <a:t>初赛试题</a:t>
            </a:r>
            <a:endParaRPr lang="en-US" altLang="zh-CN" sz="1800" dirty="0">
              <a:solidFill>
                <a:schemeClr val="accent2"/>
              </a:solidFill>
              <a:latin typeface="微软雅黑" panose="020B0503020204020204" pitchFamily="34" charset="-122"/>
              <a:ea typeface="微软雅黑" panose="020B0503020204020204" pitchFamily="34" charset="-122"/>
            </a:endParaRPr>
          </a:p>
          <a:p>
            <a:pPr marL="285750" indent="-285750">
              <a:lnSpc>
                <a:spcPct val="200000"/>
              </a:lnSpc>
              <a:spcAft>
                <a:spcPts val="1000"/>
              </a:spcAft>
              <a:buClr>
                <a:schemeClr val="accent2"/>
              </a:buClr>
              <a:buSzPct val="80000"/>
              <a:buFont typeface="Wingdings" panose="05000000000000000000" pitchFamily="2" charset="2"/>
              <a:buChar char="l"/>
            </a:pPr>
            <a:r>
              <a:rPr lang="zh-CN" altLang="en-US" sz="1800" b="0" dirty="0">
                <a:solidFill>
                  <a:schemeClr val="tx1"/>
                </a:solidFill>
                <a:latin typeface="微软雅黑" panose="020B0503020204020204" pitchFamily="34" charset="-122"/>
                <a:ea typeface="微软雅黑" panose="020B0503020204020204" pitchFamily="34" charset="-122"/>
              </a:rPr>
              <a:t>某个车站呈狭长形，宽度只能容下一台车，并且只有一个出入口。已知某时刻该车站状态为空，从这一时刻开始的出入记录为：“进，出，进，进，进，出，出，进，进，进，出</a:t>
            </a:r>
            <a:r>
              <a:rPr lang="en-US" altLang="zh-CN" sz="1800" b="0" dirty="0">
                <a:solidFill>
                  <a:schemeClr val="tx1"/>
                </a:solidFill>
                <a:latin typeface="微软雅黑" panose="020B0503020204020204" pitchFamily="34" charset="-122"/>
                <a:ea typeface="微软雅黑" panose="020B0503020204020204" pitchFamily="34" charset="-122"/>
              </a:rPr>
              <a:t>,</a:t>
            </a:r>
            <a:r>
              <a:rPr lang="zh-CN" altLang="en-US" sz="1800" b="0" dirty="0">
                <a:solidFill>
                  <a:schemeClr val="tx1"/>
                </a:solidFill>
                <a:latin typeface="微软雅黑" panose="020B0503020204020204" pitchFamily="34" charset="-122"/>
                <a:ea typeface="微软雅黑" panose="020B0503020204020204" pitchFamily="34" charset="-122"/>
              </a:rPr>
              <a:t>出”。假设车辆入站的顺序为</a:t>
            </a:r>
            <a:r>
              <a:rPr lang="en-US" altLang="zh-CN" sz="1800" b="0" dirty="0">
                <a:solidFill>
                  <a:schemeClr val="tx1"/>
                </a:solidFill>
                <a:latin typeface="微软雅黑" panose="020B0503020204020204" pitchFamily="34" charset="-122"/>
                <a:ea typeface="微软雅黑" panose="020B0503020204020204" pitchFamily="34" charset="-122"/>
              </a:rPr>
              <a:t>1</a:t>
            </a:r>
            <a:r>
              <a:rPr lang="zh-CN" altLang="en-US" sz="1800" b="0" dirty="0">
                <a:solidFill>
                  <a:schemeClr val="tx1"/>
                </a:solidFill>
                <a:latin typeface="微软雅黑" panose="020B0503020204020204" pitchFamily="34" charset="-122"/>
                <a:ea typeface="微软雅黑" panose="020B0503020204020204" pitchFamily="34" charset="-122"/>
              </a:rPr>
              <a:t>，</a:t>
            </a:r>
            <a:r>
              <a:rPr lang="en-US" altLang="zh-CN" sz="1800" b="0" dirty="0">
                <a:solidFill>
                  <a:schemeClr val="tx1"/>
                </a:solidFill>
                <a:latin typeface="微软雅黑" panose="020B0503020204020204" pitchFamily="34" charset="-122"/>
                <a:ea typeface="微软雅黑" panose="020B0503020204020204" pitchFamily="34" charset="-122"/>
              </a:rPr>
              <a:t>2</a:t>
            </a:r>
            <a:r>
              <a:rPr lang="zh-CN" altLang="en-US" sz="1800" b="0" dirty="0">
                <a:solidFill>
                  <a:schemeClr val="tx1"/>
                </a:solidFill>
                <a:latin typeface="微软雅黑" panose="020B0503020204020204" pitchFamily="34" charset="-122"/>
                <a:ea typeface="微软雅黑" panose="020B0503020204020204" pitchFamily="34" charset="-122"/>
              </a:rPr>
              <a:t>，</a:t>
            </a:r>
            <a:r>
              <a:rPr lang="en-US" altLang="zh-CN" sz="1800" b="0" dirty="0">
                <a:solidFill>
                  <a:schemeClr val="tx1"/>
                </a:solidFill>
                <a:latin typeface="微软雅黑" panose="020B0503020204020204" pitchFamily="34" charset="-122"/>
                <a:ea typeface="微软雅黑" panose="020B0503020204020204" pitchFamily="34" charset="-122"/>
              </a:rPr>
              <a:t>3</a:t>
            </a:r>
            <a:r>
              <a:rPr lang="zh-CN" altLang="en-US" sz="1800" b="0" dirty="0">
                <a:solidFill>
                  <a:schemeClr val="tx1"/>
                </a:solidFill>
                <a:latin typeface="微软雅黑" panose="020B0503020204020204" pitchFamily="34" charset="-122"/>
                <a:ea typeface="微软雅黑" panose="020B0503020204020204" pitchFamily="34" charset="-122"/>
              </a:rPr>
              <a:t>，</a:t>
            </a:r>
            <a:r>
              <a:rPr lang="en-US" altLang="zh-CN" sz="1800" b="0" dirty="0">
                <a:solidFill>
                  <a:schemeClr val="tx1"/>
                </a:solidFill>
                <a:latin typeface="微软雅黑" panose="020B0503020204020204" pitchFamily="34" charset="-122"/>
                <a:ea typeface="微软雅黑" panose="020B0503020204020204" pitchFamily="34" charset="-122"/>
              </a:rPr>
              <a:t>……</a:t>
            </a:r>
            <a:r>
              <a:rPr lang="zh-CN" altLang="en-US" sz="1800" b="0" dirty="0">
                <a:solidFill>
                  <a:schemeClr val="tx1"/>
                </a:solidFill>
                <a:latin typeface="微软雅黑" panose="020B0503020204020204" pitchFamily="34" charset="-122"/>
                <a:ea typeface="微软雅黑" panose="020B0503020204020204" pitchFamily="34" charset="-122"/>
              </a:rPr>
              <a:t>，则车辆出站的顺序为（）。 </a:t>
            </a:r>
            <a:br>
              <a:rPr lang="zh-CN" altLang="en-US" sz="1800" b="0" dirty="0">
                <a:solidFill>
                  <a:schemeClr val="tx1"/>
                </a:solidFill>
                <a:latin typeface="微软雅黑" panose="020B0503020204020204" pitchFamily="34" charset="-122"/>
                <a:ea typeface="微软雅黑" panose="020B0503020204020204" pitchFamily="34" charset="-122"/>
              </a:rPr>
            </a:br>
            <a:r>
              <a:rPr lang="en-US" altLang="zh-CN" sz="1800" b="0" dirty="0">
                <a:solidFill>
                  <a:schemeClr val="tx1"/>
                </a:solidFill>
                <a:latin typeface="微软雅黑" panose="020B0503020204020204" pitchFamily="34" charset="-122"/>
                <a:ea typeface="微软雅黑" panose="020B0503020204020204" pitchFamily="34" charset="-122"/>
              </a:rPr>
              <a:t>A. 1, 2, 3, 4, 5      B. 1, 2, 4, 5, 7       C. 1, 4, 3, 7, 6   </a:t>
            </a:r>
            <a:br>
              <a:rPr lang="en-US" altLang="zh-CN" sz="1800" b="0" dirty="0">
                <a:solidFill>
                  <a:schemeClr val="tx1"/>
                </a:solidFill>
                <a:latin typeface="微软雅黑" panose="020B0503020204020204" pitchFamily="34" charset="-122"/>
                <a:ea typeface="微软雅黑" panose="020B0503020204020204" pitchFamily="34" charset="-122"/>
              </a:rPr>
            </a:br>
            <a:r>
              <a:rPr lang="en-US" altLang="zh-CN" sz="1800" b="0" dirty="0">
                <a:solidFill>
                  <a:schemeClr val="tx1"/>
                </a:solidFill>
                <a:latin typeface="微软雅黑" panose="020B0503020204020204" pitchFamily="34" charset="-122"/>
                <a:ea typeface="微软雅黑" panose="020B0503020204020204" pitchFamily="34" charset="-122"/>
              </a:rPr>
              <a:t>D. 1, 4, 3, 7, 2      E. 1, 4, 3, 7, 5</a:t>
            </a:r>
          </a:p>
          <a:p>
            <a:pPr marL="285750" indent="-285750">
              <a:lnSpc>
                <a:spcPct val="200000"/>
              </a:lnSpc>
              <a:spcAft>
                <a:spcPts val="1000"/>
              </a:spcAft>
              <a:buClr>
                <a:schemeClr val="accent2"/>
              </a:buClr>
              <a:buSzPct val="80000"/>
              <a:buFont typeface="Wingdings" panose="05000000000000000000" pitchFamily="2" charset="2"/>
              <a:buChar char="l"/>
            </a:pPr>
            <a:r>
              <a:rPr lang="zh-CN" altLang="en-US" sz="1800" b="0" dirty="0">
                <a:solidFill>
                  <a:schemeClr val="tx1"/>
                </a:solidFill>
                <a:latin typeface="微软雅黑" panose="020B0503020204020204" pitchFamily="34" charset="-122"/>
                <a:ea typeface="微软雅黑" panose="020B0503020204020204" pitchFamily="34" charset="-122"/>
              </a:rPr>
              <a:t>设栈</a:t>
            </a:r>
            <a:r>
              <a:rPr lang="en-US" altLang="zh-CN" sz="1800" b="0" dirty="0">
                <a:solidFill>
                  <a:schemeClr val="tx1"/>
                </a:solidFill>
                <a:latin typeface="微软雅黑" panose="020B0503020204020204" pitchFamily="34" charset="-122"/>
                <a:ea typeface="微软雅黑" panose="020B0503020204020204" pitchFamily="34" charset="-122"/>
              </a:rPr>
              <a:t>S</a:t>
            </a:r>
            <a:r>
              <a:rPr lang="zh-CN" altLang="en-US" sz="1800" b="0" dirty="0">
                <a:solidFill>
                  <a:schemeClr val="tx1"/>
                </a:solidFill>
                <a:latin typeface="微软雅黑" panose="020B0503020204020204" pitchFamily="34" charset="-122"/>
                <a:ea typeface="微软雅黑" panose="020B0503020204020204" pitchFamily="34" charset="-122"/>
              </a:rPr>
              <a:t>的初始状态为空，元素</a:t>
            </a:r>
            <a:r>
              <a:rPr lang="en-US" altLang="zh-CN" sz="1800" b="0" dirty="0">
                <a:solidFill>
                  <a:schemeClr val="tx1"/>
                </a:solidFill>
                <a:latin typeface="微软雅黑" panose="020B0503020204020204" pitchFamily="34" charset="-122"/>
                <a:ea typeface="微软雅黑" panose="020B0503020204020204" pitchFamily="34" charset="-122"/>
              </a:rPr>
              <a:t>a, b, c, d, e </a:t>
            </a:r>
            <a:r>
              <a:rPr lang="zh-CN" altLang="en-US" sz="1800" b="0" dirty="0">
                <a:solidFill>
                  <a:schemeClr val="tx1"/>
                </a:solidFill>
                <a:latin typeface="微软雅黑" panose="020B0503020204020204" pitchFamily="34" charset="-122"/>
                <a:ea typeface="微软雅黑" panose="020B0503020204020204" pitchFamily="34" charset="-122"/>
              </a:rPr>
              <a:t>依次入栈，以下出栈序列不可能出现的有（ ）。 </a:t>
            </a:r>
            <a:br>
              <a:rPr lang="zh-CN" altLang="en-US" sz="1800" b="0" dirty="0">
                <a:solidFill>
                  <a:schemeClr val="tx1"/>
                </a:solidFill>
                <a:latin typeface="微软雅黑" panose="020B0503020204020204" pitchFamily="34" charset="-122"/>
                <a:ea typeface="微软雅黑" panose="020B0503020204020204" pitchFamily="34" charset="-122"/>
              </a:rPr>
            </a:br>
            <a:r>
              <a:rPr lang="en-US" altLang="zh-CN" sz="1800" b="0" dirty="0">
                <a:solidFill>
                  <a:schemeClr val="tx1"/>
                </a:solidFill>
                <a:latin typeface="微软雅黑" panose="020B0503020204020204" pitchFamily="34" charset="-122"/>
                <a:ea typeface="微软雅黑" panose="020B0503020204020204" pitchFamily="34" charset="-122"/>
              </a:rPr>
              <a:t>A. a, b, c, e, d           B. b, c, a, e, d   </a:t>
            </a:r>
            <a:br>
              <a:rPr lang="en-US" altLang="zh-CN" sz="1800" b="0" dirty="0">
                <a:solidFill>
                  <a:schemeClr val="tx1"/>
                </a:solidFill>
                <a:latin typeface="微软雅黑" panose="020B0503020204020204" pitchFamily="34" charset="-122"/>
                <a:ea typeface="微软雅黑" panose="020B0503020204020204" pitchFamily="34" charset="-122"/>
              </a:rPr>
            </a:br>
            <a:r>
              <a:rPr lang="en-US" altLang="zh-CN" sz="1800" b="0" dirty="0">
                <a:solidFill>
                  <a:schemeClr val="tx1"/>
                </a:solidFill>
                <a:latin typeface="微软雅黑" panose="020B0503020204020204" pitchFamily="34" charset="-122"/>
                <a:ea typeface="微软雅黑" panose="020B0503020204020204" pitchFamily="34" charset="-122"/>
              </a:rPr>
              <a:t>C. a, e, c, b, d           </a:t>
            </a:r>
            <a:r>
              <a:rPr lang="en-US" altLang="zh-CN" sz="1800" b="0" dirty="0" err="1">
                <a:solidFill>
                  <a:schemeClr val="tx1"/>
                </a:solidFill>
                <a:latin typeface="微软雅黑" panose="020B0503020204020204" pitchFamily="34" charset="-122"/>
                <a:ea typeface="微软雅黑" panose="020B0503020204020204" pitchFamily="34" charset="-122"/>
              </a:rPr>
              <a:t>D</a:t>
            </a:r>
            <a:r>
              <a:rPr lang="en-US" altLang="zh-CN" sz="1800" b="0" dirty="0">
                <a:solidFill>
                  <a:schemeClr val="tx1"/>
                </a:solidFill>
                <a:latin typeface="微软雅黑" panose="020B0503020204020204" pitchFamily="34" charset="-122"/>
                <a:ea typeface="微软雅黑" panose="020B0503020204020204" pitchFamily="34" charset="-122"/>
              </a:rPr>
              <a:t>. d, c, e, b, a </a:t>
            </a:r>
          </a:p>
        </p:txBody>
      </p:sp>
    </p:spTree>
    <p:extLst>
      <p:ext uri="{BB962C8B-B14F-4D97-AF65-F5344CB8AC3E}">
        <p14:creationId xmlns:p14="http://schemas.microsoft.com/office/powerpoint/2010/main" val="3546840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zh-CN" altLang="en-US" dirty="0"/>
              <a:t>栈</a:t>
            </a:r>
          </a:p>
        </p:txBody>
      </p:sp>
      <p:sp>
        <p:nvSpPr>
          <p:cNvPr id="5" name="矩形 4">
            <a:extLst>
              <a:ext uri="{FF2B5EF4-FFF2-40B4-BE49-F238E27FC236}">
                <a16:creationId xmlns:a16="http://schemas.microsoft.com/office/drawing/2014/main" id="{28F18623-A851-4927-A4A7-1E6748542230}"/>
              </a:ext>
            </a:extLst>
          </p:cNvPr>
          <p:cNvSpPr/>
          <p:nvPr/>
        </p:nvSpPr>
        <p:spPr>
          <a:xfrm>
            <a:off x="1032769" y="1399737"/>
            <a:ext cx="7321118" cy="400110"/>
          </a:xfrm>
          <a:prstGeom prst="rect">
            <a:avLst/>
          </a:prstGeom>
        </p:spPr>
        <p:txBody>
          <a:bodyPr wrap="square">
            <a:spAutoFit/>
          </a:bodyPr>
          <a:lstStyle/>
          <a:p>
            <a:r>
              <a:rPr lang="zh-CN" altLang="en-US" sz="2000" b="1" dirty="0">
                <a:solidFill>
                  <a:schemeClr val="accent2"/>
                </a:solidFill>
                <a:latin typeface="微软雅黑" panose="020B0503020204020204" pitchFamily="34" charset="-122"/>
                <a:ea typeface="微软雅黑" panose="020B0503020204020204" pitchFamily="34" charset="-122"/>
              </a:rPr>
              <a:t>例</a:t>
            </a:r>
            <a:r>
              <a:rPr lang="en-US" altLang="zh-CN" sz="2000" b="1" dirty="0">
                <a:solidFill>
                  <a:schemeClr val="accent2"/>
                </a:solidFill>
                <a:latin typeface="微软雅黑" panose="020B0503020204020204" pitchFamily="34" charset="-122"/>
                <a:ea typeface="微软雅黑" panose="020B0503020204020204" pitchFamily="34" charset="-122"/>
              </a:rPr>
              <a:t>1</a:t>
            </a:r>
            <a:r>
              <a:rPr lang="zh-CN" altLang="en-US" sz="2000" b="1" dirty="0">
                <a:solidFill>
                  <a:schemeClr val="accent2"/>
                </a:solidFill>
                <a:latin typeface="微软雅黑" panose="020B0503020204020204" pitchFamily="34" charset="-122"/>
                <a:ea typeface="微软雅黑" panose="020B0503020204020204" pitchFamily="34" charset="-122"/>
              </a:rPr>
              <a:t>：堆栈的数组模拟</a:t>
            </a:r>
          </a:p>
        </p:txBody>
      </p:sp>
      <p:sp>
        <p:nvSpPr>
          <p:cNvPr id="3" name="矩形 2">
            <a:extLst>
              <a:ext uri="{FF2B5EF4-FFF2-40B4-BE49-F238E27FC236}">
                <a16:creationId xmlns:a16="http://schemas.microsoft.com/office/drawing/2014/main" id="{87CF57E6-1519-47A8-ABF2-E94A9D7926A6}"/>
              </a:ext>
            </a:extLst>
          </p:cNvPr>
          <p:cNvSpPr/>
          <p:nvPr/>
        </p:nvSpPr>
        <p:spPr>
          <a:xfrm>
            <a:off x="900553" y="1734166"/>
            <a:ext cx="9344660" cy="2215991"/>
          </a:xfrm>
          <a:prstGeom prst="rect">
            <a:avLst/>
          </a:prstGeom>
        </p:spPr>
        <p:txBody>
          <a:bodyPr wrap="square">
            <a:spAutoFit/>
          </a:bodyPr>
          <a:lstStyle/>
          <a:p>
            <a:pPr>
              <a:lnSpc>
                <a:spcPct val="200000"/>
              </a:lnSpc>
            </a:pPr>
            <a:r>
              <a:rPr lang="zh-CN" altLang="en-US" dirty="0"/>
              <a:t> </a:t>
            </a:r>
            <a:r>
              <a:rPr kumimoji="1" lang="zh-CN" altLang="en-US" sz="2000" dirty="0">
                <a:latin typeface="微软雅黑" panose="020B0503020204020204" pitchFamily="34" charset="-122"/>
                <a:ea typeface="微软雅黑" panose="020B0503020204020204" pitchFamily="34" charset="-122"/>
              </a:rPr>
              <a:t>十进制数</a:t>
            </a:r>
            <a:r>
              <a:rPr kumimoji="1" lang="en-US" altLang="zh-CN" sz="2000" dirty="0">
                <a:latin typeface="微软雅黑" panose="020B0503020204020204" pitchFamily="34" charset="-122"/>
                <a:ea typeface="微软雅黑" panose="020B0503020204020204" pitchFamily="34" charset="-122"/>
              </a:rPr>
              <a:t>N</a:t>
            </a:r>
            <a:r>
              <a:rPr kumimoji="1" lang="zh-CN" altLang="en-US" sz="2000" dirty="0">
                <a:latin typeface="微软雅黑" panose="020B0503020204020204" pitchFamily="34" charset="-122"/>
                <a:ea typeface="微软雅黑" panose="020B0503020204020204" pitchFamily="34" charset="-122"/>
              </a:rPr>
              <a:t>和其它</a:t>
            </a:r>
            <a:r>
              <a:rPr kumimoji="1" lang="en-US" altLang="zh-CN" sz="2000" dirty="0">
                <a:latin typeface="微软雅黑" panose="020B0503020204020204" pitchFamily="34" charset="-122"/>
                <a:ea typeface="微软雅黑" panose="020B0503020204020204" pitchFamily="34" charset="-122"/>
              </a:rPr>
              <a:t>d</a:t>
            </a:r>
            <a:r>
              <a:rPr kumimoji="1" lang="zh-CN" altLang="en-US" sz="2000" dirty="0">
                <a:latin typeface="微软雅黑" panose="020B0503020204020204" pitchFamily="34" charset="-122"/>
                <a:ea typeface="微软雅黑" panose="020B0503020204020204" pitchFamily="34" charset="-122"/>
              </a:rPr>
              <a:t>进制数的转换是实现计算的基本问题</a:t>
            </a:r>
            <a:endParaRPr kumimoji="1" lang="en-US" altLang="zh-CN" sz="2000" dirty="0">
              <a:latin typeface="微软雅黑" panose="020B0503020204020204" pitchFamily="34" charset="-122"/>
              <a:ea typeface="微软雅黑" panose="020B0503020204020204" pitchFamily="34" charset="-122"/>
            </a:endParaRPr>
          </a:p>
          <a:p>
            <a:pPr>
              <a:lnSpc>
                <a:spcPct val="200000"/>
              </a:lnSpc>
            </a:pPr>
            <a:r>
              <a:rPr kumimoji="1" lang="zh-CN" altLang="en-US" sz="2000" dirty="0">
                <a:latin typeface="微软雅黑" panose="020B0503020204020204" pitchFamily="34" charset="-122"/>
                <a:ea typeface="微软雅黑" panose="020B0503020204020204" pitchFamily="34" charset="-122"/>
              </a:rPr>
              <a:t>算法原理：</a:t>
            </a:r>
            <a:r>
              <a:rPr kumimoji="1" lang="en-US" altLang="zh-CN" sz="2000" b="1" dirty="0">
                <a:solidFill>
                  <a:schemeClr val="accent2"/>
                </a:solidFill>
                <a:latin typeface="微软雅黑" panose="020B0503020204020204" pitchFamily="34" charset="-122"/>
                <a:ea typeface="微软雅黑" panose="020B0503020204020204" pitchFamily="34" charset="-122"/>
              </a:rPr>
              <a:t>N=(N / d)×d</a:t>
            </a:r>
            <a:r>
              <a:rPr kumimoji="1" lang="zh-CN" altLang="en-US" sz="2000" b="1" dirty="0">
                <a:solidFill>
                  <a:schemeClr val="accent2"/>
                </a:solidFill>
                <a:latin typeface="微软雅黑" panose="020B0503020204020204" pitchFamily="34" charset="-122"/>
                <a:ea typeface="微软雅黑" panose="020B0503020204020204" pitchFamily="34" charset="-122"/>
              </a:rPr>
              <a:t>＋</a:t>
            </a:r>
            <a:r>
              <a:rPr kumimoji="1" lang="en-US" altLang="zh-CN" sz="2000" b="1" dirty="0">
                <a:solidFill>
                  <a:schemeClr val="accent2"/>
                </a:solidFill>
                <a:latin typeface="微软雅黑" panose="020B0503020204020204" pitchFamily="34" charset="-122"/>
                <a:ea typeface="微软雅黑" panose="020B0503020204020204" pitchFamily="34" charset="-122"/>
              </a:rPr>
              <a:t>N % d </a:t>
            </a:r>
            <a:r>
              <a:rPr kumimoji="1" lang="zh-CN" altLang="en-US" sz="2000" dirty="0">
                <a:latin typeface="微软雅黑" panose="020B0503020204020204" pitchFamily="34" charset="-122"/>
                <a:ea typeface="微软雅黑" panose="020B0503020204020204" pitchFamily="34" charset="-122"/>
              </a:rPr>
              <a:t>（其中 </a:t>
            </a:r>
            <a:r>
              <a:rPr kumimoji="1" lang="en-US" altLang="zh-CN" sz="2000" dirty="0">
                <a:latin typeface="微软雅黑" panose="020B0503020204020204" pitchFamily="34" charset="-122"/>
                <a:ea typeface="微软雅黑" panose="020B0503020204020204" pitchFamily="34" charset="-122"/>
              </a:rPr>
              <a:t>/ </a:t>
            </a:r>
            <a:r>
              <a:rPr kumimoji="1" lang="zh-CN" altLang="en-US" sz="2000" dirty="0">
                <a:latin typeface="微软雅黑" panose="020B0503020204020204" pitchFamily="34" charset="-122"/>
                <a:ea typeface="微软雅黑" panose="020B0503020204020204" pitchFamily="34" charset="-122"/>
              </a:rPr>
              <a:t>为整除运算，</a:t>
            </a:r>
            <a:r>
              <a:rPr kumimoji="1" lang="en-US" altLang="zh-CN" sz="2000" dirty="0">
                <a:latin typeface="微软雅黑" panose="020B0503020204020204" pitchFamily="34" charset="-122"/>
                <a:ea typeface="微软雅黑" panose="020B0503020204020204" pitchFamily="34" charset="-122"/>
              </a:rPr>
              <a:t>%</a:t>
            </a:r>
            <a:r>
              <a:rPr kumimoji="1" lang="zh-CN" altLang="en-US" sz="2000" dirty="0">
                <a:latin typeface="微软雅黑" panose="020B0503020204020204" pitchFamily="34" charset="-122"/>
                <a:ea typeface="微软雅黑" panose="020B0503020204020204" pitchFamily="34" charset="-122"/>
              </a:rPr>
              <a:t>为求余运算）。</a:t>
            </a:r>
          </a:p>
          <a:p>
            <a:pPr>
              <a:lnSpc>
                <a:spcPct val="200000"/>
              </a:lnSpc>
            </a:pPr>
            <a:r>
              <a:rPr kumimoji="1" lang="zh-CN" altLang="en-US" sz="2000" dirty="0">
                <a:latin typeface="微软雅黑" panose="020B0503020204020204" pitchFamily="34" charset="-122"/>
                <a:ea typeface="微软雅黑" panose="020B0503020204020204" pitchFamily="34" charset="-122"/>
              </a:rPr>
              <a:t>例如：</a:t>
            </a:r>
            <a:r>
              <a:rPr kumimoji="1" lang="en-US" altLang="zh-CN" sz="2000" dirty="0">
                <a:latin typeface="微软雅黑" panose="020B0503020204020204" pitchFamily="34" charset="-122"/>
                <a:ea typeface="微软雅黑" panose="020B0503020204020204" pitchFamily="34" charset="-122"/>
              </a:rPr>
              <a:t>(1348)10</a:t>
            </a:r>
            <a:r>
              <a:rPr kumimoji="1" lang="zh-CN" altLang="en-US" sz="2000" dirty="0">
                <a:latin typeface="微软雅黑" panose="020B0503020204020204" pitchFamily="34" charset="-122"/>
                <a:ea typeface="微软雅黑" panose="020B0503020204020204" pitchFamily="34" charset="-122"/>
              </a:rPr>
              <a:t>＝</a:t>
            </a:r>
            <a:r>
              <a:rPr kumimoji="1" lang="en-US" altLang="zh-CN" sz="2000" dirty="0">
                <a:latin typeface="微软雅黑" panose="020B0503020204020204" pitchFamily="34" charset="-122"/>
                <a:ea typeface="微软雅黑" panose="020B0503020204020204" pitchFamily="34" charset="-122"/>
              </a:rPr>
              <a:t>(2504)8</a:t>
            </a:r>
            <a:r>
              <a:rPr kumimoji="1" lang="zh-CN" altLang="en-US" sz="2000" dirty="0">
                <a:latin typeface="微软雅黑" panose="020B0503020204020204" pitchFamily="34" charset="-122"/>
                <a:ea typeface="微软雅黑" panose="020B0503020204020204" pitchFamily="34" charset="-122"/>
              </a:rPr>
              <a:t>运算过程如下：</a:t>
            </a:r>
          </a:p>
          <a:p>
            <a:endParaRPr lang="zh-CN" altLang="en-US" dirty="0"/>
          </a:p>
        </p:txBody>
      </p:sp>
      <p:graphicFrame>
        <p:nvGraphicFramePr>
          <p:cNvPr id="6" name="Group 242">
            <a:extLst>
              <a:ext uri="{FF2B5EF4-FFF2-40B4-BE49-F238E27FC236}">
                <a16:creationId xmlns:a16="http://schemas.microsoft.com/office/drawing/2014/main" id="{2A8B528C-0AF2-44D8-85CE-4468A65BF0F4}"/>
              </a:ext>
            </a:extLst>
          </p:cNvPr>
          <p:cNvGraphicFramePr>
            <a:graphicFrameLocks noGrp="1"/>
          </p:cNvGraphicFramePr>
          <p:nvPr>
            <p:extLst>
              <p:ext uri="{D42A27DB-BD31-4B8C-83A1-F6EECF244321}">
                <p14:modId xmlns:p14="http://schemas.microsoft.com/office/powerpoint/2010/main" val="3127692621"/>
              </p:ext>
            </p:extLst>
          </p:nvPr>
        </p:nvGraphicFramePr>
        <p:xfrm>
          <a:off x="1187176" y="3908417"/>
          <a:ext cx="3810000" cy="1981200"/>
        </p:xfrm>
        <a:graphic>
          <a:graphicData uri="http://schemas.openxmlformats.org/drawingml/2006/table">
            <a:tbl>
              <a:tblPr/>
              <a:tblGrid>
                <a:gridCol w="1122363">
                  <a:extLst>
                    <a:ext uri="{9D8B030D-6E8A-4147-A177-3AD203B41FA5}">
                      <a16:colId xmlns:a16="http://schemas.microsoft.com/office/drawing/2014/main" val="20000"/>
                    </a:ext>
                  </a:extLst>
                </a:gridCol>
                <a:gridCol w="1220787">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228600">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endParaRPr kumimoji="0" lang="en-US" altLang="zh-CN" sz="2000" b="0" i="0" u="none" strike="noStrike" cap="none" normalizeH="0" baseline="0" dirty="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 / 8</a:t>
                      </a:r>
                      <a:endParaRPr kumimoji="0" lang="en-US" altLang="zh-CN" sz="20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 % 8</a:t>
                      </a:r>
                      <a:endParaRPr kumimoji="0" lang="en-US" altLang="zh-CN" sz="2000" b="0" i="0" u="none" strike="noStrike" cap="none" normalizeH="0" baseline="0" dirty="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1348</a:t>
                      </a:r>
                      <a:endParaRPr kumimoji="0" lang="en-US" altLang="zh-CN" sz="20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168</a:t>
                      </a:r>
                      <a:endParaRPr kumimoji="0" lang="en-US" altLang="zh-CN" sz="20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4</a:t>
                      </a:r>
                      <a:endParaRPr kumimoji="0" lang="en-US" altLang="zh-CN" sz="2000" b="0" i="0" u="none" strike="noStrike" cap="none" normalizeH="0" baseline="0" dirty="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168</a:t>
                      </a:r>
                      <a:endParaRPr kumimoji="0" lang="en-US" altLang="zh-CN" sz="20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21</a:t>
                      </a:r>
                      <a:endParaRPr kumimoji="0" lang="en-US" altLang="zh-CN" sz="20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a:t>
                      </a:r>
                      <a:endParaRPr kumimoji="0" lang="en-US" altLang="zh-CN" sz="20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21</a:t>
                      </a:r>
                      <a:endParaRPr kumimoji="0" lang="en-US" altLang="zh-CN" sz="20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600">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a:t>
                      </a:r>
                      <a:endParaRPr kumimoji="0" lang="en-US" altLang="zh-CN" sz="20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9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2</a:t>
                      </a:r>
                      <a:endParaRPr kumimoji="0" lang="en-US" altLang="zh-CN" sz="2000" b="0" i="0" u="none" strike="noStrike" cap="none" normalizeH="0" baseline="0" dirty="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82860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zh-CN" altLang="en-US" dirty="0"/>
              <a:t>栈</a:t>
            </a:r>
          </a:p>
        </p:txBody>
      </p:sp>
      <p:sp>
        <p:nvSpPr>
          <p:cNvPr id="5" name="矩形 4">
            <a:extLst>
              <a:ext uri="{FF2B5EF4-FFF2-40B4-BE49-F238E27FC236}">
                <a16:creationId xmlns:a16="http://schemas.microsoft.com/office/drawing/2014/main" id="{28F18623-A851-4927-A4A7-1E6748542230}"/>
              </a:ext>
            </a:extLst>
          </p:cNvPr>
          <p:cNvSpPr/>
          <p:nvPr/>
        </p:nvSpPr>
        <p:spPr>
          <a:xfrm>
            <a:off x="1032769" y="1399737"/>
            <a:ext cx="7321118" cy="400110"/>
          </a:xfrm>
          <a:prstGeom prst="rect">
            <a:avLst/>
          </a:prstGeom>
        </p:spPr>
        <p:txBody>
          <a:bodyPr wrap="square">
            <a:spAutoFit/>
          </a:bodyPr>
          <a:lstStyle/>
          <a:p>
            <a:r>
              <a:rPr lang="zh-CN" altLang="en-US" sz="2000" b="1" dirty="0">
                <a:solidFill>
                  <a:schemeClr val="accent2"/>
                </a:solidFill>
                <a:latin typeface="微软雅黑" panose="020B0503020204020204" pitchFamily="34" charset="-122"/>
                <a:ea typeface="微软雅黑" panose="020B0503020204020204" pitchFamily="34" charset="-122"/>
              </a:rPr>
              <a:t>例</a:t>
            </a:r>
            <a:r>
              <a:rPr lang="en-US" altLang="zh-CN" sz="2000" b="1" dirty="0">
                <a:solidFill>
                  <a:schemeClr val="accent2"/>
                </a:solidFill>
                <a:latin typeface="微软雅黑" panose="020B0503020204020204" pitchFamily="34" charset="-122"/>
                <a:ea typeface="微软雅黑" panose="020B0503020204020204" pitchFamily="34" charset="-122"/>
              </a:rPr>
              <a:t>1</a:t>
            </a:r>
            <a:r>
              <a:rPr lang="zh-CN" altLang="en-US" sz="2000" b="1" dirty="0">
                <a:solidFill>
                  <a:schemeClr val="accent2"/>
                </a:solidFill>
                <a:latin typeface="微软雅黑" panose="020B0503020204020204" pitchFamily="34" charset="-122"/>
                <a:ea typeface="微软雅黑" panose="020B0503020204020204" pitchFamily="34" charset="-122"/>
              </a:rPr>
              <a:t>：堆栈的数组模拟</a:t>
            </a:r>
          </a:p>
        </p:txBody>
      </p:sp>
      <p:sp>
        <p:nvSpPr>
          <p:cNvPr id="7" name="矩形 6">
            <a:extLst>
              <a:ext uri="{FF2B5EF4-FFF2-40B4-BE49-F238E27FC236}">
                <a16:creationId xmlns:a16="http://schemas.microsoft.com/office/drawing/2014/main" id="{FCFAA7DB-B731-47F1-86F6-7CEE53BAA256}"/>
              </a:ext>
            </a:extLst>
          </p:cNvPr>
          <p:cNvSpPr/>
          <p:nvPr/>
        </p:nvSpPr>
        <p:spPr>
          <a:xfrm>
            <a:off x="1104900" y="1877364"/>
            <a:ext cx="6096000" cy="4524315"/>
          </a:xfrm>
          <a:prstGeom prst="rect">
            <a:avLst/>
          </a:prstGeom>
        </p:spPr>
        <p:txBody>
          <a:bodyPr>
            <a:spAutoFit/>
          </a:bodyPr>
          <a:lstStyle/>
          <a:p>
            <a:r>
              <a:rPr lang="en-US" altLang="zh-CN" dirty="0">
                <a:latin typeface="Times New Roman" panose="02020603050405020304" pitchFamily="18" charset="0"/>
                <a:cs typeface="Times New Roman" panose="02020603050405020304" pitchFamily="18" charset="0"/>
              </a:rPr>
              <a:t>#include&lt;bits/stdc++.h&gt;</a:t>
            </a:r>
          </a:p>
          <a:p>
            <a:r>
              <a:rPr lang="en-US" altLang="zh-CN" dirty="0">
                <a:latin typeface="Times New Roman" panose="02020603050405020304" pitchFamily="18" charset="0"/>
                <a:cs typeface="Times New Roman" panose="02020603050405020304" pitchFamily="18" charset="0"/>
              </a:rPr>
              <a:t>using namespace </a:t>
            </a:r>
            <a:r>
              <a:rPr lang="en-US" altLang="zh-CN" dirty="0" err="1">
                <a:latin typeface="Times New Roman" panose="02020603050405020304" pitchFamily="18" charset="0"/>
                <a:cs typeface="Times New Roman" panose="02020603050405020304" pitchFamily="18" charset="0"/>
              </a:rPr>
              <a:t>std</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#define size 100</a:t>
            </a:r>
          </a:p>
          <a:p>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a[</a:t>
            </a:r>
            <a:r>
              <a:rPr lang="en-US" altLang="zh-CN" dirty="0" err="1">
                <a:latin typeface="Times New Roman" panose="02020603050405020304" pitchFamily="18" charset="0"/>
                <a:cs typeface="Times New Roman" panose="02020603050405020304" pitchFamily="18" charset="0"/>
              </a:rPr>
              <a:t>size+1</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n,d,i</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0,j</a:t>
            </a:r>
            <a:r>
              <a:rPr lang="en-US" altLang="zh-CN" dirty="0">
                <a:latin typeface="Times New Roman" panose="02020603050405020304" pitchFamily="18" charset="0"/>
                <a:cs typeface="Times New Roman" panose="02020603050405020304" pitchFamily="18" charset="0"/>
              </a:rPr>
              <a:t>;</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int main()</a:t>
            </a:r>
          </a:p>
          <a:p>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cout</a:t>
            </a:r>
            <a:r>
              <a:rPr lang="en-US" altLang="zh-CN" dirty="0">
                <a:latin typeface="Times New Roman" panose="02020603050405020304" pitchFamily="18" charset="0"/>
                <a:cs typeface="Times New Roman" panose="02020603050405020304" pitchFamily="18" charset="0"/>
              </a:rPr>
              <a:t>&lt;&lt;"Please enter a number(N) base 10:";  </a:t>
            </a:r>
            <a:r>
              <a:rPr lang="en-US" altLang="zh-CN" dirty="0" err="1">
                <a:latin typeface="Times New Roman" panose="02020603050405020304" pitchFamily="18" charset="0"/>
                <a:cs typeface="Times New Roman" panose="02020603050405020304" pitchFamily="18" charset="0"/>
              </a:rPr>
              <a:t>cin</a:t>
            </a:r>
            <a:r>
              <a:rPr lang="en-US" altLang="zh-CN" dirty="0">
                <a:latin typeface="Times New Roman" panose="02020603050405020304" pitchFamily="18" charset="0"/>
                <a:cs typeface="Times New Roman" panose="02020603050405020304" pitchFamily="18" charset="0"/>
              </a:rPr>
              <a:t>&gt;&gt;n;</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cout</a:t>
            </a:r>
            <a:r>
              <a:rPr lang="en-US" altLang="zh-CN" dirty="0">
                <a:latin typeface="Times New Roman" panose="02020603050405020304" pitchFamily="18" charset="0"/>
                <a:cs typeface="Times New Roman" panose="02020603050405020304" pitchFamily="18" charset="0"/>
              </a:rPr>
              <a:t>&lt;&lt;"please enter a number(d):";  </a:t>
            </a:r>
            <a:r>
              <a:rPr lang="en-US" altLang="zh-CN" dirty="0" err="1">
                <a:latin typeface="Times New Roman" panose="02020603050405020304" pitchFamily="18" charset="0"/>
                <a:cs typeface="Times New Roman" panose="02020603050405020304" pitchFamily="18" charset="0"/>
              </a:rPr>
              <a:t>cin</a:t>
            </a:r>
            <a:r>
              <a:rPr lang="en-US" altLang="zh-CN" dirty="0">
                <a:latin typeface="Times New Roman" panose="02020603050405020304" pitchFamily="18" charset="0"/>
                <a:cs typeface="Times New Roman" panose="02020603050405020304" pitchFamily="18" charset="0"/>
              </a:rPr>
              <a:t>&gt;&gt;d;</a:t>
            </a:r>
          </a:p>
          <a:p>
            <a:r>
              <a:rPr lang="en-US" altLang="zh-CN" b="1" dirty="0">
                <a:solidFill>
                  <a:schemeClr val="accent2"/>
                </a:solidFill>
                <a:latin typeface="Times New Roman" panose="02020603050405020304" pitchFamily="18" charset="0"/>
                <a:cs typeface="Times New Roman" panose="02020603050405020304" pitchFamily="18" charset="0"/>
              </a:rPr>
              <a:t>  do{</a:t>
            </a:r>
          </a:p>
          <a:p>
            <a:r>
              <a:rPr lang="en-US" altLang="zh-CN" b="1" dirty="0">
                <a:solidFill>
                  <a:schemeClr val="accent2"/>
                </a:solidFill>
                <a:latin typeface="Times New Roman" panose="02020603050405020304" pitchFamily="18" charset="0"/>
                <a:cs typeface="Times New Roman" panose="02020603050405020304" pitchFamily="18" charset="0"/>
              </a:rPr>
              <a:t>    a[++</a:t>
            </a:r>
            <a:r>
              <a:rPr lang="en-US" altLang="zh-CN" b="1" dirty="0" err="1">
                <a:solidFill>
                  <a:schemeClr val="accent2"/>
                </a:solidFill>
                <a:latin typeface="Times New Roman" panose="02020603050405020304" pitchFamily="18" charset="0"/>
                <a:cs typeface="Times New Roman" panose="02020603050405020304" pitchFamily="18" charset="0"/>
              </a:rPr>
              <a:t>i</a:t>
            </a:r>
            <a:r>
              <a:rPr lang="en-US" altLang="zh-CN" b="1" dirty="0">
                <a:solidFill>
                  <a:schemeClr val="accent2"/>
                </a:solidFill>
                <a:latin typeface="Times New Roman" panose="02020603050405020304" pitchFamily="18" charset="0"/>
                <a:cs typeface="Times New Roman" panose="02020603050405020304" pitchFamily="18" charset="0"/>
              </a:rPr>
              <a:t>]=</a:t>
            </a:r>
            <a:r>
              <a:rPr lang="en-US" altLang="zh-CN" b="1" dirty="0" err="1">
                <a:solidFill>
                  <a:schemeClr val="accent2"/>
                </a:solidFill>
                <a:latin typeface="Times New Roman" panose="02020603050405020304" pitchFamily="18" charset="0"/>
                <a:cs typeface="Times New Roman" panose="02020603050405020304" pitchFamily="18" charset="0"/>
              </a:rPr>
              <a:t>n%d</a:t>
            </a:r>
            <a:r>
              <a:rPr lang="en-US" altLang="zh-CN" b="1" dirty="0">
                <a:solidFill>
                  <a:schemeClr val="accent2"/>
                </a:solidFill>
                <a:latin typeface="Times New Roman" panose="02020603050405020304" pitchFamily="18" charset="0"/>
                <a:cs typeface="Times New Roman" panose="02020603050405020304" pitchFamily="18" charset="0"/>
              </a:rPr>
              <a:t>;</a:t>
            </a:r>
          </a:p>
          <a:p>
            <a:r>
              <a:rPr lang="en-US" altLang="zh-CN" b="1" dirty="0">
                <a:solidFill>
                  <a:schemeClr val="accent2"/>
                </a:solidFill>
                <a:latin typeface="Times New Roman" panose="02020603050405020304" pitchFamily="18" charset="0"/>
                <a:cs typeface="Times New Roman" panose="02020603050405020304" pitchFamily="18" charset="0"/>
              </a:rPr>
              <a:t>    n=n/d; </a:t>
            </a:r>
          </a:p>
          <a:p>
            <a:r>
              <a:rPr lang="en-US" altLang="zh-CN" b="1" dirty="0">
                <a:solidFill>
                  <a:schemeClr val="accent2"/>
                </a:solidFill>
                <a:latin typeface="Times New Roman" panose="02020603050405020304" pitchFamily="18" charset="0"/>
                <a:cs typeface="Times New Roman" panose="02020603050405020304" pitchFamily="18" charset="0"/>
              </a:rPr>
              <a:t>  }while(n!=0);</a:t>
            </a:r>
          </a:p>
          <a:p>
            <a:r>
              <a:rPr lang="en-US" altLang="zh-CN" dirty="0">
                <a:latin typeface="Times New Roman" panose="02020603050405020304" pitchFamily="18" charset="0"/>
                <a:cs typeface="Times New Roman" panose="02020603050405020304" pitchFamily="18" charset="0"/>
              </a:rPr>
              <a:t>  for (j=</a:t>
            </a:r>
            <a:r>
              <a:rPr lang="en-US" altLang="zh-CN" dirty="0" err="1">
                <a:latin typeface="Times New Roman" panose="02020603050405020304" pitchFamily="18" charset="0"/>
                <a:cs typeface="Times New Roman" panose="02020603050405020304" pitchFamily="18" charset="0"/>
              </a:rPr>
              <a:t>i;j</a:t>
            </a:r>
            <a:r>
              <a:rPr lang="en-US" altLang="zh-CN" dirty="0">
                <a:latin typeface="Times New Roman" panose="02020603050405020304" pitchFamily="18" charset="0"/>
                <a:cs typeface="Times New Roman" panose="02020603050405020304" pitchFamily="18" charset="0"/>
              </a:rPr>
              <a:t>&gt;=1;j--)  </a:t>
            </a:r>
            <a:r>
              <a:rPr lang="en-US" altLang="zh-CN" dirty="0" err="1">
                <a:latin typeface="Times New Roman" panose="02020603050405020304" pitchFamily="18" charset="0"/>
                <a:cs typeface="Times New Roman" panose="02020603050405020304" pitchFamily="18" charset="0"/>
              </a:rPr>
              <a:t>cout</a:t>
            </a:r>
            <a:r>
              <a:rPr lang="en-US" altLang="zh-CN" dirty="0">
                <a:latin typeface="Times New Roman" panose="02020603050405020304" pitchFamily="18" charset="0"/>
                <a:cs typeface="Times New Roman" panose="02020603050405020304" pitchFamily="18" charset="0"/>
              </a:rPr>
              <a:t>&lt;&lt;a[j];</a:t>
            </a:r>
          </a:p>
          <a:p>
            <a:r>
              <a:rPr lang="en-US" altLang="zh-CN" dirty="0">
                <a:latin typeface="Times New Roman" panose="02020603050405020304" pitchFamily="18" charset="0"/>
                <a:cs typeface="Times New Roman" panose="02020603050405020304" pitchFamily="18" charset="0"/>
              </a:rPr>
              <a:t>  return 0;</a:t>
            </a:r>
          </a:p>
          <a:p>
            <a:r>
              <a:rPr lang="en-US" altLang="zh-C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0817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zh-CN" altLang="en-US" dirty="0"/>
              <a:t>栈</a:t>
            </a:r>
          </a:p>
        </p:txBody>
      </p:sp>
      <p:sp>
        <p:nvSpPr>
          <p:cNvPr id="5" name="矩形 4">
            <a:extLst>
              <a:ext uri="{FF2B5EF4-FFF2-40B4-BE49-F238E27FC236}">
                <a16:creationId xmlns:a16="http://schemas.microsoft.com/office/drawing/2014/main" id="{28F18623-A851-4927-A4A7-1E6748542230}"/>
              </a:ext>
            </a:extLst>
          </p:cNvPr>
          <p:cNvSpPr/>
          <p:nvPr/>
        </p:nvSpPr>
        <p:spPr>
          <a:xfrm>
            <a:off x="1032769" y="1399737"/>
            <a:ext cx="7321118" cy="707886"/>
          </a:xfrm>
          <a:prstGeom prst="rect">
            <a:avLst/>
          </a:prstGeom>
        </p:spPr>
        <p:txBody>
          <a:bodyPr wrap="square">
            <a:spAutoFit/>
          </a:bodyPr>
          <a:lstStyle/>
          <a:p>
            <a:r>
              <a:rPr lang="zh-CN" altLang="en-US" sz="2000" b="1" dirty="0">
                <a:solidFill>
                  <a:schemeClr val="accent2"/>
                </a:solidFill>
                <a:latin typeface="微软雅黑" panose="020B0503020204020204" pitchFamily="34" charset="-122"/>
                <a:ea typeface="微软雅黑" panose="020B0503020204020204" pitchFamily="34" charset="-122"/>
              </a:rPr>
              <a:t>例</a:t>
            </a:r>
            <a:r>
              <a:rPr lang="en-US" altLang="zh-CN" sz="2000" b="1" dirty="0">
                <a:solidFill>
                  <a:schemeClr val="accent2"/>
                </a:solidFill>
                <a:latin typeface="微软雅黑" panose="020B0503020204020204" pitchFamily="34" charset="-122"/>
                <a:ea typeface="微软雅黑" panose="020B0503020204020204" pitchFamily="34" charset="-122"/>
              </a:rPr>
              <a:t>2</a:t>
            </a:r>
            <a:r>
              <a:rPr lang="zh-CN" altLang="en-US" sz="2000" b="1" dirty="0">
                <a:solidFill>
                  <a:schemeClr val="accent2"/>
                </a:solidFill>
                <a:latin typeface="微软雅黑" panose="020B0503020204020204" pitchFamily="34" charset="-122"/>
                <a:ea typeface="微软雅黑" panose="020B0503020204020204" pitchFamily="34" charset="-122"/>
              </a:rPr>
              <a:t>：括号的匹配（表达式的合法性检查）</a:t>
            </a:r>
          </a:p>
          <a:p>
            <a:endParaRPr lang="zh-CN" altLang="en-US" sz="2000" b="1" dirty="0">
              <a:solidFill>
                <a:schemeClr val="accent2"/>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87CF57E6-1519-47A8-ABF2-E94A9D7926A6}"/>
              </a:ext>
            </a:extLst>
          </p:cNvPr>
          <p:cNvSpPr/>
          <p:nvPr/>
        </p:nvSpPr>
        <p:spPr>
          <a:xfrm>
            <a:off x="900553" y="1734166"/>
            <a:ext cx="9344660" cy="3447098"/>
          </a:xfrm>
          <a:prstGeom prst="rect">
            <a:avLst/>
          </a:prstGeom>
        </p:spPr>
        <p:txBody>
          <a:bodyPr wrap="square">
            <a:spAutoFit/>
          </a:bodyPr>
          <a:lstStyle/>
          <a:p>
            <a:pPr>
              <a:lnSpc>
                <a:spcPct val="200000"/>
              </a:lnSpc>
            </a:pPr>
            <a:r>
              <a:rPr lang="zh-CN" altLang="en-US" dirty="0"/>
              <a:t> </a:t>
            </a:r>
            <a:r>
              <a:rPr kumimoji="1" lang="en-US" altLang="zh-CN" sz="2000" dirty="0">
                <a:latin typeface="微软雅黑" panose="020B0503020204020204" pitchFamily="34" charset="-122"/>
                <a:ea typeface="微软雅黑" panose="020B0503020204020204" pitchFamily="34" charset="-122"/>
              </a:rPr>
              <a:t>【</a:t>
            </a:r>
            <a:r>
              <a:rPr kumimoji="1" lang="zh-CN" altLang="en-US" sz="2000" dirty="0">
                <a:latin typeface="微软雅黑" panose="020B0503020204020204" pitchFamily="34" charset="-122"/>
                <a:ea typeface="微软雅黑" panose="020B0503020204020204" pitchFamily="34" charset="-122"/>
              </a:rPr>
              <a:t>问题描述</a:t>
            </a:r>
            <a:r>
              <a:rPr kumimoji="1" lang="en-US" altLang="zh-CN" sz="2000" dirty="0">
                <a:latin typeface="微软雅黑" panose="020B0503020204020204" pitchFamily="34" charset="-122"/>
                <a:ea typeface="微软雅黑" panose="020B0503020204020204" pitchFamily="34" charset="-122"/>
              </a:rPr>
              <a:t>】</a:t>
            </a:r>
          </a:p>
          <a:p>
            <a:pPr>
              <a:lnSpc>
                <a:spcPct val="200000"/>
              </a:lnSpc>
            </a:pPr>
            <a:r>
              <a:rPr kumimoji="1" lang="en-US" altLang="zh-CN" sz="2000" dirty="0">
                <a:latin typeface="微软雅黑" panose="020B0503020204020204" pitchFamily="34" charset="-122"/>
                <a:ea typeface="微软雅黑" panose="020B0503020204020204" pitchFamily="34" charset="-122"/>
              </a:rPr>
              <a:t>       </a:t>
            </a:r>
            <a:r>
              <a:rPr kumimoji="1" lang="zh-CN" altLang="en-US" sz="2000" dirty="0">
                <a:latin typeface="微软雅黑" panose="020B0503020204020204" pitchFamily="34" charset="-122"/>
                <a:ea typeface="微软雅黑" panose="020B0503020204020204" pitchFamily="34" charset="-122"/>
              </a:rPr>
              <a:t>假设一个表达式有英文字母（小写）、运算符（</a:t>
            </a:r>
            <a:r>
              <a:rPr kumimoji="1" lang="en-US" altLang="zh-CN" sz="2000" dirty="0">
                <a:latin typeface="微软雅黑" panose="020B0503020204020204" pitchFamily="34" charset="-122"/>
                <a:ea typeface="微软雅黑" panose="020B0503020204020204" pitchFamily="34" charset="-122"/>
              </a:rPr>
              <a:t>+</a:t>
            </a:r>
            <a:r>
              <a:rPr kumimoji="1" lang="zh-CN" altLang="en-US" sz="2000" dirty="0">
                <a:latin typeface="微软雅黑" panose="020B0503020204020204" pitchFamily="34" charset="-122"/>
                <a:ea typeface="微软雅黑" panose="020B0503020204020204" pitchFamily="34" charset="-122"/>
              </a:rPr>
              <a:t>，</a:t>
            </a:r>
            <a:r>
              <a:rPr kumimoji="1" lang="en-US" altLang="zh-CN" sz="2000" dirty="0">
                <a:latin typeface="微软雅黑" panose="020B0503020204020204" pitchFamily="34" charset="-122"/>
                <a:ea typeface="微软雅黑" panose="020B0503020204020204" pitchFamily="34" charset="-122"/>
              </a:rPr>
              <a:t>—</a:t>
            </a:r>
            <a:r>
              <a:rPr kumimoji="1" lang="zh-CN" altLang="en-US" sz="2000" dirty="0">
                <a:latin typeface="微软雅黑" panose="020B0503020204020204" pitchFamily="34" charset="-122"/>
                <a:ea typeface="微软雅黑" panose="020B0503020204020204" pitchFamily="34" charset="-122"/>
              </a:rPr>
              <a:t>，*，</a:t>
            </a:r>
            <a:r>
              <a:rPr kumimoji="1" lang="en-US" altLang="zh-CN" sz="2000" dirty="0">
                <a:latin typeface="微软雅黑" panose="020B0503020204020204" pitchFamily="34" charset="-122"/>
                <a:ea typeface="微软雅黑" panose="020B0503020204020204" pitchFamily="34" charset="-122"/>
              </a:rPr>
              <a:t>/</a:t>
            </a:r>
            <a:r>
              <a:rPr kumimoji="1" lang="zh-CN" altLang="en-US" sz="2000" dirty="0">
                <a:latin typeface="微软雅黑" panose="020B0503020204020204" pitchFamily="34" charset="-122"/>
                <a:ea typeface="微软雅黑" panose="020B0503020204020204" pitchFamily="34" charset="-122"/>
              </a:rPr>
              <a:t>）和左右小（圆）括号构成，以“</a:t>
            </a:r>
            <a:r>
              <a:rPr kumimoji="1" lang="en-US" altLang="zh-CN" sz="2000" dirty="0">
                <a:latin typeface="微软雅黑" panose="020B0503020204020204" pitchFamily="34" charset="-122"/>
                <a:ea typeface="微软雅黑" panose="020B0503020204020204" pitchFamily="34" charset="-122"/>
              </a:rPr>
              <a:t>@”</a:t>
            </a:r>
            <a:r>
              <a:rPr kumimoji="1" lang="zh-CN" altLang="en-US" sz="2000" dirty="0">
                <a:latin typeface="微软雅黑" panose="020B0503020204020204" pitchFamily="34" charset="-122"/>
                <a:ea typeface="微软雅黑" panose="020B0503020204020204" pitchFamily="34" charset="-122"/>
              </a:rPr>
              <a:t>作为表达式的结束符。请编写一个程序检查表达式中的左右圆括号是否匹配，若匹配，则返回“</a:t>
            </a:r>
            <a:r>
              <a:rPr kumimoji="1" lang="en-US" altLang="zh-CN" sz="2000" dirty="0">
                <a:latin typeface="微软雅黑" panose="020B0503020204020204" pitchFamily="34" charset="-122"/>
                <a:ea typeface="微软雅黑" panose="020B0503020204020204" pitchFamily="34" charset="-122"/>
              </a:rPr>
              <a:t>YES”</a:t>
            </a:r>
            <a:r>
              <a:rPr kumimoji="1" lang="zh-CN" altLang="en-US" sz="2000" dirty="0">
                <a:latin typeface="微软雅黑" panose="020B0503020204020204" pitchFamily="34" charset="-122"/>
                <a:ea typeface="微软雅黑" panose="020B0503020204020204" pitchFamily="34" charset="-122"/>
              </a:rPr>
              <a:t>；否则返回“</a:t>
            </a:r>
            <a:r>
              <a:rPr kumimoji="1" lang="en-US" altLang="zh-CN" sz="2000" dirty="0">
                <a:latin typeface="微软雅黑" panose="020B0503020204020204" pitchFamily="34" charset="-122"/>
                <a:ea typeface="微软雅黑" panose="020B0503020204020204" pitchFamily="34" charset="-122"/>
              </a:rPr>
              <a:t>NO”</a:t>
            </a:r>
            <a:r>
              <a:rPr kumimoji="1" lang="zh-CN" altLang="en-US" sz="2000" dirty="0">
                <a:latin typeface="微软雅黑" panose="020B0503020204020204" pitchFamily="34" charset="-122"/>
                <a:ea typeface="微软雅黑" panose="020B0503020204020204" pitchFamily="34" charset="-122"/>
              </a:rPr>
              <a:t>。假设表达式长度小于</a:t>
            </a:r>
            <a:r>
              <a:rPr kumimoji="1" lang="en-US" altLang="zh-CN" sz="2000" dirty="0">
                <a:latin typeface="微软雅黑" panose="020B0503020204020204" pitchFamily="34" charset="-122"/>
                <a:ea typeface="微软雅黑" panose="020B0503020204020204" pitchFamily="34" charset="-122"/>
              </a:rPr>
              <a:t>255</a:t>
            </a:r>
            <a:r>
              <a:rPr kumimoji="1" lang="zh-CN" altLang="en-US" sz="2000" dirty="0">
                <a:latin typeface="微软雅黑" panose="020B0503020204020204" pitchFamily="34" charset="-122"/>
                <a:ea typeface="微软雅黑" panose="020B0503020204020204" pitchFamily="34" charset="-122"/>
              </a:rPr>
              <a:t>，左圆括号少于</a:t>
            </a:r>
            <a:r>
              <a:rPr kumimoji="1" lang="en-US" altLang="zh-CN" sz="2000" dirty="0">
                <a:latin typeface="微软雅黑" panose="020B0503020204020204" pitchFamily="34" charset="-122"/>
                <a:ea typeface="微软雅黑" panose="020B0503020204020204" pitchFamily="34" charset="-122"/>
              </a:rPr>
              <a:t>20</a:t>
            </a:r>
            <a:r>
              <a:rPr kumimoji="1" lang="zh-CN" altLang="en-US" sz="2000" dirty="0">
                <a:latin typeface="微软雅黑" panose="020B0503020204020204" pitchFamily="34" charset="-122"/>
                <a:ea typeface="微软雅黑" panose="020B0503020204020204" pitchFamily="34" charset="-122"/>
              </a:rPr>
              <a:t>个。</a:t>
            </a:r>
          </a:p>
          <a:p>
            <a:endParaRPr lang="zh-CN" altLang="en-US" dirty="0"/>
          </a:p>
        </p:txBody>
      </p:sp>
    </p:spTree>
    <p:extLst>
      <p:ext uri="{BB962C8B-B14F-4D97-AF65-F5344CB8AC3E}">
        <p14:creationId xmlns:p14="http://schemas.microsoft.com/office/powerpoint/2010/main" val="2416029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zh-CN" altLang="en-US" dirty="0"/>
              <a:t>栈</a:t>
            </a:r>
          </a:p>
        </p:txBody>
      </p:sp>
      <p:sp>
        <p:nvSpPr>
          <p:cNvPr id="7" name="矩形 6">
            <a:extLst>
              <a:ext uri="{FF2B5EF4-FFF2-40B4-BE49-F238E27FC236}">
                <a16:creationId xmlns:a16="http://schemas.microsoft.com/office/drawing/2014/main" id="{FCFAA7DB-B731-47F1-86F6-7CEE53BAA256}"/>
              </a:ext>
            </a:extLst>
          </p:cNvPr>
          <p:cNvSpPr/>
          <p:nvPr/>
        </p:nvSpPr>
        <p:spPr>
          <a:xfrm>
            <a:off x="1104900" y="1400760"/>
            <a:ext cx="3289547" cy="5355312"/>
          </a:xfrm>
          <a:prstGeom prst="rect">
            <a:avLst/>
          </a:prstGeom>
        </p:spPr>
        <p:txBody>
          <a:bodyPr wrap="square">
            <a:spAutoFit/>
          </a:bodyPr>
          <a:lstStyle/>
          <a:p>
            <a:pPr>
              <a:lnSpc>
                <a:spcPct val="150000"/>
              </a:lnSpc>
            </a:pPr>
            <a:r>
              <a:rPr lang="en-US" altLang="zh-CN" dirty="0">
                <a:latin typeface="Times New Roman" panose="02020603050405020304" pitchFamily="18" charset="0"/>
                <a:cs typeface="Times New Roman" panose="02020603050405020304" pitchFamily="18" charset="0"/>
              </a:rPr>
              <a:t>#include&lt;bits/stdc++.h&gt;</a:t>
            </a:r>
          </a:p>
          <a:p>
            <a:pPr>
              <a:lnSpc>
                <a:spcPct val="150000"/>
              </a:lnSpc>
            </a:pPr>
            <a:r>
              <a:rPr lang="en-US" altLang="zh-CN" dirty="0">
                <a:latin typeface="Times New Roman" panose="02020603050405020304" pitchFamily="18" charset="0"/>
                <a:cs typeface="Times New Roman" panose="02020603050405020304" pitchFamily="18" charset="0"/>
              </a:rPr>
              <a:t>using namespace std;</a:t>
            </a:r>
          </a:p>
          <a:p>
            <a:pPr>
              <a:lnSpc>
                <a:spcPct val="150000"/>
              </a:lnSpc>
            </a:pPr>
            <a:r>
              <a:rPr lang="en-US" altLang="zh-CN" dirty="0">
                <a:latin typeface="Times New Roman" panose="02020603050405020304" pitchFamily="18" charset="0"/>
                <a:cs typeface="Times New Roman" panose="02020603050405020304" pitchFamily="18" charset="0"/>
              </a:rPr>
              <a:t>#define </a:t>
            </a:r>
            <a:r>
              <a:rPr lang="en-US" altLang="zh-CN" dirty="0" err="1">
                <a:latin typeface="Times New Roman" panose="02020603050405020304" pitchFamily="18" charset="0"/>
                <a:cs typeface="Times New Roman" panose="02020603050405020304" pitchFamily="18" charset="0"/>
              </a:rPr>
              <a:t>maxn</a:t>
            </a:r>
            <a:r>
              <a:rPr lang="en-US" altLang="zh-CN" dirty="0">
                <a:latin typeface="Times New Roman" panose="02020603050405020304" pitchFamily="18" charset="0"/>
                <a:cs typeface="Times New Roman" panose="02020603050405020304" pitchFamily="18" charset="0"/>
              </a:rPr>
              <a:t> 20</a:t>
            </a:r>
          </a:p>
          <a:p>
            <a:pPr>
              <a:lnSpc>
                <a:spcPct val="150000"/>
              </a:lnSpc>
            </a:pPr>
            <a:r>
              <a:rPr lang="en-US" altLang="zh-CN" dirty="0">
                <a:latin typeface="Times New Roman" panose="02020603050405020304" pitchFamily="18" charset="0"/>
                <a:cs typeface="Times New Roman" panose="02020603050405020304" pitchFamily="18" charset="0"/>
              </a:rPr>
              <a:t>char c[256];</a:t>
            </a:r>
          </a:p>
          <a:p>
            <a:pPr>
              <a:lnSpc>
                <a:spcPct val="150000"/>
              </a:lnSpc>
            </a:pPr>
            <a:r>
              <a:rPr lang="en-US" altLang="zh-CN" dirty="0">
                <a:latin typeface="Times New Roman" panose="02020603050405020304" pitchFamily="18" charset="0"/>
                <a:cs typeface="Times New Roman" panose="02020603050405020304" pitchFamily="18" charset="0"/>
              </a:rPr>
              <a:t>bool judge(char a[ ]);</a:t>
            </a:r>
          </a:p>
          <a:p>
            <a:pPr>
              <a:lnSpc>
                <a:spcPct val="150000"/>
              </a:lnSpc>
            </a:pPr>
            <a:r>
              <a:rPr lang="en-US" altLang="zh-CN" dirty="0">
                <a:latin typeface="Times New Roman" panose="02020603050405020304" pitchFamily="18" charset="0"/>
                <a:cs typeface="Times New Roman" panose="02020603050405020304" pitchFamily="18" charset="0"/>
              </a:rPr>
              <a:t>int main()</a:t>
            </a:r>
          </a:p>
          <a:p>
            <a:pPr>
              <a:lnSpc>
                <a:spcPct val="150000"/>
              </a:lnSpc>
            </a:pPr>
            <a:r>
              <a:rPr lang="en-US" altLang="zh-CN" dirty="0">
                <a:latin typeface="Times New Roman" panose="02020603050405020304" pitchFamily="18" charset="0"/>
                <a:cs typeface="Times New Roman" panose="02020603050405020304" pitchFamily="18" charset="0"/>
              </a:rPr>
              <a:t>{    </a:t>
            </a:r>
          </a:p>
          <a:p>
            <a:pPr>
              <a:lnSpc>
                <a:spcPct val="150000"/>
              </a:lnSpc>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scanf</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s",c</a:t>
            </a:r>
            <a:r>
              <a:rPr lang="en-US" altLang="zh-CN" dirty="0">
                <a:latin typeface="Times New Roman" panose="02020603050405020304" pitchFamily="18" charset="0"/>
                <a:cs typeface="Times New Roman" panose="02020603050405020304" pitchFamily="18" charset="0"/>
              </a:rPr>
              <a:t>);   </a:t>
            </a:r>
          </a:p>
          <a:p>
            <a:pPr>
              <a:lnSpc>
                <a:spcPct val="150000"/>
              </a:lnSpc>
            </a:pPr>
            <a:r>
              <a:rPr lang="en-US" altLang="zh-CN" dirty="0">
                <a:latin typeface="Times New Roman" panose="02020603050405020304" pitchFamily="18" charset="0"/>
                <a:cs typeface="Times New Roman" panose="02020603050405020304" pitchFamily="18" charset="0"/>
              </a:rPr>
              <a:t>  if (judge(c)) </a:t>
            </a:r>
            <a:r>
              <a:rPr lang="en-US" altLang="zh-CN" dirty="0" err="1">
                <a:latin typeface="Times New Roman" panose="02020603050405020304" pitchFamily="18" charset="0"/>
                <a:cs typeface="Times New Roman" panose="02020603050405020304" pitchFamily="18" charset="0"/>
              </a:rPr>
              <a:t>printf</a:t>
            </a:r>
            <a:r>
              <a:rPr lang="en-US" altLang="zh-CN" dirty="0">
                <a:latin typeface="Times New Roman" panose="02020603050405020304" pitchFamily="18" charset="0"/>
                <a:cs typeface="Times New Roman" panose="02020603050405020304" pitchFamily="18" charset="0"/>
              </a:rPr>
              <a:t>("YES");</a:t>
            </a:r>
          </a:p>
          <a:p>
            <a:pPr>
              <a:lnSpc>
                <a:spcPct val="150000"/>
              </a:lnSpc>
            </a:pPr>
            <a:r>
              <a:rPr lang="en-US" altLang="zh-CN" dirty="0">
                <a:latin typeface="Times New Roman" panose="02020603050405020304" pitchFamily="18" charset="0"/>
                <a:cs typeface="Times New Roman" panose="02020603050405020304" pitchFamily="18" charset="0"/>
              </a:rPr>
              <a:t>  else </a:t>
            </a:r>
            <a:r>
              <a:rPr lang="en-US" altLang="zh-CN" dirty="0" err="1">
                <a:latin typeface="Times New Roman" panose="02020603050405020304" pitchFamily="18" charset="0"/>
                <a:cs typeface="Times New Roman" panose="02020603050405020304" pitchFamily="18" charset="0"/>
              </a:rPr>
              <a:t>printf</a:t>
            </a:r>
            <a:r>
              <a:rPr lang="en-US" altLang="zh-CN" dirty="0">
                <a:latin typeface="Times New Roman" panose="02020603050405020304" pitchFamily="18" charset="0"/>
                <a:cs typeface="Times New Roman" panose="02020603050405020304" pitchFamily="18" charset="0"/>
              </a:rPr>
              <a:t>("NO");</a:t>
            </a:r>
          </a:p>
          <a:p>
            <a:pPr>
              <a:lnSpc>
                <a:spcPct val="150000"/>
              </a:lnSpc>
            </a:pPr>
            <a:r>
              <a:rPr lang="en-US" altLang="zh-CN" dirty="0">
                <a:latin typeface="Times New Roman" panose="02020603050405020304" pitchFamily="18" charset="0"/>
                <a:cs typeface="Times New Roman" panose="02020603050405020304" pitchFamily="18" charset="0"/>
              </a:rPr>
              <a:t>  return 0;</a:t>
            </a:r>
          </a:p>
          <a:p>
            <a:pPr>
              <a:lnSpc>
                <a:spcPct val="150000"/>
              </a:lnSpc>
            </a:pPr>
            <a:r>
              <a:rPr lang="en-US" altLang="zh-CN" dirty="0">
                <a:latin typeface="Times New Roman" panose="02020603050405020304" pitchFamily="18" charset="0"/>
                <a:cs typeface="Times New Roman" panose="02020603050405020304" pitchFamily="18" charset="0"/>
              </a:rPr>
              <a:t>}</a:t>
            </a:r>
          </a:p>
          <a:p>
            <a:endParaRPr lang="en-US" altLang="zh-CN" dirty="0">
              <a:latin typeface="Times New Roman" panose="02020603050405020304" pitchFamily="18" charset="0"/>
              <a:cs typeface="Times New Roman" panose="02020603050405020304" pitchFamily="18" charset="0"/>
            </a:endParaRPr>
          </a:p>
        </p:txBody>
      </p:sp>
      <p:cxnSp>
        <p:nvCxnSpPr>
          <p:cNvPr id="6" name="直接连接符 5">
            <a:extLst>
              <a:ext uri="{FF2B5EF4-FFF2-40B4-BE49-F238E27FC236}">
                <a16:creationId xmlns:a16="http://schemas.microsoft.com/office/drawing/2014/main" id="{08D93190-405E-4C94-A14C-4150F93B1E77}"/>
              </a:ext>
            </a:extLst>
          </p:cNvPr>
          <p:cNvCxnSpPr>
            <a:cxnSpLocks/>
          </p:cNvCxnSpPr>
          <p:nvPr/>
        </p:nvCxnSpPr>
        <p:spPr>
          <a:xfrm>
            <a:off x="5084271" y="1578313"/>
            <a:ext cx="0" cy="4574320"/>
          </a:xfrm>
          <a:prstGeom prst="line">
            <a:avLst/>
          </a:prstGeom>
          <a:ln w="1905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07C23279-1672-404F-9AF3-577B2B5AA6D5}"/>
              </a:ext>
            </a:extLst>
          </p:cNvPr>
          <p:cNvSpPr/>
          <p:nvPr/>
        </p:nvSpPr>
        <p:spPr>
          <a:xfrm>
            <a:off x="6096000" y="1464816"/>
            <a:ext cx="6096000" cy="4801314"/>
          </a:xfrm>
          <a:prstGeom prst="rect">
            <a:avLst/>
          </a:prstGeom>
        </p:spPr>
        <p:txBody>
          <a:bodyPr>
            <a:spAutoFit/>
          </a:bodyPr>
          <a:lstStyle/>
          <a:p>
            <a:r>
              <a:rPr lang="en-US" altLang="zh-CN" dirty="0">
                <a:latin typeface="Times New Roman" panose="02020603050405020304" pitchFamily="18" charset="0"/>
                <a:cs typeface="Times New Roman" panose="02020603050405020304" pitchFamily="18" charset="0"/>
              </a:rPr>
              <a:t>bool judge(char c[ ])</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int top=0,i=0;</a:t>
            </a:r>
          </a:p>
          <a:p>
            <a:r>
              <a:rPr lang="en-US" altLang="zh-CN" dirty="0">
                <a:latin typeface="Times New Roman" panose="02020603050405020304" pitchFamily="18" charset="0"/>
                <a:cs typeface="Times New Roman" panose="02020603050405020304" pitchFamily="18" charset="0"/>
              </a:rPr>
              <a:t>    while (c[</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if (c[</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top++;</a:t>
            </a:r>
          </a:p>
          <a:p>
            <a:r>
              <a:rPr lang="en-US" altLang="zh-CN" dirty="0">
                <a:latin typeface="Times New Roman" panose="02020603050405020304" pitchFamily="18" charset="0"/>
                <a:cs typeface="Times New Roman" panose="02020603050405020304" pitchFamily="18" charset="0"/>
              </a:rPr>
              <a:t>        if (c[</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if (top&gt;0) top--;</a:t>
            </a:r>
          </a:p>
          <a:p>
            <a:r>
              <a:rPr lang="en-US" altLang="zh-CN" dirty="0">
                <a:latin typeface="Times New Roman" panose="02020603050405020304" pitchFamily="18" charset="0"/>
                <a:cs typeface="Times New Roman" panose="02020603050405020304" pitchFamily="18" charset="0"/>
              </a:rPr>
              <a:t>           else return 0;</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if (top!=0) return 0;          //</a:t>
            </a:r>
            <a:r>
              <a:rPr lang="zh-CN" altLang="en-US" dirty="0">
                <a:latin typeface="Times New Roman" panose="02020603050405020304" pitchFamily="18" charset="0"/>
                <a:cs typeface="Times New Roman" panose="02020603050405020304" pitchFamily="18" charset="0"/>
              </a:rPr>
              <a:t>检测栈是否为空。不空则说明有未匹配的括号</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else return 1;</a:t>
            </a:r>
          </a:p>
          <a:p>
            <a:r>
              <a:rPr lang="en-US" altLang="zh-C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13960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zh-CN" altLang="en-US" dirty="0"/>
              <a:t>栈</a:t>
            </a:r>
          </a:p>
        </p:txBody>
      </p:sp>
      <p:sp>
        <p:nvSpPr>
          <p:cNvPr id="5" name="矩形 4">
            <a:extLst>
              <a:ext uri="{FF2B5EF4-FFF2-40B4-BE49-F238E27FC236}">
                <a16:creationId xmlns:a16="http://schemas.microsoft.com/office/drawing/2014/main" id="{28F18623-A851-4927-A4A7-1E6748542230}"/>
              </a:ext>
            </a:extLst>
          </p:cNvPr>
          <p:cNvSpPr/>
          <p:nvPr/>
        </p:nvSpPr>
        <p:spPr>
          <a:xfrm>
            <a:off x="1031303" y="1346879"/>
            <a:ext cx="7321118" cy="707886"/>
          </a:xfrm>
          <a:prstGeom prst="rect">
            <a:avLst/>
          </a:prstGeom>
        </p:spPr>
        <p:txBody>
          <a:bodyPr wrap="square">
            <a:spAutoFit/>
          </a:bodyPr>
          <a:lstStyle/>
          <a:p>
            <a:r>
              <a:rPr lang="zh-CN" altLang="en-US" sz="2000" b="1" dirty="0">
                <a:solidFill>
                  <a:schemeClr val="accent2"/>
                </a:solidFill>
                <a:latin typeface="微软雅黑" panose="020B0503020204020204" pitchFamily="34" charset="-122"/>
                <a:ea typeface="微软雅黑" panose="020B0503020204020204" pitchFamily="34" charset="-122"/>
              </a:rPr>
              <a:t>例</a:t>
            </a:r>
            <a:r>
              <a:rPr lang="en-US" altLang="zh-CN" sz="2000" b="1" dirty="0">
                <a:solidFill>
                  <a:schemeClr val="accent2"/>
                </a:solidFill>
                <a:latin typeface="微软雅黑" panose="020B0503020204020204" pitchFamily="34" charset="-122"/>
                <a:ea typeface="微软雅黑" panose="020B0503020204020204" pitchFamily="34" charset="-122"/>
              </a:rPr>
              <a:t>3</a:t>
            </a:r>
            <a:r>
              <a:rPr lang="zh-CN" altLang="en-US" sz="2000" b="1" dirty="0">
                <a:solidFill>
                  <a:schemeClr val="accent2"/>
                </a:solidFill>
                <a:latin typeface="微软雅黑" panose="020B0503020204020204" pitchFamily="34" charset="-122"/>
                <a:ea typeface="微软雅黑" panose="020B0503020204020204" pitchFamily="34" charset="-122"/>
              </a:rPr>
              <a:t>：编程求一个后缀表达式的值</a:t>
            </a:r>
          </a:p>
          <a:p>
            <a:endParaRPr lang="zh-CN" altLang="en-US" sz="2000" b="1" dirty="0">
              <a:solidFill>
                <a:schemeClr val="accent2"/>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87CF57E6-1519-47A8-ABF2-E94A9D7926A6}"/>
              </a:ext>
            </a:extLst>
          </p:cNvPr>
          <p:cNvSpPr/>
          <p:nvPr/>
        </p:nvSpPr>
        <p:spPr>
          <a:xfrm>
            <a:off x="863522" y="1644297"/>
            <a:ext cx="10185029" cy="2224776"/>
          </a:xfrm>
          <a:prstGeom prst="rect">
            <a:avLst/>
          </a:prstGeom>
        </p:spPr>
        <p:txBody>
          <a:bodyPr wrap="square">
            <a:spAutoFit/>
          </a:bodyPr>
          <a:lstStyle/>
          <a:p>
            <a:pPr>
              <a:lnSpc>
                <a:spcPct val="200000"/>
              </a:lnSpc>
            </a:pPr>
            <a:r>
              <a:rPr lang="zh-CN" altLang="en-US" dirty="0"/>
              <a:t> </a:t>
            </a:r>
            <a:r>
              <a:rPr kumimoji="1" lang="en-US" altLang="zh-CN" dirty="0">
                <a:latin typeface="微软雅黑" panose="020B0503020204020204" pitchFamily="34" charset="-122"/>
                <a:ea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rPr>
              <a:t>问题描述</a:t>
            </a:r>
            <a:r>
              <a:rPr kumimoji="1" lang="en-US" altLang="zh-CN" dirty="0">
                <a:latin typeface="微软雅黑" panose="020B0503020204020204" pitchFamily="34" charset="-122"/>
                <a:ea typeface="微软雅黑" panose="020B0503020204020204" pitchFamily="34" charset="-122"/>
              </a:rPr>
              <a:t>】</a:t>
            </a:r>
          </a:p>
          <a:p>
            <a:pPr>
              <a:lnSpc>
                <a:spcPct val="200000"/>
              </a:lnSpc>
            </a:pPr>
            <a:r>
              <a:rPr kumimoji="1" lang="en-US" altLang="zh-CN" dirty="0">
                <a:latin typeface="微软雅黑" panose="020B0503020204020204" pitchFamily="34" charset="-122"/>
                <a:ea typeface="微软雅黑" panose="020B0503020204020204" pitchFamily="34" charset="-122"/>
              </a:rPr>
              <a:t>       </a:t>
            </a:r>
            <a:r>
              <a:rPr kumimoji="1" lang="zh-CN" altLang="en-US" dirty="0">
                <a:latin typeface="微软雅黑" panose="020B0503020204020204" pitchFamily="34" charset="-122"/>
                <a:ea typeface="微软雅黑" panose="020B0503020204020204" pitchFamily="34" charset="-122"/>
              </a:rPr>
              <a:t>从键盘读入一个后缀表达式（字符串），只含有</a:t>
            </a:r>
            <a:r>
              <a:rPr kumimoji="1" lang="en-US" altLang="zh-CN" dirty="0">
                <a:latin typeface="微软雅黑" panose="020B0503020204020204" pitchFamily="34" charset="-122"/>
                <a:ea typeface="微软雅黑" panose="020B0503020204020204" pitchFamily="34" charset="-122"/>
              </a:rPr>
              <a:t>0-9</a:t>
            </a:r>
            <a:r>
              <a:rPr kumimoji="1" lang="zh-CN" altLang="en-US" dirty="0">
                <a:latin typeface="微软雅黑" panose="020B0503020204020204" pitchFamily="34" charset="-122"/>
                <a:ea typeface="微软雅黑" panose="020B0503020204020204" pitchFamily="34" charset="-122"/>
              </a:rPr>
              <a:t>组成的运算数及加（</a:t>
            </a:r>
            <a:r>
              <a:rPr kumimoji="1" lang="en-US" altLang="zh-CN" dirty="0">
                <a:latin typeface="微软雅黑" panose="020B0503020204020204" pitchFamily="34" charset="-122"/>
                <a:ea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rPr>
              <a:t>）、减（</a:t>
            </a:r>
            <a:r>
              <a:rPr kumimoji="1" lang="en-US" altLang="zh-CN" dirty="0">
                <a:latin typeface="微软雅黑" panose="020B0503020204020204" pitchFamily="34" charset="-122"/>
                <a:ea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rPr>
              <a:t>）、乘（*）、除（</a:t>
            </a:r>
            <a:r>
              <a:rPr kumimoji="1" lang="en-US" altLang="zh-CN" dirty="0">
                <a:latin typeface="微软雅黑" panose="020B0503020204020204" pitchFamily="34" charset="-122"/>
                <a:ea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rPr>
              <a:t>）四种运算符。每个运算数之间用一个空格隔开，不需要判断给你的表达式是否合法。以</a:t>
            </a:r>
            <a:r>
              <a:rPr kumimoji="1" lang="en-US" altLang="zh-CN" dirty="0">
                <a:latin typeface="微软雅黑" panose="020B0503020204020204" pitchFamily="34" charset="-122"/>
                <a:ea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rPr>
              <a:t>作为结束标志。</a:t>
            </a:r>
          </a:p>
        </p:txBody>
      </p:sp>
      <p:sp>
        <p:nvSpPr>
          <p:cNvPr id="6" name="矩形 5">
            <a:extLst>
              <a:ext uri="{FF2B5EF4-FFF2-40B4-BE49-F238E27FC236}">
                <a16:creationId xmlns:a16="http://schemas.microsoft.com/office/drawing/2014/main" id="{73177FDB-2796-4A8B-989D-B0A12B2C692A}"/>
              </a:ext>
            </a:extLst>
          </p:cNvPr>
          <p:cNvSpPr/>
          <p:nvPr/>
        </p:nvSpPr>
        <p:spPr>
          <a:xfrm>
            <a:off x="863522" y="4101315"/>
            <a:ext cx="10185029" cy="2224776"/>
          </a:xfrm>
          <a:prstGeom prst="rect">
            <a:avLst/>
          </a:prstGeom>
        </p:spPr>
        <p:txBody>
          <a:bodyPr wrap="square">
            <a:spAutoFit/>
          </a:bodyPr>
          <a:lstStyle/>
          <a:p>
            <a:pPr lvl="0">
              <a:lnSpc>
                <a:spcPct val="200000"/>
              </a:lnSpc>
            </a:pPr>
            <a:r>
              <a:rPr kumimoji="1" lang="en-US" altLang="zh-CN" dirty="0">
                <a:latin typeface="微软雅黑" panose="020B0503020204020204" pitchFamily="34" charset="-122"/>
                <a:ea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rPr>
              <a:t>算法分析</a:t>
            </a:r>
            <a:r>
              <a:rPr kumimoji="1" lang="en-US" altLang="zh-CN" dirty="0">
                <a:latin typeface="微软雅黑" panose="020B0503020204020204" pitchFamily="34" charset="-122"/>
                <a:ea typeface="微软雅黑" panose="020B0503020204020204" pitchFamily="34" charset="-122"/>
              </a:rPr>
              <a:t>】</a:t>
            </a:r>
          </a:p>
          <a:p>
            <a:pPr lvl="0">
              <a:lnSpc>
                <a:spcPct val="200000"/>
              </a:lnSpc>
            </a:pPr>
            <a:r>
              <a:rPr kumimoji="1" lang="en-US" altLang="zh-CN" dirty="0">
                <a:latin typeface="微软雅黑" panose="020B0503020204020204" pitchFamily="34" charset="-122"/>
                <a:ea typeface="微软雅黑" panose="020B0503020204020204" pitchFamily="34" charset="-122"/>
              </a:rPr>
              <a:t>       </a:t>
            </a:r>
            <a:r>
              <a:rPr kumimoji="1" lang="zh-CN" altLang="en-US" dirty="0">
                <a:latin typeface="微软雅黑" panose="020B0503020204020204" pitchFamily="34" charset="-122"/>
                <a:ea typeface="微软雅黑" panose="020B0503020204020204" pitchFamily="34" charset="-122"/>
              </a:rPr>
              <a:t>后缀表达式的处理过程很简单，过程如下：扫描后缀表达式，凡遇操作数则将之压进堆栈，遇运算符则从堆栈中弹出两个操作数进行该运算，将运算结果压栈，然后继续扫描，直到后缀表达式被扫描完毕为止，此时栈底元素即为该后缀表达式的值。</a:t>
            </a:r>
          </a:p>
        </p:txBody>
      </p:sp>
    </p:spTree>
    <p:extLst>
      <p:ext uri="{BB962C8B-B14F-4D97-AF65-F5344CB8AC3E}">
        <p14:creationId xmlns:p14="http://schemas.microsoft.com/office/powerpoint/2010/main" val="1285910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zh-CN" altLang="en-US" dirty="0"/>
              <a:t>栈</a:t>
            </a:r>
          </a:p>
        </p:txBody>
      </p:sp>
      <p:sp>
        <p:nvSpPr>
          <p:cNvPr id="5" name="矩形 4">
            <a:extLst>
              <a:ext uri="{FF2B5EF4-FFF2-40B4-BE49-F238E27FC236}">
                <a16:creationId xmlns:a16="http://schemas.microsoft.com/office/drawing/2014/main" id="{28F18623-A851-4927-A4A7-1E6748542230}"/>
              </a:ext>
            </a:extLst>
          </p:cNvPr>
          <p:cNvSpPr/>
          <p:nvPr/>
        </p:nvSpPr>
        <p:spPr>
          <a:xfrm>
            <a:off x="1032769" y="1399737"/>
            <a:ext cx="7321118" cy="707886"/>
          </a:xfrm>
          <a:prstGeom prst="rect">
            <a:avLst/>
          </a:prstGeom>
        </p:spPr>
        <p:txBody>
          <a:bodyPr wrap="square">
            <a:spAutoFit/>
          </a:bodyPr>
          <a:lstStyle/>
          <a:p>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问题分析</a:t>
            </a:r>
            <a:r>
              <a:rPr lang="en-US" altLang="zh-CN" sz="2000" b="1" dirty="0">
                <a:solidFill>
                  <a:schemeClr val="accent2"/>
                </a:solidFill>
                <a:latin typeface="微软雅黑" panose="020B0503020204020204" pitchFamily="34" charset="-122"/>
                <a:ea typeface="微软雅黑" panose="020B0503020204020204" pitchFamily="34" charset="-122"/>
              </a:rPr>
              <a:t>]</a:t>
            </a:r>
            <a:endParaRPr lang="zh-CN" altLang="en-US" sz="2000" b="1" dirty="0">
              <a:solidFill>
                <a:schemeClr val="accent2"/>
              </a:solidFill>
              <a:latin typeface="微软雅黑" panose="020B0503020204020204" pitchFamily="34" charset="-122"/>
              <a:ea typeface="微软雅黑" panose="020B0503020204020204" pitchFamily="34" charset="-122"/>
            </a:endParaRPr>
          </a:p>
          <a:p>
            <a:endParaRPr lang="zh-CN" altLang="en-US" sz="2000" b="1" dirty="0">
              <a:solidFill>
                <a:schemeClr val="accent2"/>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87CF57E6-1519-47A8-ABF2-E94A9D7926A6}"/>
              </a:ext>
            </a:extLst>
          </p:cNvPr>
          <p:cNvSpPr/>
          <p:nvPr/>
        </p:nvSpPr>
        <p:spPr>
          <a:xfrm>
            <a:off x="1032769" y="1828414"/>
            <a:ext cx="10185029" cy="562783"/>
          </a:xfrm>
          <a:prstGeom prst="rect">
            <a:avLst/>
          </a:prstGeom>
        </p:spPr>
        <p:txBody>
          <a:bodyPr wrap="square">
            <a:spAutoFit/>
          </a:bodyPr>
          <a:lstStyle/>
          <a:p>
            <a:pPr>
              <a:lnSpc>
                <a:spcPct val="200000"/>
              </a:lnSpc>
            </a:pPr>
            <a:r>
              <a:rPr kumimoji="1" lang="zh-CN" altLang="en-US" dirty="0">
                <a:latin typeface="微软雅黑" panose="020B0503020204020204" pitchFamily="34" charset="-122"/>
                <a:ea typeface="微软雅黑" panose="020B0503020204020204" pitchFamily="34" charset="-122"/>
              </a:rPr>
              <a:t>比如，</a:t>
            </a:r>
            <a:r>
              <a:rPr kumimoji="1" lang="en-US" altLang="zh-CN" dirty="0">
                <a:latin typeface="微软雅黑" panose="020B0503020204020204" pitchFamily="34" charset="-122"/>
                <a:ea typeface="微软雅黑" panose="020B0503020204020204" pitchFamily="34" charset="-122"/>
              </a:rPr>
              <a:t>16–9*(4+3)</a:t>
            </a:r>
            <a:r>
              <a:rPr kumimoji="1" lang="zh-CN" altLang="en-US" dirty="0">
                <a:latin typeface="微软雅黑" panose="020B0503020204020204" pitchFamily="34" charset="-122"/>
                <a:ea typeface="微软雅黑" panose="020B0503020204020204" pitchFamily="34" charset="-122"/>
              </a:rPr>
              <a:t>转换成后缀表达式为：</a:t>
            </a:r>
            <a:r>
              <a:rPr kumimoji="1" lang="en-US" altLang="zh-CN" dirty="0">
                <a:latin typeface="微软雅黑" panose="020B0503020204020204" pitchFamily="34" charset="-122"/>
                <a:ea typeface="微软雅黑" panose="020B0503020204020204" pitchFamily="34" charset="-122"/>
              </a:rPr>
              <a:t>16□9□4□3□+*–</a:t>
            </a:r>
            <a:r>
              <a:rPr kumimoji="1" lang="zh-CN" altLang="en-US" dirty="0">
                <a:latin typeface="微软雅黑" panose="020B0503020204020204" pitchFamily="34" charset="-122"/>
                <a:ea typeface="微软雅黑" panose="020B0503020204020204" pitchFamily="34" charset="-122"/>
              </a:rPr>
              <a:t>，在字符数组</a:t>
            </a:r>
            <a:r>
              <a:rPr kumimoji="1" lang="en-US" altLang="zh-CN" dirty="0">
                <a:latin typeface="微软雅黑" panose="020B0503020204020204" pitchFamily="34" charset="-122"/>
                <a:ea typeface="微软雅黑" panose="020B0503020204020204" pitchFamily="34" charset="-122"/>
              </a:rPr>
              <a:t>A</a:t>
            </a:r>
            <a:r>
              <a:rPr kumimoji="1" lang="zh-CN" altLang="en-US" dirty="0">
                <a:latin typeface="微软雅黑" panose="020B0503020204020204" pitchFamily="34" charset="-122"/>
                <a:ea typeface="微软雅黑" panose="020B0503020204020204" pitchFamily="34" charset="-122"/>
              </a:rPr>
              <a:t>中的形式为：</a:t>
            </a:r>
          </a:p>
        </p:txBody>
      </p:sp>
      <p:sp>
        <p:nvSpPr>
          <p:cNvPr id="16" name="Text Box 5">
            <a:extLst>
              <a:ext uri="{FF2B5EF4-FFF2-40B4-BE49-F238E27FC236}">
                <a16:creationId xmlns:a16="http://schemas.microsoft.com/office/drawing/2014/main" id="{5067D2BA-826D-4508-B6E8-B67D4988A9BB}"/>
              </a:ext>
            </a:extLst>
          </p:cNvPr>
          <p:cNvSpPr txBox="1">
            <a:spLocks noChangeArrowheads="1"/>
          </p:cNvSpPr>
          <p:nvPr/>
        </p:nvSpPr>
        <p:spPr bwMode="auto">
          <a:xfrm>
            <a:off x="970625" y="3429000"/>
            <a:ext cx="3505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dirty="0">
                <a:latin typeface="微软雅黑" panose="020B0503020204020204" pitchFamily="34" charset="-122"/>
                <a:ea typeface="微软雅黑" panose="020B0503020204020204" pitchFamily="34" charset="-122"/>
              </a:rPr>
              <a:t>栈中的变化情况：</a:t>
            </a:r>
          </a:p>
        </p:txBody>
      </p:sp>
      <p:pic>
        <p:nvPicPr>
          <p:cNvPr id="17" name="Picture 6">
            <a:extLst>
              <a:ext uri="{FF2B5EF4-FFF2-40B4-BE49-F238E27FC236}">
                <a16:creationId xmlns:a16="http://schemas.microsoft.com/office/drawing/2014/main" id="{DC12C1F9-10D1-40FD-BDE0-FA03A5E1C73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2769" y="4003649"/>
            <a:ext cx="643270" cy="92630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8" name="Picture 7">
            <a:extLst>
              <a:ext uri="{FF2B5EF4-FFF2-40B4-BE49-F238E27FC236}">
                <a16:creationId xmlns:a16="http://schemas.microsoft.com/office/drawing/2014/main" id="{6BFCEC0C-4AAB-4DE1-AADC-590FFDB13AD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9569" y="4003649"/>
            <a:ext cx="669001" cy="92630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 name="Picture 8">
            <a:extLst>
              <a:ext uri="{FF2B5EF4-FFF2-40B4-BE49-F238E27FC236}">
                <a16:creationId xmlns:a16="http://schemas.microsoft.com/office/drawing/2014/main" id="{219AD479-8F10-4B47-9113-498F5AF1A8C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66369" y="4003649"/>
            <a:ext cx="600815" cy="92630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 name="Picture 9">
            <a:extLst>
              <a:ext uri="{FF2B5EF4-FFF2-40B4-BE49-F238E27FC236}">
                <a16:creationId xmlns:a16="http://schemas.microsoft.com/office/drawing/2014/main" id="{BE907BBE-44CA-45C9-A730-CC5FB63EC22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09369" y="4003649"/>
            <a:ext cx="623972" cy="92630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1" name="Picture 10">
            <a:extLst>
              <a:ext uri="{FF2B5EF4-FFF2-40B4-BE49-F238E27FC236}">
                <a16:creationId xmlns:a16="http://schemas.microsoft.com/office/drawing/2014/main" id="{5F321715-4FB8-4F36-85AF-6786819D752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46019" y="4003649"/>
            <a:ext cx="798942" cy="92630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2" name="Picture 11">
            <a:extLst>
              <a:ext uri="{FF2B5EF4-FFF2-40B4-BE49-F238E27FC236}">
                <a16:creationId xmlns:a16="http://schemas.microsoft.com/office/drawing/2014/main" id="{DBC6B465-960E-4FE2-8E1D-D8D35A98952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25545" y="4003649"/>
            <a:ext cx="666428" cy="92630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3" name="Picture 12">
            <a:extLst>
              <a:ext uri="{FF2B5EF4-FFF2-40B4-BE49-F238E27FC236}">
                <a16:creationId xmlns:a16="http://schemas.microsoft.com/office/drawing/2014/main" id="{6CD6536F-5521-4C48-A88F-AA1B228BDB6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28869" y="4003649"/>
            <a:ext cx="729469" cy="89285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 name="Text Box 13">
            <a:extLst>
              <a:ext uri="{FF2B5EF4-FFF2-40B4-BE49-F238E27FC236}">
                <a16:creationId xmlns:a16="http://schemas.microsoft.com/office/drawing/2014/main" id="{F2F3B398-6A1C-4731-B766-CB43C9682484}"/>
              </a:ext>
            </a:extLst>
          </p:cNvPr>
          <p:cNvSpPr txBox="1">
            <a:spLocks noChangeArrowheads="1"/>
          </p:cNvSpPr>
          <p:nvPr/>
        </p:nvSpPr>
        <p:spPr bwMode="auto">
          <a:xfrm>
            <a:off x="970625" y="5273597"/>
            <a:ext cx="2514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dirty="0">
                <a:latin typeface="微软雅黑" panose="020B0503020204020204" pitchFamily="34" charset="-122"/>
                <a:ea typeface="微软雅黑" panose="020B0503020204020204" pitchFamily="34" charset="-122"/>
              </a:rPr>
              <a:t>运行结果：</a:t>
            </a:r>
            <a:r>
              <a:rPr kumimoji="1" lang="en-US" altLang="zh-CN" dirty="0">
                <a:latin typeface="微软雅黑" panose="020B0503020204020204" pitchFamily="34" charset="-122"/>
                <a:ea typeface="微软雅黑" panose="020B0503020204020204" pitchFamily="34" charset="-122"/>
              </a:rPr>
              <a:t>-47</a:t>
            </a:r>
          </a:p>
        </p:txBody>
      </p:sp>
    </p:spTree>
    <p:extLst>
      <p:ext uri="{BB962C8B-B14F-4D97-AF65-F5344CB8AC3E}">
        <p14:creationId xmlns:p14="http://schemas.microsoft.com/office/powerpoint/2010/main" val="81788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zh-CN" altLang="en-US" dirty="0"/>
              <a:t>栈</a:t>
            </a:r>
          </a:p>
        </p:txBody>
      </p:sp>
      <p:sp>
        <p:nvSpPr>
          <p:cNvPr id="6" name="矩形 5">
            <a:extLst>
              <a:ext uri="{FF2B5EF4-FFF2-40B4-BE49-F238E27FC236}">
                <a16:creationId xmlns:a16="http://schemas.microsoft.com/office/drawing/2014/main" id="{D84AF971-8EC1-4A53-B549-DD1B30B56C96}"/>
              </a:ext>
            </a:extLst>
          </p:cNvPr>
          <p:cNvSpPr/>
          <p:nvPr/>
        </p:nvSpPr>
        <p:spPr>
          <a:xfrm>
            <a:off x="1037788" y="1280075"/>
            <a:ext cx="9507173" cy="5632311"/>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#include&lt;bits/</a:t>
            </a:r>
            <a:r>
              <a:rPr lang="en-US" altLang="zh-CN" dirty="0" err="1">
                <a:latin typeface="Times New Roman" panose="02020603050405020304" pitchFamily="18" charset="0"/>
                <a:cs typeface="Times New Roman" panose="02020603050405020304" pitchFamily="18" charset="0"/>
              </a:rPr>
              <a:t>stdc</a:t>
            </a:r>
            <a:r>
              <a:rPr lang="en-US" altLang="zh-CN" dirty="0">
                <a:latin typeface="Times New Roman" panose="02020603050405020304" pitchFamily="18" charset="0"/>
                <a:cs typeface="Times New Roman" panose="02020603050405020304" pitchFamily="18" charset="0"/>
              </a:rPr>
              <a:t>++.h&gt;</a:t>
            </a:r>
          </a:p>
          <a:p>
            <a:r>
              <a:rPr lang="en-US" altLang="zh-CN" dirty="0">
                <a:latin typeface="Times New Roman" panose="02020603050405020304" pitchFamily="18" charset="0"/>
                <a:cs typeface="Times New Roman" panose="02020603050405020304" pitchFamily="18" charset="0"/>
              </a:rPr>
              <a:t>using namespace std;</a:t>
            </a:r>
          </a:p>
          <a:p>
            <a:r>
              <a:rPr lang="en-US" altLang="zh-CN" dirty="0">
                <a:latin typeface="Times New Roman" panose="02020603050405020304" pitchFamily="18" charset="0"/>
                <a:cs typeface="Times New Roman" panose="02020603050405020304" pitchFamily="18" charset="0"/>
              </a:rPr>
              <a:t>int a[101],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=0,top=0,x,y;</a:t>
            </a:r>
          </a:p>
          <a:p>
            <a:r>
              <a:rPr lang="en-US" altLang="zh-CN" dirty="0">
                <a:latin typeface="Times New Roman" panose="02020603050405020304" pitchFamily="18" charset="0"/>
                <a:cs typeface="Times New Roman" panose="02020603050405020304" pitchFamily="18" charset="0"/>
              </a:rPr>
              <a:t>char s[256];</a:t>
            </a:r>
          </a:p>
          <a:p>
            <a:r>
              <a:rPr lang="en-US" altLang="zh-CN" dirty="0">
                <a:latin typeface="Times New Roman" panose="02020603050405020304" pitchFamily="18" charset="0"/>
                <a:cs typeface="Times New Roman" panose="02020603050405020304" pitchFamily="18" charset="0"/>
              </a:rPr>
              <a:t>int main()</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while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&lt;=</a:t>
            </a:r>
            <a:r>
              <a:rPr lang="en-US" altLang="zh-CN" dirty="0" err="1">
                <a:latin typeface="Times New Roman" panose="02020603050405020304" pitchFamily="18" charset="0"/>
                <a:cs typeface="Times New Roman" panose="02020603050405020304" pitchFamily="18" charset="0"/>
              </a:rPr>
              <a:t>strlen</a:t>
            </a:r>
            <a:r>
              <a:rPr lang="en-US" altLang="zh-CN" dirty="0">
                <a:latin typeface="Times New Roman" panose="02020603050405020304" pitchFamily="18" charset="0"/>
                <a:cs typeface="Times New Roman" panose="02020603050405020304" pitchFamily="18" charset="0"/>
              </a:rPr>
              <a:t>(s)-2) </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switch (s[</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case '+':a[--top]+=a[top+1]; break;</a:t>
            </a:r>
          </a:p>
          <a:p>
            <a:r>
              <a:rPr lang="en-US" altLang="zh-CN" dirty="0">
                <a:latin typeface="Times New Roman" panose="02020603050405020304" pitchFamily="18" charset="0"/>
                <a:cs typeface="Times New Roman" panose="02020603050405020304" pitchFamily="18" charset="0"/>
              </a:rPr>
              <a:t>         case '-':a[--top]-=a[top+1]; break;</a:t>
            </a:r>
          </a:p>
          <a:p>
            <a:r>
              <a:rPr lang="en-US" altLang="zh-CN" dirty="0">
                <a:latin typeface="Times New Roman" panose="02020603050405020304" pitchFamily="18" charset="0"/>
                <a:cs typeface="Times New Roman" panose="02020603050405020304" pitchFamily="18" charset="0"/>
              </a:rPr>
              <a:t>         case '*':a[--top]*=a[top+1]; break;</a:t>
            </a:r>
          </a:p>
          <a:p>
            <a:r>
              <a:rPr lang="en-US" altLang="zh-CN" dirty="0">
                <a:latin typeface="Times New Roman" panose="02020603050405020304" pitchFamily="18" charset="0"/>
                <a:cs typeface="Times New Roman" panose="02020603050405020304" pitchFamily="18" charset="0"/>
              </a:rPr>
              <a:t>         case '/':a[--top]/=a[top+1]; break;</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default:x</a:t>
            </a:r>
            <a:r>
              <a:rPr lang="en-US" altLang="zh-CN" dirty="0">
                <a:latin typeface="Times New Roman" panose="02020603050405020304" pitchFamily="18" charset="0"/>
                <a:cs typeface="Times New Roman" panose="02020603050405020304" pitchFamily="18" charset="0"/>
              </a:rPr>
              <a:t>=0; while (s[</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 x=x*10+s[</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++]-'0'; a[++top]=x; break;</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                </a:t>
            </a:r>
          </a:p>
          <a:p>
            <a:r>
              <a:rPr lang="en-US" altLang="zh-CN" dirty="0" err="1">
                <a:latin typeface="Times New Roman" panose="02020603050405020304" pitchFamily="18" charset="0"/>
                <a:cs typeface="Times New Roman" panose="02020603050405020304" pitchFamily="18" charset="0"/>
              </a:rPr>
              <a:t>printf</a:t>
            </a:r>
            <a:r>
              <a:rPr lang="en-US" altLang="zh-CN" dirty="0">
                <a:latin typeface="Times New Roman" panose="02020603050405020304" pitchFamily="18" charset="0"/>
                <a:cs typeface="Times New Roman" panose="02020603050405020304" pitchFamily="18" charset="0"/>
              </a:rPr>
              <a:t>(“result=%</a:t>
            </a:r>
            <a:r>
              <a:rPr lang="en-US" altLang="zh-CN" dirty="0" err="1">
                <a:latin typeface="Times New Roman" panose="02020603050405020304" pitchFamily="18" charset="0"/>
                <a:cs typeface="Times New Roman" panose="02020603050405020304" pitchFamily="18" charset="0"/>
              </a:rPr>
              <a:t>d”,a</a:t>
            </a:r>
            <a:r>
              <a:rPr lang="en-US" altLang="zh-CN" dirty="0">
                <a:latin typeface="Times New Roman" panose="02020603050405020304" pitchFamily="18" charset="0"/>
                <a:cs typeface="Times New Roman" panose="02020603050405020304" pitchFamily="18" charset="0"/>
              </a:rPr>
              <a:t>[top]);</a:t>
            </a:r>
          </a:p>
          <a:p>
            <a:r>
              <a:rPr lang="en-US" altLang="zh-CN" dirty="0">
                <a:latin typeface="Times New Roman" panose="02020603050405020304" pitchFamily="18" charset="0"/>
                <a:cs typeface="Times New Roman" panose="02020603050405020304" pitchFamily="18" charset="0"/>
              </a:rPr>
              <a:t>return 0;</a:t>
            </a:r>
          </a:p>
          <a:p>
            <a:r>
              <a:rPr lang="en-US" altLang="zh-CN" dirty="0">
                <a:latin typeface="Times New Roman" panose="02020603050405020304" pitchFamily="18" charset="0"/>
                <a:cs typeface="Times New Roman" panose="02020603050405020304" pitchFamily="18" charset="0"/>
              </a:rPr>
              <a:t>}</a:t>
            </a:r>
          </a:p>
        </p:txBody>
      </p:sp>
      <p:sp>
        <p:nvSpPr>
          <p:cNvPr id="8" name="矩形 7">
            <a:extLst>
              <a:ext uri="{FF2B5EF4-FFF2-40B4-BE49-F238E27FC236}">
                <a16:creationId xmlns:a16="http://schemas.microsoft.com/office/drawing/2014/main" id="{63E31EA2-134B-40A5-8D1A-86F9F09C5E1D}"/>
              </a:ext>
            </a:extLst>
          </p:cNvPr>
          <p:cNvSpPr/>
          <p:nvPr/>
        </p:nvSpPr>
        <p:spPr>
          <a:xfrm>
            <a:off x="1161246" y="3091421"/>
            <a:ext cx="6096000" cy="369332"/>
          </a:xfrm>
          <a:prstGeom prst="rect">
            <a:avLst/>
          </a:prstGeom>
        </p:spPr>
        <p:txBody>
          <a:bodyPr>
            <a:spAutoFit/>
          </a:bodyPr>
          <a:lstStyle/>
          <a:p>
            <a:endParaRPr lang="en-US" altLang="zh-CN" b="1" dirty="0"/>
          </a:p>
        </p:txBody>
      </p:sp>
      <p:sp>
        <p:nvSpPr>
          <p:cNvPr id="9" name="矩形 8">
            <a:extLst>
              <a:ext uri="{FF2B5EF4-FFF2-40B4-BE49-F238E27FC236}">
                <a16:creationId xmlns:a16="http://schemas.microsoft.com/office/drawing/2014/main" id="{3951573E-5098-4F0F-B4F8-23D373C47D3F}"/>
              </a:ext>
            </a:extLst>
          </p:cNvPr>
          <p:cNvSpPr/>
          <p:nvPr/>
        </p:nvSpPr>
        <p:spPr>
          <a:xfrm>
            <a:off x="1037788" y="2873983"/>
            <a:ext cx="9289060" cy="369332"/>
          </a:xfrm>
          <a:prstGeom prst="rect">
            <a:avLst/>
          </a:prstGeom>
        </p:spPr>
        <p:txBody>
          <a:bodyPr wrap="square">
            <a:spAutoFit/>
          </a:bodyPr>
          <a:lstStyle/>
          <a:p>
            <a:endParaRPr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21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04A4E4C-F26A-4A35-88AF-956C21E7D748}"/>
              </a:ext>
            </a:extLst>
          </p:cNvPr>
          <p:cNvSpPr txBox="1">
            <a:spLocks noChangeArrowheads="1"/>
          </p:cNvSpPr>
          <p:nvPr/>
        </p:nvSpPr>
        <p:spPr>
          <a:xfrm>
            <a:off x="1088994" y="601525"/>
            <a:ext cx="8991600" cy="563563"/>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单调栈</a:t>
            </a:r>
            <a:endParaRPr lang="en-US" altLang="zh-CN" dirty="0"/>
          </a:p>
        </p:txBody>
      </p:sp>
      <p:sp>
        <p:nvSpPr>
          <p:cNvPr id="4" name="矩形 2">
            <a:extLst>
              <a:ext uri="{FF2B5EF4-FFF2-40B4-BE49-F238E27FC236}">
                <a16:creationId xmlns:a16="http://schemas.microsoft.com/office/drawing/2014/main" id="{DDEDC142-C849-4F32-99C1-520F97CD5D8C}"/>
              </a:ext>
            </a:extLst>
          </p:cNvPr>
          <p:cNvSpPr>
            <a:spLocks noChangeArrowheads="1"/>
          </p:cNvSpPr>
          <p:nvPr/>
        </p:nvSpPr>
        <p:spPr bwMode="auto">
          <a:xfrm>
            <a:off x="1088994" y="1237533"/>
            <a:ext cx="10815206" cy="13588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indent="647700">
              <a:defRPr kumimoji="1" sz="2000" b="1">
                <a:solidFill>
                  <a:srgbClr val="000066"/>
                </a:solidFill>
                <a:latin typeface="Times New Roman" panose="02020603050405020304" pitchFamily="18" charset="0"/>
                <a:ea typeface="宋体" panose="02010600030101010101" pitchFamily="2" charset="-122"/>
              </a:defRPr>
            </a:lvl1pPr>
            <a:lvl2pPr marL="742950" indent="-285750">
              <a:defRPr kumimoji="1" sz="2000" b="1">
                <a:solidFill>
                  <a:srgbClr val="000066"/>
                </a:solidFill>
                <a:latin typeface="Times New Roman" panose="02020603050405020304" pitchFamily="18" charset="0"/>
                <a:ea typeface="宋体" panose="02010600030101010101" pitchFamily="2" charset="-122"/>
              </a:defRPr>
            </a:lvl2pPr>
            <a:lvl3pPr marL="1143000" indent="-228600">
              <a:defRPr kumimoji="1" sz="2000" b="1">
                <a:solidFill>
                  <a:srgbClr val="000066"/>
                </a:solidFill>
                <a:latin typeface="Times New Roman" panose="02020603050405020304" pitchFamily="18" charset="0"/>
                <a:ea typeface="宋体" panose="02010600030101010101" pitchFamily="2" charset="-122"/>
              </a:defRPr>
            </a:lvl3pPr>
            <a:lvl4pPr marL="1600200" indent="-228600">
              <a:defRPr kumimoji="1" sz="2000" b="1">
                <a:solidFill>
                  <a:srgbClr val="000066"/>
                </a:solidFill>
                <a:latin typeface="Times New Roman" panose="02020603050405020304" pitchFamily="18" charset="0"/>
                <a:ea typeface="宋体" panose="02010600030101010101" pitchFamily="2" charset="-122"/>
              </a:defRPr>
            </a:lvl4pPr>
            <a:lvl5pPr marL="2057400" indent="-228600">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9pPr>
          </a:lstStyle>
          <a:p>
            <a:pPr indent="0">
              <a:lnSpc>
                <a:spcPct val="200000"/>
              </a:lnSpc>
              <a:spcAft>
                <a:spcPts val="1000"/>
              </a:spcAft>
              <a:buClr>
                <a:schemeClr val="accent2"/>
              </a:buClr>
              <a:buSzPct val="80000"/>
            </a:pPr>
            <a:r>
              <a:rPr lang="zh-CN" altLang="en-US" dirty="0">
                <a:solidFill>
                  <a:schemeClr val="accent2"/>
                </a:solidFill>
                <a:latin typeface="微软雅黑" panose="020B0503020204020204" pitchFamily="34" charset="-122"/>
                <a:ea typeface="微软雅黑" panose="020B0503020204020204" pitchFamily="34" charset="-122"/>
              </a:rPr>
              <a:t>单调栈</a:t>
            </a:r>
            <a:r>
              <a:rPr lang="zh-CN" altLang="en-US" b="0" dirty="0">
                <a:solidFill>
                  <a:schemeClr val="tx1"/>
                </a:solidFill>
                <a:latin typeface="微软雅黑" panose="020B0503020204020204" pitchFamily="34" charset="-122"/>
                <a:ea typeface="微软雅黑" panose="020B0503020204020204" pitchFamily="34" charset="-122"/>
              </a:rPr>
              <a:t>：栈内的元素，按照某种方式排序下（单调递增或者单调递减</a:t>
            </a:r>
            <a:r>
              <a:rPr lang="en-US" altLang="zh-CN" b="0" dirty="0">
                <a:solidFill>
                  <a:schemeClr val="tx1"/>
                </a:solidFill>
                <a:latin typeface="微软雅黑" panose="020B0503020204020204" pitchFamily="34" charset="-122"/>
                <a:ea typeface="微软雅黑" panose="020B0503020204020204" pitchFamily="34" charset="-122"/>
              </a:rPr>
              <a:t>)</a:t>
            </a:r>
          </a:p>
          <a:p>
            <a:pPr indent="0">
              <a:lnSpc>
                <a:spcPct val="200000"/>
              </a:lnSpc>
              <a:spcAft>
                <a:spcPts val="1000"/>
              </a:spcAft>
              <a:buClr>
                <a:schemeClr val="accent2"/>
              </a:buClr>
              <a:buSzPct val="80000"/>
            </a:pPr>
            <a:r>
              <a:rPr lang="zh-CN" altLang="en-US" b="0" dirty="0">
                <a:solidFill>
                  <a:schemeClr val="tx1"/>
                </a:solidFill>
                <a:latin typeface="微软雅黑" panose="020B0503020204020204" pitchFamily="34" charset="-122"/>
                <a:ea typeface="微软雅黑" panose="020B0503020204020204" pitchFamily="34" charset="-122"/>
              </a:rPr>
              <a:t>如果新入栈的元素破坏了单调性，就弹出栈内元素，直到满足单调性</a:t>
            </a:r>
          </a:p>
        </p:txBody>
      </p:sp>
      <p:sp>
        <p:nvSpPr>
          <p:cNvPr id="2" name="矩形 1">
            <a:extLst>
              <a:ext uri="{FF2B5EF4-FFF2-40B4-BE49-F238E27FC236}">
                <a16:creationId xmlns:a16="http://schemas.microsoft.com/office/drawing/2014/main" id="{AD24F43A-7896-4C81-92D3-587E9B2A3215}"/>
              </a:ext>
            </a:extLst>
          </p:cNvPr>
          <p:cNvSpPr/>
          <p:nvPr/>
        </p:nvSpPr>
        <p:spPr>
          <a:xfrm>
            <a:off x="1088994" y="2681370"/>
            <a:ext cx="9610557" cy="1230593"/>
          </a:xfrm>
          <a:prstGeom prst="rect">
            <a:avLst/>
          </a:prstGeom>
        </p:spPr>
        <p:txBody>
          <a:bodyPr wrap="square">
            <a:spAutoFit/>
          </a:bodyPr>
          <a:lstStyle/>
          <a:p>
            <a:pPr>
              <a:lnSpc>
                <a:spcPct val="200000"/>
              </a:lnSpc>
            </a:pPr>
            <a:r>
              <a:rPr kumimoji="1" lang="zh-CN" altLang="en-US" sz="2000" b="1" dirty="0">
                <a:solidFill>
                  <a:schemeClr val="accent2"/>
                </a:solidFill>
                <a:latin typeface="微软雅黑" panose="020B0503020204020204" pitchFamily="34" charset="-122"/>
                <a:ea typeface="微软雅黑" panose="020B0503020204020204" pitchFamily="34" charset="-122"/>
              </a:rPr>
              <a:t>功能</a:t>
            </a:r>
            <a:r>
              <a:rPr kumimoji="1" lang="zh-CN" altLang="en-US" sz="2000" dirty="0">
                <a:latin typeface="微软雅黑" panose="020B0503020204020204" pitchFamily="34" charset="-122"/>
                <a:ea typeface="微软雅黑" panose="020B0503020204020204" pitchFamily="34" charset="-122"/>
              </a:rPr>
              <a:t>：它可以很方便地求出某个数的左边或者右边第一个比它大或者小的元素，而且总时间复杂度</a:t>
            </a:r>
            <a:r>
              <a:rPr kumimoji="1" lang="en-US" altLang="zh-CN" sz="2000" dirty="0">
                <a:latin typeface="微软雅黑" panose="020B0503020204020204" pitchFamily="34" charset="-122"/>
                <a:ea typeface="微软雅黑" panose="020B0503020204020204" pitchFamily="34" charset="-122"/>
              </a:rPr>
              <a:t>O(N)</a:t>
            </a:r>
            <a:r>
              <a:rPr kumimoji="1" lang="zh-CN" altLang="en-US" sz="20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015614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04A4E4C-F26A-4A35-88AF-956C21E7D748}"/>
              </a:ext>
            </a:extLst>
          </p:cNvPr>
          <p:cNvSpPr txBox="1">
            <a:spLocks noChangeArrowheads="1"/>
          </p:cNvSpPr>
          <p:nvPr/>
        </p:nvSpPr>
        <p:spPr>
          <a:xfrm>
            <a:off x="1088994" y="601525"/>
            <a:ext cx="8991600" cy="563563"/>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单调栈</a:t>
            </a:r>
            <a:endParaRPr lang="en-US" altLang="zh-CN" dirty="0"/>
          </a:p>
        </p:txBody>
      </p:sp>
      <p:sp>
        <p:nvSpPr>
          <p:cNvPr id="5" name="Text Box 2">
            <a:extLst>
              <a:ext uri="{FF2B5EF4-FFF2-40B4-BE49-F238E27FC236}">
                <a16:creationId xmlns:a16="http://schemas.microsoft.com/office/drawing/2014/main" id="{8469F1BE-DA79-4ACE-A4C6-190F1EA8E32B}"/>
              </a:ext>
            </a:extLst>
          </p:cNvPr>
          <p:cNvSpPr txBox="1">
            <a:spLocks noChangeArrowheads="1"/>
          </p:cNvSpPr>
          <p:nvPr/>
        </p:nvSpPr>
        <p:spPr bwMode="auto">
          <a:xfrm>
            <a:off x="1073912" y="1357372"/>
            <a:ext cx="7583487" cy="400110"/>
          </a:xfrm>
          <a:prstGeom prst="rect">
            <a:avLst/>
          </a:prstGeom>
          <a:noFill/>
          <a:ln w="9525">
            <a:noFill/>
            <a:miter lim="800000"/>
          </a:ln>
        </p:spPr>
        <p:txBody>
          <a:bodyPr>
            <a:spAutoFit/>
          </a:bodyPr>
          <a:lstStyle/>
          <a:p>
            <a:r>
              <a:rPr lang="zh-CN" altLang="en-US" sz="2000" b="1" dirty="0">
                <a:solidFill>
                  <a:schemeClr val="accent2"/>
                </a:solidFill>
                <a:latin typeface="微软雅黑" panose="020B0503020204020204" pitchFamily="34" charset="-122"/>
                <a:ea typeface="微软雅黑" panose="020B0503020204020204" pitchFamily="34" charset="-122"/>
              </a:rPr>
              <a:t>如何维护单调栈：（以维护单调递增栈为例）</a:t>
            </a:r>
          </a:p>
        </p:txBody>
      </p:sp>
      <p:sp>
        <p:nvSpPr>
          <p:cNvPr id="7" name="Text Box 3">
            <a:extLst>
              <a:ext uri="{FF2B5EF4-FFF2-40B4-BE49-F238E27FC236}">
                <a16:creationId xmlns:a16="http://schemas.microsoft.com/office/drawing/2014/main" id="{421075C3-0C8C-4FD9-B224-3CDB6731231C}"/>
              </a:ext>
            </a:extLst>
          </p:cNvPr>
          <p:cNvSpPr txBox="1">
            <a:spLocks noChangeArrowheads="1"/>
          </p:cNvSpPr>
          <p:nvPr/>
        </p:nvSpPr>
        <p:spPr bwMode="auto">
          <a:xfrm>
            <a:off x="1073912" y="1675749"/>
            <a:ext cx="10044176" cy="961289"/>
          </a:xfrm>
          <a:prstGeom prst="rect">
            <a:avLst/>
          </a:prstGeom>
          <a:noFill/>
          <a:ln w="9525">
            <a:noFill/>
            <a:miter lim="800000"/>
          </a:ln>
        </p:spPr>
        <p:txBody>
          <a:bodyPr wrap="square">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进</a:t>
            </a:r>
            <a:r>
              <a:rPr kumimoji="1" lang="zh-CN" altLang="en-US" sz="2000" dirty="0">
                <a:latin typeface="微软雅黑" panose="020B0503020204020204" pitchFamily="34" charset="-122"/>
                <a:ea typeface="微软雅黑" panose="020B0503020204020204" pitchFamily="34" charset="-122"/>
              </a:rPr>
              <a:t>栈操作：每次入栈前先检验栈顶元素和进栈元素(x)的大小，如果小于x，就让x直接入栈。如果栈顶元素大于等于x,那么出栈，直到栈空或者栈顶元素小于x</a:t>
            </a:r>
          </a:p>
        </p:txBody>
      </p:sp>
      <p:sp>
        <p:nvSpPr>
          <p:cNvPr id="8" name="Text Box 4">
            <a:extLst>
              <a:ext uri="{FF2B5EF4-FFF2-40B4-BE49-F238E27FC236}">
                <a16:creationId xmlns:a16="http://schemas.microsoft.com/office/drawing/2014/main" id="{5629574C-D2C6-4421-8669-9924EB69E1DB}"/>
              </a:ext>
            </a:extLst>
          </p:cNvPr>
          <p:cNvSpPr txBox="1">
            <a:spLocks noChangeArrowheads="1"/>
          </p:cNvSpPr>
          <p:nvPr/>
        </p:nvSpPr>
        <p:spPr bwMode="auto">
          <a:xfrm>
            <a:off x="1073912" y="2735463"/>
            <a:ext cx="3051175" cy="400110"/>
          </a:xfrm>
          <a:prstGeom prst="rect">
            <a:avLst/>
          </a:prstGeom>
          <a:noFill/>
          <a:ln w="9525">
            <a:noFill/>
            <a:miter lim="800000"/>
          </a:ln>
        </p:spPr>
        <p:txBody>
          <a:bodyPr>
            <a:spAutoFit/>
          </a:bodyPr>
          <a:lstStyle/>
          <a:p>
            <a:r>
              <a:rPr lang="zh-CN" altLang="en-US" sz="2000" dirty="0">
                <a:solidFill>
                  <a:schemeClr val="accent2"/>
                </a:solidFill>
                <a:latin typeface="微软雅黑" panose="020B0503020204020204" pitchFamily="34" charset="-122"/>
                <a:ea typeface="微软雅黑" panose="020B0503020204020204" pitchFamily="34" charset="-122"/>
              </a:rPr>
              <a:t>例如：</a:t>
            </a:r>
            <a:r>
              <a:rPr lang="zh-CN" altLang="en-US" sz="2000" dirty="0">
                <a:latin typeface="微软雅黑" panose="020B0503020204020204" pitchFamily="34" charset="-122"/>
                <a:ea typeface="微软雅黑" panose="020B0503020204020204" pitchFamily="34" charset="-122"/>
              </a:rPr>
              <a:t>1 4 3  6  0</a:t>
            </a:r>
          </a:p>
        </p:txBody>
      </p:sp>
      <p:sp>
        <p:nvSpPr>
          <p:cNvPr id="9" name="Text Box 5">
            <a:extLst>
              <a:ext uri="{FF2B5EF4-FFF2-40B4-BE49-F238E27FC236}">
                <a16:creationId xmlns:a16="http://schemas.microsoft.com/office/drawing/2014/main" id="{663CD366-977F-439D-96D8-CEEC4609DB37}"/>
              </a:ext>
            </a:extLst>
          </p:cNvPr>
          <p:cNvSpPr txBox="1">
            <a:spLocks noChangeArrowheads="1"/>
          </p:cNvSpPr>
          <p:nvPr/>
        </p:nvSpPr>
        <p:spPr bwMode="auto">
          <a:xfrm>
            <a:off x="1088994" y="3322378"/>
            <a:ext cx="7416800" cy="400050"/>
          </a:xfrm>
          <a:prstGeom prst="rect">
            <a:avLst/>
          </a:prstGeom>
          <a:noFill/>
          <a:ln w="9525">
            <a:noFill/>
            <a:miter lim="800000"/>
          </a:ln>
        </p:spPr>
        <p:txBody>
          <a:bodyPr>
            <a:spAutoFit/>
          </a:bodyPr>
          <a:lstStyle/>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初始时刻栈空，1入栈。----------------------栈内元素(1)</a:t>
            </a:r>
          </a:p>
        </p:txBody>
      </p:sp>
      <p:sp>
        <p:nvSpPr>
          <p:cNvPr id="10" name="Text Box 6">
            <a:extLst>
              <a:ext uri="{FF2B5EF4-FFF2-40B4-BE49-F238E27FC236}">
                <a16:creationId xmlns:a16="http://schemas.microsoft.com/office/drawing/2014/main" id="{4B463718-F381-46A5-AD10-369CAF8A282B}"/>
              </a:ext>
            </a:extLst>
          </p:cNvPr>
          <p:cNvSpPr txBox="1">
            <a:spLocks noChangeArrowheads="1"/>
          </p:cNvSpPr>
          <p:nvPr/>
        </p:nvSpPr>
        <p:spPr bwMode="auto">
          <a:xfrm>
            <a:off x="1088994" y="3911340"/>
            <a:ext cx="7553325" cy="400050"/>
          </a:xfrm>
          <a:prstGeom prst="rect">
            <a:avLst/>
          </a:prstGeom>
          <a:noFill/>
          <a:ln w="9525">
            <a:noFill/>
            <a:miter lim="800000"/>
          </a:ln>
        </p:spPr>
        <p:txBody>
          <a:bodyPr>
            <a:spAutoFit/>
          </a:bodyPr>
          <a:lstStyle/>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4要进栈，4大于1，所以直接进栈.-----------栈内元素(1,4)</a:t>
            </a:r>
          </a:p>
        </p:txBody>
      </p:sp>
      <p:sp>
        <p:nvSpPr>
          <p:cNvPr id="11" name="Text Box 7">
            <a:extLst>
              <a:ext uri="{FF2B5EF4-FFF2-40B4-BE49-F238E27FC236}">
                <a16:creationId xmlns:a16="http://schemas.microsoft.com/office/drawing/2014/main" id="{2C89D3CC-3899-45A8-92F8-A43943363ADE}"/>
              </a:ext>
            </a:extLst>
          </p:cNvPr>
          <p:cNvSpPr txBox="1">
            <a:spLocks noChangeArrowheads="1"/>
          </p:cNvSpPr>
          <p:nvPr/>
        </p:nvSpPr>
        <p:spPr bwMode="auto">
          <a:xfrm>
            <a:off x="1133444" y="4514590"/>
            <a:ext cx="5032375" cy="366713"/>
          </a:xfrm>
          <a:prstGeom prst="rect">
            <a:avLst/>
          </a:prstGeom>
          <a:noFill/>
          <a:ln w="9525">
            <a:noFill/>
            <a:miter lim="800000"/>
          </a:ln>
        </p:spPr>
        <p:txBody>
          <a:bodyPr>
            <a:spAutoFit/>
          </a:bodyPr>
          <a:lstStyle/>
          <a:p>
            <a:endParaRPr lang="zh-CN" altLang="zh-CN">
              <a:latin typeface="微软雅黑" panose="020B0503020204020204" pitchFamily="34" charset="-122"/>
              <a:ea typeface="微软雅黑" panose="020B0503020204020204" pitchFamily="34" charset="-122"/>
            </a:endParaRPr>
          </a:p>
        </p:txBody>
      </p:sp>
      <p:sp>
        <p:nvSpPr>
          <p:cNvPr id="12" name="Text Box 8">
            <a:extLst>
              <a:ext uri="{FF2B5EF4-FFF2-40B4-BE49-F238E27FC236}">
                <a16:creationId xmlns:a16="http://schemas.microsoft.com/office/drawing/2014/main" id="{CDC11DD9-5112-4E8B-B884-E3C536A261BB}"/>
              </a:ext>
            </a:extLst>
          </p:cNvPr>
          <p:cNvSpPr txBox="1">
            <a:spLocks noChangeArrowheads="1"/>
          </p:cNvSpPr>
          <p:nvPr/>
        </p:nvSpPr>
        <p:spPr bwMode="auto">
          <a:xfrm>
            <a:off x="1074707" y="4439978"/>
            <a:ext cx="7326312" cy="400050"/>
          </a:xfrm>
          <a:prstGeom prst="rect">
            <a:avLst/>
          </a:prstGeom>
          <a:noFill/>
          <a:ln w="9525">
            <a:noFill/>
            <a:miter lim="800000"/>
          </a:ln>
        </p:spPr>
        <p:txBody>
          <a:bodyPr>
            <a:spAutoFit/>
          </a:bodyPr>
          <a:lstStyle/>
          <a:p>
            <a:pPr marL="342900" indent="-342900">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rPr>
              <a:t>3要进栈，3小于4,4出栈，3进栈.-----------栈内元素(1 3)</a:t>
            </a:r>
          </a:p>
        </p:txBody>
      </p:sp>
      <p:sp>
        <p:nvSpPr>
          <p:cNvPr id="13" name="Text Box 9">
            <a:extLst>
              <a:ext uri="{FF2B5EF4-FFF2-40B4-BE49-F238E27FC236}">
                <a16:creationId xmlns:a16="http://schemas.microsoft.com/office/drawing/2014/main" id="{6BBE5FD7-34C0-4704-A817-CA9D4AF49B2F}"/>
              </a:ext>
            </a:extLst>
          </p:cNvPr>
          <p:cNvSpPr txBox="1">
            <a:spLocks noChangeArrowheads="1"/>
          </p:cNvSpPr>
          <p:nvPr/>
        </p:nvSpPr>
        <p:spPr bwMode="auto">
          <a:xfrm>
            <a:off x="1058832" y="5014653"/>
            <a:ext cx="7177087" cy="400050"/>
          </a:xfrm>
          <a:prstGeom prst="rect">
            <a:avLst/>
          </a:prstGeom>
          <a:noFill/>
          <a:ln w="9525">
            <a:noFill/>
            <a:miter lim="800000"/>
          </a:ln>
        </p:spPr>
        <p:txBody>
          <a:bodyPr>
            <a:spAutoFit/>
          </a:bodyPr>
          <a:lstStyle/>
          <a:p>
            <a:pPr marL="342900" indent="-342900">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rPr>
              <a:t>6要进栈，6大于3,6直接进栈。-------------栈内元素(1,3,6)</a:t>
            </a:r>
          </a:p>
        </p:txBody>
      </p:sp>
      <p:sp>
        <p:nvSpPr>
          <p:cNvPr id="14" name="Text Box 10">
            <a:extLst>
              <a:ext uri="{FF2B5EF4-FFF2-40B4-BE49-F238E27FC236}">
                <a16:creationId xmlns:a16="http://schemas.microsoft.com/office/drawing/2014/main" id="{5218BE01-C471-4905-A4DC-E4D41B7A3AD7}"/>
              </a:ext>
            </a:extLst>
          </p:cNvPr>
          <p:cNvSpPr txBox="1">
            <a:spLocks noChangeArrowheads="1"/>
          </p:cNvSpPr>
          <p:nvPr/>
        </p:nvSpPr>
        <p:spPr bwMode="auto">
          <a:xfrm>
            <a:off x="1044544" y="5513128"/>
            <a:ext cx="8582025" cy="400050"/>
          </a:xfrm>
          <a:prstGeom prst="rect">
            <a:avLst/>
          </a:prstGeom>
          <a:noFill/>
          <a:ln w="9525">
            <a:noFill/>
            <a:miter lim="800000"/>
          </a:ln>
        </p:spPr>
        <p:txBody>
          <a:bodyPr>
            <a:spAutoFit/>
          </a:bodyPr>
          <a:lstStyle/>
          <a:p>
            <a:pPr marL="342900" indent="-342900">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rPr>
              <a:t>0要入栈，1,3,6都出栈，-------------------栈内元素(0)</a:t>
            </a:r>
          </a:p>
        </p:txBody>
      </p:sp>
    </p:spTree>
    <p:extLst>
      <p:ext uri="{BB962C8B-B14F-4D97-AF65-F5344CB8AC3E}">
        <p14:creationId xmlns:p14="http://schemas.microsoft.com/office/powerpoint/2010/main" val="276691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par>
                                <p:cTn id="29" presetID="47" presetClass="entr" presetSubtype="0" fill="hold" grpId="0" nodeType="withEffect" nodePh="1">
                                  <p:stCondLst>
                                    <p:cond delay="0"/>
                                  </p:stCondLst>
                                  <p:endCondLst>
                                    <p:cond evt="begin" delay="0">
                                      <p:tn val="29"/>
                                    </p:cond>
                                  </p:end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par>
                                <p:cTn id="34" presetID="47"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1000"/>
                                        <p:tgtEl>
                                          <p:spTgt spid="12"/>
                                        </p:tgtEl>
                                      </p:cBhvr>
                                    </p:animEffect>
                                    <p:anim calcmode="lin" valueType="num">
                                      <p:cBhvr>
                                        <p:cTn id="37" dur="1000" fill="hold"/>
                                        <p:tgtEl>
                                          <p:spTgt spid="12"/>
                                        </p:tgtEl>
                                        <p:attrNameLst>
                                          <p:attrName>ppt_x</p:attrName>
                                        </p:attrNameLst>
                                      </p:cBhvr>
                                      <p:tavLst>
                                        <p:tav tm="0">
                                          <p:val>
                                            <p:strVal val="#ppt_x"/>
                                          </p:val>
                                        </p:tav>
                                        <p:tav tm="100000">
                                          <p:val>
                                            <p:strVal val="#ppt_x"/>
                                          </p:val>
                                        </p:tav>
                                      </p:tavLst>
                                    </p:anim>
                                    <p:anim calcmode="lin" valueType="num">
                                      <p:cBhvr>
                                        <p:cTn id="38" dur="1000" fill="hold"/>
                                        <p:tgtEl>
                                          <p:spTgt spid="12"/>
                                        </p:tgtEl>
                                        <p:attrNameLst>
                                          <p:attrName>ppt_y</p:attrName>
                                        </p:attrNameLst>
                                      </p:cBhvr>
                                      <p:tavLst>
                                        <p:tav tm="0">
                                          <p:val>
                                            <p:strVal val="#ppt_y-.1"/>
                                          </p:val>
                                        </p:tav>
                                        <p:tav tm="100000">
                                          <p:val>
                                            <p:strVal val="#ppt_y"/>
                                          </p:val>
                                        </p:tav>
                                      </p:tavLst>
                                    </p:anim>
                                  </p:childTnLst>
                                </p:cTn>
                              </p:par>
                              <p:par>
                                <p:cTn id="39" presetID="47"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1000"/>
                                        <p:tgtEl>
                                          <p:spTgt spid="13"/>
                                        </p:tgtEl>
                                      </p:cBhvr>
                                    </p:animEffect>
                                    <p:anim calcmode="lin" valueType="num">
                                      <p:cBhvr>
                                        <p:cTn id="42" dur="1000" fill="hold"/>
                                        <p:tgtEl>
                                          <p:spTgt spid="13"/>
                                        </p:tgtEl>
                                        <p:attrNameLst>
                                          <p:attrName>ppt_x</p:attrName>
                                        </p:attrNameLst>
                                      </p:cBhvr>
                                      <p:tavLst>
                                        <p:tav tm="0">
                                          <p:val>
                                            <p:strVal val="#ppt_x"/>
                                          </p:val>
                                        </p:tav>
                                        <p:tav tm="100000">
                                          <p:val>
                                            <p:strVal val="#ppt_x"/>
                                          </p:val>
                                        </p:tav>
                                      </p:tavLst>
                                    </p:anim>
                                    <p:anim calcmode="lin" valueType="num">
                                      <p:cBhvr>
                                        <p:cTn id="43" dur="1000" fill="hold"/>
                                        <p:tgtEl>
                                          <p:spTgt spid="13"/>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anim calcmode="lin" valueType="num">
                                      <p:cBhvr>
                                        <p:cTn id="47" dur="1000" fill="hold"/>
                                        <p:tgtEl>
                                          <p:spTgt spid="14"/>
                                        </p:tgtEl>
                                        <p:attrNameLst>
                                          <p:attrName>ppt_x</p:attrName>
                                        </p:attrNameLst>
                                      </p:cBhvr>
                                      <p:tavLst>
                                        <p:tav tm="0">
                                          <p:val>
                                            <p:strVal val="#ppt_x"/>
                                          </p:val>
                                        </p:tav>
                                        <p:tav tm="100000">
                                          <p:val>
                                            <p:strVal val="#ppt_x"/>
                                          </p:val>
                                        </p:tav>
                                      </p:tavLst>
                                    </p:anim>
                                    <p:anim calcmode="lin" valueType="num">
                                      <p:cBhvr>
                                        <p:cTn id="4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P spid="11" grpId="0"/>
      <p:bldP spid="12" grpId="0"/>
      <p:bldP spid="13"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04A4E4C-F26A-4A35-88AF-956C21E7D748}"/>
              </a:ext>
            </a:extLst>
          </p:cNvPr>
          <p:cNvSpPr txBox="1">
            <a:spLocks noChangeArrowheads="1"/>
          </p:cNvSpPr>
          <p:nvPr/>
        </p:nvSpPr>
        <p:spPr>
          <a:xfrm>
            <a:off x="1088994" y="601525"/>
            <a:ext cx="8991600" cy="563563"/>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单调栈</a:t>
            </a:r>
            <a:endParaRPr lang="en-US" altLang="zh-CN" dirty="0"/>
          </a:p>
        </p:txBody>
      </p:sp>
      <p:sp>
        <p:nvSpPr>
          <p:cNvPr id="15" name="Text Box 5">
            <a:extLst>
              <a:ext uri="{FF2B5EF4-FFF2-40B4-BE49-F238E27FC236}">
                <a16:creationId xmlns:a16="http://schemas.microsoft.com/office/drawing/2014/main" id="{09473CED-95B6-4EA4-A16B-4192FC4850A6}"/>
              </a:ext>
            </a:extLst>
          </p:cNvPr>
          <p:cNvSpPr txBox="1">
            <a:spLocks noChangeArrowheads="1"/>
          </p:cNvSpPr>
          <p:nvPr/>
        </p:nvSpPr>
        <p:spPr bwMode="auto">
          <a:xfrm>
            <a:off x="1088993" y="2537625"/>
            <a:ext cx="6850062" cy="400050"/>
          </a:xfrm>
          <a:prstGeom prst="rect">
            <a:avLst/>
          </a:prstGeom>
          <a:noFill/>
          <a:ln w="9525">
            <a:noFill/>
            <a:miter lim="800000"/>
          </a:ln>
        </p:spPr>
        <p:txBody>
          <a:bodyPr>
            <a:spAutoFit/>
          </a:bodyPr>
          <a:lstStyle/>
          <a:p>
            <a:r>
              <a:rPr lang="zh-CN" altLang="en-US" sz="2000" dirty="0">
                <a:latin typeface="微软雅黑" panose="020B0503020204020204" pitchFamily="34" charset="-122"/>
                <a:ea typeface="微软雅黑" panose="020B0503020204020204" pitchFamily="34" charset="-122"/>
              </a:rPr>
              <a:t>例如：2, 1, 4, 5, 1, 3, 3</a:t>
            </a:r>
          </a:p>
        </p:txBody>
      </p:sp>
      <p:pic>
        <p:nvPicPr>
          <p:cNvPr id="16" name="Picture 6" descr="QQ截图20150705144608">
            <a:extLst>
              <a:ext uri="{FF2B5EF4-FFF2-40B4-BE49-F238E27FC236}">
                <a16:creationId xmlns:a16="http://schemas.microsoft.com/office/drawing/2014/main" id="{B92C509E-259D-4007-A721-D0D671ED0E61}"/>
              </a:ext>
            </a:extLst>
          </p:cNvPr>
          <p:cNvPicPr>
            <a:picLocks noChangeAspect="1" noChangeArrowheads="1"/>
          </p:cNvPicPr>
          <p:nvPr/>
        </p:nvPicPr>
        <p:blipFill>
          <a:blip r:embed="rId2" cstate="print"/>
          <a:srcRect/>
          <a:stretch>
            <a:fillRect/>
          </a:stretch>
        </p:blipFill>
        <p:spPr bwMode="auto">
          <a:xfrm>
            <a:off x="1141445" y="3142703"/>
            <a:ext cx="4846637" cy="1524000"/>
          </a:xfrm>
          <a:prstGeom prst="rect">
            <a:avLst/>
          </a:prstGeom>
          <a:noFill/>
          <a:ln w="9525">
            <a:noFill/>
            <a:miter lim="800000"/>
            <a:headEnd/>
            <a:tailEnd/>
          </a:ln>
        </p:spPr>
      </p:pic>
      <p:sp>
        <p:nvSpPr>
          <p:cNvPr id="17" name="Text Box 7">
            <a:extLst>
              <a:ext uri="{FF2B5EF4-FFF2-40B4-BE49-F238E27FC236}">
                <a16:creationId xmlns:a16="http://schemas.microsoft.com/office/drawing/2014/main" id="{7A70B33D-5332-4EA3-8745-8988CC2B3F22}"/>
              </a:ext>
            </a:extLst>
          </p:cNvPr>
          <p:cNvSpPr txBox="1">
            <a:spLocks noChangeArrowheads="1"/>
          </p:cNvSpPr>
          <p:nvPr/>
        </p:nvSpPr>
        <p:spPr bwMode="auto">
          <a:xfrm>
            <a:off x="1088993" y="5022092"/>
            <a:ext cx="2746375" cy="396875"/>
          </a:xfrm>
          <a:prstGeom prst="rect">
            <a:avLst/>
          </a:prstGeom>
          <a:noFill/>
          <a:ln w="9525">
            <a:noFill/>
            <a:miter lim="800000"/>
          </a:ln>
        </p:spPr>
        <p:txBody>
          <a:bodyPr>
            <a:spAutoFit/>
          </a:bodyPr>
          <a:lstStyle/>
          <a:p>
            <a:r>
              <a:rPr lang="zh-CN" altLang="en-US" sz="2000" dirty="0">
                <a:ea typeface="微软雅黑" panose="020B0503020204020204" pitchFamily="34" charset="-122"/>
              </a:rPr>
              <a:t>最大面积：8</a:t>
            </a:r>
          </a:p>
        </p:txBody>
      </p:sp>
      <p:sp>
        <p:nvSpPr>
          <p:cNvPr id="19" name="Text Box 4">
            <a:extLst>
              <a:ext uri="{FF2B5EF4-FFF2-40B4-BE49-F238E27FC236}">
                <a16:creationId xmlns:a16="http://schemas.microsoft.com/office/drawing/2014/main" id="{323EE72D-3070-4BBF-BACF-B3A00295DA94}"/>
              </a:ext>
            </a:extLst>
          </p:cNvPr>
          <p:cNvSpPr txBox="1">
            <a:spLocks noChangeArrowheads="1"/>
          </p:cNvSpPr>
          <p:nvPr/>
        </p:nvSpPr>
        <p:spPr bwMode="auto">
          <a:xfrm>
            <a:off x="1088993" y="1362599"/>
            <a:ext cx="9942529" cy="961289"/>
          </a:xfrm>
          <a:prstGeom prst="rect">
            <a:avLst/>
          </a:prstGeom>
          <a:noFill/>
          <a:ln w="9525">
            <a:noFill/>
            <a:miter lim="800000"/>
          </a:ln>
        </p:spPr>
        <p:txBody>
          <a:bodyPr wrap="square">
            <a:spAutoFit/>
          </a:bodyPr>
          <a:lstStyle/>
          <a:p>
            <a:pPr>
              <a:lnSpc>
                <a:spcPct val="150000"/>
              </a:lnSpc>
            </a:pPr>
            <a:r>
              <a:rPr lang="zh-CN" altLang="en-US" sz="2000" b="1" dirty="0">
                <a:solidFill>
                  <a:schemeClr val="accent2"/>
                </a:solidFill>
                <a:latin typeface="微软雅黑" panose="020B0503020204020204" pitchFamily="34" charset="-122"/>
                <a:ea typeface="微软雅黑" panose="020B0503020204020204" pitchFamily="34" charset="-122"/>
              </a:rPr>
              <a:t>例</a:t>
            </a:r>
            <a:r>
              <a:rPr lang="en-US" altLang="zh-CN" sz="2000" b="1" dirty="0">
                <a:solidFill>
                  <a:schemeClr val="accent2"/>
                </a:solidFill>
                <a:latin typeface="微软雅黑" panose="020B0503020204020204" pitchFamily="34" charset="-122"/>
                <a:ea typeface="微软雅黑" panose="020B0503020204020204" pitchFamily="34" charset="-122"/>
              </a:rPr>
              <a:t>4 </a:t>
            </a:r>
            <a:r>
              <a:rPr lang="zh-CN" altLang="en-US" sz="2000" b="1" dirty="0">
                <a:solidFill>
                  <a:schemeClr val="accent2"/>
                </a:solidFill>
                <a:latin typeface="微软雅黑" panose="020B0503020204020204" pitchFamily="34" charset="-122"/>
                <a:ea typeface="微软雅黑" panose="020B0503020204020204" pitchFamily="34" charset="-122"/>
              </a:rPr>
              <a:t>最大矩形面积</a:t>
            </a:r>
            <a:r>
              <a:rPr lang="zh-CN" altLang="en-US" sz="2000" dirty="0">
                <a:latin typeface="微软雅黑" panose="020B0503020204020204" pitchFamily="34" charset="-122"/>
                <a:ea typeface="微软雅黑" panose="020B0503020204020204" pitchFamily="34" charset="-122"/>
              </a:rPr>
              <a:t>：给出一个柱形统计图(histogram), 它的每个项目的宽度是1， 高度和具体问题有关。 现在编程求出在这个柱形图中的最大面积的长方形（n&lt;=1e5)</a:t>
            </a:r>
          </a:p>
        </p:txBody>
      </p:sp>
    </p:spTree>
    <p:extLst>
      <p:ext uri="{BB962C8B-B14F-4D97-AF65-F5344CB8AC3E}">
        <p14:creationId xmlns:p14="http://schemas.microsoft.com/office/powerpoint/2010/main" val="2573667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par>
                                <p:cTn id="17" presetID="47"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par>
                                <p:cTn id="22" presetID="47"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04A4E4C-F26A-4A35-88AF-956C21E7D748}"/>
              </a:ext>
            </a:extLst>
          </p:cNvPr>
          <p:cNvSpPr txBox="1">
            <a:spLocks noChangeArrowheads="1"/>
          </p:cNvSpPr>
          <p:nvPr/>
        </p:nvSpPr>
        <p:spPr>
          <a:xfrm>
            <a:off x="1088994" y="601525"/>
            <a:ext cx="8991600" cy="563563"/>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单调栈</a:t>
            </a:r>
            <a:endParaRPr lang="en-US" altLang="zh-CN" dirty="0"/>
          </a:p>
        </p:txBody>
      </p:sp>
      <p:sp>
        <p:nvSpPr>
          <p:cNvPr id="18" name="Text Box 8">
            <a:extLst>
              <a:ext uri="{FF2B5EF4-FFF2-40B4-BE49-F238E27FC236}">
                <a16:creationId xmlns:a16="http://schemas.microsoft.com/office/drawing/2014/main" id="{E7B08044-5A1B-4709-AB43-26FAEF29BBF1}"/>
              </a:ext>
            </a:extLst>
          </p:cNvPr>
          <p:cNvSpPr txBox="1">
            <a:spLocks noChangeArrowheads="1"/>
          </p:cNvSpPr>
          <p:nvPr/>
        </p:nvSpPr>
        <p:spPr bwMode="auto">
          <a:xfrm>
            <a:off x="937992" y="1290565"/>
            <a:ext cx="10142538" cy="1846146"/>
          </a:xfrm>
          <a:prstGeom prst="rect">
            <a:avLst/>
          </a:prstGeom>
          <a:noFill/>
          <a:ln w="9525">
            <a:noFill/>
            <a:miter lim="800000"/>
          </a:ln>
        </p:spPr>
        <p:txBody>
          <a:bodyPr wrap="square">
            <a:spAutoFit/>
          </a:bodyPr>
          <a:lstStyle/>
          <a:p>
            <a:pPr>
              <a:lnSpc>
                <a:spcPct val="200000"/>
              </a:lnSpc>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分析</a:t>
            </a:r>
            <a:r>
              <a:rPr lang="en-US" altLang="zh-CN" sz="2000" dirty="0">
                <a:latin typeface="微软雅黑" panose="020B0503020204020204" pitchFamily="34" charset="-122"/>
                <a:ea typeface="微软雅黑" panose="020B0503020204020204" pitchFamily="34" charset="-122"/>
              </a:rPr>
              <a:t>1】</a:t>
            </a:r>
            <a:r>
              <a:rPr lang="zh-CN" altLang="en-US" sz="2000" b="1" dirty="0">
                <a:solidFill>
                  <a:schemeClr val="accent2"/>
                </a:solidFill>
                <a:latin typeface="微软雅黑" panose="020B0503020204020204" pitchFamily="34" charset="-122"/>
                <a:ea typeface="微软雅黑" panose="020B0503020204020204" pitchFamily="34" charset="-122"/>
              </a:rPr>
              <a:t>暴力求解法</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a:lnSpc>
                <a:spcPct val="200000"/>
              </a:lnSpc>
            </a:pPr>
            <a:r>
              <a:rPr lang="zh-CN" altLang="en-US" sz="2000" dirty="0">
                <a:latin typeface="微软雅黑" panose="020B0503020204020204" pitchFamily="34" charset="-122"/>
                <a:ea typeface="微软雅黑" panose="020B0503020204020204" pitchFamily="34" charset="-122"/>
              </a:rPr>
              <a:t>当前的数字可以向两边拓展，遇到比自己大的就接着拓展，小的就停止，然后用自己的高度乘以拓展的宽度，每次都跟新最大面积，时间复杂度同样为</a:t>
            </a:r>
            <a:r>
              <a:rPr lang="en-US" altLang="zh-CN" sz="2000" b="1" dirty="0">
                <a:solidFill>
                  <a:schemeClr val="accent2"/>
                </a:solidFill>
                <a:latin typeface="微软雅黑" panose="020B0503020204020204" pitchFamily="34" charset="-122"/>
                <a:ea typeface="微软雅黑" panose="020B0503020204020204" pitchFamily="34" charset="-122"/>
              </a:rPr>
              <a:t>O(N^2)</a:t>
            </a:r>
            <a:endParaRPr lang="zh-CN" altLang="en-US" sz="2000" b="1" dirty="0">
              <a:solidFill>
                <a:schemeClr val="accent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171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04A4E4C-F26A-4A35-88AF-956C21E7D748}"/>
              </a:ext>
            </a:extLst>
          </p:cNvPr>
          <p:cNvSpPr txBox="1">
            <a:spLocks noChangeArrowheads="1"/>
          </p:cNvSpPr>
          <p:nvPr/>
        </p:nvSpPr>
        <p:spPr>
          <a:xfrm>
            <a:off x="1088994" y="601525"/>
            <a:ext cx="8991600" cy="563563"/>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单调栈</a:t>
            </a:r>
            <a:endParaRPr lang="en-US" altLang="zh-CN" dirty="0"/>
          </a:p>
        </p:txBody>
      </p:sp>
      <p:sp>
        <p:nvSpPr>
          <p:cNvPr id="18" name="Text Box 8">
            <a:extLst>
              <a:ext uri="{FF2B5EF4-FFF2-40B4-BE49-F238E27FC236}">
                <a16:creationId xmlns:a16="http://schemas.microsoft.com/office/drawing/2014/main" id="{E7B08044-5A1B-4709-AB43-26FAEF29BBF1}"/>
              </a:ext>
            </a:extLst>
          </p:cNvPr>
          <p:cNvSpPr txBox="1">
            <a:spLocks noChangeArrowheads="1"/>
          </p:cNvSpPr>
          <p:nvPr/>
        </p:nvSpPr>
        <p:spPr bwMode="auto">
          <a:xfrm>
            <a:off x="937992" y="1290565"/>
            <a:ext cx="10142538" cy="5270161"/>
          </a:xfrm>
          <a:prstGeom prst="rect">
            <a:avLst/>
          </a:prstGeom>
          <a:noFill/>
          <a:ln w="9525">
            <a:noFill/>
            <a:miter lim="800000"/>
          </a:ln>
        </p:spPr>
        <p:txBody>
          <a:bodyPr wrap="square">
            <a:spAutoFit/>
          </a:bodyPr>
          <a:lstStyle/>
          <a:p>
            <a:pPr>
              <a:lnSpc>
                <a:spcPct val="200000"/>
              </a:lnSpc>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分析</a:t>
            </a:r>
            <a:r>
              <a:rPr lang="en-US" altLang="zh-CN" sz="2000" dirty="0">
                <a:latin typeface="微软雅黑" panose="020B0503020204020204" pitchFamily="34" charset="-122"/>
                <a:ea typeface="微软雅黑" panose="020B0503020204020204" pitchFamily="34" charset="-122"/>
              </a:rPr>
              <a:t>2】</a:t>
            </a:r>
            <a:r>
              <a:rPr lang="zh-CN" altLang="en-US" sz="2000" b="1" dirty="0">
                <a:solidFill>
                  <a:schemeClr val="accent2"/>
                </a:solidFill>
                <a:latin typeface="微软雅黑" panose="020B0503020204020204" pitchFamily="34" charset="-122"/>
                <a:ea typeface="微软雅黑" panose="020B0503020204020204" pitchFamily="34" charset="-122"/>
              </a:rPr>
              <a:t>单调栈</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      最大面积的矩形</a:t>
            </a:r>
            <a:r>
              <a:rPr lang="en-US" altLang="zh-CN" sz="2000" dirty="0">
                <a:latin typeface="微软雅黑" panose="020B0503020204020204" pitchFamily="34" charset="-122"/>
                <a:ea typeface="微软雅黑" panose="020B0503020204020204" pitchFamily="34" charset="-122"/>
              </a:rPr>
              <a:t>X</a:t>
            </a:r>
            <a:r>
              <a:rPr lang="zh-CN" altLang="en-US" sz="2000" dirty="0">
                <a:latin typeface="微软雅黑" panose="020B0503020204020204" pitchFamily="34" charset="-122"/>
                <a:ea typeface="微软雅黑" panose="020B0503020204020204" pitchFamily="34" charset="-122"/>
              </a:rPr>
              <a:t>的左右边界的性质：设其左边界为</a:t>
            </a:r>
            <a:r>
              <a:rPr lang="en-US" altLang="zh-CN" sz="2000" dirty="0">
                <a:latin typeface="微软雅黑" panose="020B0503020204020204" pitchFamily="34" charset="-122"/>
                <a:ea typeface="微软雅黑" panose="020B0503020204020204" pitchFamily="34" charset="-122"/>
              </a:rPr>
              <a:t>L</a:t>
            </a:r>
            <a:r>
              <a:rPr lang="zh-CN" altLang="en-US" sz="2000" dirty="0">
                <a:latin typeface="微软雅黑" panose="020B0503020204020204" pitchFamily="34" charset="-122"/>
                <a:ea typeface="微软雅黑" panose="020B0503020204020204" pitchFamily="34" charset="-122"/>
              </a:rPr>
              <a:t>，右边界为</a:t>
            </a:r>
            <a:r>
              <a:rPr lang="en-US" altLang="zh-CN" sz="2000" dirty="0">
                <a:latin typeface="微软雅黑" panose="020B0503020204020204" pitchFamily="34" charset="-122"/>
                <a:ea typeface="微软雅黑" panose="020B0503020204020204" pitchFamily="34" charset="-122"/>
              </a:rPr>
              <a:t>R</a:t>
            </a:r>
            <a:r>
              <a:rPr lang="zh-CN" altLang="en-US" sz="2000" dirty="0">
                <a:latin typeface="微软雅黑" panose="020B0503020204020204" pitchFamily="34" charset="-122"/>
                <a:ea typeface="微软雅黑" panose="020B0503020204020204" pitchFamily="34" charset="-122"/>
              </a:rPr>
              <a:t>，则其高</a:t>
            </a:r>
            <a:r>
              <a:rPr lang="en-US" altLang="zh-CN" sz="2000" dirty="0">
                <a:latin typeface="微软雅黑" panose="020B0503020204020204" pitchFamily="34" charset="-122"/>
                <a:ea typeface="微软雅黑" panose="020B0503020204020204" pitchFamily="34" charset="-122"/>
              </a:rPr>
              <a:t>H = min{h[</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 | L &lt;= </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 &lt;= R}</a:t>
            </a:r>
            <a:r>
              <a:rPr lang="zh-CN" altLang="en-US" sz="2000" dirty="0">
                <a:latin typeface="微软雅黑" panose="020B0503020204020204" pitchFamily="34" charset="-122"/>
                <a:ea typeface="微软雅黑" panose="020B0503020204020204" pitchFamily="34" charset="-122"/>
              </a:rPr>
              <a:t>，此时最大面积为 </a:t>
            </a:r>
            <a:r>
              <a:rPr lang="en-US" altLang="zh-CN" sz="2000" dirty="0">
                <a:latin typeface="微软雅黑" panose="020B0503020204020204" pitchFamily="34" charset="-122"/>
                <a:ea typeface="微软雅黑" panose="020B0503020204020204" pitchFamily="34" charset="-122"/>
              </a:rPr>
              <a:t>(R - L + 1) * H</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若此时左边界的左边那个矩形的高度 </a:t>
            </a:r>
            <a:r>
              <a:rPr lang="en-US" altLang="zh-CN" sz="2000" dirty="0">
                <a:latin typeface="微软雅黑" panose="020B0503020204020204" pitchFamily="34" charset="-122"/>
                <a:ea typeface="微软雅黑" panose="020B0503020204020204" pitchFamily="34" charset="-122"/>
              </a:rPr>
              <a:t>h[L-1] &gt;= H </a:t>
            </a:r>
            <a:r>
              <a:rPr lang="zh-CN" altLang="en-US" sz="2000" dirty="0">
                <a:latin typeface="微软雅黑" panose="020B0503020204020204" pitchFamily="34" charset="-122"/>
                <a:ea typeface="微软雅黑" panose="020B0503020204020204" pitchFamily="34" charset="-122"/>
              </a:rPr>
              <a:t>则左边界可以向左拓展，则新的面积为：</a:t>
            </a:r>
            <a:r>
              <a:rPr lang="en-US" altLang="zh-CN" sz="2000" dirty="0">
                <a:latin typeface="微软雅黑" panose="020B0503020204020204" pitchFamily="34" charset="-122"/>
                <a:ea typeface="微软雅黑" panose="020B0503020204020204" pitchFamily="34" charset="-122"/>
              </a:rPr>
              <a:t>(R - (L-1) + 1) * H &gt; </a:t>
            </a:r>
            <a:r>
              <a:rPr lang="zh-CN" altLang="en-US" sz="2000" dirty="0">
                <a:latin typeface="微软雅黑" panose="020B0503020204020204" pitchFamily="34" charset="-122"/>
                <a:ea typeface="微软雅黑" panose="020B0503020204020204" pitchFamily="34" charset="-122"/>
              </a:rPr>
              <a:t>原面积则与原假设条件冲突故。左边界左边的那个矩形的高度 </a:t>
            </a:r>
            <a:r>
              <a:rPr lang="en-US" altLang="zh-CN" sz="2000" dirty="0">
                <a:latin typeface="微软雅黑" panose="020B0503020204020204" pitchFamily="34" charset="-122"/>
                <a:ea typeface="微软雅黑" panose="020B0503020204020204" pitchFamily="34" charset="-122"/>
              </a:rPr>
              <a:t>:h[L-1] &lt; H </a:t>
            </a:r>
            <a:r>
              <a:rPr lang="zh-CN" altLang="en-US" sz="2000" dirty="0">
                <a:latin typeface="微软雅黑" panose="020B0503020204020204" pitchFamily="34" charset="-122"/>
                <a:ea typeface="微软雅黑" panose="020B0503020204020204" pitchFamily="34" charset="-122"/>
              </a:rPr>
              <a:t>同理右边界右边的那个矩形的高度： </a:t>
            </a:r>
            <a:r>
              <a:rPr lang="en-US" altLang="zh-CN" sz="2000" dirty="0">
                <a:latin typeface="微软雅黑" panose="020B0503020204020204" pitchFamily="34" charset="-122"/>
                <a:ea typeface="微软雅黑" panose="020B0503020204020204" pitchFamily="34" charset="-122"/>
              </a:rPr>
              <a:t>h[R+1] &lt; H</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   设</a:t>
            </a:r>
            <a:r>
              <a:rPr lang="en-US" altLang="zh-CN" sz="2000" dirty="0">
                <a:latin typeface="微软雅黑" panose="020B0503020204020204" pitchFamily="34" charset="-122"/>
                <a:ea typeface="微软雅黑" panose="020B0503020204020204" pitchFamily="34" charset="-122"/>
              </a:rPr>
              <a:t>H = h[</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所以左边界</a:t>
            </a:r>
            <a:r>
              <a:rPr lang="en-US" altLang="zh-CN" sz="2000" dirty="0">
                <a:latin typeface="微软雅黑" panose="020B0503020204020204" pitchFamily="34" charset="-122"/>
                <a:ea typeface="微软雅黑" panose="020B0503020204020204" pitchFamily="34" charset="-122"/>
              </a:rPr>
              <a:t>L</a:t>
            </a:r>
            <a:r>
              <a:rPr lang="zh-CN" altLang="en-US" sz="2000" dirty="0">
                <a:latin typeface="微软雅黑" panose="020B0503020204020204" pitchFamily="34" charset="-122"/>
                <a:ea typeface="微软雅黑" panose="020B0503020204020204" pitchFamily="34" charset="-122"/>
              </a:rPr>
              <a:t>是满足</a:t>
            </a:r>
            <a:r>
              <a:rPr lang="en-US" altLang="zh-CN" sz="2000" dirty="0">
                <a:latin typeface="微软雅黑" panose="020B0503020204020204" pitchFamily="34" charset="-122"/>
                <a:ea typeface="微软雅黑" panose="020B0503020204020204" pitchFamily="34" charset="-122"/>
              </a:rPr>
              <a:t>h[j-1] &lt; h[</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的最大的</a:t>
            </a:r>
            <a:r>
              <a:rPr lang="en-US" altLang="zh-CN" sz="2000" dirty="0">
                <a:latin typeface="微软雅黑" panose="020B0503020204020204" pitchFamily="34" charset="-122"/>
                <a:ea typeface="微软雅黑" panose="020B0503020204020204" pitchFamily="34" charset="-122"/>
              </a:rPr>
              <a:t>j</a:t>
            </a:r>
            <a:r>
              <a:rPr lang="zh-CN" altLang="en-US" sz="2000" dirty="0">
                <a:latin typeface="微软雅黑" panose="020B0503020204020204" pitchFamily="34" charset="-122"/>
                <a:ea typeface="微软雅黑" panose="020B0503020204020204" pitchFamily="34" charset="-122"/>
              </a:rPr>
              <a:t>，即从</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点向左遍历的第一个高度比</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小的点的右边一个点，而右边界</a:t>
            </a:r>
            <a:r>
              <a:rPr lang="en-US" altLang="zh-CN" sz="2000" dirty="0">
                <a:latin typeface="微软雅黑" panose="020B0503020204020204" pitchFamily="34" charset="-122"/>
                <a:ea typeface="微软雅黑" panose="020B0503020204020204" pitchFamily="34" charset="-122"/>
              </a:rPr>
              <a:t>R</a:t>
            </a:r>
            <a:r>
              <a:rPr lang="zh-CN" altLang="en-US" sz="2000" dirty="0">
                <a:latin typeface="微软雅黑" panose="020B0503020204020204" pitchFamily="34" charset="-122"/>
                <a:ea typeface="微软雅黑" panose="020B0503020204020204" pitchFamily="34" charset="-122"/>
              </a:rPr>
              <a:t>是满足 </a:t>
            </a:r>
            <a:r>
              <a:rPr lang="en-US" altLang="zh-CN" sz="2000" dirty="0">
                <a:latin typeface="微软雅黑" panose="020B0503020204020204" pitchFamily="34" charset="-122"/>
                <a:ea typeface="微软雅黑" panose="020B0503020204020204" pitchFamily="34" charset="-122"/>
              </a:rPr>
              <a:t>h[j+1] &lt; h[</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的最小的</a:t>
            </a:r>
            <a:r>
              <a:rPr lang="en-US" altLang="zh-CN" sz="2000" dirty="0">
                <a:latin typeface="微软雅黑" panose="020B0503020204020204" pitchFamily="34" charset="-122"/>
                <a:ea typeface="微软雅黑" panose="020B0503020204020204" pitchFamily="34" charset="-122"/>
              </a:rPr>
              <a:t>j</a:t>
            </a:r>
            <a:r>
              <a:rPr lang="zh-CN" altLang="en-US" sz="2000" dirty="0">
                <a:latin typeface="微软雅黑" panose="020B0503020204020204" pitchFamily="34" charset="-122"/>
                <a:ea typeface="微软雅黑" panose="020B0503020204020204" pitchFamily="34" charset="-122"/>
              </a:rPr>
              <a:t>，即从</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点向右遍历第一个高度比</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小的点的左边一个点；</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      所以我们可以利用单调栈的性质得到每个确定点，即确定高度的最大面积矩形的左右边界，然后枚举取最大即可。</a:t>
            </a:r>
          </a:p>
        </p:txBody>
      </p:sp>
    </p:spTree>
    <p:extLst>
      <p:ext uri="{BB962C8B-B14F-4D97-AF65-F5344CB8AC3E}">
        <p14:creationId xmlns:p14="http://schemas.microsoft.com/office/powerpoint/2010/main" val="1478429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zh-CN" altLang="en-US" dirty="0"/>
              <a:t>单调栈</a:t>
            </a:r>
          </a:p>
        </p:txBody>
      </p:sp>
      <p:sp>
        <p:nvSpPr>
          <p:cNvPr id="6" name="矩形 5">
            <a:extLst>
              <a:ext uri="{FF2B5EF4-FFF2-40B4-BE49-F238E27FC236}">
                <a16:creationId xmlns:a16="http://schemas.microsoft.com/office/drawing/2014/main" id="{D84AF971-8EC1-4A53-B549-DD1B30B56C96}"/>
              </a:ext>
            </a:extLst>
          </p:cNvPr>
          <p:cNvSpPr/>
          <p:nvPr/>
        </p:nvSpPr>
        <p:spPr>
          <a:xfrm>
            <a:off x="987454" y="1334416"/>
            <a:ext cx="4557938" cy="5078313"/>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#include&lt;bits/stdc++.h&gt;</a:t>
            </a:r>
          </a:p>
          <a:p>
            <a:r>
              <a:rPr lang="en-US" altLang="zh-CN" dirty="0">
                <a:latin typeface="Times New Roman" panose="02020603050405020304" pitchFamily="18" charset="0"/>
                <a:cs typeface="Times New Roman" panose="02020603050405020304" pitchFamily="18" charset="0"/>
              </a:rPr>
              <a:t>using namespace std;</a:t>
            </a:r>
          </a:p>
          <a:p>
            <a:r>
              <a:rPr lang="en-US" altLang="zh-CN" dirty="0">
                <a:latin typeface="Times New Roman" panose="02020603050405020304" pitchFamily="18" charset="0"/>
                <a:cs typeface="Times New Roman" panose="02020603050405020304" pitchFamily="18" charset="0"/>
              </a:rPr>
              <a:t>int n =0;</a:t>
            </a:r>
          </a:p>
          <a:p>
            <a:r>
              <a:rPr lang="en-US" altLang="zh-CN" dirty="0">
                <a:latin typeface="Times New Roman" panose="02020603050405020304" pitchFamily="18" charset="0"/>
                <a:cs typeface="Times New Roman" panose="02020603050405020304" pitchFamily="18" charset="0"/>
              </a:rPr>
              <a:t>int a[105], l[105], r[105],</a:t>
            </a:r>
            <a:r>
              <a:rPr lang="en-US" altLang="zh-CN" dirty="0" err="1">
                <a:latin typeface="Times New Roman" panose="02020603050405020304" pitchFamily="18" charset="0"/>
                <a:cs typeface="Times New Roman" panose="02020603050405020304" pitchFamily="18" charset="0"/>
              </a:rPr>
              <a:t>ans</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stack&lt;int&gt; s;</a:t>
            </a:r>
          </a:p>
          <a:p>
            <a:r>
              <a:rPr lang="en-US" altLang="zh-CN" dirty="0">
                <a:latin typeface="Times New Roman" panose="02020603050405020304" pitchFamily="18" charset="0"/>
                <a:cs typeface="Times New Roman" panose="02020603050405020304" pitchFamily="18" charset="0"/>
              </a:rPr>
              <a:t>int k=1;</a:t>
            </a:r>
          </a:p>
          <a:p>
            <a:r>
              <a:rPr lang="en-US" altLang="zh-CN" dirty="0">
                <a:latin typeface="Times New Roman" panose="02020603050405020304" pitchFamily="18" charset="0"/>
                <a:cs typeface="Times New Roman" panose="02020603050405020304" pitchFamily="18" charset="0"/>
              </a:rPr>
              <a:t>int main()</a:t>
            </a:r>
          </a:p>
          <a:p>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while(</a:t>
            </a:r>
            <a:r>
              <a:rPr lang="en-US" altLang="zh-CN" dirty="0" err="1">
                <a:latin typeface="Times New Roman" panose="02020603050405020304" pitchFamily="18" charset="0"/>
                <a:cs typeface="Times New Roman" panose="02020603050405020304" pitchFamily="18" charset="0"/>
              </a:rPr>
              <a:t>scanf</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d",&amp;a</a:t>
            </a:r>
            <a:r>
              <a:rPr lang="en-US" altLang="zh-CN" dirty="0">
                <a:latin typeface="Times New Roman" panose="02020603050405020304" pitchFamily="18" charset="0"/>
                <a:cs typeface="Times New Roman" panose="02020603050405020304" pitchFamily="18" charset="0"/>
              </a:rPr>
              <a:t>[k])==1) k++;</a:t>
            </a:r>
          </a:p>
          <a:p>
            <a:r>
              <a:rPr lang="en-US" altLang="zh-CN" dirty="0">
                <a:latin typeface="Times New Roman" panose="02020603050405020304" pitchFamily="18" charset="0"/>
                <a:cs typeface="Times New Roman" panose="02020603050405020304" pitchFamily="18" charset="0"/>
              </a:rPr>
              <a:t>	for(int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=1;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&lt;=k-1;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while(!</a:t>
            </a:r>
            <a:r>
              <a:rPr lang="en-US" altLang="zh-CN" dirty="0" err="1">
                <a:latin typeface="Times New Roman" panose="02020603050405020304" pitchFamily="18" charset="0"/>
                <a:cs typeface="Times New Roman" panose="02020603050405020304" pitchFamily="18" charset="0"/>
              </a:rPr>
              <a:t>s.empty</a:t>
            </a:r>
            <a:r>
              <a:rPr lang="en-US" altLang="zh-CN" dirty="0">
                <a:latin typeface="Times New Roman" panose="02020603050405020304" pitchFamily="18" charset="0"/>
                <a:cs typeface="Times New Roman" panose="02020603050405020304" pitchFamily="18" charset="0"/>
              </a:rPr>
              <a:t>() &amp;&amp; a[</a:t>
            </a:r>
            <a:r>
              <a:rPr lang="en-US" altLang="zh-CN" dirty="0" err="1">
                <a:latin typeface="Times New Roman" panose="02020603050405020304" pitchFamily="18" charset="0"/>
                <a:cs typeface="Times New Roman" panose="02020603050405020304" pitchFamily="18" charset="0"/>
              </a:rPr>
              <a:t>s.top</a:t>
            </a:r>
            <a:r>
              <a:rPr lang="en-US" altLang="zh-CN" dirty="0">
                <a:latin typeface="Times New Roman" panose="02020603050405020304" pitchFamily="18" charset="0"/>
                <a:cs typeface="Times New Roman" panose="02020603050405020304" pitchFamily="18" charset="0"/>
              </a:rPr>
              <a:t>()] &gt;=a[</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s.pop</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if(</a:t>
            </a:r>
            <a:r>
              <a:rPr lang="en-US" altLang="zh-CN" dirty="0" err="1">
                <a:latin typeface="Times New Roman" panose="02020603050405020304" pitchFamily="18" charset="0"/>
                <a:cs typeface="Times New Roman" panose="02020603050405020304" pitchFamily="18" charset="0"/>
              </a:rPr>
              <a:t>s.empty</a:t>
            </a:r>
            <a:r>
              <a:rPr lang="en-US" altLang="zh-CN" dirty="0">
                <a:latin typeface="Times New Roman" panose="02020603050405020304" pitchFamily="18" charset="0"/>
                <a:cs typeface="Times New Roman" panose="02020603050405020304" pitchFamily="18" charset="0"/>
              </a:rPr>
              <a:t>()) l[</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]=0;</a:t>
            </a:r>
          </a:p>
          <a:p>
            <a:r>
              <a:rPr lang="en-US" altLang="zh-CN" dirty="0">
                <a:latin typeface="Times New Roman" panose="02020603050405020304" pitchFamily="18" charset="0"/>
                <a:cs typeface="Times New Roman" panose="02020603050405020304" pitchFamily="18" charset="0"/>
              </a:rPr>
              <a:t>		else l[</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s.top</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s.push</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while(!</a:t>
            </a:r>
            <a:r>
              <a:rPr lang="en-US" altLang="zh-CN" dirty="0" err="1">
                <a:latin typeface="Times New Roman" panose="02020603050405020304" pitchFamily="18" charset="0"/>
                <a:cs typeface="Times New Roman" panose="02020603050405020304" pitchFamily="18" charset="0"/>
              </a:rPr>
              <a:t>s.empty</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s.pop</a:t>
            </a:r>
            <a:r>
              <a:rPr lang="en-US" altLang="zh-CN" dirty="0">
                <a:latin typeface="Times New Roman" panose="02020603050405020304" pitchFamily="18" charset="0"/>
                <a:cs typeface="Times New Roman" panose="02020603050405020304" pitchFamily="18" charset="0"/>
              </a:rPr>
              <a:t>();</a:t>
            </a:r>
            <a:endParaRPr lang="en-US" altLang="zh-CN" b="1" dirty="0"/>
          </a:p>
        </p:txBody>
      </p:sp>
      <p:sp>
        <p:nvSpPr>
          <p:cNvPr id="8" name="矩形 7">
            <a:extLst>
              <a:ext uri="{FF2B5EF4-FFF2-40B4-BE49-F238E27FC236}">
                <a16:creationId xmlns:a16="http://schemas.microsoft.com/office/drawing/2014/main" id="{63E31EA2-134B-40A5-8D1A-86F9F09C5E1D}"/>
              </a:ext>
            </a:extLst>
          </p:cNvPr>
          <p:cNvSpPr/>
          <p:nvPr/>
        </p:nvSpPr>
        <p:spPr>
          <a:xfrm>
            <a:off x="1161246" y="3091421"/>
            <a:ext cx="6096000" cy="369332"/>
          </a:xfrm>
          <a:prstGeom prst="rect">
            <a:avLst/>
          </a:prstGeom>
        </p:spPr>
        <p:txBody>
          <a:bodyPr>
            <a:spAutoFit/>
          </a:bodyPr>
          <a:lstStyle/>
          <a:p>
            <a:endParaRPr lang="en-US" altLang="zh-CN" b="1" dirty="0"/>
          </a:p>
        </p:txBody>
      </p:sp>
      <p:sp>
        <p:nvSpPr>
          <p:cNvPr id="9" name="矩形 8">
            <a:extLst>
              <a:ext uri="{FF2B5EF4-FFF2-40B4-BE49-F238E27FC236}">
                <a16:creationId xmlns:a16="http://schemas.microsoft.com/office/drawing/2014/main" id="{3951573E-5098-4F0F-B4F8-23D373C47D3F}"/>
              </a:ext>
            </a:extLst>
          </p:cNvPr>
          <p:cNvSpPr/>
          <p:nvPr/>
        </p:nvSpPr>
        <p:spPr>
          <a:xfrm>
            <a:off x="6224773" y="1410796"/>
            <a:ext cx="4860805" cy="5632311"/>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for(int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=k-1;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&gt;=1;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while(!</a:t>
            </a:r>
            <a:r>
              <a:rPr lang="en-US" altLang="zh-CN" dirty="0" err="1">
                <a:latin typeface="Times New Roman" panose="02020603050405020304" pitchFamily="18" charset="0"/>
                <a:cs typeface="Times New Roman" panose="02020603050405020304" pitchFamily="18" charset="0"/>
              </a:rPr>
              <a:t>s.empty</a:t>
            </a:r>
            <a:r>
              <a:rPr lang="en-US" altLang="zh-CN" dirty="0">
                <a:latin typeface="Times New Roman" panose="02020603050405020304" pitchFamily="18" charset="0"/>
                <a:cs typeface="Times New Roman" panose="02020603050405020304" pitchFamily="18" charset="0"/>
              </a:rPr>
              <a:t>() &amp;&amp; a[</a:t>
            </a:r>
            <a:r>
              <a:rPr lang="en-US" altLang="zh-CN" dirty="0" err="1">
                <a:latin typeface="Times New Roman" panose="02020603050405020304" pitchFamily="18" charset="0"/>
                <a:cs typeface="Times New Roman" panose="02020603050405020304" pitchFamily="18" charset="0"/>
              </a:rPr>
              <a:t>s.top</a:t>
            </a:r>
            <a:r>
              <a:rPr lang="en-US" altLang="zh-CN" dirty="0">
                <a:latin typeface="Times New Roman" panose="02020603050405020304" pitchFamily="18" charset="0"/>
                <a:cs typeface="Times New Roman" panose="02020603050405020304" pitchFamily="18" charset="0"/>
              </a:rPr>
              <a:t>()] 			&gt;=a[</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s.pop</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if(</a:t>
            </a:r>
            <a:r>
              <a:rPr lang="en-US" altLang="zh-CN" dirty="0" err="1">
                <a:latin typeface="Times New Roman" panose="02020603050405020304" pitchFamily="18" charset="0"/>
                <a:cs typeface="Times New Roman" panose="02020603050405020304" pitchFamily="18" charset="0"/>
              </a:rPr>
              <a:t>s.empty</a:t>
            </a:r>
            <a:r>
              <a:rPr lang="en-US" altLang="zh-CN" dirty="0">
                <a:latin typeface="Times New Roman" panose="02020603050405020304" pitchFamily="18" charset="0"/>
                <a:cs typeface="Times New Roman" panose="02020603050405020304" pitchFamily="18" charset="0"/>
              </a:rPr>
              <a:t>()) r[</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]=k;</a:t>
            </a:r>
          </a:p>
          <a:p>
            <a:r>
              <a:rPr lang="en-US" altLang="zh-CN" dirty="0">
                <a:latin typeface="Times New Roman" panose="02020603050405020304" pitchFamily="18" charset="0"/>
                <a:cs typeface="Times New Roman" panose="02020603050405020304" pitchFamily="18" charset="0"/>
              </a:rPr>
              <a:t>		else r[</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s.top</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s.push</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for(int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=1;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&lt;=k-1;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int </a:t>
            </a:r>
            <a:r>
              <a:rPr lang="en-US" altLang="zh-CN" dirty="0" err="1">
                <a:latin typeface="Times New Roman" panose="02020603050405020304" pitchFamily="18" charset="0"/>
                <a:cs typeface="Times New Roman" panose="02020603050405020304" pitchFamily="18" charset="0"/>
              </a:rPr>
              <a:t>len</a:t>
            </a:r>
            <a:r>
              <a:rPr lang="en-US" altLang="zh-CN" dirty="0">
                <a:latin typeface="Times New Roman" panose="02020603050405020304" pitchFamily="18" charset="0"/>
                <a:cs typeface="Times New Roman" panose="02020603050405020304" pitchFamily="18" charset="0"/>
              </a:rPr>
              <a:t> = r[</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 l[</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- 1;</a:t>
            </a:r>
          </a:p>
          <a:p>
            <a:r>
              <a:rPr lang="en-US" altLang="zh-CN" dirty="0">
                <a:latin typeface="Times New Roman" panose="02020603050405020304" pitchFamily="18" charset="0"/>
                <a:cs typeface="Times New Roman" panose="02020603050405020304" pitchFamily="18" charset="0"/>
              </a:rPr>
              <a:t>		long </a:t>
            </a:r>
            <a:r>
              <a:rPr lang="en-US" altLang="zh-CN" dirty="0" err="1">
                <a:latin typeface="Times New Roman" panose="02020603050405020304" pitchFamily="18" charset="0"/>
                <a:cs typeface="Times New Roman" panose="02020603050405020304" pitchFamily="18" charset="0"/>
              </a:rPr>
              <a:t>long</a:t>
            </a:r>
            <a:r>
              <a:rPr lang="en-US" altLang="zh-CN" dirty="0">
                <a:latin typeface="Times New Roman" panose="02020603050405020304" pitchFamily="18" charset="0"/>
                <a:cs typeface="Times New Roman" panose="02020603050405020304" pitchFamily="18" charset="0"/>
              </a:rPr>
              <a:t>  sur = </a:t>
            </a:r>
            <a:r>
              <a:rPr lang="en-US" altLang="zh-CN" dirty="0" err="1">
                <a:latin typeface="Times New Roman" panose="02020603050405020304" pitchFamily="18" charset="0"/>
                <a:cs typeface="Times New Roman" panose="02020603050405020304" pitchFamily="18" charset="0"/>
              </a:rPr>
              <a:t>len</a:t>
            </a:r>
            <a:r>
              <a:rPr lang="en-US" altLang="zh-CN" dirty="0">
                <a:latin typeface="Times New Roman" panose="02020603050405020304" pitchFamily="18" charset="0"/>
                <a:cs typeface="Times New Roman" panose="02020603050405020304" pitchFamily="18" charset="0"/>
              </a:rPr>
              <a:t> * a[</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cout</a:t>
            </a:r>
            <a:r>
              <a:rPr lang="en-US" altLang="zh-CN" dirty="0">
                <a:latin typeface="Times New Roman" panose="02020603050405020304" pitchFamily="18" charset="0"/>
                <a:cs typeface="Times New Roman" panose="02020603050405020304" pitchFamily="18" charset="0"/>
              </a:rPr>
              <a:t>&lt;&lt;sur&lt;&lt;" ";</a:t>
            </a:r>
          </a:p>
          <a:p>
            <a:r>
              <a:rPr lang="en-US" altLang="zh-CN" dirty="0">
                <a:latin typeface="Times New Roman" panose="02020603050405020304" pitchFamily="18" charset="0"/>
                <a:cs typeface="Times New Roman" panose="02020603050405020304" pitchFamily="18" charset="0"/>
              </a:rPr>
              <a:t>		if(sur &gt; </a:t>
            </a:r>
            <a:r>
              <a:rPr lang="en-US" altLang="zh-CN" dirty="0" err="1">
                <a:latin typeface="Times New Roman" panose="02020603050405020304" pitchFamily="18" charset="0"/>
                <a:cs typeface="Times New Roman" panose="02020603050405020304" pitchFamily="18" charset="0"/>
              </a:rPr>
              <a:t>ans</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ans</a:t>
            </a:r>
            <a:r>
              <a:rPr lang="en-US" altLang="zh-CN" dirty="0">
                <a:latin typeface="Times New Roman" panose="02020603050405020304" pitchFamily="18" charset="0"/>
                <a:cs typeface="Times New Roman" panose="02020603050405020304" pitchFamily="18" charset="0"/>
              </a:rPr>
              <a:t> = sur;</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printf</a:t>
            </a:r>
            <a:r>
              <a:rPr lang="en-US" altLang="zh-CN" dirty="0">
                <a:latin typeface="Times New Roman" panose="02020603050405020304" pitchFamily="18" charset="0"/>
                <a:cs typeface="Times New Roman" panose="02020603050405020304" pitchFamily="18" charset="0"/>
              </a:rPr>
              <a:t>("%d\n", </a:t>
            </a:r>
            <a:r>
              <a:rPr lang="en-US" altLang="zh-CN" dirty="0" err="1">
                <a:latin typeface="Times New Roman" panose="02020603050405020304" pitchFamily="18" charset="0"/>
                <a:cs typeface="Times New Roman" panose="02020603050405020304" pitchFamily="18" charset="0"/>
              </a:rPr>
              <a:t>ans</a:t>
            </a:r>
            <a:r>
              <a:rPr lang="en-US" altLang="zh-CN" dirty="0">
                <a:latin typeface="Times New Roman" panose="02020603050405020304" pitchFamily="18" charset="0"/>
                <a:cs typeface="Times New Roman" panose="02020603050405020304" pitchFamily="18" charset="0"/>
              </a:rPr>
              <a:t>);</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return 0;</a:t>
            </a:r>
          </a:p>
          <a:p>
            <a:r>
              <a:rPr lang="en-US" altLang="zh-CN" dirty="0">
                <a:latin typeface="Times New Roman" panose="02020603050405020304" pitchFamily="18" charset="0"/>
                <a:cs typeface="Times New Roman" panose="02020603050405020304" pitchFamily="18" charset="0"/>
              </a:rPr>
              <a:t> } </a:t>
            </a:r>
          </a:p>
        </p:txBody>
      </p:sp>
      <p:cxnSp>
        <p:nvCxnSpPr>
          <p:cNvPr id="10" name="直接连接符 9">
            <a:extLst>
              <a:ext uri="{FF2B5EF4-FFF2-40B4-BE49-F238E27FC236}">
                <a16:creationId xmlns:a16="http://schemas.microsoft.com/office/drawing/2014/main" id="{76E0BD70-364B-4836-ADF0-8C117CB55C4B}"/>
              </a:ext>
            </a:extLst>
          </p:cNvPr>
          <p:cNvCxnSpPr>
            <a:cxnSpLocks/>
          </p:cNvCxnSpPr>
          <p:nvPr/>
        </p:nvCxnSpPr>
        <p:spPr>
          <a:xfrm>
            <a:off x="5828277" y="1838409"/>
            <a:ext cx="0" cy="4574320"/>
          </a:xfrm>
          <a:prstGeom prst="line">
            <a:avLst/>
          </a:prstGeom>
          <a:ln w="19050">
            <a:solidFill>
              <a:schemeClr val="accent2"/>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5952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谢谢！</a:t>
            </a:r>
          </a:p>
        </p:txBody>
      </p:sp>
      <p:pic>
        <p:nvPicPr>
          <p:cNvPr id="5" name="图片占位符 4"/>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3409" r="13409"/>
          <a:stretch>
            <a:fillRect/>
          </a:stretch>
        </p:blip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学术演示文稿、细条纹和丝带设计（宽屏）</Template>
  <TotalTime>0</TotalTime>
  <Words>2547</Words>
  <Application>Microsoft Office PowerPoint</Application>
  <PresentationFormat>宽屏</PresentationFormat>
  <Paragraphs>212</Paragraphs>
  <Slides>23</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23</vt:i4>
      </vt:variant>
    </vt:vector>
  </HeadingPairs>
  <TitlesOfParts>
    <vt:vector size="30" baseType="lpstr">
      <vt:lpstr>华文中宋</vt:lpstr>
      <vt:lpstr>微软雅黑</vt:lpstr>
      <vt:lpstr>Arial</vt:lpstr>
      <vt:lpstr>Euphemia</vt:lpstr>
      <vt:lpstr>Times New Roman</vt:lpstr>
      <vt:lpstr>Wingdings</vt:lpstr>
      <vt:lpstr>学术文献 16x9</vt:lpstr>
      <vt:lpstr>数据结构——栈</vt:lpstr>
      <vt:lpstr>PowerPoint 演示文稿</vt:lpstr>
      <vt:lpstr>数据结构</vt:lpstr>
      <vt:lpstr>数据结构</vt:lpstr>
      <vt:lpstr>PowerPoint 演示文稿</vt:lpstr>
      <vt:lpstr>PowerPoint 演示文稿</vt:lpstr>
      <vt:lpstr>PowerPoint 演示文稿</vt:lpstr>
      <vt:lpstr>PowerPoint 演示文稿</vt:lpstr>
      <vt:lpstr>PowerPoint 演示文稿</vt:lpstr>
      <vt:lpstr>栈</vt:lpstr>
      <vt:lpstr>栈</vt:lpstr>
      <vt:lpstr>栈</vt:lpstr>
      <vt:lpstr>栈</vt:lpstr>
      <vt:lpstr>栈</vt:lpstr>
      <vt:lpstr>栈</vt:lpstr>
      <vt:lpstr>栈</vt:lpstr>
      <vt:lpstr>PowerPoint 演示文稿</vt:lpstr>
      <vt:lpstr>PowerPoint 演示文稿</vt:lpstr>
      <vt:lpstr>PowerPoint 演示文稿</vt:lpstr>
      <vt:lpstr>PowerPoint 演示文稿</vt:lpstr>
      <vt:lpstr>PowerPoint 演示文稿</vt:lpstr>
      <vt:lpstr>单调栈</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9</cp:revision>
  <dcterms:created xsi:type="dcterms:W3CDTF">2017-11-04T04:56:00Z</dcterms:created>
  <dcterms:modified xsi:type="dcterms:W3CDTF">2021-06-25T03:04:41Z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2052-10.1.0.7520</vt:lpwstr>
  </property>
</Properties>
</file>